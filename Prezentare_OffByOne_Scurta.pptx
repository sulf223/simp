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3" r:id="rId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51" d="100"/>
          <a:sy n="51" d="100"/>
        </p:scale>
        <p:origin x="869" y="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2768577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0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6E56CF"/>
          </a:solidFill>
          <a:ln/>
        </p:spPr>
      </p:sp>
      <p:sp>
        <p:nvSpPr>
          <p:cNvPr id="3" name="Shape 1"/>
          <p:cNvSpPr/>
          <p:nvPr/>
        </p:nvSpPr>
        <p:spPr>
          <a:xfrm>
            <a:off x="8503920" y="-1828800"/>
            <a:ext cx="5486400" cy="5486400"/>
          </a:xfrm>
          <a:prstGeom prst="ellipse">
            <a:avLst/>
          </a:prstGeom>
          <a:solidFill>
            <a:srgbClr val="6E56CF">
              <a:alpha val="2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9875520" y="4114800"/>
            <a:ext cx="3657600" cy="3657600"/>
          </a:xfrm>
          <a:prstGeom prst="ellipse">
            <a:avLst/>
          </a:prstGeom>
          <a:solidFill>
            <a:srgbClr val="06B6D4">
              <a:alpha val="15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8229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80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SIMPOZION ȘTIINȚIFIC STUDENȚESC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1554480"/>
            <a:ext cx="10789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OffByOne Academy</a:t>
            </a:r>
            <a:endParaRPr lang="en-US" sz="7600" dirty="0"/>
          </a:p>
        </p:txBody>
      </p:sp>
      <p:sp>
        <p:nvSpPr>
          <p:cNvPr id="7" name="Text 5"/>
          <p:cNvSpPr/>
          <p:nvPr/>
        </p:nvSpPr>
        <p:spPr>
          <a:xfrm>
            <a:off x="640080" y="3200400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i="1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Platformă web interactivă pentru studiul algoritmilor de sortare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640080" y="4206240"/>
            <a:ext cx="1645920" cy="36576"/>
          </a:xfrm>
          <a:prstGeom prst="rect">
            <a:avLst/>
          </a:prstGeom>
          <a:solidFill>
            <a:srgbClr val="6E56C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44348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AUTORI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40080" y="47091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Șortan Eduard-Cătălin   ·   Băloi Dorian-Liviu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40080" y="5257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COORDONATORI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40080" y="5532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50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Conf. dr. Ionel Muscalagiu   ·   As. dr. ing. Cezara-Liliana Raț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40080" y="6217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Universitatea Politehnica Timișoara - Facultatea de Inginerie Hunedoara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228600" cy="36576"/>
          </a:xfrm>
          <a:prstGeom prst="rect">
            <a:avLst/>
          </a:prstGeom>
          <a:solidFill>
            <a:srgbClr val="6E56CF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6E56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CONTEXT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8580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 didactică și soluția noastră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457200" y="1737360"/>
            <a:ext cx="5303520" cy="4389120"/>
          </a:xfrm>
          <a:prstGeom prst="rect">
            <a:avLst/>
          </a:prstGeom>
          <a:solidFill>
            <a:srgbClr val="EF4444">
              <a:alpha val="8000"/>
            </a:srgbClr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737360"/>
            <a:ext cx="5303520" cy="45720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73736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233172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2000" b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ce e greu să înveți algoritmi?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40080" y="2971800"/>
            <a:ext cx="457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1188720" y="29718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Abstractizare excesivă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188720" y="32918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Pseudocodul și diagramele statice nu transmit dinamica pașilor.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0080" y="3931920"/>
            <a:ext cx="457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4200" dirty="0"/>
          </a:p>
        </p:txBody>
      </p:sp>
      <p:sp>
        <p:nvSpPr>
          <p:cNvPr id="13" name="Text 11"/>
          <p:cNvSpPr/>
          <p:nvPr/>
        </p:nvSpPr>
        <p:spPr>
          <a:xfrm>
            <a:off x="1188720" y="39319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Feedback întârziat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188720" y="42519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Corectarea vine săptămâni mai târziu, nu imediat.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0080" y="4892040"/>
            <a:ext cx="457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4200" dirty="0"/>
          </a:p>
        </p:txBody>
      </p:sp>
      <p:sp>
        <p:nvSpPr>
          <p:cNvPr id="16" name="Text 14"/>
          <p:cNvSpPr/>
          <p:nvPr/>
        </p:nvSpPr>
        <p:spPr>
          <a:xfrm>
            <a:off x="1188720" y="48920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Motivație scăzută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188720" y="521208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Fără recompensare imediată, abandonul vine repede.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035040" y="1737360"/>
            <a:ext cx="5669280" cy="4389120"/>
          </a:xfrm>
          <a:prstGeom prst="rect">
            <a:avLst/>
          </a:prstGeom>
          <a:solidFill>
            <a:srgbClr val="10B981">
              <a:alpha val="8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035040" y="1737360"/>
            <a:ext cx="5669280" cy="4572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6217920" y="173736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40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SOLUȚIA OFFBYONE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217920" y="2331720"/>
            <a:ext cx="5303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singură platformă, totul integrat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6217920" y="3063240"/>
            <a:ext cx="182880" cy="18288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23" name="Text 21"/>
          <p:cNvSpPr/>
          <p:nvPr/>
        </p:nvSpPr>
        <p:spPr>
          <a:xfrm>
            <a:off x="6217920" y="3063240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492240" y="29718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Teorie + cod sursă C++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6217920" y="3520440"/>
            <a:ext cx="182880" cy="18288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26" name="Text 24"/>
          <p:cNvSpPr/>
          <p:nvPr/>
        </p:nvSpPr>
        <p:spPr>
          <a:xfrm>
            <a:off x="6217920" y="3520440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492240" y="34290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Vizualizator interactiv pe Canvas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217920" y="3977640"/>
            <a:ext cx="182880" cy="18288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29" name="Text 27"/>
          <p:cNvSpPr/>
          <p:nvPr/>
        </p:nvSpPr>
        <p:spPr>
          <a:xfrm>
            <a:off x="6217920" y="3977640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492240" y="38862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Grile cu evaluare automată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6217920" y="4434840"/>
            <a:ext cx="182880" cy="18288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32" name="Text 30"/>
          <p:cNvSpPr/>
          <p:nvPr/>
        </p:nvSpPr>
        <p:spPr>
          <a:xfrm>
            <a:off x="6217920" y="4434840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492240" y="43434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AI: chat + quiz + code feedback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6217920" y="4892040"/>
            <a:ext cx="182880" cy="18288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35" name="Text 33"/>
          <p:cNvSpPr/>
          <p:nvPr/>
        </p:nvSpPr>
        <p:spPr>
          <a:xfrm>
            <a:off x="6217920" y="4892040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492240" y="48006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Gamification (badges + streaks)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6217920" y="5349240"/>
            <a:ext cx="182880" cy="18288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38" name="Text 36"/>
          <p:cNvSpPr/>
          <p:nvPr/>
        </p:nvSpPr>
        <p:spPr>
          <a:xfrm>
            <a:off x="6217920" y="5349240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6492240" y="52578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Parcursuri de învățare ghidate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45720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OffByOne Academy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8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228600" cy="36576"/>
          </a:xfrm>
          <a:prstGeom prst="rect">
            <a:avLst/>
          </a:prstGeom>
          <a:solidFill>
            <a:srgbClr val="6E56CF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6E56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TEHNOLOGII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8580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Stack-ul aplicației OffByOne Academy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411480" y="1783080"/>
            <a:ext cx="2697480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11480" y="1783080"/>
            <a:ext cx="2697480" cy="548640"/>
          </a:xfrm>
          <a:prstGeom prst="rect">
            <a:avLst/>
          </a:prstGeom>
          <a:solidFill>
            <a:srgbClr val="6E56CF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78308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" y="2560320"/>
            <a:ext cx="22402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Aft>
                <a:spcPts val="800"/>
              </a:spcAft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PHP 8.1+ (OOP MySQLi)</a:t>
            </a:r>
            <a:endParaRPr lang="en-US" sz="13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 8.0 </a:t>
            </a:r>
            <a:r>
              <a:rPr lang="en-US" sz="1300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InnoDB</a:t>
            </a: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relațional</a:t>
            </a:r>
            <a:endParaRPr lang="en-US" sz="13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Apache + .htaccess hardenat</a:t>
            </a:r>
            <a:endParaRPr lang="en-US" sz="13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Compose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91840" y="1783080"/>
            <a:ext cx="2697480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91840" y="1783080"/>
            <a:ext cx="2697480" cy="54864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11" name="Text 9"/>
          <p:cNvSpPr/>
          <p:nvPr/>
        </p:nvSpPr>
        <p:spPr>
          <a:xfrm>
            <a:off x="3429000" y="178308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3520440" y="2560320"/>
            <a:ext cx="22402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Aft>
                <a:spcPts val="800"/>
              </a:spcAft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HTML5 Canvas API</a:t>
            </a:r>
            <a:endParaRPr lang="en-US" sz="13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Vanilla JS ES6+ (zero framework)</a:t>
            </a:r>
            <a:endParaRPr lang="en-US" sz="13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CSS design tokens (light/dark)</a:t>
            </a:r>
            <a:endParaRPr lang="en-US" sz="13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300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Interfață</a:t>
            </a: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responsive light/dark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172200" y="1783080"/>
            <a:ext cx="2697480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172200" y="1783080"/>
            <a:ext cx="2697480" cy="54864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5" name="Text 13"/>
          <p:cNvSpPr/>
          <p:nvPr/>
        </p:nvSpPr>
        <p:spPr>
          <a:xfrm>
            <a:off x="6309360" y="178308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400800" y="2560320"/>
            <a:ext cx="22402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Aft>
                <a:spcPts val="800"/>
              </a:spcAft>
              <a:buNone/>
            </a:pPr>
            <a:r>
              <a:rPr lang="en-US" sz="130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Groq Cloud (latențe sub 1s)</a:t>
            </a:r>
            <a:endParaRPr lang="en-US" sz="13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Llama 3.3 70B open-weight</a:t>
            </a:r>
            <a:endParaRPr lang="en-US" sz="13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module: chat / quiz / code</a:t>
            </a:r>
            <a:endParaRPr lang="en-US" sz="13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30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Rate-limiting diferențiat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9052560" y="1783080"/>
            <a:ext cx="2697480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9052560" y="1783080"/>
            <a:ext cx="2697480" cy="54864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9" name="Text 17"/>
          <p:cNvSpPr/>
          <p:nvPr/>
        </p:nvSpPr>
        <p:spPr>
          <a:xfrm>
            <a:off x="9189720" y="178308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Securitate pe scurt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9281160" y="2560320"/>
            <a:ext cx="22402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Aft>
                <a:spcPts val="800"/>
              </a:spcAft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CSRF, XSS </a:t>
            </a:r>
            <a:r>
              <a:rPr lang="en-US" sz="1300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și</a:t>
            </a: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SQL Injection </a:t>
            </a:r>
            <a:r>
              <a:rPr lang="en-US" sz="1300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blocate</a:t>
            </a:r>
            <a:endParaRPr lang="en-US" sz="13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Parole </a:t>
            </a:r>
            <a:r>
              <a:rPr lang="en-US" sz="1300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protejate</a:t>
            </a: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cu </a:t>
            </a:r>
            <a:r>
              <a:rPr lang="en-US" sz="1300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bcrypt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5720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OffByOne Academy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8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228600" cy="36576"/>
          </a:xfrm>
          <a:prstGeom prst="rect">
            <a:avLst/>
          </a:prstGeom>
          <a:solidFill>
            <a:srgbClr val="6E56CF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>
                <a:solidFill>
                  <a:srgbClr val="6E56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INIMA APLICAȚIEI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8580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Vizualizatorul interactiv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457200" y="17830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>
                <a:solidFill>
                  <a:srgbClr val="6E56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se întâmplă când apeși Start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2331720"/>
            <a:ext cx="365760" cy="365760"/>
          </a:xfrm>
          <a:prstGeom prst="ellipse">
            <a:avLst/>
          </a:prstGeom>
          <a:solidFill>
            <a:srgbClr val="6E56CF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23317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14400" y="23317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it-IT" sz="120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Citește algoritmul ales în pagină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2971800"/>
            <a:ext cx="365760" cy="365760"/>
          </a:xfrm>
          <a:prstGeom prst="ellipse">
            <a:avLst/>
          </a:prstGeom>
          <a:solidFill>
            <a:srgbClr val="6E56CF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9718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914400" y="29718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Generează vectorul și îl desenează ca bare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3611880"/>
            <a:ext cx="365760" cy="365760"/>
          </a:xfrm>
          <a:prstGeom prst="ellipse">
            <a:avLst/>
          </a:prstGeom>
          <a:solidFill>
            <a:srgbClr val="6E56CF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" y="3611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914400" y="36118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Rulează pașii: comparații, schimbări și partiționări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4251960"/>
            <a:ext cx="365760" cy="365760"/>
          </a:xfrm>
          <a:prstGeom prst="ellipse">
            <a:avLst/>
          </a:prstGeom>
          <a:solidFill>
            <a:srgbClr val="6E56CF"/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4251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914400" y="42519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Sincronizează pseudocodul, variabilele și contoarele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57200" y="4892040"/>
            <a:ext cx="365760" cy="365760"/>
          </a:xfrm>
          <a:prstGeom prst="ellipse">
            <a:avLst/>
          </a:prstGeom>
          <a:solidFill>
            <a:srgbClr val="6E56CF"/>
          </a:solidFill>
          <a:ln/>
        </p:spPr>
      </p:sp>
      <p:sp>
        <p:nvSpPr>
          <p:cNvPr id="19" name="Text 17"/>
          <p:cNvSpPr/>
          <p:nvPr/>
        </p:nvSpPr>
        <p:spPr>
          <a:xfrm>
            <a:off x="457200" y="48920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914400" y="48920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Oferă feedback vizual și audio, cu opțiuni de accesibilitate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400800" y="1783080"/>
            <a:ext cx="5394960" cy="4297680"/>
          </a:xfrm>
          <a:prstGeom prst="rect">
            <a:avLst/>
          </a:prstGeom>
          <a:solidFill>
            <a:srgbClr val="0F1023"/>
          </a:solidFill>
          <a:ln/>
          <a:effectLst>
            <a:outerShdw blurRad="152400" dist="50800" dir="5400000" algn="bl" rotWithShape="0">
              <a:srgbClr val="000000">
                <a:alpha val="1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583680" y="192024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Vizualizator - Quick Sort (n=20)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647688" y="3851910"/>
            <a:ext cx="210312" cy="2000250"/>
          </a:xfrm>
          <a:prstGeom prst="rect">
            <a:avLst/>
          </a:prstGeom>
          <a:solidFill>
            <a:srgbClr val="6E56CF"/>
          </a:solidFill>
          <a:ln/>
        </p:spPr>
      </p:sp>
      <p:sp>
        <p:nvSpPr>
          <p:cNvPr id="24" name="Shape 22"/>
          <p:cNvSpPr/>
          <p:nvPr/>
        </p:nvSpPr>
        <p:spPr>
          <a:xfrm>
            <a:off x="6894576" y="4411980"/>
            <a:ext cx="210312" cy="1440180"/>
          </a:xfrm>
          <a:prstGeom prst="rect">
            <a:avLst/>
          </a:prstGeom>
          <a:solidFill>
            <a:srgbClr val="6E56CF"/>
          </a:solidFill>
          <a:ln/>
        </p:spPr>
      </p:sp>
      <p:sp>
        <p:nvSpPr>
          <p:cNvPr id="25" name="Shape 23"/>
          <p:cNvSpPr/>
          <p:nvPr/>
        </p:nvSpPr>
        <p:spPr>
          <a:xfrm>
            <a:off x="7141464" y="3051810"/>
            <a:ext cx="210312" cy="2800350"/>
          </a:xfrm>
          <a:prstGeom prst="rect">
            <a:avLst/>
          </a:prstGeom>
          <a:solidFill>
            <a:srgbClr val="6E56CF"/>
          </a:solidFill>
          <a:ln/>
        </p:spPr>
      </p:sp>
      <p:sp>
        <p:nvSpPr>
          <p:cNvPr id="26" name="Shape 24"/>
          <p:cNvSpPr/>
          <p:nvPr/>
        </p:nvSpPr>
        <p:spPr>
          <a:xfrm>
            <a:off x="7388352" y="4892040"/>
            <a:ext cx="210312" cy="960120"/>
          </a:xfrm>
          <a:prstGeom prst="rect">
            <a:avLst/>
          </a:prstGeom>
          <a:solidFill>
            <a:srgbClr val="6E56CF"/>
          </a:solidFill>
          <a:ln/>
        </p:spPr>
      </p:sp>
      <p:sp>
        <p:nvSpPr>
          <p:cNvPr id="27" name="Shape 25"/>
          <p:cNvSpPr/>
          <p:nvPr/>
        </p:nvSpPr>
        <p:spPr>
          <a:xfrm>
            <a:off x="7635240" y="2651760"/>
            <a:ext cx="210312" cy="3200400"/>
          </a:xfrm>
          <a:prstGeom prst="rect">
            <a:avLst/>
          </a:prstGeom>
          <a:solidFill>
            <a:srgbClr val="6E56CF"/>
          </a:solidFill>
          <a:ln/>
        </p:spPr>
      </p:sp>
      <p:sp>
        <p:nvSpPr>
          <p:cNvPr id="28" name="Shape 26"/>
          <p:cNvSpPr/>
          <p:nvPr/>
        </p:nvSpPr>
        <p:spPr>
          <a:xfrm>
            <a:off x="7882128" y="4091940"/>
            <a:ext cx="210312" cy="17602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9" name="Shape 27"/>
          <p:cNvSpPr/>
          <p:nvPr/>
        </p:nvSpPr>
        <p:spPr>
          <a:xfrm>
            <a:off x="8129016" y="5212080"/>
            <a:ext cx="210312" cy="640080"/>
          </a:xfrm>
          <a:prstGeom prst="rect">
            <a:avLst/>
          </a:prstGeom>
          <a:solidFill>
            <a:srgbClr val="6E56CF"/>
          </a:solidFill>
          <a:ln/>
        </p:spPr>
      </p:sp>
      <p:sp>
        <p:nvSpPr>
          <p:cNvPr id="30" name="Shape 28"/>
          <p:cNvSpPr/>
          <p:nvPr/>
        </p:nvSpPr>
        <p:spPr>
          <a:xfrm>
            <a:off x="8375904" y="3291840"/>
            <a:ext cx="210312" cy="2560320"/>
          </a:xfrm>
          <a:prstGeom prst="rect">
            <a:avLst/>
          </a:prstGeom>
          <a:solidFill>
            <a:srgbClr val="6E56CF"/>
          </a:solidFill>
          <a:ln/>
        </p:spPr>
      </p:sp>
      <p:sp>
        <p:nvSpPr>
          <p:cNvPr id="31" name="Shape 29"/>
          <p:cNvSpPr/>
          <p:nvPr/>
        </p:nvSpPr>
        <p:spPr>
          <a:xfrm>
            <a:off x="8622792" y="3611880"/>
            <a:ext cx="210312" cy="224028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32" name="Shape 30"/>
          <p:cNvSpPr/>
          <p:nvPr/>
        </p:nvSpPr>
        <p:spPr>
          <a:xfrm>
            <a:off x="8869680" y="4652010"/>
            <a:ext cx="210312" cy="1200150"/>
          </a:xfrm>
          <a:prstGeom prst="rect">
            <a:avLst/>
          </a:prstGeom>
          <a:solidFill>
            <a:srgbClr val="6E56CF"/>
          </a:solidFill>
          <a:ln/>
        </p:spPr>
      </p:sp>
      <p:sp>
        <p:nvSpPr>
          <p:cNvPr id="33" name="Shape 31"/>
          <p:cNvSpPr/>
          <p:nvPr/>
        </p:nvSpPr>
        <p:spPr>
          <a:xfrm>
            <a:off x="9116568" y="2811780"/>
            <a:ext cx="210312" cy="3040380"/>
          </a:xfrm>
          <a:prstGeom prst="rect">
            <a:avLst/>
          </a:prstGeom>
          <a:solidFill>
            <a:srgbClr val="6E56CF"/>
          </a:solidFill>
          <a:ln/>
        </p:spPr>
      </p:sp>
      <p:sp>
        <p:nvSpPr>
          <p:cNvPr id="34" name="Shape 32"/>
          <p:cNvSpPr/>
          <p:nvPr/>
        </p:nvSpPr>
        <p:spPr>
          <a:xfrm>
            <a:off x="9363456" y="5052060"/>
            <a:ext cx="210312" cy="800100"/>
          </a:xfrm>
          <a:prstGeom prst="rect">
            <a:avLst/>
          </a:prstGeom>
          <a:solidFill>
            <a:srgbClr val="6E56CF"/>
          </a:solidFill>
          <a:ln/>
        </p:spPr>
      </p:sp>
      <p:sp>
        <p:nvSpPr>
          <p:cNvPr id="35" name="Shape 33"/>
          <p:cNvSpPr/>
          <p:nvPr/>
        </p:nvSpPr>
        <p:spPr>
          <a:xfrm>
            <a:off x="9610344" y="4251960"/>
            <a:ext cx="210312" cy="16002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36" name="Shape 34"/>
          <p:cNvSpPr/>
          <p:nvPr/>
        </p:nvSpPr>
        <p:spPr>
          <a:xfrm>
            <a:off x="9857232" y="3451860"/>
            <a:ext cx="210312" cy="2400300"/>
          </a:xfrm>
          <a:prstGeom prst="rect">
            <a:avLst/>
          </a:prstGeom>
          <a:solidFill>
            <a:srgbClr val="6E56CF"/>
          </a:solidFill>
          <a:ln/>
        </p:spPr>
      </p:sp>
      <p:sp>
        <p:nvSpPr>
          <p:cNvPr id="37" name="Shape 35"/>
          <p:cNvSpPr/>
          <p:nvPr/>
        </p:nvSpPr>
        <p:spPr>
          <a:xfrm>
            <a:off x="10104120" y="4491990"/>
            <a:ext cx="210312" cy="1360170"/>
          </a:xfrm>
          <a:prstGeom prst="rect">
            <a:avLst/>
          </a:prstGeom>
          <a:solidFill>
            <a:srgbClr val="6E56CF"/>
          </a:solidFill>
          <a:ln/>
        </p:spPr>
      </p:sp>
      <p:sp>
        <p:nvSpPr>
          <p:cNvPr id="38" name="Shape 36"/>
          <p:cNvSpPr/>
          <p:nvPr/>
        </p:nvSpPr>
        <p:spPr>
          <a:xfrm>
            <a:off x="10351008" y="3691890"/>
            <a:ext cx="210312" cy="2160270"/>
          </a:xfrm>
          <a:prstGeom prst="rect">
            <a:avLst/>
          </a:prstGeom>
          <a:solidFill>
            <a:srgbClr val="6E56CF"/>
          </a:solidFill>
          <a:ln/>
        </p:spPr>
      </p:sp>
      <p:sp>
        <p:nvSpPr>
          <p:cNvPr id="39" name="Shape 37"/>
          <p:cNvSpPr/>
          <p:nvPr/>
        </p:nvSpPr>
        <p:spPr>
          <a:xfrm>
            <a:off x="10597896" y="5452110"/>
            <a:ext cx="210312" cy="400050"/>
          </a:xfrm>
          <a:prstGeom prst="rect">
            <a:avLst/>
          </a:prstGeom>
          <a:solidFill>
            <a:srgbClr val="6E56CF"/>
          </a:solidFill>
          <a:ln/>
        </p:spPr>
      </p:sp>
      <p:sp>
        <p:nvSpPr>
          <p:cNvPr id="40" name="Shape 38"/>
          <p:cNvSpPr/>
          <p:nvPr/>
        </p:nvSpPr>
        <p:spPr>
          <a:xfrm>
            <a:off x="10844784" y="2971800"/>
            <a:ext cx="210312" cy="2880360"/>
          </a:xfrm>
          <a:prstGeom prst="rect">
            <a:avLst/>
          </a:prstGeom>
          <a:solidFill>
            <a:srgbClr val="6E56CF"/>
          </a:solidFill>
          <a:ln/>
        </p:spPr>
      </p:sp>
      <p:sp>
        <p:nvSpPr>
          <p:cNvPr id="41" name="Shape 39"/>
          <p:cNvSpPr/>
          <p:nvPr/>
        </p:nvSpPr>
        <p:spPr>
          <a:xfrm>
            <a:off x="11091672" y="4011930"/>
            <a:ext cx="210312" cy="1840230"/>
          </a:xfrm>
          <a:prstGeom prst="rect">
            <a:avLst/>
          </a:prstGeom>
          <a:solidFill>
            <a:srgbClr val="6E56CF"/>
          </a:solidFill>
          <a:ln/>
        </p:spPr>
      </p:sp>
      <p:sp>
        <p:nvSpPr>
          <p:cNvPr id="42" name="Shape 40"/>
          <p:cNvSpPr/>
          <p:nvPr/>
        </p:nvSpPr>
        <p:spPr>
          <a:xfrm>
            <a:off x="11338560" y="4812030"/>
            <a:ext cx="210312" cy="1040130"/>
          </a:xfrm>
          <a:prstGeom prst="rect">
            <a:avLst/>
          </a:prstGeom>
          <a:solidFill>
            <a:srgbClr val="6E56CF"/>
          </a:solidFill>
          <a:ln/>
        </p:spPr>
      </p:sp>
      <p:sp>
        <p:nvSpPr>
          <p:cNvPr id="43" name="Shape 41"/>
          <p:cNvSpPr/>
          <p:nvPr/>
        </p:nvSpPr>
        <p:spPr>
          <a:xfrm>
            <a:off x="6675120" y="5897880"/>
            <a:ext cx="109728" cy="109728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44" name="Text 42"/>
          <p:cNvSpPr/>
          <p:nvPr/>
        </p:nvSpPr>
        <p:spPr>
          <a:xfrm>
            <a:off x="6858000" y="585216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pivot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7772400" y="5897880"/>
            <a:ext cx="109728" cy="10972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46" name="Text 44"/>
          <p:cNvSpPr/>
          <p:nvPr/>
        </p:nvSpPr>
        <p:spPr>
          <a:xfrm>
            <a:off x="7955280" y="5852160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comparație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9326880" y="5897880"/>
            <a:ext cx="109728" cy="109728"/>
          </a:xfrm>
          <a:prstGeom prst="ellipse">
            <a:avLst/>
          </a:prstGeom>
          <a:solidFill>
            <a:srgbClr val="6E56CF"/>
          </a:solidFill>
          <a:ln/>
        </p:spPr>
      </p:sp>
      <p:sp>
        <p:nvSpPr>
          <p:cNvPr id="48" name="Text 46"/>
          <p:cNvSpPr/>
          <p:nvPr/>
        </p:nvSpPr>
        <p:spPr>
          <a:xfrm>
            <a:off x="9509760" y="5852160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nesortat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45720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OffByOne Academy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8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228600" cy="36576"/>
          </a:xfrm>
          <a:prstGeom prst="rect">
            <a:avLst/>
          </a:prstGeom>
          <a:solidFill>
            <a:srgbClr val="6E56CF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>
                <a:solidFill>
                  <a:srgbClr val="6E56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INTELIGENȚĂ ARTIFICIALĂ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8580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Groq + Llama 3.3 - trei integrări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457200" y="1783080"/>
            <a:ext cx="5029200" cy="4297680"/>
          </a:xfrm>
          <a:prstGeom prst="rect">
            <a:avLst/>
          </a:prstGeom>
          <a:solidFill>
            <a:srgbClr val="0F1023"/>
          </a:solidFill>
          <a:ln/>
          <a:effectLst>
            <a:outerShdw blurRad="152400" dist="50800" dir="5400000" algn="bl" rotWithShape="0">
              <a:srgbClr val="000000">
                <a:alpha val="1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31520" y="21031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FOLOSIT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31520" y="242316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Llama 3.3</a:t>
            </a:r>
            <a:endParaRPr lang="en-US" sz="6000" dirty="0"/>
          </a:p>
        </p:txBody>
      </p:sp>
      <p:sp>
        <p:nvSpPr>
          <p:cNvPr id="8" name="Text 6"/>
          <p:cNvSpPr/>
          <p:nvPr/>
        </p:nvSpPr>
        <p:spPr>
          <a:xfrm>
            <a:off x="731520" y="35204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70B parameters · open-weight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31520" y="4023360"/>
            <a:ext cx="4572000" cy="36576"/>
          </a:xfrm>
          <a:prstGeom prst="rect">
            <a:avLst/>
          </a:prstGeom>
          <a:solidFill>
            <a:srgbClr val="06B6D4">
              <a:alpha val="40000"/>
            </a:srgbClr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41605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Provider: Groq Cloud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31520" y="4526280"/>
            <a:ext cx="4572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Latențe sub 1s · tier gratuit · compatibil OpenAI ChatCompletions (migrare facilă)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669280" y="1783080"/>
            <a:ext cx="603504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669280" y="1783080"/>
            <a:ext cx="91440" cy="1325880"/>
          </a:xfrm>
          <a:prstGeom prst="rect">
            <a:avLst/>
          </a:prstGeom>
          <a:solidFill>
            <a:srgbClr val="6E56CF"/>
          </a:solidFill>
          <a:ln/>
        </p:spPr>
      </p:sp>
      <p:sp>
        <p:nvSpPr>
          <p:cNvPr id="14" name="Text 12"/>
          <p:cNvSpPr/>
          <p:nvPr/>
        </p:nvSpPr>
        <p:spPr>
          <a:xfrm>
            <a:off x="5852160" y="196596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Profesor AI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0058400" y="201168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6E56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15/ora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852160" y="2468880"/>
            <a:ext cx="5669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pentru concepte algoritmice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669280" y="3246120"/>
            <a:ext cx="603504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669280" y="3246120"/>
            <a:ext cx="91440" cy="1325880"/>
          </a:xfrm>
          <a:prstGeom prst="rect">
            <a:avLst/>
          </a:prstGeom>
          <a:solidFill>
            <a:srgbClr val="6E56CF"/>
          </a:solidFill>
          <a:ln/>
        </p:spPr>
      </p:sp>
      <p:sp>
        <p:nvSpPr>
          <p:cNvPr id="19" name="Text 17"/>
          <p:cNvSpPr/>
          <p:nvPr/>
        </p:nvSpPr>
        <p:spPr>
          <a:xfrm>
            <a:off x="5852160" y="342900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Generator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0058400" y="34747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6E56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25/ora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852160" y="3931920"/>
            <a:ext cx="5669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întrebări dinamice adaptate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669280" y="4709160"/>
            <a:ext cx="603504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669280" y="4709160"/>
            <a:ext cx="91440" cy="1325880"/>
          </a:xfrm>
          <a:prstGeom prst="rect">
            <a:avLst/>
          </a:prstGeom>
          <a:solidFill>
            <a:srgbClr val="6E56CF"/>
          </a:solidFill>
          <a:ln/>
        </p:spPr>
      </p:sp>
      <p:sp>
        <p:nvSpPr>
          <p:cNvPr id="24" name="Text 22"/>
          <p:cNvSpPr/>
          <p:nvPr/>
        </p:nvSpPr>
        <p:spPr>
          <a:xfrm>
            <a:off x="5852160" y="489204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Feedback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10058400" y="493776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6E56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10/ora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852160" y="5394960"/>
            <a:ext cx="5669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Analiză automată pe codul C++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5720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OffByOne Academy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8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228600" cy="36576"/>
          </a:xfrm>
          <a:prstGeom prst="rect">
            <a:avLst/>
          </a:prstGeom>
          <a:solidFill>
            <a:srgbClr val="6E56CF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>
                <a:solidFill>
                  <a:srgbClr val="6E56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DIFERENȚIATORI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8580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avem noi, ce nu </a:t>
            </a:r>
            <a:r>
              <a:rPr lang="en-US" sz="3600" b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 alte platforme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457200" y="178308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Funcționalități prezente în OffByOne Academy și absente la VisuAlgo, Algorithm Visualizer, GeeksForGeeks, W3Schools: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88620" y="2423160"/>
            <a:ext cx="370332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10B981"/>
            </a:solidFill>
            <a:prstDash val="solid"/>
          </a:ln>
          <a:effectLst>
            <a:outerShdw blurRad="76200" dist="25400" dir="5400000" algn="bl" rotWithShape="0">
              <a:srgbClr val="000000">
                <a:alpha val="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17220" y="2697480"/>
            <a:ext cx="640080" cy="64008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8" name="Text 6"/>
          <p:cNvSpPr/>
          <p:nvPr/>
        </p:nvSpPr>
        <p:spPr>
          <a:xfrm>
            <a:off x="617220" y="26974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348740" y="269748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Doar la noi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348740" y="297180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AI conversațional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17220" y="3474720"/>
            <a:ext cx="3246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it-IT" sz="110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Profesorul AI răspunde în limbaj natural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229100" y="2423160"/>
            <a:ext cx="370332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10B981"/>
            </a:solidFill>
            <a:prstDash val="solid"/>
          </a:ln>
          <a:effectLst>
            <a:outerShdw blurRad="76200" dist="25400" dir="5400000" algn="bl" rotWithShape="0">
              <a:srgbClr val="000000">
                <a:alpha val="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457700" y="2697480"/>
            <a:ext cx="640080" cy="64008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457700" y="26974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5189220" y="269748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Doar la noi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189220" y="297180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dinamic generat de AI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457700" y="3474720"/>
            <a:ext cx="3246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întrebări adaptate nivelului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069580" y="2423160"/>
            <a:ext cx="370332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10B981"/>
            </a:solidFill>
            <a:prstDash val="solid"/>
          </a:ln>
          <a:effectLst>
            <a:outerShdw blurRad="76200" dist="25400" dir="5400000" algn="bl" rotWithShape="0">
              <a:srgbClr val="000000">
                <a:alpha val="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298180" y="2697480"/>
            <a:ext cx="640080" cy="64008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8298180" y="26974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9029700" y="269748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Doar la noi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9029700" y="297180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feedback pe C++ scris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8298180" y="3474720"/>
            <a:ext cx="3246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AI-ul analizează codul tău și sugerează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388620" y="4389120"/>
            <a:ext cx="370332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10B981"/>
            </a:solidFill>
            <a:prstDash val="solid"/>
          </a:ln>
          <a:effectLst>
            <a:outerShdw blurRad="76200" dist="25400" dir="5400000" algn="bl" rotWithShape="0">
              <a:srgbClr val="000000">
                <a:alpha val="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17220" y="4663440"/>
            <a:ext cx="640080" cy="64008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26" name="Text 24"/>
          <p:cNvSpPr/>
          <p:nvPr/>
        </p:nvSpPr>
        <p:spPr>
          <a:xfrm>
            <a:off x="617220" y="46634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1348740" y="466344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Doar la noi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348740" y="49377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Gamification: 10 badges + streak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17220" y="5440680"/>
            <a:ext cx="3246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Recompensare imediată, retenție zilnică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229100" y="4389120"/>
            <a:ext cx="370332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10B981"/>
            </a:solidFill>
            <a:prstDash val="solid"/>
          </a:ln>
          <a:effectLst>
            <a:outerShdw blurRad="76200" dist="25400" dir="5400000" algn="bl" rotWithShape="0">
              <a:srgbClr val="000000">
                <a:alpha val="5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4457700" y="4663440"/>
            <a:ext cx="640080" cy="64008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32" name="Text 30"/>
          <p:cNvSpPr/>
          <p:nvPr/>
        </p:nvSpPr>
        <p:spPr>
          <a:xfrm>
            <a:off x="4457700" y="46634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5189220" y="466344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Doar la noi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189220" y="49377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Parcursuri ghidate pe nivel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4457700" y="5440680"/>
            <a:ext cx="3246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it-IT" sz="110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Învățare pe pași, cu progres salvat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8069580" y="4389120"/>
            <a:ext cx="370332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10B981"/>
            </a:solidFill>
            <a:prstDash val="solid"/>
          </a:ln>
          <a:effectLst>
            <a:outerShdw blurRad="76200" dist="25400" dir="5400000" algn="bl" rotWithShape="0">
              <a:srgbClr val="000000">
                <a:alpha val="5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8298180" y="4663440"/>
            <a:ext cx="640080" cy="64008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38" name="Text 36"/>
          <p:cNvSpPr/>
          <p:nvPr/>
        </p:nvSpPr>
        <p:spPr>
          <a:xfrm>
            <a:off x="8298180" y="46634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9029700" y="466344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Doar la noi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9029700" y="49377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Limba română nativă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8298180" y="5440680"/>
            <a:ext cx="3246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Esențial pentru elevii din liceu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45720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OffByOne Academy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8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0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6E56CF"/>
          </a:solidFill>
          <a:ln/>
        </p:spPr>
      </p:sp>
      <p:sp>
        <p:nvSpPr>
          <p:cNvPr id="3" name="Shape 1"/>
          <p:cNvSpPr/>
          <p:nvPr/>
        </p:nvSpPr>
        <p:spPr>
          <a:xfrm>
            <a:off x="-1828800" y="4114800"/>
            <a:ext cx="5486400" cy="5486400"/>
          </a:xfrm>
          <a:prstGeom prst="ellipse">
            <a:avLst/>
          </a:prstGeom>
          <a:solidFill>
            <a:srgbClr val="6E56CF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503920" y="-1828800"/>
            <a:ext cx="5486400" cy="5486400"/>
          </a:xfrm>
          <a:prstGeom prst="ellipse">
            <a:avLst/>
          </a:prstGeom>
          <a:solidFill>
            <a:srgbClr val="06B6D4">
              <a:alpha val="12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2801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80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OFFBYONE ACADEMY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10972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Mulțumim!</a:t>
            </a:r>
            <a:endParaRPr lang="en-US" sz="11000" dirty="0"/>
          </a:p>
        </p:txBody>
      </p:sp>
      <p:sp>
        <p:nvSpPr>
          <p:cNvPr id="7" name="Shape 5"/>
          <p:cNvSpPr/>
          <p:nvPr/>
        </p:nvSpPr>
        <p:spPr>
          <a:xfrm>
            <a:off x="640080" y="3749040"/>
            <a:ext cx="1828800" cy="36576"/>
          </a:xfrm>
          <a:prstGeom prst="rect">
            <a:avLst/>
          </a:prstGeom>
          <a:solidFill>
            <a:srgbClr val="6E56CF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402336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i="1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În continuare urmează o demonstrație practică a platformei.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40080" y="53492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ECHIPA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40080" y="5669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Șortan Eduard-Cătălin · Băloi Dorian-Liviu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40080" y="61264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Coordonatori: Conf. dr. Ionel Muscalagiu · As. dr. ing. Cezara-Liliana Raț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768</TotalTime>
  <Words>546</Words>
  <Application>Microsoft Office PowerPoint</Application>
  <PresentationFormat>Widescreen</PresentationFormat>
  <Paragraphs>138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OffByOne Academy</dc:title>
  <dc:subject>PptxGenJS Presentation</dc:subject>
  <dc:creator>Sortan Eduard-Catalin, Baloi Dorian-Liviu</dc:creator>
  <cp:lastModifiedBy>Eduard-Cătălin Șortan</cp:lastModifiedBy>
  <cp:revision>8</cp:revision>
  <dcterms:created xsi:type="dcterms:W3CDTF">2026-05-13T18:41:07Z</dcterms:created>
  <dcterms:modified xsi:type="dcterms:W3CDTF">2026-05-15T08:18:44Z</dcterms:modified>
</cp:coreProperties>
</file>