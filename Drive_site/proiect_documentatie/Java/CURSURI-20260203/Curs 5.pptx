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28"/>
  </p:notesMasterIdLst>
  <p:sldIdLst>
    <p:sldId id="468" r:id="rId2"/>
    <p:sldId id="500" r:id="rId3"/>
    <p:sldId id="473" r:id="rId4"/>
    <p:sldId id="474" r:id="rId5"/>
    <p:sldId id="475" r:id="rId6"/>
    <p:sldId id="476" r:id="rId7"/>
    <p:sldId id="477" r:id="rId8"/>
    <p:sldId id="478" r:id="rId9"/>
    <p:sldId id="485" r:id="rId10"/>
    <p:sldId id="486" r:id="rId11"/>
    <p:sldId id="505" r:id="rId12"/>
    <p:sldId id="506" r:id="rId13"/>
    <p:sldId id="507" r:id="rId14"/>
    <p:sldId id="508" r:id="rId15"/>
    <p:sldId id="509" r:id="rId16"/>
    <p:sldId id="510" r:id="rId17"/>
    <p:sldId id="492" r:id="rId18"/>
    <p:sldId id="493" r:id="rId19"/>
    <p:sldId id="511" r:id="rId20"/>
    <p:sldId id="512" r:id="rId21"/>
    <p:sldId id="513" r:id="rId22"/>
    <p:sldId id="514" r:id="rId23"/>
    <p:sldId id="515" r:id="rId24"/>
    <p:sldId id="516" r:id="rId25"/>
    <p:sldId id="517" r:id="rId26"/>
    <p:sldId id="518" r:id="rId27"/>
  </p:sldIdLst>
  <p:sldSz cx="9144000" cy="6858000" type="screen4x3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999999"/>
    <a:srgbClr val="FFFFFF"/>
    <a:srgbClr val="CCCC33"/>
    <a:srgbClr val="337F7F"/>
    <a:srgbClr val="93BBBB"/>
    <a:srgbClr val="1919FF"/>
    <a:srgbClr val="19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preferSingleView="1">
    <p:restoredLeft sz="32787"/>
    <p:restoredTop sz="90929"/>
  </p:normalViewPr>
  <p:slideViewPr>
    <p:cSldViewPr>
      <p:cViewPr varScale="1">
        <p:scale>
          <a:sx n="117" d="100"/>
          <a:sy n="117" d="100"/>
        </p:scale>
        <p:origin x="235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44800" y="533400"/>
            <a:ext cx="3454400" cy="2590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noProof="0" smtClean="0"/>
              <a:t>Click to edit Master text styles</a:t>
            </a:r>
          </a:p>
          <a:p>
            <a:pPr lvl="1"/>
            <a:r>
              <a:rPr lang="en-US" altLang="ro-RO" noProof="0" smtClean="0"/>
              <a:t>Second level</a:t>
            </a:r>
          </a:p>
          <a:p>
            <a:pPr lvl="2"/>
            <a:r>
              <a:rPr lang="en-US" altLang="ro-RO" noProof="0" smtClean="0"/>
              <a:t>Third level</a:t>
            </a:r>
          </a:p>
          <a:p>
            <a:pPr lvl="3"/>
            <a:r>
              <a:rPr lang="en-US" altLang="ro-RO" noProof="0" smtClean="0"/>
              <a:t>Fourth level</a:t>
            </a:r>
          </a:p>
          <a:p>
            <a:pPr lvl="4"/>
            <a:r>
              <a:rPr lang="en-US" altLang="ro-RO" noProof="0" smtClean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770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4770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i="0" smtClean="0"/>
            </a:lvl1pPr>
          </a:lstStyle>
          <a:p>
            <a:pPr>
              <a:defRPr/>
            </a:pPr>
            <a:fld id="{55FBA24D-6BC3-499C-A744-83776E7BAEC5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3065272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560F2C0-68F4-4102-94E8-A7CFC0B753BD}" type="slidenum">
              <a:rPr lang="en-US" altLang="ro-RO" sz="1200" i="0"/>
              <a:pPr/>
              <a:t>1</a:t>
            </a:fld>
            <a:endParaRPr lang="en-US" altLang="ro-RO" sz="1200" i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2141983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C515373-66AB-44EB-953B-99A939CA2A70}" type="slidenum">
              <a:rPr lang="en-US" altLang="ro-RO" sz="1200" i="0"/>
              <a:pPr/>
              <a:t>2</a:t>
            </a:fld>
            <a:endParaRPr lang="en-US" altLang="ro-RO" sz="1200" i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4007079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83AD747-A426-4B1E-84FB-9BFD61928328}" type="slidenum">
              <a:rPr lang="en-US" altLang="ro-RO" sz="1200" i="0"/>
              <a:pPr/>
              <a:t>3</a:t>
            </a:fld>
            <a:endParaRPr lang="en-US" altLang="ro-RO" sz="1200" i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3024014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BBF1A73-C8E3-4068-868D-65568A99D81D}" type="slidenum">
              <a:rPr lang="en-US" altLang="ro-RO" sz="1200" i="0"/>
              <a:pPr/>
              <a:t>4</a:t>
            </a:fld>
            <a:endParaRPr lang="en-US" altLang="ro-RO" sz="1200" i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1745737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813F7A4-1109-43C5-AC28-5E7B35DC3886}" type="slidenum">
              <a:rPr lang="en-US" altLang="ro-RO" sz="1200" i="0"/>
              <a:pPr/>
              <a:t>5</a:t>
            </a:fld>
            <a:endParaRPr lang="en-US" altLang="ro-RO" sz="1200" i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1028952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15336D7-9739-4128-A62E-AA35CAAA1B8B}" type="slidenum">
              <a:rPr lang="en-US" altLang="ro-RO" sz="1200" i="0"/>
              <a:pPr/>
              <a:t>6</a:t>
            </a:fld>
            <a:endParaRPr lang="en-US" altLang="ro-RO" sz="1200" i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3225993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DD66B24-C61E-4850-AF44-F244307AB150}" type="slidenum">
              <a:rPr lang="en-US" altLang="ro-RO" sz="1200" i="0"/>
              <a:pPr/>
              <a:t>7</a:t>
            </a:fld>
            <a:endParaRPr lang="en-US" altLang="ro-RO" sz="1200" i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714463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321406-CBA6-4F38-9D14-358DC98BCA28}" type="slidenum">
              <a:rPr lang="en-US" altLang="ro-RO" sz="1200" i="0"/>
              <a:pPr/>
              <a:t>8</a:t>
            </a:fld>
            <a:endParaRPr lang="en-US" altLang="ro-RO" sz="1200" i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444671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9EA1859-A8ED-4DF6-81D5-A0B7D303BEBC}" type="slidenum">
              <a:rPr lang="en-US" altLang="ro-RO" sz="1200" i="0"/>
              <a:pPr/>
              <a:t>9</a:t>
            </a:fld>
            <a:endParaRPr lang="en-US" altLang="ro-RO" sz="1200" i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38259272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0D3939E-FF84-4AAC-816C-0171FE09728B}" type="slidenum">
              <a:rPr lang="en-US" altLang="ro-RO" sz="1200" i="0"/>
              <a:pPr/>
              <a:t>10</a:t>
            </a:fld>
            <a:endParaRPr lang="en-US" altLang="ro-RO" sz="1200" i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2076382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49235EB-3C9C-4CF2-934D-B7C7306C401F}" type="slidenum">
              <a:rPr lang="en-US" altLang="ro-RO" sz="1200" i="0"/>
              <a:pPr/>
              <a:t>11</a:t>
            </a:fld>
            <a:endParaRPr lang="en-US" altLang="ro-RO" sz="1200" i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203277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06747ED-76B9-4BAB-B59D-9BB29909BA4D}" type="slidenum">
              <a:rPr lang="en-US" altLang="ro-RO" sz="1200" i="0"/>
              <a:pPr/>
              <a:t>12</a:t>
            </a:fld>
            <a:endParaRPr lang="en-US" altLang="ro-RO" sz="1200" i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11670068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3DCC90-5E54-4595-9D00-B9CD3BDAC3F3}" type="slidenum">
              <a:rPr lang="en-US" altLang="ro-RO" sz="1200" i="0"/>
              <a:pPr/>
              <a:t>13</a:t>
            </a:fld>
            <a:endParaRPr lang="en-US" altLang="ro-RO" sz="1200" i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3098440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F02C77A-6B83-439E-9DF3-E52ED0F495BC}" type="slidenum">
              <a:rPr lang="en-US" altLang="ro-RO" sz="1200" i="0"/>
              <a:pPr/>
              <a:t>14</a:t>
            </a:fld>
            <a:endParaRPr lang="en-US" altLang="ro-RO" sz="1200" i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338190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19CC442-963D-403B-916B-44DB46681CA5}" type="slidenum">
              <a:rPr lang="en-US" altLang="ro-RO" sz="1200" i="0"/>
              <a:pPr/>
              <a:t>15</a:t>
            </a:fld>
            <a:endParaRPr lang="en-US" altLang="ro-RO" sz="1200" i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2856522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CF43D28-B690-4E6C-A93F-D3F808AFC77C}" type="slidenum">
              <a:rPr lang="en-US" altLang="ro-RO" sz="1200" i="0"/>
              <a:pPr/>
              <a:t>16</a:t>
            </a:fld>
            <a:endParaRPr lang="en-US" altLang="ro-RO" sz="1200" i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13704429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5CB5547-0378-4DB9-B07A-3B4162A5FB8D}" type="slidenum">
              <a:rPr lang="en-US" altLang="ro-RO" sz="1200" i="0"/>
              <a:pPr/>
              <a:t>17</a:t>
            </a:fld>
            <a:endParaRPr lang="en-US" altLang="ro-RO" sz="1200" i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8780080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EC79567-6AA6-4C05-BCC0-430BCBEDF1EA}" type="slidenum">
              <a:rPr lang="en-US" altLang="ro-RO" sz="1200" i="0"/>
              <a:pPr/>
              <a:t>18</a:t>
            </a:fld>
            <a:endParaRPr lang="en-US" altLang="ro-RO" sz="1200" i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o-RO" altLang="ro-RO" smtClean="0"/>
          </a:p>
        </p:txBody>
      </p:sp>
    </p:spTree>
    <p:extLst>
      <p:ext uri="{BB962C8B-B14F-4D97-AF65-F5344CB8AC3E}">
        <p14:creationId xmlns:p14="http://schemas.microsoft.com/office/powerpoint/2010/main" val="328179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/>
          <p:cNvCxnSpPr/>
          <p:nvPr/>
        </p:nvCxnSpPr>
        <p:spPr>
          <a:xfrm>
            <a:off x="906463" y="4343400"/>
            <a:ext cx="740568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/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7FBF7-9045-4CC4-9356-A5B8225F6BB1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4152587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971C1-2283-457F-8A23-72966DBBC6DF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419241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/>
          <p:cNvCxnSpPr/>
          <p:nvPr/>
        </p:nvCxnSpPr>
        <p:spPr>
          <a:xfrm>
            <a:off x="906463" y="4343400"/>
            <a:ext cx="740568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Ctr="0"/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4A26B3-C8F0-466A-8A3E-DBCFE94800CC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757062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1A5D8-BA80-4CDA-97FF-2BBF57850DF5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81467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EBFF0-65B4-400A-A747-163352E1D1DE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372911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BA898-5E9D-419B-BFC4-AB95E085F059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841724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3DB90-AFB0-487E-91F8-EAC0B0BF3B7F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2761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30384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3030538" y="0"/>
            <a:ext cx="476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349250" y="6459538"/>
            <a:ext cx="1963738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53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1C91A0E-FADA-4DCF-B0C7-F0C7C4B90C58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287906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953000"/>
            <a:ext cx="914241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4914900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06634-D620-410A-A73C-B33E37C1A3DA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02124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AA059-1D98-43BB-B1F6-5A388BD5252B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54719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89450-AD40-442F-8BB6-78C7108C3207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54182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22325" y="1846263"/>
            <a:ext cx="75438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3FCFBE-2AA3-4A12-8A7A-978BD096749E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350" y="1738313"/>
            <a:ext cx="747553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8" r:id="rId2"/>
    <p:sldLayoutId id="2147483684" r:id="rId3"/>
    <p:sldLayoutId id="2147483679" r:id="rId4"/>
    <p:sldLayoutId id="2147483680" r:id="rId5"/>
    <p:sldLayoutId id="2147483681" r:id="rId6"/>
    <p:sldLayoutId id="2147483685" r:id="rId7"/>
    <p:sldLayoutId id="2147483686" r:id="rId8"/>
    <p:sldLayoutId id="2147483687" r:id="rId9"/>
    <p:sldLayoutId id="2147483682" r:id="rId10"/>
    <p:sldLayoutId id="2147483688" r:id="rId11"/>
  </p:sldLayoutIdLst>
  <p:txStyles>
    <p:titleStyle>
      <a:lvl1pPr algn="l" rtl="0" fontAlgn="base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2pPr>
      <a:lvl3pPr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3pPr>
      <a:lvl4pPr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4pPr>
      <a:lvl5pPr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90488" indent="-90488" algn="l" rtl="0" fontAlgn="base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616200"/>
            <a:ext cx="9144000" cy="1143000"/>
          </a:xfr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dirty="0" smtClean="0">
                <a:solidFill>
                  <a:srgbClr val="FF0000"/>
                </a:solidFill>
              </a:rPr>
              <a:t>Obiecte si clase</a:t>
            </a:r>
            <a:endParaRPr lang="en-US" altLang="ro-RO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ro-RO" sz="4000" dirty="0" err="1" smtClean="0">
                <a:solidFill>
                  <a:srgbClr val="FF0000"/>
                </a:solidFill>
              </a:rPr>
              <a:t>Definirea</a:t>
            </a:r>
            <a:r>
              <a:rPr lang="en-US" altLang="ro-RO" sz="4000" dirty="0" smtClean="0">
                <a:solidFill>
                  <a:srgbClr val="FF0000"/>
                </a:solidFill>
              </a:rPr>
              <a:t> </a:t>
            </a:r>
            <a:r>
              <a:rPr lang="en-US" altLang="ro-RO" sz="4000" dirty="0" err="1">
                <a:solidFill>
                  <a:srgbClr val="FF0000"/>
                </a:solidFill>
              </a:rPr>
              <a:t>propriilor</a:t>
            </a:r>
            <a:r>
              <a:rPr lang="en-US" altLang="ro-RO" sz="4000" dirty="0">
                <a:solidFill>
                  <a:srgbClr val="FF0000"/>
                </a:solidFill>
              </a:rPr>
              <a:t> </a:t>
            </a:r>
            <a:r>
              <a:rPr lang="en-US" altLang="ro-RO" sz="4000" dirty="0" err="1">
                <a:solidFill>
                  <a:srgbClr val="FF0000"/>
                </a:solidFill>
              </a:rPr>
              <a:t>clase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482600" y="1155700"/>
            <a:ext cx="812800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smtClean="0"/>
              <a:t>Forma standard a </a:t>
            </a:r>
            <a:r>
              <a:rPr lang="en-US" altLang="ro-RO" sz="2400" i="0" dirty="0" err="1" smtClean="0"/>
              <a:t>definiției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clasei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în</a:t>
            </a:r>
            <a:r>
              <a:rPr lang="en-US" altLang="ro-RO" sz="2400" i="0" dirty="0" smtClean="0"/>
              <a:t> Java </a:t>
            </a:r>
            <a:r>
              <a:rPr lang="en-US" altLang="ro-RO" sz="2400" i="0" dirty="0" err="1" smtClean="0"/>
              <a:t>arată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astfel</a:t>
            </a:r>
            <a:r>
              <a:rPr lang="en-US" altLang="ro-RO" sz="2400" i="0" dirty="0" smtClean="0"/>
              <a:t>:</a:t>
            </a:r>
            <a:endParaRPr lang="en-US" altLang="ro-RO" sz="2400" i="0" dirty="0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962025" y="1676400"/>
            <a:ext cx="7483475" cy="1250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012825" y="1758950"/>
            <a:ext cx="7569200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ro-RO" sz="1600" b="1" i="0">
                <a:latin typeface="Courier New" panose="02070309020205020404" pitchFamily="49" charset="0"/>
              </a:rPr>
              <a:t>public class </a:t>
            </a:r>
            <a:r>
              <a:rPr lang="en-US" altLang="ro-RO" sz="1600"/>
              <a:t>name</a:t>
            </a:r>
            <a:r>
              <a:rPr lang="en-US" altLang="ro-RO" sz="1600" b="1" i="0">
                <a:latin typeface="Courier New" panose="02070309020205020404" pitchFamily="49" charset="0"/>
              </a:rPr>
              <a:t> extends </a:t>
            </a:r>
            <a:r>
              <a:rPr lang="en-US" altLang="ro-RO" sz="1600"/>
              <a:t>superclass</a:t>
            </a:r>
            <a:r>
              <a:rPr lang="en-US" altLang="ro-RO" sz="1600" b="1" i="0">
                <a:latin typeface="Courier New" panose="02070309020205020404" pitchFamily="49" charset="0"/>
              </a:rPr>
              <a:t> {</a:t>
            </a:r>
          </a:p>
          <a:p>
            <a:endParaRPr lang="en-US" altLang="ro-RO" sz="800" b="1" i="0">
              <a:latin typeface="Courier New" panose="02070309020205020404" pitchFamily="49" charset="0"/>
            </a:endParaRPr>
          </a:p>
          <a:p>
            <a:r>
              <a:rPr lang="en-US" altLang="ro-RO" sz="1600" b="1" i="0">
                <a:latin typeface="Courier New" panose="02070309020205020404" pitchFamily="49" charset="0"/>
              </a:rPr>
              <a:t>    </a:t>
            </a:r>
            <a:r>
              <a:rPr lang="en-US" altLang="ro-RO" sz="1600"/>
              <a:t>class body</a:t>
            </a:r>
            <a:endParaRPr lang="en-US" altLang="ro-RO" sz="1000" b="1" i="0">
              <a:latin typeface="Courier New" panose="02070309020205020404" pitchFamily="49" charset="0"/>
            </a:endParaRPr>
          </a:p>
          <a:p>
            <a:endParaRPr lang="en-US" altLang="ro-RO" sz="800" b="1" i="0">
              <a:latin typeface="Courier New" panose="02070309020205020404" pitchFamily="49" charset="0"/>
            </a:endParaRPr>
          </a:p>
          <a:p>
            <a:r>
              <a:rPr lang="en-US" altLang="ro-RO" sz="1600" b="1" i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45478" name="Rectangle 6"/>
          <p:cNvSpPr>
            <a:spLocks noChangeArrowheads="1"/>
          </p:cNvSpPr>
          <p:nvPr/>
        </p:nvSpPr>
        <p:spPr bwMode="auto">
          <a:xfrm>
            <a:off x="454025" y="3819525"/>
            <a:ext cx="8128000" cy="146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err="1" smtClean="0"/>
              <a:t>Clauza</a:t>
            </a:r>
            <a:r>
              <a:rPr lang="en-US" altLang="ro-RO" sz="2400" i="0" dirty="0" smtClean="0"/>
              <a:t> </a:t>
            </a:r>
            <a:r>
              <a:rPr lang="en-US" altLang="ro-RO" sz="2000" b="1" i="0" dirty="0">
                <a:latin typeface="Courier New" panose="02070309020205020404" pitchFamily="49" charset="0"/>
              </a:rPr>
              <a:t>extends</a:t>
            </a:r>
            <a:r>
              <a:rPr lang="en-US" altLang="ro-RO" sz="2400" i="0" dirty="0" smtClean="0"/>
              <a:t> de </a:t>
            </a:r>
            <a:r>
              <a:rPr lang="en-US" altLang="ro-RO" sz="2400" i="0" dirty="0" err="1" smtClean="0"/>
              <a:t>pe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linia</a:t>
            </a:r>
            <a:r>
              <a:rPr lang="en-US" altLang="ro-RO" sz="2400" i="0" dirty="0" smtClean="0"/>
              <a:t> de </a:t>
            </a:r>
            <a:r>
              <a:rPr lang="en-US" altLang="ro-RO" sz="2400" i="0" dirty="0" err="1" smtClean="0"/>
              <a:t>antet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specifică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numele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superclasei</a:t>
            </a:r>
            <a:r>
              <a:rPr lang="en-US" altLang="ro-RO" sz="2400" i="0" dirty="0" smtClean="0"/>
              <a:t>. </a:t>
            </a:r>
            <a:r>
              <a:rPr lang="en-US" altLang="ro-RO" sz="2400" i="0" dirty="0" err="1" smtClean="0"/>
              <a:t>Dacă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clauza</a:t>
            </a:r>
            <a:r>
              <a:rPr lang="en-US" altLang="ro-RO" sz="2400" i="0" dirty="0" smtClean="0"/>
              <a:t> </a:t>
            </a:r>
            <a:r>
              <a:rPr lang="en-US" altLang="ro-RO" sz="2000" b="1" i="0" dirty="0">
                <a:latin typeface="Courier New" panose="02070309020205020404" pitchFamily="49" charset="0"/>
              </a:rPr>
              <a:t>extends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lipsește</a:t>
            </a:r>
            <a:r>
              <a:rPr lang="en-US" altLang="ro-RO" sz="2400" i="0" dirty="0" smtClean="0"/>
              <a:t>, </a:t>
            </a:r>
            <a:r>
              <a:rPr lang="en-US" altLang="ro-RO" sz="2400" i="0" dirty="0" err="1" smtClean="0"/>
              <a:t>noua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clasă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devine</a:t>
            </a:r>
            <a:r>
              <a:rPr lang="en-US" altLang="ro-RO" sz="2400" i="0" dirty="0" smtClean="0"/>
              <a:t> o </a:t>
            </a:r>
            <a:r>
              <a:rPr lang="en-US" altLang="ro-RO" sz="2400" i="0" dirty="0" err="1" smtClean="0"/>
              <a:t>subclasă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directă</a:t>
            </a:r>
            <a:r>
              <a:rPr lang="en-US" altLang="ro-RO" sz="2400" i="0" dirty="0" smtClean="0"/>
              <a:t> a </a:t>
            </a:r>
            <a:r>
              <a:rPr lang="en-US" altLang="ro-RO" sz="2400" i="0" dirty="0" err="1" smtClean="0"/>
              <a:t>obiectului</a:t>
            </a:r>
            <a:r>
              <a:rPr lang="en-US" altLang="ro-RO" sz="2400" i="0" dirty="0" smtClean="0"/>
              <a:t>, care </a:t>
            </a:r>
            <a:r>
              <a:rPr lang="en-US" altLang="ro-RO" sz="2400" i="0" dirty="0" err="1" smtClean="0"/>
              <a:t>este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rădăcina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ierarhiei</a:t>
            </a:r>
            <a:r>
              <a:rPr lang="en-US" altLang="ro-RO" sz="2400" i="0" dirty="0" smtClean="0"/>
              <a:t> de </a:t>
            </a:r>
            <a:r>
              <a:rPr lang="en-US" altLang="ro-RO" sz="2400" i="0" dirty="0" err="1" smtClean="0"/>
              <a:t>clase</a:t>
            </a:r>
            <a:r>
              <a:rPr lang="en-US" altLang="ro-RO" sz="2400" i="0" dirty="0" smtClean="0"/>
              <a:t> Java</a:t>
            </a:r>
            <a:endParaRPr lang="en-US" altLang="ro-RO" sz="2400" i="0" dirty="0"/>
          </a:p>
        </p:txBody>
      </p:sp>
      <p:sp>
        <p:nvSpPr>
          <p:cNvPr id="745479" name="Rectangle 7"/>
          <p:cNvSpPr>
            <a:spLocks noChangeArrowheads="1"/>
          </p:cNvSpPr>
          <p:nvPr/>
        </p:nvSpPr>
        <p:spPr bwMode="auto">
          <a:xfrm>
            <a:off x="482600" y="5245100"/>
            <a:ext cx="8128000" cy="116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err="1" smtClean="0"/>
              <a:t>Corpul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unei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clase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este</a:t>
            </a:r>
            <a:r>
              <a:rPr lang="en-US" altLang="ro-RO" sz="2400" i="0" dirty="0" smtClean="0"/>
              <a:t> format </a:t>
            </a:r>
            <a:r>
              <a:rPr lang="en-US" altLang="ro-RO" sz="2400" i="0" dirty="0" err="1" smtClean="0"/>
              <a:t>dintr</a:t>
            </a:r>
            <a:r>
              <a:rPr lang="en-US" altLang="ro-RO" sz="2400" i="0" dirty="0" smtClean="0"/>
              <a:t>-un set de </a:t>
            </a:r>
            <a:r>
              <a:rPr lang="en-US" altLang="ro-RO" sz="2400" i="0" dirty="0" err="1" smtClean="0"/>
              <a:t>definiții</a:t>
            </a:r>
            <a:r>
              <a:rPr lang="en-US" altLang="ro-RO" sz="2400" i="0" dirty="0" smtClean="0"/>
              <a:t> Java care </a:t>
            </a:r>
            <a:r>
              <a:rPr lang="en-US" altLang="ro-RO" sz="2400" i="0" dirty="0" err="1" smtClean="0"/>
              <a:t>sunt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denumite</a:t>
            </a:r>
            <a:r>
              <a:rPr lang="en-US" altLang="ro-RO" sz="2400" i="0" dirty="0" smtClean="0"/>
              <a:t> generic </a:t>
            </a:r>
            <a:r>
              <a:rPr lang="en-US" altLang="ro-RO" sz="2400" b="1" dirty="0" err="1"/>
              <a:t>intrări</a:t>
            </a:r>
            <a:r>
              <a:rPr lang="en-US" altLang="ro-RO" sz="2400" i="0" dirty="0" smtClean="0"/>
              <a:t>. </a:t>
            </a:r>
            <a:r>
              <a:rPr lang="en-US" altLang="ro-RO" sz="2400" i="0" dirty="0" err="1" smtClean="0"/>
              <a:t>Cele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mai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frecvente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intrări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sunt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constructori</a:t>
            </a:r>
            <a:r>
              <a:rPr lang="en-US" altLang="ro-RO" sz="2400" i="0" dirty="0" smtClean="0"/>
              <a:t>, </a:t>
            </a:r>
            <a:r>
              <a:rPr lang="en-US" altLang="ro-RO" sz="2400" i="0" dirty="0" err="1" smtClean="0"/>
              <a:t>metode</a:t>
            </a:r>
            <a:r>
              <a:rPr lang="en-US" altLang="ro-RO" sz="2400" i="0" dirty="0" smtClean="0"/>
              <a:t>, </a:t>
            </a:r>
            <a:r>
              <a:rPr lang="en-US" altLang="ro-RO" sz="2400" i="0" dirty="0" err="1" smtClean="0"/>
              <a:t>variabile</a:t>
            </a:r>
            <a:r>
              <a:rPr lang="en-US" altLang="ro-RO" sz="2400" i="0" dirty="0" smtClean="0"/>
              <a:t> de </a:t>
            </a:r>
            <a:r>
              <a:rPr lang="en-US" altLang="ro-RO" sz="2400" i="0" dirty="0" err="1" smtClean="0"/>
              <a:t>instanță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și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constante</a:t>
            </a:r>
            <a:endParaRPr lang="en-US" altLang="ro-RO" sz="2400" i="0" dirty="0"/>
          </a:p>
        </p:txBody>
      </p:sp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833438" y="3048000"/>
            <a:ext cx="7777162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</a:pPr>
            <a:r>
              <a:rPr lang="en-US" altLang="ro-RO" sz="2400" i="0" dirty="0" err="1" smtClean="0"/>
              <a:t>Fiecare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clasă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publică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trebuie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stocată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într</a:t>
            </a:r>
            <a:r>
              <a:rPr lang="en-US" altLang="ro-RO" sz="2400" i="0" dirty="0" smtClean="0"/>
              <a:t>-un </a:t>
            </a:r>
            <a:r>
              <a:rPr lang="en-US" altLang="ro-RO" sz="2400" i="0" dirty="0" err="1" smtClean="0"/>
              <a:t>fișier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separat</a:t>
            </a:r>
            <a:r>
              <a:rPr lang="en-US" altLang="ro-RO" sz="2400" i="0" dirty="0" smtClean="0"/>
              <a:t> al </a:t>
            </a:r>
            <a:r>
              <a:rPr lang="en-US" altLang="ro-RO" sz="2400" i="0" dirty="0" err="1" smtClean="0"/>
              <a:t>cărui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nume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este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numele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clasei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urmat</a:t>
            </a:r>
            <a:r>
              <a:rPr lang="en-US" altLang="ro-RO" sz="2400" i="0" dirty="0" smtClean="0"/>
              <a:t> de</a:t>
            </a:r>
            <a:r>
              <a:rPr lang="en-US" altLang="ro-RO" sz="2000" b="1" i="0" dirty="0" smtClean="0">
                <a:latin typeface="Courier New" panose="02070309020205020404" pitchFamily="49" charset="0"/>
              </a:rPr>
              <a:t>.java</a:t>
            </a:r>
            <a:r>
              <a:rPr lang="en-US" altLang="ro-RO" sz="2400" i="0" dirty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5478" grpId="0" build="p" autoUpdateAnimBg="0"/>
      <p:bldP spid="745479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-2130" y="332656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ro-RO" sz="4000" dirty="0" err="1">
                <a:solidFill>
                  <a:srgbClr val="FF0000"/>
                </a:solidFill>
              </a:rPr>
              <a:t>Reprezentarea</a:t>
            </a:r>
            <a:r>
              <a:rPr lang="en-US" altLang="ro-RO" sz="4000" dirty="0">
                <a:solidFill>
                  <a:srgbClr val="FF0000"/>
                </a:solidFill>
              </a:rPr>
              <a:t> </a:t>
            </a:r>
            <a:r>
              <a:rPr lang="en-US" altLang="ro-RO" sz="4000" dirty="0" err="1">
                <a:solidFill>
                  <a:srgbClr val="FF0000"/>
                </a:solidFill>
              </a:rPr>
              <a:t>informațiilor</a:t>
            </a:r>
            <a:r>
              <a:rPr lang="en-US" altLang="ro-RO" sz="4000" dirty="0">
                <a:solidFill>
                  <a:srgbClr val="FF0000"/>
                </a:solidFill>
              </a:rPr>
              <a:t> </a:t>
            </a:r>
            <a:r>
              <a:rPr lang="en-US" altLang="ro-RO" sz="4000" dirty="0" err="1">
                <a:solidFill>
                  <a:srgbClr val="FF0000"/>
                </a:solidFill>
              </a:rPr>
              <a:t>despre</a:t>
            </a:r>
            <a:r>
              <a:rPr lang="en-US" altLang="ro-RO" sz="4000" dirty="0">
                <a:solidFill>
                  <a:srgbClr val="FF0000"/>
                </a:solidFill>
              </a:rPr>
              <a:t> </a:t>
            </a:r>
            <a:r>
              <a:rPr lang="en-US" altLang="ro-RO" sz="4000" dirty="0" err="1" smtClean="0">
                <a:solidFill>
                  <a:srgbClr val="FF0000"/>
                </a:solidFill>
              </a:rPr>
              <a:t>Studenti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16988" y="1844824"/>
            <a:ext cx="8610600" cy="303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20000"/>
              </a:spcAft>
              <a:buFontTx/>
              <a:buChar char="•"/>
            </a:pPr>
            <a:r>
              <a:rPr lang="en-US" altLang="ro-RO" sz="2400" i="0" dirty="0" err="1" smtClean="0"/>
              <a:t>Înțelegerea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structurii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unei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clase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este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mai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ușoară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în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contextul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unui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exemplu</a:t>
            </a:r>
            <a:r>
              <a:rPr lang="en-US" altLang="ro-RO" sz="2400" i="0" dirty="0" smtClean="0"/>
              <a:t> specific. </a:t>
            </a:r>
            <a:r>
              <a:rPr lang="ro-RO" altLang="ro-RO" sz="2400" i="0" dirty="0" smtClean="0"/>
              <a:t>În continuare se arată </a:t>
            </a:r>
            <a:r>
              <a:rPr lang="en-US" altLang="ro-RO" sz="2400" i="0" dirty="0" err="1" smtClean="0"/>
              <a:t>definiția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unei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clase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numită</a:t>
            </a:r>
            <a:r>
              <a:rPr lang="en-US" altLang="ro-RO" sz="2400" i="0" dirty="0" smtClean="0"/>
              <a:t> </a:t>
            </a:r>
            <a:r>
              <a:rPr lang="en-US" altLang="ro-RO" sz="2000" b="1" i="0" dirty="0">
                <a:latin typeface="Courier New" panose="02070309020205020404" pitchFamily="49" charset="0"/>
              </a:rPr>
              <a:t>Student</a:t>
            </a:r>
            <a:r>
              <a:rPr lang="en-US" altLang="ro-RO" sz="2400" i="0" dirty="0" smtClean="0"/>
              <a:t>, care </a:t>
            </a:r>
            <a:r>
              <a:rPr lang="en-US" altLang="ro-RO" sz="2400" i="0" dirty="0" err="1" smtClean="0"/>
              <a:t>este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utilizată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pentru</a:t>
            </a:r>
            <a:r>
              <a:rPr lang="en-US" altLang="ro-RO" sz="2400" i="0" dirty="0" smtClean="0"/>
              <a:t> a </a:t>
            </a:r>
            <a:r>
              <a:rPr lang="en-US" altLang="ro-RO" sz="2400" i="0" dirty="0" err="1" smtClean="0"/>
              <a:t>urmări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următoarele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informații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despre</a:t>
            </a:r>
            <a:r>
              <a:rPr lang="en-US" altLang="ro-RO" sz="2400" i="0" dirty="0" smtClean="0"/>
              <a:t> un student :</a:t>
            </a:r>
            <a:endParaRPr lang="en-US" altLang="ro-RO" sz="2400" i="0" dirty="0"/>
          </a:p>
          <a:p>
            <a:pPr lvl="1" algn="just">
              <a:lnSpc>
                <a:spcPct val="85000"/>
              </a:lnSpc>
              <a:spcAft>
                <a:spcPct val="20000"/>
              </a:spcAft>
              <a:buFontTx/>
              <a:buChar char="–"/>
            </a:pPr>
            <a:r>
              <a:rPr lang="en-US" altLang="ro-RO" sz="2000" i="0" dirty="0" err="1" smtClean="0"/>
              <a:t>Numele</a:t>
            </a:r>
            <a:r>
              <a:rPr lang="en-US" altLang="ro-RO" sz="2000" i="0" dirty="0" smtClean="0"/>
              <a:t> </a:t>
            </a:r>
            <a:r>
              <a:rPr lang="en-US" altLang="ro-RO" sz="2000" i="0" dirty="0" err="1" smtClean="0"/>
              <a:t>studentului</a:t>
            </a:r>
            <a:endParaRPr lang="en-US" altLang="ro-RO" sz="2000" i="0" dirty="0" smtClean="0"/>
          </a:p>
          <a:p>
            <a:pPr lvl="1" algn="just">
              <a:lnSpc>
                <a:spcPct val="85000"/>
              </a:lnSpc>
              <a:spcAft>
                <a:spcPct val="20000"/>
              </a:spcAft>
              <a:buFontTx/>
              <a:buChar char="–"/>
            </a:pPr>
            <a:r>
              <a:rPr lang="en-US" altLang="ro-RO" sz="2000" i="0" dirty="0" err="1" smtClean="0"/>
              <a:t>Numărul</a:t>
            </a:r>
            <a:r>
              <a:rPr lang="en-US" altLang="ro-RO" sz="2000" i="0" dirty="0" smtClean="0"/>
              <a:t> de </a:t>
            </a:r>
            <a:r>
              <a:rPr lang="en-US" altLang="ro-RO" sz="2000" i="0" dirty="0" err="1" smtClean="0"/>
              <a:t>identificare</a:t>
            </a:r>
            <a:r>
              <a:rPr lang="en-US" altLang="ro-RO" sz="2000" i="0" dirty="0" smtClean="0"/>
              <a:t> din </a:t>
            </a:r>
            <a:r>
              <a:rPr lang="en-US" altLang="ro-RO" sz="2000" i="0" dirty="0" err="1" smtClean="0"/>
              <a:t>șase</a:t>
            </a:r>
            <a:r>
              <a:rPr lang="en-US" altLang="ro-RO" sz="2000" i="0" dirty="0" smtClean="0"/>
              <a:t> </a:t>
            </a:r>
            <a:r>
              <a:rPr lang="en-US" altLang="ro-RO" sz="2000" i="0" dirty="0" err="1" smtClean="0"/>
              <a:t>cifre</a:t>
            </a:r>
            <a:r>
              <a:rPr lang="en-US" altLang="ro-RO" sz="2000" i="0" dirty="0" smtClean="0"/>
              <a:t> al </a:t>
            </a:r>
            <a:r>
              <a:rPr lang="en-US" altLang="ro-RO" sz="2000" i="0" dirty="0" err="1" smtClean="0"/>
              <a:t>elevului</a:t>
            </a:r>
            <a:endParaRPr lang="en-US" altLang="ro-RO" sz="2000" i="0" dirty="0" smtClean="0"/>
          </a:p>
          <a:p>
            <a:pPr lvl="1" algn="just">
              <a:lnSpc>
                <a:spcPct val="85000"/>
              </a:lnSpc>
              <a:spcAft>
                <a:spcPct val="20000"/>
              </a:spcAft>
              <a:buFontTx/>
              <a:buChar char="–"/>
            </a:pPr>
            <a:r>
              <a:rPr lang="en-US" altLang="ro-RO" sz="2000" i="0" dirty="0" err="1" smtClean="0"/>
              <a:t>Numărul</a:t>
            </a:r>
            <a:r>
              <a:rPr lang="en-US" altLang="ro-RO" sz="2000" i="0" dirty="0" smtClean="0"/>
              <a:t> de </a:t>
            </a:r>
            <a:r>
              <a:rPr lang="ro-RO" altLang="ro-RO" sz="2000" i="0" dirty="0" smtClean="0"/>
              <a:t>credite </a:t>
            </a:r>
            <a:r>
              <a:rPr lang="en-US" altLang="ro-RO" sz="2000" i="0" dirty="0" err="1" smtClean="0"/>
              <a:t>pe</a:t>
            </a:r>
            <a:r>
              <a:rPr lang="en-US" altLang="ro-RO" sz="2000" i="0" dirty="0" smtClean="0"/>
              <a:t> care le-a </a:t>
            </a:r>
            <a:r>
              <a:rPr lang="ro-RO" altLang="ro-RO" sz="2000" i="0" dirty="0" smtClean="0"/>
              <a:t>obținut</a:t>
            </a:r>
            <a:r>
              <a:rPr lang="en-US" altLang="ro-RO" sz="2000" i="0" dirty="0" smtClean="0"/>
              <a:t> </a:t>
            </a:r>
            <a:r>
              <a:rPr lang="en-US" altLang="ro-RO" sz="2000" i="0" dirty="0" err="1" smtClean="0"/>
              <a:t>studentul</a:t>
            </a:r>
            <a:endParaRPr lang="en-US" altLang="ro-RO" sz="2000" i="0" dirty="0" smtClean="0"/>
          </a:p>
          <a:p>
            <a:pPr lvl="1" algn="just">
              <a:lnSpc>
                <a:spcPct val="85000"/>
              </a:lnSpc>
              <a:spcAft>
                <a:spcPct val="20000"/>
              </a:spcAft>
              <a:buFontTx/>
              <a:buChar char="–"/>
            </a:pPr>
            <a:r>
              <a:rPr lang="en-US" altLang="ro-RO" sz="2000" i="0" dirty="0" smtClean="0"/>
              <a:t>Un </a:t>
            </a:r>
            <a:r>
              <a:rPr lang="ro-RO" altLang="ro-RO" sz="2000" i="0" dirty="0" smtClean="0"/>
              <a:t>indicator </a:t>
            </a:r>
            <a:r>
              <a:rPr lang="en-US" altLang="ro-RO" sz="2000" i="0" dirty="0" smtClean="0"/>
              <a:t>care </a:t>
            </a:r>
            <a:r>
              <a:rPr lang="en-US" altLang="ro-RO" sz="2000" i="0" dirty="0" err="1" smtClean="0"/>
              <a:t>indică</a:t>
            </a:r>
            <a:r>
              <a:rPr lang="en-US" altLang="ro-RO" sz="2000" i="0" dirty="0" smtClean="0"/>
              <a:t> </a:t>
            </a:r>
            <a:r>
              <a:rPr lang="en-US" altLang="ro-RO" sz="2000" i="0" dirty="0" err="1" smtClean="0"/>
              <a:t>dacă</a:t>
            </a:r>
            <a:r>
              <a:rPr lang="en-US" altLang="ro-RO" sz="2000" i="0" dirty="0" smtClean="0"/>
              <a:t> </a:t>
            </a:r>
            <a:r>
              <a:rPr lang="en-US" altLang="ro-RO" sz="2000" i="0" dirty="0" err="1" smtClean="0"/>
              <a:t>studentul</a:t>
            </a:r>
            <a:r>
              <a:rPr lang="en-US" altLang="ro-RO" sz="2000" i="0" dirty="0" smtClean="0"/>
              <a:t> a </a:t>
            </a:r>
            <a:r>
              <a:rPr lang="en-US" altLang="ro-RO" sz="2000" i="0" dirty="0" err="1" smtClean="0"/>
              <a:t>plătit</a:t>
            </a:r>
            <a:r>
              <a:rPr lang="en-US" altLang="ro-RO" sz="2000" i="0" dirty="0" smtClean="0"/>
              <a:t> </a:t>
            </a:r>
            <a:r>
              <a:rPr lang="en-US" altLang="ro-RO" sz="2000" i="0" dirty="0" err="1" smtClean="0"/>
              <a:t>toate</a:t>
            </a:r>
            <a:r>
              <a:rPr lang="en-US" altLang="ro-RO" sz="2000" i="0" dirty="0" smtClean="0"/>
              <a:t> </a:t>
            </a:r>
            <a:r>
              <a:rPr lang="en-US" altLang="ro-RO" sz="2000" i="0" dirty="0" err="1" smtClean="0"/>
              <a:t>taxele</a:t>
            </a:r>
            <a:r>
              <a:rPr lang="en-US" altLang="ro-RO" sz="2000" i="0" dirty="0" smtClean="0"/>
              <a:t> </a:t>
            </a:r>
            <a:r>
              <a:rPr lang="en-US" altLang="ro-RO" sz="2000" i="0" dirty="0" err="1" smtClean="0"/>
              <a:t>universitare</a:t>
            </a:r>
            <a:endParaRPr lang="en-US" altLang="ro-RO" sz="2000" i="0" dirty="0"/>
          </a:p>
        </p:txBody>
      </p:sp>
      <p:sp>
        <p:nvSpPr>
          <p:cNvPr id="690180" name="Rectangle 4"/>
          <p:cNvSpPr>
            <a:spLocks noChangeArrowheads="1"/>
          </p:cNvSpPr>
          <p:nvPr/>
        </p:nvSpPr>
        <p:spPr bwMode="auto">
          <a:xfrm>
            <a:off x="323528" y="4437112"/>
            <a:ext cx="864096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err="1" smtClean="0"/>
              <a:t>Fiecare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dintre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aceste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valori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este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stocată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într</a:t>
            </a:r>
            <a:r>
              <a:rPr lang="en-US" altLang="ro-RO" sz="2400" i="0" dirty="0" smtClean="0"/>
              <a:t>-o </a:t>
            </a:r>
            <a:r>
              <a:rPr lang="en-US" altLang="ro-RO" sz="2400" i="0" dirty="0" err="1" smtClean="0"/>
              <a:t>variabilă</a:t>
            </a:r>
            <a:r>
              <a:rPr lang="en-US" altLang="ro-RO" sz="2400" i="0" dirty="0" smtClean="0"/>
              <a:t> de </a:t>
            </a:r>
            <a:r>
              <a:rPr lang="en-US" altLang="ro-RO" sz="2400" i="0" dirty="0" err="1" smtClean="0"/>
              <a:t>instanță</a:t>
            </a:r>
            <a:r>
              <a:rPr lang="en-US" altLang="ro-RO" sz="2400" i="0" dirty="0" smtClean="0"/>
              <a:t> de </a:t>
            </a:r>
            <a:r>
              <a:rPr lang="en-US" altLang="ro-RO" sz="2400" i="0" dirty="0" err="1" smtClean="0"/>
              <a:t>tipul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corespunzător</a:t>
            </a:r>
            <a:r>
              <a:rPr lang="en-US" altLang="ro-RO" sz="2400" i="0" dirty="0" smtClean="0"/>
              <a:t>.</a:t>
            </a:r>
            <a:endParaRPr lang="en-US" altLang="ro-RO" sz="2400" i="0" dirty="0"/>
          </a:p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err="1" smtClean="0"/>
              <a:t>În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conformitate</a:t>
            </a:r>
            <a:r>
              <a:rPr lang="en-US" altLang="ro-RO" sz="2400" i="0" dirty="0" smtClean="0"/>
              <a:t> cu </a:t>
            </a:r>
            <a:r>
              <a:rPr lang="en-US" altLang="ro-RO" sz="2400" i="0" dirty="0" err="1" smtClean="0"/>
              <a:t>convenția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modernă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orientată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obiect</a:t>
            </a:r>
            <a:r>
              <a:rPr lang="en-US" altLang="ro-RO" sz="2400" i="0" dirty="0" smtClean="0"/>
              <a:t>, </a:t>
            </a:r>
            <a:r>
              <a:rPr lang="en-US" altLang="ro-RO" sz="2400" i="0" dirty="0" err="1" smtClean="0"/>
              <a:t>aceste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variabile</a:t>
            </a:r>
            <a:r>
              <a:rPr lang="en-US" altLang="ro-RO" sz="2400" i="0" dirty="0" smtClean="0"/>
              <a:t> de </a:t>
            </a:r>
            <a:r>
              <a:rPr lang="en-US" altLang="ro-RO" sz="2400" i="0" dirty="0" err="1" smtClean="0"/>
              <a:t>instanță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sunt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declarate</a:t>
            </a:r>
            <a:r>
              <a:rPr lang="en-US" altLang="ro-RO" sz="2400" i="0" dirty="0" smtClean="0"/>
              <a:t> </a:t>
            </a:r>
            <a:r>
              <a:rPr lang="en-US" altLang="ro-RO" sz="2000" b="1" i="0" dirty="0">
                <a:latin typeface="Courier New" panose="02070309020205020404" pitchFamily="49" charset="0"/>
              </a:rPr>
              <a:t>private</a:t>
            </a:r>
            <a:r>
              <a:rPr lang="en-US" altLang="ro-RO" sz="2400" i="0" dirty="0" smtClean="0"/>
              <a:t>. </a:t>
            </a:r>
            <a:r>
              <a:rPr lang="en-US" altLang="ro-RO" sz="2400" i="0" dirty="0" err="1" smtClean="0"/>
              <a:t>Prin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urmare</a:t>
            </a:r>
            <a:r>
              <a:rPr lang="en-US" altLang="ro-RO" sz="2400" i="0" dirty="0" smtClean="0"/>
              <a:t>, </a:t>
            </a:r>
            <a:r>
              <a:rPr lang="en-US" altLang="ro-RO" sz="2400" i="0" dirty="0" err="1" smtClean="0"/>
              <a:t>acces</a:t>
            </a:r>
            <a:r>
              <a:rPr lang="ro-RO" altLang="ro-RO" sz="2400" i="0" dirty="0" err="1" smtClean="0"/>
              <a:t>ul</a:t>
            </a:r>
            <a:r>
              <a:rPr lang="en-US" altLang="ro-RO" sz="2400" i="0" dirty="0" smtClean="0"/>
              <a:t> la </a:t>
            </a:r>
            <a:r>
              <a:rPr lang="en-US" altLang="ro-RO" sz="2400" i="0" dirty="0" err="1" smtClean="0"/>
              <a:t>aceste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valori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este</a:t>
            </a:r>
            <a:r>
              <a:rPr lang="en-US" altLang="ro-RO" sz="2400" i="0" dirty="0" smtClean="0"/>
              <a:t> </a:t>
            </a:r>
            <a:r>
              <a:rPr lang="ro-RO" altLang="ro-RO" sz="2400" i="0" dirty="0" smtClean="0"/>
              <a:t>inter</a:t>
            </a:r>
            <a:r>
              <a:rPr lang="en-US" altLang="ro-RO" sz="2400" i="0" dirty="0" err="1" smtClean="0"/>
              <a:t>mediat</a:t>
            </a:r>
            <a:r>
              <a:rPr lang="en-US" altLang="ro-RO" sz="2400" i="0" dirty="0" smtClean="0"/>
              <a:t> de </a:t>
            </a:r>
            <a:r>
              <a:rPr lang="en-US" altLang="ro-RO" sz="2400" i="0" dirty="0" err="1" smtClean="0"/>
              <a:t>metode</a:t>
            </a:r>
            <a:r>
              <a:rPr lang="en-US" altLang="ro-RO" sz="2400" i="0" dirty="0" smtClean="0"/>
              <a:t> d</a:t>
            </a:r>
            <a:r>
              <a:rPr lang="ro-RO" altLang="ro-RO" sz="2400" i="0" dirty="0" smtClean="0"/>
              <a:t>in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clasa</a:t>
            </a:r>
            <a:r>
              <a:rPr lang="en-US" altLang="ro-RO" sz="2400" i="0" dirty="0" smtClean="0"/>
              <a:t> Student.</a:t>
            </a:r>
            <a:endParaRPr lang="en-US" altLang="ro-RO" sz="2400" i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0180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472622" y="1281325"/>
            <a:ext cx="8351837" cy="518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</a:pP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Clasa Student ține evidența următoarelor date despre un student</a:t>
            </a: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numele studentului, numărul de identificare, </a:t>
            </a: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numarul de credite obtinute de student</a:t>
            </a: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si, daca studentul are platite toate taxele.</a:t>
            </a: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Toate aceste informații sunt complet private pentru clasă.</a:t>
            </a: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alte clase pot obține aceste informații numai utilizând diverse</a:t>
            </a: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metode definite de clasă.</a:t>
            </a: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public class Student {</a:t>
            </a:r>
          </a:p>
          <a:p>
            <a:pPr>
              <a:lnSpc>
                <a:spcPct val="90000"/>
              </a:lnSpc>
            </a:pP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Creează un nou obiect Student cu numele și ID-ul specificat.</a:t>
            </a: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</a:t>
            </a:r>
            <a:r>
              <a:rPr lang="nl-NL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@param name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este n</a:t>
            </a:r>
            <a:r>
              <a:rPr lang="nl-NL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umele studentului ca șir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* </a:t>
            </a:r>
            <a:r>
              <a:rPr lang="it-IT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@param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ID este n</a:t>
            </a:r>
            <a:r>
              <a:rPr lang="it-IT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umărul de identificare al elevului ca int</a:t>
            </a: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public Student(String name, int id)</a:t>
            </a:r>
            <a:r>
              <a:rPr lang="ro-RO" altLang="ro-RO" sz="800" b="1" i="0" noProof="1">
                <a:latin typeface="Courier New" panose="02070309020205020404" pitchFamily="49" charset="0"/>
              </a:rPr>
              <a:t> </a:t>
            </a:r>
            <a:r>
              <a:rPr lang="ro-RO" altLang="ro-RO" sz="1600" b="1" i="0" noProof="1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</a:t>
            </a:r>
            <a:r>
              <a:rPr lang="ro-RO" altLang="ro-RO" sz="1600" b="1" i="0" noProof="1" smtClean="0">
                <a:latin typeface="Courier New" panose="02070309020205020404" pitchFamily="49" charset="0"/>
              </a:rPr>
              <a:t>numeStudent </a:t>
            </a:r>
            <a:r>
              <a:rPr lang="ro-RO" altLang="ro-RO" sz="1600" b="1" i="0" noProof="1">
                <a:latin typeface="Courier New" panose="02070309020205020404" pitchFamily="49" charset="0"/>
              </a:rPr>
              <a:t>= name;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studentID = id;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  <a:endParaRPr lang="en-US" altLang="ro-RO" sz="1600" b="1" i="0" dirty="0">
              <a:latin typeface="Courier New" panose="02070309020205020404" pitchFamily="49" charset="0"/>
            </a:endParaRP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0"/>
            <a:ext cx="9131300" cy="1087438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692230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000" dirty="0" smtClean="0">
                <a:solidFill>
                  <a:srgbClr val="FF0000"/>
                </a:solidFill>
              </a:rPr>
              <a:t>Clasa </a:t>
            </a:r>
            <a:r>
              <a:rPr lang="en-US" altLang="ro-RO" sz="36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Student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692232" name="Group 8"/>
          <p:cNvGrpSpPr>
            <a:grpSpLocks/>
          </p:cNvGrpSpPr>
          <p:nvPr/>
        </p:nvGrpSpPr>
        <p:grpSpPr bwMode="auto">
          <a:xfrm>
            <a:off x="431800" y="1219200"/>
            <a:ext cx="7994650" cy="2595563"/>
            <a:chOff x="272" y="768"/>
            <a:chExt cx="5036" cy="1635"/>
          </a:xfrm>
        </p:grpSpPr>
        <p:sp>
          <p:nvSpPr>
            <p:cNvPr id="33812" name="Rectangle 9"/>
            <p:cNvSpPr>
              <a:spLocks noChangeArrowheads="1"/>
            </p:cNvSpPr>
            <p:nvPr/>
          </p:nvSpPr>
          <p:spPr bwMode="auto">
            <a:xfrm>
              <a:off x="272" y="1096"/>
              <a:ext cx="5036" cy="130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3813" name="AutoShape 10"/>
            <p:cNvSpPr>
              <a:spLocks noChangeArrowheads="1"/>
            </p:cNvSpPr>
            <p:nvPr/>
          </p:nvSpPr>
          <p:spPr bwMode="auto">
            <a:xfrm>
              <a:off x="2688" y="768"/>
              <a:ext cx="2249" cy="240"/>
            </a:xfrm>
            <a:prstGeom prst="wedgeRectCallout">
              <a:avLst>
                <a:gd name="adj1" fmla="val -44796"/>
                <a:gd name="adj2" fmla="val 8000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pt-BR" altLang="ro-RO" dirty="0" smtClean="0"/>
                <a:t>Acest comentariu descrie clasa în ansamblu</a:t>
              </a:r>
              <a:r>
                <a:rPr lang="en-US" altLang="ro-RO" dirty="0" smtClean="0"/>
                <a:t>. </a:t>
              </a:r>
              <a:endParaRPr lang="en-US" altLang="ro-RO" dirty="0"/>
            </a:p>
          </p:txBody>
        </p:sp>
      </p:grpSp>
      <p:grpSp>
        <p:nvGrpSpPr>
          <p:cNvPr id="692235" name="Group 11"/>
          <p:cNvGrpSpPr>
            <a:grpSpLocks/>
          </p:cNvGrpSpPr>
          <p:nvPr/>
        </p:nvGrpSpPr>
        <p:grpSpPr bwMode="auto">
          <a:xfrm>
            <a:off x="431800" y="3940175"/>
            <a:ext cx="8407400" cy="354013"/>
            <a:chOff x="272" y="2482"/>
            <a:chExt cx="5036" cy="223"/>
          </a:xfrm>
        </p:grpSpPr>
        <p:sp>
          <p:nvSpPr>
            <p:cNvPr id="33810" name="Rectangle 12"/>
            <p:cNvSpPr>
              <a:spLocks noChangeArrowheads="1"/>
            </p:cNvSpPr>
            <p:nvPr/>
          </p:nvSpPr>
          <p:spPr bwMode="auto">
            <a:xfrm>
              <a:off x="272" y="2482"/>
              <a:ext cx="1770" cy="19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3811" name="AutoShape 13"/>
            <p:cNvSpPr>
              <a:spLocks noChangeArrowheads="1"/>
            </p:cNvSpPr>
            <p:nvPr/>
          </p:nvSpPr>
          <p:spPr bwMode="auto">
            <a:xfrm>
              <a:off x="2160" y="2490"/>
              <a:ext cx="3148" cy="215"/>
            </a:xfrm>
            <a:prstGeom prst="wedgeRectCallout">
              <a:avLst>
                <a:gd name="adj1" fmla="val -53463"/>
                <a:gd name="adj2" fmla="val -17907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dirty="0" err="1" smtClean="0"/>
                <a:t>Antetul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clasei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definește</a:t>
              </a:r>
              <a:r>
                <a:rPr lang="en-US" altLang="ro-RO" dirty="0" smtClean="0"/>
                <a:t> </a:t>
              </a:r>
              <a:r>
                <a:rPr lang="en-US" altLang="ro-RO" sz="1200" b="1" i="0" dirty="0">
                  <a:latin typeface="Courier New" panose="02070309020205020404" pitchFamily="49" charset="0"/>
                </a:rPr>
                <a:t>Student</a:t>
              </a:r>
              <a:r>
                <a:rPr lang="en-US" altLang="ro-RO" dirty="0" smtClean="0"/>
                <a:t> ca o </a:t>
              </a:r>
              <a:r>
                <a:rPr lang="en-US" altLang="ro-RO" dirty="0" err="1" smtClean="0"/>
                <a:t>subclasă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directă</a:t>
              </a:r>
              <a:r>
                <a:rPr lang="en-US" altLang="ro-RO" dirty="0" smtClean="0"/>
                <a:t> a </a:t>
              </a:r>
              <a:r>
                <a:rPr lang="ro-RO" altLang="ro-RO" dirty="0" smtClean="0"/>
                <a:t>clasei </a:t>
              </a:r>
              <a:r>
                <a:rPr lang="en-US" altLang="ro-RO" b="1" i="0" dirty="0" smtClean="0">
                  <a:latin typeface="Courier New" panose="02070309020205020404" pitchFamily="49" charset="0"/>
                </a:rPr>
                <a:t>Object</a:t>
              </a:r>
              <a:endParaRPr lang="en-US" altLang="ro-RO" dirty="0"/>
            </a:p>
          </p:txBody>
        </p:sp>
      </p:grpSp>
      <p:grpSp>
        <p:nvGrpSpPr>
          <p:cNvPr id="692238" name="Group 14"/>
          <p:cNvGrpSpPr>
            <a:grpSpLocks/>
          </p:cNvGrpSpPr>
          <p:nvPr/>
        </p:nvGrpSpPr>
        <p:grpSpPr bwMode="auto">
          <a:xfrm>
            <a:off x="431800" y="4394200"/>
            <a:ext cx="8343900" cy="1577975"/>
            <a:chOff x="272" y="2768"/>
            <a:chExt cx="5256" cy="994"/>
          </a:xfrm>
        </p:grpSpPr>
        <p:sp>
          <p:nvSpPr>
            <p:cNvPr id="33808" name="Rectangle 15"/>
            <p:cNvSpPr>
              <a:spLocks noChangeArrowheads="1"/>
            </p:cNvSpPr>
            <p:nvPr/>
          </p:nvSpPr>
          <p:spPr bwMode="auto">
            <a:xfrm>
              <a:off x="272" y="2768"/>
              <a:ext cx="4925" cy="7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3809" name="AutoShape 16"/>
            <p:cNvSpPr>
              <a:spLocks noChangeArrowheads="1"/>
            </p:cNvSpPr>
            <p:nvPr/>
          </p:nvSpPr>
          <p:spPr bwMode="auto">
            <a:xfrm>
              <a:off x="3570" y="3547"/>
              <a:ext cx="1958" cy="215"/>
            </a:xfrm>
            <a:prstGeom prst="wedgeRectCallout">
              <a:avLst>
                <a:gd name="adj1" fmla="val -34393"/>
                <a:gd name="adj2" fmla="val -124287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dirty="0" err="1" smtClean="0"/>
                <a:t>Acest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comentariu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descrie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constructorul</a:t>
              </a:r>
              <a:r>
                <a:rPr lang="en-US" altLang="ro-RO" dirty="0" smtClean="0"/>
                <a:t>.</a:t>
              </a:r>
              <a:endParaRPr lang="en-US" altLang="ro-RO" dirty="0"/>
            </a:p>
          </p:txBody>
        </p:sp>
      </p:grpSp>
      <p:grpSp>
        <p:nvGrpSpPr>
          <p:cNvPr id="692241" name="Group 17"/>
          <p:cNvGrpSpPr>
            <a:grpSpLocks/>
          </p:cNvGrpSpPr>
          <p:nvPr/>
        </p:nvGrpSpPr>
        <p:grpSpPr bwMode="auto">
          <a:xfrm>
            <a:off x="736600" y="5521325"/>
            <a:ext cx="8039737" cy="950913"/>
            <a:chOff x="464" y="3478"/>
            <a:chExt cx="4374" cy="599"/>
          </a:xfrm>
        </p:grpSpPr>
        <p:sp>
          <p:nvSpPr>
            <p:cNvPr id="33806" name="Rectangle 18"/>
            <p:cNvSpPr>
              <a:spLocks noChangeArrowheads="1"/>
            </p:cNvSpPr>
            <p:nvPr/>
          </p:nvSpPr>
          <p:spPr bwMode="auto">
            <a:xfrm>
              <a:off x="464" y="3478"/>
              <a:ext cx="2901" cy="5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3807" name="AutoShape 19"/>
            <p:cNvSpPr>
              <a:spLocks noChangeArrowheads="1"/>
            </p:cNvSpPr>
            <p:nvPr/>
          </p:nvSpPr>
          <p:spPr bwMode="auto">
            <a:xfrm>
              <a:off x="2781" y="3861"/>
              <a:ext cx="2057" cy="215"/>
            </a:xfrm>
            <a:prstGeom prst="wedgeRectCallout">
              <a:avLst>
                <a:gd name="adj1" fmla="val -54667"/>
                <a:gd name="adj2" fmla="val -5000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dirty="0" err="1" smtClean="0"/>
                <a:t>Constructorul</a:t>
              </a:r>
              <a:r>
                <a:rPr lang="en-US" altLang="ro-RO" dirty="0" smtClean="0"/>
                <a:t> </a:t>
              </a:r>
              <a:r>
                <a:rPr lang="ro-RO" altLang="ro-RO" dirty="0" err="1" smtClean="0"/>
                <a:t>actualizeaza</a:t>
              </a:r>
              <a:r>
                <a:rPr lang="ro-RO" altLang="ro-RO" dirty="0" smtClean="0"/>
                <a:t> </a:t>
              </a:r>
              <a:r>
                <a:rPr lang="en-US" altLang="ro-RO" dirty="0" err="1" smtClean="0"/>
                <a:t>variabilele</a:t>
              </a:r>
              <a:r>
                <a:rPr lang="en-US" altLang="ro-RO" dirty="0" smtClean="0"/>
                <a:t> de </a:t>
              </a:r>
              <a:r>
                <a:rPr lang="en-US" altLang="ro-RO" dirty="0" err="1" smtClean="0"/>
                <a:t>instanță</a:t>
              </a:r>
              <a:r>
                <a:rPr lang="en-US" altLang="ro-RO" dirty="0" smtClean="0"/>
                <a:t>.</a:t>
              </a:r>
              <a:endParaRPr lang="en-US" altLang="ro-RO" dirty="0"/>
            </a:p>
          </p:txBody>
        </p:sp>
      </p:grpSp>
      <p:sp>
        <p:nvSpPr>
          <p:cNvPr id="33804" name="Text Box 20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33805" name="Text Box 21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1 of 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694275" name="Text Box 3"/>
          <p:cNvSpPr txBox="1">
            <a:spLocks noChangeArrowheads="1"/>
          </p:cNvSpPr>
          <p:nvPr/>
        </p:nvSpPr>
        <p:spPr bwMode="auto">
          <a:xfrm>
            <a:off x="398463" y="1295400"/>
            <a:ext cx="8351837" cy="5167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</a:pP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The Student class keeps track of the following pieces of data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about a student: the student's name, ID number, the number of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credite </a:t>
            </a: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the student has earned toward graduation, and whether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the student is paid up with respect to university bills.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All of this information is entirely private to the class.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Clients can obtain this information only by using the various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methods defined by the class.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public class Student {</a:t>
            </a:r>
          </a:p>
          <a:p>
            <a:pPr>
              <a:lnSpc>
                <a:spcPct val="90000"/>
              </a:lnSpc>
            </a:pPr>
            <a:endParaRPr lang="ro-RO" altLang="ro-RO" sz="1600" b="1" i="0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Creates a new Student object with the specified name and ID.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name The student's name as a String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id The student's ID number as an int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public Student(String name, int id)</a:t>
            </a:r>
            <a:r>
              <a:rPr lang="ro-RO" altLang="ro-RO" sz="800" b="1" i="0" noProof="1">
                <a:latin typeface="Courier New" panose="02070309020205020404" pitchFamily="49" charset="0"/>
              </a:rPr>
              <a:t> </a:t>
            </a:r>
            <a:r>
              <a:rPr lang="ro-RO" altLang="ro-RO" sz="1600" b="1" i="0" noProof="1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</a:t>
            </a:r>
            <a:r>
              <a:rPr lang="ro-RO" altLang="ro-RO" sz="1600" b="1" i="0" noProof="1" smtClean="0">
                <a:latin typeface="Courier New" panose="02070309020205020404" pitchFamily="49" charset="0"/>
              </a:rPr>
              <a:t>numeStudent </a:t>
            </a:r>
            <a:r>
              <a:rPr lang="ro-RO" altLang="ro-RO" sz="1600" b="1" i="0" noProof="1">
                <a:latin typeface="Courier New" panose="02070309020205020404" pitchFamily="49" charset="0"/>
              </a:rPr>
              <a:t>= name;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studentID = id;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  <a:endParaRPr lang="en-US" altLang="ro-RO" sz="1600" b="1" i="0" dirty="0">
              <a:latin typeface="Courier New" panose="02070309020205020404" pitchFamily="49" charset="0"/>
            </a:endParaRPr>
          </a:p>
        </p:txBody>
      </p:sp>
      <p:grpSp>
        <p:nvGrpSpPr>
          <p:cNvPr id="694276" name="Group 4"/>
          <p:cNvGrpSpPr>
            <a:grpSpLocks/>
          </p:cNvGrpSpPr>
          <p:nvPr/>
        </p:nvGrpSpPr>
        <p:grpSpPr bwMode="auto">
          <a:xfrm>
            <a:off x="381000" y="1143000"/>
            <a:ext cx="8382000" cy="5257800"/>
            <a:chOff x="240" y="720"/>
            <a:chExt cx="5280" cy="3312"/>
          </a:xfrm>
        </p:grpSpPr>
        <p:sp>
          <p:nvSpPr>
            <p:cNvPr id="35859" name="Rectangle 5"/>
            <p:cNvSpPr>
              <a:spLocks noChangeArrowheads="1"/>
            </p:cNvSpPr>
            <p:nvPr/>
          </p:nvSpPr>
          <p:spPr bwMode="auto">
            <a:xfrm>
              <a:off x="240" y="720"/>
              <a:ext cx="5280" cy="3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5860" name="Text Box 6"/>
            <p:cNvSpPr txBox="1">
              <a:spLocks noChangeArrowheads="1"/>
            </p:cNvSpPr>
            <p:nvPr/>
          </p:nvSpPr>
          <p:spPr bwMode="auto">
            <a:xfrm>
              <a:off x="251" y="752"/>
              <a:ext cx="5261" cy="3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Furnizeaza numele acestui student.</a:t>
              </a:r>
              <a:endPara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@return Numele acestui student</a:t>
              </a:r>
              <a:endPara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public String getName() {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   return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numeStudent;</a:t>
              </a: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pPr>
                <a:lnSpc>
                  <a:spcPct val="90000"/>
                </a:lnSpc>
              </a:pP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Furnizeaza ID ul acestui student.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 * @return ID ul acestui student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*/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public int getID() {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   return studentID;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pPr>
                <a:lnSpc>
                  <a:spcPct val="90000"/>
                </a:lnSpc>
              </a:pP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Actualizeaza (seteaza) numarul de credite.</a:t>
              </a:r>
              <a:endPara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@param credite Noul număr de unități câștigate</a:t>
              </a:r>
              <a:endPara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public void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setCredite(int credite)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{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  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crediteObtinute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=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credite;</a:t>
              </a: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</p:txBody>
        </p:sp>
      </p:grpSp>
      <p:sp>
        <p:nvSpPr>
          <p:cNvPr id="35845" name="Rectangle 7"/>
          <p:cNvSpPr>
            <a:spLocks noChangeArrowheads="1"/>
          </p:cNvSpPr>
          <p:nvPr/>
        </p:nvSpPr>
        <p:spPr bwMode="auto">
          <a:xfrm>
            <a:off x="0" y="0"/>
            <a:ext cx="9131300" cy="10890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35846" name="Rectangle 8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694281" name="Rectangle 9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400" dirty="0">
                <a:solidFill>
                  <a:srgbClr val="FF0000"/>
                </a:solidFill>
              </a:rPr>
              <a:t>Clasa </a:t>
            </a:r>
            <a:r>
              <a:rPr lang="en-US" altLang="ro-RO" sz="4000" b="1" dirty="0">
                <a:solidFill>
                  <a:srgbClr val="FF0000"/>
                </a:solidFill>
                <a:latin typeface="Courier New" panose="02070309020205020404" pitchFamily="49" charset="0"/>
              </a:rPr>
              <a:t>Student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35848" name="Rectangle 10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694283" name="Group 11"/>
          <p:cNvGrpSpPr>
            <a:grpSpLocks/>
          </p:cNvGrpSpPr>
          <p:nvPr/>
        </p:nvGrpSpPr>
        <p:grpSpPr bwMode="auto">
          <a:xfrm>
            <a:off x="431800" y="1143000"/>
            <a:ext cx="8382000" cy="3505200"/>
            <a:chOff x="272" y="720"/>
            <a:chExt cx="5280" cy="2208"/>
          </a:xfrm>
        </p:grpSpPr>
        <p:sp>
          <p:nvSpPr>
            <p:cNvPr id="35856" name="Rectangle 12"/>
            <p:cNvSpPr>
              <a:spLocks noChangeArrowheads="1"/>
            </p:cNvSpPr>
            <p:nvPr/>
          </p:nvSpPr>
          <p:spPr bwMode="auto">
            <a:xfrm>
              <a:off x="272" y="720"/>
              <a:ext cx="3164" cy="220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5857" name="AutoShape 13"/>
            <p:cNvSpPr>
              <a:spLocks noChangeArrowheads="1"/>
            </p:cNvSpPr>
            <p:nvPr/>
          </p:nvSpPr>
          <p:spPr bwMode="auto">
            <a:xfrm>
              <a:off x="3696" y="1056"/>
              <a:ext cx="1856" cy="683"/>
            </a:xfrm>
            <a:prstGeom prst="wedgeRectCallout">
              <a:avLst>
                <a:gd name="adj1" fmla="val -64468"/>
                <a:gd name="adj2" fmla="val -47657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35858" name="Rectangle 14"/>
            <p:cNvSpPr>
              <a:spLocks noChangeArrowheads="1"/>
            </p:cNvSpPr>
            <p:nvPr/>
          </p:nvSpPr>
          <p:spPr bwMode="auto">
            <a:xfrm>
              <a:off x="3696" y="1026"/>
              <a:ext cx="1845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 smtClean="0"/>
                <a:t>Aceste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metode</a:t>
              </a:r>
              <a:r>
                <a:rPr lang="en-US" altLang="ro-RO" dirty="0" smtClean="0"/>
                <a:t> </a:t>
              </a:r>
              <a:r>
                <a:rPr lang="ro-RO" altLang="ro-RO" dirty="0" err="1" smtClean="0"/>
                <a:t>furnizeaza</a:t>
              </a:r>
              <a:r>
                <a:rPr lang="ro-RO" altLang="ro-RO" dirty="0" smtClean="0"/>
                <a:t> </a:t>
              </a:r>
              <a:r>
                <a:rPr lang="en-US" altLang="ro-RO" dirty="0" err="1" smtClean="0"/>
                <a:t>valoarea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unei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variabile</a:t>
              </a:r>
              <a:r>
                <a:rPr lang="en-US" altLang="ro-RO" dirty="0" smtClean="0"/>
                <a:t> de </a:t>
              </a:r>
              <a:r>
                <a:rPr lang="en-US" altLang="ro-RO" dirty="0" err="1" smtClean="0"/>
                <a:t>instanță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și</a:t>
              </a:r>
              <a:r>
                <a:rPr lang="en-US" altLang="ro-RO" dirty="0" smtClean="0"/>
                <a:t> se </a:t>
              </a:r>
              <a:r>
                <a:rPr lang="en-US" altLang="ro-RO" dirty="0" err="1" smtClean="0"/>
                <a:t>numesc</a:t>
              </a:r>
              <a:r>
                <a:rPr lang="en-US" altLang="ro-RO" dirty="0" smtClean="0"/>
                <a:t> </a:t>
              </a:r>
              <a:r>
                <a:rPr lang="en-US" altLang="ro-RO" b="1" dirty="0" smtClean="0"/>
                <a:t>getters</a:t>
              </a:r>
              <a:r>
                <a:rPr lang="en-US" altLang="ro-RO" dirty="0" smtClean="0"/>
                <a:t>. </a:t>
              </a:r>
              <a:r>
                <a:rPr lang="en-US" altLang="ro-RO" dirty="0" err="1" smtClean="0"/>
                <a:t>Deoarece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numele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studentului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și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numărul</a:t>
              </a:r>
              <a:r>
                <a:rPr lang="en-US" altLang="ro-RO" dirty="0" smtClean="0"/>
                <a:t> de </a:t>
              </a:r>
              <a:r>
                <a:rPr lang="en-US" altLang="ro-RO" dirty="0" err="1" smtClean="0"/>
                <a:t>identificare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sunt</a:t>
              </a:r>
              <a:r>
                <a:rPr lang="en-US" altLang="ro-RO" dirty="0" smtClean="0"/>
                <a:t> fixate, nu </a:t>
              </a:r>
              <a:r>
                <a:rPr lang="en-US" altLang="ro-RO" dirty="0" err="1" smtClean="0"/>
                <a:t>există</a:t>
              </a:r>
              <a:r>
                <a:rPr lang="en-US" altLang="ro-RO" dirty="0" smtClean="0"/>
                <a:t> </a:t>
              </a:r>
              <a:r>
                <a:rPr lang="ro-RO" altLang="ro-RO" b="1" dirty="0" err="1"/>
                <a:t>setters</a:t>
              </a:r>
              <a:r>
                <a:rPr lang="ro-RO" altLang="ro-RO" dirty="0" smtClean="0"/>
                <a:t> </a:t>
              </a:r>
              <a:r>
                <a:rPr lang="en-US" altLang="ro-RO" dirty="0" err="1" smtClean="0"/>
                <a:t>corespunzători</a:t>
              </a:r>
              <a:r>
                <a:rPr lang="en-US" altLang="ro-RO" dirty="0" smtClean="0"/>
                <a:t>.</a:t>
              </a:r>
              <a:endParaRPr lang="en-US" altLang="ro-RO" dirty="0"/>
            </a:p>
          </p:txBody>
        </p:sp>
      </p:grpSp>
      <p:grpSp>
        <p:nvGrpSpPr>
          <p:cNvPr id="694287" name="Group 15"/>
          <p:cNvGrpSpPr>
            <a:grpSpLocks/>
          </p:cNvGrpSpPr>
          <p:nvPr/>
        </p:nvGrpSpPr>
        <p:grpSpPr bwMode="auto">
          <a:xfrm>
            <a:off x="439738" y="3676650"/>
            <a:ext cx="8170862" cy="2708275"/>
            <a:chOff x="277" y="2316"/>
            <a:chExt cx="5147" cy="1706"/>
          </a:xfrm>
        </p:grpSpPr>
        <p:sp>
          <p:nvSpPr>
            <p:cNvPr id="35853" name="Rectangle 16"/>
            <p:cNvSpPr>
              <a:spLocks noChangeArrowheads="1"/>
            </p:cNvSpPr>
            <p:nvPr/>
          </p:nvSpPr>
          <p:spPr bwMode="auto">
            <a:xfrm>
              <a:off x="277" y="2926"/>
              <a:ext cx="3964" cy="1096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5854" name="AutoShape 17"/>
            <p:cNvSpPr>
              <a:spLocks noChangeArrowheads="1"/>
            </p:cNvSpPr>
            <p:nvPr/>
          </p:nvSpPr>
          <p:spPr bwMode="auto">
            <a:xfrm>
              <a:off x="3696" y="2316"/>
              <a:ext cx="1728" cy="431"/>
            </a:xfrm>
            <a:prstGeom prst="wedgeRectCallout">
              <a:avLst>
                <a:gd name="adj1" fmla="val -40565"/>
                <a:gd name="adj2" fmla="val 88514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35855" name="Rectangle 18"/>
            <p:cNvSpPr>
              <a:spLocks noChangeArrowheads="1"/>
            </p:cNvSpPr>
            <p:nvPr/>
          </p:nvSpPr>
          <p:spPr bwMode="auto">
            <a:xfrm>
              <a:off x="3696" y="2336"/>
              <a:ext cx="17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 smtClean="0"/>
                <a:t>Această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metodă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modifică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valoarea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unei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variabile</a:t>
              </a:r>
              <a:r>
                <a:rPr lang="en-US" altLang="ro-RO" dirty="0" smtClean="0"/>
                <a:t> de </a:t>
              </a:r>
              <a:r>
                <a:rPr lang="en-US" altLang="ro-RO" dirty="0" err="1" smtClean="0"/>
                <a:t>instanță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și</a:t>
              </a:r>
              <a:r>
                <a:rPr lang="en-US" altLang="ro-RO" dirty="0" smtClean="0"/>
                <a:t> se </a:t>
              </a:r>
              <a:r>
                <a:rPr lang="en-US" altLang="ro-RO" dirty="0" err="1" smtClean="0"/>
                <a:t>numește</a:t>
              </a:r>
              <a:r>
                <a:rPr lang="en-US" altLang="ro-RO" dirty="0" smtClean="0"/>
                <a:t> </a:t>
              </a:r>
              <a:r>
                <a:rPr lang="en-US" altLang="ro-RO" b="1" dirty="0" smtClean="0"/>
                <a:t>setter</a:t>
              </a:r>
              <a:r>
                <a:rPr lang="en-US" altLang="ro-RO" dirty="0" smtClean="0"/>
                <a:t>.</a:t>
              </a:r>
              <a:endParaRPr lang="en-US" altLang="ro-RO" dirty="0"/>
            </a:p>
          </p:txBody>
        </p:sp>
      </p:grpSp>
      <p:sp>
        <p:nvSpPr>
          <p:cNvPr id="35851" name="Text Box 19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35852" name="Text Box 20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2 of 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694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94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9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9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9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27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298450" y="960438"/>
            <a:ext cx="85344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696323" name="Text Box 3"/>
          <p:cNvSpPr txBox="1">
            <a:spLocks noChangeArrowheads="1"/>
          </p:cNvSpPr>
          <p:nvPr/>
        </p:nvSpPr>
        <p:spPr bwMode="auto">
          <a:xfrm>
            <a:off x="398463" y="1193800"/>
            <a:ext cx="8351837" cy="5167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Gets the name of this student.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@return The name of this student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public String getName() {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return </a:t>
            </a:r>
            <a:r>
              <a:rPr lang="ro-RO" altLang="ro-RO" sz="1600" b="1" i="0" noProof="1" smtClean="0">
                <a:latin typeface="Courier New" panose="02070309020205020404" pitchFamily="49" charset="0"/>
              </a:rPr>
              <a:t>numeStudent;</a:t>
            </a:r>
            <a:endParaRPr lang="ro-RO" altLang="ro-RO" sz="1600" b="1" i="0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pPr>
              <a:lnSpc>
                <a:spcPct val="90000"/>
              </a:lnSpc>
            </a:pPr>
            <a:endParaRPr lang="ro-RO" altLang="ro-RO" sz="1600" b="1" i="0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Gets the ID number of this student.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@return The ID number of this student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public int getID() {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return studentID;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pPr>
              <a:lnSpc>
                <a:spcPct val="90000"/>
              </a:lnSpc>
            </a:pPr>
            <a:endParaRPr lang="ro-RO" altLang="ro-RO" sz="1600" b="1" i="0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Sets the number of </a:t>
            </a:r>
            <a:r>
              <a:rPr lang="ro-RO" altLang="ro-RO" sz="1600" b="1" i="0" noProof="1" smtClean="0">
                <a:solidFill>
                  <a:srgbClr val="0000FF"/>
                </a:solidFill>
                <a:latin typeface="Courier New" panose="02070309020205020404" pitchFamily="49" charset="0"/>
              </a:rPr>
              <a:t>credite </a:t>
            </a: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earned.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@param </a:t>
            </a:r>
            <a:r>
              <a:rPr lang="ro-RO" altLang="ro-RO" sz="1600" b="1" i="0" noProof="1" smtClean="0">
                <a:solidFill>
                  <a:srgbClr val="0000FF"/>
                </a:solidFill>
                <a:latin typeface="Courier New" panose="02070309020205020404" pitchFamily="49" charset="0"/>
              </a:rPr>
              <a:t>credite </a:t>
            </a: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The new number of </a:t>
            </a:r>
            <a:r>
              <a:rPr lang="ro-RO" altLang="ro-RO" sz="1600" b="1" i="0" noProof="1" smtClean="0">
                <a:solidFill>
                  <a:srgbClr val="0000FF"/>
                </a:solidFill>
                <a:latin typeface="Courier New" panose="02070309020205020404" pitchFamily="49" charset="0"/>
              </a:rPr>
              <a:t>credite </a:t>
            </a: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earned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public void </a:t>
            </a:r>
            <a:r>
              <a:rPr lang="ro-RO" altLang="ro-RO" sz="1600" b="1" i="0" noProof="1" smtClean="0">
                <a:latin typeface="Courier New" panose="02070309020205020404" pitchFamily="49" charset="0"/>
              </a:rPr>
              <a:t>setCredite(int credite) </a:t>
            </a:r>
            <a:r>
              <a:rPr lang="ro-RO" altLang="ro-RO" sz="1600" b="1" i="0" noProof="1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</a:t>
            </a:r>
            <a:r>
              <a:rPr lang="ro-RO" altLang="ro-RO" sz="1600" b="1" i="0" noProof="1" smtClean="0">
                <a:latin typeface="Courier New" panose="02070309020205020404" pitchFamily="49" charset="0"/>
              </a:rPr>
              <a:t>crediteObtinute </a:t>
            </a:r>
            <a:r>
              <a:rPr lang="ro-RO" altLang="ro-RO" sz="1600" b="1" i="0" noProof="1">
                <a:latin typeface="Courier New" panose="02070309020205020404" pitchFamily="49" charset="0"/>
              </a:rPr>
              <a:t>= </a:t>
            </a:r>
            <a:r>
              <a:rPr lang="ro-RO" altLang="ro-RO" sz="1600" b="1" i="0" noProof="1" smtClean="0">
                <a:latin typeface="Courier New" panose="02070309020205020404" pitchFamily="49" charset="0"/>
              </a:rPr>
              <a:t>credite;</a:t>
            </a:r>
            <a:endParaRPr lang="ro-RO" altLang="ro-RO" sz="1600" b="1" i="0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</p:txBody>
      </p:sp>
      <p:grpSp>
        <p:nvGrpSpPr>
          <p:cNvPr id="696324" name="Group 4"/>
          <p:cNvGrpSpPr>
            <a:grpSpLocks/>
          </p:cNvGrpSpPr>
          <p:nvPr/>
        </p:nvGrpSpPr>
        <p:grpSpPr bwMode="auto">
          <a:xfrm>
            <a:off x="381000" y="1143000"/>
            <a:ext cx="8382000" cy="5257800"/>
            <a:chOff x="240" y="720"/>
            <a:chExt cx="5280" cy="3312"/>
          </a:xfrm>
        </p:grpSpPr>
        <p:sp>
          <p:nvSpPr>
            <p:cNvPr id="37903" name="Rectangle 5"/>
            <p:cNvSpPr>
              <a:spLocks noChangeArrowheads="1"/>
            </p:cNvSpPr>
            <p:nvPr/>
          </p:nvSpPr>
          <p:spPr bwMode="auto">
            <a:xfrm>
              <a:off x="240" y="720"/>
              <a:ext cx="5280" cy="3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7904" name="Text Box 6"/>
            <p:cNvSpPr txBox="1">
              <a:spLocks noChangeArrowheads="1"/>
            </p:cNvSpPr>
            <p:nvPr/>
          </p:nvSpPr>
          <p:spPr bwMode="auto">
            <a:xfrm>
              <a:off x="251" y="752"/>
              <a:ext cx="5261" cy="3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Furnizeaza creditele obtinute de acest student.</a:t>
              </a:r>
              <a:endPara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@return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Numărul de credite pe care le-a obtinut acest student</a:t>
              </a:r>
              <a:endPara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public int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getCredite()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{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   return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crediteObtinute;</a:t>
              </a: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pPr>
                <a:lnSpc>
                  <a:spcPct val="90000"/>
                </a:lnSpc>
              </a:pP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actualizeaza informatia referitoare la plata taxelor.</a:t>
              </a:r>
              <a:endPara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</a:t>
              </a:r>
              <a:r>
                <a:rPr lang="en-US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@param flag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poate fi </a:t>
              </a:r>
              <a:r>
                <a:rPr lang="en-US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true sau false care indică starea achitată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*/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public void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setPlatit(boolean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flag) {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  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platit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= flag;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pPr>
                <a:lnSpc>
                  <a:spcPct val="90000"/>
                </a:lnSpc>
              </a:pP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Furnizeaza informatia despre plata taxelor.</a:t>
              </a:r>
              <a:endPara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@return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daca studentul a platit</a:t>
              </a:r>
              <a:endPara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public boolean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estePlatit()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{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   return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platit;</a:t>
              </a: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</p:txBody>
        </p:sp>
      </p:grpSp>
      <p:sp>
        <p:nvSpPr>
          <p:cNvPr id="37893" name="Rectangle 7"/>
          <p:cNvSpPr>
            <a:spLocks noChangeArrowheads="1"/>
          </p:cNvSpPr>
          <p:nvPr/>
        </p:nvSpPr>
        <p:spPr bwMode="auto">
          <a:xfrm>
            <a:off x="0" y="0"/>
            <a:ext cx="9131300" cy="10890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37894" name="Rectangle 8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696329" name="Rectangle 9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9366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400" dirty="0">
                <a:solidFill>
                  <a:srgbClr val="FF0000"/>
                </a:solidFill>
              </a:rPr>
              <a:t>Clasa </a:t>
            </a:r>
            <a:r>
              <a:rPr lang="en-US" altLang="ro-RO" sz="4000" b="1" dirty="0">
                <a:solidFill>
                  <a:srgbClr val="FF0000"/>
                </a:solidFill>
                <a:latin typeface="Courier New" panose="02070309020205020404" pitchFamily="49" charset="0"/>
              </a:rPr>
              <a:t>Student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37896" name="Rectangle 10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696331" name="Group 11"/>
          <p:cNvGrpSpPr>
            <a:grpSpLocks/>
          </p:cNvGrpSpPr>
          <p:nvPr/>
        </p:nvGrpSpPr>
        <p:grpSpPr bwMode="auto">
          <a:xfrm>
            <a:off x="439738" y="4421188"/>
            <a:ext cx="8399462" cy="1963737"/>
            <a:chOff x="277" y="2785"/>
            <a:chExt cx="5147" cy="1237"/>
          </a:xfrm>
        </p:grpSpPr>
        <p:sp>
          <p:nvSpPr>
            <p:cNvPr id="37900" name="Rectangle 12"/>
            <p:cNvSpPr>
              <a:spLocks noChangeArrowheads="1"/>
            </p:cNvSpPr>
            <p:nvPr/>
          </p:nvSpPr>
          <p:spPr bwMode="auto">
            <a:xfrm>
              <a:off x="277" y="2926"/>
              <a:ext cx="3411" cy="1096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7901" name="AutoShape 13"/>
            <p:cNvSpPr>
              <a:spLocks noChangeArrowheads="1"/>
            </p:cNvSpPr>
            <p:nvPr/>
          </p:nvSpPr>
          <p:spPr bwMode="auto">
            <a:xfrm>
              <a:off x="3696" y="2785"/>
              <a:ext cx="1728" cy="671"/>
            </a:xfrm>
            <a:prstGeom prst="wedgeRectCallout">
              <a:avLst>
                <a:gd name="adj1" fmla="val -56481"/>
                <a:gd name="adj2" fmla="val -2907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37902" name="Rectangle 14"/>
            <p:cNvSpPr>
              <a:spLocks noChangeArrowheads="1"/>
            </p:cNvSpPr>
            <p:nvPr/>
          </p:nvSpPr>
          <p:spPr bwMode="auto">
            <a:xfrm>
              <a:off x="3696" y="2805"/>
              <a:ext cx="1728" cy="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 smtClean="0"/>
                <a:t>Numele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pentru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metodele</a:t>
              </a:r>
              <a:r>
                <a:rPr lang="en-US" altLang="ro-RO" dirty="0" smtClean="0"/>
                <a:t> getter </a:t>
              </a:r>
              <a:r>
                <a:rPr lang="en-US" altLang="ro-RO" dirty="0" err="1" smtClean="0"/>
                <a:t>încep</a:t>
              </a:r>
              <a:r>
                <a:rPr lang="en-US" altLang="ro-RO" dirty="0" smtClean="0"/>
                <a:t> de </a:t>
              </a:r>
              <a:r>
                <a:rPr lang="en-US" altLang="ro-RO" dirty="0" err="1" smtClean="0"/>
                <a:t>obicei</a:t>
              </a:r>
              <a:r>
                <a:rPr lang="en-US" altLang="ro-RO" dirty="0" smtClean="0"/>
                <a:t> cu </a:t>
              </a:r>
              <a:r>
                <a:rPr lang="en-US" altLang="ro-RO" dirty="0" err="1" smtClean="0"/>
                <a:t>prefixul</a:t>
              </a:r>
              <a:r>
                <a:rPr lang="en-US" altLang="ro-RO" dirty="0" smtClean="0"/>
                <a:t> </a:t>
              </a:r>
              <a:r>
                <a:rPr lang="en-US" altLang="ro-RO" sz="1200" b="1" i="0" dirty="0">
                  <a:latin typeface="Courier New" panose="02070309020205020404" pitchFamily="49" charset="0"/>
                </a:rPr>
                <a:t>get</a:t>
              </a:r>
              <a:r>
                <a:rPr lang="en-US" altLang="ro-RO" dirty="0" smtClean="0"/>
                <a:t>. </a:t>
              </a:r>
              <a:r>
                <a:rPr lang="en-US" altLang="ro-RO" dirty="0" err="1" smtClean="0"/>
                <a:t>Singura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excepție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este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pentru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metodele</a:t>
              </a:r>
              <a:r>
                <a:rPr lang="en-US" altLang="ro-RO" dirty="0" smtClean="0"/>
                <a:t> getter care </a:t>
              </a:r>
              <a:r>
                <a:rPr lang="en-US" altLang="ro-RO" dirty="0" err="1" smtClean="0"/>
                <a:t>returnează</a:t>
              </a:r>
              <a:r>
                <a:rPr lang="en-US" altLang="ro-RO" dirty="0" smtClean="0"/>
                <a:t> un </a:t>
              </a:r>
              <a:r>
                <a:rPr lang="en-US" altLang="ro-RO" sz="1200" b="1" i="0" dirty="0" err="1">
                  <a:latin typeface="Courier New" panose="02070309020205020404" pitchFamily="49" charset="0"/>
                </a:rPr>
                <a:t>boolean</a:t>
              </a:r>
              <a:r>
                <a:rPr lang="en-US" altLang="ro-RO" dirty="0" smtClean="0"/>
                <a:t>, </a:t>
              </a:r>
              <a:r>
                <a:rPr lang="en-US" altLang="ro-RO" dirty="0" err="1" smtClean="0"/>
                <a:t>caz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în</a:t>
              </a:r>
              <a:r>
                <a:rPr lang="en-US" altLang="ro-RO" dirty="0" smtClean="0"/>
                <a:t> care </a:t>
              </a:r>
              <a:r>
                <a:rPr lang="en-US" altLang="ro-RO" dirty="0" err="1" smtClean="0"/>
                <a:t>numele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începe</a:t>
              </a:r>
              <a:r>
                <a:rPr lang="en-US" altLang="ro-RO" dirty="0" smtClean="0"/>
                <a:t> de </a:t>
              </a:r>
              <a:r>
                <a:rPr lang="en-US" altLang="ro-RO" dirty="0" err="1" smtClean="0"/>
                <a:t>obicei</a:t>
              </a:r>
              <a:r>
                <a:rPr lang="en-US" altLang="ro-RO" dirty="0" smtClean="0"/>
                <a:t> cu </a:t>
              </a:r>
              <a:r>
                <a:rPr lang="ro-RO" altLang="ro-RO" dirty="0" err="1" smtClean="0"/>
                <a:t>is</a:t>
              </a:r>
              <a:r>
                <a:rPr lang="en-US" altLang="ro-RO" dirty="0" smtClean="0"/>
                <a:t>.</a:t>
              </a:r>
              <a:endParaRPr lang="en-US" altLang="ro-RO" dirty="0"/>
            </a:p>
          </p:txBody>
        </p:sp>
      </p:grpSp>
      <p:sp>
        <p:nvSpPr>
          <p:cNvPr id="37898" name="Text Box 1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37899" name="Text Box 16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3 of 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696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9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9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9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9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304800" y="1076325"/>
            <a:ext cx="88265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698371" name="Text Box 3"/>
          <p:cNvSpPr txBox="1">
            <a:spLocks noChangeArrowheads="1"/>
          </p:cNvSpPr>
          <p:nvPr/>
        </p:nvSpPr>
        <p:spPr bwMode="auto">
          <a:xfrm>
            <a:off x="398463" y="1168400"/>
            <a:ext cx="8351837" cy="5167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Gets the number of </a:t>
            </a:r>
            <a:r>
              <a:rPr lang="ro-RO" altLang="ro-RO" sz="1600" b="1" i="0" noProof="1" smtClean="0">
                <a:solidFill>
                  <a:srgbClr val="0000FF"/>
                </a:solidFill>
                <a:latin typeface="Courier New" panose="02070309020205020404" pitchFamily="49" charset="0"/>
              </a:rPr>
              <a:t>credite </a:t>
            </a: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earned.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@return The number of </a:t>
            </a:r>
            <a:r>
              <a:rPr lang="ro-RO" altLang="ro-RO" sz="1600" b="1" i="0" noProof="1" smtClean="0">
                <a:solidFill>
                  <a:srgbClr val="0000FF"/>
                </a:solidFill>
                <a:latin typeface="Courier New" panose="02070309020205020404" pitchFamily="49" charset="0"/>
              </a:rPr>
              <a:t>credite </a:t>
            </a: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this student has earned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public int </a:t>
            </a:r>
            <a:r>
              <a:rPr lang="ro-RO" altLang="ro-RO" sz="1600" b="1" i="0" noProof="1" smtClean="0">
                <a:latin typeface="Courier New" panose="02070309020205020404" pitchFamily="49" charset="0"/>
              </a:rPr>
              <a:t>getCredite() </a:t>
            </a:r>
            <a:r>
              <a:rPr lang="ro-RO" altLang="ro-RO" sz="1600" b="1" i="0" noProof="1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return </a:t>
            </a:r>
            <a:r>
              <a:rPr lang="ro-RO" altLang="ro-RO" sz="1600" b="1" i="0" noProof="1" smtClean="0">
                <a:latin typeface="Courier New" panose="02070309020205020404" pitchFamily="49" charset="0"/>
              </a:rPr>
              <a:t>crediteObtinute;</a:t>
            </a:r>
            <a:endParaRPr lang="ro-RO" altLang="ro-RO" sz="1600" b="1" i="0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pPr>
              <a:lnSpc>
                <a:spcPct val="90000"/>
              </a:lnSpc>
            </a:pPr>
            <a:endParaRPr lang="ro-RO" altLang="ro-RO" sz="1600" b="1" i="0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Sets whether the student is paid up.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@param flag The value true or false indicating paid-up status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public void </a:t>
            </a:r>
            <a:r>
              <a:rPr lang="ro-RO" altLang="ro-RO" sz="1600" b="1" i="0" noProof="1" smtClean="0">
                <a:latin typeface="Courier New" panose="02070309020205020404" pitchFamily="49" charset="0"/>
              </a:rPr>
              <a:t>setPlatit(boolean </a:t>
            </a:r>
            <a:r>
              <a:rPr lang="ro-RO" altLang="ro-RO" sz="1600" b="1" i="0" noProof="1">
                <a:latin typeface="Courier New" panose="02070309020205020404" pitchFamily="49" charset="0"/>
              </a:rPr>
              <a:t>flag) {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</a:t>
            </a:r>
            <a:r>
              <a:rPr lang="ro-RO" altLang="ro-RO" sz="1600" b="1" i="0" noProof="1" smtClean="0">
                <a:latin typeface="Courier New" panose="02070309020205020404" pitchFamily="49" charset="0"/>
              </a:rPr>
              <a:t>platit </a:t>
            </a:r>
            <a:r>
              <a:rPr lang="ro-RO" altLang="ro-RO" sz="1600" b="1" i="0" noProof="1">
                <a:latin typeface="Courier New" panose="02070309020205020404" pitchFamily="49" charset="0"/>
              </a:rPr>
              <a:t>= flag;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pPr>
              <a:lnSpc>
                <a:spcPct val="90000"/>
              </a:lnSpc>
            </a:pPr>
            <a:endParaRPr lang="ro-RO" altLang="ro-RO" sz="1600" b="1" i="0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/**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Returns whether the student is paid up.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 @return Whether the student is paid up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rPr>
              <a:t> */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public boolean </a:t>
            </a:r>
            <a:r>
              <a:rPr lang="ro-RO" altLang="ro-RO" sz="1600" b="1" i="0" noProof="1" smtClean="0">
                <a:latin typeface="Courier New" panose="02070309020205020404" pitchFamily="49" charset="0"/>
              </a:rPr>
              <a:t>estePlatit() </a:t>
            </a:r>
            <a:r>
              <a:rPr lang="ro-RO" altLang="ro-RO" sz="1600" b="1" i="0" noProof="1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   return </a:t>
            </a:r>
            <a:r>
              <a:rPr lang="ro-RO" altLang="ro-RO" sz="1600" b="1" i="0" noProof="1" smtClean="0">
                <a:latin typeface="Courier New" panose="02070309020205020404" pitchFamily="49" charset="0"/>
              </a:rPr>
              <a:t>platit;</a:t>
            </a:r>
            <a:endParaRPr lang="ro-RO" altLang="ro-RO" sz="1600" b="1" i="0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</p:txBody>
      </p:sp>
      <p:grpSp>
        <p:nvGrpSpPr>
          <p:cNvPr id="698372" name="Group 4"/>
          <p:cNvGrpSpPr>
            <a:grpSpLocks/>
          </p:cNvGrpSpPr>
          <p:nvPr/>
        </p:nvGrpSpPr>
        <p:grpSpPr bwMode="auto">
          <a:xfrm>
            <a:off x="381000" y="1143000"/>
            <a:ext cx="8418513" cy="5257800"/>
            <a:chOff x="240" y="720"/>
            <a:chExt cx="5303" cy="3312"/>
          </a:xfrm>
        </p:grpSpPr>
        <p:sp>
          <p:nvSpPr>
            <p:cNvPr id="39958" name="Rectangle 5"/>
            <p:cNvSpPr>
              <a:spLocks noChangeArrowheads="1"/>
            </p:cNvSpPr>
            <p:nvPr/>
          </p:nvSpPr>
          <p:spPr bwMode="auto">
            <a:xfrm>
              <a:off x="240" y="720"/>
              <a:ext cx="5280" cy="3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9959" name="Text Box 6"/>
            <p:cNvSpPr txBox="1">
              <a:spLocks noChangeArrowheads="1"/>
            </p:cNvSpPr>
            <p:nvPr/>
          </p:nvSpPr>
          <p:spPr bwMode="auto">
            <a:xfrm>
              <a:off x="251" y="752"/>
              <a:ext cx="5292" cy="2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Creează un șir care identifică acest student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.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 @return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Șirul folosit pentru afișarea acestui student</a:t>
              </a:r>
              <a:endPara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public String toString() {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   return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numeStudent</a:t>
              </a:r>
              <a:r>
                <a:rPr lang="ro-RO" altLang="ro-RO" sz="1000" b="1" i="0" noProof="1" smtClean="0"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+</a:t>
              </a:r>
              <a:r>
                <a:rPr lang="ro-RO" altLang="ro-RO" sz="1000" b="1" i="0" noProof="1"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"</a:t>
              </a:r>
              <a:r>
                <a:rPr lang="ro-RO" altLang="ro-RO" sz="1000" b="1" i="0" noProof="1"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(#"</a:t>
              </a:r>
              <a:r>
                <a:rPr lang="ro-RO" altLang="ro-RO" sz="1000" b="1" i="0" noProof="1"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+</a:t>
              </a:r>
              <a:r>
                <a:rPr lang="ro-RO" altLang="ro-RO" sz="1000" b="1" i="0" noProof="1"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studentID</a:t>
              </a:r>
              <a:r>
                <a:rPr lang="ro-RO" altLang="ro-RO" sz="1000" b="1" i="0" noProof="1"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+</a:t>
              </a:r>
              <a:r>
                <a:rPr lang="ro-RO" altLang="ro-RO" sz="1000" b="1" i="0" noProof="1"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")";</a:t>
              </a: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pPr>
                <a:lnSpc>
                  <a:spcPct val="90000"/>
                </a:lnSpc>
              </a:pP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endParaRPr lang="ro-RO" altLang="ro-RO" sz="1000" b="1" i="0" noProof="1">
                <a:solidFill>
                  <a:srgbClr val="0000FF"/>
                </a:solidFill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Constante Public  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*/</a:t>
              </a:r>
            </a:p>
            <a:p>
              <a:pPr>
                <a:lnSpc>
                  <a:spcPct val="90000"/>
                </a:lnSpc>
              </a:pPr>
              <a:endParaRPr lang="ro-RO" altLang="ro-RO" sz="10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/** </a:t>
              </a:r>
              <a:r>
                <a:rPr lang="pt-BR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Numărul de credite necesare pentru absolvire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*/</a:t>
              </a:r>
              <a:endPara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public static final int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CREDITE_NECESARE_ABSOLVIRE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= 180;</a:t>
              </a:r>
            </a:p>
            <a:p>
              <a:pPr>
                <a:lnSpc>
                  <a:spcPct val="90000"/>
                </a:lnSpc>
              </a:pP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Variabile de instanta private */</a:t>
              </a:r>
              <a:endParaRPr lang="ro-RO" altLang="ro-RO" sz="1600" b="1" i="0" noProof="1">
                <a:solidFill>
                  <a:srgbClr val="0000FF"/>
                </a:solidFill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endParaRPr lang="ro-RO" altLang="ro-RO" sz="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private String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numeStudent;   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Numele studentului          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*/</a:t>
              </a: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private int studentID;        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ID student                  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*/</a:t>
              </a: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private int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crediteObtinute; 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/* Numar de credite obtinute   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*/</a:t>
              </a: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   private boolean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platit;       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/* </a:t>
              </a:r>
              <a:r>
                <a:rPr lang="ro-RO" altLang="ro-RO" sz="1600" b="1" i="0" noProof="1" smtClean="0">
                  <a:solidFill>
                    <a:srgbClr val="0000FF"/>
                  </a:solidFill>
                  <a:latin typeface="Courier New" panose="02070309020205020404" pitchFamily="49" charset="0"/>
                </a:rPr>
                <a:t>Daca studentul a platit taxe </a:t>
              </a:r>
              <a:r>
                <a:rPr lang="ro-RO" altLang="ro-RO" sz="1600" b="1" i="0" noProof="1">
                  <a:solidFill>
                    <a:srgbClr val="0000FF"/>
                  </a:solidFill>
                  <a:latin typeface="Courier New" panose="02070309020205020404" pitchFamily="49" charset="0"/>
                </a:rPr>
                <a:t>*/</a:t>
              </a: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ro-RO" altLang="ro-RO" sz="1600" b="1" i="0" noProof="1">
                  <a:latin typeface="Courier New" panose="02070309020205020404" pitchFamily="49" charset="0"/>
                </a:rPr>
                <a:t>}</a:t>
              </a:r>
            </a:p>
          </p:txBody>
        </p:sp>
      </p:grpSp>
      <p:sp>
        <p:nvSpPr>
          <p:cNvPr id="39941" name="Rectangle 7"/>
          <p:cNvSpPr>
            <a:spLocks noChangeArrowheads="1"/>
          </p:cNvSpPr>
          <p:nvPr/>
        </p:nvSpPr>
        <p:spPr bwMode="auto">
          <a:xfrm>
            <a:off x="0" y="0"/>
            <a:ext cx="9131300" cy="10890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39942" name="Rectangle 8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698377" name="Rectangle 9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8477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400" dirty="0">
                <a:solidFill>
                  <a:srgbClr val="FF0000"/>
                </a:solidFill>
              </a:rPr>
              <a:t>Clasa </a:t>
            </a:r>
            <a:r>
              <a:rPr lang="en-US" altLang="ro-RO" sz="4000" b="1" dirty="0">
                <a:solidFill>
                  <a:srgbClr val="FF0000"/>
                </a:solidFill>
                <a:latin typeface="Courier New" panose="02070309020205020404" pitchFamily="49" charset="0"/>
              </a:rPr>
              <a:t>Student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39944" name="Rectangle 10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698379" name="Group 11"/>
          <p:cNvGrpSpPr>
            <a:grpSpLocks/>
          </p:cNvGrpSpPr>
          <p:nvPr/>
        </p:nvGrpSpPr>
        <p:grpSpPr bwMode="auto">
          <a:xfrm>
            <a:off x="406400" y="1155700"/>
            <a:ext cx="8724900" cy="1679575"/>
            <a:chOff x="256" y="728"/>
            <a:chExt cx="5296" cy="1058"/>
          </a:xfrm>
        </p:grpSpPr>
        <p:sp>
          <p:nvSpPr>
            <p:cNvPr id="39955" name="Rectangle 12"/>
            <p:cNvSpPr>
              <a:spLocks noChangeArrowheads="1"/>
            </p:cNvSpPr>
            <p:nvPr/>
          </p:nvSpPr>
          <p:spPr bwMode="auto">
            <a:xfrm>
              <a:off x="256" y="728"/>
              <a:ext cx="3968" cy="105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9956" name="AutoShape 13"/>
            <p:cNvSpPr>
              <a:spLocks noChangeArrowheads="1"/>
            </p:cNvSpPr>
            <p:nvPr/>
          </p:nvSpPr>
          <p:spPr bwMode="auto">
            <a:xfrm>
              <a:off x="4320" y="892"/>
              <a:ext cx="1217" cy="840"/>
            </a:xfrm>
            <a:prstGeom prst="wedgeRectCallout">
              <a:avLst>
                <a:gd name="adj1" fmla="val -57560"/>
                <a:gd name="adj2" fmla="val 2556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39957" name="Rectangle 14"/>
            <p:cNvSpPr>
              <a:spLocks noChangeArrowheads="1"/>
            </p:cNvSpPr>
            <p:nvPr/>
          </p:nvSpPr>
          <p:spPr bwMode="auto">
            <a:xfrm>
              <a:off x="4320" y="912"/>
              <a:ext cx="1232" cy="8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 smtClean="0"/>
                <a:t>Metoda</a:t>
              </a:r>
              <a:r>
                <a:rPr lang="en-US" altLang="ro-RO" dirty="0" smtClean="0"/>
                <a:t> </a:t>
              </a:r>
              <a:r>
                <a:rPr lang="en-US" altLang="ro-RO" sz="1200" b="1" i="0" dirty="0" err="1">
                  <a:latin typeface="Courier New" panose="02070309020205020404" pitchFamily="49" charset="0"/>
                </a:rPr>
                <a:t>toString</a:t>
              </a:r>
              <a:r>
                <a:rPr lang="en-US" altLang="ro-RO" dirty="0" smtClean="0"/>
                <a:t>  </a:t>
              </a:r>
              <a:r>
                <a:rPr lang="en-US" altLang="ro-RO" dirty="0" err="1" smtClean="0"/>
                <a:t>spune</a:t>
              </a:r>
              <a:r>
                <a:rPr lang="en-US" altLang="ro-RO" dirty="0" smtClean="0"/>
                <a:t> </a:t>
              </a:r>
              <a:r>
                <a:rPr lang="ro-RO" altLang="ro-RO" dirty="0" smtClean="0"/>
                <a:t>mediului </a:t>
              </a:r>
              <a:r>
                <a:rPr lang="en-US" altLang="ro-RO" dirty="0" smtClean="0"/>
                <a:t>Java cum </a:t>
              </a:r>
              <a:r>
                <a:rPr lang="en-US" altLang="ro-RO" dirty="0" err="1" smtClean="0"/>
                <a:t>să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afișeze</a:t>
              </a:r>
              <a:r>
                <a:rPr lang="en-US" altLang="ro-RO" dirty="0" smtClean="0"/>
                <a:t> o </a:t>
              </a:r>
              <a:r>
                <a:rPr lang="en-US" altLang="ro-RO" dirty="0" err="1" smtClean="0"/>
                <a:t>valoare</a:t>
              </a:r>
              <a:r>
                <a:rPr lang="en-US" altLang="ro-RO" dirty="0" smtClean="0"/>
                <a:t> a </a:t>
              </a:r>
              <a:r>
                <a:rPr lang="en-US" altLang="ro-RO" dirty="0" err="1" smtClean="0"/>
                <a:t>acestei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clase</a:t>
              </a:r>
              <a:r>
                <a:rPr lang="en-US" altLang="ro-RO" dirty="0" smtClean="0"/>
                <a:t>. </a:t>
              </a:r>
              <a:r>
                <a:rPr lang="en-US" altLang="ro-RO" dirty="0" err="1" smtClean="0"/>
                <a:t>Toate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clasele</a:t>
              </a:r>
              <a:r>
                <a:rPr lang="ro-RO" altLang="ro-RO" dirty="0" smtClean="0"/>
                <a:t> </a:t>
              </a:r>
              <a:r>
                <a:rPr lang="en-US" altLang="ro-RO" dirty="0" err="1" smtClean="0"/>
                <a:t>ar</a:t>
              </a:r>
              <a:r>
                <a:rPr lang="en-US" altLang="ro-RO" dirty="0" smtClean="0"/>
                <a:t> </a:t>
              </a:r>
              <a:r>
                <a:rPr lang="en-US" altLang="ro-RO" dirty="0" err="1"/>
                <a:t>trebui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să</a:t>
              </a:r>
              <a:r>
                <a:rPr lang="en-US" altLang="ro-RO" dirty="0" smtClean="0"/>
                <a:t> </a:t>
              </a:r>
              <a:r>
                <a:rPr lang="ro-RO" altLang="ro-RO" dirty="0" smtClean="0"/>
                <a:t>suprascrie (</a:t>
              </a:r>
              <a:r>
                <a:rPr lang="ro-RO" altLang="ro-RO" dirty="0" err="1" smtClean="0"/>
                <a:t>override</a:t>
              </a:r>
              <a:r>
                <a:rPr lang="ro-RO" altLang="ro-RO" dirty="0" smtClean="0"/>
                <a:t>) </a:t>
              </a:r>
              <a:r>
                <a:rPr lang="ro-RO" altLang="ro-RO" sz="1200" b="1" i="0" dirty="0" err="1">
                  <a:latin typeface="Courier New" panose="02070309020205020404" pitchFamily="49" charset="0"/>
                </a:rPr>
                <a:t>to</a:t>
              </a:r>
              <a:r>
                <a:rPr lang="en-US" altLang="ro-RO" sz="1200" b="1" i="0" dirty="0">
                  <a:latin typeface="Courier New" panose="02070309020205020404" pitchFamily="49" charset="0"/>
                </a:rPr>
                <a:t>String</a:t>
              </a:r>
            </a:p>
          </p:txBody>
        </p:sp>
      </p:grpSp>
      <p:grpSp>
        <p:nvGrpSpPr>
          <p:cNvPr id="698383" name="Group 15"/>
          <p:cNvGrpSpPr>
            <a:grpSpLocks/>
          </p:cNvGrpSpPr>
          <p:nvPr/>
        </p:nvGrpSpPr>
        <p:grpSpPr bwMode="auto">
          <a:xfrm>
            <a:off x="412750" y="2946400"/>
            <a:ext cx="8366125" cy="1036638"/>
            <a:chOff x="260" y="1856"/>
            <a:chExt cx="5270" cy="653"/>
          </a:xfrm>
        </p:grpSpPr>
        <p:sp>
          <p:nvSpPr>
            <p:cNvPr id="39953" name="Rectangle 16"/>
            <p:cNvSpPr>
              <a:spLocks noChangeArrowheads="1"/>
            </p:cNvSpPr>
            <p:nvPr/>
          </p:nvSpPr>
          <p:spPr bwMode="auto">
            <a:xfrm>
              <a:off x="260" y="2168"/>
              <a:ext cx="4797" cy="341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9954" name="AutoShape 17"/>
            <p:cNvSpPr>
              <a:spLocks noChangeArrowheads="1"/>
            </p:cNvSpPr>
            <p:nvPr/>
          </p:nvSpPr>
          <p:spPr bwMode="auto">
            <a:xfrm>
              <a:off x="3642" y="1856"/>
              <a:ext cx="1888" cy="240"/>
            </a:xfrm>
            <a:prstGeom prst="wedgeRectCallout">
              <a:avLst>
                <a:gd name="adj1" fmla="val -40574"/>
                <a:gd name="adj2" fmla="val 73333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ro-RO" dirty="0" err="1" smtClean="0"/>
                <a:t>Clasele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exportă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adesea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constante</a:t>
              </a:r>
              <a:endParaRPr lang="en-US" altLang="ro-RO" dirty="0"/>
            </a:p>
          </p:txBody>
        </p:sp>
      </p:grpSp>
      <p:grpSp>
        <p:nvGrpSpPr>
          <p:cNvPr id="698386" name="Group 18"/>
          <p:cNvGrpSpPr>
            <a:grpSpLocks/>
          </p:cNvGrpSpPr>
          <p:nvPr/>
        </p:nvGrpSpPr>
        <p:grpSpPr bwMode="auto">
          <a:xfrm>
            <a:off x="406400" y="4089400"/>
            <a:ext cx="8382000" cy="2368550"/>
            <a:chOff x="256" y="2576"/>
            <a:chExt cx="5280" cy="1492"/>
          </a:xfrm>
        </p:grpSpPr>
        <p:sp>
          <p:nvSpPr>
            <p:cNvPr id="39950" name="Rectangle 19"/>
            <p:cNvSpPr>
              <a:spLocks noChangeArrowheads="1"/>
            </p:cNvSpPr>
            <p:nvPr/>
          </p:nvSpPr>
          <p:spPr bwMode="auto">
            <a:xfrm>
              <a:off x="256" y="2576"/>
              <a:ext cx="5280" cy="84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39951" name="AutoShape 20"/>
            <p:cNvSpPr>
              <a:spLocks noChangeArrowheads="1"/>
            </p:cNvSpPr>
            <p:nvPr/>
          </p:nvSpPr>
          <p:spPr bwMode="auto">
            <a:xfrm>
              <a:off x="3627" y="3554"/>
              <a:ext cx="1903" cy="496"/>
            </a:xfrm>
            <a:prstGeom prst="wedgeRectCallout">
              <a:avLst>
                <a:gd name="adj1" fmla="val -41065"/>
                <a:gd name="adj2" fmla="val -75204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39952" name="Rectangle 21"/>
            <p:cNvSpPr>
              <a:spLocks noChangeArrowheads="1"/>
            </p:cNvSpPr>
            <p:nvPr/>
          </p:nvSpPr>
          <p:spPr bwMode="auto">
            <a:xfrm>
              <a:off x="3608" y="3548"/>
              <a:ext cx="1928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 smtClean="0"/>
                <a:t>Aceste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declarații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definesc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variabilele</a:t>
              </a:r>
              <a:r>
                <a:rPr lang="en-US" altLang="ro-RO" dirty="0" smtClean="0"/>
                <a:t> de </a:t>
              </a:r>
              <a:r>
                <a:rPr lang="en-US" altLang="ro-RO" dirty="0" err="1" smtClean="0"/>
                <a:t>instanță</a:t>
              </a:r>
              <a:r>
                <a:rPr lang="en-US" altLang="ro-RO" dirty="0" smtClean="0"/>
                <a:t> care </a:t>
              </a:r>
              <a:r>
                <a:rPr lang="en-US" altLang="ro-RO" dirty="0" err="1" smtClean="0"/>
                <a:t>mențin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starea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internă</a:t>
              </a:r>
              <a:r>
                <a:rPr lang="en-US" altLang="ro-RO" dirty="0" smtClean="0"/>
                <a:t> a </a:t>
              </a:r>
              <a:r>
                <a:rPr lang="en-US" altLang="ro-RO" dirty="0" err="1" smtClean="0"/>
                <a:t>clasei</a:t>
              </a:r>
              <a:r>
                <a:rPr lang="en-US" altLang="ro-RO" dirty="0" smtClean="0"/>
                <a:t>. </a:t>
              </a:r>
              <a:r>
                <a:rPr lang="en-US" altLang="ro-RO" dirty="0" err="1" smtClean="0"/>
                <a:t>Toate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variabilele</a:t>
              </a:r>
              <a:r>
                <a:rPr lang="en-US" altLang="ro-RO" dirty="0" smtClean="0"/>
                <a:t> de </a:t>
              </a:r>
              <a:r>
                <a:rPr lang="en-US" altLang="ro-RO" dirty="0" err="1" smtClean="0"/>
                <a:t>instanță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utilizate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sunt</a:t>
              </a:r>
              <a:r>
                <a:rPr lang="en-US" altLang="ro-RO" dirty="0" smtClean="0"/>
                <a:t> private.</a:t>
              </a:r>
              <a:endParaRPr lang="en-US" altLang="ro-RO" dirty="0"/>
            </a:p>
          </p:txBody>
        </p:sp>
      </p:grpSp>
      <p:sp>
        <p:nvSpPr>
          <p:cNvPr id="39948" name="Text Box 2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39949" name="Text Box 23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4 of 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69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9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9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9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9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837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1489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000" dirty="0" smtClean="0">
                <a:solidFill>
                  <a:srgbClr val="FF0000"/>
                </a:solidFill>
              </a:rPr>
              <a:t>Utilizarea clasei </a:t>
            </a:r>
            <a:r>
              <a:rPr lang="ro-RO" altLang="ro-RO" sz="4000" b="1" dirty="0" smtClean="0">
                <a:solidFill>
                  <a:srgbClr val="FF0000"/>
                </a:solidFill>
              </a:rPr>
              <a:t>Student </a:t>
            </a:r>
            <a:endParaRPr lang="en-US" altLang="ro-RO" b="1" dirty="0">
              <a:solidFill>
                <a:srgbClr val="FF0000"/>
              </a:solidFill>
            </a:endParaRP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482600" y="1155700"/>
            <a:ext cx="8128000" cy="204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err="1" smtClean="0"/>
              <a:t>După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ați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definit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clasa</a:t>
            </a:r>
            <a:r>
              <a:rPr lang="en-US" altLang="ro-RO" sz="2400" i="0" dirty="0" smtClean="0"/>
              <a:t> Student, </a:t>
            </a:r>
            <a:r>
              <a:rPr lang="en-US" altLang="ro-RO" sz="2400" i="0" dirty="0" err="1" smtClean="0"/>
              <a:t>puteți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utiliza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apoi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constructorul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acesteia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pentru</a:t>
            </a:r>
            <a:r>
              <a:rPr lang="en-US" altLang="ro-RO" sz="2400" i="0" dirty="0" smtClean="0"/>
              <a:t> a </a:t>
            </a:r>
            <a:r>
              <a:rPr lang="en-US" altLang="ro-RO" sz="2400" i="0" dirty="0" err="1" smtClean="0"/>
              <a:t>crea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instanțe</a:t>
            </a:r>
            <a:r>
              <a:rPr lang="en-US" altLang="ro-RO" sz="2400" i="0" dirty="0" smtClean="0"/>
              <a:t> ale </a:t>
            </a:r>
            <a:r>
              <a:rPr lang="en-US" altLang="ro-RO" sz="2400" i="0" dirty="0" err="1" smtClean="0"/>
              <a:t>acelei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clase</a:t>
            </a:r>
            <a:r>
              <a:rPr lang="en-US" altLang="ro-RO" sz="2400" i="0" dirty="0" smtClean="0"/>
              <a:t>. De </a:t>
            </a:r>
            <a:r>
              <a:rPr lang="en-US" altLang="ro-RO" sz="2400" i="0" dirty="0" err="1" smtClean="0"/>
              <a:t>exemplu</a:t>
            </a:r>
            <a:r>
              <a:rPr lang="en-US" altLang="ro-RO" sz="2400" i="0" dirty="0" smtClean="0"/>
              <a:t>, </a:t>
            </a:r>
            <a:r>
              <a:rPr lang="en-US" altLang="ro-RO" sz="2400" i="0" dirty="0" err="1" smtClean="0"/>
              <a:t>puteți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utiliza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următorul</a:t>
            </a:r>
            <a:r>
              <a:rPr lang="en-US" altLang="ro-RO" sz="2400" i="0" dirty="0" smtClean="0"/>
              <a:t> cod </a:t>
            </a:r>
            <a:r>
              <a:rPr lang="en-US" altLang="ro-RO" sz="2400" i="0" dirty="0" err="1" smtClean="0"/>
              <a:t>pentru</a:t>
            </a:r>
            <a:r>
              <a:rPr lang="en-US" altLang="ro-RO" sz="2400" i="0" dirty="0" smtClean="0"/>
              <a:t> a </a:t>
            </a:r>
            <a:r>
              <a:rPr lang="en-US" altLang="ro-RO" sz="2400" i="0" dirty="0" err="1" smtClean="0"/>
              <a:t>crea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două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obiecte</a:t>
            </a:r>
            <a:r>
              <a:rPr lang="en-US" altLang="ro-RO" sz="2400" i="0" dirty="0" smtClean="0"/>
              <a:t> Student:</a:t>
            </a:r>
            <a:endParaRPr lang="ro-RO" altLang="ro-RO" sz="2400" i="0" dirty="0" smtClean="0"/>
          </a:p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endParaRPr lang="en-US" altLang="ro-RO" sz="2400" i="0" dirty="0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914400" y="2587625"/>
            <a:ext cx="7620000" cy="7445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ro-RO" sz="1600" b="1" i="0" dirty="0">
                <a:latin typeface="Courier New" panose="02070309020205020404" pitchFamily="49" charset="0"/>
              </a:rPr>
              <a:t>Student </a:t>
            </a:r>
            <a:r>
              <a:rPr lang="en-US" altLang="ro-RO" sz="1600" b="1" i="0" dirty="0" err="1" smtClean="0">
                <a:latin typeface="Courier New" panose="02070309020205020404" pitchFamily="49" charset="0"/>
              </a:rPr>
              <a:t>sefLiga</a:t>
            </a:r>
            <a:r>
              <a:rPr lang="en-US" altLang="ro-RO" sz="1600" b="1" i="0" dirty="0" smtClean="0">
                <a:latin typeface="Courier New" panose="02070309020205020404" pitchFamily="49" charset="0"/>
              </a:rPr>
              <a:t> </a:t>
            </a:r>
            <a:r>
              <a:rPr lang="en-US" altLang="ro-RO" sz="1600" b="1" i="0" dirty="0">
                <a:latin typeface="Courier New" panose="02070309020205020404" pitchFamily="49" charset="0"/>
              </a:rPr>
              <a:t>= new Student</a:t>
            </a:r>
            <a:r>
              <a:rPr lang="en-US" altLang="ro-RO" sz="1600" b="1" i="0" dirty="0" smtClean="0">
                <a:latin typeface="Courier New" panose="02070309020205020404" pitchFamily="49" charset="0"/>
              </a:rPr>
              <a:t>("</a:t>
            </a:r>
            <a:r>
              <a:rPr lang="ro-RO" altLang="ro-RO" sz="1600" b="1" i="0" dirty="0" smtClean="0">
                <a:latin typeface="Courier New" panose="02070309020205020404" pitchFamily="49" charset="0"/>
              </a:rPr>
              <a:t>Alex Popa</a:t>
            </a:r>
            <a:r>
              <a:rPr lang="en-US" altLang="ro-RO" sz="1600" b="1" i="0" dirty="0" smtClean="0">
                <a:latin typeface="Courier New" panose="02070309020205020404" pitchFamily="49" charset="0"/>
              </a:rPr>
              <a:t>", </a:t>
            </a:r>
            <a:r>
              <a:rPr lang="en-US" altLang="ro-RO" sz="1600" b="1" i="0" dirty="0">
                <a:latin typeface="Courier New" panose="02070309020205020404" pitchFamily="49" charset="0"/>
              </a:rPr>
              <a:t>123456);</a:t>
            </a:r>
          </a:p>
          <a:p>
            <a:r>
              <a:rPr lang="en-US" altLang="ro-RO" sz="1600" b="1" i="0" dirty="0">
                <a:latin typeface="Courier New" panose="02070309020205020404" pitchFamily="49" charset="0"/>
              </a:rPr>
              <a:t>Student </a:t>
            </a:r>
            <a:r>
              <a:rPr lang="en-US" altLang="ro-RO" sz="1600" b="1" i="0" dirty="0" err="1" smtClean="0">
                <a:latin typeface="Courier New" panose="02070309020205020404" pitchFamily="49" charset="0"/>
              </a:rPr>
              <a:t>sefPromotie</a:t>
            </a:r>
            <a:r>
              <a:rPr lang="en-US" altLang="ro-RO" sz="1600" b="1" i="0" dirty="0" smtClean="0">
                <a:latin typeface="Courier New" panose="02070309020205020404" pitchFamily="49" charset="0"/>
              </a:rPr>
              <a:t> </a:t>
            </a:r>
            <a:r>
              <a:rPr lang="en-US" altLang="ro-RO" sz="1600" b="1" i="0" dirty="0">
                <a:latin typeface="Courier New" panose="02070309020205020404" pitchFamily="49" charset="0"/>
              </a:rPr>
              <a:t>= new Student</a:t>
            </a:r>
            <a:r>
              <a:rPr lang="en-US" altLang="ro-RO" sz="1600" b="1" i="0" dirty="0" smtClean="0">
                <a:latin typeface="Courier New" panose="02070309020205020404" pitchFamily="49" charset="0"/>
              </a:rPr>
              <a:t>("</a:t>
            </a:r>
            <a:r>
              <a:rPr lang="ro-RO" altLang="ro-RO" sz="1600" b="1" i="0" dirty="0" smtClean="0">
                <a:latin typeface="Courier New" panose="02070309020205020404" pitchFamily="49" charset="0"/>
              </a:rPr>
              <a:t>Alina Giurgiu</a:t>
            </a:r>
            <a:r>
              <a:rPr lang="en-US" altLang="ro-RO" sz="1600" b="1" i="0" dirty="0" smtClean="0">
                <a:latin typeface="Courier New" panose="02070309020205020404" pitchFamily="49" charset="0"/>
              </a:rPr>
              <a:t>", </a:t>
            </a:r>
            <a:r>
              <a:rPr lang="en-US" altLang="ro-RO" sz="1600" b="1" i="0" dirty="0">
                <a:latin typeface="Courier New" panose="02070309020205020404" pitchFamily="49" charset="0"/>
              </a:rPr>
              <a:t>314159);</a:t>
            </a:r>
          </a:p>
        </p:txBody>
      </p:sp>
      <p:grpSp>
        <p:nvGrpSpPr>
          <p:cNvPr id="700421" name="Group 5"/>
          <p:cNvGrpSpPr>
            <a:grpSpLocks/>
          </p:cNvGrpSpPr>
          <p:nvPr/>
        </p:nvGrpSpPr>
        <p:grpSpPr bwMode="auto">
          <a:xfrm>
            <a:off x="482600" y="3581400"/>
            <a:ext cx="8131175" cy="2930525"/>
            <a:chOff x="304" y="2256"/>
            <a:chExt cx="5122" cy="1846"/>
          </a:xfrm>
        </p:grpSpPr>
        <p:sp>
          <p:nvSpPr>
            <p:cNvPr id="41990" name="Rectangle 6"/>
            <p:cNvSpPr>
              <a:spLocks noChangeArrowheads="1"/>
            </p:cNvSpPr>
            <p:nvPr/>
          </p:nvSpPr>
          <p:spPr bwMode="auto">
            <a:xfrm>
              <a:off x="304" y="2256"/>
              <a:ext cx="5122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  <a:spcAft>
                  <a:spcPct val="50000"/>
                </a:spcAft>
                <a:buFontTx/>
                <a:buChar char="•"/>
              </a:pPr>
              <a:r>
                <a:rPr lang="ro-RO" altLang="ro-RO" sz="2400" i="0" dirty="0" smtClean="0"/>
                <a:t>Se pot utiliza oricare dintre metodele prezentate anterior cu aceste doua instanțe ale clasei Student. De ex pentru a actualiza numărul de credite , </a:t>
              </a:r>
              <a:r>
                <a:rPr lang="ro-RO" altLang="ro-RO" sz="2400" i="0" dirty="0" err="1" smtClean="0"/>
                <a:t>respectic</a:t>
              </a:r>
              <a:r>
                <a:rPr lang="ro-RO" altLang="ro-RO" sz="2400" i="0" dirty="0" smtClean="0"/>
                <a:t> pentru a afla numele</a:t>
              </a:r>
              <a:endParaRPr lang="en-US" altLang="ro-RO" sz="2400" i="0" dirty="0"/>
            </a:p>
          </p:txBody>
        </p:sp>
        <p:sp>
          <p:nvSpPr>
            <p:cNvPr id="41991" name="Rectangle 7"/>
            <p:cNvSpPr>
              <a:spLocks noChangeArrowheads="1"/>
            </p:cNvSpPr>
            <p:nvPr/>
          </p:nvSpPr>
          <p:spPr bwMode="auto">
            <a:xfrm>
              <a:off x="304" y="3379"/>
              <a:ext cx="5122" cy="7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  <a:spcAft>
                  <a:spcPct val="50000"/>
                </a:spcAft>
              </a:pPr>
              <a:r>
                <a:rPr lang="en-US" altLang="ro-RO" sz="2400" i="0" dirty="0"/>
                <a:t>	</a:t>
              </a:r>
            </a:p>
          </p:txBody>
        </p:sp>
        <p:sp>
          <p:nvSpPr>
            <p:cNvPr id="41992" name="Rectangle 8"/>
            <p:cNvSpPr>
              <a:spLocks noChangeArrowheads="1"/>
            </p:cNvSpPr>
            <p:nvPr/>
          </p:nvSpPr>
          <p:spPr bwMode="auto">
            <a:xfrm>
              <a:off x="576" y="2987"/>
              <a:ext cx="4800" cy="2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 dirty="0" err="1" smtClean="0">
                  <a:latin typeface="Courier New" panose="02070309020205020404" pitchFamily="49" charset="0"/>
                </a:rPr>
                <a:t>sefPromotie.setCredite</a:t>
              </a:r>
              <a:r>
                <a:rPr lang="en-US" altLang="ro-RO" sz="1600" b="1" i="0" dirty="0" smtClean="0">
                  <a:latin typeface="Courier New" panose="02070309020205020404" pitchFamily="49" charset="0"/>
                </a:rPr>
                <a:t>(263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);</a:t>
              </a:r>
            </a:p>
          </p:txBody>
        </p:sp>
        <p:sp>
          <p:nvSpPr>
            <p:cNvPr id="41993" name="Rectangle 9"/>
            <p:cNvSpPr>
              <a:spLocks noChangeArrowheads="1"/>
            </p:cNvSpPr>
            <p:nvPr/>
          </p:nvSpPr>
          <p:spPr bwMode="auto">
            <a:xfrm>
              <a:off x="576" y="3484"/>
              <a:ext cx="4800" cy="2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 dirty="0" err="1" smtClean="0">
                  <a:latin typeface="Courier New" panose="02070309020205020404" pitchFamily="49" charset="0"/>
                </a:rPr>
                <a:t>sefLiga.getName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();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000" dirty="0" smtClean="0">
                <a:solidFill>
                  <a:srgbClr val="FF0000"/>
                </a:solidFill>
              </a:rPr>
              <a:t>Numere raționale</a:t>
            </a:r>
            <a:endParaRPr lang="en-US" altLang="ro-RO" dirty="0">
              <a:solidFill>
                <a:schemeClr val="tx1"/>
              </a:solidFill>
            </a:endParaRP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485775" y="1300843"/>
            <a:ext cx="8128000" cy="135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smtClean="0"/>
              <a:t>Ca un </a:t>
            </a:r>
            <a:r>
              <a:rPr lang="en-US" altLang="ro-RO" sz="2400" i="0" dirty="0" err="1" smtClean="0"/>
              <a:t>exemplu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mai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elaborat</a:t>
            </a:r>
            <a:r>
              <a:rPr lang="en-US" altLang="ro-RO" sz="2400" i="0" dirty="0" smtClean="0"/>
              <a:t> de </a:t>
            </a:r>
            <a:r>
              <a:rPr lang="en-US" altLang="ro-RO" sz="2400" i="0" dirty="0" err="1" smtClean="0"/>
              <a:t>definiție</a:t>
            </a:r>
            <a:r>
              <a:rPr lang="en-US" altLang="ro-RO" sz="2400" i="0" dirty="0" smtClean="0"/>
              <a:t> a </a:t>
            </a:r>
            <a:r>
              <a:rPr lang="ro-RO" altLang="ro-RO" sz="2400" i="0" dirty="0" smtClean="0"/>
              <a:t>unei </a:t>
            </a:r>
            <a:r>
              <a:rPr lang="en-US" altLang="ro-RO" sz="2400" i="0" dirty="0" err="1" smtClean="0"/>
              <a:t>clase</a:t>
            </a:r>
            <a:r>
              <a:rPr lang="en-US" altLang="ro-RO" sz="2400" i="0" dirty="0" smtClean="0"/>
              <a:t>,</a:t>
            </a:r>
            <a:r>
              <a:rPr lang="ro-RO" altLang="ro-RO" sz="2400" i="0" dirty="0" smtClean="0"/>
              <a:t> </a:t>
            </a:r>
            <a:r>
              <a:rPr lang="en-US" altLang="ro-RO" sz="2400" i="0" dirty="0" smtClean="0"/>
              <a:t>o </a:t>
            </a:r>
            <a:r>
              <a:rPr lang="en-US" altLang="ro-RO" sz="2400" i="0" dirty="0" err="1" smtClean="0"/>
              <a:t>clasă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numită</a:t>
            </a:r>
            <a:r>
              <a:rPr lang="en-US" altLang="ro-RO" sz="2400" i="0" dirty="0" smtClean="0"/>
              <a:t> </a:t>
            </a:r>
            <a:r>
              <a:rPr lang="en-US" altLang="ro-RO" sz="2000" b="1" i="0" dirty="0">
                <a:latin typeface="Courier New" panose="02070309020205020404" pitchFamily="49" charset="0"/>
              </a:rPr>
              <a:t>Rational</a:t>
            </a:r>
            <a:r>
              <a:rPr lang="en-US" altLang="ro-RO" sz="2400" i="0" dirty="0" smtClean="0"/>
              <a:t> care </a:t>
            </a:r>
            <a:r>
              <a:rPr lang="en-US" altLang="ro-RO" sz="2400" i="0" dirty="0" err="1" smtClean="0"/>
              <a:t>reprezintă</a:t>
            </a:r>
            <a:r>
              <a:rPr lang="en-US" altLang="ro-RO" sz="2400" i="0" dirty="0" smtClean="0"/>
              <a:t> </a:t>
            </a:r>
            <a:r>
              <a:rPr lang="en-US" altLang="ro-RO" sz="2400" b="1" dirty="0" err="1" smtClean="0"/>
              <a:t>numere</a:t>
            </a:r>
            <a:r>
              <a:rPr lang="en-US" altLang="ro-RO" sz="2400" b="1" dirty="0" smtClean="0"/>
              <a:t> </a:t>
            </a:r>
            <a:r>
              <a:rPr lang="en-US" altLang="ro-RO" sz="2400" b="1" dirty="0" err="1" smtClean="0"/>
              <a:t>raționale</a:t>
            </a:r>
            <a:r>
              <a:rPr lang="en-US" altLang="ro-RO" sz="2400" i="0" dirty="0" smtClean="0"/>
              <a:t>, care </a:t>
            </a:r>
            <a:r>
              <a:rPr lang="en-US" altLang="ro-RO" sz="2400" i="0" dirty="0" err="1" smtClean="0"/>
              <a:t>sunt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pur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și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simplu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două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numere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întregi</a:t>
            </a:r>
            <a:r>
              <a:rPr lang="en-US" altLang="ro-RO" sz="2400" i="0" dirty="0" smtClean="0"/>
              <a:t>.</a:t>
            </a:r>
            <a:endParaRPr lang="en-US" altLang="ro-RO" sz="2400" i="0" dirty="0"/>
          </a:p>
        </p:txBody>
      </p:sp>
      <p:sp>
        <p:nvSpPr>
          <p:cNvPr id="714756" name="Rectangle 4"/>
          <p:cNvSpPr>
            <a:spLocks noChangeArrowheads="1"/>
          </p:cNvSpPr>
          <p:nvPr/>
        </p:nvSpPr>
        <p:spPr bwMode="auto">
          <a:xfrm>
            <a:off x="482600" y="2273300"/>
            <a:ext cx="8131175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err="1" smtClean="0"/>
              <a:t>Numerele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raționale</a:t>
            </a:r>
            <a:r>
              <a:rPr lang="en-US" altLang="ro-RO" sz="2400" i="0" dirty="0" smtClean="0"/>
              <a:t> pot fi utile </a:t>
            </a:r>
            <a:r>
              <a:rPr lang="en-US" altLang="ro-RO" sz="2400" i="0" dirty="0" err="1" smtClean="0"/>
              <a:t>în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cazurile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în</a:t>
            </a:r>
            <a:r>
              <a:rPr lang="en-US" altLang="ro-RO" sz="2400" i="0" dirty="0" smtClean="0"/>
              <a:t> care </a:t>
            </a:r>
            <a:r>
              <a:rPr lang="en-US" altLang="ro-RO" sz="2400" i="0" dirty="0" err="1" smtClean="0"/>
              <a:t>aveți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nevoie</a:t>
            </a:r>
            <a:r>
              <a:rPr lang="en-US" altLang="ro-RO" sz="2400" i="0" dirty="0" smtClean="0"/>
              <a:t> de </a:t>
            </a:r>
            <a:r>
              <a:rPr lang="en-US" altLang="ro-RO" sz="2400" i="0" dirty="0" err="1" smtClean="0"/>
              <a:t>calcul</a:t>
            </a:r>
            <a:r>
              <a:rPr lang="en-US" altLang="ro-RO" sz="2400" i="0" dirty="0" smtClean="0"/>
              <a:t> exact cu </a:t>
            </a:r>
            <a:r>
              <a:rPr lang="en-US" altLang="ro-RO" sz="2400" i="0" dirty="0" err="1" smtClean="0"/>
              <a:t>fracții</a:t>
            </a:r>
            <a:r>
              <a:rPr lang="en-US" altLang="ro-RO" sz="2400" i="0" dirty="0" smtClean="0"/>
              <a:t>. </a:t>
            </a:r>
            <a:r>
              <a:rPr lang="en-US" altLang="ro-RO" sz="2400" i="0" dirty="0" err="1" smtClean="0"/>
              <a:t>Chiar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dacă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utilizați</a:t>
            </a:r>
            <a:r>
              <a:rPr lang="en-US" altLang="ro-RO" sz="2400" i="0" dirty="0" smtClean="0"/>
              <a:t> un </a:t>
            </a:r>
            <a:r>
              <a:rPr lang="en-US" altLang="ro-RO" sz="2400" i="0" dirty="0" err="1" smtClean="0"/>
              <a:t>dublu</a:t>
            </a:r>
            <a:r>
              <a:rPr lang="en-US" altLang="ro-RO" sz="2400" i="0" dirty="0" smtClean="0"/>
              <a:t>, </a:t>
            </a:r>
            <a:r>
              <a:rPr lang="en-US" altLang="ro-RO" sz="2400" i="0" dirty="0" err="1" smtClean="0"/>
              <a:t>numărul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în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virgulă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mobilă</a:t>
            </a:r>
            <a:r>
              <a:rPr lang="en-US" altLang="ro-RO" sz="2400" i="0" dirty="0" smtClean="0"/>
              <a:t> 0,1 </a:t>
            </a:r>
            <a:r>
              <a:rPr lang="en-US" altLang="ro-RO" sz="2400" i="0" dirty="0" err="1" smtClean="0"/>
              <a:t>este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reprezentat</a:t>
            </a:r>
            <a:r>
              <a:rPr lang="en-US" altLang="ro-RO" sz="2400" i="0" dirty="0" smtClean="0"/>
              <a:t> intern ca o </a:t>
            </a:r>
            <a:r>
              <a:rPr lang="en-US" altLang="ro-RO" sz="2400" i="0" dirty="0" err="1" smtClean="0"/>
              <a:t>aproximare</a:t>
            </a:r>
            <a:r>
              <a:rPr lang="en-US" altLang="ro-RO" sz="2400" i="0" dirty="0" smtClean="0"/>
              <a:t>. </a:t>
            </a:r>
            <a:r>
              <a:rPr lang="en-US" altLang="ro-RO" sz="2400" i="0" dirty="0" err="1" smtClean="0"/>
              <a:t>Numărul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rațional</a:t>
            </a:r>
            <a:r>
              <a:rPr lang="en-US" altLang="ro-RO" sz="2400" i="0" dirty="0" smtClean="0"/>
              <a:t> 1/10 </a:t>
            </a:r>
            <a:r>
              <a:rPr lang="en-US" altLang="ro-RO" sz="2400" i="0" dirty="0" err="1" smtClean="0"/>
              <a:t>este</a:t>
            </a:r>
            <a:r>
              <a:rPr lang="en-US" altLang="ro-RO" sz="2400" i="0" dirty="0" smtClean="0"/>
              <a:t> exact.</a:t>
            </a:r>
            <a:endParaRPr lang="en-US" altLang="ro-RO" sz="2400" i="0" dirty="0"/>
          </a:p>
        </p:txBody>
      </p:sp>
      <p:grpSp>
        <p:nvGrpSpPr>
          <p:cNvPr id="714757" name="Group 5"/>
          <p:cNvGrpSpPr>
            <a:grpSpLocks/>
          </p:cNvGrpSpPr>
          <p:nvPr/>
        </p:nvGrpSpPr>
        <p:grpSpPr bwMode="auto">
          <a:xfrm>
            <a:off x="482600" y="3708400"/>
            <a:ext cx="8131175" cy="2616200"/>
            <a:chOff x="304" y="2336"/>
            <a:chExt cx="5122" cy="1648"/>
          </a:xfrm>
        </p:grpSpPr>
        <p:sp>
          <p:nvSpPr>
            <p:cNvPr id="44038" name="Rectangle 6"/>
            <p:cNvSpPr>
              <a:spLocks noChangeArrowheads="1"/>
            </p:cNvSpPr>
            <p:nvPr/>
          </p:nvSpPr>
          <p:spPr bwMode="auto">
            <a:xfrm>
              <a:off x="304" y="2336"/>
              <a:ext cx="5122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  <a:spcAft>
                  <a:spcPct val="50000"/>
                </a:spcAft>
                <a:buFontTx/>
                <a:buChar char="•"/>
              </a:pPr>
              <a:r>
                <a:rPr lang="it-IT" altLang="ro-RO" sz="2400" i="0" dirty="0" smtClean="0"/>
                <a:t>Numerele raționale acceptă operațiile aritmetice standard </a:t>
              </a:r>
              <a:r>
                <a:rPr lang="en-US" altLang="ro-RO" sz="2400" i="0" dirty="0" smtClean="0"/>
                <a:t>: </a:t>
              </a:r>
              <a:endParaRPr lang="en-US" altLang="ro-RO" sz="2400" i="0" dirty="0"/>
            </a:p>
          </p:txBody>
        </p:sp>
        <p:sp>
          <p:nvSpPr>
            <p:cNvPr id="44039" name="Rectangle 7"/>
            <p:cNvSpPr>
              <a:spLocks noChangeArrowheads="1"/>
            </p:cNvSpPr>
            <p:nvPr/>
          </p:nvSpPr>
          <p:spPr bwMode="auto">
            <a:xfrm>
              <a:off x="579" y="2633"/>
              <a:ext cx="4749" cy="13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44040" name="Text Box 8"/>
            <p:cNvSpPr txBox="1">
              <a:spLocks noChangeArrowheads="1"/>
            </p:cNvSpPr>
            <p:nvPr/>
          </p:nvSpPr>
          <p:spPr bwMode="auto">
            <a:xfrm>
              <a:off x="960" y="2880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a</a:t>
              </a:r>
            </a:p>
          </p:txBody>
        </p:sp>
        <p:sp>
          <p:nvSpPr>
            <p:cNvPr id="44041" name="Text Box 9"/>
            <p:cNvSpPr txBox="1">
              <a:spLocks noChangeArrowheads="1"/>
            </p:cNvSpPr>
            <p:nvPr/>
          </p:nvSpPr>
          <p:spPr bwMode="auto">
            <a:xfrm>
              <a:off x="960" y="3028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b</a:t>
              </a:r>
            </a:p>
          </p:txBody>
        </p:sp>
        <p:sp>
          <p:nvSpPr>
            <p:cNvPr id="44042" name="Line 10"/>
            <p:cNvSpPr>
              <a:spLocks noChangeShapeType="1"/>
            </p:cNvSpPr>
            <p:nvPr/>
          </p:nvSpPr>
          <p:spPr bwMode="auto">
            <a:xfrm>
              <a:off x="979" y="3055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43" name="Text Box 11"/>
            <p:cNvSpPr txBox="1">
              <a:spLocks noChangeArrowheads="1"/>
            </p:cNvSpPr>
            <p:nvPr/>
          </p:nvSpPr>
          <p:spPr bwMode="auto">
            <a:xfrm>
              <a:off x="1144" y="2952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+</a:t>
              </a:r>
            </a:p>
          </p:txBody>
        </p:sp>
        <p:sp>
          <p:nvSpPr>
            <p:cNvPr id="44044" name="Text Box 12"/>
            <p:cNvSpPr txBox="1">
              <a:spLocks noChangeArrowheads="1"/>
            </p:cNvSpPr>
            <p:nvPr/>
          </p:nvSpPr>
          <p:spPr bwMode="auto">
            <a:xfrm>
              <a:off x="1320" y="2880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c</a:t>
              </a:r>
            </a:p>
          </p:txBody>
        </p:sp>
        <p:sp>
          <p:nvSpPr>
            <p:cNvPr id="44045" name="Text Box 13"/>
            <p:cNvSpPr txBox="1">
              <a:spLocks noChangeArrowheads="1"/>
            </p:cNvSpPr>
            <p:nvPr/>
          </p:nvSpPr>
          <p:spPr bwMode="auto">
            <a:xfrm>
              <a:off x="1320" y="3028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d</a:t>
              </a:r>
            </a:p>
          </p:txBody>
        </p:sp>
        <p:sp>
          <p:nvSpPr>
            <p:cNvPr id="44046" name="Line 14"/>
            <p:cNvSpPr>
              <a:spLocks noChangeShapeType="1"/>
            </p:cNvSpPr>
            <p:nvPr/>
          </p:nvSpPr>
          <p:spPr bwMode="auto">
            <a:xfrm>
              <a:off x="1339" y="3055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47" name="Text Box 15"/>
            <p:cNvSpPr txBox="1">
              <a:spLocks noChangeArrowheads="1"/>
            </p:cNvSpPr>
            <p:nvPr/>
          </p:nvSpPr>
          <p:spPr bwMode="auto">
            <a:xfrm>
              <a:off x="1512" y="2952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=</a:t>
              </a:r>
            </a:p>
          </p:txBody>
        </p:sp>
        <p:sp>
          <p:nvSpPr>
            <p:cNvPr id="44048" name="Text Box 16"/>
            <p:cNvSpPr txBox="1">
              <a:spLocks noChangeArrowheads="1"/>
            </p:cNvSpPr>
            <p:nvPr/>
          </p:nvSpPr>
          <p:spPr bwMode="auto">
            <a:xfrm>
              <a:off x="1704" y="2880"/>
              <a:ext cx="5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ad +</a:t>
              </a:r>
              <a:r>
                <a:rPr lang="en-US" altLang="ro-RO" sz="1200"/>
                <a:t> </a:t>
              </a:r>
              <a:r>
                <a:rPr lang="en-US" altLang="ro-RO" sz="1600"/>
                <a:t>bc</a:t>
              </a:r>
            </a:p>
          </p:txBody>
        </p:sp>
        <p:sp>
          <p:nvSpPr>
            <p:cNvPr id="44049" name="Line 17"/>
            <p:cNvSpPr>
              <a:spLocks noChangeShapeType="1"/>
            </p:cNvSpPr>
            <p:nvPr/>
          </p:nvSpPr>
          <p:spPr bwMode="auto">
            <a:xfrm>
              <a:off x="1728" y="3056"/>
              <a:ext cx="5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50" name="Text Box 18"/>
            <p:cNvSpPr txBox="1">
              <a:spLocks noChangeArrowheads="1"/>
            </p:cNvSpPr>
            <p:nvPr/>
          </p:nvSpPr>
          <p:spPr bwMode="auto">
            <a:xfrm>
              <a:off x="1704" y="3032"/>
              <a:ext cx="5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bd</a:t>
              </a:r>
            </a:p>
          </p:txBody>
        </p:sp>
        <p:sp>
          <p:nvSpPr>
            <p:cNvPr id="44051" name="Text Box 19"/>
            <p:cNvSpPr txBox="1">
              <a:spLocks noChangeArrowheads="1"/>
            </p:cNvSpPr>
            <p:nvPr/>
          </p:nvSpPr>
          <p:spPr bwMode="auto">
            <a:xfrm>
              <a:off x="960" y="3500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a</a:t>
              </a:r>
            </a:p>
          </p:txBody>
        </p:sp>
        <p:sp>
          <p:nvSpPr>
            <p:cNvPr id="44052" name="Text Box 20"/>
            <p:cNvSpPr txBox="1">
              <a:spLocks noChangeArrowheads="1"/>
            </p:cNvSpPr>
            <p:nvPr/>
          </p:nvSpPr>
          <p:spPr bwMode="auto">
            <a:xfrm>
              <a:off x="960" y="3648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b</a:t>
              </a:r>
            </a:p>
          </p:txBody>
        </p:sp>
        <p:sp>
          <p:nvSpPr>
            <p:cNvPr id="44053" name="Line 21"/>
            <p:cNvSpPr>
              <a:spLocks noChangeShapeType="1"/>
            </p:cNvSpPr>
            <p:nvPr/>
          </p:nvSpPr>
          <p:spPr bwMode="auto">
            <a:xfrm>
              <a:off x="979" y="3675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54" name="Text Box 22"/>
            <p:cNvSpPr txBox="1">
              <a:spLocks noChangeArrowheads="1"/>
            </p:cNvSpPr>
            <p:nvPr/>
          </p:nvSpPr>
          <p:spPr bwMode="auto">
            <a:xfrm>
              <a:off x="1144" y="3564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–</a:t>
              </a:r>
            </a:p>
          </p:txBody>
        </p:sp>
        <p:sp>
          <p:nvSpPr>
            <p:cNvPr id="44055" name="Text Box 23"/>
            <p:cNvSpPr txBox="1">
              <a:spLocks noChangeArrowheads="1"/>
            </p:cNvSpPr>
            <p:nvPr/>
          </p:nvSpPr>
          <p:spPr bwMode="auto">
            <a:xfrm>
              <a:off x="1320" y="3500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c</a:t>
              </a:r>
            </a:p>
          </p:txBody>
        </p:sp>
        <p:sp>
          <p:nvSpPr>
            <p:cNvPr id="44056" name="Text Box 24"/>
            <p:cNvSpPr txBox="1">
              <a:spLocks noChangeArrowheads="1"/>
            </p:cNvSpPr>
            <p:nvPr/>
          </p:nvSpPr>
          <p:spPr bwMode="auto">
            <a:xfrm>
              <a:off x="1320" y="3648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d</a:t>
              </a:r>
            </a:p>
          </p:txBody>
        </p:sp>
        <p:sp>
          <p:nvSpPr>
            <p:cNvPr id="44057" name="Line 25"/>
            <p:cNvSpPr>
              <a:spLocks noChangeShapeType="1"/>
            </p:cNvSpPr>
            <p:nvPr/>
          </p:nvSpPr>
          <p:spPr bwMode="auto">
            <a:xfrm>
              <a:off x="1339" y="3675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58" name="Text Box 26"/>
            <p:cNvSpPr txBox="1">
              <a:spLocks noChangeArrowheads="1"/>
            </p:cNvSpPr>
            <p:nvPr/>
          </p:nvSpPr>
          <p:spPr bwMode="auto">
            <a:xfrm>
              <a:off x="1512" y="3572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=</a:t>
              </a:r>
            </a:p>
          </p:txBody>
        </p:sp>
        <p:sp>
          <p:nvSpPr>
            <p:cNvPr id="44059" name="Text Box 27"/>
            <p:cNvSpPr txBox="1">
              <a:spLocks noChangeArrowheads="1"/>
            </p:cNvSpPr>
            <p:nvPr/>
          </p:nvSpPr>
          <p:spPr bwMode="auto">
            <a:xfrm>
              <a:off x="1704" y="3500"/>
              <a:ext cx="5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ad – bc</a:t>
              </a:r>
            </a:p>
          </p:txBody>
        </p:sp>
        <p:sp>
          <p:nvSpPr>
            <p:cNvPr id="44060" name="Line 28"/>
            <p:cNvSpPr>
              <a:spLocks noChangeShapeType="1"/>
            </p:cNvSpPr>
            <p:nvPr/>
          </p:nvSpPr>
          <p:spPr bwMode="auto">
            <a:xfrm>
              <a:off x="1728" y="3676"/>
              <a:ext cx="5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61" name="Text Box 29"/>
            <p:cNvSpPr txBox="1">
              <a:spLocks noChangeArrowheads="1"/>
            </p:cNvSpPr>
            <p:nvPr/>
          </p:nvSpPr>
          <p:spPr bwMode="auto">
            <a:xfrm>
              <a:off x="1704" y="3652"/>
              <a:ext cx="5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bd</a:t>
              </a:r>
            </a:p>
          </p:txBody>
        </p:sp>
        <p:sp>
          <p:nvSpPr>
            <p:cNvPr id="44062" name="Text Box 30"/>
            <p:cNvSpPr txBox="1">
              <a:spLocks noChangeArrowheads="1"/>
            </p:cNvSpPr>
            <p:nvPr/>
          </p:nvSpPr>
          <p:spPr bwMode="auto">
            <a:xfrm>
              <a:off x="3632" y="2880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a</a:t>
              </a:r>
            </a:p>
          </p:txBody>
        </p:sp>
        <p:sp>
          <p:nvSpPr>
            <p:cNvPr id="44063" name="Text Box 31"/>
            <p:cNvSpPr txBox="1">
              <a:spLocks noChangeArrowheads="1"/>
            </p:cNvSpPr>
            <p:nvPr/>
          </p:nvSpPr>
          <p:spPr bwMode="auto">
            <a:xfrm>
              <a:off x="3632" y="3028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b</a:t>
              </a:r>
            </a:p>
          </p:txBody>
        </p:sp>
        <p:sp>
          <p:nvSpPr>
            <p:cNvPr id="44064" name="Line 32"/>
            <p:cNvSpPr>
              <a:spLocks noChangeShapeType="1"/>
            </p:cNvSpPr>
            <p:nvPr/>
          </p:nvSpPr>
          <p:spPr bwMode="auto">
            <a:xfrm>
              <a:off x="3651" y="3055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65" name="Text Box 33"/>
            <p:cNvSpPr txBox="1">
              <a:spLocks noChangeArrowheads="1"/>
            </p:cNvSpPr>
            <p:nvPr/>
          </p:nvSpPr>
          <p:spPr bwMode="auto">
            <a:xfrm>
              <a:off x="3816" y="2960"/>
              <a:ext cx="19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200" i="0">
                  <a:latin typeface="Helvetica" panose="020B0504020202030204" pitchFamily="34" charset="0"/>
                </a:rPr>
                <a:t>x</a:t>
              </a:r>
              <a:endParaRPr lang="en-US" altLang="ro-RO" i="0">
                <a:latin typeface="Helvetica" panose="020B0504020202030204" pitchFamily="34" charset="0"/>
              </a:endParaRPr>
            </a:p>
          </p:txBody>
        </p:sp>
        <p:sp>
          <p:nvSpPr>
            <p:cNvPr id="44066" name="Text Box 34"/>
            <p:cNvSpPr txBox="1">
              <a:spLocks noChangeArrowheads="1"/>
            </p:cNvSpPr>
            <p:nvPr/>
          </p:nvSpPr>
          <p:spPr bwMode="auto">
            <a:xfrm>
              <a:off x="3992" y="2880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c</a:t>
              </a:r>
            </a:p>
          </p:txBody>
        </p:sp>
        <p:sp>
          <p:nvSpPr>
            <p:cNvPr id="44067" name="Text Box 35"/>
            <p:cNvSpPr txBox="1">
              <a:spLocks noChangeArrowheads="1"/>
            </p:cNvSpPr>
            <p:nvPr/>
          </p:nvSpPr>
          <p:spPr bwMode="auto">
            <a:xfrm>
              <a:off x="3992" y="3028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d</a:t>
              </a:r>
            </a:p>
          </p:txBody>
        </p:sp>
        <p:sp>
          <p:nvSpPr>
            <p:cNvPr id="44068" name="Line 36"/>
            <p:cNvSpPr>
              <a:spLocks noChangeShapeType="1"/>
            </p:cNvSpPr>
            <p:nvPr/>
          </p:nvSpPr>
          <p:spPr bwMode="auto">
            <a:xfrm>
              <a:off x="4011" y="3055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69" name="Text Box 37"/>
            <p:cNvSpPr txBox="1">
              <a:spLocks noChangeArrowheads="1"/>
            </p:cNvSpPr>
            <p:nvPr/>
          </p:nvSpPr>
          <p:spPr bwMode="auto">
            <a:xfrm>
              <a:off x="4184" y="2952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=</a:t>
              </a:r>
            </a:p>
          </p:txBody>
        </p:sp>
        <p:sp>
          <p:nvSpPr>
            <p:cNvPr id="44070" name="Text Box 38"/>
            <p:cNvSpPr txBox="1">
              <a:spLocks noChangeArrowheads="1"/>
            </p:cNvSpPr>
            <p:nvPr/>
          </p:nvSpPr>
          <p:spPr bwMode="auto">
            <a:xfrm>
              <a:off x="4376" y="2880"/>
              <a:ext cx="26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ac</a:t>
              </a:r>
            </a:p>
          </p:txBody>
        </p:sp>
        <p:sp>
          <p:nvSpPr>
            <p:cNvPr id="44071" name="Line 39"/>
            <p:cNvSpPr>
              <a:spLocks noChangeShapeType="1"/>
            </p:cNvSpPr>
            <p:nvPr/>
          </p:nvSpPr>
          <p:spPr bwMode="auto">
            <a:xfrm>
              <a:off x="4400" y="3056"/>
              <a:ext cx="2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72" name="Text Box 40"/>
            <p:cNvSpPr txBox="1">
              <a:spLocks noChangeArrowheads="1"/>
            </p:cNvSpPr>
            <p:nvPr/>
          </p:nvSpPr>
          <p:spPr bwMode="auto">
            <a:xfrm>
              <a:off x="3632" y="3500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a</a:t>
              </a:r>
            </a:p>
          </p:txBody>
        </p:sp>
        <p:sp>
          <p:nvSpPr>
            <p:cNvPr id="44073" name="Text Box 41"/>
            <p:cNvSpPr txBox="1">
              <a:spLocks noChangeArrowheads="1"/>
            </p:cNvSpPr>
            <p:nvPr/>
          </p:nvSpPr>
          <p:spPr bwMode="auto">
            <a:xfrm>
              <a:off x="3632" y="3648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b</a:t>
              </a:r>
            </a:p>
          </p:txBody>
        </p:sp>
        <p:sp>
          <p:nvSpPr>
            <p:cNvPr id="44074" name="Line 42"/>
            <p:cNvSpPr>
              <a:spLocks noChangeShapeType="1"/>
            </p:cNvSpPr>
            <p:nvPr/>
          </p:nvSpPr>
          <p:spPr bwMode="auto">
            <a:xfrm>
              <a:off x="3651" y="3675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75" name="Text Box 43"/>
            <p:cNvSpPr txBox="1">
              <a:spLocks noChangeArrowheads="1"/>
            </p:cNvSpPr>
            <p:nvPr/>
          </p:nvSpPr>
          <p:spPr bwMode="auto">
            <a:xfrm>
              <a:off x="3992" y="3500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c</a:t>
              </a:r>
            </a:p>
          </p:txBody>
        </p:sp>
        <p:sp>
          <p:nvSpPr>
            <p:cNvPr id="44076" name="Text Box 44"/>
            <p:cNvSpPr txBox="1">
              <a:spLocks noChangeArrowheads="1"/>
            </p:cNvSpPr>
            <p:nvPr/>
          </p:nvSpPr>
          <p:spPr bwMode="auto">
            <a:xfrm>
              <a:off x="3992" y="3648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d</a:t>
              </a:r>
            </a:p>
          </p:txBody>
        </p:sp>
        <p:sp>
          <p:nvSpPr>
            <p:cNvPr id="44077" name="Line 45"/>
            <p:cNvSpPr>
              <a:spLocks noChangeShapeType="1"/>
            </p:cNvSpPr>
            <p:nvPr/>
          </p:nvSpPr>
          <p:spPr bwMode="auto">
            <a:xfrm>
              <a:off x="4011" y="3675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78" name="Text Box 46"/>
            <p:cNvSpPr txBox="1">
              <a:spLocks noChangeArrowheads="1"/>
            </p:cNvSpPr>
            <p:nvPr/>
          </p:nvSpPr>
          <p:spPr bwMode="auto">
            <a:xfrm>
              <a:off x="4184" y="3572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=</a:t>
              </a:r>
            </a:p>
          </p:txBody>
        </p:sp>
        <p:grpSp>
          <p:nvGrpSpPr>
            <p:cNvPr id="44079" name="Group 47"/>
            <p:cNvGrpSpPr>
              <a:grpSpLocks/>
            </p:cNvGrpSpPr>
            <p:nvPr/>
          </p:nvGrpSpPr>
          <p:grpSpPr bwMode="auto">
            <a:xfrm>
              <a:off x="3816" y="3512"/>
              <a:ext cx="192" cy="260"/>
              <a:chOff x="3744" y="3908"/>
              <a:chExt cx="192" cy="260"/>
            </a:xfrm>
          </p:grpSpPr>
          <p:sp>
            <p:nvSpPr>
              <p:cNvPr id="44088" name="Text Box 48"/>
              <p:cNvSpPr txBox="1">
                <a:spLocks noChangeArrowheads="1"/>
              </p:cNvSpPr>
              <p:nvPr/>
            </p:nvSpPr>
            <p:spPr bwMode="auto">
              <a:xfrm>
                <a:off x="3744" y="3956"/>
                <a:ext cx="19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.</a:t>
                </a:r>
              </a:p>
            </p:txBody>
          </p:sp>
          <p:sp>
            <p:nvSpPr>
              <p:cNvPr id="44089" name="Line 49"/>
              <p:cNvSpPr>
                <a:spLocks noChangeShapeType="1"/>
              </p:cNvSpPr>
              <p:nvPr/>
            </p:nvSpPr>
            <p:spPr bwMode="auto">
              <a:xfrm>
                <a:off x="3802" y="4069"/>
                <a:ext cx="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44090" name="Text Box 50"/>
              <p:cNvSpPr txBox="1">
                <a:spLocks noChangeArrowheads="1"/>
              </p:cNvSpPr>
              <p:nvPr/>
            </p:nvSpPr>
            <p:spPr bwMode="auto">
              <a:xfrm>
                <a:off x="3744" y="3908"/>
                <a:ext cx="19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.</a:t>
                </a:r>
              </a:p>
            </p:txBody>
          </p:sp>
        </p:grpSp>
        <p:sp>
          <p:nvSpPr>
            <p:cNvPr id="44080" name="Text Box 51"/>
            <p:cNvSpPr txBox="1">
              <a:spLocks noChangeArrowheads="1"/>
            </p:cNvSpPr>
            <p:nvPr/>
          </p:nvSpPr>
          <p:spPr bwMode="auto">
            <a:xfrm>
              <a:off x="4376" y="3024"/>
              <a:ext cx="26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bd</a:t>
              </a:r>
            </a:p>
          </p:txBody>
        </p:sp>
        <p:sp>
          <p:nvSpPr>
            <p:cNvPr id="44081" name="Text Box 52"/>
            <p:cNvSpPr txBox="1">
              <a:spLocks noChangeArrowheads="1"/>
            </p:cNvSpPr>
            <p:nvPr/>
          </p:nvSpPr>
          <p:spPr bwMode="auto">
            <a:xfrm>
              <a:off x="4376" y="3500"/>
              <a:ext cx="26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ad</a:t>
              </a:r>
            </a:p>
          </p:txBody>
        </p:sp>
        <p:sp>
          <p:nvSpPr>
            <p:cNvPr id="44082" name="Line 53"/>
            <p:cNvSpPr>
              <a:spLocks noChangeShapeType="1"/>
            </p:cNvSpPr>
            <p:nvPr/>
          </p:nvSpPr>
          <p:spPr bwMode="auto">
            <a:xfrm>
              <a:off x="4400" y="3676"/>
              <a:ext cx="2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44083" name="Text Box 54"/>
            <p:cNvSpPr txBox="1">
              <a:spLocks noChangeArrowheads="1"/>
            </p:cNvSpPr>
            <p:nvPr/>
          </p:nvSpPr>
          <p:spPr bwMode="auto">
            <a:xfrm>
              <a:off x="4376" y="3644"/>
              <a:ext cx="26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/>
                <a:t>bc</a:t>
              </a:r>
            </a:p>
          </p:txBody>
        </p:sp>
        <p:sp>
          <p:nvSpPr>
            <p:cNvPr id="44084" name="Text Box 55"/>
            <p:cNvSpPr txBox="1">
              <a:spLocks noChangeArrowheads="1"/>
            </p:cNvSpPr>
            <p:nvPr/>
          </p:nvSpPr>
          <p:spPr bwMode="auto">
            <a:xfrm>
              <a:off x="768" y="2720"/>
              <a:ext cx="11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ro-RO" altLang="ro-RO" sz="1600" i="0" dirty="0" smtClean="0">
                  <a:latin typeface="Helvetica" panose="020B0504020202030204" pitchFamily="34" charset="0"/>
                </a:rPr>
                <a:t>Adunare</a:t>
              </a:r>
              <a:r>
                <a:rPr lang="en-US" altLang="ro-RO" sz="1600" i="0" dirty="0" smtClean="0">
                  <a:latin typeface="Helvetica" panose="020B0504020202030204" pitchFamily="34" charset="0"/>
                </a:rPr>
                <a:t>:</a:t>
              </a:r>
              <a:endParaRPr lang="en-US" altLang="ro-RO" sz="1600" i="0" dirty="0">
                <a:latin typeface="Helvetica" panose="020B0504020202030204" pitchFamily="34" charset="0"/>
              </a:endParaRPr>
            </a:p>
          </p:txBody>
        </p:sp>
        <p:sp>
          <p:nvSpPr>
            <p:cNvPr id="44085" name="Text Box 56"/>
            <p:cNvSpPr txBox="1">
              <a:spLocks noChangeArrowheads="1"/>
            </p:cNvSpPr>
            <p:nvPr/>
          </p:nvSpPr>
          <p:spPr bwMode="auto">
            <a:xfrm>
              <a:off x="768" y="3360"/>
              <a:ext cx="11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ro-RO" altLang="ro-RO" sz="1600" i="0" dirty="0" err="1" smtClean="0">
                  <a:latin typeface="Helvetica" panose="020B0504020202030204" pitchFamily="34" charset="0"/>
                </a:rPr>
                <a:t>Scadere</a:t>
              </a:r>
              <a:r>
                <a:rPr lang="en-US" altLang="ro-RO" sz="1600" i="0" dirty="0" smtClean="0">
                  <a:latin typeface="Helvetica" panose="020B0504020202030204" pitchFamily="34" charset="0"/>
                </a:rPr>
                <a:t>:</a:t>
              </a:r>
              <a:endParaRPr lang="en-US" altLang="ro-RO" sz="1600" i="0" dirty="0">
                <a:latin typeface="Helvetica" panose="020B0504020202030204" pitchFamily="34" charset="0"/>
              </a:endParaRPr>
            </a:p>
          </p:txBody>
        </p:sp>
        <p:sp>
          <p:nvSpPr>
            <p:cNvPr id="44086" name="Text Box 57"/>
            <p:cNvSpPr txBox="1">
              <a:spLocks noChangeArrowheads="1"/>
            </p:cNvSpPr>
            <p:nvPr/>
          </p:nvSpPr>
          <p:spPr bwMode="auto">
            <a:xfrm>
              <a:off x="3440" y="2720"/>
              <a:ext cx="11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ro-RO" altLang="ro-RO" sz="1600" i="0" dirty="0" err="1" smtClean="0">
                  <a:latin typeface="Helvetica" panose="020B0504020202030204" pitchFamily="34" charset="0"/>
                </a:rPr>
                <a:t>Inmultire</a:t>
              </a:r>
              <a:r>
                <a:rPr lang="en-US" altLang="ro-RO" sz="1600" i="0" dirty="0" smtClean="0">
                  <a:latin typeface="Helvetica" panose="020B0504020202030204" pitchFamily="34" charset="0"/>
                </a:rPr>
                <a:t>:</a:t>
              </a:r>
              <a:endParaRPr lang="en-US" altLang="ro-RO" sz="1600" i="0" dirty="0">
                <a:latin typeface="Helvetica" panose="020B0504020202030204" pitchFamily="34" charset="0"/>
              </a:endParaRPr>
            </a:p>
          </p:txBody>
        </p:sp>
        <p:sp>
          <p:nvSpPr>
            <p:cNvPr id="44087" name="Text Box 58"/>
            <p:cNvSpPr txBox="1">
              <a:spLocks noChangeArrowheads="1"/>
            </p:cNvSpPr>
            <p:nvPr/>
          </p:nvSpPr>
          <p:spPr bwMode="auto">
            <a:xfrm>
              <a:off x="3440" y="3360"/>
              <a:ext cx="11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ro-RO" altLang="ro-RO" sz="1600" i="0" dirty="0" err="1" smtClean="0">
                  <a:latin typeface="Helvetica" panose="020B0504020202030204" pitchFamily="34" charset="0"/>
                </a:rPr>
                <a:t>Impartire</a:t>
              </a:r>
              <a:r>
                <a:rPr lang="en-US" altLang="ro-RO" sz="1600" i="0" dirty="0" smtClean="0">
                  <a:latin typeface="Helvetica" panose="020B0504020202030204" pitchFamily="34" charset="0"/>
                </a:rPr>
                <a:t>:</a:t>
              </a:r>
              <a:endParaRPr lang="en-US" altLang="ro-RO" sz="1600" i="0" dirty="0">
                <a:latin typeface="Helvetica" panose="020B0504020202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4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756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000" dirty="0" smtClean="0">
                <a:solidFill>
                  <a:srgbClr val="FF0000"/>
                </a:solidFill>
              </a:rPr>
              <a:t>Implementarea clasei </a:t>
            </a:r>
            <a:r>
              <a:rPr lang="en-US" altLang="ro-RO" sz="36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Rational</a:t>
            </a:r>
            <a:endParaRPr lang="en-US" altLang="ro-RO" dirty="0">
              <a:solidFill>
                <a:srgbClr val="FF0000"/>
              </a:solidFill>
            </a:endParaRPr>
          </a:p>
        </p:txBody>
      </p:sp>
      <p:grpSp>
        <p:nvGrpSpPr>
          <p:cNvPr id="716804" name="Group 4"/>
          <p:cNvGrpSpPr>
            <a:grpSpLocks/>
          </p:cNvGrpSpPr>
          <p:nvPr/>
        </p:nvGrpSpPr>
        <p:grpSpPr bwMode="auto">
          <a:xfrm>
            <a:off x="396080" y="1702593"/>
            <a:ext cx="8369300" cy="1854201"/>
            <a:chOff x="154" y="1240"/>
            <a:chExt cx="5272" cy="1168"/>
          </a:xfrm>
        </p:grpSpPr>
        <p:sp>
          <p:nvSpPr>
            <p:cNvPr id="46089" name="Rectangle 5"/>
            <p:cNvSpPr>
              <a:spLocks noChangeArrowheads="1"/>
            </p:cNvSpPr>
            <p:nvPr/>
          </p:nvSpPr>
          <p:spPr bwMode="auto">
            <a:xfrm>
              <a:off x="304" y="1240"/>
              <a:ext cx="5122" cy="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  <a:spcAft>
                  <a:spcPct val="20000"/>
                </a:spcAft>
                <a:buFontTx/>
                <a:buChar char="•"/>
              </a:pPr>
              <a:r>
                <a:rPr lang="en-US" altLang="ro-RO" sz="2400" i="0" dirty="0" err="1" smtClean="0"/>
                <a:t>Pe</a:t>
              </a:r>
              <a:r>
                <a:rPr lang="en-US" altLang="ro-RO" sz="2400" i="0" dirty="0" smtClean="0"/>
                <a:t> </a:t>
              </a:r>
              <a:r>
                <a:rPr lang="en-US" altLang="ro-RO" sz="2400" i="0" dirty="0" err="1" smtClean="0"/>
                <a:t>măsură</a:t>
              </a:r>
              <a:r>
                <a:rPr lang="en-US" altLang="ro-RO" sz="2400" i="0" dirty="0" smtClean="0"/>
                <a:t> </a:t>
              </a:r>
              <a:r>
                <a:rPr lang="en-US" altLang="ro-RO" sz="2400" i="0" dirty="0" err="1" smtClean="0"/>
                <a:t>ce</a:t>
              </a:r>
              <a:r>
                <a:rPr lang="en-US" altLang="ro-RO" sz="2400" i="0" dirty="0" smtClean="0"/>
                <a:t> </a:t>
              </a:r>
              <a:r>
                <a:rPr lang="en-US" altLang="ro-RO" sz="2400" i="0" dirty="0" err="1" smtClean="0"/>
                <a:t>citiți</a:t>
              </a:r>
              <a:r>
                <a:rPr lang="en-US" altLang="ro-RO" sz="2400" i="0" dirty="0" smtClean="0"/>
                <a:t> </a:t>
              </a:r>
              <a:r>
                <a:rPr lang="en-US" altLang="ro-RO" sz="2400" i="0" dirty="0" err="1" smtClean="0"/>
                <a:t>codul</a:t>
              </a:r>
              <a:r>
                <a:rPr lang="en-US" altLang="ro-RO" sz="2400" i="0" dirty="0" smtClean="0"/>
                <a:t>, </a:t>
              </a:r>
              <a:r>
                <a:rPr lang="en-US" altLang="ro-RO" sz="2400" i="0" dirty="0" err="1" smtClean="0"/>
                <a:t>următoarele</a:t>
              </a:r>
              <a:r>
                <a:rPr lang="en-US" altLang="ro-RO" sz="2400" i="0" dirty="0" smtClean="0"/>
                <a:t> </a:t>
              </a:r>
              <a:r>
                <a:rPr lang="en-US" altLang="ro-RO" sz="2400" i="0" dirty="0" err="1" smtClean="0"/>
                <a:t>caracteristici</a:t>
              </a:r>
              <a:r>
                <a:rPr lang="en-US" altLang="ro-RO" sz="2400" i="0" dirty="0" smtClean="0"/>
                <a:t> </a:t>
              </a:r>
              <a:r>
                <a:rPr lang="en-US" altLang="ro-RO" sz="2400" i="0" dirty="0" err="1" smtClean="0"/>
                <a:t>merită</a:t>
              </a:r>
              <a:r>
                <a:rPr lang="en-US" altLang="ro-RO" sz="2400" i="0" dirty="0" smtClean="0"/>
                <a:t> o </a:t>
              </a:r>
              <a:r>
                <a:rPr lang="en-US" altLang="ro-RO" sz="2400" i="0" dirty="0" err="1" smtClean="0"/>
                <a:t>atenție</a:t>
              </a:r>
              <a:r>
                <a:rPr lang="en-US" altLang="ro-RO" sz="2400" i="0" dirty="0" smtClean="0"/>
                <a:t> </a:t>
              </a:r>
              <a:r>
                <a:rPr lang="en-US" altLang="ro-RO" sz="2400" i="0" dirty="0" err="1" smtClean="0"/>
                <a:t>specială</a:t>
              </a:r>
              <a:r>
                <a:rPr lang="en-US" altLang="ro-RO" sz="2400" i="0" dirty="0" smtClean="0"/>
                <a:t> :</a:t>
              </a:r>
              <a:endParaRPr lang="en-US" altLang="ro-RO" sz="2400" i="0" dirty="0"/>
            </a:p>
          </p:txBody>
        </p:sp>
        <p:sp>
          <p:nvSpPr>
            <p:cNvPr id="46090" name="Rectangle 6"/>
            <p:cNvSpPr>
              <a:spLocks noChangeArrowheads="1"/>
            </p:cNvSpPr>
            <p:nvPr/>
          </p:nvSpPr>
          <p:spPr bwMode="auto">
            <a:xfrm>
              <a:off x="154" y="1688"/>
              <a:ext cx="5122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lvl="1" algn="just">
                <a:lnSpc>
                  <a:spcPct val="85000"/>
                </a:lnSpc>
                <a:spcAft>
                  <a:spcPct val="20000"/>
                </a:spcAft>
                <a:buFontTx/>
                <a:buChar char="–"/>
              </a:pPr>
              <a:r>
                <a:rPr lang="en-US" altLang="ro-RO" sz="2200" dirty="0" err="1" smtClean="0"/>
                <a:t>Constructorii</a:t>
              </a:r>
              <a:r>
                <a:rPr lang="en-US" altLang="ro-RO" sz="2200" dirty="0" smtClean="0"/>
                <a:t> </a:t>
              </a:r>
              <a:r>
                <a:rPr lang="en-US" altLang="ro-RO" sz="2200" dirty="0" err="1" smtClean="0"/>
                <a:t>clasei</a:t>
              </a:r>
              <a:r>
                <a:rPr lang="en-US" altLang="ro-RO" sz="2200" dirty="0" smtClean="0"/>
                <a:t> </a:t>
              </a:r>
              <a:r>
                <a:rPr lang="en-US" altLang="ro-RO" sz="2200" dirty="0" err="1" smtClean="0"/>
                <a:t>sunt</a:t>
              </a:r>
              <a:r>
                <a:rPr lang="en-US" altLang="ro-RO" sz="2200" dirty="0" smtClean="0"/>
                <a:t> </a:t>
              </a:r>
              <a:r>
                <a:rPr lang="en-US" altLang="ro-RO" sz="2200" dirty="0" err="1" smtClean="0"/>
                <a:t>supraîncărcați</a:t>
              </a:r>
              <a:r>
                <a:rPr lang="en-US" altLang="ro-RO" sz="2200" dirty="0" smtClean="0"/>
                <a:t>.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Apelarea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constructorului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fără</a:t>
              </a:r>
              <a:r>
                <a:rPr lang="en-US" altLang="ro-RO" sz="2200" i="0" dirty="0" smtClean="0"/>
                <a:t> argument </a:t>
              </a:r>
              <a:r>
                <a:rPr lang="en-US" altLang="ro-RO" sz="2200" i="0" dirty="0" err="1" smtClean="0"/>
                <a:t>creează</a:t>
              </a:r>
              <a:r>
                <a:rPr lang="en-US" altLang="ro-RO" sz="2200" i="0" dirty="0" smtClean="0"/>
                <a:t> un </a:t>
              </a:r>
              <a:r>
                <a:rPr lang="ro-RO" altLang="ro-RO" sz="2200" i="0" dirty="0" err="1" smtClean="0"/>
                <a:t>numar</a:t>
              </a:r>
              <a:r>
                <a:rPr lang="ro-RO" altLang="ro-RO" sz="2200" i="0" dirty="0" smtClean="0"/>
                <a:t> </a:t>
              </a:r>
              <a:r>
                <a:rPr lang="en-US" altLang="ro-RO" sz="2200" i="0" dirty="0" err="1" smtClean="0"/>
                <a:t>rațional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inițializat</a:t>
              </a:r>
              <a:r>
                <a:rPr lang="en-US" altLang="ro-RO" sz="2200" i="0" dirty="0" smtClean="0"/>
                <a:t> la 0, </a:t>
              </a:r>
              <a:r>
                <a:rPr lang="en-US" altLang="ro-RO" sz="2200" i="0" dirty="0" err="1" smtClean="0"/>
                <a:t>apelarea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acestuia</a:t>
              </a:r>
              <a:r>
                <a:rPr lang="en-US" altLang="ro-RO" sz="2200" i="0" dirty="0" smtClean="0"/>
                <a:t> cu un argument </a:t>
              </a:r>
              <a:r>
                <a:rPr lang="en-US" altLang="ro-RO" sz="2200" i="0" dirty="0" err="1" smtClean="0"/>
                <a:t>creează</a:t>
              </a:r>
              <a:r>
                <a:rPr lang="en-US" altLang="ro-RO" sz="2200" i="0" dirty="0" smtClean="0"/>
                <a:t> un </a:t>
              </a:r>
              <a:r>
                <a:rPr lang="en-US" altLang="ro-RO" sz="2200" i="0" dirty="0" err="1" smtClean="0"/>
                <a:t>rațional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egal</a:t>
              </a:r>
              <a:r>
                <a:rPr lang="en-US" altLang="ro-RO" sz="2200" i="0" dirty="0" smtClean="0"/>
                <a:t> cu </a:t>
              </a:r>
              <a:r>
                <a:rPr lang="en-US" altLang="ro-RO" sz="2200" i="0" dirty="0" err="1" smtClean="0"/>
                <a:t>acel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număr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întreg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și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apelarea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acestuia</a:t>
              </a:r>
              <a:r>
                <a:rPr lang="en-US" altLang="ro-RO" sz="2200" i="0" dirty="0" smtClean="0"/>
                <a:t> cu </a:t>
              </a:r>
              <a:r>
                <a:rPr lang="en-US" altLang="ro-RO" sz="2200" i="0" dirty="0" err="1" smtClean="0"/>
                <a:t>două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argumente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creează</a:t>
              </a:r>
              <a:r>
                <a:rPr lang="en-US" altLang="ro-RO" sz="2200" i="0" dirty="0" smtClean="0"/>
                <a:t> o </a:t>
              </a:r>
              <a:r>
                <a:rPr lang="en-US" altLang="ro-RO" sz="2200" i="0" dirty="0" err="1" smtClean="0"/>
                <a:t>fracție</a:t>
              </a:r>
              <a:endParaRPr lang="en-US" altLang="ro-RO" sz="2200" i="0" dirty="0"/>
            </a:p>
          </p:txBody>
        </p:sp>
      </p:grpSp>
      <p:sp>
        <p:nvSpPr>
          <p:cNvPr id="716807" name="Rectangle 7"/>
          <p:cNvSpPr>
            <a:spLocks noChangeArrowheads="1"/>
          </p:cNvSpPr>
          <p:nvPr/>
        </p:nvSpPr>
        <p:spPr bwMode="auto">
          <a:xfrm>
            <a:off x="482600" y="3886200"/>
            <a:ext cx="813117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algn="just">
              <a:lnSpc>
                <a:spcPct val="85000"/>
              </a:lnSpc>
              <a:spcAft>
                <a:spcPct val="20000"/>
              </a:spcAft>
              <a:buFontTx/>
              <a:buChar char="–"/>
            </a:pPr>
            <a:r>
              <a:rPr lang="en-US" altLang="ro-RO" sz="2200" dirty="0" err="1" smtClean="0"/>
              <a:t>Constructorul</a:t>
            </a:r>
            <a:r>
              <a:rPr lang="en-US" altLang="ro-RO" sz="2200" dirty="0" smtClean="0"/>
              <a:t> se </a:t>
            </a:r>
            <a:r>
              <a:rPr lang="en-US" altLang="ro-RO" sz="2200" dirty="0" err="1" smtClean="0"/>
              <a:t>asigură</a:t>
            </a:r>
            <a:r>
              <a:rPr lang="en-US" altLang="ro-RO" sz="2200" dirty="0" smtClean="0"/>
              <a:t> </a:t>
            </a:r>
            <a:r>
              <a:rPr lang="en-US" altLang="ro-RO" sz="2200" dirty="0" err="1" smtClean="0"/>
              <a:t>că</a:t>
            </a:r>
            <a:r>
              <a:rPr lang="en-US" altLang="ro-RO" sz="2200" dirty="0" smtClean="0"/>
              <a:t> </a:t>
            </a:r>
            <a:r>
              <a:rPr lang="en-US" altLang="ro-RO" sz="2200" dirty="0" err="1" smtClean="0"/>
              <a:t>numărul</a:t>
            </a:r>
            <a:r>
              <a:rPr lang="en-US" altLang="ro-RO" sz="2200" dirty="0" smtClean="0"/>
              <a:t> </a:t>
            </a:r>
            <a:r>
              <a:rPr lang="en-US" altLang="ro-RO" sz="2200" dirty="0" err="1" smtClean="0"/>
              <a:t>este</a:t>
            </a:r>
            <a:r>
              <a:rPr lang="en-US" altLang="ro-RO" sz="2200" dirty="0" smtClean="0"/>
              <a:t> </a:t>
            </a:r>
            <a:r>
              <a:rPr lang="en-US" altLang="ro-RO" sz="2200" dirty="0" err="1" smtClean="0"/>
              <a:t>redus</a:t>
            </a:r>
            <a:r>
              <a:rPr lang="en-US" altLang="ro-RO" sz="2200" dirty="0" smtClean="0"/>
              <a:t> la </a:t>
            </a:r>
            <a:r>
              <a:rPr lang="en-US" altLang="ro-RO" sz="2200" dirty="0" err="1" smtClean="0"/>
              <a:t>termenii</a:t>
            </a:r>
            <a:r>
              <a:rPr lang="en-US" altLang="ro-RO" sz="2200" dirty="0" smtClean="0"/>
              <a:t> </a:t>
            </a:r>
            <a:r>
              <a:rPr lang="en-US" altLang="ro-RO" sz="2200" dirty="0" err="1" smtClean="0"/>
              <a:t>cei</a:t>
            </a:r>
            <a:r>
              <a:rPr lang="en-US" altLang="ro-RO" sz="2200" dirty="0" smtClean="0"/>
              <a:t> </a:t>
            </a:r>
            <a:r>
              <a:rPr lang="en-US" altLang="ro-RO" sz="2200" dirty="0" err="1" smtClean="0"/>
              <a:t>mai</a:t>
            </a:r>
            <a:r>
              <a:rPr lang="en-US" altLang="ro-RO" sz="2200" dirty="0" smtClean="0"/>
              <a:t> </a:t>
            </a:r>
            <a:r>
              <a:rPr lang="en-US" altLang="ro-RO" sz="2200" dirty="0" err="1" smtClean="0"/>
              <a:t>mici</a:t>
            </a:r>
            <a:r>
              <a:rPr lang="en-US" altLang="ro-RO" sz="2200" dirty="0" smtClean="0"/>
              <a:t>.</a:t>
            </a:r>
            <a:r>
              <a:rPr lang="ro-RO" altLang="ro-RO" sz="2200" dirty="0" smtClean="0"/>
              <a:t> </a:t>
            </a:r>
            <a:r>
              <a:rPr lang="en-US" altLang="ro-RO" sz="2200" i="0" dirty="0" smtClean="0"/>
              <a:t>Mai </a:t>
            </a:r>
            <a:r>
              <a:rPr lang="en-US" altLang="ro-RO" sz="2200" i="0" dirty="0" err="1" smtClean="0"/>
              <a:t>mult</a:t>
            </a:r>
            <a:r>
              <a:rPr lang="en-US" altLang="ro-RO" sz="2200" i="0" dirty="0" smtClean="0"/>
              <a:t>, </a:t>
            </a:r>
            <a:r>
              <a:rPr lang="en-US" altLang="ro-RO" sz="2200" i="0" dirty="0" err="1" smtClean="0"/>
              <a:t>deoarece</a:t>
            </a:r>
            <a:r>
              <a:rPr lang="en-US" altLang="ro-RO" sz="2200" i="0" dirty="0" smtClean="0"/>
              <a:t> </a:t>
            </a:r>
            <a:r>
              <a:rPr lang="en-US" altLang="ro-RO" sz="2200" i="0" dirty="0" err="1" smtClean="0"/>
              <a:t>aceste</a:t>
            </a:r>
            <a:r>
              <a:rPr lang="en-US" altLang="ro-RO" sz="2200" i="0" dirty="0" smtClean="0"/>
              <a:t> </a:t>
            </a:r>
            <a:r>
              <a:rPr lang="en-US" altLang="ro-RO" sz="2200" i="0" dirty="0" err="1" smtClean="0"/>
              <a:t>valori</a:t>
            </a:r>
            <a:r>
              <a:rPr lang="en-US" altLang="ro-RO" sz="2200" i="0" dirty="0" smtClean="0"/>
              <a:t> nu se </a:t>
            </a:r>
            <a:r>
              <a:rPr lang="en-US" altLang="ro-RO" sz="2200" i="0" dirty="0" err="1" smtClean="0"/>
              <a:t>schimbă</a:t>
            </a:r>
            <a:r>
              <a:rPr lang="en-US" altLang="ro-RO" sz="2200" i="0" dirty="0" smtClean="0"/>
              <a:t> </a:t>
            </a:r>
            <a:r>
              <a:rPr lang="en-US" altLang="ro-RO" sz="2200" i="0" dirty="0" err="1" smtClean="0"/>
              <a:t>niciodată</a:t>
            </a:r>
            <a:r>
              <a:rPr lang="en-US" altLang="ro-RO" sz="2200" i="0" dirty="0" smtClean="0"/>
              <a:t> </a:t>
            </a:r>
            <a:r>
              <a:rPr lang="en-US" altLang="ro-RO" sz="2200" i="0" dirty="0" err="1" smtClean="0"/>
              <a:t>odată</a:t>
            </a:r>
            <a:r>
              <a:rPr lang="en-US" altLang="ro-RO" sz="2200" i="0" dirty="0" smtClean="0"/>
              <a:t> cu </a:t>
            </a:r>
            <a:r>
              <a:rPr lang="en-US" altLang="ro-RO" sz="2200" i="0" dirty="0" err="1" smtClean="0"/>
              <a:t>crearea</a:t>
            </a:r>
            <a:r>
              <a:rPr lang="en-US" altLang="ro-RO" sz="2200" i="0" dirty="0" smtClean="0"/>
              <a:t> </a:t>
            </a:r>
            <a:r>
              <a:rPr lang="en-US" altLang="ro-RO" sz="2200" i="0" dirty="0" err="1" smtClean="0"/>
              <a:t>unui</a:t>
            </a:r>
            <a:r>
              <a:rPr lang="en-US" altLang="ro-RO" sz="2200" i="0" dirty="0" smtClean="0"/>
              <a:t> </a:t>
            </a:r>
            <a:r>
              <a:rPr lang="en-US" altLang="ro-RO" sz="2200" i="0" dirty="0" err="1" smtClean="0"/>
              <a:t>nou</a:t>
            </a:r>
            <a:r>
              <a:rPr lang="en-US" altLang="ro-RO" sz="2200" i="0" dirty="0" smtClean="0"/>
              <a:t> </a:t>
            </a:r>
            <a:r>
              <a:rPr lang="en-US" altLang="ro-RO" sz="2200" i="0" dirty="0" err="1" smtClean="0"/>
              <a:t>rațional</a:t>
            </a:r>
            <a:r>
              <a:rPr lang="en-US" altLang="ro-RO" sz="2200" i="0" dirty="0" smtClean="0"/>
              <a:t>, </a:t>
            </a:r>
            <a:r>
              <a:rPr lang="en-US" altLang="ro-RO" sz="2200" i="0" dirty="0" err="1" smtClean="0"/>
              <a:t>această</a:t>
            </a:r>
            <a:r>
              <a:rPr lang="en-US" altLang="ro-RO" sz="2200" i="0" dirty="0" smtClean="0"/>
              <a:t> </a:t>
            </a:r>
            <a:r>
              <a:rPr lang="en-US" altLang="ro-RO" sz="2200" i="0" dirty="0" err="1" smtClean="0"/>
              <a:t>proprietate</a:t>
            </a:r>
            <a:r>
              <a:rPr lang="en-US" altLang="ro-RO" sz="2200" i="0" dirty="0" smtClean="0"/>
              <a:t> </a:t>
            </a:r>
            <a:r>
              <a:rPr lang="en-US" altLang="ro-RO" sz="2200" i="0" dirty="0" err="1" smtClean="0"/>
              <a:t>va</a:t>
            </a:r>
            <a:r>
              <a:rPr lang="en-US" altLang="ro-RO" sz="2200" i="0" dirty="0" smtClean="0"/>
              <a:t> </a:t>
            </a:r>
            <a:r>
              <a:rPr lang="en-US" altLang="ro-RO" sz="2200" i="0" dirty="0" err="1" smtClean="0"/>
              <a:t>rămâne</a:t>
            </a:r>
            <a:r>
              <a:rPr lang="en-US" altLang="ro-RO" sz="2200" i="0" dirty="0" smtClean="0"/>
              <a:t> </a:t>
            </a:r>
            <a:r>
              <a:rPr lang="en-US" altLang="ro-RO" sz="2200" i="0" dirty="0" err="1" smtClean="0"/>
              <a:t>în</a:t>
            </a:r>
            <a:r>
              <a:rPr lang="en-US" altLang="ro-RO" sz="2200" i="0" dirty="0" smtClean="0"/>
              <a:t> </a:t>
            </a:r>
            <a:r>
              <a:rPr lang="en-US" altLang="ro-RO" sz="2200" i="0" dirty="0" err="1" smtClean="0"/>
              <a:t>vigoare</a:t>
            </a:r>
            <a:r>
              <a:rPr lang="en-US" altLang="ro-RO" sz="2200" i="0" dirty="0" smtClean="0"/>
              <a:t>.</a:t>
            </a:r>
            <a:endParaRPr lang="en-US" altLang="ro-RO" sz="2200" i="0" dirty="0"/>
          </a:p>
        </p:txBody>
      </p:sp>
      <p:grpSp>
        <p:nvGrpSpPr>
          <p:cNvPr id="716808" name="Group 8"/>
          <p:cNvGrpSpPr>
            <a:grpSpLocks/>
          </p:cNvGrpSpPr>
          <p:nvPr/>
        </p:nvGrpSpPr>
        <p:grpSpPr bwMode="auto">
          <a:xfrm>
            <a:off x="482600" y="4864100"/>
            <a:ext cx="8131175" cy="1447800"/>
            <a:chOff x="304" y="3064"/>
            <a:chExt cx="5122" cy="912"/>
          </a:xfrm>
        </p:grpSpPr>
        <p:sp>
          <p:nvSpPr>
            <p:cNvPr id="46087" name="Rectangle 9"/>
            <p:cNvSpPr>
              <a:spLocks noChangeArrowheads="1"/>
            </p:cNvSpPr>
            <p:nvPr/>
          </p:nvSpPr>
          <p:spPr bwMode="auto">
            <a:xfrm>
              <a:off x="304" y="3064"/>
              <a:ext cx="5122" cy="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lvl="1" algn="just">
                <a:lnSpc>
                  <a:spcPct val="85000"/>
                </a:lnSpc>
                <a:spcAft>
                  <a:spcPct val="20000"/>
                </a:spcAft>
                <a:buFontTx/>
                <a:buChar char="–"/>
              </a:pPr>
              <a:r>
                <a:rPr lang="en-US" altLang="ro-RO" sz="2200" i="0" dirty="0"/>
                <a:t>O</a:t>
              </a:r>
              <a:r>
                <a:rPr lang="en-US" altLang="ro-RO" sz="2200" dirty="0"/>
                <a:t>perations are specified using the receiver syntax.</a:t>
              </a:r>
              <a:r>
                <a:rPr lang="en-US" altLang="ro-RO" sz="2200" i="0" dirty="0"/>
                <a:t>  When you apply an operator to two </a:t>
              </a:r>
              <a:r>
                <a:rPr lang="en-US" altLang="ro-RO" sz="1800" b="1" i="0" dirty="0">
                  <a:latin typeface="Courier New" panose="02070309020205020404" pitchFamily="49" charset="0"/>
                </a:rPr>
                <a:t>Rational</a:t>
              </a:r>
              <a:r>
                <a:rPr lang="en-US" altLang="ro-RO" sz="2200" i="0" dirty="0"/>
                <a:t> values, one of the operands is the receiver and the other is passed as an argument, as in</a:t>
              </a:r>
            </a:p>
          </p:txBody>
        </p:sp>
        <p:sp>
          <p:nvSpPr>
            <p:cNvPr id="46088" name="Rectangle 10"/>
            <p:cNvSpPr>
              <a:spLocks noChangeArrowheads="1"/>
            </p:cNvSpPr>
            <p:nvPr/>
          </p:nvSpPr>
          <p:spPr bwMode="auto">
            <a:xfrm>
              <a:off x="2388" y="3688"/>
              <a:ext cx="11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2000" b="1" i="0">
                  <a:latin typeface="Courier New" panose="02070309020205020404" pitchFamily="49" charset="0"/>
                </a:rPr>
                <a:t>r1.add(r2)</a:t>
              </a:r>
              <a:r>
                <a:rPr lang="en-US" altLang="ro-RO" sz="2400" i="0"/>
                <a:t>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07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000" dirty="0" err="1" smtClean="0">
                <a:solidFill>
                  <a:srgbClr val="FF0000"/>
                </a:solidFill>
              </a:rPr>
              <a:t>Cuvantul</a:t>
            </a:r>
            <a:r>
              <a:rPr lang="ro-RO" altLang="ro-RO" sz="4000" dirty="0" smtClean="0">
                <a:solidFill>
                  <a:srgbClr val="FF0000"/>
                </a:solidFill>
              </a:rPr>
              <a:t> cheie</a:t>
            </a:r>
            <a:r>
              <a:rPr lang="en-US" altLang="ro-RO" sz="4000" dirty="0" smtClean="0">
                <a:solidFill>
                  <a:srgbClr val="FF0000"/>
                </a:solidFill>
              </a:rPr>
              <a:t> </a:t>
            </a:r>
            <a:r>
              <a:rPr lang="en-US" altLang="ro-RO" sz="36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this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482600" y="1358900"/>
            <a:ext cx="81280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err="1" smtClean="0"/>
              <a:t>Implementarea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clasei</a:t>
            </a:r>
            <a:r>
              <a:rPr lang="en-US" altLang="ro-RO" sz="2400" i="0" dirty="0" smtClean="0"/>
              <a:t> </a:t>
            </a:r>
            <a:r>
              <a:rPr lang="en-US" altLang="ro-RO" sz="2400" b="1" i="0" dirty="0" smtClean="0"/>
              <a:t>Rational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folosește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cuvântul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cheie</a:t>
            </a:r>
            <a:r>
              <a:rPr lang="en-US" altLang="ro-RO" sz="2400" i="0" dirty="0" smtClean="0"/>
              <a:t> Java</a:t>
            </a:r>
            <a:r>
              <a:rPr lang="ro-RO" altLang="ro-RO" sz="2400" i="0" dirty="0" smtClean="0"/>
              <a:t> </a:t>
            </a:r>
            <a:r>
              <a:rPr lang="ro-RO" altLang="ro-RO" sz="2400" b="1" i="0" dirty="0" err="1" smtClean="0"/>
              <a:t>this</a:t>
            </a:r>
            <a:r>
              <a:rPr lang="en-US" altLang="ro-RO" sz="2400" i="0" dirty="0" smtClean="0"/>
              <a:t>, care se </a:t>
            </a:r>
            <a:r>
              <a:rPr lang="en-US" altLang="ro-RO" sz="2400" i="0" dirty="0" err="1" smtClean="0"/>
              <a:t>referă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întotdeauna</a:t>
            </a:r>
            <a:r>
              <a:rPr lang="en-US" altLang="ro-RO" sz="2400" i="0" dirty="0" smtClean="0"/>
              <a:t> la </a:t>
            </a:r>
            <a:r>
              <a:rPr lang="en-US" altLang="ro-RO" sz="2400" i="0" dirty="0" err="1" smtClean="0"/>
              <a:t>obiectul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curent</a:t>
            </a:r>
            <a:r>
              <a:rPr lang="en-US" altLang="ro-RO" sz="2400" i="0" dirty="0" smtClean="0"/>
              <a:t>. Cu </a:t>
            </a:r>
            <a:r>
              <a:rPr lang="en-US" altLang="ro-RO" sz="2400" i="0" dirty="0" err="1" smtClean="0"/>
              <a:t>toate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acestea</a:t>
            </a:r>
            <a:r>
              <a:rPr lang="en-US" altLang="ro-RO" sz="2400" i="0" dirty="0" smtClean="0"/>
              <a:t>, </a:t>
            </a:r>
            <a:r>
              <a:rPr lang="en-US" altLang="ro-RO" sz="2400" i="0" dirty="0" err="1" smtClean="0"/>
              <a:t>codul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îl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folosește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în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două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moduri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distincte</a:t>
            </a:r>
            <a:r>
              <a:rPr lang="en-US" altLang="ro-RO" sz="2400" i="0" dirty="0" smtClean="0"/>
              <a:t> :</a:t>
            </a:r>
            <a:endParaRPr lang="en-US" altLang="ro-RO" sz="2400" i="0" dirty="0"/>
          </a:p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endParaRPr lang="en-US" altLang="ro-RO" sz="2400" i="0" dirty="0"/>
          </a:p>
        </p:txBody>
      </p:sp>
      <p:grpSp>
        <p:nvGrpSpPr>
          <p:cNvPr id="755721" name="Group 9"/>
          <p:cNvGrpSpPr>
            <a:grpSpLocks/>
          </p:cNvGrpSpPr>
          <p:nvPr/>
        </p:nvGrpSpPr>
        <p:grpSpPr bwMode="auto">
          <a:xfrm>
            <a:off x="876300" y="2453027"/>
            <a:ext cx="7734300" cy="955675"/>
            <a:chOff x="552" y="1448"/>
            <a:chExt cx="4872" cy="602"/>
          </a:xfrm>
        </p:grpSpPr>
        <p:sp>
          <p:nvSpPr>
            <p:cNvPr id="48137" name="Text Box 5"/>
            <p:cNvSpPr txBox="1">
              <a:spLocks noChangeArrowheads="1"/>
            </p:cNvSpPr>
            <p:nvPr/>
          </p:nvSpPr>
          <p:spPr bwMode="auto">
            <a:xfrm>
              <a:off x="770" y="1448"/>
              <a:ext cx="4654" cy="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sz="2200" i="0" dirty="0" err="1" smtClean="0"/>
                <a:t>În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primele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două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versiuni</a:t>
              </a:r>
              <a:r>
                <a:rPr lang="en-US" altLang="ro-RO" sz="2200" i="0" dirty="0" smtClean="0"/>
                <a:t> ale </a:t>
              </a:r>
              <a:r>
                <a:rPr lang="en-US" altLang="ro-RO" sz="2200" i="0" dirty="0" err="1" smtClean="0"/>
                <a:t>constructorului</a:t>
              </a:r>
              <a:r>
                <a:rPr lang="en-US" altLang="ro-RO" sz="2200" i="0" dirty="0" smtClean="0"/>
                <a:t>, </a:t>
              </a:r>
              <a:r>
                <a:rPr lang="en-US" altLang="ro-RO" sz="2200" i="0" dirty="0" err="1" smtClean="0"/>
                <a:t>cuvântul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cheie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acesta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este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folosit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pentru</a:t>
              </a:r>
              <a:r>
                <a:rPr lang="en-US" altLang="ro-RO" sz="2200" i="0" dirty="0" smtClean="0"/>
                <a:t> a </a:t>
              </a:r>
              <a:r>
                <a:rPr lang="en-US" altLang="ro-RO" sz="2200" i="0" dirty="0" err="1" smtClean="0"/>
                <a:t>invoca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unul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dintre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ceilalți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constructori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pentru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această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clasă</a:t>
              </a:r>
              <a:r>
                <a:rPr lang="en-US" altLang="ro-RO" sz="2200" i="0" dirty="0" smtClean="0"/>
                <a:t>.</a:t>
              </a:r>
              <a:endParaRPr lang="en-US" altLang="ro-RO" sz="2200" i="0" dirty="0"/>
            </a:p>
          </p:txBody>
        </p:sp>
        <p:sp>
          <p:nvSpPr>
            <p:cNvPr id="48138" name="Text Box 6"/>
            <p:cNvSpPr txBox="1">
              <a:spLocks noChangeArrowheads="1"/>
            </p:cNvSpPr>
            <p:nvPr/>
          </p:nvSpPr>
          <p:spPr bwMode="auto">
            <a:xfrm>
              <a:off x="552" y="1448"/>
              <a:ext cx="288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sz="2200" i="0"/>
                <a:t>1.</a:t>
              </a:r>
            </a:p>
          </p:txBody>
        </p:sp>
      </p:grpSp>
      <p:grpSp>
        <p:nvGrpSpPr>
          <p:cNvPr id="755725" name="Group 13"/>
          <p:cNvGrpSpPr>
            <a:grpSpLocks/>
          </p:cNvGrpSpPr>
          <p:nvPr/>
        </p:nvGrpSpPr>
        <p:grpSpPr bwMode="auto">
          <a:xfrm>
            <a:off x="911537" y="3498850"/>
            <a:ext cx="7734300" cy="1243013"/>
            <a:chOff x="552" y="1448"/>
            <a:chExt cx="4872" cy="783"/>
          </a:xfrm>
        </p:grpSpPr>
        <p:sp>
          <p:nvSpPr>
            <p:cNvPr id="48135" name="Text Box 14"/>
            <p:cNvSpPr txBox="1">
              <a:spLocks noChangeArrowheads="1"/>
            </p:cNvSpPr>
            <p:nvPr/>
          </p:nvSpPr>
          <p:spPr bwMode="auto">
            <a:xfrm>
              <a:off x="770" y="1448"/>
              <a:ext cx="4654" cy="7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sz="2200" i="0" dirty="0" err="1" smtClean="0"/>
                <a:t>În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metodele</a:t>
              </a:r>
              <a:r>
                <a:rPr lang="en-US" altLang="ro-RO" sz="2200" i="0" dirty="0" smtClean="0"/>
                <a:t> care </a:t>
              </a:r>
              <a:r>
                <a:rPr lang="en-US" altLang="ro-RO" sz="2200" i="0" dirty="0" err="1" smtClean="0"/>
                <a:t>implementează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operatorii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aritmetici</a:t>
              </a:r>
              <a:r>
                <a:rPr lang="en-US" altLang="ro-RO" sz="2200" i="0" dirty="0" smtClean="0"/>
                <a:t>, </a:t>
              </a:r>
              <a:r>
                <a:rPr lang="en-US" altLang="ro-RO" sz="2200" i="0" dirty="0" err="1" smtClean="0"/>
                <a:t>aceasta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este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utilizată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pentru</a:t>
              </a:r>
              <a:r>
                <a:rPr lang="en-US" altLang="ro-RO" sz="2200" i="0" dirty="0" smtClean="0"/>
                <a:t> a </a:t>
              </a:r>
              <a:r>
                <a:rPr lang="en-US" altLang="ro-RO" sz="2200" i="0" dirty="0" err="1" smtClean="0"/>
                <a:t>sublinia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faptul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că</a:t>
              </a:r>
              <a:r>
                <a:rPr lang="en-US" altLang="ro-RO" sz="2200" i="0" dirty="0" smtClean="0"/>
                <a:t> un </a:t>
              </a:r>
              <a:r>
                <a:rPr lang="en-US" altLang="ro-RO" sz="2200" i="0" dirty="0" err="1" smtClean="0"/>
                <a:t>câmp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numit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provine</a:t>
              </a:r>
              <a:r>
                <a:rPr lang="en-US" altLang="ro-RO" sz="2200" i="0" dirty="0" smtClean="0"/>
                <a:t> din </a:t>
              </a:r>
              <a:r>
                <a:rPr lang="en-US" altLang="ro-RO" sz="2200" i="0" dirty="0" err="1" smtClean="0"/>
                <a:t>acest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obiect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mai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degrabă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decât</a:t>
              </a:r>
              <a:r>
                <a:rPr lang="en-US" altLang="ro-RO" sz="2200" i="0" dirty="0" smtClean="0"/>
                <a:t> din </a:t>
              </a:r>
              <a:r>
                <a:rPr lang="en-US" altLang="ro-RO" sz="2200" i="0" dirty="0" err="1" smtClean="0"/>
                <a:t>una</a:t>
              </a:r>
              <a:r>
                <a:rPr lang="en-US" altLang="ro-RO" sz="2200" i="0" dirty="0" smtClean="0"/>
                <a:t> din </a:t>
              </a:r>
              <a:r>
                <a:rPr lang="en-US" altLang="ro-RO" sz="2200" i="0" dirty="0" err="1" smtClean="0"/>
                <a:t>celelalte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valori</a:t>
              </a:r>
              <a:r>
                <a:rPr lang="en-US" altLang="ro-RO" sz="2200" i="0" dirty="0" smtClean="0"/>
                <a:t> ale </a:t>
              </a:r>
              <a:r>
                <a:rPr lang="en-US" altLang="ro-RO" sz="2200" i="0" dirty="0" err="1" smtClean="0"/>
                <a:t>acelei</a:t>
              </a:r>
              <a:r>
                <a:rPr lang="en-US" altLang="ro-RO" sz="2200" i="0" dirty="0" smtClean="0"/>
                <a:t> </a:t>
              </a:r>
              <a:r>
                <a:rPr lang="en-US" altLang="ro-RO" sz="2200" i="0" dirty="0" err="1" smtClean="0"/>
                <a:t>clase</a:t>
              </a:r>
              <a:r>
                <a:rPr lang="en-US" altLang="ro-RO" sz="2200" i="0" dirty="0" smtClean="0"/>
                <a:t>.</a:t>
              </a:r>
              <a:endParaRPr lang="en-US" altLang="ro-RO" sz="2200" i="0" dirty="0"/>
            </a:p>
          </p:txBody>
        </p:sp>
        <p:sp>
          <p:nvSpPr>
            <p:cNvPr id="48136" name="Text Box 15"/>
            <p:cNvSpPr txBox="1">
              <a:spLocks noChangeArrowheads="1"/>
            </p:cNvSpPr>
            <p:nvPr/>
          </p:nvSpPr>
          <p:spPr bwMode="auto">
            <a:xfrm>
              <a:off x="552" y="1448"/>
              <a:ext cx="288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sz="2200" i="0"/>
                <a:t>2.</a:t>
              </a:r>
            </a:p>
          </p:txBody>
        </p:sp>
      </p:grpSp>
      <p:sp>
        <p:nvSpPr>
          <p:cNvPr id="755728" name="Rectangle 16"/>
          <p:cNvSpPr>
            <a:spLocks noChangeArrowheads="1"/>
          </p:cNvSpPr>
          <p:nvPr/>
        </p:nvSpPr>
        <p:spPr bwMode="auto">
          <a:xfrm>
            <a:off x="517837" y="4741863"/>
            <a:ext cx="812800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ro-RO" sz="2400" i="0" dirty="0" err="1" smtClean="0"/>
              <a:t>Cuvântul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cheie</a:t>
            </a:r>
            <a:r>
              <a:rPr lang="en-US" altLang="ro-RO" sz="2400" i="0" dirty="0" smtClean="0"/>
              <a:t> </a:t>
            </a:r>
            <a:r>
              <a:rPr lang="ro-RO" altLang="ro-RO" sz="2000" b="1" i="0" dirty="0" err="1">
                <a:latin typeface="Courier New" panose="02070309020205020404" pitchFamily="49" charset="0"/>
              </a:rPr>
              <a:t>this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este</a:t>
            </a:r>
            <a:r>
              <a:rPr lang="en-US" altLang="ro-RO" sz="2400" i="0" dirty="0" smtClean="0"/>
              <a:t> de </a:t>
            </a:r>
            <a:r>
              <a:rPr lang="en-US" altLang="ro-RO" sz="2400" i="0" dirty="0" err="1" smtClean="0"/>
              <a:t>asemenea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folosit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adesea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pentru</a:t>
            </a:r>
            <a:r>
              <a:rPr lang="en-US" altLang="ro-RO" sz="2400" i="0" dirty="0" smtClean="0"/>
              <a:t> a </a:t>
            </a:r>
            <a:r>
              <a:rPr lang="en-US" altLang="ro-RO" sz="2400" i="0" dirty="0" err="1" smtClean="0"/>
              <a:t>distinge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între</a:t>
            </a:r>
            <a:r>
              <a:rPr lang="en-US" altLang="ro-RO" sz="2400" i="0" dirty="0" smtClean="0"/>
              <a:t> o </a:t>
            </a:r>
            <a:r>
              <a:rPr lang="en-US" altLang="ro-RO" sz="2400" i="0" dirty="0" err="1" smtClean="0"/>
              <a:t>variabilă</a:t>
            </a:r>
            <a:r>
              <a:rPr lang="en-US" altLang="ro-RO" sz="2400" i="0" dirty="0" smtClean="0"/>
              <a:t> de </a:t>
            </a:r>
            <a:r>
              <a:rPr lang="en-US" altLang="ro-RO" sz="2400" i="0" dirty="0" err="1" smtClean="0"/>
              <a:t>instanță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și</a:t>
            </a:r>
            <a:r>
              <a:rPr lang="en-US" altLang="ro-RO" sz="2400" i="0" dirty="0" smtClean="0"/>
              <a:t> o </a:t>
            </a:r>
            <a:r>
              <a:rPr lang="en-US" altLang="ro-RO" sz="2400" i="0" dirty="0" err="1" smtClean="0"/>
              <a:t>variabilă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locală</a:t>
            </a:r>
            <a:r>
              <a:rPr lang="en-US" altLang="ro-RO" sz="2400" i="0" dirty="0" smtClean="0"/>
              <a:t> cu </a:t>
            </a:r>
            <a:r>
              <a:rPr lang="en-US" altLang="ro-RO" sz="2400" i="0" dirty="0" err="1" smtClean="0"/>
              <a:t>același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nume</a:t>
            </a:r>
            <a:r>
              <a:rPr lang="en-US" altLang="ro-RO" sz="2400" i="0" dirty="0" smtClean="0"/>
              <a:t>. </a:t>
            </a:r>
            <a:r>
              <a:rPr lang="en-US" altLang="ro-RO" sz="2400" i="0" dirty="0" err="1" smtClean="0"/>
              <a:t>Dacă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includeți</a:t>
            </a:r>
            <a:r>
              <a:rPr lang="en-US" altLang="ro-RO" sz="2400" i="0" dirty="0" smtClean="0"/>
              <a:t> </a:t>
            </a:r>
            <a:r>
              <a:rPr lang="ro-RO" altLang="ro-RO" sz="2400" b="1" i="0" dirty="0" err="1" smtClean="0"/>
              <a:t>this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înainte</a:t>
            </a:r>
            <a:r>
              <a:rPr lang="en-US" altLang="ro-RO" sz="2400" i="0" dirty="0" smtClean="0"/>
              <a:t> de </a:t>
            </a:r>
            <a:r>
              <a:rPr lang="en-US" altLang="ro-RO" sz="2400" i="0" dirty="0" err="1" smtClean="0"/>
              <a:t>numele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variabilei</a:t>
            </a:r>
            <a:r>
              <a:rPr lang="en-US" altLang="ro-RO" sz="2400" i="0" dirty="0" smtClean="0"/>
              <a:t>, </a:t>
            </a:r>
            <a:r>
              <a:rPr lang="en-US" altLang="ro-RO" sz="2400" i="0" dirty="0" err="1" smtClean="0"/>
              <a:t>indicați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compilatorului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că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vrei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să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spui</a:t>
            </a:r>
            <a:r>
              <a:rPr lang="en-US" altLang="ro-RO" sz="2400" i="0" dirty="0" smtClean="0"/>
              <a:t> </a:t>
            </a:r>
            <a:r>
              <a:rPr lang="en-US" altLang="ro-RO" sz="2400" i="0" dirty="0" err="1" smtClean="0"/>
              <a:t>variabila</a:t>
            </a:r>
            <a:r>
              <a:rPr lang="en-US" altLang="ro-RO" sz="2400" i="0" dirty="0" smtClean="0"/>
              <a:t> de </a:t>
            </a:r>
            <a:r>
              <a:rPr lang="en-US" altLang="ro-RO" sz="2400" i="0" dirty="0" err="1" smtClean="0"/>
              <a:t>instanță</a:t>
            </a:r>
            <a:r>
              <a:rPr lang="en-US" altLang="ro-RO" sz="2400" i="0" dirty="0" smtClean="0"/>
              <a:t>.</a:t>
            </a:r>
            <a:endParaRPr lang="en-US" altLang="ro-RO" sz="2400" i="0" dirty="0"/>
          </a:p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endParaRPr lang="en-US" altLang="ro-RO" sz="2400" i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5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5728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398463" y="1295400"/>
            <a:ext cx="835183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*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 Clasa Rational este utilizată pentru numere raționale, </a:t>
            </a:r>
          </a:p>
          <a:p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 * definite ca fiind raportul a două numere întregi.</a:t>
            </a: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public class Rational {</a:t>
            </a:r>
          </a:p>
          <a:p>
            <a:endParaRPr lang="ro-RO" altLang="ro-RO" sz="1600" b="1" i="0" noProof="1"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Creeaza un nou  </a:t>
            </a: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Rational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initializat cu </a:t>
            </a:r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zero.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Rational()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this(0);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endParaRPr lang="ro-RO" altLang="ro-RO" sz="1600" b="1" i="0" noProof="1"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Creaza un rational cu numitor 1.</a:t>
            </a: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n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valoare numarator</a:t>
            </a: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Rational(int n)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this(n, 1);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0" y="0"/>
            <a:ext cx="9131300" cy="1087438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18854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ro-RO" sz="4000">
                <a:solidFill>
                  <a:srgbClr val="FF0000"/>
                </a:solidFill>
              </a:rPr>
              <a:t>The </a:t>
            </a:r>
            <a:r>
              <a:rPr lang="en-US" altLang="ro-RO" sz="3600" b="1">
                <a:solidFill>
                  <a:srgbClr val="FF0000"/>
                </a:solidFill>
                <a:latin typeface="Courier New" panose="02070309020205020404" pitchFamily="49" charset="0"/>
              </a:rPr>
              <a:t>Rational</a:t>
            </a:r>
            <a:r>
              <a:rPr lang="en-US" altLang="ro-RO" sz="4000">
                <a:solidFill>
                  <a:srgbClr val="FF0000"/>
                </a:solidFill>
              </a:rPr>
              <a:t> Class</a:t>
            </a:r>
            <a:endParaRPr lang="en-US" altLang="ro-RO">
              <a:solidFill>
                <a:srgbClr val="FF0000"/>
              </a:solidFill>
            </a:endParaRPr>
          </a:p>
        </p:txBody>
      </p:sp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718856" name="Group 8"/>
          <p:cNvGrpSpPr>
            <a:grpSpLocks/>
          </p:cNvGrpSpPr>
          <p:nvPr/>
        </p:nvGrpSpPr>
        <p:grpSpPr bwMode="auto">
          <a:xfrm>
            <a:off x="304800" y="2743200"/>
            <a:ext cx="8382000" cy="3733800"/>
            <a:chOff x="192" y="1728"/>
            <a:chExt cx="5280" cy="2352"/>
          </a:xfrm>
        </p:grpSpPr>
        <p:sp>
          <p:nvSpPr>
            <p:cNvPr id="50187" name="Rectangle 9"/>
            <p:cNvSpPr>
              <a:spLocks noChangeArrowheads="1"/>
            </p:cNvSpPr>
            <p:nvPr/>
          </p:nvSpPr>
          <p:spPr bwMode="auto">
            <a:xfrm>
              <a:off x="192" y="1728"/>
              <a:ext cx="5280" cy="19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0188" name="AutoShape 10"/>
            <p:cNvSpPr>
              <a:spLocks noChangeArrowheads="1"/>
            </p:cNvSpPr>
            <p:nvPr/>
          </p:nvSpPr>
          <p:spPr bwMode="auto">
            <a:xfrm>
              <a:off x="1152" y="3792"/>
              <a:ext cx="4314" cy="288"/>
            </a:xfrm>
            <a:prstGeom prst="wedgeRectCallout">
              <a:avLst>
                <a:gd name="adj1" fmla="val -29556"/>
                <a:gd name="adj2" fmla="val -96528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50189" name="Rectangle 11"/>
            <p:cNvSpPr>
              <a:spLocks noChangeArrowheads="1"/>
            </p:cNvSpPr>
            <p:nvPr/>
          </p:nvSpPr>
          <p:spPr bwMode="auto">
            <a:xfrm>
              <a:off x="1152" y="3794"/>
              <a:ext cx="4320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/>
                <a:t>These constructors are overloaded so that there is more than one way to create a </a:t>
              </a:r>
              <a:r>
                <a:rPr lang="en-US" altLang="ro-RO" sz="1200" b="1" i="0">
                  <a:latin typeface="Courier New" panose="02070309020205020404" pitchFamily="49" charset="0"/>
                </a:rPr>
                <a:t>Rational</a:t>
              </a:r>
              <a:r>
                <a:rPr lang="en-US" altLang="ro-RO"/>
                <a:t> value.  These two versions invoke the primary constructor by using the keyword </a:t>
              </a:r>
              <a:r>
                <a:rPr lang="en-US" altLang="ro-RO" sz="1200" b="1" i="0">
                  <a:latin typeface="Courier New" panose="02070309020205020404" pitchFamily="49" charset="0"/>
                </a:rPr>
                <a:t>this</a:t>
              </a:r>
              <a:r>
                <a:rPr lang="en-US" altLang="ro-RO"/>
                <a:t>.</a:t>
              </a:r>
            </a:p>
          </p:txBody>
        </p:sp>
      </p:grpSp>
      <p:sp>
        <p:nvSpPr>
          <p:cNvPr id="50185" name="Text Box 1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50186" name="Text Box 13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1 of 5</a:t>
            </a:r>
          </a:p>
        </p:txBody>
      </p:sp>
    </p:spTree>
    <p:extLst>
      <p:ext uri="{BB962C8B-B14F-4D97-AF65-F5344CB8AC3E}">
        <p14:creationId xmlns:p14="http://schemas.microsoft.com/office/powerpoint/2010/main" val="15018721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720899" name="Text Box 3"/>
          <p:cNvSpPr txBox="1">
            <a:spLocks noChangeArrowheads="1"/>
          </p:cNvSpPr>
          <p:nvPr/>
        </p:nvSpPr>
        <p:spPr bwMode="auto">
          <a:xfrm>
            <a:off x="398463" y="1295400"/>
            <a:ext cx="8351837" cy="449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</a:t>
            </a:r>
            <a:r>
              <a:rPr lang="ro-RO" altLang="ro-RO" sz="1600" b="1" i="0" noProof="1" smtClean="0">
                <a:solidFill>
                  <a:srgbClr val="0404FF"/>
                </a:solidFill>
                <a:latin typeface="Courier New" panose="02070309020205020404" pitchFamily="49" charset="0"/>
              </a:rPr>
              <a:t>Clasa Rational este utilizată pentru numere raționale, </a:t>
            </a:r>
            <a:endParaRPr lang="ro-RO" altLang="ro-RO" sz="1600" b="1" i="0" noProof="1">
              <a:solidFill>
                <a:srgbClr val="0404FF"/>
              </a:solidFill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are defined to be the quotient of two integers.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public class Rational {</a:t>
            </a:r>
          </a:p>
          <a:p>
            <a:endParaRPr lang="ro-RO" altLang="ro-RO" sz="1600" b="1" i="0" noProof="1"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 Creates a new Rational initialized to zero.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Rational()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this(0);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endParaRPr lang="ro-RO" altLang="ro-RO" sz="1600" b="1" i="0" noProof="1"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Creates a new Rational from the integer argument.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n The initial value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Rational(int n)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this(n, 1);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</p:txBody>
      </p:sp>
      <p:grpSp>
        <p:nvGrpSpPr>
          <p:cNvPr id="720900" name="Group 4"/>
          <p:cNvGrpSpPr>
            <a:grpSpLocks/>
          </p:cNvGrpSpPr>
          <p:nvPr/>
        </p:nvGrpSpPr>
        <p:grpSpPr bwMode="auto">
          <a:xfrm>
            <a:off x="381000" y="1143000"/>
            <a:ext cx="8382000" cy="5276850"/>
            <a:chOff x="240" y="720"/>
            <a:chExt cx="5280" cy="3324"/>
          </a:xfrm>
        </p:grpSpPr>
        <p:sp>
          <p:nvSpPr>
            <p:cNvPr id="52243" name="Rectangle 5"/>
            <p:cNvSpPr>
              <a:spLocks noChangeArrowheads="1"/>
            </p:cNvSpPr>
            <p:nvPr/>
          </p:nvSpPr>
          <p:spPr bwMode="auto">
            <a:xfrm>
              <a:off x="240" y="720"/>
              <a:ext cx="5280" cy="3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2244" name="Text Box 6"/>
            <p:cNvSpPr txBox="1">
              <a:spLocks noChangeArrowheads="1"/>
            </p:cNvSpPr>
            <p:nvPr/>
          </p:nvSpPr>
          <p:spPr bwMode="auto">
            <a:xfrm>
              <a:off x="251" y="752"/>
              <a:ext cx="5261" cy="3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Creeaza un Rational de valoare  </a:t>
              </a:r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x / y.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@param x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numarator</a:t>
              </a:r>
              <a:endPara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@param y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numitor</a:t>
              </a:r>
              <a:endPara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public Rational(int x, int y)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int g =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cmmdc(Math.abs(x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), Math.abs(y));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num = x / g;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den = Math.abs(y) / g;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if (y &lt; 0) num = -num;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Aduna numarul rational r la acest numar.</a:t>
              </a:r>
              <a:endPara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@param r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numarul care se aduna</a:t>
              </a:r>
              <a:endPara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@return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suma dintre numarul curent si r</a:t>
              </a:r>
              <a:endPara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public Rational add(Rational r)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return new Rational(this.num * r.den + r.num * this.den,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                    this.den * r.den);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</p:txBody>
        </p:sp>
      </p:grpSp>
      <p:sp>
        <p:nvSpPr>
          <p:cNvPr id="52229" name="Rectangle 7"/>
          <p:cNvSpPr>
            <a:spLocks noChangeArrowheads="1"/>
          </p:cNvSpPr>
          <p:nvPr/>
        </p:nvSpPr>
        <p:spPr bwMode="auto">
          <a:xfrm>
            <a:off x="0" y="0"/>
            <a:ext cx="9131300" cy="10890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52230" name="Rectangle 8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20905" name="Rectangle 9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ro-RO" sz="4000">
                <a:solidFill>
                  <a:srgbClr val="FF0000"/>
                </a:solidFill>
              </a:rPr>
              <a:t>The </a:t>
            </a:r>
            <a:r>
              <a:rPr lang="en-US" altLang="ro-RO" sz="3600" b="1">
                <a:solidFill>
                  <a:srgbClr val="FF0000"/>
                </a:solidFill>
                <a:latin typeface="Courier New" panose="02070309020205020404" pitchFamily="49" charset="0"/>
              </a:rPr>
              <a:t>Rational</a:t>
            </a:r>
            <a:r>
              <a:rPr lang="en-US" altLang="ro-RO" sz="4000">
                <a:solidFill>
                  <a:srgbClr val="FF0000"/>
                </a:solidFill>
              </a:rPr>
              <a:t> Class</a:t>
            </a:r>
            <a:endParaRPr lang="en-US" altLang="ro-RO">
              <a:solidFill>
                <a:srgbClr val="FF0000"/>
              </a:solidFill>
            </a:endParaRPr>
          </a:p>
        </p:txBody>
      </p:sp>
      <p:sp>
        <p:nvSpPr>
          <p:cNvPr id="52232" name="Rectangle 10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720907" name="Group 11"/>
          <p:cNvGrpSpPr>
            <a:grpSpLocks/>
          </p:cNvGrpSpPr>
          <p:nvPr/>
        </p:nvGrpSpPr>
        <p:grpSpPr bwMode="auto">
          <a:xfrm>
            <a:off x="406400" y="1143000"/>
            <a:ext cx="8407400" cy="2854325"/>
            <a:chOff x="256" y="720"/>
            <a:chExt cx="5296" cy="1798"/>
          </a:xfrm>
        </p:grpSpPr>
        <p:sp>
          <p:nvSpPr>
            <p:cNvPr id="52240" name="Rectangle 12"/>
            <p:cNvSpPr>
              <a:spLocks noChangeArrowheads="1"/>
            </p:cNvSpPr>
            <p:nvPr/>
          </p:nvSpPr>
          <p:spPr bwMode="auto">
            <a:xfrm>
              <a:off x="256" y="720"/>
              <a:ext cx="3965" cy="179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2241" name="AutoShape 13"/>
            <p:cNvSpPr>
              <a:spLocks noChangeArrowheads="1"/>
            </p:cNvSpPr>
            <p:nvPr/>
          </p:nvSpPr>
          <p:spPr bwMode="auto">
            <a:xfrm>
              <a:off x="4320" y="768"/>
              <a:ext cx="1217" cy="900"/>
            </a:xfrm>
            <a:prstGeom prst="wedgeRectCallout">
              <a:avLst>
                <a:gd name="adj1" fmla="val -57560"/>
                <a:gd name="adj2" fmla="val 50444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52242" name="Rectangle 14"/>
            <p:cNvSpPr>
              <a:spLocks noChangeArrowheads="1"/>
            </p:cNvSpPr>
            <p:nvPr/>
          </p:nvSpPr>
          <p:spPr bwMode="auto">
            <a:xfrm>
              <a:off x="4320" y="788"/>
              <a:ext cx="1232" cy="9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 smtClean="0"/>
                <a:t>Constructorul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primar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creează</a:t>
              </a:r>
              <a:r>
                <a:rPr lang="en-US" altLang="ro-RO" dirty="0" smtClean="0"/>
                <a:t> </a:t>
              </a:r>
              <a:r>
                <a:rPr lang="ro-RO" altLang="ro-RO" dirty="0" smtClean="0"/>
                <a:t>un nou </a:t>
              </a:r>
              <a:r>
                <a:rPr lang="ro-RO" altLang="ro-RO" b="1" i="0" dirty="0" err="1" smtClean="0"/>
                <a:t>Rational</a:t>
              </a:r>
              <a:r>
                <a:rPr lang="en-US" altLang="ro-RO" dirty="0" smtClean="0"/>
                <a:t> </a:t>
              </a:r>
              <a:r>
                <a:rPr lang="ro-RO" altLang="ro-RO" dirty="0" smtClean="0"/>
                <a:t>pornind </a:t>
              </a:r>
              <a:r>
                <a:rPr lang="en-US" altLang="ro-RO" dirty="0" smtClean="0"/>
                <a:t>de la </a:t>
              </a:r>
              <a:r>
                <a:rPr lang="en-US" altLang="ro-RO" dirty="0" err="1" smtClean="0"/>
                <a:t>numărător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și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numitor</a:t>
              </a:r>
              <a:r>
                <a:rPr lang="en-US" altLang="ro-RO" dirty="0" smtClean="0"/>
                <a:t>. </a:t>
              </a:r>
              <a:r>
                <a:rPr lang="en-US" altLang="ro-RO" dirty="0" err="1" smtClean="0"/>
                <a:t>Apelul</a:t>
              </a:r>
              <a:r>
                <a:rPr lang="en-US" altLang="ro-RO" dirty="0" smtClean="0"/>
                <a:t> la </a:t>
              </a:r>
              <a:r>
                <a:rPr lang="en-US" altLang="ro-RO" dirty="0" err="1" smtClean="0"/>
                <a:t>cmmdc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asigură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că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fracția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este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redusă</a:t>
              </a:r>
              <a:r>
                <a:rPr lang="en-US" altLang="ro-RO" dirty="0" smtClean="0"/>
                <a:t> la </a:t>
              </a:r>
              <a:r>
                <a:rPr lang="en-US" altLang="ro-RO" dirty="0" err="1" smtClean="0"/>
                <a:t>termenii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cei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mai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mici</a:t>
              </a:r>
              <a:r>
                <a:rPr lang="en-US" altLang="ro-RO" dirty="0" smtClean="0"/>
                <a:t>.</a:t>
              </a:r>
              <a:endParaRPr lang="en-US" altLang="ro-RO" dirty="0"/>
            </a:p>
          </p:txBody>
        </p:sp>
      </p:grpSp>
      <p:grpSp>
        <p:nvGrpSpPr>
          <p:cNvPr id="720911" name="Group 15"/>
          <p:cNvGrpSpPr>
            <a:grpSpLocks/>
          </p:cNvGrpSpPr>
          <p:nvPr/>
        </p:nvGrpSpPr>
        <p:grpSpPr bwMode="auto">
          <a:xfrm>
            <a:off x="406400" y="2897188"/>
            <a:ext cx="8407400" cy="3543300"/>
            <a:chOff x="256" y="1825"/>
            <a:chExt cx="5296" cy="2232"/>
          </a:xfrm>
        </p:grpSpPr>
        <p:sp>
          <p:nvSpPr>
            <p:cNvPr id="52237" name="Rectangle 16"/>
            <p:cNvSpPr>
              <a:spLocks noChangeArrowheads="1"/>
            </p:cNvSpPr>
            <p:nvPr/>
          </p:nvSpPr>
          <p:spPr bwMode="auto">
            <a:xfrm>
              <a:off x="256" y="2602"/>
              <a:ext cx="4899" cy="145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2238" name="AutoShape 17"/>
            <p:cNvSpPr>
              <a:spLocks noChangeArrowheads="1"/>
            </p:cNvSpPr>
            <p:nvPr/>
          </p:nvSpPr>
          <p:spPr bwMode="auto">
            <a:xfrm>
              <a:off x="4320" y="1825"/>
              <a:ext cx="1217" cy="677"/>
            </a:xfrm>
            <a:prstGeom prst="wedgeRectCallout">
              <a:avLst>
                <a:gd name="adj1" fmla="val -35704"/>
                <a:gd name="adj2" fmla="val 63292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52239" name="Rectangle 18"/>
            <p:cNvSpPr>
              <a:spLocks noChangeArrowheads="1"/>
            </p:cNvSpPr>
            <p:nvPr/>
          </p:nvSpPr>
          <p:spPr bwMode="auto">
            <a:xfrm>
              <a:off x="4320" y="1848"/>
              <a:ext cx="1232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 smtClean="0"/>
                <a:t>Metoda</a:t>
              </a:r>
              <a:r>
                <a:rPr lang="en-US" altLang="ro-RO" dirty="0" smtClean="0"/>
                <a:t> </a:t>
              </a:r>
              <a:r>
                <a:rPr lang="en-US" altLang="ro-RO" b="1" i="0" dirty="0" smtClean="0"/>
                <a:t>add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creează</a:t>
              </a:r>
              <a:r>
                <a:rPr lang="en-US" altLang="ro-RO" dirty="0" smtClean="0"/>
                <a:t> un </a:t>
              </a:r>
              <a:r>
                <a:rPr lang="en-US" altLang="ro-RO" dirty="0" err="1" smtClean="0"/>
                <a:t>nou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obiect</a:t>
              </a:r>
              <a:r>
                <a:rPr lang="en-US" altLang="ro-RO" dirty="0" smtClean="0"/>
                <a:t> Rational </a:t>
              </a:r>
              <a:r>
                <a:rPr lang="en-US" altLang="ro-RO" dirty="0" err="1" smtClean="0"/>
                <a:t>folosind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regula</a:t>
              </a:r>
              <a:r>
                <a:rPr lang="en-US" altLang="ro-RO" dirty="0" smtClean="0"/>
                <a:t> de </a:t>
              </a:r>
              <a:r>
                <a:rPr lang="ro-RO" altLang="ro-RO" dirty="0" smtClean="0"/>
                <a:t>adunare</a:t>
              </a:r>
              <a:r>
                <a:rPr lang="en-US" altLang="ro-RO" dirty="0" smtClean="0"/>
                <a:t>. </a:t>
              </a:r>
              <a:r>
                <a:rPr lang="en-US" altLang="ro-RO" dirty="0" err="1" smtClean="0"/>
                <a:t>Cele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două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valori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raționale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apar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în</a:t>
              </a:r>
              <a:r>
                <a:rPr lang="en-US" altLang="ro-RO" dirty="0" smtClean="0"/>
                <a:t> </a:t>
              </a:r>
              <a:r>
                <a:rPr lang="ro-RO" altLang="ro-RO" b="1" i="0" dirty="0" err="1" smtClean="0"/>
                <a:t>this</a:t>
              </a:r>
              <a:r>
                <a:rPr lang="ro-RO" altLang="ro-RO" dirty="0" smtClean="0"/>
                <a:t> </a:t>
              </a:r>
              <a:r>
                <a:rPr lang="en-US" altLang="ro-RO" dirty="0" err="1" smtClean="0"/>
                <a:t>și</a:t>
              </a:r>
              <a:r>
                <a:rPr lang="en-US" altLang="ro-RO" dirty="0" smtClean="0"/>
                <a:t> </a:t>
              </a:r>
              <a:r>
                <a:rPr lang="en-US" altLang="ro-RO" b="1" i="0" dirty="0" smtClean="0"/>
                <a:t>r</a:t>
              </a:r>
              <a:endParaRPr lang="en-US" altLang="ro-RO" b="1" i="0" dirty="0"/>
            </a:p>
          </p:txBody>
        </p:sp>
      </p:grpSp>
      <p:sp>
        <p:nvSpPr>
          <p:cNvPr id="52235" name="Text Box 19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52236" name="Text Box 20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2 of 5</a:t>
            </a:r>
          </a:p>
        </p:txBody>
      </p:sp>
    </p:spTree>
    <p:extLst>
      <p:ext uri="{BB962C8B-B14F-4D97-AF65-F5344CB8AC3E}">
        <p14:creationId xmlns:p14="http://schemas.microsoft.com/office/powerpoint/2010/main" val="39794337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720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20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20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20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89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722947" name="Text Box 3"/>
          <p:cNvSpPr txBox="1">
            <a:spLocks noChangeArrowheads="1"/>
          </p:cNvSpPr>
          <p:nvPr/>
        </p:nvSpPr>
        <p:spPr bwMode="auto">
          <a:xfrm>
            <a:off x="398463" y="1193800"/>
            <a:ext cx="8351837" cy="522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Creates a new Rational with the value x / y.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x The numerator of the rational number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y The denominator of the rational number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Rational(int x, int y)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int g = </a:t>
            </a:r>
            <a:r>
              <a:rPr lang="ro-RO" altLang="ro-RO" sz="1600" b="1" i="0" noProof="1" smtClean="0">
                <a:latin typeface="Courier New" panose="02070309020205020404" pitchFamily="49" charset="0"/>
              </a:rPr>
              <a:t>cmmdc(Math.abs(x</a:t>
            </a:r>
            <a:r>
              <a:rPr lang="ro-RO" altLang="ro-RO" sz="1600" b="1" i="0" noProof="1">
                <a:latin typeface="Courier New" panose="02070309020205020404" pitchFamily="49" charset="0"/>
              </a:rPr>
              <a:t>), Math.abs(y));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num = x / g;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den = Math.abs(y) / g;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if (y &lt; 0) num = -num;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endParaRPr lang="ro-RO" altLang="ro-RO" sz="1600" b="1" i="0" noProof="1"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Adds the rational number r to this one and returns the sum.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r The rational number to be added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@return The sum of the current number and 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 add(Rational r)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return new Rational(this.num * r.den + r.num * this.den,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                    this.den * r.den);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</p:txBody>
      </p:sp>
      <p:grpSp>
        <p:nvGrpSpPr>
          <p:cNvPr id="722948" name="Group 4"/>
          <p:cNvGrpSpPr>
            <a:grpSpLocks/>
          </p:cNvGrpSpPr>
          <p:nvPr/>
        </p:nvGrpSpPr>
        <p:grpSpPr bwMode="auto">
          <a:xfrm>
            <a:off x="381000" y="1143000"/>
            <a:ext cx="8382000" cy="5257800"/>
            <a:chOff x="240" y="720"/>
            <a:chExt cx="5280" cy="3312"/>
          </a:xfrm>
        </p:grpSpPr>
        <p:sp>
          <p:nvSpPr>
            <p:cNvPr id="54287" name="Rectangle 5"/>
            <p:cNvSpPr>
              <a:spLocks noChangeArrowheads="1"/>
            </p:cNvSpPr>
            <p:nvPr/>
          </p:nvSpPr>
          <p:spPr bwMode="auto">
            <a:xfrm>
              <a:off x="240" y="720"/>
              <a:ext cx="5280" cy="3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4288" name="Text Box 6"/>
            <p:cNvSpPr txBox="1">
              <a:spLocks noChangeArrowheads="1"/>
            </p:cNvSpPr>
            <p:nvPr/>
          </p:nvSpPr>
          <p:spPr bwMode="auto">
            <a:xfrm>
              <a:off x="251" y="752"/>
              <a:ext cx="5261" cy="29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Scade numarul rational r din acest numar.</a:t>
              </a:r>
              <a:endPara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@param r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este numarul care se va scadea</a:t>
              </a:r>
              <a:endPara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@return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rezultatul scaderii</a:t>
              </a:r>
              <a:endPara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public Rational subtract(Rational r)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return new Rational(this.num * r.den - r.num * this.den,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                    this.den * r.den);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Multiplica cu r numarul rational</a:t>
              </a:r>
              <a:endPara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@param r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Numarul pentru inmultire</a:t>
              </a:r>
              <a:endPara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@return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Rezultatul inmultirii</a:t>
              </a:r>
              <a:endPara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public Rational multiply(Rational r)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return new Rational(this.num * r.num, this.den * r.den);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endParaRPr lang="ro-RO" altLang="ro-RO" sz="1600" b="1" i="0" noProof="1">
                <a:latin typeface="Courier New" panose="02070309020205020404" pitchFamily="49" charset="0"/>
              </a:endParaRPr>
            </a:p>
          </p:txBody>
        </p:sp>
      </p:grpSp>
      <p:sp>
        <p:nvSpPr>
          <p:cNvPr id="54277" name="Rectangle 7"/>
          <p:cNvSpPr>
            <a:spLocks noChangeArrowheads="1"/>
          </p:cNvSpPr>
          <p:nvPr/>
        </p:nvSpPr>
        <p:spPr bwMode="auto">
          <a:xfrm>
            <a:off x="0" y="0"/>
            <a:ext cx="9131300" cy="10890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54278" name="Rectangle 8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22953" name="Rectangle 9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ro-RO" sz="4000">
                <a:solidFill>
                  <a:srgbClr val="FF0000"/>
                </a:solidFill>
              </a:rPr>
              <a:t>The </a:t>
            </a:r>
            <a:r>
              <a:rPr lang="en-US" altLang="ro-RO" sz="3600" b="1">
                <a:solidFill>
                  <a:srgbClr val="FF0000"/>
                </a:solidFill>
                <a:latin typeface="Courier New" panose="02070309020205020404" pitchFamily="49" charset="0"/>
              </a:rPr>
              <a:t>Rational</a:t>
            </a:r>
            <a:r>
              <a:rPr lang="en-US" altLang="ro-RO" sz="4000">
                <a:solidFill>
                  <a:srgbClr val="FF0000"/>
                </a:solidFill>
              </a:rPr>
              <a:t> Class</a:t>
            </a:r>
            <a:endParaRPr lang="en-US" altLang="ro-RO">
              <a:solidFill>
                <a:srgbClr val="FF0000"/>
              </a:solidFill>
            </a:endParaRPr>
          </a:p>
        </p:txBody>
      </p:sp>
      <p:sp>
        <p:nvSpPr>
          <p:cNvPr id="54280" name="Rectangle 10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722955" name="Group 11"/>
          <p:cNvGrpSpPr>
            <a:grpSpLocks/>
          </p:cNvGrpSpPr>
          <p:nvPr/>
        </p:nvGrpSpPr>
        <p:grpSpPr bwMode="auto">
          <a:xfrm>
            <a:off x="406400" y="1192213"/>
            <a:ext cx="8382000" cy="5251450"/>
            <a:chOff x="256" y="751"/>
            <a:chExt cx="5280" cy="3308"/>
          </a:xfrm>
        </p:grpSpPr>
        <p:sp>
          <p:nvSpPr>
            <p:cNvPr id="54284" name="Rectangle 12"/>
            <p:cNvSpPr>
              <a:spLocks noChangeArrowheads="1"/>
            </p:cNvSpPr>
            <p:nvPr/>
          </p:nvSpPr>
          <p:spPr bwMode="auto">
            <a:xfrm>
              <a:off x="256" y="751"/>
              <a:ext cx="4899" cy="28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4285" name="AutoShape 13"/>
            <p:cNvSpPr>
              <a:spLocks noChangeArrowheads="1"/>
            </p:cNvSpPr>
            <p:nvPr/>
          </p:nvSpPr>
          <p:spPr bwMode="auto">
            <a:xfrm>
              <a:off x="1034" y="3768"/>
              <a:ext cx="4496" cy="288"/>
            </a:xfrm>
            <a:prstGeom prst="wedgeRectCallout">
              <a:avLst>
                <a:gd name="adj1" fmla="val -31060"/>
                <a:gd name="adj2" fmla="val -96528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54286" name="Rectangle 14"/>
            <p:cNvSpPr>
              <a:spLocks noChangeArrowheads="1"/>
            </p:cNvSpPr>
            <p:nvPr/>
          </p:nvSpPr>
          <p:spPr bwMode="auto">
            <a:xfrm>
              <a:off x="1066" y="3770"/>
              <a:ext cx="4470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 smtClean="0"/>
                <a:t>Aceste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metode</a:t>
              </a:r>
              <a:r>
                <a:rPr lang="en-US" altLang="ro-RO" dirty="0" smtClean="0"/>
                <a:t> (</a:t>
              </a:r>
              <a:r>
                <a:rPr lang="en-US" altLang="ro-RO" dirty="0" err="1" smtClean="0"/>
                <a:t>împreună</a:t>
              </a:r>
              <a:r>
                <a:rPr lang="en-US" altLang="ro-RO" dirty="0" smtClean="0"/>
                <a:t> cu </a:t>
              </a:r>
              <a:r>
                <a:rPr lang="ro-RO" altLang="ro-RO" b="1" i="0" dirty="0" smtClean="0"/>
                <a:t>divide</a:t>
              </a:r>
              <a:r>
                <a:rPr lang="ro-RO" altLang="ro-RO" dirty="0" smtClean="0"/>
                <a:t> </a:t>
              </a:r>
              <a:r>
                <a:rPr lang="en-US" altLang="ro-RO" dirty="0" smtClean="0"/>
                <a:t>din </a:t>
              </a:r>
              <a:r>
                <a:rPr lang="en-US" altLang="ro-RO" dirty="0" err="1" smtClean="0"/>
                <a:t>pagina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următoare</a:t>
              </a:r>
              <a:r>
                <a:rPr lang="en-US" altLang="ro-RO" dirty="0" smtClean="0"/>
                <a:t>) </a:t>
              </a:r>
              <a:r>
                <a:rPr lang="en-US" altLang="ro-RO" dirty="0" err="1" smtClean="0"/>
                <a:t>funcționează</a:t>
              </a:r>
              <a:r>
                <a:rPr lang="en-US" altLang="ro-RO" dirty="0" smtClean="0"/>
                <a:t> la </a:t>
              </a:r>
              <a:r>
                <a:rPr lang="en-US" altLang="ro-RO" dirty="0" err="1" smtClean="0"/>
                <a:t>fel</a:t>
              </a:r>
              <a:r>
                <a:rPr lang="en-US" altLang="ro-RO" dirty="0" smtClean="0"/>
                <a:t> ca </a:t>
              </a:r>
              <a:r>
                <a:rPr lang="en-US" altLang="ro-RO" dirty="0" err="1" smtClean="0"/>
                <a:t>metoda</a:t>
              </a:r>
              <a:r>
                <a:rPr lang="en-US" altLang="ro-RO" dirty="0" smtClean="0"/>
                <a:t> </a:t>
              </a:r>
              <a:r>
                <a:rPr lang="en-US" altLang="ro-RO" b="1" i="0" dirty="0"/>
                <a:t>add</a:t>
              </a:r>
              <a:r>
                <a:rPr lang="en-US" altLang="ro-RO" dirty="0" smtClean="0"/>
                <a:t>, </a:t>
              </a:r>
              <a:r>
                <a:rPr lang="en-US" altLang="ro-RO" dirty="0" err="1" smtClean="0"/>
                <a:t>dar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utilizează</a:t>
              </a:r>
              <a:r>
                <a:rPr lang="en-US" altLang="ro-RO" dirty="0" smtClean="0"/>
                <a:t> o </a:t>
              </a:r>
              <a:r>
                <a:rPr lang="en-US" altLang="ro-RO" dirty="0" err="1" smtClean="0"/>
                <a:t>formulă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diferită</a:t>
              </a:r>
              <a:r>
                <a:rPr lang="en-US" altLang="ro-RO" dirty="0" smtClean="0"/>
                <a:t>. </a:t>
              </a:r>
              <a:r>
                <a:rPr lang="en-US" altLang="ro-RO" dirty="0" err="1" smtClean="0"/>
                <a:t>Rețineți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că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aceste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metode</a:t>
              </a:r>
              <a:r>
                <a:rPr lang="en-US" altLang="ro-RO" dirty="0" smtClean="0"/>
                <a:t> au </a:t>
              </a:r>
              <a:r>
                <a:rPr lang="en-US" altLang="ro-RO" dirty="0" err="1" smtClean="0"/>
                <a:t>acces</a:t>
              </a:r>
              <a:r>
                <a:rPr lang="en-US" altLang="ro-RO" dirty="0" smtClean="0"/>
                <a:t> la </a:t>
              </a:r>
              <a:r>
                <a:rPr lang="en-US" altLang="ro-RO" dirty="0" err="1" smtClean="0"/>
                <a:t>componentele</a:t>
              </a:r>
              <a:r>
                <a:rPr lang="en-US" altLang="ro-RO" dirty="0" smtClean="0"/>
                <a:t> r.</a:t>
              </a:r>
              <a:endParaRPr lang="en-US" altLang="ro-RO" dirty="0"/>
            </a:p>
          </p:txBody>
        </p:sp>
      </p:grpSp>
      <p:sp>
        <p:nvSpPr>
          <p:cNvPr id="54282" name="Text Box 1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54283" name="Text Box 16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3 of 5</a:t>
            </a:r>
          </a:p>
        </p:txBody>
      </p:sp>
    </p:spTree>
    <p:extLst>
      <p:ext uri="{BB962C8B-B14F-4D97-AF65-F5344CB8AC3E}">
        <p14:creationId xmlns:p14="http://schemas.microsoft.com/office/powerpoint/2010/main" val="12690489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722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22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22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22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29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724995" name="Text Box 3"/>
          <p:cNvSpPr txBox="1">
            <a:spLocks noChangeArrowheads="1"/>
          </p:cNvSpPr>
          <p:nvPr/>
        </p:nvSpPr>
        <p:spPr bwMode="auto">
          <a:xfrm>
            <a:off x="398463" y="1193800"/>
            <a:ext cx="8351837" cy="473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Subtracts the rational number r from this one.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r The rational number to be subtracted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@return The result of subtracting r from the current number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 subtract(Rational r)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return new Rational(this.num * r.den - r.num * this.den,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                    this.den * r.den);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endParaRPr lang="ro-RO" altLang="ro-RO" sz="1600" b="1" i="0" noProof="1"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Multiplies this number by the rational number r.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r The rational number used as a multiplier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@return The result of multiplying the current number by 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 multiply(Rational r)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return new Rational(this.num * r.num, this.den * r.den);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endParaRPr lang="ro-RO" altLang="ro-RO" sz="1600" b="1" i="0" noProof="1">
              <a:latin typeface="Courier New" panose="02070309020205020404" pitchFamily="49" charset="0"/>
            </a:endParaRPr>
          </a:p>
        </p:txBody>
      </p:sp>
      <p:grpSp>
        <p:nvGrpSpPr>
          <p:cNvPr id="724996" name="Group 4"/>
          <p:cNvGrpSpPr>
            <a:grpSpLocks/>
          </p:cNvGrpSpPr>
          <p:nvPr/>
        </p:nvGrpSpPr>
        <p:grpSpPr bwMode="auto">
          <a:xfrm>
            <a:off x="381000" y="1143000"/>
            <a:ext cx="8382000" cy="5257800"/>
            <a:chOff x="240" y="720"/>
            <a:chExt cx="5280" cy="3312"/>
          </a:xfrm>
        </p:grpSpPr>
        <p:sp>
          <p:nvSpPr>
            <p:cNvPr id="56335" name="Rectangle 5"/>
            <p:cNvSpPr>
              <a:spLocks noChangeArrowheads="1"/>
            </p:cNvSpPr>
            <p:nvPr/>
          </p:nvSpPr>
          <p:spPr bwMode="auto">
            <a:xfrm>
              <a:off x="240" y="720"/>
              <a:ext cx="5280" cy="3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6336" name="Text Box 6"/>
            <p:cNvSpPr txBox="1">
              <a:spLocks noChangeArrowheads="1"/>
            </p:cNvSpPr>
            <p:nvPr/>
          </p:nvSpPr>
          <p:spPr bwMode="auto">
            <a:xfrm>
              <a:off x="251" y="752"/>
              <a:ext cx="5261" cy="3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imparte numarul rational curent cu r.</a:t>
              </a:r>
              <a:endPara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@param r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numarul utilizat ca divizor</a:t>
              </a:r>
              <a:endPara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@return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rezultatul impartirii cu </a:t>
              </a:r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r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public Rational divide(Rational r)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return new Rational(this.num * r.den, this.den * r.num);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Creeaza o reprezentare ca String.</a:t>
              </a:r>
              <a:endPara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@return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reprezentarea ca String</a:t>
              </a:r>
              <a:endPara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*/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public String toString()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if (den == 1)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   return "" + num;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} else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   return num + "/" + den;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}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</p:txBody>
        </p:sp>
      </p:grpSp>
      <p:sp>
        <p:nvSpPr>
          <p:cNvPr id="56325" name="Rectangle 7"/>
          <p:cNvSpPr>
            <a:spLocks noChangeArrowheads="1"/>
          </p:cNvSpPr>
          <p:nvPr/>
        </p:nvSpPr>
        <p:spPr bwMode="auto">
          <a:xfrm>
            <a:off x="0" y="0"/>
            <a:ext cx="9131300" cy="10890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56326" name="Rectangle 8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25001" name="Rectangle 9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ro-RO" sz="4000">
                <a:solidFill>
                  <a:srgbClr val="FF0000"/>
                </a:solidFill>
              </a:rPr>
              <a:t>The </a:t>
            </a:r>
            <a:r>
              <a:rPr lang="en-US" altLang="ro-RO" sz="3600" b="1">
                <a:solidFill>
                  <a:srgbClr val="FF0000"/>
                </a:solidFill>
                <a:latin typeface="Courier New" panose="02070309020205020404" pitchFamily="49" charset="0"/>
              </a:rPr>
              <a:t>Rational</a:t>
            </a:r>
            <a:r>
              <a:rPr lang="en-US" altLang="ro-RO" sz="4000">
                <a:solidFill>
                  <a:srgbClr val="FF0000"/>
                </a:solidFill>
              </a:rPr>
              <a:t> Class</a:t>
            </a:r>
            <a:endParaRPr lang="en-US" altLang="ro-RO">
              <a:solidFill>
                <a:srgbClr val="FF0000"/>
              </a:solidFill>
            </a:endParaRPr>
          </a:p>
        </p:txBody>
      </p:sp>
      <p:sp>
        <p:nvSpPr>
          <p:cNvPr id="56328" name="Rectangle 10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725003" name="Group 11"/>
          <p:cNvGrpSpPr>
            <a:grpSpLocks/>
          </p:cNvGrpSpPr>
          <p:nvPr/>
        </p:nvGrpSpPr>
        <p:grpSpPr bwMode="auto">
          <a:xfrm>
            <a:off x="714375" y="4408488"/>
            <a:ext cx="7362825" cy="1801812"/>
            <a:chOff x="450" y="2777"/>
            <a:chExt cx="4638" cy="1135"/>
          </a:xfrm>
        </p:grpSpPr>
        <p:sp>
          <p:nvSpPr>
            <p:cNvPr id="56332" name="Rectangle 12"/>
            <p:cNvSpPr>
              <a:spLocks noChangeArrowheads="1"/>
            </p:cNvSpPr>
            <p:nvPr/>
          </p:nvSpPr>
          <p:spPr bwMode="auto">
            <a:xfrm>
              <a:off x="450" y="2777"/>
              <a:ext cx="2369" cy="113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6333" name="AutoShape 13"/>
            <p:cNvSpPr>
              <a:spLocks noChangeArrowheads="1"/>
            </p:cNvSpPr>
            <p:nvPr/>
          </p:nvSpPr>
          <p:spPr bwMode="auto">
            <a:xfrm>
              <a:off x="3312" y="3120"/>
              <a:ext cx="1776" cy="570"/>
            </a:xfrm>
            <a:prstGeom prst="wedgeRectCallout">
              <a:avLst>
                <a:gd name="adj1" fmla="val -77366"/>
                <a:gd name="adj2" fmla="val -60528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56334" name="Rectangle 14"/>
            <p:cNvSpPr>
              <a:spLocks noChangeArrowheads="1"/>
            </p:cNvSpPr>
            <p:nvPr/>
          </p:nvSpPr>
          <p:spPr bwMode="auto">
            <a:xfrm>
              <a:off x="3312" y="3142"/>
              <a:ext cx="1728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 smtClean="0"/>
                <a:t>Această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metodă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convertește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numărul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rațional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în</a:t>
              </a:r>
              <a:r>
                <a:rPr lang="en-US" altLang="ro-RO" dirty="0" smtClean="0"/>
                <a:t> forma </a:t>
              </a:r>
              <a:r>
                <a:rPr lang="ro-RO" altLang="ro-RO" dirty="0" smtClean="0"/>
                <a:t>de </a:t>
              </a:r>
              <a:r>
                <a:rPr lang="en-US" altLang="ro-RO" dirty="0" err="1" smtClean="0"/>
                <a:t>șir</a:t>
              </a:r>
              <a:r>
                <a:rPr lang="en-US" altLang="ro-RO" dirty="0" smtClean="0"/>
                <a:t>. </a:t>
              </a:r>
              <a:r>
                <a:rPr lang="en-US" altLang="ro-RO" dirty="0" err="1" smtClean="0"/>
                <a:t>Dacă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numitorul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este</a:t>
              </a:r>
              <a:r>
                <a:rPr lang="en-US" altLang="ro-RO" dirty="0" smtClean="0"/>
                <a:t> 1, </a:t>
              </a:r>
              <a:r>
                <a:rPr lang="en-US" altLang="ro-RO" dirty="0" err="1" smtClean="0"/>
                <a:t>numărul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este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afișat</a:t>
              </a:r>
              <a:r>
                <a:rPr lang="en-US" altLang="ro-RO" dirty="0" smtClean="0"/>
                <a:t> ca </a:t>
              </a:r>
              <a:r>
                <a:rPr lang="en-US" altLang="ro-RO" dirty="0" err="1" smtClean="0"/>
                <a:t>număr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întreg</a:t>
              </a:r>
              <a:r>
                <a:rPr lang="en-US" altLang="ro-RO" dirty="0" smtClean="0"/>
                <a:t>.</a:t>
              </a:r>
              <a:endParaRPr lang="en-US" altLang="ro-RO" dirty="0"/>
            </a:p>
          </p:txBody>
        </p:sp>
      </p:grpSp>
      <p:sp>
        <p:nvSpPr>
          <p:cNvPr id="56330" name="Text Box 1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56331" name="Text Box 16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4 of 5</a:t>
            </a:r>
          </a:p>
        </p:txBody>
      </p:sp>
    </p:spTree>
    <p:extLst>
      <p:ext uri="{BB962C8B-B14F-4D97-AF65-F5344CB8AC3E}">
        <p14:creationId xmlns:p14="http://schemas.microsoft.com/office/powerpoint/2010/main" val="38415111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724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24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24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24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499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sp>
        <p:nvSpPr>
          <p:cNvPr id="727043" name="Text Box 3"/>
          <p:cNvSpPr txBox="1">
            <a:spLocks noChangeArrowheads="1"/>
          </p:cNvSpPr>
          <p:nvPr/>
        </p:nvSpPr>
        <p:spPr bwMode="auto">
          <a:xfrm>
            <a:off x="398463" y="1193800"/>
            <a:ext cx="8351837" cy="498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Divides this number by the rational number r.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@param r The rational number used as a divisor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@return The result of dividing the current number by 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Rational divide(Rational r)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return new Rational(this.num * r.den, this.den * r.num);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  <a:p>
            <a:endParaRPr lang="ro-RO" altLang="ro-RO" sz="1600" b="1" i="0" noProof="1">
              <a:latin typeface="Courier New" panose="02070309020205020404" pitchFamily="49" charset="0"/>
            </a:endParaRP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/**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Creates a string representation of this rational number.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 @return The string representation of this rational number</a:t>
            </a:r>
          </a:p>
          <a:p>
            <a:r>
              <a: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rPr>
              <a:t> */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public String toString()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if (den == 1)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   return "" + num;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} else {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   return num + "/" + den;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   }</a:t>
            </a:r>
          </a:p>
          <a:p>
            <a:r>
              <a:rPr lang="ro-RO" altLang="ro-RO" sz="1600" b="1" i="0" noProof="1">
                <a:latin typeface="Courier New" panose="02070309020205020404" pitchFamily="49" charset="0"/>
              </a:rPr>
              <a:t>   }</a:t>
            </a:r>
          </a:p>
        </p:txBody>
      </p:sp>
      <p:grpSp>
        <p:nvGrpSpPr>
          <p:cNvPr id="727044" name="Group 4"/>
          <p:cNvGrpSpPr>
            <a:grpSpLocks/>
          </p:cNvGrpSpPr>
          <p:nvPr/>
        </p:nvGrpSpPr>
        <p:grpSpPr bwMode="auto">
          <a:xfrm>
            <a:off x="381000" y="1143000"/>
            <a:ext cx="8382000" cy="5257800"/>
            <a:chOff x="240" y="720"/>
            <a:chExt cx="5280" cy="3312"/>
          </a:xfrm>
        </p:grpSpPr>
        <p:sp>
          <p:nvSpPr>
            <p:cNvPr id="58386" name="Rectangle 5"/>
            <p:cNvSpPr>
              <a:spLocks noChangeArrowheads="1"/>
            </p:cNvSpPr>
            <p:nvPr/>
          </p:nvSpPr>
          <p:spPr bwMode="auto">
            <a:xfrm>
              <a:off x="240" y="720"/>
              <a:ext cx="5280" cy="3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8387" name="Text Box 6"/>
            <p:cNvSpPr txBox="1">
              <a:spLocks noChangeArrowheads="1"/>
            </p:cNvSpPr>
            <p:nvPr/>
          </p:nvSpPr>
          <p:spPr bwMode="auto">
            <a:xfrm>
              <a:off x="251" y="752"/>
              <a:ext cx="5261" cy="3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/**</a:t>
              </a: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 *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Calculeaza cmmdc pe baza algoritmului lui euclid.</a:t>
              </a:r>
            </a:p>
            <a:p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 * @param x primul intreg</a:t>
              </a:r>
            </a:p>
            <a:p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 * @param y al doilea intreg</a:t>
              </a:r>
            </a:p>
            <a:p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 * @returneaza cmmdc al lui x si y </a:t>
              </a:r>
            </a:p>
            <a:p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 </a:t>
              </a:r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*/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private int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cmmdc(int </a:t>
              </a:r>
              <a:r>
                <a:rPr lang="ro-RO" altLang="ro-RO" sz="1600" b="1" i="0" noProof="1">
                  <a:latin typeface="Courier New" panose="02070309020205020404" pitchFamily="49" charset="0"/>
                </a:rPr>
                <a:t>x, int y)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int r = x % y;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while (r != 0) {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   x = y;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   y = r;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   r = x % y;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}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   return y;</a:t>
              </a: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}</a:t>
              </a:r>
            </a:p>
            <a:p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Variabile private de instanta */</a:t>
              </a:r>
              <a:endParaRPr lang="ro-RO" altLang="ro-RO" sz="1600" b="1" i="0" noProof="1">
                <a:solidFill>
                  <a:srgbClr val="0404FF"/>
                </a:solidFill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private int num;    </a:t>
              </a:r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numarator Rational */</a:t>
              </a: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   private int den;    </a:t>
              </a:r>
              <a:r>
                <a:rPr lang="ro-RO" altLang="ro-RO" sz="1600" b="1" i="0" noProof="1">
                  <a:solidFill>
                    <a:srgbClr val="0404FF"/>
                  </a:solidFill>
                  <a:latin typeface="Courier New" panose="02070309020205020404" pitchFamily="49" charset="0"/>
                </a:rPr>
                <a:t>/* </a:t>
              </a:r>
              <a:r>
                <a:rPr lang="ro-RO" altLang="ro-RO" sz="1600" b="1" i="0" noProof="1" smtClean="0">
                  <a:solidFill>
                    <a:srgbClr val="0404FF"/>
                  </a:solidFill>
                  <a:latin typeface="Courier New" panose="02070309020205020404" pitchFamily="49" charset="0"/>
                </a:rPr>
                <a:t>numitor Rational */</a:t>
              </a:r>
              <a:endParaRPr lang="ro-RO" altLang="ro-RO" sz="1600" b="1" i="0" noProof="1">
                <a:latin typeface="Courier New" panose="02070309020205020404" pitchFamily="49" charset="0"/>
              </a:endParaRPr>
            </a:p>
            <a:p>
              <a:endParaRPr lang="ro-RO" altLang="ro-RO" sz="1000" b="1" i="0" noProof="1">
                <a:latin typeface="Courier New" panose="02070309020205020404" pitchFamily="49" charset="0"/>
              </a:endParaRPr>
            </a:p>
            <a:p>
              <a:r>
                <a:rPr lang="ro-RO" altLang="ro-RO" sz="1600" b="1" i="0" noProof="1">
                  <a:latin typeface="Courier New" panose="02070309020205020404" pitchFamily="49" charset="0"/>
                </a:rPr>
                <a:t>}</a:t>
              </a:r>
            </a:p>
          </p:txBody>
        </p:sp>
      </p:grpSp>
      <p:sp>
        <p:nvSpPr>
          <p:cNvPr id="58373" name="Rectangle 7"/>
          <p:cNvSpPr>
            <a:spLocks noChangeArrowheads="1"/>
          </p:cNvSpPr>
          <p:nvPr/>
        </p:nvSpPr>
        <p:spPr bwMode="auto">
          <a:xfrm>
            <a:off x="0" y="0"/>
            <a:ext cx="9131300" cy="10890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58374" name="Rectangle 8"/>
          <p:cNvSpPr>
            <a:spLocks noChangeArrowheads="1"/>
          </p:cNvSpPr>
          <p:nvPr/>
        </p:nvSpPr>
        <p:spPr bwMode="auto">
          <a:xfrm>
            <a:off x="0" y="6567488"/>
            <a:ext cx="9131300" cy="2905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27049" name="Rectangle 9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ro-RO" sz="4000">
                <a:solidFill>
                  <a:srgbClr val="FF0000"/>
                </a:solidFill>
              </a:rPr>
              <a:t>The </a:t>
            </a:r>
            <a:r>
              <a:rPr lang="en-US" altLang="ro-RO" sz="3600" b="1">
                <a:solidFill>
                  <a:srgbClr val="FF0000"/>
                </a:solidFill>
                <a:latin typeface="Courier New" panose="02070309020205020404" pitchFamily="49" charset="0"/>
              </a:rPr>
              <a:t>Rational</a:t>
            </a:r>
            <a:r>
              <a:rPr lang="en-US" altLang="ro-RO" sz="4000">
                <a:solidFill>
                  <a:srgbClr val="FF0000"/>
                </a:solidFill>
              </a:rPr>
              <a:t> Class</a:t>
            </a:r>
            <a:endParaRPr lang="en-US" altLang="ro-RO">
              <a:solidFill>
                <a:srgbClr val="FF0000"/>
              </a:solidFill>
            </a:endParaRPr>
          </a:p>
        </p:txBody>
      </p:sp>
      <p:sp>
        <p:nvSpPr>
          <p:cNvPr id="58376" name="Rectangle 10"/>
          <p:cNvSpPr>
            <a:spLocks noChangeArrowheads="1"/>
          </p:cNvSpPr>
          <p:nvPr/>
        </p:nvSpPr>
        <p:spPr bwMode="auto">
          <a:xfrm>
            <a:off x="304800" y="1076325"/>
            <a:ext cx="8534400" cy="5476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ro-RO" altLang="ro-RO" sz="2400" i="0"/>
          </a:p>
        </p:txBody>
      </p:sp>
      <p:grpSp>
        <p:nvGrpSpPr>
          <p:cNvPr id="727051" name="Group 11"/>
          <p:cNvGrpSpPr>
            <a:grpSpLocks/>
          </p:cNvGrpSpPr>
          <p:nvPr/>
        </p:nvGrpSpPr>
        <p:grpSpPr bwMode="auto">
          <a:xfrm>
            <a:off x="762000" y="2705100"/>
            <a:ext cx="7315200" cy="2247900"/>
            <a:chOff x="480" y="1704"/>
            <a:chExt cx="4608" cy="1416"/>
          </a:xfrm>
        </p:grpSpPr>
        <p:sp>
          <p:nvSpPr>
            <p:cNvPr id="58383" name="Rectangle 12"/>
            <p:cNvSpPr>
              <a:spLocks noChangeArrowheads="1"/>
            </p:cNvSpPr>
            <p:nvPr/>
          </p:nvSpPr>
          <p:spPr bwMode="auto">
            <a:xfrm>
              <a:off x="480" y="1704"/>
              <a:ext cx="2531" cy="1416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8384" name="AutoShape 13"/>
            <p:cNvSpPr>
              <a:spLocks noChangeArrowheads="1"/>
            </p:cNvSpPr>
            <p:nvPr/>
          </p:nvSpPr>
          <p:spPr bwMode="auto">
            <a:xfrm>
              <a:off x="3312" y="2047"/>
              <a:ext cx="1776" cy="555"/>
            </a:xfrm>
            <a:prstGeom prst="wedgeRectCallout">
              <a:avLst>
                <a:gd name="adj1" fmla="val -66667"/>
                <a:gd name="adj2" fmla="val -51259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/>
              <a:endParaRPr lang="ro-RO" altLang="ro-RO"/>
            </a:p>
          </p:txBody>
        </p:sp>
        <p:sp>
          <p:nvSpPr>
            <p:cNvPr id="58385" name="Rectangle 14"/>
            <p:cNvSpPr>
              <a:spLocks noChangeArrowheads="1"/>
            </p:cNvSpPr>
            <p:nvPr/>
          </p:nvSpPr>
          <p:spPr bwMode="auto">
            <a:xfrm>
              <a:off x="3312" y="2069"/>
              <a:ext cx="1759" cy="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err="1" smtClean="0"/>
                <a:t>Metoda</a:t>
              </a:r>
              <a:r>
                <a:rPr lang="en-US" altLang="ro-RO" dirty="0" smtClean="0"/>
                <a:t> </a:t>
              </a:r>
              <a:r>
                <a:rPr lang="en-US" altLang="ro-RO" b="1" i="0" dirty="0" err="1" smtClean="0"/>
                <a:t>cmmdc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este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declarată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privată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deoarece</a:t>
              </a:r>
              <a:r>
                <a:rPr lang="en-US" altLang="ro-RO" dirty="0" smtClean="0"/>
                <a:t> face parte din </a:t>
              </a:r>
              <a:r>
                <a:rPr lang="en-US" altLang="ro-RO" dirty="0" err="1" smtClean="0"/>
                <a:t>implementarea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acestei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clase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și</a:t>
              </a:r>
              <a:r>
                <a:rPr lang="en-US" altLang="ro-RO" dirty="0" smtClean="0"/>
                <a:t> nu </a:t>
              </a:r>
              <a:r>
                <a:rPr lang="en-US" altLang="ro-RO" dirty="0" err="1" smtClean="0"/>
                <a:t>este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folosită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niciodată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în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afara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acesteia</a:t>
              </a:r>
              <a:r>
                <a:rPr lang="en-US" altLang="ro-RO" dirty="0" smtClean="0"/>
                <a:t>.</a:t>
              </a:r>
              <a:endParaRPr lang="en-US" altLang="ro-RO" dirty="0"/>
            </a:p>
          </p:txBody>
        </p:sp>
      </p:grpSp>
      <p:grpSp>
        <p:nvGrpSpPr>
          <p:cNvPr id="727055" name="Group 15"/>
          <p:cNvGrpSpPr>
            <a:grpSpLocks/>
          </p:cNvGrpSpPr>
          <p:nvPr/>
        </p:nvGrpSpPr>
        <p:grpSpPr bwMode="auto">
          <a:xfrm>
            <a:off x="406400" y="5105400"/>
            <a:ext cx="7670800" cy="1371600"/>
            <a:chOff x="256" y="3216"/>
            <a:chExt cx="4832" cy="864"/>
          </a:xfrm>
        </p:grpSpPr>
        <p:sp>
          <p:nvSpPr>
            <p:cNvPr id="58381" name="Rectangle 16"/>
            <p:cNvSpPr>
              <a:spLocks noChangeArrowheads="1"/>
            </p:cNvSpPr>
            <p:nvPr/>
          </p:nvSpPr>
          <p:spPr bwMode="auto">
            <a:xfrm>
              <a:off x="256" y="3216"/>
              <a:ext cx="4832" cy="5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58382" name="AutoShape 17"/>
            <p:cNvSpPr>
              <a:spLocks noChangeArrowheads="1"/>
            </p:cNvSpPr>
            <p:nvPr/>
          </p:nvSpPr>
          <p:spPr bwMode="auto">
            <a:xfrm>
              <a:off x="1512" y="3888"/>
              <a:ext cx="2736" cy="192"/>
            </a:xfrm>
            <a:prstGeom prst="wedgeRectCallout">
              <a:avLst>
                <a:gd name="adj1" fmla="val -43347"/>
                <a:gd name="adj2" fmla="val -123958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</a:pPr>
              <a:r>
                <a:rPr lang="en-US" altLang="ro-RO" dirty="0" smtClean="0"/>
                <a:t>Ca </a:t>
              </a:r>
              <a:r>
                <a:rPr lang="en-US" altLang="ro-RO" dirty="0" err="1" smtClean="0"/>
                <a:t>întotdeauna</a:t>
              </a:r>
              <a:r>
                <a:rPr lang="en-US" altLang="ro-RO" dirty="0" smtClean="0"/>
                <a:t>, </a:t>
              </a:r>
              <a:r>
                <a:rPr lang="en-US" altLang="ro-RO" dirty="0" err="1" smtClean="0"/>
                <a:t>variabilele</a:t>
              </a:r>
              <a:r>
                <a:rPr lang="en-US" altLang="ro-RO" dirty="0" smtClean="0"/>
                <a:t> de </a:t>
              </a:r>
              <a:r>
                <a:rPr lang="en-US" altLang="ro-RO" dirty="0" err="1" smtClean="0"/>
                <a:t>instanță</a:t>
              </a:r>
              <a:r>
                <a:rPr lang="en-US" altLang="ro-RO" dirty="0" smtClean="0"/>
                <a:t> </a:t>
              </a:r>
              <a:r>
                <a:rPr lang="en-US" altLang="ro-RO" dirty="0" err="1" smtClean="0"/>
                <a:t>sunt</a:t>
              </a:r>
              <a:r>
                <a:rPr lang="en-US" altLang="ro-RO" dirty="0" smtClean="0"/>
                <a:t> private </a:t>
              </a:r>
              <a:endParaRPr lang="en-US" altLang="ro-RO" dirty="0"/>
            </a:p>
          </p:txBody>
        </p:sp>
      </p:grpSp>
      <p:sp>
        <p:nvSpPr>
          <p:cNvPr id="58379" name="Text Box 1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267700" y="6553200"/>
            <a:ext cx="723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code</a:t>
            </a:r>
          </a:p>
        </p:txBody>
      </p:sp>
      <p:sp>
        <p:nvSpPr>
          <p:cNvPr id="58380" name="Text Box 19"/>
          <p:cNvSpPr txBox="1">
            <a:spLocks noChangeArrowheads="1"/>
          </p:cNvSpPr>
          <p:nvPr/>
        </p:nvSpPr>
        <p:spPr bwMode="auto">
          <a:xfrm>
            <a:off x="304800" y="6550025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page 5 of 5</a:t>
            </a:r>
          </a:p>
        </p:txBody>
      </p:sp>
    </p:spTree>
    <p:extLst>
      <p:ext uri="{BB962C8B-B14F-4D97-AF65-F5344CB8AC3E}">
        <p14:creationId xmlns:p14="http://schemas.microsoft.com/office/powerpoint/2010/main" val="20377477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727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27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ro-RO" sz="4000" dirty="0" err="1">
                <a:solidFill>
                  <a:srgbClr val="FF0000"/>
                </a:solidFill>
              </a:rPr>
              <a:t>Simularea</a:t>
            </a:r>
            <a:r>
              <a:rPr lang="en-US" altLang="ro-RO" sz="4000" dirty="0">
                <a:solidFill>
                  <a:srgbClr val="FF0000"/>
                </a:solidFill>
              </a:rPr>
              <a:t> </a:t>
            </a:r>
            <a:r>
              <a:rPr lang="en-US" altLang="ro-RO" sz="4000" dirty="0" err="1">
                <a:solidFill>
                  <a:srgbClr val="FF0000"/>
                </a:solidFill>
              </a:rPr>
              <a:t>calculului</a:t>
            </a:r>
            <a:r>
              <a:rPr lang="en-US" altLang="ro-RO" sz="4000" dirty="0">
                <a:solidFill>
                  <a:srgbClr val="FF0000"/>
                </a:solidFill>
              </a:rPr>
              <a:t> </a:t>
            </a:r>
            <a:r>
              <a:rPr lang="en-US" altLang="ro-RO" sz="4000" dirty="0" err="1">
                <a:solidFill>
                  <a:srgbClr val="FF0000"/>
                </a:solidFill>
              </a:rPr>
              <a:t>rațional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482600" y="1155700"/>
            <a:ext cx="8128000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ro-RO" altLang="ro-RO" sz="2400" i="0" dirty="0" smtClean="0"/>
              <a:t>In continuare se arata modul de calcul al sumei</a:t>
            </a:r>
            <a:r>
              <a:rPr lang="en-US" altLang="ro-RO" sz="2400" i="0" dirty="0" smtClean="0"/>
              <a:t>. </a:t>
            </a:r>
            <a:endParaRPr lang="en-US" altLang="ro-RO" sz="2400" i="0" dirty="0"/>
          </a:p>
        </p:txBody>
      </p:sp>
      <p:grpSp>
        <p:nvGrpSpPr>
          <p:cNvPr id="60420" name="Group 4"/>
          <p:cNvGrpSpPr>
            <a:grpSpLocks/>
          </p:cNvGrpSpPr>
          <p:nvPr/>
        </p:nvGrpSpPr>
        <p:grpSpPr bwMode="auto">
          <a:xfrm>
            <a:off x="3352800" y="1981200"/>
            <a:ext cx="485775" cy="869950"/>
            <a:chOff x="2112" y="1612"/>
            <a:chExt cx="306" cy="548"/>
          </a:xfrm>
        </p:grpSpPr>
        <p:sp>
          <p:nvSpPr>
            <p:cNvPr id="60437" name="Rectangle 5"/>
            <p:cNvSpPr>
              <a:spLocks noChangeArrowheads="1"/>
            </p:cNvSpPr>
            <p:nvPr/>
          </p:nvSpPr>
          <p:spPr bwMode="auto">
            <a:xfrm>
              <a:off x="2160" y="16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2400" i="0"/>
                <a:t>1</a:t>
              </a:r>
            </a:p>
          </p:txBody>
        </p:sp>
        <p:sp>
          <p:nvSpPr>
            <p:cNvPr id="60438" name="Rectangle 6"/>
            <p:cNvSpPr>
              <a:spLocks noChangeArrowheads="1"/>
            </p:cNvSpPr>
            <p:nvPr/>
          </p:nvSpPr>
          <p:spPr bwMode="auto">
            <a:xfrm>
              <a:off x="2160" y="18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2400" i="0"/>
                <a:t>2</a:t>
              </a:r>
            </a:p>
          </p:txBody>
        </p:sp>
        <p:sp>
          <p:nvSpPr>
            <p:cNvPr id="60439" name="Line 7"/>
            <p:cNvSpPr>
              <a:spLocks noChangeShapeType="1"/>
            </p:cNvSpPr>
            <p:nvPr/>
          </p:nvSpPr>
          <p:spPr bwMode="auto">
            <a:xfrm>
              <a:off x="2112" y="1872"/>
              <a:ext cx="3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</p:grpSp>
      <p:grpSp>
        <p:nvGrpSpPr>
          <p:cNvPr id="60421" name="Group 8"/>
          <p:cNvGrpSpPr>
            <a:grpSpLocks/>
          </p:cNvGrpSpPr>
          <p:nvPr/>
        </p:nvGrpSpPr>
        <p:grpSpPr bwMode="auto">
          <a:xfrm>
            <a:off x="4391025" y="1981200"/>
            <a:ext cx="485775" cy="869950"/>
            <a:chOff x="2766" y="1616"/>
            <a:chExt cx="306" cy="548"/>
          </a:xfrm>
        </p:grpSpPr>
        <p:sp>
          <p:nvSpPr>
            <p:cNvPr id="60434" name="Rectangle 9"/>
            <p:cNvSpPr>
              <a:spLocks noChangeArrowheads="1"/>
            </p:cNvSpPr>
            <p:nvPr/>
          </p:nvSpPr>
          <p:spPr bwMode="auto">
            <a:xfrm>
              <a:off x="2814" y="161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2400" i="0"/>
                <a:t>1</a:t>
              </a:r>
            </a:p>
          </p:txBody>
        </p:sp>
        <p:sp>
          <p:nvSpPr>
            <p:cNvPr id="60435" name="Rectangle 10"/>
            <p:cNvSpPr>
              <a:spLocks noChangeArrowheads="1"/>
            </p:cNvSpPr>
            <p:nvPr/>
          </p:nvSpPr>
          <p:spPr bwMode="auto">
            <a:xfrm>
              <a:off x="2814" y="18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2400" i="0"/>
                <a:t>3</a:t>
              </a:r>
            </a:p>
          </p:txBody>
        </p:sp>
        <p:sp>
          <p:nvSpPr>
            <p:cNvPr id="60436" name="Line 11"/>
            <p:cNvSpPr>
              <a:spLocks noChangeShapeType="1"/>
            </p:cNvSpPr>
            <p:nvPr/>
          </p:nvSpPr>
          <p:spPr bwMode="auto">
            <a:xfrm>
              <a:off x="2766" y="1876"/>
              <a:ext cx="3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</p:grpSp>
      <p:grpSp>
        <p:nvGrpSpPr>
          <p:cNvPr id="60422" name="Group 12"/>
          <p:cNvGrpSpPr>
            <a:grpSpLocks/>
          </p:cNvGrpSpPr>
          <p:nvPr/>
        </p:nvGrpSpPr>
        <p:grpSpPr bwMode="auto">
          <a:xfrm>
            <a:off x="5429250" y="1981200"/>
            <a:ext cx="485775" cy="869950"/>
            <a:chOff x="3420" y="1620"/>
            <a:chExt cx="306" cy="548"/>
          </a:xfrm>
        </p:grpSpPr>
        <p:sp>
          <p:nvSpPr>
            <p:cNvPr id="60431" name="Rectangle 13"/>
            <p:cNvSpPr>
              <a:spLocks noChangeArrowheads="1"/>
            </p:cNvSpPr>
            <p:nvPr/>
          </p:nvSpPr>
          <p:spPr bwMode="auto">
            <a:xfrm>
              <a:off x="3468" y="162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2400" i="0"/>
                <a:t>1</a:t>
              </a:r>
            </a:p>
          </p:txBody>
        </p:sp>
        <p:sp>
          <p:nvSpPr>
            <p:cNvPr id="60432" name="Rectangle 14"/>
            <p:cNvSpPr>
              <a:spLocks noChangeArrowheads="1"/>
            </p:cNvSpPr>
            <p:nvPr/>
          </p:nvSpPr>
          <p:spPr bwMode="auto">
            <a:xfrm>
              <a:off x="3468" y="18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2400" i="0"/>
                <a:t>6</a:t>
              </a:r>
            </a:p>
          </p:txBody>
        </p:sp>
        <p:sp>
          <p:nvSpPr>
            <p:cNvPr id="60433" name="Line 15"/>
            <p:cNvSpPr>
              <a:spLocks noChangeShapeType="1"/>
            </p:cNvSpPr>
            <p:nvPr/>
          </p:nvSpPr>
          <p:spPr bwMode="auto">
            <a:xfrm>
              <a:off x="3420" y="1880"/>
              <a:ext cx="3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</p:grpSp>
      <p:sp>
        <p:nvSpPr>
          <p:cNvPr id="60423" name="Rectangle 16"/>
          <p:cNvSpPr>
            <a:spLocks noChangeArrowheads="1"/>
          </p:cNvSpPr>
          <p:nvPr/>
        </p:nvSpPr>
        <p:spPr bwMode="auto">
          <a:xfrm>
            <a:off x="3949700" y="2178050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ro-RO" sz="2400" i="0"/>
              <a:t>+</a:t>
            </a:r>
          </a:p>
        </p:txBody>
      </p:sp>
      <p:sp>
        <p:nvSpPr>
          <p:cNvPr id="60424" name="Rectangle 17"/>
          <p:cNvSpPr>
            <a:spLocks noChangeArrowheads="1"/>
          </p:cNvSpPr>
          <p:nvPr/>
        </p:nvSpPr>
        <p:spPr bwMode="auto">
          <a:xfrm>
            <a:off x="4978400" y="2178050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ro-RO" sz="2400" i="0"/>
              <a:t>+</a:t>
            </a:r>
          </a:p>
        </p:txBody>
      </p:sp>
      <p:grpSp>
        <p:nvGrpSpPr>
          <p:cNvPr id="729106" name="Group 18"/>
          <p:cNvGrpSpPr>
            <a:grpSpLocks/>
          </p:cNvGrpSpPr>
          <p:nvPr/>
        </p:nvGrpSpPr>
        <p:grpSpPr bwMode="auto">
          <a:xfrm>
            <a:off x="482600" y="2971800"/>
            <a:ext cx="8131175" cy="2709863"/>
            <a:chOff x="304" y="1872"/>
            <a:chExt cx="5122" cy="1707"/>
          </a:xfrm>
        </p:grpSpPr>
        <p:sp>
          <p:nvSpPr>
            <p:cNvPr id="60426" name="Rectangle 19"/>
            <p:cNvSpPr>
              <a:spLocks noChangeArrowheads="1"/>
            </p:cNvSpPr>
            <p:nvPr/>
          </p:nvSpPr>
          <p:spPr bwMode="auto">
            <a:xfrm>
              <a:off x="304" y="1872"/>
              <a:ext cx="512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85000"/>
                </a:lnSpc>
                <a:spcAft>
                  <a:spcPct val="20000"/>
                </a:spcAft>
                <a:buFontTx/>
                <a:buChar char="•"/>
              </a:pPr>
              <a:r>
                <a:rPr lang="en-US" altLang="ro-RO" sz="2400" i="0" dirty="0" smtClean="0"/>
                <a:t>Cu </a:t>
              </a:r>
              <a:r>
                <a:rPr lang="en-US" altLang="ro-RO" sz="2400" i="0" dirty="0" err="1" smtClean="0"/>
                <a:t>aritmetica</a:t>
              </a:r>
              <a:r>
                <a:rPr lang="en-US" altLang="ro-RO" sz="2400" i="0" dirty="0" smtClean="0"/>
                <a:t> </a:t>
              </a:r>
              <a:r>
                <a:rPr lang="en-US" altLang="ro-RO" sz="2400" i="0" dirty="0" err="1" smtClean="0"/>
                <a:t>rațională</a:t>
              </a:r>
              <a:r>
                <a:rPr lang="en-US" altLang="ro-RO" sz="2400" i="0" dirty="0" smtClean="0"/>
                <a:t>, </a:t>
              </a:r>
              <a:r>
                <a:rPr lang="en-US" altLang="ro-RO" sz="2400" i="0" dirty="0" err="1" smtClean="0"/>
                <a:t>calculul</a:t>
              </a:r>
              <a:r>
                <a:rPr lang="en-US" altLang="ro-RO" sz="2400" i="0" dirty="0" smtClean="0"/>
                <a:t> </a:t>
              </a:r>
              <a:r>
                <a:rPr lang="en-US" altLang="ro-RO" sz="2400" i="0" dirty="0" err="1" smtClean="0"/>
                <a:t>este</a:t>
              </a:r>
              <a:r>
                <a:rPr lang="en-US" altLang="ro-RO" sz="2400" i="0" dirty="0" smtClean="0"/>
                <a:t> exact. </a:t>
              </a:r>
              <a:r>
                <a:rPr lang="en-US" altLang="ro-RO" sz="2400" i="0" dirty="0" err="1" smtClean="0"/>
                <a:t>Dacă</a:t>
              </a:r>
              <a:r>
                <a:rPr lang="en-US" altLang="ro-RO" sz="2400" i="0" dirty="0" smtClean="0"/>
                <a:t> </a:t>
              </a:r>
              <a:r>
                <a:rPr lang="en-US" altLang="ro-RO" sz="2400" i="0" dirty="0" err="1" smtClean="0"/>
                <a:t>scrieți</a:t>
              </a:r>
              <a:r>
                <a:rPr lang="en-US" altLang="ro-RO" sz="2400" i="0" dirty="0" smtClean="0"/>
                <a:t> </a:t>
              </a:r>
              <a:r>
                <a:rPr lang="en-US" altLang="ro-RO" sz="2400" i="0" dirty="0" err="1" smtClean="0"/>
                <a:t>același</a:t>
              </a:r>
              <a:r>
                <a:rPr lang="en-US" altLang="ro-RO" sz="2400" i="0" dirty="0" smtClean="0"/>
                <a:t> program </a:t>
              </a:r>
              <a:r>
                <a:rPr lang="en-US" altLang="ro-RO" sz="2400" i="0" dirty="0" err="1" smtClean="0"/>
                <a:t>folosind</a:t>
              </a:r>
              <a:r>
                <a:rPr lang="en-US" altLang="ro-RO" sz="2400" i="0" dirty="0" smtClean="0"/>
                <a:t> </a:t>
              </a:r>
              <a:r>
                <a:rPr lang="en-US" altLang="ro-RO" sz="2400" i="0" dirty="0" err="1" smtClean="0"/>
                <a:t>variabile</a:t>
              </a:r>
              <a:r>
                <a:rPr lang="en-US" altLang="ro-RO" sz="2400" i="0" dirty="0" smtClean="0"/>
                <a:t> de tip </a:t>
              </a:r>
              <a:r>
                <a:rPr lang="en-US" altLang="ro-RO" sz="2400" b="1" i="0" dirty="0" smtClean="0"/>
                <a:t>double</a:t>
              </a:r>
              <a:r>
                <a:rPr lang="en-US" altLang="ro-RO" sz="2400" i="0" dirty="0" smtClean="0"/>
                <a:t>, </a:t>
              </a:r>
              <a:r>
                <a:rPr lang="en-US" altLang="ro-RO" sz="2400" i="0" dirty="0" err="1" smtClean="0"/>
                <a:t>rezultatul</a:t>
              </a:r>
              <a:r>
                <a:rPr lang="en-US" altLang="ro-RO" sz="2400" i="0" dirty="0" smtClean="0"/>
                <a:t> </a:t>
              </a:r>
              <a:r>
                <a:rPr lang="en-US" altLang="ro-RO" sz="2400" i="0" dirty="0" err="1" smtClean="0"/>
                <a:t>arată</a:t>
              </a:r>
              <a:r>
                <a:rPr lang="en-US" altLang="ro-RO" sz="2400" i="0" dirty="0" smtClean="0"/>
                <a:t> </a:t>
              </a:r>
              <a:r>
                <a:rPr lang="en-US" altLang="ro-RO" sz="2400" i="0" dirty="0" err="1" smtClean="0"/>
                <a:t>astfel</a:t>
              </a:r>
              <a:r>
                <a:rPr lang="en-US" altLang="ro-RO" sz="2400" i="0" dirty="0" smtClean="0"/>
                <a:t>:</a:t>
              </a:r>
              <a:endParaRPr lang="en-US" altLang="ro-RO" sz="2400" i="0" dirty="0"/>
            </a:p>
          </p:txBody>
        </p:sp>
        <p:grpSp>
          <p:nvGrpSpPr>
            <p:cNvPr id="60427" name="Group 20"/>
            <p:cNvGrpSpPr>
              <a:grpSpLocks/>
            </p:cNvGrpSpPr>
            <p:nvPr/>
          </p:nvGrpSpPr>
          <p:grpSpPr bwMode="auto">
            <a:xfrm>
              <a:off x="1178" y="2544"/>
              <a:ext cx="3403" cy="1035"/>
              <a:chOff x="1178" y="2960"/>
              <a:chExt cx="3403" cy="1035"/>
            </a:xfrm>
          </p:grpSpPr>
          <p:pic>
            <p:nvPicPr>
              <p:cNvPr id="60429" name="Picture 21" descr="Console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8" y="2976"/>
                <a:ext cx="3403" cy="10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430" name="Text Box 22"/>
              <p:cNvSpPr txBox="1">
                <a:spLocks noChangeArrowheads="1"/>
              </p:cNvSpPr>
              <p:nvPr/>
            </p:nvSpPr>
            <p:spPr bwMode="auto">
              <a:xfrm>
                <a:off x="1200" y="2960"/>
                <a:ext cx="336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ro-RO" sz="1000" b="1" i="0">
                    <a:solidFill>
                      <a:srgbClr val="333333"/>
                    </a:solidFill>
                    <a:latin typeface="Helvetica" panose="020B0504020202030204" pitchFamily="34" charset="0"/>
                  </a:rPr>
                  <a:t>RoundoffExample</a:t>
                </a:r>
                <a:endParaRPr lang="en-US" altLang="ro-RO" sz="1000" i="0">
                  <a:solidFill>
                    <a:srgbClr val="333333"/>
                  </a:solidFill>
                  <a:latin typeface="Charcoal CY" pitchFamily="84" charset="-52"/>
                </a:endParaRPr>
              </a:p>
            </p:txBody>
          </p:sp>
        </p:grpSp>
        <p:sp>
          <p:nvSpPr>
            <p:cNvPr id="60428" name="Text Box 23"/>
            <p:cNvSpPr txBox="1">
              <a:spLocks noChangeArrowheads="1"/>
            </p:cNvSpPr>
            <p:nvPr/>
          </p:nvSpPr>
          <p:spPr bwMode="auto">
            <a:xfrm>
              <a:off x="1188" y="2680"/>
              <a:ext cx="332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1.0/2.0 + 1.0/3.0 + 1.0/6.0 = 0.999999999999999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o-RO" altLang="ro-RO" sz="4000" dirty="0" smtClean="0">
                <a:solidFill>
                  <a:srgbClr val="FF0000"/>
                </a:solidFill>
              </a:rPr>
              <a:t>Adunarea </a:t>
            </a:r>
            <a:r>
              <a:rPr lang="it-IT" altLang="ro-RO" sz="4000" dirty="0" smtClean="0">
                <a:solidFill>
                  <a:srgbClr val="FF0000"/>
                </a:solidFill>
              </a:rPr>
              <a:t>a </a:t>
            </a:r>
            <a:r>
              <a:rPr lang="it-IT" altLang="ro-RO" sz="4000" dirty="0">
                <a:solidFill>
                  <a:srgbClr val="FF0000"/>
                </a:solidFill>
              </a:rPr>
              <a:t>trei valori raționale</a:t>
            </a:r>
            <a:endParaRPr lang="en-US" altLang="ro-RO" i="1" dirty="0">
              <a:solidFill>
                <a:srgbClr val="FF0000"/>
              </a:solidFill>
            </a:endParaRPr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533400" y="1104900"/>
            <a:ext cx="8001000" cy="28432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grpSp>
        <p:nvGrpSpPr>
          <p:cNvPr id="62468" name="Group 4"/>
          <p:cNvGrpSpPr>
            <a:grpSpLocks/>
          </p:cNvGrpSpPr>
          <p:nvPr/>
        </p:nvGrpSpPr>
        <p:grpSpPr bwMode="auto">
          <a:xfrm>
            <a:off x="3784600" y="2908300"/>
            <a:ext cx="4597400" cy="915988"/>
            <a:chOff x="2384" y="1832"/>
            <a:chExt cx="2896" cy="577"/>
          </a:xfrm>
        </p:grpSpPr>
        <p:sp>
          <p:nvSpPr>
            <p:cNvPr id="62731" name="Rectangle 5"/>
            <p:cNvSpPr>
              <a:spLocks noChangeArrowheads="1"/>
            </p:cNvSpPr>
            <p:nvPr/>
          </p:nvSpPr>
          <p:spPr bwMode="auto">
            <a:xfrm>
              <a:off x="3912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732" name="Text Box 6"/>
            <p:cNvSpPr txBox="1">
              <a:spLocks noChangeArrowheads="1"/>
            </p:cNvSpPr>
            <p:nvPr/>
          </p:nvSpPr>
          <p:spPr bwMode="auto">
            <a:xfrm>
              <a:off x="3888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c</a:t>
              </a:r>
            </a:p>
          </p:txBody>
        </p:sp>
        <p:sp>
          <p:nvSpPr>
            <p:cNvPr id="62733" name="Rectangle 7"/>
            <p:cNvSpPr>
              <a:spLocks noChangeArrowheads="1"/>
            </p:cNvSpPr>
            <p:nvPr/>
          </p:nvSpPr>
          <p:spPr bwMode="auto">
            <a:xfrm>
              <a:off x="4656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734" name="Text Box 8"/>
            <p:cNvSpPr txBox="1">
              <a:spLocks noChangeArrowheads="1"/>
            </p:cNvSpPr>
            <p:nvPr/>
          </p:nvSpPr>
          <p:spPr bwMode="auto">
            <a:xfrm>
              <a:off x="4632" y="1832"/>
              <a:ext cx="64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sum</a:t>
              </a:r>
            </a:p>
          </p:txBody>
        </p:sp>
        <p:sp>
          <p:nvSpPr>
            <p:cNvPr id="62735" name="Rectangle 9"/>
            <p:cNvSpPr>
              <a:spLocks noChangeArrowheads="1"/>
            </p:cNvSpPr>
            <p:nvPr/>
          </p:nvSpPr>
          <p:spPr bwMode="auto">
            <a:xfrm>
              <a:off x="3160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736" name="Text Box 10"/>
            <p:cNvSpPr txBox="1">
              <a:spLocks noChangeArrowheads="1"/>
            </p:cNvSpPr>
            <p:nvPr/>
          </p:nvSpPr>
          <p:spPr bwMode="auto">
            <a:xfrm>
              <a:off x="3136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b</a:t>
              </a:r>
            </a:p>
          </p:txBody>
        </p:sp>
        <p:sp>
          <p:nvSpPr>
            <p:cNvPr id="62737" name="Text Box 11"/>
            <p:cNvSpPr txBox="1">
              <a:spLocks noChangeArrowheads="1"/>
            </p:cNvSpPr>
            <p:nvPr/>
          </p:nvSpPr>
          <p:spPr bwMode="auto">
            <a:xfrm>
              <a:off x="2384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a</a:t>
              </a:r>
            </a:p>
          </p:txBody>
        </p:sp>
        <p:sp>
          <p:nvSpPr>
            <p:cNvPr id="62738" name="Rectangle 12"/>
            <p:cNvSpPr>
              <a:spLocks noChangeArrowheads="1"/>
            </p:cNvSpPr>
            <p:nvPr/>
          </p:nvSpPr>
          <p:spPr bwMode="auto">
            <a:xfrm>
              <a:off x="2408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</p:grpSp>
      <p:sp>
        <p:nvSpPr>
          <p:cNvPr id="62469" name="Text Box 13"/>
          <p:cNvSpPr txBox="1">
            <a:spLocks noChangeArrowheads="1"/>
          </p:cNvSpPr>
          <p:nvPr/>
        </p:nvSpPr>
        <p:spPr bwMode="auto">
          <a:xfrm>
            <a:off x="647700" y="1168400"/>
            <a:ext cx="7962900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o-RO" altLang="ro-RO" sz="1600" b="1" i="0" noProof="1">
                <a:latin typeface="Courier New" panose="02070309020205020404" pitchFamily="49" charset="0"/>
              </a:rPr>
              <a:t>public void run()</a:t>
            </a:r>
            <a:r>
              <a:rPr lang="ro-RO" altLang="ro-RO" sz="800" b="1" i="0" noProof="1">
                <a:latin typeface="Courier New" panose="02070309020205020404" pitchFamily="49" charset="0"/>
              </a:rPr>
              <a:t> </a:t>
            </a:r>
            <a:r>
              <a:rPr lang="ro-RO" altLang="ro-RO" sz="1600" b="1" i="0" noProof="1">
                <a:latin typeface="Courier New" panose="02070309020205020404" pitchFamily="49" charset="0"/>
              </a:rPr>
              <a:t>{</a:t>
            </a:r>
          </a:p>
          <a:p>
            <a:r>
              <a:rPr lang="en-US" altLang="ro-RO" sz="1600" b="1" i="0">
                <a:latin typeface="Courier New" panose="02070309020205020404" pitchFamily="49" charset="0"/>
              </a:rPr>
              <a:t>   Rational a = new Rational(1, 2);</a:t>
            </a:r>
          </a:p>
          <a:p>
            <a:r>
              <a:rPr lang="en-US" altLang="ro-RO" sz="1600" b="1" i="0">
                <a:latin typeface="Courier New" panose="02070309020205020404" pitchFamily="49" charset="0"/>
              </a:rPr>
              <a:t>   Rational b = new Rational(1, 3);</a:t>
            </a:r>
          </a:p>
          <a:p>
            <a:r>
              <a:rPr lang="en-US" altLang="ro-RO" sz="1600" b="1" i="0">
                <a:latin typeface="Courier New" panose="02070309020205020404" pitchFamily="49" charset="0"/>
              </a:rPr>
              <a:t>   Rational c = new Rational(1, 6);</a:t>
            </a:r>
          </a:p>
          <a:p>
            <a:r>
              <a:rPr lang="en-US" altLang="ro-RO" sz="1600" b="1" i="0">
                <a:latin typeface="Courier New" panose="02070309020205020404" pitchFamily="49" charset="0"/>
              </a:rPr>
              <a:t>   Rational sum = a.add(b).add(c);</a:t>
            </a:r>
          </a:p>
          <a:p>
            <a:r>
              <a:rPr lang="en-US" altLang="ro-RO" sz="1600" b="1" i="0">
                <a:latin typeface="Courier New" panose="02070309020205020404" pitchFamily="49" charset="0"/>
              </a:rPr>
              <a:t>   println(a + " + " + b + " + " + c + " = " + sum);</a:t>
            </a:r>
          </a:p>
          <a:p>
            <a:r>
              <a:rPr lang="en-US" altLang="ro-RO" sz="1600" b="1" i="0" noProof="1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62470" name="Group 14"/>
          <p:cNvGrpSpPr>
            <a:grpSpLocks/>
          </p:cNvGrpSpPr>
          <p:nvPr/>
        </p:nvGrpSpPr>
        <p:grpSpPr bwMode="auto">
          <a:xfrm>
            <a:off x="1815306" y="4872905"/>
            <a:ext cx="5402263" cy="1643063"/>
            <a:chOff x="1178" y="2960"/>
            <a:chExt cx="3403" cy="1035"/>
          </a:xfrm>
        </p:grpSpPr>
        <p:pic>
          <p:nvPicPr>
            <p:cNvPr id="62729" name="Picture 15" descr="Consol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8" y="2976"/>
              <a:ext cx="3403" cy="1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730" name="Text Box 16"/>
            <p:cNvSpPr txBox="1">
              <a:spLocks noChangeArrowheads="1"/>
            </p:cNvSpPr>
            <p:nvPr/>
          </p:nvSpPr>
          <p:spPr bwMode="auto">
            <a:xfrm>
              <a:off x="1200" y="2960"/>
              <a:ext cx="33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ro-RO" sz="1000" b="1" i="0">
                  <a:solidFill>
                    <a:srgbClr val="333333"/>
                  </a:solidFill>
                  <a:latin typeface="Helvetica" panose="020B0504020202030204" pitchFamily="34" charset="0"/>
                </a:rPr>
                <a:t>TestRational</a:t>
              </a:r>
              <a:endParaRPr lang="en-US" altLang="ro-RO" sz="1000" i="0">
                <a:solidFill>
                  <a:srgbClr val="333333"/>
                </a:solidFill>
                <a:latin typeface="Charcoal CY" pitchFamily="84" charset="-52"/>
              </a:endParaRPr>
            </a:p>
          </p:txBody>
        </p:sp>
      </p:grpSp>
      <p:sp>
        <p:nvSpPr>
          <p:cNvPr id="731153" name="Rectangle 17"/>
          <p:cNvSpPr>
            <a:spLocks noChangeArrowheads="1"/>
          </p:cNvSpPr>
          <p:nvPr/>
        </p:nvSpPr>
        <p:spPr bwMode="auto">
          <a:xfrm>
            <a:off x="1041400" y="1452563"/>
            <a:ext cx="403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154" name="Rectangle 18"/>
          <p:cNvSpPr>
            <a:spLocks noChangeArrowheads="1"/>
          </p:cNvSpPr>
          <p:nvPr/>
        </p:nvSpPr>
        <p:spPr bwMode="auto">
          <a:xfrm>
            <a:off x="1041400" y="1693863"/>
            <a:ext cx="403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155" name="Rectangle 19"/>
          <p:cNvSpPr>
            <a:spLocks noChangeArrowheads="1"/>
          </p:cNvSpPr>
          <p:nvPr/>
        </p:nvSpPr>
        <p:spPr bwMode="auto">
          <a:xfrm>
            <a:off x="1041400" y="1947863"/>
            <a:ext cx="403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156" name="Rectangle 20"/>
          <p:cNvSpPr>
            <a:spLocks noChangeArrowheads="1"/>
          </p:cNvSpPr>
          <p:nvPr/>
        </p:nvSpPr>
        <p:spPr bwMode="auto">
          <a:xfrm>
            <a:off x="1041400" y="2189163"/>
            <a:ext cx="403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157" name="Rectangle 21"/>
          <p:cNvSpPr>
            <a:spLocks noChangeArrowheads="1"/>
          </p:cNvSpPr>
          <p:nvPr/>
        </p:nvSpPr>
        <p:spPr bwMode="auto">
          <a:xfrm>
            <a:off x="2878138" y="2184400"/>
            <a:ext cx="1031875" cy="23018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158" name="Rectangle 22"/>
          <p:cNvSpPr>
            <a:spLocks noChangeArrowheads="1"/>
          </p:cNvSpPr>
          <p:nvPr/>
        </p:nvSpPr>
        <p:spPr bwMode="auto">
          <a:xfrm>
            <a:off x="2879725" y="2179638"/>
            <a:ext cx="1887538" cy="2571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159" name="Rectangle 23"/>
          <p:cNvSpPr>
            <a:spLocks noChangeArrowheads="1"/>
          </p:cNvSpPr>
          <p:nvPr/>
        </p:nvSpPr>
        <p:spPr bwMode="auto">
          <a:xfrm>
            <a:off x="1041400" y="2419350"/>
            <a:ext cx="6099175" cy="2778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grpSp>
        <p:nvGrpSpPr>
          <p:cNvPr id="731160" name="Group 24"/>
          <p:cNvGrpSpPr>
            <a:grpSpLocks/>
          </p:cNvGrpSpPr>
          <p:nvPr/>
        </p:nvGrpSpPr>
        <p:grpSpPr bwMode="auto">
          <a:xfrm>
            <a:off x="2925763" y="3200400"/>
            <a:ext cx="401637" cy="615950"/>
            <a:chOff x="736" y="2871"/>
            <a:chExt cx="253" cy="388"/>
          </a:xfrm>
        </p:grpSpPr>
        <p:sp>
          <p:nvSpPr>
            <p:cNvPr id="62724" name="Rectangle 25"/>
            <p:cNvSpPr>
              <a:spLocks noChangeArrowheads="1"/>
            </p:cNvSpPr>
            <p:nvPr/>
          </p:nvSpPr>
          <p:spPr bwMode="auto">
            <a:xfrm>
              <a:off x="736" y="290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25" name="Rectangle 26"/>
            <p:cNvSpPr>
              <a:spLocks noChangeArrowheads="1"/>
            </p:cNvSpPr>
            <p:nvPr/>
          </p:nvSpPr>
          <p:spPr bwMode="auto">
            <a:xfrm>
              <a:off x="736" y="308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26" name="Line 27"/>
            <p:cNvSpPr>
              <a:spLocks noChangeShapeType="1"/>
            </p:cNvSpPr>
            <p:nvPr/>
          </p:nvSpPr>
          <p:spPr bwMode="auto">
            <a:xfrm>
              <a:off x="736" y="3062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727" name="Text Box 28"/>
            <p:cNvSpPr txBox="1">
              <a:spLocks noChangeArrowheads="1"/>
            </p:cNvSpPr>
            <p:nvPr/>
          </p:nvSpPr>
          <p:spPr bwMode="auto">
            <a:xfrm>
              <a:off x="736" y="2871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5</a:t>
              </a:r>
            </a:p>
          </p:txBody>
        </p:sp>
        <p:sp>
          <p:nvSpPr>
            <p:cNvPr id="62728" name="Text Box 29"/>
            <p:cNvSpPr txBox="1">
              <a:spLocks noChangeArrowheads="1"/>
            </p:cNvSpPr>
            <p:nvPr/>
          </p:nvSpPr>
          <p:spPr bwMode="auto">
            <a:xfrm>
              <a:off x="736" y="3047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6</a:t>
              </a:r>
            </a:p>
          </p:txBody>
        </p:sp>
      </p:grpSp>
      <p:grpSp>
        <p:nvGrpSpPr>
          <p:cNvPr id="731166" name="Group 30"/>
          <p:cNvGrpSpPr>
            <a:grpSpLocks/>
          </p:cNvGrpSpPr>
          <p:nvPr/>
        </p:nvGrpSpPr>
        <p:grpSpPr bwMode="auto">
          <a:xfrm>
            <a:off x="4119563" y="3200400"/>
            <a:ext cx="401637" cy="615950"/>
            <a:chOff x="736" y="2871"/>
            <a:chExt cx="253" cy="388"/>
          </a:xfrm>
        </p:grpSpPr>
        <p:sp>
          <p:nvSpPr>
            <p:cNvPr id="62719" name="Rectangle 31"/>
            <p:cNvSpPr>
              <a:spLocks noChangeArrowheads="1"/>
            </p:cNvSpPr>
            <p:nvPr/>
          </p:nvSpPr>
          <p:spPr bwMode="auto">
            <a:xfrm>
              <a:off x="736" y="290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20" name="Rectangle 32"/>
            <p:cNvSpPr>
              <a:spLocks noChangeArrowheads="1"/>
            </p:cNvSpPr>
            <p:nvPr/>
          </p:nvSpPr>
          <p:spPr bwMode="auto">
            <a:xfrm>
              <a:off x="736" y="308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21" name="Line 33"/>
            <p:cNvSpPr>
              <a:spLocks noChangeShapeType="1"/>
            </p:cNvSpPr>
            <p:nvPr/>
          </p:nvSpPr>
          <p:spPr bwMode="auto">
            <a:xfrm>
              <a:off x="736" y="3062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722" name="Text Box 34"/>
            <p:cNvSpPr txBox="1">
              <a:spLocks noChangeArrowheads="1"/>
            </p:cNvSpPr>
            <p:nvPr/>
          </p:nvSpPr>
          <p:spPr bwMode="auto">
            <a:xfrm>
              <a:off x="736" y="2871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723" name="Text Box 35"/>
            <p:cNvSpPr txBox="1">
              <a:spLocks noChangeArrowheads="1"/>
            </p:cNvSpPr>
            <p:nvPr/>
          </p:nvSpPr>
          <p:spPr bwMode="auto">
            <a:xfrm>
              <a:off x="736" y="3047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2</a:t>
              </a:r>
            </a:p>
          </p:txBody>
        </p:sp>
      </p:grpSp>
      <p:grpSp>
        <p:nvGrpSpPr>
          <p:cNvPr id="731172" name="Group 36"/>
          <p:cNvGrpSpPr>
            <a:grpSpLocks/>
          </p:cNvGrpSpPr>
          <p:nvPr/>
        </p:nvGrpSpPr>
        <p:grpSpPr bwMode="auto">
          <a:xfrm>
            <a:off x="5313363" y="3200400"/>
            <a:ext cx="401637" cy="615950"/>
            <a:chOff x="736" y="2871"/>
            <a:chExt cx="253" cy="388"/>
          </a:xfrm>
        </p:grpSpPr>
        <p:sp>
          <p:nvSpPr>
            <p:cNvPr id="62714" name="Rectangle 37"/>
            <p:cNvSpPr>
              <a:spLocks noChangeArrowheads="1"/>
            </p:cNvSpPr>
            <p:nvPr/>
          </p:nvSpPr>
          <p:spPr bwMode="auto">
            <a:xfrm>
              <a:off x="736" y="290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15" name="Rectangle 38"/>
            <p:cNvSpPr>
              <a:spLocks noChangeArrowheads="1"/>
            </p:cNvSpPr>
            <p:nvPr/>
          </p:nvSpPr>
          <p:spPr bwMode="auto">
            <a:xfrm>
              <a:off x="736" y="308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16" name="Line 39"/>
            <p:cNvSpPr>
              <a:spLocks noChangeShapeType="1"/>
            </p:cNvSpPr>
            <p:nvPr/>
          </p:nvSpPr>
          <p:spPr bwMode="auto">
            <a:xfrm>
              <a:off x="736" y="3062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717" name="Text Box 40"/>
            <p:cNvSpPr txBox="1">
              <a:spLocks noChangeArrowheads="1"/>
            </p:cNvSpPr>
            <p:nvPr/>
          </p:nvSpPr>
          <p:spPr bwMode="auto">
            <a:xfrm>
              <a:off x="736" y="2871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718" name="Text Box 41"/>
            <p:cNvSpPr txBox="1">
              <a:spLocks noChangeArrowheads="1"/>
            </p:cNvSpPr>
            <p:nvPr/>
          </p:nvSpPr>
          <p:spPr bwMode="auto">
            <a:xfrm>
              <a:off x="736" y="3047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3</a:t>
              </a:r>
            </a:p>
          </p:txBody>
        </p:sp>
      </p:grpSp>
      <p:grpSp>
        <p:nvGrpSpPr>
          <p:cNvPr id="731178" name="Group 42"/>
          <p:cNvGrpSpPr>
            <a:grpSpLocks/>
          </p:cNvGrpSpPr>
          <p:nvPr/>
        </p:nvGrpSpPr>
        <p:grpSpPr bwMode="auto">
          <a:xfrm>
            <a:off x="6507163" y="3200400"/>
            <a:ext cx="401637" cy="615950"/>
            <a:chOff x="736" y="2871"/>
            <a:chExt cx="253" cy="388"/>
          </a:xfrm>
        </p:grpSpPr>
        <p:sp>
          <p:nvSpPr>
            <p:cNvPr id="62709" name="Rectangle 43"/>
            <p:cNvSpPr>
              <a:spLocks noChangeArrowheads="1"/>
            </p:cNvSpPr>
            <p:nvPr/>
          </p:nvSpPr>
          <p:spPr bwMode="auto">
            <a:xfrm>
              <a:off x="736" y="290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10" name="Rectangle 44"/>
            <p:cNvSpPr>
              <a:spLocks noChangeArrowheads="1"/>
            </p:cNvSpPr>
            <p:nvPr/>
          </p:nvSpPr>
          <p:spPr bwMode="auto">
            <a:xfrm>
              <a:off x="736" y="308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11" name="Line 45"/>
            <p:cNvSpPr>
              <a:spLocks noChangeShapeType="1"/>
            </p:cNvSpPr>
            <p:nvPr/>
          </p:nvSpPr>
          <p:spPr bwMode="auto">
            <a:xfrm>
              <a:off x="736" y="3062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712" name="Text Box 46"/>
            <p:cNvSpPr txBox="1">
              <a:spLocks noChangeArrowheads="1"/>
            </p:cNvSpPr>
            <p:nvPr/>
          </p:nvSpPr>
          <p:spPr bwMode="auto">
            <a:xfrm>
              <a:off x="736" y="2871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713" name="Text Box 47"/>
            <p:cNvSpPr txBox="1">
              <a:spLocks noChangeArrowheads="1"/>
            </p:cNvSpPr>
            <p:nvPr/>
          </p:nvSpPr>
          <p:spPr bwMode="auto">
            <a:xfrm>
              <a:off x="736" y="3047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6</a:t>
              </a:r>
            </a:p>
          </p:txBody>
        </p:sp>
      </p:grpSp>
      <p:grpSp>
        <p:nvGrpSpPr>
          <p:cNvPr id="731184" name="Group 48"/>
          <p:cNvGrpSpPr>
            <a:grpSpLocks/>
          </p:cNvGrpSpPr>
          <p:nvPr/>
        </p:nvGrpSpPr>
        <p:grpSpPr bwMode="auto">
          <a:xfrm>
            <a:off x="7700963" y="3200400"/>
            <a:ext cx="401637" cy="615950"/>
            <a:chOff x="736" y="2871"/>
            <a:chExt cx="253" cy="388"/>
          </a:xfrm>
        </p:grpSpPr>
        <p:sp>
          <p:nvSpPr>
            <p:cNvPr id="62704" name="Rectangle 49"/>
            <p:cNvSpPr>
              <a:spLocks noChangeArrowheads="1"/>
            </p:cNvSpPr>
            <p:nvPr/>
          </p:nvSpPr>
          <p:spPr bwMode="auto">
            <a:xfrm>
              <a:off x="736" y="290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05" name="Rectangle 50"/>
            <p:cNvSpPr>
              <a:spLocks noChangeArrowheads="1"/>
            </p:cNvSpPr>
            <p:nvPr/>
          </p:nvSpPr>
          <p:spPr bwMode="auto">
            <a:xfrm>
              <a:off x="736" y="3083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706" name="Line 51"/>
            <p:cNvSpPr>
              <a:spLocks noChangeShapeType="1"/>
            </p:cNvSpPr>
            <p:nvPr/>
          </p:nvSpPr>
          <p:spPr bwMode="auto">
            <a:xfrm>
              <a:off x="736" y="3062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707" name="Text Box 52"/>
            <p:cNvSpPr txBox="1">
              <a:spLocks noChangeArrowheads="1"/>
            </p:cNvSpPr>
            <p:nvPr/>
          </p:nvSpPr>
          <p:spPr bwMode="auto">
            <a:xfrm>
              <a:off x="736" y="2871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708" name="Text Box 53"/>
            <p:cNvSpPr txBox="1">
              <a:spLocks noChangeArrowheads="1"/>
            </p:cNvSpPr>
            <p:nvPr/>
          </p:nvSpPr>
          <p:spPr bwMode="auto">
            <a:xfrm>
              <a:off x="736" y="3047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</p:grpSp>
      <p:grpSp>
        <p:nvGrpSpPr>
          <p:cNvPr id="731190" name="Group 54"/>
          <p:cNvGrpSpPr>
            <a:grpSpLocks/>
          </p:cNvGrpSpPr>
          <p:nvPr/>
        </p:nvGrpSpPr>
        <p:grpSpPr bwMode="auto">
          <a:xfrm>
            <a:off x="2590800" y="2781300"/>
            <a:ext cx="1066800" cy="1042988"/>
            <a:chOff x="1632" y="1752"/>
            <a:chExt cx="672" cy="657"/>
          </a:xfrm>
        </p:grpSpPr>
        <p:sp>
          <p:nvSpPr>
            <p:cNvPr id="62702" name="Text Box 55"/>
            <p:cNvSpPr txBox="1">
              <a:spLocks noChangeArrowheads="1"/>
            </p:cNvSpPr>
            <p:nvPr/>
          </p:nvSpPr>
          <p:spPr bwMode="auto">
            <a:xfrm>
              <a:off x="1632" y="1752"/>
              <a:ext cx="672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altLang="ro-RO"/>
                <a:t>temporary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ro-RO"/>
                <a:t>result</a:t>
              </a:r>
              <a:endParaRPr lang="en-US" altLang="ro-RO" sz="1600" b="1" i="0">
                <a:latin typeface="Courier New" panose="02070309020205020404" pitchFamily="49" charset="0"/>
              </a:endParaRPr>
            </a:p>
          </p:txBody>
        </p:sp>
        <p:sp>
          <p:nvSpPr>
            <p:cNvPr id="62703" name="Rectangle 56"/>
            <p:cNvSpPr>
              <a:spLocks noChangeArrowheads="1"/>
            </p:cNvSpPr>
            <p:nvPr/>
          </p:nvSpPr>
          <p:spPr bwMode="auto">
            <a:xfrm>
              <a:off x="1656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</p:grpSp>
      <p:sp>
        <p:nvSpPr>
          <p:cNvPr id="731193" name="Text Box 57"/>
          <p:cNvSpPr txBox="1">
            <a:spLocks noChangeArrowheads="1"/>
          </p:cNvSpPr>
          <p:nvPr/>
        </p:nvSpPr>
        <p:spPr bwMode="auto">
          <a:xfrm>
            <a:off x="1885950" y="5118100"/>
            <a:ext cx="502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b="1" i="0">
                <a:latin typeface="Courier New" panose="02070309020205020404" pitchFamily="49" charset="0"/>
              </a:rPr>
              <a:t>1/2 + 1/3 + 1/6 = 1</a:t>
            </a:r>
          </a:p>
        </p:txBody>
      </p:sp>
      <p:sp>
        <p:nvSpPr>
          <p:cNvPr id="62485" name="Text Box 58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7848600" y="6400800"/>
            <a:ext cx="1143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000"/>
              <a:t>skip simulation</a:t>
            </a:r>
          </a:p>
        </p:txBody>
      </p:sp>
      <p:grpSp>
        <p:nvGrpSpPr>
          <p:cNvPr id="731195" name="Group 59"/>
          <p:cNvGrpSpPr>
            <a:grpSpLocks/>
          </p:cNvGrpSpPr>
          <p:nvPr/>
        </p:nvGrpSpPr>
        <p:grpSpPr bwMode="auto">
          <a:xfrm>
            <a:off x="673100" y="1473200"/>
            <a:ext cx="8077200" cy="2843213"/>
            <a:chOff x="336" y="696"/>
            <a:chExt cx="5088" cy="1791"/>
          </a:xfrm>
        </p:grpSpPr>
        <p:sp>
          <p:nvSpPr>
            <p:cNvPr id="62685" name="Rectangle 60"/>
            <p:cNvSpPr>
              <a:spLocks noChangeArrowheads="1"/>
            </p:cNvSpPr>
            <p:nvPr/>
          </p:nvSpPr>
          <p:spPr bwMode="auto">
            <a:xfrm>
              <a:off x="336" y="696"/>
              <a:ext cx="5040" cy="17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86" name="Text Box 61"/>
            <p:cNvSpPr txBox="1">
              <a:spLocks noChangeArrowheads="1"/>
            </p:cNvSpPr>
            <p:nvPr/>
          </p:nvSpPr>
          <p:spPr bwMode="auto">
            <a:xfrm>
              <a:off x="408" y="736"/>
              <a:ext cx="5016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public Rational(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x,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y) {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g = </a:t>
              </a:r>
              <a:r>
                <a:rPr lang="en-US" altLang="ro-RO" sz="1600" b="1" i="0" dirty="0" err="1" smtClean="0">
                  <a:latin typeface="Courier New" panose="02070309020205020404" pitchFamily="49" charset="0"/>
                </a:rPr>
                <a:t>cmmdc</a:t>
              </a:r>
              <a:r>
                <a:rPr lang="en-US" altLang="ro-RO" sz="1600" b="1" i="0" dirty="0" smtClean="0">
                  <a:latin typeface="Courier New" panose="02070309020205020404" pitchFamily="49" charset="0"/>
                </a:rPr>
                <a:t>(</a:t>
              </a:r>
              <a:r>
                <a:rPr lang="en-US" altLang="ro-RO" sz="1600" b="1" i="0" dirty="0" err="1" smtClean="0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 smtClean="0">
                  <a:latin typeface="Courier New" panose="02070309020205020404" pitchFamily="49" charset="0"/>
                </a:rPr>
                <a:t>(x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),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(y));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x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den =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if (y &lt; 0)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-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}</a:t>
              </a:r>
            </a:p>
            <a:p>
              <a:endParaRPr lang="en-US" altLang="ro-RO" sz="1600" b="1" i="0" noProof="1">
                <a:latin typeface="Courier New" panose="02070309020205020404" pitchFamily="49" charset="0"/>
              </a:endParaRPr>
            </a:p>
          </p:txBody>
        </p:sp>
        <p:sp>
          <p:nvSpPr>
            <p:cNvPr id="62687" name="Rectangle 62"/>
            <p:cNvSpPr>
              <a:spLocks noChangeArrowheads="1"/>
            </p:cNvSpPr>
            <p:nvPr/>
          </p:nvSpPr>
          <p:spPr bwMode="auto">
            <a:xfrm>
              <a:off x="3912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88" name="Text Box 63"/>
            <p:cNvSpPr txBox="1">
              <a:spLocks noChangeArrowheads="1"/>
            </p:cNvSpPr>
            <p:nvPr/>
          </p:nvSpPr>
          <p:spPr bwMode="auto">
            <a:xfrm>
              <a:off x="3888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62689" name="Rectangle 64"/>
            <p:cNvSpPr>
              <a:spLocks noChangeArrowheads="1"/>
            </p:cNvSpPr>
            <p:nvPr/>
          </p:nvSpPr>
          <p:spPr bwMode="auto">
            <a:xfrm>
              <a:off x="4656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90" name="Text Box 65"/>
            <p:cNvSpPr txBox="1">
              <a:spLocks noChangeArrowheads="1"/>
            </p:cNvSpPr>
            <p:nvPr/>
          </p:nvSpPr>
          <p:spPr bwMode="auto">
            <a:xfrm>
              <a:off x="4632" y="1984"/>
              <a:ext cx="64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62691" name="Rectangle 66"/>
            <p:cNvSpPr>
              <a:spLocks noChangeArrowheads="1"/>
            </p:cNvSpPr>
            <p:nvPr/>
          </p:nvSpPr>
          <p:spPr bwMode="auto">
            <a:xfrm>
              <a:off x="3168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92" name="Text Box 67"/>
            <p:cNvSpPr txBox="1">
              <a:spLocks noChangeArrowheads="1"/>
            </p:cNvSpPr>
            <p:nvPr/>
          </p:nvSpPr>
          <p:spPr bwMode="auto">
            <a:xfrm>
              <a:off x="3144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x</a:t>
              </a:r>
            </a:p>
          </p:txBody>
        </p:sp>
        <p:sp>
          <p:nvSpPr>
            <p:cNvPr id="62693" name="Text Box 68"/>
            <p:cNvSpPr txBox="1">
              <a:spLocks noChangeArrowheads="1"/>
            </p:cNvSpPr>
            <p:nvPr/>
          </p:nvSpPr>
          <p:spPr bwMode="auto">
            <a:xfrm>
              <a:off x="400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this</a:t>
              </a:r>
            </a:p>
          </p:txBody>
        </p:sp>
        <p:sp>
          <p:nvSpPr>
            <p:cNvPr id="62694" name="Rectangle 69"/>
            <p:cNvSpPr>
              <a:spLocks noChangeArrowheads="1"/>
            </p:cNvSpPr>
            <p:nvPr/>
          </p:nvSpPr>
          <p:spPr bwMode="auto">
            <a:xfrm>
              <a:off x="424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95" name="Rectangle 70"/>
            <p:cNvSpPr>
              <a:spLocks noChangeArrowheads="1"/>
            </p:cNvSpPr>
            <p:nvPr/>
          </p:nvSpPr>
          <p:spPr bwMode="auto">
            <a:xfrm>
              <a:off x="736" y="204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96" name="Rectangle 71"/>
            <p:cNvSpPr>
              <a:spLocks noChangeArrowheads="1"/>
            </p:cNvSpPr>
            <p:nvPr/>
          </p:nvSpPr>
          <p:spPr bwMode="auto">
            <a:xfrm>
              <a:off x="736" y="222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97" name="Line 72"/>
            <p:cNvSpPr>
              <a:spLocks noChangeShapeType="1"/>
            </p:cNvSpPr>
            <p:nvPr/>
          </p:nvSpPr>
          <p:spPr bwMode="auto">
            <a:xfrm>
              <a:off x="736" y="2207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698" name="Text Box 73"/>
            <p:cNvSpPr txBox="1">
              <a:spLocks noChangeArrowheads="1"/>
            </p:cNvSpPr>
            <p:nvPr/>
          </p:nvSpPr>
          <p:spPr bwMode="auto">
            <a:xfrm>
              <a:off x="432" y="201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699" name="Text Box 74"/>
            <p:cNvSpPr txBox="1">
              <a:spLocks noChangeArrowheads="1"/>
            </p:cNvSpPr>
            <p:nvPr/>
          </p:nvSpPr>
          <p:spPr bwMode="auto">
            <a:xfrm>
              <a:off x="432" y="219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 dirty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700" name="Text Box 75"/>
            <p:cNvSpPr txBox="1">
              <a:spLocks noChangeArrowheads="1"/>
            </p:cNvSpPr>
            <p:nvPr/>
          </p:nvSpPr>
          <p:spPr bwMode="auto">
            <a:xfrm>
              <a:off x="3168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701" name="Text Box 76"/>
            <p:cNvSpPr txBox="1">
              <a:spLocks noChangeArrowheads="1"/>
            </p:cNvSpPr>
            <p:nvPr/>
          </p:nvSpPr>
          <p:spPr bwMode="auto">
            <a:xfrm>
              <a:off x="3912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2</a:t>
              </a:r>
            </a:p>
          </p:txBody>
        </p:sp>
      </p:grpSp>
      <p:sp>
        <p:nvSpPr>
          <p:cNvPr id="731213" name="Rectangle 77"/>
          <p:cNvSpPr>
            <a:spLocks noChangeArrowheads="1"/>
          </p:cNvSpPr>
          <p:nvPr/>
        </p:nvSpPr>
        <p:spPr bwMode="auto">
          <a:xfrm>
            <a:off x="1181100" y="1820863"/>
            <a:ext cx="47799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14" name="Rectangle 78"/>
          <p:cNvSpPr>
            <a:spLocks noChangeArrowheads="1"/>
          </p:cNvSpPr>
          <p:nvPr/>
        </p:nvSpPr>
        <p:spPr bwMode="auto">
          <a:xfrm>
            <a:off x="1181100" y="2074863"/>
            <a:ext cx="1563688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15" name="Rectangle 79"/>
          <p:cNvSpPr>
            <a:spLocks noChangeArrowheads="1"/>
          </p:cNvSpPr>
          <p:nvPr/>
        </p:nvSpPr>
        <p:spPr bwMode="auto">
          <a:xfrm>
            <a:off x="1181100" y="2316163"/>
            <a:ext cx="276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16" name="Rectangle 80"/>
          <p:cNvSpPr>
            <a:spLocks noChangeArrowheads="1"/>
          </p:cNvSpPr>
          <p:nvPr/>
        </p:nvSpPr>
        <p:spPr bwMode="auto">
          <a:xfrm>
            <a:off x="1181100" y="2557463"/>
            <a:ext cx="2784475" cy="25241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17" name="Text Box 81"/>
          <p:cNvSpPr txBox="1">
            <a:spLocks noChangeArrowheads="1"/>
          </p:cNvSpPr>
          <p:nvPr/>
        </p:nvSpPr>
        <p:spPr bwMode="auto">
          <a:xfrm>
            <a:off x="7531100" y="3835400"/>
            <a:ext cx="979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sp>
        <p:nvSpPr>
          <p:cNvPr id="731218" name="Text Box 82"/>
          <p:cNvSpPr txBox="1">
            <a:spLocks noChangeArrowheads="1"/>
          </p:cNvSpPr>
          <p:nvPr/>
        </p:nvSpPr>
        <p:spPr bwMode="auto">
          <a:xfrm>
            <a:off x="1308100" y="3568700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sp>
        <p:nvSpPr>
          <p:cNvPr id="731219" name="Text Box 83"/>
          <p:cNvSpPr txBox="1">
            <a:spLocks noChangeArrowheads="1"/>
          </p:cNvSpPr>
          <p:nvPr/>
        </p:nvSpPr>
        <p:spPr bwMode="auto">
          <a:xfrm>
            <a:off x="1308100" y="3848100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2</a:t>
            </a:r>
          </a:p>
        </p:txBody>
      </p:sp>
      <p:grpSp>
        <p:nvGrpSpPr>
          <p:cNvPr id="731220" name="Group 84"/>
          <p:cNvGrpSpPr>
            <a:grpSpLocks/>
          </p:cNvGrpSpPr>
          <p:nvPr/>
        </p:nvGrpSpPr>
        <p:grpSpPr bwMode="auto">
          <a:xfrm>
            <a:off x="673100" y="1474788"/>
            <a:ext cx="8077200" cy="2843212"/>
            <a:chOff x="336" y="696"/>
            <a:chExt cx="5088" cy="1791"/>
          </a:xfrm>
        </p:grpSpPr>
        <p:sp>
          <p:nvSpPr>
            <p:cNvPr id="62668" name="Rectangle 85"/>
            <p:cNvSpPr>
              <a:spLocks noChangeArrowheads="1"/>
            </p:cNvSpPr>
            <p:nvPr/>
          </p:nvSpPr>
          <p:spPr bwMode="auto">
            <a:xfrm>
              <a:off x="336" y="696"/>
              <a:ext cx="5040" cy="17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69" name="Text Box 86"/>
            <p:cNvSpPr txBox="1">
              <a:spLocks noChangeArrowheads="1"/>
            </p:cNvSpPr>
            <p:nvPr/>
          </p:nvSpPr>
          <p:spPr bwMode="auto">
            <a:xfrm>
              <a:off x="408" y="736"/>
              <a:ext cx="5016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public Rational(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x,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y) {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g = </a:t>
              </a:r>
              <a:r>
                <a:rPr lang="en-US" altLang="ro-RO" sz="1600" b="1" i="0" dirty="0" err="1" smtClean="0">
                  <a:latin typeface="Courier New" panose="02070309020205020404" pitchFamily="49" charset="0"/>
                </a:rPr>
                <a:t>cmmdc</a:t>
              </a:r>
              <a:r>
                <a:rPr lang="en-US" altLang="ro-RO" sz="1600" b="1" i="0" dirty="0" smtClean="0">
                  <a:latin typeface="Courier New" panose="02070309020205020404" pitchFamily="49" charset="0"/>
                </a:rPr>
                <a:t>(</a:t>
              </a:r>
              <a:r>
                <a:rPr lang="en-US" altLang="ro-RO" sz="1600" b="1" i="0" dirty="0" err="1" smtClean="0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 smtClean="0">
                  <a:latin typeface="Courier New" panose="02070309020205020404" pitchFamily="49" charset="0"/>
                </a:rPr>
                <a:t>(x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),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(y));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x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den =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if (y &lt; 0)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-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}</a:t>
              </a:r>
            </a:p>
            <a:p>
              <a:endParaRPr lang="en-US" altLang="ro-RO" sz="1600" b="1" i="0" noProof="1">
                <a:latin typeface="Courier New" panose="02070309020205020404" pitchFamily="49" charset="0"/>
              </a:endParaRPr>
            </a:p>
          </p:txBody>
        </p:sp>
        <p:sp>
          <p:nvSpPr>
            <p:cNvPr id="62670" name="Rectangle 87"/>
            <p:cNvSpPr>
              <a:spLocks noChangeArrowheads="1"/>
            </p:cNvSpPr>
            <p:nvPr/>
          </p:nvSpPr>
          <p:spPr bwMode="auto">
            <a:xfrm>
              <a:off x="3912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71" name="Text Box 88"/>
            <p:cNvSpPr txBox="1">
              <a:spLocks noChangeArrowheads="1"/>
            </p:cNvSpPr>
            <p:nvPr/>
          </p:nvSpPr>
          <p:spPr bwMode="auto">
            <a:xfrm>
              <a:off x="3888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62672" name="Rectangle 89"/>
            <p:cNvSpPr>
              <a:spLocks noChangeArrowheads="1"/>
            </p:cNvSpPr>
            <p:nvPr/>
          </p:nvSpPr>
          <p:spPr bwMode="auto">
            <a:xfrm>
              <a:off x="4656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73" name="Text Box 90"/>
            <p:cNvSpPr txBox="1">
              <a:spLocks noChangeArrowheads="1"/>
            </p:cNvSpPr>
            <p:nvPr/>
          </p:nvSpPr>
          <p:spPr bwMode="auto">
            <a:xfrm>
              <a:off x="4632" y="1984"/>
              <a:ext cx="64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62674" name="Rectangle 91"/>
            <p:cNvSpPr>
              <a:spLocks noChangeArrowheads="1"/>
            </p:cNvSpPr>
            <p:nvPr/>
          </p:nvSpPr>
          <p:spPr bwMode="auto">
            <a:xfrm>
              <a:off x="3168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75" name="Text Box 92"/>
            <p:cNvSpPr txBox="1">
              <a:spLocks noChangeArrowheads="1"/>
            </p:cNvSpPr>
            <p:nvPr/>
          </p:nvSpPr>
          <p:spPr bwMode="auto">
            <a:xfrm>
              <a:off x="3144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x</a:t>
              </a:r>
            </a:p>
          </p:txBody>
        </p:sp>
        <p:sp>
          <p:nvSpPr>
            <p:cNvPr id="62676" name="Text Box 93"/>
            <p:cNvSpPr txBox="1">
              <a:spLocks noChangeArrowheads="1"/>
            </p:cNvSpPr>
            <p:nvPr/>
          </p:nvSpPr>
          <p:spPr bwMode="auto">
            <a:xfrm>
              <a:off x="400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this</a:t>
              </a:r>
            </a:p>
          </p:txBody>
        </p:sp>
        <p:sp>
          <p:nvSpPr>
            <p:cNvPr id="62677" name="Rectangle 94"/>
            <p:cNvSpPr>
              <a:spLocks noChangeArrowheads="1"/>
            </p:cNvSpPr>
            <p:nvPr/>
          </p:nvSpPr>
          <p:spPr bwMode="auto">
            <a:xfrm>
              <a:off x="424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78" name="Rectangle 95"/>
            <p:cNvSpPr>
              <a:spLocks noChangeArrowheads="1"/>
            </p:cNvSpPr>
            <p:nvPr/>
          </p:nvSpPr>
          <p:spPr bwMode="auto">
            <a:xfrm>
              <a:off x="736" y="204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79" name="Rectangle 96"/>
            <p:cNvSpPr>
              <a:spLocks noChangeArrowheads="1"/>
            </p:cNvSpPr>
            <p:nvPr/>
          </p:nvSpPr>
          <p:spPr bwMode="auto">
            <a:xfrm>
              <a:off x="736" y="222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80" name="Line 97"/>
            <p:cNvSpPr>
              <a:spLocks noChangeShapeType="1"/>
            </p:cNvSpPr>
            <p:nvPr/>
          </p:nvSpPr>
          <p:spPr bwMode="auto">
            <a:xfrm>
              <a:off x="736" y="2207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681" name="Text Box 98"/>
            <p:cNvSpPr txBox="1">
              <a:spLocks noChangeArrowheads="1"/>
            </p:cNvSpPr>
            <p:nvPr/>
          </p:nvSpPr>
          <p:spPr bwMode="auto">
            <a:xfrm>
              <a:off x="432" y="201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682" name="Text Box 99"/>
            <p:cNvSpPr txBox="1">
              <a:spLocks noChangeArrowheads="1"/>
            </p:cNvSpPr>
            <p:nvPr/>
          </p:nvSpPr>
          <p:spPr bwMode="auto">
            <a:xfrm>
              <a:off x="432" y="219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 dirty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683" name="Text Box 100"/>
            <p:cNvSpPr txBox="1">
              <a:spLocks noChangeArrowheads="1"/>
            </p:cNvSpPr>
            <p:nvPr/>
          </p:nvSpPr>
          <p:spPr bwMode="auto">
            <a:xfrm>
              <a:off x="3168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684" name="Text Box 101"/>
            <p:cNvSpPr txBox="1">
              <a:spLocks noChangeArrowheads="1"/>
            </p:cNvSpPr>
            <p:nvPr/>
          </p:nvSpPr>
          <p:spPr bwMode="auto">
            <a:xfrm>
              <a:off x="3912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3</a:t>
              </a:r>
            </a:p>
          </p:txBody>
        </p:sp>
      </p:grpSp>
      <p:sp>
        <p:nvSpPr>
          <p:cNvPr id="731238" name="Rectangle 102"/>
          <p:cNvSpPr>
            <a:spLocks noChangeArrowheads="1"/>
          </p:cNvSpPr>
          <p:nvPr/>
        </p:nvSpPr>
        <p:spPr bwMode="auto">
          <a:xfrm>
            <a:off x="1181100" y="1822450"/>
            <a:ext cx="47799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39" name="Rectangle 103"/>
          <p:cNvSpPr>
            <a:spLocks noChangeArrowheads="1"/>
          </p:cNvSpPr>
          <p:nvPr/>
        </p:nvSpPr>
        <p:spPr bwMode="auto">
          <a:xfrm>
            <a:off x="1181100" y="2076450"/>
            <a:ext cx="1563688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40" name="Rectangle 104"/>
          <p:cNvSpPr>
            <a:spLocks noChangeArrowheads="1"/>
          </p:cNvSpPr>
          <p:nvPr/>
        </p:nvSpPr>
        <p:spPr bwMode="auto">
          <a:xfrm>
            <a:off x="1181100" y="2317750"/>
            <a:ext cx="276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41" name="Rectangle 105"/>
          <p:cNvSpPr>
            <a:spLocks noChangeArrowheads="1"/>
          </p:cNvSpPr>
          <p:nvPr/>
        </p:nvSpPr>
        <p:spPr bwMode="auto">
          <a:xfrm>
            <a:off x="1181100" y="2559050"/>
            <a:ext cx="2784475" cy="2524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42" name="Text Box 106"/>
          <p:cNvSpPr txBox="1">
            <a:spLocks noChangeArrowheads="1"/>
          </p:cNvSpPr>
          <p:nvPr/>
        </p:nvSpPr>
        <p:spPr bwMode="auto">
          <a:xfrm>
            <a:off x="7531100" y="3836988"/>
            <a:ext cx="979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sp>
        <p:nvSpPr>
          <p:cNvPr id="731243" name="Text Box 107"/>
          <p:cNvSpPr txBox="1">
            <a:spLocks noChangeArrowheads="1"/>
          </p:cNvSpPr>
          <p:nvPr/>
        </p:nvSpPr>
        <p:spPr bwMode="auto">
          <a:xfrm>
            <a:off x="1308100" y="3570288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sp>
        <p:nvSpPr>
          <p:cNvPr id="731244" name="Text Box 108"/>
          <p:cNvSpPr txBox="1">
            <a:spLocks noChangeArrowheads="1"/>
          </p:cNvSpPr>
          <p:nvPr/>
        </p:nvSpPr>
        <p:spPr bwMode="auto">
          <a:xfrm>
            <a:off x="1308100" y="3849688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3</a:t>
            </a:r>
          </a:p>
        </p:txBody>
      </p:sp>
      <p:grpSp>
        <p:nvGrpSpPr>
          <p:cNvPr id="731245" name="Group 109"/>
          <p:cNvGrpSpPr>
            <a:grpSpLocks/>
          </p:cNvGrpSpPr>
          <p:nvPr/>
        </p:nvGrpSpPr>
        <p:grpSpPr bwMode="auto">
          <a:xfrm>
            <a:off x="673100" y="1474788"/>
            <a:ext cx="8077200" cy="2843212"/>
            <a:chOff x="336" y="696"/>
            <a:chExt cx="5088" cy="1791"/>
          </a:xfrm>
        </p:grpSpPr>
        <p:sp>
          <p:nvSpPr>
            <p:cNvPr id="62651" name="Rectangle 110"/>
            <p:cNvSpPr>
              <a:spLocks noChangeArrowheads="1"/>
            </p:cNvSpPr>
            <p:nvPr/>
          </p:nvSpPr>
          <p:spPr bwMode="auto">
            <a:xfrm>
              <a:off x="336" y="696"/>
              <a:ext cx="5040" cy="17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52" name="Text Box 111"/>
            <p:cNvSpPr txBox="1">
              <a:spLocks noChangeArrowheads="1"/>
            </p:cNvSpPr>
            <p:nvPr/>
          </p:nvSpPr>
          <p:spPr bwMode="auto">
            <a:xfrm>
              <a:off x="408" y="736"/>
              <a:ext cx="5016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public Rational(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x,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y) {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g = </a:t>
              </a:r>
              <a:r>
                <a:rPr lang="en-US" altLang="ro-RO" sz="1600" b="1" i="0" dirty="0" err="1" smtClean="0">
                  <a:latin typeface="Courier New" panose="02070309020205020404" pitchFamily="49" charset="0"/>
                </a:rPr>
                <a:t>cmmdc</a:t>
              </a:r>
              <a:r>
                <a:rPr lang="en-US" altLang="ro-RO" sz="1600" b="1" i="0" dirty="0" smtClean="0">
                  <a:latin typeface="Courier New" panose="02070309020205020404" pitchFamily="49" charset="0"/>
                </a:rPr>
                <a:t>(</a:t>
              </a:r>
              <a:r>
                <a:rPr lang="en-US" altLang="ro-RO" sz="1600" b="1" i="0" dirty="0" err="1" smtClean="0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 smtClean="0">
                  <a:latin typeface="Courier New" panose="02070309020205020404" pitchFamily="49" charset="0"/>
                </a:rPr>
                <a:t>(x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),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(y));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x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den =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if (y &lt; 0)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-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}</a:t>
              </a:r>
            </a:p>
            <a:p>
              <a:endParaRPr lang="en-US" altLang="ro-RO" sz="1600" b="1" i="0" noProof="1">
                <a:latin typeface="Courier New" panose="02070309020205020404" pitchFamily="49" charset="0"/>
              </a:endParaRPr>
            </a:p>
          </p:txBody>
        </p:sp>
        <p:sp>
          <p:nvSpPr>
            <p:cNvPr id="62653" name="Rectangle 112"/>
            <p:cNvSpPr>
              <a:spLocks noChangeArrowheads="1"/>
            </p:cNvSpPr>
            <p:nvPr/>
          </p:nvSpPr>
          <p:spPr bwMode="auto">
            <a:xfrm>
              <a:off x="3912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54" name="Text Box 113"/>
            <p:cNvSpPr txBox="1">
              <a:spLocks noChangeArrowheads="1"/>
            </p:cNvSpPr>
            <p:nvPr/>
          </p:nvSpPr>
          <p:spPr bwMode="auto">
            <a:xfrm>
              <a:off x="3888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62655" name="Rectangle 114"/>
            <p:cNvSpPr>
              <a:spLocks noChangeArrowheads="1"/>
            </p:cNvSpPr>
            <p:nvPr/>
          </p:nvSpPr>
          <p:spPr bwMode="auto">
            <a:xfrm>
              <a:off x="4656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56" name="Text Box 115"/>
            <p:cNvSpPr txBox="1">
              <a:spLocks noChangeArrowheads="1"/>
            </p:cNvSpPr>
            <p:nvPr/>
          </p:nvSpPr>
          <p:spPr bwMode="auto">
            <a:xfrm>
              <a:off x="4632" y="1984"/>
              <a:ext cx="64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62657" name="Rectangle 116"/>
            <p:cNvSpPr>
              <a:spLocks noChangeArrowheads="1"/>
            </p:cNvSpPr>
            <p:nvPr/>
          </p:nvSpPr>
          <p:spPr bwMode="auto">
            <a:xfrm>
              <a:off x="3168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58" name="Text Box 117"/>
            <p:cNvSpPr txBox="1">
              <a:spLocks noChangeArrowheads="1"/>
            </p:cNvSpPr>
            <p:nvPr/>
          </p:nvSpPr>
          <p:spPr bwMode="auto">
            <a:xfrm>
              <a:off x="3144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x</a:t>
              </a:r>
            </a:p>
          </p:txBody>
        </p:sp>
        <p:sp>
          <p:nvSpPr>
            <p:cNvPr id="62659" name="Text Box 118"/>
            <p:cNvSpPr txBox="1">
              <a:spLocks noChangeArrowheads="1"/>
            </p:cNvSpPr>
            <p:nvPr/>
          </p:nvSpPr>
          <p:spPr bwMode="auto">
            <a:xfrm>
              <a:off x="400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this</a:t>
              </a:r>
            </a:p>
          </p:txBody>
        </p:sp>
        <p:sp>
          <p:nvSpPr>
            <p:cNvPr id="62660" name="Rectangle 119"/>
            <p:cNvSpPr>
              <a:spLocks noChangeArrowheads="1"/>
            </p:cNvSpPr>
            <p:nvPr/>
          </p:nvSpPr>
          <p:spPr bwMode="auto">
            <a:xfrm>
              <a:off x="424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61" name="Rectangle 120"/>
            <p:cNvSpPr>
              <a:spLocks noChangeArrowheads="1"/>
            </p:cNvSpPr>
            <p:nvPr/>
          </p:nvSpPr>
          <p:spPr bwMode="auto">
            <a:xfrm>
              <a:off x="736" y="204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62" name="Rectangle 121"/>
            <p:cNvSpPr>
              <a:spLocks noChangeArrowheads="1"/>
            </p:cNvSpPr>
            <p:nvPr/>
          </p:nvSpPr>
          <p:spPr bwMode="auto">
            <a:xfrm>
              <a:off x="736" y="222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63" name="Line 122"/>
            <p:cNvSpPr>
              <a:spLocks noChangeShapeType="1"/>
            </p:cNvSpPr>
            <p:nvPr/>
          </p:nvSpPr>
          <p:spPr bwMode="auto">
            <a:xfrm>
              <a:off x="736" y="2207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664" name="Text Box 123"/>
            <p:cNvSpPr txBox="1">
              <a:spLocks noChangeArrowheads="1"/>
            </p:cNvSpPr>
            <p:nvPr/>
          </p:nvSpPr>
          <p:spPr bwMode="auto">
            <a:xfrm>
              <a:off x="432" y="201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665" name="Text Box 124"/>
            <p:cNvSpPr txBox="1">
              <a:spLocks noChangeArrowheads="1"/>
            </p:cNvSpPr>
            <p:nvPr/>
          </p:nvSpPr>
          <p:spPr bwMode="auto">
            <a:xfrm>
              <a:off x="432" y="219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 dirty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666" name="Text Box 125"/>
            <p:cNvSpPr txBox="1">
              <a:spLocks noChangeArrowheads="1"/>
            </p:cNvSpPr>
            <p:nvPr/>
          </p:nvSpPr>
          <p:spPr bwMode="auto">
            <a:xfrm>
              <a:off x="3168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667" name="Text Box 126"/>
            <p:cNvSpPr txBox="1">
              <a:spLocks noChangeArrowheads="1"/>
            </p:cNvSpPr>
            <p:nvPr/>
          </p:nvSpPr>
          <p:spPr bwMode="auto">
            <a:xfrm>
              <a:off x="3912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6</a:t>
              </a:r>
            </a:p>
          </p:txBody>
        </p:sp>
      </p:grpSp>
      <p:sp>
        <p:nvSpPr>
          <p:cNvPr id="731263" name="Rectangle 127"/>
          <p:cNvSpPr>
            <a:spLocks noChangeArrowheads="1"/>
          </p:cNvSpPr>
          <p:nvPr/>
        </p:nvSpPr>
        <p:spPr bwMode="auto">
          <a:xfrm>
            <a:off x="1181100" y="1822450"/>
            <a:ext cx="47799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64" name="Rectangle 128"/>
          <p:cNvSpPr>
            <a:spLocks noChangeArrowheads="1"/>
          </p:cNvSpPr>
          <p:nvPr/>
        </p:nvSpPr>
        <p:spPr bwMode="auto">
          <a:xfrm>
            <a:off x="1181100" y="2076450"/>
            <a:ext cx="1563688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65" name="Rectangle 129"/>
          <p:cNvSpPr>
            <a:spLocks noChangeArrowheads="1"/>
          </p:cNvSpPr>
          <p:nvPr/>
        </p:nvSpPr>
        <p:spPr bwMode="auto">
          <a:xfrm>
            <a:off x="1181100" y="2317750"/>
            <a:ext cx="276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66" name="Rectangle 130"/>
          <p:cNvSpPr>
            <a:spLocks noChangeArrowheads="1"/>
          </p:cNvSpPr>
          <p:nvPr/>
        </p:nvSpPr>
        <p:spPr bwMode="auto">
          <a:xfrm>
            <a:off x="1181100" y="2559050"/>
            <a:ext cx="2784475" cy="2524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67" name="Text Box 131"/>
          <p:cNvSpPr txBox="1">
            <a:spLocks noChangeArrowheads="1"/>
          </p:cNvSpPr>
          <p:nvPr/>
        </p:nvSpPr>
        <p:spPr bwMode="auto">
          <a:xfrm>
            <a:off x="7531100" y="3836988"/>
            <a:ext cx="979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sp>
        <p:nvSpPr>
          <p:cNvPr id="731268" name="Text Box 132"/>
          <p:cNvSpPr txBox="1">
            <a:spLocks noChangeArrowheads="1"/>
          </p:cNvSpPr>
          <p:nvPr/>
        </p:nvSpPr>
        <p:spPr bwMode="auto">
          <a:xfrm>
            <a:off x="1308100" y="3570288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sp>
        <p:nvSpPr>
          <p:cNvPr id="731269" name="Text Box 133"/>
          <p:cNvSpPr txBox="1">
            <a:spLocks noChangeArrowheads="1"/>
          </p:cNvSpPr>
          <p:nvPr/>
        </p:nvSpPr>
        <p:spPr bwMode="auto">
          <a:xfrm>
            <a:off x="1308100" y="3849688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6</a:t>
            </a:r>
          </a:p>
        </p:txBody>
      </p:sp>
      <p:grpSp>
        <p:nvGrpSpPr>
          <p:cNvPr id="731270" name="Group 134"/>
          <p:cNvGrpSpPr>
            <a:grpSpLocks/>
          </p:cNvGrpSpPr>
          <p:nvPr/>
        </p:nvGrpSpPr>
        <p:grpSpPr bwMode="auto">
          <a:xfrm>
            <a:off x="673100" y="1473200"/>
            <a:ext cx="8077200" cy="2843213"/>
            <a:chOff x="336" y="696"/>
            <a:chExt cx="5088" cy="1791"/>
          </a:xfrm>
        </p:grpSpPr>
        <p:sp>
          <p:nvSpPr>
            <p:cNvPr id="62631" name="Rectangle 135"/>
            <p:cNvSpPr>
              <a:spLocks noChangeArrowheads="1"/>
            </p:cNvSpPr>
            <p:nvPr/>
          </p:nvSpPr>
          <p:spPr bwMode="auto">
            <a:xfrm>
              <a:off x="336" y="696"/>
              <a:ext cx="5040" cy="17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32" name="Text Box 136"/>
            <p:cNvSpPr txBox="1">
              <a:spLocks noChangeArrowheads="1"/>
            </p:cNvSpPr>
            <p:nvPr/>
          </p:nvSpPr>
          <p:spPr bwMode="auto">
            <a:xfrm>
              <a:off x="408" y="736"/>
              <a:ext cx="5016" cy="10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public Rational add(Rational r) {</a:t>
              </a:r>
            </a:p>
            <a:p>
              <a:endParaRPr lang="en-US" altLang="ro-RO" sz="1600" b="1" i="0" dirty="0">
                <a:latin typeface="Courier New" panose="02070309020205020404" pitchFamily="49" charset="0"/>
              </a:endParaRP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return new Rational(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this.num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*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r.den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+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r.num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*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this.den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,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                  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this.den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*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r.den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);</a:t>
              </a:r>
            </a:p>
            <a:p>
              <a:endParaRPr lang="en-US" altLang="ro-RO" sz="800" b="1" i="0" dirty="0">
                <a:latin typeface="Courier New" panose="02070309020205020404" pitchFamily="49" charset="0"/>
              </a:endParaRP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}</a:t>
              </a:r>
            </a:p>
            <a:p>
              <a:endParaRPr lang="en-US" altLang="ro-RO" sz="1600" b="1" i="0" noProof="1">
                <a:latin typeface="Courier New" panose="02070309020205020404" pitchFamily="49" charset="0"/>
              </a:endParaRPr>
            </a:p>
          </p:txBody>
        </p:sp>
        <p:sp>
          <p:nvSpPr>
            <p:cNvPr id="62633" name="Text Box 137"/>
            <p:cNvSpPr txBox="1">
              <a:spLocks noChangeArrowheads="1"/>
            </p:cNvSpPr>
            <p:nvPr/>
          </p:nvSpPr>
          <p:spPr bwMode="auto">
            <a:xfrm>
              <a:off x="400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this</a:t>
              </a:r>
            </a:p>
          </p:txBody>
        </p:sp>
        <p:sp>
          <p:nvSpPr>
            <p:cNvPr id="62634" name="Rectangle 138"/>
            <p:cNvSpPr>
              <a:spLocks noChangeArrowheads="1"/>
            </p:cNvSpPr>
            <p:nvPr/>
          </p:nvSpPr>
          <p:spPr bwMode="auto">
            <a:xfrm>
              <a:off x="424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35" name="Rectangle 139"/>
            <p:cNvSpPr>
              <a:spLocks noChangeArrowheads="1"/>
            </p:cNvSpPr>
            <p:nvPr/>
          </p:nvSpPr>
          <p:spPr bwMode="auto">
            <a:xfrm>
              <a:off x="736" y="204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36" name="Rectangle 140"/>
            <p:cNvSpPr>
              <a:spLocks noChangeArrowheads="1"/>
            </p:cNvSpPr>
            <p:nvPr/>
          </p:nvSpPr>
          <p:spPr bwMode="auto">
            <a:xfrm>
              <a:off x="736" y="222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37" name="Line 141"/>
            <p:cNvSpPr>
              <a:spLocks noChangeShapeType="1"/>
            </p:cNvSpPr>
            <p:nvPr/>
          </p:nvSpPr>
          <p:spPr bwMode="auto">
            <a:xfrm>
              <a:off x="736" y="2207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638" name="Text Box 142"/>
            <p:cNvSpPr txBox="1">
              <a:spLocks noChangeArrowheads="1"/>
            </p:cNvSpPr>
            <p:nvPr/>
          </p:nvSpPr>
          <p:spPr bwMode="auto">
            <a:xfrm>
              <a:off x="432" y="201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639" name="Text Box 143"/>
            <p:cNvSpPr txBox="1">
              <a:spLocks noChangeArrowheads="1"/>
            </p:cNvSpPr>
            <p:nvPr/>
          </p:nvSpPr>
          <p:spPr bwMode="auto">
            <a:xfrm>
              <a:off x="432" y="219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640" name="Text Box 144"/>
            <p:cNvSpPr txBox="1">
              <a:spLocks noChangeArrowheads="1"/>
            </p:cNvSpPr>
            <p:nvPr/>
          </p:nvSpPr>
          <p:spPr bwMode="auto">
            <a:xfrm>
              <a:off x="736" y="2016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641" name="Text Box 145"/>
            <p:cNvSpPr txBox="1">
              <a:spLocks noChangeArrowheads="1"/>
            </p:cNvSpPr>
            <p:nvPr/>
          </p:nvSpPr>
          <p:spPr bwMode="auto">
            <a:xfrm>
              <a:off x="736" y="2192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2</a:t>
              </a:r>
            </a:p>
          </p:txBody>
        </p:sp>
        <p:sp>
          <p:nvSpPr>
            <p:cNvPr id="62642" name="Text Box 146"/>
            <p:cNvSpPr txBox="1">
              <a:spLocks noChangeArrowheads="1"/>
            </p:cNvSpPr>
            <p:nvPr/>
          </p:nvSpPr>
          <p:spPr bwMode="auto">
            <a:xfrm>
              <a:off x="4624" y="1836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r</a:t>
              </a:r>
            </a:p>
          </p:txBody>
        </p:sp>
        <p:sp>
          <p:nvSpPr>
            <p:cNvPr id="62643" name="Rectangle 147"/>
            <p:cNvSpPr>
              <a:spLocks noChangeArrowheads="1"/>
            </p:cNvSpPr>
            <p:nvPr/>
          </p:nvSpPr>
          <p:spPr bwMode="auto">
            <a:xfrm>
              <a:off x="4648" y="2020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44" name="Rectangle 148"/>
            <p:cNvSpPr>
              <a:spLocks noChangeArrowheads="1"/>
            </p:cNvSpPr>
            <p:nvPr/>
          </p:nvSpPr>
          <p:spPr bwMode="auto">
            <a:xfrm>
              <a:off x="4960" y="2052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45" name="Rectangle 149"/>
            <p:cNvSpPr>
              <a:spLocks noChangeArrowheads="1"/>
            </p:cNvSpPr>
            <p:nvPr/>
          </p:nvSpPr>
          <p:spPr bwMode="auto">
            <a:xfrm>
              <a:off x="4960" y="2232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46" name="Line 150"/>
            <p:cNvSpPr>
              <a:spLocks noChangeShapeType="1"/>
            </p:cNvSpPr>
            <p:nvPr/>
          </p:nvSpPr>
          <p:spPr bwMode="auto">
            <a:xfrm>
              <a:off x="4960" y="2211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647" name="Text Box 151"/>
            <p:cNvSpPr txBox="1">
              <a:spLocks noChangeArrowheads="1"/>
            </p:cNvSpPr>
            <p:nvPr/>
          </p:nvSpPr>
          <p:spPr bwMode="auto">
            <a:xfrm>
              <a:off x="4656" y="2019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648" name="Text Box 152"/>
            <p:cNvSpPr txBox="1">
              <a:spLocks noChangeArrowheads="1"/>
            </p:cNvSpPr>
            <p:nvPr/>
          </p:nvSpPr>
          <p:spPr bwMode="auto">
            <a:xfrm>
              <a:off x="4656" y="2199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649" name="Text Box 153"/>
            <p:cNvSpPr txBox="1">
              <a:spLocks noChangeArrowheads="1"/>
            </p:cNvSpPr>
            <p:nvPr/>
          </p:nvSpPr>
          <p:spPr bwMode="auto">
            <a:xfrm>
              <a:off x="4960" y="2020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650" name="Text Box 154"/>
            <p:cNvSpPr txBox="1">
              <a:spLocks noChangeArrowheads="1"/>
            </p:cNvSpPr>
            <p:nvPr/>
          </p:nvSpPr>
          <p:spPr bwMode="auto">
            <a:xfrm>
              <a:off x="4960" y="2196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3</a:t>
              </a:r>
            </a:p>
          </p:txBody>
        </p:sp>
      </p:grpSp>
      <p:sp>
        <p:nvSpPr>
          <p:cNvPr id="731291" name="Rectangle 155"/>
          <p:cNvSpPr>
            <a:spLocks noChangeArrowheads="1"/>
          </p:cNvSpPr>
          <p:nvPr/>
        </p:nvSpPr>
        <p:spPr bwMode="auto">
          <a:xfrm>
            <a:off x="1181100" y="2070100"/>
            <a:ext cx="7188200" cy="5445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92" name="Rectangle 156"/>
          <p:cNvSpPr>
            <a:spLocks noChangeArrowheads="1"/>
          </p:cNvSpPr>
          <p:nvPr/>
        </p:nvSpPr>
        <p:spPr bwMode="auto">
          <a:xfrm>
            <a:off x="3757613" y="2057400"/>
            <a:ext cx="4381500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93" name="Rectangle 157"/>
          <p:cNvSpPr>
            <a:spLocks noChangeArrowheads="1"/>
          </p:cNvSpPr>
          <p:nvPr/>
        </p:nvSpPr>
        <p:spPr bwMode="auto">
          <a:xfrm>
            <a:off x="3757613" y="2057400"/>
            <a:ext cx="4381500" cy="254000"/>
          </a:xfrm>
          <a:prstGeom prst="rect">
            <a:avLst/>
          </a:prstGeom>
          <a:noFill/>
          <a:ln w="19050">
            <a:solidFill>
              <a:srgbClr val="9999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94" name="Rectangle 158"/>
          <p:cNvSpPr>
            <a:spLocks noChangeArrowheads="1"/>
          </p:cNvSpPr>
          <p:nvPr/>
        </p:nvSpPr>
        <p:spPr bwMode="auto">
          <a:xfrm>
            <a:off x="3757613" y="2311400"/>
            <a:ext cx="2084387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295" name="AutoShape 159"/>
          <p:cNvSpPr>
            <a:spLocks noChangeArrowheads="1"/>
          </p:cNvSpPr>
          <p:nvPr/>
        </p:nvSpPr>
        <p:spPr bwMode="auto">
          <a:xfrm>
            <a:off x="4559300" y="2717800"/>
            <a:ext cx="679450" cy="312738"/>
          </a:xfrm>
          <a:prstGeom prst="wedgeEllipseCallout">
            <a:avLst>
              <a:gd name="adj1" fmla="val 0"/>
              <a:gd name="adj2" fmla="val -96194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ro-RO" sz="1600" i="0"/>
              <a:t>6</a:t>
            </a:r>
          </a:p>
        </p:txBody>
      </p:sp>
      <p:sp>
        <p:nvSpPr>
          <p:cNvPr id="731296" name="AutoShape 160"/>
          <p:cNvSpPr>
            <a:spLocks noChangeArrowheads="1"/>
          </p:cNvSpPr>
          <p:nvPr/>
        </p:nvSpPr>
        <p:spPr bwMode="auto">
          <a:xfrm>
            <a:off x="5594350" y="1579563"/>
            <a:ext cx="679450" cy="312737"/>
          </a:xfrm>
          <a:prstGeom prst="wedgeEllipseCallout">
            <a:avLst>
              <a:gd name="adj1" fmla="val 0"/>
              <a:gd name="adj2" fmla="val 100759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ro-RO" sz="1600" i="0"/>
              <a:t>5</a:t>
            </a:r>
          </a:p>
        </p:txBody>
      </p:sp>
      <p:grpSp>
        <p:nvGrpSpPr>
          <p:cNvPr id="731297" name="Group 161"/>
          <p:cNvGrpSpPr>
            <a:grpSpLocks/>
          </p:cNvGrpSpPr>
          <p:nvPr/>
        </p:nvGrpSpPr>
        <p:grpSpPr bwMode="auto">
          <a:xfrm>
            <a:off x="812800" y="1881188"/>
            <a:ext cx="8077200" cy="2843212"/>
            <a:chOff x="336" y="696"/>
            <a:chExt cx="5088" cy="1791"/>
          </a:xfrm>
        </p:grpSpPr>
        <p:sp>
          <p:nvSpPr>
            <p:cNvPr id="62614" name="Rectangle 162"/>
            <p:cNvSpPr>
              <a:spLocks noChangeArrowheads="1"/>
            </p:cNvSpPr>
            <p:nvPr/>
          </p:nvSpPr>
          <p:spPr bwMode="auto">
            <a:xfrm>
              <a:off x="336" y="696"/>
              <a:ext cx="5040" cy="17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15" name="Text Box 163"/>
            <p:cNvSpPr txBox="1">
              <a:spLocks noChangeArrowheads="1"/>
            </p:cNvSpPr>
            <p:nvPr/>
          </p:nvSpPr>
          <p:spPr bwMode="auto">
            <a:xfrm>
              <a:off x="408" y="736"/>
              <a:ext cx="5016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public Rational(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x,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y) {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g = </a:t>
              </a:r>
              <a:r>
                <a:rPr lang="en-US" altLang="ro-RO" sz="1600" b="1" i="0" dirty="0" err="1" smtClean="0">
                  <a:latin typeface="Courier New" panose="02070309020205020404" pitchFamily="49" charset="0"/>
                </a:rPr>
                <a:t>cmmdc</a:t>
              </a:r>
              <a:r>
                <a:rPr lang="en-US" altLang="ro-RO" sz="1600" b="1" i="0" dirty="0" smtClean="0">
                  <a:latin typeface="Courier New" panose="02070309020205020404" pitchFamily="49" charset="0"/>
                </a:rPr>
                <a:t>(</a:t>
              </a:r>
              <a:r>
                <a:rPr lang="en-US" altLang="ro-RO" sz="1600" b="1" i="0" dirty="0" err="1" smtClean="0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 smtClean="0">
                  <a:latin typeface="Courier New" panose="02070309020205020404" pitchFamily="49" charset="0"/>
                </a:rPr>
                <a:t>(x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),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(y));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x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den =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if (y &lt; 0)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-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}</a:t>
              </a:r>
            </a:p>
            <a:p>
              <a:endParaRPr lang="en-US" altLang="ro-RO" sz="1600" b="1" i="0" noProof="1">
                <a:latin typeface="Courier New" panose="02070309020205020404" pitchFamily="49" charset="0"/>
              </a:endParaRPr>
            </a:p>
          </p:txBody>
        </p:sp>
        <p:sp>
          <p:nvSpPr>
            <p:cNvPr id="62616" name="Rectangle 164"/>
            <p:cNvSpPr>
              <a:spLocks noChangeArrowheads="1"/>
            </p:cNvSpPr>
            <p:nvPr/>
          </p:nvSpPr>
          <p:spPr bwMode="auto">
            <a:xfrm>
              <a:off x="3912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17" name="Text Box 165"/>
            <p:cNvSpPr txBox="1">
              <a:spLocks noChangeArrowheads="1"/>
            </p:cNvSpPr>
            <p:nvPr/>
          </p:nvSpPr>
          <p:spPr bwMode="auto">
            <a:xfrm>
              <a:off x="3888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62618" name="Rectangle 166"/>
            <p:cNvSpPr>
              <a:spLocks noChangeArrowheads="1"/>
            </p:cNvSpPr>
            <p:nvPr/>
          </p:nvSpPr>
          <p:spPr bwMode="auto">
            <a:xfrm>
              <a:off x="4656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19" name="Text Box 167"/>
            <p:cNvSpPr txBox="1">
              <a:spLocks noChangeArrowheads="1"/>
            </p:cNvSpPr>
            <p:nvPr/>
          </p:nvSpPr>
          <p:spPr bwMode="auto">
            <a:xfrm>
              <a:off x="4632" y="1984"/>
              <a:ext cx="64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62620" name="Rectangle 168"/>
            <p:cNvSpPr>
              <a:spLocks noChangeArrowheads="1"/>
            </p:cNvSpPr>
            <p:nvPr/>
          </p:nvSpPr>
          <p:spPr bwMode="auto">
            <a:xfrm>
              <a:off x="3168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21" name="Text Box 169"/>
            <p:cNvSpPr txBox="1">
              <a:spLocks noChangeArrowheads="1"/>
            </p:cNvSpPr>
            <p:nvPr/>
          </p:nvSpPr>
          <p:spPr bwMode="auto">
            <a:xfrm>
              <a:off x="3144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x</a:t>
              </a:r>
            </a:p>
          </p:txBody>
        </p:sp>
        <p:sp>
          <p:nvSpPr>
            <p:cNvPr id="62622" name="Text Box 170"/>
            <p:cNvSpPr txBox="1">
              <a:spLocks noChangeArrowheads="1"/>
            </p:cNvSpPr>
            <p:nvPr/>
          </p:nvSpPr>
          <p:spPr bwMode="auto">
            <a:xfrm>
              <a:off x="400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this</a:t>
              </a:r>
            </a:p>
          </p:txBody>
        </p:sp>
        <p:sp>
          <p:nvSpPr>
            <p:cNvPr id="62623" name="Rectangle 171"/>
            <p:cNvSpPr>
              <a:spLocks noChangeArrowheads="1"/>
            </p:cNvSpPr>
            <p:nvPr/>
          </p:nvSpPr>
          <p:spPr bwMode="auto">
            <a:xfrm>
              <a:off x="424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24" name="Rectangle 172"/>
            <p:cNvSpPr>
              <a:spLocks noChangeArrowheads="1"/>
            </p:cNvSpPr>
            <p:nvPr/>
          </p:nvSpPr>
          <p:spPr bwMode="auto">
            <a:xfrm>
              <a:off x="736" y="204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25" name="Rectangle 173"/>
            <p:cNvSpPr>
              <a:spLocks noChangeArrowheads="1"/>
            </p:cNvSpPr>
            <p:nvPr/>
          </p:nvSpPr>
          <p:spPr bwMode="auto">
            <a:xfrm>
              <a:off x="736" y="222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26" name="Line 174"/>
            <p:cNvSpPr>
              <a:spLocks noChangeShapeType="1"/>
            </p:cNvSpPr>
            <p:nvPr/>
          </p:nvSpPr>
          <p:spPr bwMode="auto">
            <a:xfrm>
              <a:off x="736" y="2207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627" name="Text Box 175"/>
            <p:cNvSpPr txBox="1">
              <a:spLocks noChangeArrowheads="1"/>
            </p:cNvSpPr>
            <p:nvPr/>
          </p:nvSpPr>
          <p:spPr bwMode="auto">
            <a:xfrm>
              <a:off x="432" y="201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628" name="Text Box 176"/>
            <p:cNvSpPr txBox="1">
              <a:spLocks noChangeArrowheads="1"/>
            </p:cNvSpPr>
            <p:nvPr/>
          </p:nvSpPr>
          <p:spPr bwMode="auto">
            <a:xfrm>
              <a:off x="432" y="219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629" name="Text Box 177"/>
            <p:cNvSpPr txBox="1">
              <a:spLocks noChangeArrowheads="1"/>
            </p:cNvSpPr>
            <p:nvPr/>
          </p:nvSpPr>
          <p:spPr bwMode="auto">
            <a:xfrm>
              <a:off x="3168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5</a:t>
              </a:r>
            </a:p>
          </p:txBody>
        </p:sp>
        <p:sp>
          <p:nvSpPr>
            <p:cNvPr id="62630" name="Text Box 178"/>
            <p:cNvSpPr txBox="1">
              <a:spLocks noChangeArrowheads="1"/>
            </p:cNvSpPr>
            <p:nvPr/>
          </p:nvSpPr>
          <p:spPr bwMode="auto">
            <a:xfrm>
              <a:off x="3912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6</a:t>
              </a:r>
            </a:p>
          </p:txBody>
        </p:sp>
      </p:grpSp>
      <p:sp>
        <p:nvSpPr>
          <p:cNvPr id="731315" name="Rectangle 179"/>
          <p:cNvSpPr>
            <a:spLocks noChangeArrowheads="1"/>
          </p:cNvSpPr>
          <p:nvPr/>
        </p:nvSpPr>
        <p:spPr bwMode="auto">
          <a:xfrm>
            <a:off x="1320800" y="2228850"/>
            <a:ext cx="47799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16" name="Rectangle 180"/>
          <p:cNvSpPr>
            <a:spLocks noChangeArrowheads="1"/>
          </p:cNvSpPr>
          <p:nvPr/>
        </p:nvSpPr>
        <p:spPr bwMode="auto">
          <a:xfrm>
            <a:off x="1320800" y="2482850"/>
            <a:ext cx="1563688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17" name="Rectangle 181"/>
          <p:cNvSpPr>
            <a:spLocks noChangeArrowheads="1"/>
          </p:cNvSpPr>
          <p:nvPr/>
        </p:nvSpPr>
        <p:spPr bwMode="auto">
          <a:xfrm>
            <a:off x="1320800" y="2724150"/>
            <a:ext cx="276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18" name="Rectangle 182"/>
          <p:cNvSpPr>
            <a:spLocks noChangeArrowheads="1"/>
          </p:cNvSpPr>
          <p:nvPr/>
        </p:nvSpPr>
        <p:spPr bwMode="auto">
          <a:xfrm>
            <a:off x="1320800" y="2965450"/>
            <a:ext cx="2784475" cy="2524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19" name="Text Box 183"/>
          <p:cNvSpPr txBox="1">
            <a:spLocks noChangeArrowheads="1"/>
          </p:cNvSpPr>
          <p:nvPr/>
        </p:nvSpPr>
        <p:spPr bwMode="auto">
          <a:xfrm>
            <a:off x="7670800" y="4243388"/>
            <a:ext cx="979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sp>
        <p:nvSpPr>
          <p:cNvPr id="731320" name="Text Box 184"/>
          <p:cNvSpPr txBox="1">
            <a:spLocks noChangeArrowheads="1"/>
          </p:cNvSpPr>
          <p:nvPr/>
        </p:nvSpPr>
        <p:spPr bwMode="auto">
          <a:xfrm>
            <a:off x="1447800" y="3976688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5</a:t>
            </a:r>
          </a:p>
        </p:txBody>
      </p:sp>
      <p:sp>
        <p:nvSpPr>
          <p:cNvPr id="731321" name="Text Box 185"/>
          <p:cNvSpPr txBox="1">
            <a:spLocks noChangeArrowheads="1"/>
          </p:cNvSpPr>
          <p:nvPr/>
        </p:nvSpPr>
        <p:spPr bwMode="auto">
          <a:xfrm>
            <a:off x="1447800" y="4256088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6</a:t>
            </a:r>
          </a:p>
        </p:txBody>
      </p:sp>
      <p:grpSp>
        <p:nvGrpSpPr>
          <p:cNvPr id="731322" name="Group 186"/>
          <p:cNvGrpSpPr>
            <a:grpSpLocks/>
          </p:cNvGrpSpPr>
          <p:nvPr/>
        </p:nvGrpSpPr>
        <p:grpSpPr bwMode="auto">
          <a:xfrm>
            <a:off x="673100" y="1473200"/>
            <a:ext cx="8077200" cy="2843213"/>
            <a:chOff x="336" y="696"/>
            <a:chExt cx="5088" cy="1791"/>
          </a:xfrm>
        </p:grpSpPr>
        <p:sp>
          <p:nvSpPr>
            <p:cNvPr id="62594" name="Rectangle 187"/>
            <p:cNvSpPr>
              <a:spLocks noChangeArrowheads="1"/>
            </p:cNvSpPr>
            <p:nvPr/>
          </p:nvSpPr>
          <p:spPr bwMode="auto">
            <a:xfrm>
              <a:off x="336" y="696"/>
              <a:ext cx="5040" cy="17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595" name="Text Box 188"/>
            <p:cNvSpPr txBox="1">
              <a:spLocks noChangeArrowheads="1"/>
            </p:cNvSpPr>
            <p:nvPr/>
          </p:nvSpPr>
          <p:spPr bwMode="auto">
            <a:xfrm>
              <a:off x="408" y="736"/>
              <a:ext cx="5016" cy="10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public Rational add(Rational r) {</a:t>
              </a:r>
            </a:p>
            <a:p>
              <a:endParaRPr lang="en-US" altLang="ro-RO" sz="1600" b="1" i="0">
                <a:latin typeface="Courier New" panose="02070309020205020404" pitchFamily="49" charset="0"/>
              </a:endParaRPr>
            </a:p>
            <a:p>
              <a:r>
                <a:rPr lang="en-US" altLang="ro-RO" sz="1600" b="1" i="0">
                  <a:latin typeface="Courier New" panose="02070309020205020404" pitchFamily="49" charset="0"/>
                </a:rPr>
                <a:t>   return new Rational( this.num * r.den + r.num * this.den ,</a:t>
              </a:r>
            </a:p>
            <a:p>
              <a:r>
                <a:rPr lang="en-US" altLang="ro-RO" sz="1600" b="1" i="0">
                  <a:latin typeface="Courier New" panose="02070309020205020404" pitchFamily="49" charset="0"/>
                </a:rPr>
                <a:t>                        this.den * r.den );</a:t>
              </a:r>
            </a:p>
            <a:p>
              <a:endParaRPr lang="en-US" altLang="ro-RO" sz="800" b="1" i="0">
                <a:latin typeface="Courier New" panose="02070309020205020404" pitchFamily="49" charset="0"/>
              </a:endParaRPr>
            </a:p>
            <a:p>
              <a:r>
                <a:rPr lang="en-US" altLang="ro-RO" sz="1600" b="1" i="0">
                  <a:latin typeface="Courier New" panose="02070309020205020404" pitchFamily="49" charset="0"/>
                </a:rPr>
                <a:t>}</a:t>
              </a:r>
            </a:p>
            <a:p>
              <a:endParaRPr lang="en-US" altLang="ro-RO" sz="1600" b="1" i="0" noProof="1">
                <a:latin typeface="Courier New" panose="02070309020205020404" pitchFamily="49" charset="0"/>
              </a:endParaRPr>
            </a:p>
          </p:txBody>
        </p:sp>
        <p:sp>
          <p:nvSpPr>
            <p:cNvPr id="62596" name="Text Box 189"/>
            <p:cNvSpPr txBox="1">
              <a:spLocks noChangeArrowheads="1"/>
            </p:cNvSpPr>
            <p:nvPr/>
          </p:nvSpPr>
          <p:spPr bwMode="auto">
            <a:xfrm>
              <a:off x="400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this</a:t>
              </a:r>
            </a:p>
          </p:txBody>
        </p:sp>
        <p:sp>
          <p:nvSpPr>
            <p:cNvPr id="62597" name="Rectangle 190"/>
            <p:cNvSpPr>
              <a:spLocks noChangeArrowheads="1"/>
            </p:cNvSpPr>
            <p:nvPr/>
          </p:nvSpPr>
          <p:spPr bwMode="auto">
            <a:xfrm>
              <a:off x="424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598" name="Rectangle 191"/>
            <p:cNvSpPr>
              <a:spLocks noChangeArrowheads="1"/>
            </p:cNvSpPr>
            <p:nvPr/>
          </p:nvSpPr>
          <p:spPr bwMode="auto">
            <a:xfrm>
              <a:off x="736" y="204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599" name="Rectangle 192"/>
            <p:cNvSpPr>
              <a:spLocks noChangeArrowheads="1"/>
            </p:cNvSpPr>
            <p:nvPr/>
          </p:nvSpPr>
          <p:spPr bwMode="auto">
            <a:xfrm>
              <a:off x="736" y="222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00" name="Line 193"/>
            <p:cNvSpPr>
              <a:spLocks noChangeShapeType="1"/>
            </p:cNvSpPr>
            <p:nvPr/>
          </p:nvSpPr>
          <p:spPr bwMode="auto">
            <a:xfrm>
              <a:off x="736" y="2207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601" name="Text Box 194"/>
            <p:cNvSpPr txBox="1">
              <a:spLocks noChangeArrowheads="1"/>
            </p:cNvSpPr>
            <p:nvPr/>
          </p:nvSpPr>
          <p:spPr bwMode="auto">
            <a:xfrm>
              <a:off x="432" y="201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602" name="Text Box 195"/>
            <p:cNvSpPr txBox="1">
              <a:spLocks noChangeArrowheads="1"/>
            </p:cNvSpPr>
            <p:nvPr/>
          </p:nvSpPr>
          <p:spPr bwMode="auto">
            <a:xfrm>
              <a:off x="432" y="219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603" name="Text Box 196"/>
            <p:cNvSpPr txBox="1">
              <a:spLocks noChangeArrowheads="1"/>
            </p:cNvSpPr>
            <p:nvPr/>
          </p:nvSpPr>
          <p:spPr bwMode="auto">
            <a:xfrm>
              <a:off x="736" y="2016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5</a:t>
              </a:r>
            </a:p>
          </p:txBody>
        </p:sp>
        <p:sp>
          <p:nvSpPr>
            <p:cNvPr id="62604" name="Text Box 197"/>
            <p:cNvSpPr txBox="1">
              <a:spLocks noChangeArrowheads="1"/>
            </p:cNvSpPr>
            <p:nvPr/>
          </p:nvSpPr>
          <p:spPr bwMode="auto">
            <a:xfrm>
              <a:off x="736" y="2192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6</a:t>
              </a:r>
            </a:p>
          </p:txBody>
        </p:sp>
        <p:sp>
          <p:nvSpPr>
            <p:cNvPr id="62605" name="Text Box 198"/>
            <p:cNvSpPr txBox="1">
              <a:spLocks noChangeArrowheads="1"/>
            </p:cNvSpPr>
            <p:nvPr/>
          </p:nvSpPr>
          <p:spPr bwMode="auto">
            <a:xfrm>
              <a:off x="4624" y="1836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r</a:t>
              </a:r>
            </a:p>
          </p:txBody>
        </p:sp>
        <p:sp>
          <p:nvSpPr>
            <p:cNvPr id="62606" name="Rectangle 199"/>
            <p:cNvSpPr>
              <a:spLocks noChangeArrowheads="1"/>
            </p:cNvSpPr>
            <p:nvPr/>
          </p:nvSpPr>
          <p:spPr bwMode="auto">
            <a:xfrm>
              <a:off x="4648" y="2020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607" name="Rectangle 200"/>
            <p:cNvSpPr>
              <a:spLocks noChangeArrowheads="1"/>
            </p:cNvSpPr>
            <p:nvPr/>
          </p:nvSpPr>
          <p:spPr bwMode="auto">
            <a:xfrm>
              <a:off x="4960" y="2052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08" name="Rectangle 201"/>
            <p:cNvSpPr>
              <a:spLocks noChangeArrowheads="1"/>
            </p:cNvSpPr>
            <p:nvPr/>
          </p:nvSpPr>
          <p:spPr bwMode="auto">
            <a:xfrm>
              <a:off x="4960" y="2232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609" name="Line 202"/>
            <p:cNvSpPr>
              <a:spLocks noChangeShapeType="1"/>
            </p:cNvSpPr>
            <p:nvPr/>
          </p:nvSpPr>
          <p:spPr bwMode="auto">
            <a:xfrm>
              <a:off x="4960" y="2211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610" name="Text Box 203"/>
            <p:cNvSpPr txBox="1">
              <a:spLocks noChangeArrowheads="1"/>
            </p:cNvSpPr>
            <p:nvPr/>
          </p:nvSpPr>
          <p:spPr bwMode="auto">
            <a:xfrm>
              <a:off x="4656" y="2019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611" name="Text Box 204"/>
            <p:cNvSpPr txBox="1">
              <a:spLocks noChangeArrowheads="1"/>
            </p:cNvSpPr>
            <p:nvPr/>
          </p:nvSpPr>
          <p:spPr bwMode="auto">
            <a:xfrm>
              <a:off x="4656" y="2199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612" name="Text Box 205"/>
            <p:cNvSpPr txBox="1">
              <a:spLocks noChangeArrowheads="1"/>
            </p:cNvSpPr>
            <p:nvPr/>
          </p:nvSpPr>
          <p:spPr bwMode="auto">
            <a:xfrm>
              <a:off x="4960" y="2020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1</a:t>
              </a:r>
            </a:p>
          </p:txBody>
        </p:sp>
        <p:sp>
          <p:nvSpPr>
            <p:cNvPr id="62613" name="Text Box 206"/>
            <p:cNvSpPr txBox="1">
              <a:spLocks noChangeArrowheads="1"/>
            </p:cNvSpPr>
            <p:nvPr/>
          </p:nvSpPr>
          <p:spPr bwMode="auto">
            <a:xfrm>
              <a:off x="4960" y="2196"/>
              <a:ext cx="2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6</a:t>
              </a:r>
            </a:p>
          </p:txBody>
        </p:sp>
      </p:grpSp>
      <p:sp>
        <p:nvSpPr>
          <p:cNvPr id="731343" name="Rectangle 207"/>
          <p:cNvSpPr>
            <a:spLocks noChangeArrowheads="1"/>
          </p:cNvSpPr>
          <p:nvPr/>
        </p:nvSpPr>
        <p:spPr bwMode="auto">
          <a:xfrm>
            <a:off x="1181100" y="2070100"/>
            <a:ext cx="7188200" cy="5445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44" name="Rectangle 208"/>
          <p:cNvSpPr>
            <a:spLocks noChangeArrowheads="1"/>
          </p:cNvSpPr>
          <p:nvPr/>
        </p:nvSpPr>
        <p:spPr bwMode="auto">
          <a:xfrm>
            <a:off x="3757613" y="2057400"/>
            <a:ext cx="4381500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45" name="Rectangle 209"/>
          <p:cNvSpPr>
            <a:spLocks noChangeArrowheads="1"/>
          </p:cNvSpPr>
          <p:nvPr/>
        </p:nvSpPr>
        <p:spPr bwMode="auto">
          <a:xfrm>
            <a:off x="3757613" y="2057400"/>
            <a:ext cx="4381500" cy="254000"/>
          </a:xfrm>
          <a:prstGeom prst="rect">
            <a:avLst/>
          </a:prstGeom>
          <a:noFill/>
          <a:ln w="19050">
            <a:solidFill>
              <a:srgbClr val="9999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46" name="Rectangle 210"/>
          <p:cNvSpPr>
            <a:spLocks noChangeArrowheads="1"/>
          </p:cNvSpPr>
          <p:nvPr/>
        </p:nvSpPr>
        <p:spPr bwMode="auto">
          <a:xfrm>
            <a:off x="3757613" y="2311400"/>
            <a:ext cx="2084387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47" name="AutoShape 211"/>
          <p:cNvSpPr>
            <a:spLocks noChangeArrowheads="1"/>
          </p:cNvSpPr>
          <p:nvPr/>
        </p:nvSpPr>
        <p:spPr bwMode="auto">
          <a:xfrm>
            <a:off x="4559300" y="2717800"/>
            <a:ext cx="679450" cy="312738"/>
          </a:xfrm>
          <a:prstGeom prst="wedgeEllipseCallout">
            <a:avLst>
              <a:gd name="adj1" fmla="val 0"/>
              <a:gd name="adj2" fmla="val -96194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ro-RO" sz="1600" i="0"/>
              <a:t>36</a:t>
            </a:r>
          </a:p>
        </p:txBody>
      </p:sp>
      <p:sp>
        <p:nvSpPr>
          <p:cNvPr id="731348" name="AutoShape 212"/>
          <p:cNvSpPr>
            <a:spLocks noChangeArrowheads="1"/>
          </p:cNvSpPr>
          <p:nvPr/>
        </p:nvSpPr>
        <p:spPr bwMode="auto">
          <a:xfrm>
            <a:off x="5594350" y="1579563"/>
            <a:ext cx="679450" cy="312737"/>
          </a:xfrm>
          <a:prstGeom prst="wedgeEllipseCallout">
            <a:avLst>
              <a:gd name="adj1" fmla="val 0"/>
              <a:gd name="adj2" fmla="val 100759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ro-RO" sz="1600" i="0"/>
              <a:t>36</a:t>
            </a:r>
          </a:p>
        </p:txBody>
      </p:sp>
      <p:grpSp>
        <p:nvGrpSpPr>
          <p:cNvPr id="731349" name="Group 213"/>
          <p:cNvGrpSpPr>
            <a:grpSpLocks/>
          </p:cNvGrpSpPr>
          <p:nvPr/>
        </p:nvGrpSpPr>
        <p:grpSpPr bwMode="auto">
          <a:xfrm>
            <a:off x="812800" y="1881188"/>
            <a:ext cx="8077200" cy="2843212"/>
            <a:chOff x="336" y="696"/>
            <a:chExt cx="5088" cy="1791"/>
          </a:xfrm>
        </p:grpSpPr>
        <p:sp>
          <p:nvSpPr>
            <p:cNvPr id="62577" name="Rectangle 214"/>
            <p:cNvSpPr>
              <a:spLocks noChangeArrowheads="1"/>
            </p:cNvSpPr>
            <p:nvPr/>
          </p:nvSpPr>
          <p:spPr bwMode="auto">
            <a:xfrm>
              <a:off x="336" y="696"/>
              <a:ext cx="5040" cy="17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578" name="Text Box 215"/>
            <p:cNvSpPr txBox="1">
              <a:spLocks noChangeArrowheads="1"/>
            </p:cNvSpPr>
            <p:nvPr/>
          </p:nvSpPr>
          <p:spPr bwMode="auto">
            <a:xfrm>
              <a:off x="408" y="736"/>
              <a:ext cx="5016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public Rational(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x,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y) {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int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g = </a:t>
              </a:r>
              <a:r>
                <a:rPr lang="en-US" altLang="ro-RO" sz="1600" b="1" i="0" dirty="0" err="1" smtClean="0">
                  <a:latin typeface="Courier New" panose="02070309020205020404" pitchFamily="49" charset="0"/>
                </a:rPr>
                <a:t>cmmdc</a:t>
              </a:r>
              <a:r>
                <a:rPr lang="en-US" altLang="ro-RO" sz="1600" b="1" i="0" dirty="0" smtClean="0">
                  <a:latin typeface="Courier New" panose="02070309020205020404" pitchFamily="49" charset="0"/>
                </a:rPr>
                <a:t>(</a:t>
              </a:r>
              <a:r>
                <a:rPr lang="en-US" altLang="ro-RO" sz="1600" b="1" i="0" dirty="0" err="1" smtClean="0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 smtClean="0">
                  <a:latin typeface="Courier New" panose="02070309020205020404" pitchFamily="49" charset="0"/>
                </a:rPr>
                <a:t>(x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),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(y));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x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den =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Math.abs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(y) / g;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   if (y &lt; 0) 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 = -</a:t>
              </a:r>
              <a:r>
                <a:rPr lang="en-US" altLang="ro-RO" sz="1600" b="1" i="0" dirty="0" err="1">
                  <a:latin typeface="Courier New" panose="02070309020205020404" pitchFamily="49" charset="0"/>
                </a:rPr>
                <a:t>num</a:t>
              </a:r>
              <a:r>
                <a:rPr lang="en-US" altLang="ro-RO" sz="1600" b="1" i="0" dirty="0">
                  <a:latin typeface="Courier New" panose="02070309020205020404" pitchFamily="49" charset="0"/>
                </a:rPr>
                <a:t>;</a:t>
              </a:r>
            </a:p>
            <a:p>
              <a:r>
                <a:rPr lang="en-US" altLang="ro-RO" sz="1600" b="1" i="0" dirty="0">
                  <a:latin typeface="Courier New" panose="02070309020205020404" pitchFamily="49" charset="0"/>
                </a:rPr>
                <a:t>}</a:t>
              </a:r>
            </a:p>
            <a:p>
              <a:endParaRPr lang="en-US" altLang="ro-RO" sz="1600" b="1" i="0" noProof="1">
                <a:latin typeface="Courier New" panose="02070309020205020404" pitchFamily="49" charset="0"/>
              </a:endParaRPr>
            </a:p>
          </p:txBody>
        </p:sp>
        <p:sp>
          <p:nvSpPr>
            <p:cNvPr id="62579" name="Rectangle 216"/>
            <p:cNvSpPr>
              <a:spLocks noChangeArrowheads="1"/>
            </p:cNvSpPr>
            <p:nvPr/>
          </p:nvSpPr>
          <p:spPr bwMode="auto">
            <a:xfrm>
              <a:off x="3912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580" name="Text Box 217"/>
            <p:cNvSpPr txBox="1">
              <a:spLocks noChangeArrowheads="1"/>
            </p:cNvSpPr>
            <p:nvPr/>
          </p:nvSpPr>
          <p:spPr bwMode="auto">
            <a:xfrm>
              <a:off x="3888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62581" name="Rectangle 218"/>
            <p:cNvSpPr>
              <a:spLocks noChangeArrowheads="1"/>
            </p:cNvSpPr>
            <p:nvPr/>
          </p:nvSpPr>
          <p:spPr bwMode="auto">
            <a:xfrm>
              <a:off x="4656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582" name="Text Box 219"/>
            <p:cNvSpPr txBox="1">
              <a:spLocks noChangeArrowheads="1"/>
            </p:cNvSpPr>
            <p:nvPr/>
          </p:nvSpPr>
          <p:spPr bwMode="auto">
            <a:xfrm>
              <a:off x="4632" y="1984"/>
              <a:ext cx="64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g</a:t>
              </a:r>
            </a:p>
          </p:txBody>
        </p:sp>
        <p:sp>
          <p:nvSpPr>
            <p:cNvPr id="62583" name="Rectangle 220"/>
            <p:cNvSpPr>
              <a:spLocks noChangeArrowheads="1"/>
            </p:cNvSpPr>
            <p:nvPr/>
          </p:nvSpPr>
          <p:spPr bwMode="auto">
            <a:xfrm>
              <a:off x="3168" y="2168"/>
              <a:ext cx="624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584" name="Text Box 221"/>
            <p:cNvSpPr txBox="1">
              <a:spLocks noChangeArrowheads="1"/>
            </p:cNvSpPr>
            <p:nvPr/>
          </p:nvSpPr>
          <p:spPr bwMode="auto">
            <a:xfrm>
              <a:off x="3144" y="1984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x</a:t>
              </a:r>
            </a:p>
          </p:txBody>
        </p:sp>
        <p:sp>
          <p:nvSpPr>
            <p:cNvPr id="62585" name="Text Box 222"/>
            <p:cNvSpPr txBox="1">
              <a:spLocks noChangeArrowheads="1"/>
            </p:cNvSpPr>
            <p:nvPr/>
          </p:nvSpPr>
          <p:spPr bwMode="auto">
            <a:xfrm>
              <a:off x="400" y="1832"/>
              <a:ext cx="6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sz="1600" b="1" i="0">
                  <a:latin typeface="Courier New" panose="02070309020205020404" pitchFamily="49" charset="0"/>
                </a:rPr>
                <a:t>this</a:t>
              </a:r>
            </a:p>
          </p:txBody>
        </p:sp>
        <p:sp>
          <p:nvSpPr>
            <p:cNvPr id="62586" name="Rectangle 223"/>
            <p:cNvSpPr>
              <a:spLocks noChangeArrowheads="1"/>
            </p:cNvSpPr>
            <p:nvPr/>
          </p:nvSpPr>
          <p:spPr bwMode="auto">
            <a:xfrm>
              <a:off x="424" y="2016"/>
              <a:ext cx="624" cy="3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587" name="Rectangle 224"/>
            <p:cNvSpPr>
              <a:spLocks noChangeArrowheads="1"/>
            </p:cNvSpPr>
            <p:nvPr/>
          </p:nvSpPr>
          <p:spPr bwMode="auto">
            <a:xfrm>
              <a:off x="736" y="204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588" name="Rectangle 225"/>
            <p:cNvSpPr>
              <a:spLocks noChangeArrowheads="1"/>
            </p:cNvSpPr>
            <p:nvPr/>
          </p:nvSpPr>
          <p:spPr bwMode="auto">
            <a:xfrm>
              <a:off x="736" y="2228"/>
              <a:ext cx="251" cy="14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ro-RO" altLang="ro-RO" sz="1600" i="0"/>
            </a:p>
          </p:txBody>
        </p:sp>
        <p:sp>
          <p:nvSpPr>
            <p:cNvPr id="62589" name="Line 226"/>
            <p:cNvSpPr>
              <a:spLocks noChangeShapeType="1"/>
            </p:cNvSpPr>
            <p:nvPr/>
          </p:nvSpPr>
          <p:spPr bwMode="auto">
            <a:xfrm>
              <a:off x="736" y="2207"/>
              <a:ext cx="2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2590" name="Text Box 227"/>
            <p:cNvSpPr txBox="1">
              <a:spLocks noChangeArrowheads="1"/>
            </p:cNvSpPr>
            <p:nvPr/>
          </p:nvSpPr>
          <p:spPr bwMode="auto">
            <a:xfrm>
              <a:off x="432" y="201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62591" name="Text Box 228"/>
            <p:cNvSpPr txBox="1">
              <a:spLocks noChangeArrowheads="1"/>
            </p:cNvSpPr>
            <p:nvPr/>
          </p:nvSpPr>
          <p:spPr bwMode="auto">
            <a:xfrm>
              <a:off x="432" y="2195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ro-RO" b="1" i="0">
                  <a:latin typeface="Courier New" panose="02070309020205020404" pitchFamily="49" charset="0"/>
                </a:rPr>
                <a:t>den</a:t>
              </a:r>
            </a:p>
          </p:txBody>
        </p:sp>
        <p:sp>
          <p:nvSpPr>
            <p:cNvPr id="62592" name="Text Box 229"/>
            <p:cNvSpPr txBox="1">
              <a:spLocks noChangeArrowheads="1"/>
            </p:cNvSpPr>
            <p:nvPr/>
          </p:nvSpPr>
          <p:spPr bwMode="auto">
            <a:xfrm>
              <a:off x="3168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36</a:t>
              </a:r>
            </a:p>
          </p:txBody>
        </p:sp>
        <p:sp>
          <p:nvSpPr>
            <p:cNvPr id="62593" name="Text Box 230"/>
            <p:cNvSpPr txBox="1">
              <a:spLocks noChangeArrowheads="1"/>
            </p:cNvSpPr>
            <p:nvPr/>
          </p:nvSpPr>
          <p:spPr bwMode="auto">
            <a:xfrm>
              <a:off x="3912" y="2184"/>
              <a:ext cx="61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i="0"/>
                <a:t>36</a:t>
              </a:r>
            </a:p>
          </p:txBody>
        </p:sp>
      </p:grpSp>
      <p:sp>
        <p:nvSpPr>
          <p:cNvPr id="731367" name="Rectangle 231"/>
          <p:cNvSpPr>
            <a:spLocks noChangeArrowheads="1"/>
          </p:cNvSpPr>
          <p:nvPr/>
        </p:nvSpPr>
        <p:spPr bwMode="auto">
          <a:xfrm>
            <a:off x="1320800" y="2228850"/>
            <a:ext cx="47799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68" name="Rectangle 232"/>
          <p:cNvSpPr>
            <a:spLocks noChangeArrowheads="1"/>
          </p:cNvSpPr>
          <p:nvPr/>
        </p:nvSpPr>
        <p:spPr bwMode="auto">
          <a:xfrm>
            <a:off x="1320800" y="2482850"/>
            <a:ext cx="1563688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69" name="Rectangle 233"/>
          <p:cNvSpPr>
            <a:spLocks noChangeArrowheads="1"/>
          </p:cNvSpPr>
          <p:nvPr/>
        </p:nvSpPr>
        <p:spPr bwMode="auto">
          <a:xfrm>
            <a:off x="1320800" y="2724150"/>
            <a:ext cx="2760663" cy="254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70" name="Rectangle 234"/>
          <p:cNvSpPr>
            <a:spLocks noChangeArrowheads="1"/>
          </p:cNvSpPr>
          <p:nvPr/>
        </p:nvSpPr>
        <p:spPr bwMode="auto">
          <a:xfrm>
            <a:off x="1320800" y="2965450"/>
            <a:ext cx="2784475" cy="2524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o-RO" altLang="ro-RO"/>
          </a:p>
        </p:txBody>
      </p:sp>
      <p:sp>
        <p:nvSpPr>
          <p:cNvPr id="731371" name="Text Box 235"/>
          <p:cNvSpPr txBox="1">
            <a:spLocks noChangeArrowheads="1"/>
          </p:cNvSpPr>
          <p:nvPr/>
        </p:nvSpPr>
        <p:spPr bwMode="auto">
          <a:xfrm>
            <a:off x="7670800" y="4243388"/>
            <a:ext cx="9794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36</a:t>
            </a:r>
          </a:p>
        </p:txBody>
      </p:sp>
      <p:sp>
        <p:nvSpPr>
          <p:cNvPr id="731372" name="Text Box 236"/>
          <p:cNvSpPr txBox="1">
            <a:spLocks noChangeArrowheads="1"/>
          </p:cNvSpPr>
          <p:nvPr/>
        </p:nvSpPr>
        <p:spPr bwMode="auto">
          <a:xfrm>
            <a:off x="1447800" y="3976688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sp>
        <p:nvSpPr>
          <p:cNvPr id="731373" name="Text Box 237"/>
          <p:cNvSpPr txBox="1">
            <a:spLocks noChangeArrowheads="1"/>
          </p:cNvSpPr>
          <p:nvPr/>
        </p:nvSpPr>
        <p:spPr bwMode="auto">
          <a:xfrm>
            <a:off x="1447800" y="4256088"/>
            <a:ext cx="396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1600" i="0"/>
              <a:t>1</a:t>
            </a:r>
          </a:p>
        </p:txBody>
      </p:sp>
      <p:grpSp>
        <p:nvGrpSpPr>
          <p:cNvPr id="731374" name="Group 238"/>
          <p:cNvGrpSpPr>
            <a:grpSpLocks/>
          </p:cNvGrpSpPr>
          <p:nvPr/>
        </p:nvGrpSpPr>
        <p:grpSpPr bwMode="auto">
          <a:xfrm>
            <a:off x="533400" y="1104900"/>
            <a:ext cx="8394700" cy="3771900"/>
            <a:chOff x="424" y="792"/>
            <a:chExt cx="5288" cy="2376"/>
          </a:xfrm>
        </p:grpSpPr>
        <p:sp>
          <p:nvSpPr>
            <p:cNvPr id="62541" name="Rectangle 239"/>
            <p:cNvSpPr>
              <a:spLocks noChangeArrowheads="1"/>
            </p:cNvSpPr>
            <p:nvPr/>
          </p:nvSpPr>
          <p:spPr bwMode="auto">
            <a:xfrm>
              <a:off x="432" y="792"/>
              <a:ext cx="5280" cy="237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sp>
          <p:nvSpPr>
            <p:cNvPr id="62542" name="Rectangle 240"/>
            <p:cNvSpPr>
              <a:spLocks noChangeArrowheads="1"/>
            </p:cNvSpPr>
            <p:nvPr/>
          </p:nvSpPr>
          <p:spPr bwMode="auto">
            <a:xfrm>
              <a:off x="424" y="792"/>
              <a:ext cx="5040" cy="17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ro-RO" altLang="ro-RO"/>
            </a:p>
          </p:txBody>
        </p:sp>
        <p:grpSp>
          <p:nvGrpSpPr>
            <p:cNvPr id="62543" name="Group 241"/>
            <p:cNvGrpSpPr>
              <a:grpSpLocks/>
            </p:cNvGrpSpPr>
            <p:nvPr/>
          </p:nvGrpSpPr>
          <p:grpSpPr bwMode="auto">
            <a:xfrm>
              <a:off x="2472" y="1928"/>
              <a:ext cx="2896" cy="577"/>
              <a:chOff x="2384" y="1832"/>
              <a:chExt cx="2896" cy="577"/>
            </a:xfrm>
          </p:grpSpPr>
          <p:sp>
            <p:nvSpPr>
              <p:cNvPr id="62569" name="Rectangle 242"/>
              <p:cNvSpPr>
                <a:spLocks noChangeArrowheads="1"/>
              </p:cNvSpPr>
              <p:nvPr/>
            </p:nvSpPr>
            <p:spPr bwMode="auto">
              <a:xfrm>
                <a:off x="3912" y="2016"/>
                <a:ext cx="624" cy="39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ro-RO" altLang="ro-RO"/>
              </a:p>
            </p:txBody>
          </p:sp>
          <p:sp>
            <p:nvSpPr>
              <p:cNvPr id="62570" name="Text Box 243"/>
              <p:cNvSpPr txBox="1">
                <a:spLocks noChangeArrowheads="1"/>
              </p:cNvSpPr>
              <p:nvPr/>
            </p:nvSpPr>
            <p:spPr bwMode="auto">
              <a:xfrm>
                <a:off x="3888" y="1832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ro-RO" sz="1600" b="1" i="0">
                    <a:latin typeface="Courier New" panose="02070309020205020404" pitchFamily="49" charset="0"/>
                  </a:rPr>
                  <a:t>c</a:t>
                </a:r>
              </a:p>
            </p:txBody>
          </p:sp>
          <p:sp>
            <p:nvSpPr>
              <p:cNvPr id="62571" name="Rectangle 244"/>
              <p:cNvSpPr>
                <a:spLocks noChangeArrowheads="1"/>
              </p:cNvSpPr>
              <p:nvPr/>
            </p:nvSpPr>
            <p:spPr bwMode="auto">
              <a:xfrm>
                <a:off x="4656" y="2016"/>
                <a:ext cx="624" cy="39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ro-RO" altLang="ro-RO"/>
              </a:p>
            </p:txBody>
          </p:sp>
          <p:sp>
            <p:nvSpPr>
              <p:cNvPr id="62572" name="Text Box 245"/>
              <p:cNvSpPr txBox="1">
                <a:spLocks noChangeArrowheads="1"/>
              </p:cNvSpPr>
              <p:nvPr/>
            </p:nvSpPr>
            <p:spPr bwMode="auto">
              <a:xfrm>
                <a:off x="4632" y="1832"/>
                <a:ext cx="64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ro-RO" sz="1600" b="1" i="0">
                    <a:latin typeface="Courier New" panose="02070309020205020404" pitchFamily="49" charset="0"/>
                  </a:rPr>
                  <a:t>sum</a:t>
                </a:r>
              </a:p>
            </p:txBody>
          </p:sp>
          <p:sp>
            <p:nvSpPr>
              <p:cNvPr id="62573" name="Rectangle 246"/>
              <p:cNvSpPr>
                <a:spLocks noChangeArrowheads="1"/>
              </p:cNvSpPr>
              <p:nvPr/>
            </p:nvSpPr>
            <p:spPr bwMode="auto">
              <a:xfrm>
                <a:off x="3160" y="2016"/>
                <a:ext cx="624" cy="39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ro-RO" altLang="ro-RO"/>
              </a:p>
            </p:txBody>
          </p:sp>
          <p:sp>
            <p:nvSpPr>
              <p:cNvPr id="62574" name="Text Box 247"/>
              <p:cNvSpPr txBox="1">
                <a:spLocks noChangeArrowheads="1"/>
              </p:cNvSpPr>
              <p:nvPr/>
            </p:nvSpPr>
            <p:spPr bwMode="auto">
              <a:xfrm>
                <a:off x="3136" y="1832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ro-RO" sz="1600" b="1" i="0">
                    <a:latin typeface="Courier New" panose="02070309020205020404" pitchFamily="49" charset="0"/>
                  </a:rPr>
                  <a:t>b</a:t>
                </a:r>
              </a:p>
            </p:txBody>
          </p:sp>
          <p:sp>
            <p:nvSpPr>
              <p:cNvPr id="62575" name="Text Box 248"/>
              <p:cNvSpPr txBox="1">
                <a:spLocks noChangeArrowheads="1"/>
              </p:cNvSpPr>
              <p:nvPr/>
            </p:nvSpPr>
            <p:spPr bwMode="auto">
              <a:xfrm>
                <a:off x="2384" y="1832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ro-RO" sz="1600" b="1" i="0">
                    <a:latin typeface="Courier New" panose="02070309020205020404" pitchFamily="49" charset="0"/>
                  </a:rPr>
                  <a:t>a</a:t>
                </a:r>
              </a:p>
            </p:txBody>
          </p:sp>
          <p:sp>
            <p:nvSpPr>
              <p:cNvPr id="62576" name="Rectangle 249"/>
              <p:cNvSpPr>
                <a:spLocks noChangeArrowheads="1"/>
              </p:cNvSpPr>
              <p:nvPr/>
            </p:nvSpPr>
            <p:spPr bwMode="auto">
              <a:xfrm>
                <a:off x="2408" y="2016"/>
                <a:ext cx="624" cy="39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ro-RO" altLang="ro-RO"/>
              </a:p>
            </p:txBody>
          </p:sp>
        </p:grpSp>
        <p:sp>
          <p:nvSpPr>
            <p:cNvPr id="62544" name="Text Box 250"/>
            <p:cNvSpPr txBox="1">
              <a:spLocks noChangeArrowheads="1"/>
            </p:cNvSpPr>
            <p:nvPr/>
          </p:nvSpPr>
          <p:spPr bwMode="auto">
            <a:xfrm>
              <a:off x="496" y="832"/>
              <a:ext cx="5016" cy="14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ro-RO" altLang="ro-RO" sz="1600" b="1" i="0" noProof="1" smtClean="0">
                  <a:latin typeface="Courier New" panose="02070309020205020404" pitchFamily="49" charset="0"/>
                </a:rPr>
                <a:t>public class TestRational {</a:t>
              </a:r>
            </a:p>
            <a:p>
              <a:r>
                <a:rPr lang="ro-RO" altLang="ro-RO" sz="1600" b="1" i="0" noProof="1" smtClean="0">
                  <a:latin typeface="Courier New" panose="02070309020205020404" pitchFamily="49" charset="0"/>
                </a:rPr>
                <a:t>public static void main (String[] args) {</a:t>
              </a:r>
            </a:p>
            <a:p>
              <a:r>
                <a:rPr lang="en-US" altLang="ro-RO" sz="1600" b="1" i="0" noProof="1" smtClean="0">
                  <a:latin typeface="Courier New" panose="02070309020205020404" pitchFamily="49" charset="0"/>
                </a:rPr>
                <a:t>   </a:t>
              </a:r>
              <a:r>
                <a:rPr lang="ro-RO" altLang="ro-RO" sz="1600" b="1" i="0" noProof="1" smtClean="0">
                  <a:latin typeface="Courier New" panose="02070309020205020404" pitchFamily="49" charset="0"/>
                </a:rPr>
                <a:t>Rational a = new Rational(1, 2);</a:t>
              </a:r>
            </a:p>
            <a:p>
              <a:r>
                <a:rPr lang="ro-RO" altLang="ro-RO" sz="1600" b="1" i="0" noProof="1" smtClean="0">
                  <a:latin typeface="Courier New" panose="02070309020205020404" pitchFamily="49" charset="0"/>
                </a:rPr>
                <a:t>   Rational b = new Rational(1, 3);</a:t>
              </a:r>
            </a:p>
            <a:p>
              <a:r>
                <a:rPr lang="ro-RO" altLang="ro-RO" sz="1600" b="1" i="0" noProof="1" smtClean="0">
                  <a:latin typeface="Courier New" panose="02070309020205020404" pitchFamily="49" charset="0"/>
                </a:rPr>
                <a:t>   Rational c = new Rational(1, 6);</a:t>
              </a:r>
            </a:p>
            <a:p>
              <a:r>
                <a:rPr lang="ro-RO" altLang="ro-RO" sz="1600" b="1" i="0" noProof="1" smtClean="0">
                  <a:latin typeface="Courier New" panose="02070309020205020404" pitchFamily="49" charset="0"/>
                </a:rPr>
                <a:t>   Rational sum = a.add(b).add(c);</a:t>
              </a:r>
            </a:p>
            <a:p>
              <a:r>
                <a:rPr lang="ro-RO" altLang="ro-RO" sz="1600" b="1" i="0" noProof="1" smtClean="0">
                  <a:latin typeface="Courier New" panose="02070309020205020404" pitchFamily="49" charset="0"/>
                </a:rPr>
                <a:t>   System.out.println(a + " + " + b + " + " + c + " = " + sum);</a:t>
              </a:r>
            </a:p>
            <a:p>
              <a:r>
                <a:rPr lang="ro-RO" altLang="ro-RO" sz="1600" b="1" i="0" noProof="1" smtClean="0">
                  <a:latin typeface="Courier New" panose="02070309020205020404" pitchFamily="49" charset="0"/>
                </a:rPr>
                <a:t>}</a:t>
              </a:r>
            </a:p>
            <a:p>
              <a:r>
                <a:rPr lang="ro-RO" altLang="ro-RO" sz="1600" b="1" i="0" noProof="1" smtClean="0">
                  <a:latin typeface="Courier New" panose="02070309020205020404" pitchFamily="49" charset="0"/>
                </a:rPr>
                <a:t>}</a:t>
              </a:r>
              <a:endParaRPr lang="en-US" altLang="ro-RO" sz="1600" b="1" i="0" noProof="1">
                <a:latin typeface="Courier New" panose="02070309020205020404" pitchFamily="49" charset="0"/>
              </a:endParaRPr>
            </a:p>
          </p:txBody>
        </p:sp>
        <p:grpSp>
          <p:nvGrpSpPr>
            <p:cNvPr id="62545" name="Group 251"/>
            <p:cNvGrpSpPr>
              <a:grpSpLocks/>
            </p:cNvGrpSpPr>
            <p:nvPr/>
          </p:nvGrpSpPr>
          <p:grpSpPr bwMode="auto">
            <a:xfrm>
              <a:off x="2683" y="2112"/>
              <a:ext cx="253" cy="388"/>
              <a:chOff x="736" y="2871"/>
              <a:chExt cx="253" cy="388"/>
            </a:xfrm>
          </p:grpSpPr>
          <p:sp>
            <p:nvSpPr>
              <p:cNvPr id="62564" name="Rectangle 252"/>
              <p:cNvSpPr>
                <a:spLocks noChangeArrowheads="1"/>
              </p:cNvSpPr>
              <p:nvPr/>
            </p:nvSpPr>
            <p:spPr bwMode="auto">
              <a:xfrm>
                <a:off x="736" y="2903"/>
                <a:ext cx="251" cy="141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ro-RO" altLang="ro-RO" sz="1600" i="0"/>
              </a:p>
            </p:txBody>
          </p:sp>
          <p:sp>
            <p:nvSpPr>
              <p:cNvPr id="62565" name="Rectangle 253"/>
              <p:cNvSpPr>
                <a:spLocks noChangeArrowheads="1"/>
              </p:cNvSpPr>
              <p:nvPr/>
            </p:nvSpPr>
            <p:spPr bwMode="auto">
              <a:xfrm>
                <a:off x="736" y="3083"/>
                <a:ext cx="251" cy="141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ro-RO" altLang="ro-RO" sz="1600" i="0"/>
              </a:p>
            </p:txBody>
          </p:sp>
          <p:sp>
            <p:nvSpPr>
              <p:cNvPr id="62566" name="Line 254"/>
              <p:cNvSpPr>
                <a:spLocks noChangeShapeType="1"/>
              </p:cNvSpPr>
              <p:nvPr/>
            </p:nvSpPr>
            <p:spPr bwMode="auto">
              <a:xfrm>
                <a:off x="736" y="3062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62567" name="Text Box 255"/>
              <p:cNvSpPr txBox="1">
                <a:spLocks noChangeArrowheads="1"/>
              </p:cNvSpPr>
              <p:nvPr/>
            </p:nvSpPr>
            <p:spPr bwMode="auto">
              <a:xfrm>
                <a:off x="736" y="2871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1</a:t>
                </a:r>
              </a:p>
            </p:txBody>
          </p:sp>
          <p:sp>
            <p:nvSpPr>
              <p:cNvPr id="62568" name="Text Box 256"/>
              <p:cNvSpPr txBox="1">
                <a:spLocks noChangeArrowheads="1"/>
              </p:cNvSpPr>
              <p:nvPr/>
            </p:nvSpPr>
            <p:spPr bwMode="auto">
              <a:xfrm>
                <a:off x="736" y="3047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2</a:t>
                </a:r>
              </a:p>
            </p:txBody>
          </p:sp>
        </p:grpSp>
        <p:grpSp>
          <p:nvGrpSpPr>
            <p:cNvPr id="62546" name="Group 257"/>
            <p:cNvGrpSpPr>
              <a:grpSpLocks/>
            </p:cNvGrpSpPr>
            <p:nvPr/>
          </p:nvGrpSpPr>
          <p:grpSpPr bwMode="auto">
            <a:xfrm>
              <a:off x="3435" y="2112"/>
              <a:ext cx="253" cy="388"/>
              <a:chOff x="736" y="2871"/>
              <a:chExt cx="253" cy="388"/>
            </a:xfrm>
          </p:grpSpPr>
          <p:sp>
            <p:nvSpPr>
              <p:cNvPr id="62559" name="Rectangle 258"/>
              <p:cNvSpPr>
                <a:spLocks noChangeArrowheads="1"/>
              </p:cNvSpPr>
              <p:nvPr/>
            </p:nvSpPr>
            <p:spPr bwMode="auto">
              <a:xfrm>
                <a:off x="736" y="2903"/>
                <a:ext cx="251" cy="141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ro-RO" altLang="ro-RO" sz="1600" i="0"/>
              </a:p>
            </p:txBody>
          </p:sp>
          <p:sp>
            <p:nvSpPr>
              <p:cNvPr id="62560" name="Rectangle 259"/>
              <p:cNvSpPr>
                <a:spLocks noChangeArrowheads="1"/>
              </p:cNvSpPr>
              <p:nvPr/>
            </p:nvSpPr>
            <p:spPr bwMode="auto">
              <a:xfrm>
                <a:off x="736" y="3083"/>
                <a:ext cx="251" cy="141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ro-RO" altLang="ro-RO" sz="1600" i="0"/>
              </a:p>
            </p:txBody>
          </p:sp>
          <p:sp>
            <p:nvSpPr>
              <p:cNvPr id="62561" name="Line 260"/>
              <p:cNvSpPr>
                <a:spLocks noChangeShapeType="1"/>
              </p:cNvSpPr>
              <p:nvPr/>
            </p:nvSpPr>
            <p:spPr bwMode="auto">
              <a:xfrm>
                <a:off x="736" y="3062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62562" name="Text Box 261"/>
              <p:cNvSpPr txBox="1">
                <a:spLocks noChangeArrowheads="1"/>
              </p:cNvSpPr>
              <p:nvPr/>
            </p:nvSpPr>
            <p:spPr bwMode="auto">
              <a:xfrm>
                <a:off x="736" y="2871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1</a:t>
                </a:r>
              </a:p>
            </p:txBody>
          </p:sp>
          <p:sp>
            <p:nvSpPr>
              <p:cNvPr id="62563" name="Text Box 262"/>
              <p:cNvSpPr txBox="1">
                <a:spLocks noChangeArrowheads="1"/>
              </p:cNvSpPr>
              <p:nvPr/>
            </p:nvSpPr>
            <p:spPr bwMode="auto">
              <a:xfrm>
                <a:off x="736" y="3047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3</a:t>
                </a:r>
              </a:p>
            </p:txBody>
          </p:sp>
        </p:grpSp>
        <p:grpSp>
          <p:nvGrpSpPr>
            <p:cNvPr id="62547" name="Group 263"/>
            <p:cNvGrpSpPr>
              <a:grpSpLocks/>
            </p:cNvGrpSpPr>
            <p:nvPr/>
          </p:nvGrpSpPr>
          <p:grpSpPr bwMode="auto">
            <a:xfrm>
              <a:off x="4187" y="2112"/>
              <a:ext cx="253" cy="388"/>
              <a:chOff x="736" y="2871"/>
              <a:chExt cx="253" cy="388"/>
            </a:xfrm>
          </p:grpSpPr>
          <p:sp>
            <p:nvSpPr>
              <p:cNvPr id="62554" name="Rectangle 264"/>
              <p:cNvSpPr>
                <a:spLocks noChangeArrowheads="1"/>
              </p:cNvSpPr>
              <p:nvPr/>
            </p:nvSpPr>
            <p:spPr bwMode="auto">
              <a:xfrm>
                <a:off x="736" y="2903"/>
                <a:ext cx="251" cy="141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ro-RO" altLang="ro-RO" sz="1600" i="0"/>
              </a:p>
            </p:txBody>
          </p:sp>
          <p:sp>
            <p:nvSpPr>
              <p:cNvPr id="62555" name="Rectangle 265"/>
              <p:cNvSpPr>
                <a:spLocks noChangeArrowheads="1"/>
              </p:cNvSpPr>
              <p:nvPr/>
            </p:nvSpPr>
            <p:spPr bwMode="auto">
              <a:xfrm>
                <a:off x="736" y="3083"/>
                <a:ext cx="251" cy="141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ro-RO" altLang="ro-RO" sz="1600" i="0"/>
              </a:p>
            </p:txBody>
          </p:sp>
          <p:sp>
            <p:nvSpPr>
              <p:cNvPr id="62556" name="Line 266"/>
              <p:cNvSpPr>
                <a:spLocks noChangeShapeType="1"/>
              </p:cNvSpPr>
              <p:nvPr/>
            </p:nvSpPr>
            <p:spPr bwMode="auto">
              <a:xfrm>
                <a:off x="736" y="3062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62557" name="Text Box 267"/>
              <p:cNvSpPr txBox="1">
                <a:spLocks noChangeArrowheads="1"/>
              </p:cNvSpPr>
              <p:nvPr/>
            </p:nvSpPr>
            <p:spPr bwMode="auto">
              <a:xfrm>
                <a:off x="736" y="2871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1</a:t>
                </a:r>
              </a:p>
            </p:txBody>
          </p:sp>
          <p:sp>
            <p:nvSpPr>
              <p:cNvPr id="62558" name="Text Box 268"/>
              <p:cNvSpPr txBox="1">
                <a:spLocks noChangeArrowheads="1"/>
              </p:cNvSpPr>
              <p:nvPr/>
            </p:nvSpPr>
            <p:spPr bwMode="auto">
              <a:xfrm>
                <a:off x="736" y="3047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6</a:t>
                </a:r>
              </a:p>
            </p:txBody>
          </p:sp>
        </p:grpSp>
        <p:grpSp>
          <p:nvGrpSpPr>
            <p:cNvPr id="62548" name="Group 269"/>
            <p:cNvGrpSpPr>
              <a:grpSpLocks/>
            </p:cNvGrpSpPr>
            <p:nvPr/>
          </p:nvGrpSpPr>
          <p:grpSpPr bwMode="auto">
            <a:xfrm>
              <a:off x="4939" y="2112"/>
              <a:ext cx="253" cy="388"/>
              <a:chOff x="736" y="2871"/>
              <a:chExt cx="253" cy="388"/>
            </a:xfrm>
          </p:grpSpPr>
          <p:sp>
            <p:nvSpPr>
              <p:cNvPr id="62549" name="Rectangle 270"/>
              <p:cNvSpPr>
                <a:spLocks noChangeArrowheads="1"/>
              </p:cNvSpPr>
              <p:nvPr/>
            </p:nvSpPr>
            <p:spPr bwMode="auto">
              <a:xfrm>
                <a:off x="736" y="2903"/>
                <a:ext cx="251" cy="141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ro-RO" altLang="ro-RO" sz="1600" i="0"/>
              </a:p>
            </p:txBody>
          </p:sp>
          <p:sp>
            <p:nvSpPr>
              <p:cNvPr id="62550" name="Rectangle 271"/>
              <p:cNvSpPr>
                <a:spLocks noChangeArrowheads="1"/>
              </p:cNvSpPr>
              <p:nvPr/>
            </p:nvSpPr>
            <p:spPr bwMode="auto">
              <a:xfrm>
                <a:off x="736" y="3083"/>
                <a:ext cx="251" cy="141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ro-RO" altLang="ro-RO" sz="1600" i="0"/>
              </a:p>
            </p:txBody>
          </p:sp>
          <p:sp>
            <p:nvSpPr>
              <p:cNvPr id="62551" name="Line 272"/>
              <p:cNvSpPr>
                <a:spLocks noChangeShapeType="1"/>
              </p:cNvSpPr>
              <p:nvPr/>
            </p:nvSpPr>
            <p:spPr bwMode="auto">
              <a:xfrm>
                <a:off x="736" y="3062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62552" name="Text Box 273"/>
              <p:cNvSpPr txBox="1">
                <a:spLocks noChangeArrowheads="1"/>
              </p:cNvSpPr>
              <p:nvPr/>
            </p:nvSpPr>
            <p:spPr bwMode="auto">
              <a:xfrm>
                <a:off x="736" y="2871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1</a:t>
                </a:r>
              </a:p>
            </p:txBody>
          </p:sp>
          <p:sp>
            <p:nvSpPr>
              <p:cNvPr id="62553" name="Text Box 274"/>
              <p:cNvSpPr txBox="1">
                <a:spLocks noChangeArrowheads="1"/>
              </p:cNvSpPr>
              <p:nvPr/>
            </p:nvSpPr>
            <p:spPr bwMode="auto">
              <a:xfrm>
                <a:off x="736" y="3047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ro-RO" sz="1600" i="0"/>
                  <a:t>1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31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1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731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731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731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31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31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731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731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731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31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31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731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731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731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3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3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731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731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5" dur="500"/>
                                        <p:tgtEl>
                                          <p:spTgt spid="731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/>
                                        <p:tgtEl>
                                          <p:spTgt spid="731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7" dur="500"/>
                                        <p:tgtEl>
                                          <p:spTgt spid="731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6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7" dur="500"/>
                                        <p:tgtEl>
                                          <p:spTgt spid="731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/>
                                        <p:tgtEl>
                                          <p:spTgt spid="731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9" dur="500"/>
                                        <p:tgtEl>
                                          <p:spTgt spid="731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731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731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9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731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731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7" dur="500"/>
                                        <p:tgtEl>
                                          <p:spTgt spid="731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500"/>
                                        <p:tgtEl>
                                          <p:spTgt spid="731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9" dur="500"/>
                                        <p:tgtEl>
                                          <p:spTgt spid="731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8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9" dur="500"/>
                                        <p:tgtEl>
                                          <p:spTgt spid="731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500"/>
                                        <p:tgtEl>
                                          <p:spTgt spid="731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1" dur="500"/>
                                        <p:tgtEl>
                                          <p:spTgt spid="7313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 nodeType="clickPar">
                      <p:stCondLst>
                        <p:cond delay="indefinite"/>
                      </p:stCondLst>
                      <p:childTnLst>
                        <p:par>
                          <p:cTn id="3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53" grpId="0" animBg="1"/>
      <p:bldP spid="731154" grpId="0" animBg="1"/>
      <p:bldP spid="731155" grpId="0" animBg="1"/>
      <p:bldP spid="731156" grpId="0" animBg="1"/>
      <p:bldP spid="731157" grpId="0" animBg="1"/>
      <p:bldP spid="731158" grpId="0" animBg="1"/>
      <p:bldP spid="731159" grpId="0" animBg="1"/>
      <p:bldP spid="731193" grpId="0"/>
      <p:bldP spid="731213" grpId="0" animBg="1"/>
      <p:bldP spid="731214" grpId="0" animBg="1"/>
      <p:bldP spid="731215" grpId="0" animBg="1"/>
      <p:bldP spid="731216" grpId="0" animBg="1"/>
      <p:bldP spid="731217" grpId="0"/>
      <p:bldP spid="731217" grpId="1"/>
      <p:bldP spid="731218" grpId="0"/>
      <p:bldP spid="731218" grpId="1"/>
      <p:bldP spid="731219" grpId="0"/>
      <p:bldP spid="731219" grpId="1"/>
      <p:bldP spid="731238" grpId="0" animBg="1"/>
      <p:bldP spid="731239" grpId="0" animBg="1"/>
      <p:bldP spid="731240" grpId="0" animBg="1"/>
      <p:bldP spid="731241" grpId="0" animBg="1"/>
      <p:bldP spid="731242" grpId="0"/>
      <p:bldP spid="731242" grpId="1"/>
      <p:bldP spid="731243" grpId="0"/>
      <p:bldP spid="731243" grpId="1"/>
      <p:bldP spid="731244" grpId="0"/>
      <p:bldP spid="731244" grpId="1"/>
      <p:bldP spid="731263" grpId="0" animBg="1"/>
      <p:bldP spid="731264" grpId="0" animBg="1"/>
      <p:bldP spid="731265" grpId="0" animBg="1"/>
      <p:bldP spid="731266" grpId="0" animBg="1"/>
      <p:bldP spid="731267" grpId="0"/>
      <p:bldP spid="731267" grpId="1"/>
      <p:bldP spid="731268" grpId="0"/>
      <p:bldP spid="731268" grpId="1"/>
      <p:bldP spid="731269" grpId="0"/>
      <p:bldP spid="731269" grpId="1"/>
      <p:bldP spid="731291" grpId="0" animBg="1"/>
      <p:bldP spid="731292" grpId="0" animBg="1"/>
      <p:bldP spid="731293" grpId="0" animBg="1"/>
      <p:bldP spid="731293" grpId="1" animBg="1"/>
      <p:bldP spid="731294" grpId="0" animBg="1"/>
      <p:bldP spid="731295" grpId="0" animBg="1"/>
      <p:bldP spid="731295" grpId="1" animBg="1"/>
      <p:bldP spid="731296" grpId="0" animBg="1"/>
      <p:bldP spid="731296" grpId="1" animBg="1"/>
      <p:bldP spid="731315" grpId="0" animBg="1"/>
      <p:bldP spid="731316" grpId="0" animBg="1"/>
      <p:bldP spid="731317" grpId="0" animBg="1"/>
      <p:bldP spid="731318" grpId="0" animBg="1"/>
      <p:bldP spid="731319" grpId="0"/>
      <p:bldP spid="731319" grpId="1"/>
      <p:bldP spid="731320" grpId="0"/>
      <p:bldP spid="731320" grpId="1"/>
      <p:bldP spid="731321" grpId="0"/>
      <p:bldP spid="731321" grpId="1"/>
      <p:bldP spid="731343" grpId="0" animBg="1"/>
      <p:bldP spid="731344" grpId="0" animBg="1"/>
      <p:bldP spid="731345" grpId="0" animBg="1"/>
      <p:bldP spid="731345" grpId="1" animBg="1"/>
      <p:bldP spid="731346" grpId="0" animBg="1"/>
      <p:bldP spid="731347" grpId="0" animBg="1"/>
      <p:bldP spid="731347" grpId="1" animBg="1"/>
      <p:bldP spid="731348" grpId="0" animBg="1"/>
      <p:bldP spid="731348" grpId="1" animBg="1"/>
      <p:bldP spid="731367" grpId="0" animBg="1"/>
      <p:bldP spid="731368" grpId="0" animBg="1"/>
      <p:bldP spid="731369" grpId="0" animBg="1"/>
      <p:bldP spid="731370" grpId="0" animBg="1"/>
      <p:bldP spid="731371" grpId="0"/>
      <p:bldP spid="731371" grpId="1"/>
      <p:bldP spid="731372" grpId="0"/>
      <p:bldP spid="731372" grpId="1"/>
      <p:bldP spid="731373" grpId="0"/>
      <p:bldP spid="73137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Utilizarea</a:t>
            </a:r>
            <a:r>
              <a:rPr lang="en-US" b="1" dirty="0"/>
              <a:t> </a:t>
            </a:r>
            <a:r>
              <a:rPr lang="en-US" b="1" dirty="0" err="1"/>
              <a:t>claselor</a:t>
            </a:r>
            <a:r>
              <a:rPr lang="en-US" b="1" dirty="0"/>
              <a:t> din </a:t>
            </a:r>
            <a:r>
              <a:rPr lang="en-US" b="1" dirty="0" err="1"/>
              <a:t>pachetul</a:t>
            </a:r>
            <a:r>
              <a:rPr lang="en-US" b="1" dirty="0"/>
              <a:t> </a:t>
            </a:r>
            <a:r>
              <a:rPr lang="en-US" b="1" dirty="0" err="1"/>
              <a:t>java.lang</a:t>
            </a:r>
            <a:r>
              <a:rPr lang="en-US" b="1" dirty="0"/>
              <a:t> </a:t>
            </a:r>
            <a:r>
              <a:rPr lang="ro-RO" b="1" dirty="0"/>
              <a:t/>
            </a:r>
            <a:br>
              <a:rPr lang="ro-RO" b="1" dirty="0"/>
            </a:br>
            <a:endParaRPr lang="ro-R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5359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Clasa</a:t>
            </a:r>
            <a:r>
              <a:rPr lang="en-US" b="1" dirty="0"/>
              <a:t> </a:t>
            </a:r>
            <a:r>
              <a:rPr lang="en-US" b="1" dirty="0" smtClean="0"/>
              <a:t>Object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 dirty="0" err="1"/>
              <a:t>Clasa</a:t>
            </a:r>
            <a:r>
              <a:rPr lang="en-US" sz="2100" dirty="0"/>
              <a:t> </a:t>
            </a:r>
            <a:r>
              <a:rPr lang="en-US" sz="2100" dirty="0"/>
              <a:t>Object </a:t>
            </a:r>
            <a:r>
              <a:rPr lang="en-US" sz="2100" dirty="0" err="1"/>
              <a:t>este</a:t>
            </a:r>
            <a:r>
              <a:rPr lang="en-US" sz="2100" dirty="0"/>
              <a:t> </a:t>
            </a:r>
            <a:r>
              <a:rPr lang="en-US" sz="2100" dirty="0" err="1"/>
              <a:t>rădăcina</a:t>
            </a:r>
            <a:r>
              <a:rPr lang="en-US" sz="2100" dirty="0"/>
              <a:t> </a:t>
            </a:r>
            <a:r>
              <a:rPr lang="en-US" sz="2100" dirty="0" err="1"/>
              <a:t>ierarhiei</a:t>
            </a:r>
            <a:r>
              <a:rPr lang="en-US" sz="2100" dirty="0"/>
              <a:t> de </a:t>
            </a:r>
            <a:r>
              <a:rPr lang="en-US" sz="2100" dirty="0" err="1"/>
              <a:t>clase</a:t>
            </a:r>
            <a:r>
              <a:rPr lang="en-US" sz="2100" dirty="0"/>
              <a:t> a </a:t>
            </a:r>
            <a:r>
              <a:rPr lang="en-US" sz="2100" dirty="0" err="1"/>
              <a:t>platformei</a:t>
            </a:r>
            <a:r>
              <a:rPr lang="en-US" sz="2100" dirty="0"/>
              <a:t> </a:t>
            </a:r>
            <a:r>
              <a:rPr lang="en-US" sz="2100" dirty="0"/>
              <a:t>Java</a:t>
            </a:r>
          </a:p>
          <a:p>
            <a:r>
              <a:rPr lang="en-US" sz="2100" dirty="0" err="1"/>
              <a:t>Orice</a:t>
            </a:r>
            <a:r>
              <a:rPr lang="en-US" sz="2100" dirty="0"/>
              <a:t> </a:t>
            </a:r>
            <a:r>
              <a:rPr lang="en-US" sz="2100" dirty="0" err="1"/>
              <a:t>altă</a:t>
            </a:r>
            <a:r>
              <a:rPr lang="en-US" sz="2100" dirty="0"/>
              <a:t> </a:t>
            </a:r>
            <a:r>
              <a:rPr lang="en-US" sz="2100" dirty="0" err="1"/>
              <a:t>clasa</a:t>
            </a:r>
            <a:r>
              <a:rPr lang="en-US" sz="2100" dirty="0"/>
              <a:t> </a:t>
            </a:r>
            <a:r>
              <a:rPr lang="en-US" sz="2100" dirty="0" err="1"/>
              <a:t>este</a:t>
            </a:r>
            <a:r>
              <a:rPr lang="en-US" sz="2100" dirty="0"/>
              <a:t> </a:t>
            </a:r>
            <a:r>
              <a:rPr lang="en-US" sz="2100" dirty="0" err="1"/>
              <a:t>derivată</a:t>
            </a:r>
            <a:r>
              <a:rPr lang="en-US" sz="2100" dirty="0"/>
              <a:t> direct </a:t>
            </a:r>
            <a:r>
              <a:rPr lang="en-US" sz="2100" dirty="0" err="1"/>
              <a:t>sau</a:t>
            </a:r>
            <a:r>
              <a:rPr lang="en-US" sz="2100" dirty="0"/>
              <a:t> indirect din </a:t>
            </a:r>
            <a:r>
              <a:rPr lang="en-US" sz="2100" dirty="0" err="1"/>
              <a:t>clasa</a:t>
            </a:r>
            <a:r>
              <a:rPr lang="en-US" sz="2100" dirty="0"/>
              <a:t> Object. </a:t>
            </a:r>
            <a:endParaRPr lang="en-US" sz="2100" dirty="0"/>
          </a:p>
          <a:p>
            <a:r>
              <a:rPr lang="en-US" sz="2100" b="1" dirty="0" err="1"/>
              <a:t>Metodele</a:t>
            </a:r>
            <a:r>
              <a:rPr lang="en-US" sz="2100" b="1" dirty="0"/>
              <a:t> </a:t>
            </a:r>
            <a:r>
              <a:rPr lang="en-US" sz="2100" b="1" dirty="0" err="1"/>
              <a:t>clasei</a:t>
            </a:r>
            <a:r>
              <a:rPr lang="en-US" sz="2100" b="1" dirty="0"/>
              <a:t> Object </a:t>
            </a:r>
            <a:endParaRPr lang="ro-RO" sz="2100" b="1" dirty="0"/>
          </a:p>
          <a:p>
            <a:pPr lvl="1"/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/>
              <a:t>are un </a:t>
            </a:r>
            <a:r>
              <a:rPr lang="en-US" dirty="0" err="1"/>
              <a:t>singur</a:t>
            </a:r>
            <a:r>
              <a:rPr lang="en-US" dirty="0"/>
              <a:t> constructor, Object</a:t>
            </a:r>
            <a:r>
              <a:rPr lang="en-US" dirty="0"/>
              <a:t>(),</a:t>
            </a:r>
          </a:p>
          <a:p>
            <a:pPr lvl="1"/>
            <a:r>
              <a:rPr lang="en-US" dirty="0"/>
              <a:t>public </a:t>
            </a:r>
            <a:r>
              <a:rPr lang="en-US" dirty="0" err="1"/>
              <a:t>boolean</a:t>
            </a:r>
            <a:r>
              <a:rPr lang="en-US" dirty="0"/>
              <a:t> equals(Object </a:t>
            </a:r>
            <a:r>
              <a:rPr lang="en-US" dirty="0" err="1"/>
              <a:t>obj</a:t>
            </a:r>
            <a:r>
              <a:rPr lang="en-US" dirty="0"/>
              <a:t>) </a:t>
            </a:r>
            <a:endParaRPr lang="en-US" dirty="0"/>
          </a:p>
          <a:p>
            <a:pPr lvl="1"/>
            <a:r>
              <a:rPr lang="en-US" b="1" dirty="0"/>
              <a:t>public String </a:t>
            </a:r>
            <a:r>
              <a:rPr lang="en-US" b="1" dirty="0" err="1"/>
              <a:t>toString</a:t>
            </a:r>
            <a:r>
              <a:rPr lang="en-US" b="1" dirty="0"/>
              <a:t>() </a:t>
            </a:r>
            <a:endParaRPr lang="en-US" b="1" dirty="0"/>
          </a:p>
          <a:p>
            <a:pPr lvl="1"/>
            <a:r>
              <a:rPr lang="en-US" b="1" dirty="0"/>
              <a:t>protected Object clone</a:t>
            </a:r>
            <a:r>
              <a:rPr lang="en-US" b="1" dirty="0"/>
              <a:t>()</a:t>
            </a:r>
          </a:p>
          <a:p>
            <a:pPr lvl="1"/>
            <a:r>
              <a:rPr lang="en-US" dirty="0"/>
              <a:t>b=</a:t>
            </a:r>
            <a:r>
              <a:rPr lang="en-US" dirty="0" err="1"/>
              <a:t>a.clone</a:t>
            </a:r>
            <a:r>
              <a:rPr lang="en-US" dirty="0"/>
              <a:t>(); </a:t>
            </a:r>
            <a:endParaRPr lang="ro-RO" b="1" dirty="0"/>
          </a:p>
          <a:p>
            <a:endParaRPr lang="ro-RO" sz="2100" b="1" dirty="0"/>
          </a:p>
          <a:p>
            <a:endParaRPr lang="ro-RO" sz="2100" dirty="0"/>
          </a:p>
        </p:txBody>
      </p:sp>
    </p:spTree>
    <p:extLst>
      <p:ext uri="{BB962C8B-B14F-4D97-AF65-F5344CB8AC3E}">
        <p14:creationId xmlns:p14="http://schemas.microsoft.com/office/powerpoint/2010/main" val="65100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Clasele</a:t>
            </a:r>
            <a:r>
              <a:rPr lang="en-US" b="1" dirty="0"/>
              <a:t> String </a:t>
            </a:r>
            <a:r>
              <a:rPr lang="en-US" b="1" dirty="0" err="1"/>
              <a:t>şi</a:t>
            </a:r>
            <a:r>
              <a:rPr lang="en-US" b="1" dirty="0"/>
              <a:t> </a:t>
            </a:r>
            <a:r>
              <a:rPr lang="en-US" b="1" dirty="0" err="1"/>
              <a:t>StringBuffer</a:t>
            </a:r>
            <a:r>
              <a:rPr lang="en-US" b="1" dirty="0"/>
              <a:t> </a:t>
            </a:r>
            <a:endParaRPr lang="ro-RO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Toate</a:t>
            </a:r>
            <a:r>
              <a:rPr lang="en-US" dirty="0" smtClean="0"/>
              <a:t> </a:t>
            </a:r>
            <a:r>
              <a:rPr lang="en-US" dirty="0" err="1"/>
              <a:t>şirurile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limbajul</a:t>
            </a:r>
            <a:r>
              <a:rPr lang="en-US" dirty="0"/>
              <a:t> Java, </a:t>
            </a:r>
            <a:r>
              <a:rPr lang="en-US" dirty="0" err="1"/>
              <a:t>inclusiv</a:t>
            </a:r>
            <a:r>
              <a:rPr lang="en-US" dirty="0"/>
              <a:t> </a:t>
            </a:r>
            <a:r>
              <a:rPr lang="en-US" dirty="0" err="1"/>
              <a:t>literalii-şir</a:t>
            </a:r>
            <a:r>
              <a:rPr lang="en-US" dirty="0"/>
              <a:t>, de </a:t>
            </a:r>
            <a:r>
              <a:rPr lang="en-US" dirty="0" err="1"/>
              <a:t>exemplu</a:t>
            </a:r>
            <a:r>
              <a:rPr lang="en-US" dirty="0"/>
              <a:t> "</a:t>
            </a:r>
            <a:r>
              <a:rPr lang="en-US" dirty="0" smtClean="0"/>
              <a:t>ABCdef123“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obiecte</a:t>
            </a:r>
            <a:r>
              <a:rPr lang="en-US" dirty="0" smtClean="0"/>
              <a:t> din String</a:t>
            </a:r>
          </a:p>
          <a:p>
            <a:pPr lvl="1"/>
            <a:r>
              <a:rPr lang="en-US" dirty="0" err="1"/>
              <a:t>constructorul</a:t>
            </a:r>
            <a:r>
              <a:rPr lang="en-US" dirty="0"/>
              <a:t> String(String s</a:t>
            </a:r>
            <a:r>
              <a:rPr lang="en-US" dirty="0" smtClean="0"/>
              <a:t>).</a:t>
            </a:r>
          </a:p>
          <a:p>
            <a:pPr lvl="1"/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compareTo</a:t>
            </a:r>
            <a:r>
              <a:rPr lang="en-US" dirty="0"/>
              <a:t>(String </a:t>
            </a:r>
            <a:r>
              <a:rPr lang="en-US" dirty="0" err="1"/>
              <a:t>anotherString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compareToIgnoreCase</a:t>
            </a:r>
            <a:r>
              <a:rPr lang="en-US" dirty="0"/>
              <a:t>(String </a:t>
            </a:r>
            <a:r>
              <a:rPr lang="en-US" dirty="0" err="1"/>
              <a:t>str</a:t>
            </a:r>
            <a:r>
              <a:rPr lang="en-US" dirty="0"/>
              <a:t>) </a:t>
            </a:r>
            <a:endParaRPr lang="en-US" dirty="0" smtClean="0"/>
          </a:p>
          <a:p>
            <a:pPr lvl="1"/>
            <a:r>
              <a:rPr lang="en-US" dirty="0" err="1"/>
              <a:t>int</a:t>
            </a:r>
            <a:r>
              <a:rPr lang="en-US" dirty="0"/>
              <a:t> length() </a:t>
            </a:r>
            <a:endParaRPr lang="en-US" dirty="0" smtClean="0"/>
          </a:p>
          <a:p>
            <a:pPr lvl="1"/>
            <a:r>
              <a:rPr lang="en-US" dirty="0"/>
              <a:t>String trim() </a:t>
            </a:r>
            <a:endParaRPr lang="en-US" dirty="0" smtClean="0"/>
          </a:p>
          <a:p>
            <a:pPr lvl="1"/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indexOf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indexOf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fromIndex</a:t>
            </a:r>
            <a:r>
              <a:rPr lang="en-US" dirty="0"/>
              <a:t>) </a:t>
            </a:r>
            <a:endParaRPr lang="en-US" dirty="0" smtClean="0"/>
          </a:p>
          <a:p>
            <a:pPr lvl="1"/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indexOf</a:t>
            </a:r>
            <a:r>
              <a:rPr lang="en-US" dirty="0"/>
              <a:t>(String </a:t>
            </a:r>
            <a:r>
              <a:rPr lang="en-US" dirty="0" err="1"/>
              <a:t>str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indexOf</a:t>
            </a:r>
            <a:r>
              <a:rPr lang="en-US" dirty="0"/>
              <a:t>(String </a:t>
            </a:r>
            <a:r>
              <a:rPr lang="en-US" dirty="0" err="1"/>
              <a:t>str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fromIndex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lastIndexOf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en-US" dirty="0"/>
              <a:t>) </a:t>
            </a:r>
            <a:endParaRPr lang="en-US" dirty="0" smtClean="0"/>
          </a:p>
          <a:p>
            <a:pPr lvl="1"/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lastIndexOf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fromIndex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String substring(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beginIndex</a:t>
            </a:r>
            <a:r>
              <a:rPr lang="en-US" dirty="0"/>
              <a:t>)</a:t>
            </a:r>
            <a:endParaRPr lang="ro-RO" dirty="0"/>
          </a:p>
          <a:p>
            <a:pPr lvl="1"/>
            <a:r>
              <a:rPr lang="en-US" dirty="0"/>
              <a:t>String substring(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beginIndex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endIndex</a:t>
            </a:r>
            <a:r>
              <a:rPr lang="en-US" dirty="0"/>
              <a:t>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9742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 de program</a:t>
            </a:r>
            <a:r>
              <a:rPr lang="en-US" dirty="0" smtClean="0"/>
              <a:t>: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241550"/>
            <a:ext cx="7543800" cy="3403943"/>
          </a:xfrm>
        </p:spPr>
        <p:txBody>
          <a:bodyPr>
            <a:normAutofit fontScale="25000" lnSpcReduction="20000"/>
          </a:bodyPr>
          <a:lstStyle/>
          <a:p>
            <a:r>
              <a:rPr lang="ro-RO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class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TestStr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en-US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main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String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args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[])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String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</a:t>
            </a:r>
            <a:r>
              <a:rPr lang="ro-RO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ABCdef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#@&amp;"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s2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s3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s4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ro-RO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char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ch1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[];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byte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tb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[];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String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"Un sir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nou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ro-RO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ro-RO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"s1="</a:t>
            </a:r>
            <a:r>
              <a:rPr lang="ro-RO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ro-RO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s2="</a:t>
            </a:r>
            <a:r>
              <a:rPr lang="ro-RO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ro-RO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r>
              <a:rPr lang="ro-RO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</a:t>
            </a:r>
            <a:r>
              <a:rPr lang="en-US" dirty="0" err="1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Lungimile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sirurilor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 s1="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length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()+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s2="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length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());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</a:t>
            </a:r>
            <a:r>
              <a:rPr lang="en-US" dirty="0" err="1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Conversie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in </a:t>
            </a:r>
            <a:r>
              <a:rPr lang="en-US" dirty="0" err="1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litere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mari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 s1="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toUpperCase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()+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s2="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toUpperCase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());</a:t>
            </a:r>
            <a:endParaRPr lang="en-US" dirty="0" smtClean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</a:t>
            </a:r>
            <a:r>
              <a:rPr lang="en-US" dirty="0" err="1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Conversie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in </a:t>
            </a:r>
            <a:r>
              <a:rPr lang="en-US" dirty="0" err="1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litere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mici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 s1="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toLowerCase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()+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s2="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toLowerCase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());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ro-RO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ch1</a:t>
            </a:r>
            <a:r>
              <a:rPr lang="ro-RO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ro-RO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toCharArray</a:t>
            </a:r>
            <a:r>
              <a:rPr lang="ro-RO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();</a:t>
            </a:r>
            <a:r>
              <a:rPr lang="ro-RO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ro-RO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ro-RO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</a:t>
            </a:r>
            <a:r>
              <a:rPr lang="ro-RO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"s1 convertit in tablou de caractere: "</a:t>
            </a:r>
            <a:r>
              <a:rPr lang="ro-RO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r>
              <a:rPr lang="ro-RO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ro-RO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ro-RO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for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 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&lt;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length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++)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]);</a:t>
            </a:r>
            <a:endParaRPr lang="ro-RO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ro-RO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tb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getBytes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();</a:t>
            </a:r>
            <a:endParaRPr lang="ro-RO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"s1 convertit in tablou de </a:t>
            </a:r>
            <a:r>
              <a:rPr lang="ro-RO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octeti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 </a:t>
            </a:r>
            <a:r>
              <a:rPr lang="ro-RO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</a:t>
            </a:r>
            <a:r>
              <a:rPr lang="ro-RO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ro-RO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60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241551"/>
            <a:ext cx="7543800" cy="3583116"/>
          </a:xfrm>
        </p:spPr>
        <p:txBody>
          <a:bodyPr>
            <a:normAutofit fontScale="25000" lnSpcReduction="20000"/>
          </a:bodyPr>
          <a:lstStyle/>
          <a:p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nn-NO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for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nn-NO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nn-NO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 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&lt;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tb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length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++)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System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tb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]+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” “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nn-NO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fr-FR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fr-FR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"\</a:t>
            </a:r>
            <a:r>
              <a:rPr lang="fr-FR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nAcelasi</a:t>
            </a:r>
            <a:r>
              <a:rPr lang="fr-FR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tablou</a:t>
            </a:r>
            <a:r>
              <a:rPr lang="fr-FR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convertit in </a:t>
            </a:r>
            <a:r>
              <a:rPr lang="fr-FR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caractere</a:t>
            </a:r>
            <a:r>
              <a:rPr lang="fr-FR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 "</a:t>
            </a:r>
            <a:r>
              <a:rPr lang="fr-F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nn-NO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for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nn-NO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nn-NO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 i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&lt;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tb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length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++)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System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((</a:t>
            </a:r>
            <a:r>
              <a:rPr lang="nn-NO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char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tb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]);</a:t>
            </a:r>
            <a:endParaRPr lang="nn-NO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ro-RO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s3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String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copyValueOf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ro-RO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</a:t>
            </a:r>
            <a:r>
              <a:rPr lang="ro-RO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Sirul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obtinut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din tabloul de caractere: "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s3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System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pt-BR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"Comparatii de siruri: "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compareTo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s3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)+</a:t>
            </a:r>
            <a:r>
              <a:rPr lang="pt-BR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"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compareTo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)+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"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compareTo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"s1==s3: "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s3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)+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s1.equals(s3): "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equals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s3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s4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toUpperCase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"s2="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s4="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s4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"s2.equals(s4): "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equals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s4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 s2.equalsIgnoreCase(s4): "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equalsIgnoreCase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s4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</a:t>
            </a:r>
            <a:r>
              <a:rPr lang="ro-RO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Subsirul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lui s2 intre </a:t>
            </a:r>
            <a:r>
              <a:rPr lang="ro-RO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pozitiile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3 si 8: "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s2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substring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3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ro-RO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8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</a:t>
            </a:r>
            <a:r>
              <a:rPr lang="ro-RO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Subsirul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lui s2 de la </a:t>
            </a:r>
            <a:r>
              <a:rPr lang="ro-RO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pozitia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3 la </a:t>
            </a:r>
            <a:r>
              <a:rPr lang="ro-RO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sfarsit</a:t>
            </a:r>
            <a:r>
              <a:rPr lang="ro-RO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 "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s2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substring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3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en-US" b="1" dirty="0" smtClean="0">
              <a:solidFill>
                <a:srgbClr val="00008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ro-RO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ro-RO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ro-RO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9808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Clasa</a:t>
            </a:r>
            <a:r>
              <a:rPr lang="en-US" b="1" dirty="0"/>
              <a:t> </a:t>
            </a:r>
            <a:r>
              <a:rPr lang="en-US" b="1" dirty="0" smtClean="0"/>
              <a:t>Class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C</a:t>
            </a:r>
            <a:r>
              <a:rPr lang="en-US" dirty="0" err="1" smtClean="0"/>
              <a:t>âteva</a:t>
            </a:r>
            <a:r>
              <a:rPr lang="en-US" dirty="0" smtClean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</a:t>
            </a:r>
            <a:r>
              <a:rPr lang="en-US" dirty="0" err="1"/>
              <a:t>clasei</a:t>
            </a:r>
            <a:r>
              <a:rPr lang="en-US" dirty="0"/>
              <a:t> Class: </a:t>
            </a:r>
            <a:endParaRPr lang="ro-RO" b="1" dirty="0"/>
          </a:p>
          <a:p>
            <a:r>
              <a:rPr lang="en-US" dirty="0"/>
              <a:t>public String </a:t>
            </a:r>
            <a:r>
              <a:rPr lang="en-US" dirty="0" err="1"/>
              <a:t>getName</a:t>
            </a:r>
            <a:r>
              <a:rPr lang="en-US" dirty="0"/>
              <a:t>() - </a:t>
            </a:r>
            <a:r>
              <a:rPr lang="en-US" dirty="0" err="1"/>
              <a:t>întoarce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calificat</a:t>
            </a:r>
            <a:r>
              <a:rPr lang="en-US" dirty="0"/>
              <a:t> al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entităţi</a:t>
            </a:r>
            <a:r>
              <a:rPr lang="en-US" dirty="0"/>
              <a:t> (</a:t>
            </a:r>
            <a:r>
              <a:rPr lang="en-US" dirty="0" err="1"/>
              <a:t>clase</a:t>
            </a:r>
            <a:r>
              <a:rPr lang="en-US" dirty="0"/>
              <a:t>, </a:t>
            </a:r>
            <a:r>
              <a:rPr lang="en-US" dirty="0" err="1"/>
              <a:t>interfeţe</a:t>
            </a:r>
            <a:r>
              <a:rPr lang="en-US" dirty="0"/>
              <a:t>, tip </a:t>
            </a:r>
            <a:r>
              <a:rPr lang="en-US" dirty="0" err="1"/>
              <a:t>primitiv</a:t>
            </a:r>
            <a:r>
              <a:rPr lang="en-US" dirty="0"/>
              <a:t>) </a:t>
            </a:r>
            <a:r>
              <a:rPr lang="en-US" dirty="0" err="1"/>
              <a:t>reprezentată</a:t>
            </a:r>
            <a:r>
              <a:rPr lang="en-US" dirty="0"/>
              <a:t> de un </a:t>
            </a:r>
            <a:r>
              <a:rPr lang="en-US" dirty="0" err="1"/>
              <a:t>obiect</a:t>
            </a:r>
            <a:r>
              <a:rPr lang="en-US" dirty="0"/>
              <a:t> din </a:t>
            </a:r>
            <a:r>
              <a:rPr lang="en-US" dirty="0" err="1"/>
              <a:t>clasa</a:t>
            </a:r>
            <a:r>
              <a:rPr lang="en-US" dirty="0"/>
              <a:t> Class; </a:t>
            </a:r>
            <a:endParaRPr lang="ro-RO" b="1" dirty="0"/>
          </a:p>
          <a:p>
            <a:r>
              <a:rPr lang="en-US" dirty="0"/>
              <a:t>public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isAssignableFrom</a:t>
            </a:r>
            <a:r>
              <a:rPr lang="en-US" dirty="0"/>
              <a:t>(Class </a:t>
            </a:r>
            <a:r>
              <a:rPr lang="en-US" dirty="0" err="1"/>
              <a:t>cls</a:t>
            </a:r>
            <a:r>
              <a:rPr lang="en-US" dirty="0"/>
              <a:t>) - </a:t>
            </a:r>
            <a:r>
              <a:rPr lang="en-US" dirty="0" err="1"/>
              <a:t>întoarce</a:t>
            </a:r>
            <a:r>
              <a:rPr lang="en-US" dirty="0"/>
              <a:t> true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căreia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se </a:t>
            </a:r>
            <a:r>
              <a:rPr lang="en-US" dirty="0" err="1"/>
              <a:t>aplică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superclasă</a:t>
            </a:r>
            <a:r>
              <a:rPr lang="en-US" dirty="0"/>
              <a:t> a </a:t>
            </a:r>
            <a:r>
              <a:rPr lang="en-US" dirty="0" err="1"/>
              <a:t>clasei</a:t>
            </a:r>
            <a:r>
              <a:rPr lang="en-US" dirty="0"/>
              <a:t> </a:t>
            </a:r>
            <a:r>
              <a:rPr lang="en-US" dirty="0" err="1"/>
              <a:t>cls</a:t>
            </a:r>
            <a:r>
              <a:rPr lang="en-US" dirty="0"/>
              <a:t>, </a:t>
            </a:r>
            <a:r>
              <a:rPr lang="en-US" dirty="0" err="1"/>
              <a:t>primită</a:t>
            </a:r>
            <a:r>
              <a:rPr lang="en-US" dirty="0"/>
              <a:t> ca argument; </a:t>
            </a:r>
            <a:endParaRPr lang="ro-RO" b="1" dirty="0"/>
          </a:p>
          <a:p>
            <a:r>
              <a:rPr lang="en-US" dirty="0"/>
              <a:t>public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isInterface</a:t>
            </a:r>
            <a:r>
              <a:rPr lang="en-US" dirty="0"/>
              <a:t>() - </a:t>
            </a:r>
            <a:r>
              <a:rPr lang="en-US" dirty="0" err="1"/>
              <a:t>întoarce</a:t>
            </a:r>
            <a:r>
              <a:rPr lang="en-US" dirty="0"/>
              <a:t> true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aplicată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instanţe</a:t>
            </a:r>
            <a:r>
              <a:rPr lang="en-US" dirty="0"/>
              <a:t> a </a:t>
            </a:r>
            <a:r>
              <a:rPr lang="en-US" dirty="0" err="1"/>
              <a:t>clasei</a:t>
            </a:r>
            <a:r>
              <a:rPr lang="en-US" dirty="0"/>
              <a:t> Class care </a:t>
            </a:r>
            <a:r>
              <a:rPr lang="en-US" dirty="0" err="1"/>
              <a:t>reprezintă</a:t>
            </a:r>
            <a:r>
              <a:rPr lang="en-US" dirty="0"/>
              <a:t> o </a:t>
            </a:r>
            <a:r>
              <a:rPr lang="en-US" dirty="0" err="1"/>
              <a:t>interfaţă</a:t>
            </a:r>
            <a:r>
              <a:rPr lang="en-US" dirty="0"/>
              <a:t>; public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isPrimitive</a:t>
            </a:r>
            <a:r>
              <a:rPr lang="en-US" dirty="0"/>
              <a:t>() - </a:t>
            </a:r>
            <a:r>
              <a:rPr lang="en-US" dirty="0" err="1"/>
              <a:t>întoarce</a:t>
            </a:r>
            <a:r>
              <a:rPr lang="en-US" dirty="0"/>
              <a:t> true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aplicată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din </a:t>
            </a:r>
            <a:r>
              <a:rPr lang="en-US" dirty="0" err="1"/>
              <a:t>clasa</a:t>
            </a:r>
            <a:r>
              <a:rPr lang="en-US" dirty="0"/>
              <a:t> Class care </a:t>
            </a:r>
            <a:r>
              <a:rPr lang="en-US" dirty="0" err="1"/>
              <a:t>reprezintă</a:t>
            </a:r>
            <a:r>
              <a:rPr lang="en-US" dirty="0"/>
              <a:t> un tip de date </a:t>
            </a:r>
            <a:r>
              <a:rPr lang="en-US" dirty="0" err="1"/>
              <a:t>primitiv</a:t>
            </a:r>
            <a:r>
              <a:rPr lang="en-US" dirty="0"/>
              <a:t>; </a:t>
            </a:r>
            <a:endParaRPr lang="ro-RO" b="1" dirty="0"/>
          </a:p>
          <a:p>
            <a:r>
              <a:rPr lang="en-US" dirty="0"/>
              <a:t>public Class </a:t>
            </a:r>
            <a:r>
              <a:rPr lang="en-US" dirty="0" err="1"/>
              <a:t>getSuperclass</a:t>
            </a:r>
            <a:r>
              <a:rPr lang="en-US" dirty="0"/>
              <a:t>() - </a:t>
            </a:r>
            <a:r>
              <a:rPr lang="en-US" dirty="0" err="1"/>
              <a:t>întoarce</a:t>
            </a:r>
            <a:r>
              <a:rPr lang="en-US" dirty="0"/>
              <a:t> o </a:t>
            </a:r>
            <a:r>
              <a:rPr lang="en-US" dirty="0" err="1"/>
              <a:t>instanţă</a:t>
            </a:r>
            <a:r>
              <a:rPr lang="en-US" dirty="0"/>
              <a:t> a </a:t>
            </a:r>
            <a:r>
              <a:rPr lang="en-US" dirty="0" err="1"/>
              <a:t>clasei</a:t>
            </a:r>
            <a:r>
              <a:rPr lang="en-US" dirty="0"/>
              <a:t> Class care </a:t>
            </a:r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/>
              <a:t>superclasa</a:t>
            </a:r>
            <a:r>
              <a:rPr lang="en-US" dirty="0"/>
              <a:t> </a:t>
            </a:r>
            <a:r>
              <a:rPr lang="en-US" dirty="0" err="1"/>
              <a:t>obiectului</a:t>
            </a:r>
            <a:r>
              <a:rPr lang="en-US" dirty="0"/>
              <a:t> </a:t>
            </a:r>
            <a:r>
              <a:rPr lang="en-US" dirty="0" err="1"/>
              <a:t>căruia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se </a:t>
            </a:r>
            <a:r>
              <a:rPr lang="en-US" dirty="0" err="1"/>
              <a:t>aplică</a:t>
            </a:r>
            <a:r>
              <a:rPr lang="en-US" dirty="0"/>
              <a:t> </a:t>
            </a:r>
            <a:r>
              <a:rPr lang="en-US" dirty="0" err="1"/>
              <a:t>această</a:t>
            </a:r>
            <a:r>
              <a:rPr lang="en-US" dirty="0"/>
              <a:t> </a:t>
            </a:r>
            <a:r>
              <a:rPr lang="en-US" dirty="0" err="1"/>
              <a:t>metodă</a:t>
            </a:r>
            <a:r>
              <a:rPr lang="en-US" dirty="0"/>
              <a:t>. </a:t>
            </a:r>
            <a:endParaRPr lang="ro-RO" b="1" dirty="0"/>
          </a:p>
          <a:p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fişierul</a:t>
            </a:r>
            <a:r>
              <a:rPr lang="en-US" dirty="0"/>
              <a:t> TestClass.java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un program de </a:t>
            </a:r>
            <a:r>
              <a:rPr lang="en-US" dirty="0" err="1"/>
              <a:t>testare</a:t>
            </a:r>
            <a:r>
              <a:rPr lang="en-US" dirty="0"/>
              <a:t> a </a:t>
            </a:r>
            <a:r>
              <a:rPr lang="en-US" dirty="0" err="1"/>
              <a:t>obţinerii</a:t>
            </a:r>
            <a:r>
              <a:rPr lang="en-US" dirty="0"/>
              <a:t> </a:t>
            </a:r>
            <a:r>
              <a:rPr lang="en-US" dirty="0" err="1"/>
              <a:t>obiectelor</a:t>
            </a:r>
            <a:r>
              <a:rPr lang="en-US" dirty="0"/>
              <a:t> Class </a:t>
            </a:r>
            <a:r>
              <a:rPr lang="en-US" dirty="0" err="1"/>
              <a:t>şi</a:t>
            </a:r>
            <a:r>
              <a:rPr lang="en-US" dirty="0"/>
              <a:t> a </a:t>
            </a:r>
            <a:r>
              <a:rPr lang="en-US" dirty="0" err="1"/>
              <a:t>aplicării</a:t>
            </a:r>
            <a:r>
              <a:rPr lang="en-US" dirty="0"/>
              <a:t> </a:t>
            </a:r>
            <a:r>
              <a:rPr lang="en-US" dirty="0" err="1"/>
              <a:t>unora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. </a:t>
            </a:r>
            <a:r>
              <a:rPr lang="en-US" dirty="0" err="1"/>
              <a:t>Descrierea</a:t>
            </a:r>
            <a:r>
              <a:rPr lang="en-US" dirty="0"/>
              <a:t> </a:t>
            </a:r>
            <a:r>
              <a:rPr lang="en-US" dirty="0" err="1"/>
              <a:t>completă</a:t>
            </a:r>
            <a:r>
              <a:rPr lang="en-US" dirty="0"/>
              <a:t> a </a:t>
            </a:r>
            <a:r>
              <a:rPr lang="en-US" dirty="0" err="1"/>
              <a:t>clasei</a:t>
            </a:r>
            <a:r>
              <a:rPr lang="en-US" dirty="0"/>
              <a:t> Class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documentaţia</a:t>
            </a:r>
            <a:r>
              <a:rPr lang="en-US" dirty="0"/>
              <a:t> Java API.  </a:t>
            </a:r>
            <a:endParaRPr lang="ro-RO" b="1" dirty="0"/>
          </a:p>
        </p:txBody>
      </p:sp>
    </p:spTree>
    <p:extLst>
      <p:ext uri="{BB962C8B-B14F-4D97-AF65-F5344CB8AC3E}">
        <p14:creationId xmlns:p14="http://schemas.microsoft.com/office/powerpoint/2010/main" val="279744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241550"/>
            <a:ext cx="7543800" cy="3379229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o-RO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/* Testarea clasei </a:t>
            </a:r>
            <a:r>
              <a:rPr lang="ro-RO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Class</a:t>
            </a:r>
            <a:r>
              <a:rPr lang="ro-RO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*/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o-RO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class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TestClass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main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String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args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[])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String s1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Primul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sir"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"al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doilea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sir"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Object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obj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new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Object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Class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cls1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cls2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cls3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getClass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getName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toString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cls2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s2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getClass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isAssignableFrom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cls2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cls3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obj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getClass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cls3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isAssignableFrom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cls3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cls3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isAssignableFrom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getSuperclass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cls3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getSuperclass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System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ro-RO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println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cls1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isPrimitive</a:t>
            </a: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());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r>
              <a:rPr lang="ro-RO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o-RO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ro-RO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230759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Clasele</a:t>
            </a:r>
            <a:r>
              <a:rPr lang="en-US" b="1" dirty="0"/>
              <a:t> </a:t>
            </a:r>
            <a:r>
              <a:rPr lang="en-US" b="1" dirty="0" err="1"/>
              <a:t>acoperitoare</a:t>
            </a:r>
            <a:r>
              <a:rPr lang="en-US" b="1" dirty="0"/>
              <a:t> de tip</a:t>
            </a:r>
            <a:r>
              <a:rPr lang="ro-RO" b="1" dirty="0"/>
              <a:t/>
            </a:r>
            <a:br>
              <a:rPr lang="ro-RO" b="1" dirty="0"/>
            </a:b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154" y="2340405"/>
            <a:ext cx="7543800" cy="3017520"/>
          </a:xfrm>
        </p:spPr>
        <p:txBody>
          <a:bodyPr/>
          <a:lstStyle/>
          <a:p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pachetul</a:t>
            </a:r>
            <a:r>
              <a:rPr lang="en-US" dirty="0"/>
              <a:t> </a:t>
            </a:r>
            <a:r>
              <a:rPr lang="en-US" dirty="0" err="1"/>
              <a:t>java.lang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din </a:t>
            </a:r>
            <a:r>
              <a:rPr lang="en-US" dirty="0" err="1"/>
              <a:t>tipurile</a:t>
            </a:r>
            <a:r>
              <a:rPr lang="en-US" dirty="0"/>
              <a:t> de date primitive </a:t>
            </a:r>
            <a:r>
              <a:rPr lang="en-US" dirty="0" err="1"/>
              <a:t>există</a:t>
            </a:r>
            <a:r>
              <a:rPr lang="en-US" dirty="0"/>
              <a:t> o </a:t>
            </a:r>
            <a:r>
              <a:rPr lang="en-US" dirty="0" err="1"/>
              <a:t>clasă</a:t>
            </a:r>
            <a:r>
              <a:rPr lang="en-US" dirty="0"/>
              <a:t> </a:t>
            </a:r>
            <a:r>
              <a:rPr lang="en-US" dirty="0" err="1"/>
              <a:t>acoperitoare</a:t>
            </a:r>
            <a:r>
              <a:rPr lang="en-US" dirty="0"/>
              <a:t> de tip (</a:t>
            </a:r>
            <a:r>
              <a:rPr lang="en-US" dirty="0" err="1"/>
              <a:t>engleză</a:t>
            </a:r>
            <a:r>
              <a:rPr lang="en-US" dirty="0"/>
              <a:t>: Type Wrapper).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pun la </a:t>
            </a:r>
            <a:r>
              <a:rPr lang="en-US" dirty="0" err="1"/>
              <a:t>dispoziţia</a:t>
            </a:r>
            <a:r>
              <a:rPr lang="en-US" dirty="0"/>
              <a:t> </a:t>
            </a:r>
            <a:r>
              <a:rPr lang="en-US" dirty="0" err="1"/>
              <a:t>programatorului</a:t>
            </a:r>
            <a:r>
              <a:rPr lang="en-US" dirty="0"/>
              <a:t> </a:t>
            </a:r>
            <a:r>
              <a:rPr lang="en-US" dirty="0" err="1"/>
              <a:t>atât</a:t>
            </a:r>
            <a:r>
              <a:rPr lang="en-US" dirty="0"/>
              <a:t> </a:t>
            </a:r>
            <a:r>
              <a:rPr lang="en-US" dirty="0" err="1"/>
              <a:t>variabile</a:t>
            </a:r>
            <a:r>
              <a:rPr lang="en-US" dirty="0"/>
              <a:t> finale (</a:t>
            </a:r>
            <a:r>
              <a:rPr lang="en-US" dirty="0" err="1"/>
              <a:t>constante</a:t>
            </a:r>
            <a:r>
              <a:rPr lang="en-US" dirty="0"/>
              <a:t>),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necesare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lucra</a:t>
            </a:r>
            <a:r>
              <a:rPr lang="en-US" dirty="0"/>
              <a:t> cu </a:t>
            </a:r>
            <a:r>
              <a:rPr lang="en-US" dirty="0" err="1"/>
              <a:t>tipul</a:t>
            </a:r>
            <a:r>
              <a:rPr lang="en-US" dirty="0"/>
              <a:t> de date </a:t>
            </a:r>
            <a:r>
              <a:rPr lang="en-US" dirty="0" err="1"/>
              <a:t>respectiv</a:t>
            </a:r>
            <a:r>
              <a:rPr lang="en-US" dirty="0"/>
              <a:t>. </a:t>
            </a:r>
            <a:r>
              <a:rPr lang="en-US" dirty="0" err="1"/>
              <a:t>Clasele</a:t>
            </a:r>
            <a:r>
              <a:rPr lang="en-US" dirty="0"/>
              <a:t> </a:t>
            </a:r>
            <a:r>
              <a:rPr lang="en-US" dirty="0" err="1"/>
              <a:t>acoperitoare</a:t>
            </a:r>
            <a:r>
              <a:rPr lang="en-US" dirty="0"/>
              <a:t> de tip </a:t>
            </a:r>
            <a:r>
              <a:rPr lang="en-US" dirty="0" err="1"/>
              <a:t>formează</a:t>
            </a:r>
            <a:r>
              <a:rPr lang="en-US" dirty="0"/>
              <a:t> </a:t>
            </a:r>
            <a:r>
              <a:rPr lang="en-US" dirty="0" err="1"/>
              <a:t>ierarhia</a:t>
            </a:r>
            <a:r>
              <a:rPr lang="en-US" dirty="0"/>
              <a:t> din </a:t>
            </a:r>
            <a:r>
              <a:rPr lang="en-US" dirty="0" err="1"/>
              <a:t>figura</a:t>
            </a:r>
            <a:r>
              <a:rPr lang="en-US" dirty="0"/>
              <a:t> 1.</a:t>
            </a:r>
            <a:endParaRPr lang="ro-RO" b="1" dirty="0"/>
          </a:p>
          <a:p>
            <a:endParaRPr lang="ro-RO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593" y="3505169"/>
            <a:ext cx="3407569" cy="1564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964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19101</TotalTime>
  <Words>4230</Words>
  <Application>Microsoft Office PowerPoint</Application>
  <PresentationFormat>On-screen Show (4:3)</PresentationFormat>
  <Paragraphs>739</Paragraphs>
  <Slides>26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Calibri</vt:lpstr>
      <vt:lpstr>Calibri Light</vt:lpstr>
      <vt:lpstr>Charcoal CY</vt:lpstr>
      <vt:lpstr>Courier New</vt:lpstr>
      <vt:lpstr>Helvetica</vt:lpstr>
      <vt:lpstr>Times New Roman</vt:lpstr>
      <vt:lpstr>Retrospect</vt:lpstr>
      <vt:lpstr>Obiecte si clase</vt:lpstr>
      <vt:lpstr>Definirea propriilor clase</vt:lpstr>
      <vt:lpstr>Reprezentarea informațiilor despre Studenti</vt:lpstr>
      <vt:lpstr>Clasa Student</vt:lpstr>
      <vt:lpstr>Clasa Student</vt:lpstr>
      <vt:lpstr>Clasa Student</vt:lpstr>
      <vt:lpstr>Clasa Student</vt:lpstr>
      <vt:lpstr>Utilizarea clasei Student </vt:lpstr>
      <vt:lpstr>Numere raționale</vt:lpstr>
      <vt:lpstr>Implementarea clasei Rational</vt:lpstr>
      <vt:lpstr>Cuvantul cheie this</vt:lpstr>
      <vt:lpstr>The Rational Class</vt:lpstr>
      <vt:lpstr>The Rational Class</vt:lpstr>
      <vt:lpstr>The Rational Class</vt:lpstr>
      <vt:lpstr>The Rational Class</vt:lpstr>
      <vt:lpstr>The Rational Class</vt:lpstr>
      <vt:lpstr>Simularea calculului rațional</vt:lpstr>
      <vt:lpstr>Adunarea a trei valori raționale</vt:lpstr>
      <vt:lpstr>Utilizarea claselor din pachetul java.lang  </vt:lpstr>
      <vt:lpstr>Clasa Object</vt:lpstr>
      <vt:lpstr>Clasele String şi StringBuffer </vt:lpstr>
      <vt:lpstr>Exemplu de program:</vt:lpstr>
      <vt:lpstr>PowerPoint Presentation</vt:lpstr>
      <vt:lpstr>Clasa Class</vt:lpstr>
      <vt:lpstr>PowerPoint Presentation</vt:lpstr>
      <vt:lpstr>Clasele acoperitoare de tip </vt:lpstr>
    </vt:vector>
  </TitlesOfParts>
  <Company>Stanford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3—Expressions</dc:title>
  <dc:creator>Admin</dc:creator>
  <cp:lastModifiedBy>Manuela Panoiu</cp:lastModifiedBy>
  <cp:revision>99</cp:revision>
  <dcterms:modified xsi:type="dcterms:W3CDTF">2020-11-08T09:03:44Z</dcterms:modified>
</cp:coreProperties>
</file>