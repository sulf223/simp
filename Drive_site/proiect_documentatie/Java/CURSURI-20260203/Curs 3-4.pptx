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 id="2147483674" r:id="rId2"/>
    <p:sldMasterId id="2147483687" r:id="rId3"/>
  </p:sldMasterIdLst>
  <p:sldIdLst>
    <p:sldId id="265" r:id="rId4"/>
    <p:sldId id="266" r:id="rId5"/>
    <p:sldId id="267" r:id="rId6"/>
    <p:sldId id="268" r:id="rId7"/>
    <p:sldId id="269"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15" r:id="rId51"/>
    <p:sldId id="316" r:id="rId52"/>
    <p:sldId id="317" r:id="rId53"/>
    <p:sldId id="318" r:id="rId54"/>
    <p:sldId id="319" r:id="rId55"/>
    <p:sldId id="320" r:id="rId56"/>
  </p:sldIdLst>
  <p:sldSz cx="9906000" cy="6858000" type="A4"/>
  <p:notesSz cx="7559675" cy="10691813"/>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138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viewProps" Target="view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9"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50" name="PlaceHolder 2"/>
          <p:cNvSpPr>
            <a:spLocks noGrp="1"/>
          </p:cNvSpPr>
          <p:nvPr>
            <p:ph type="subTitle"/>
          </p:nvPr>
        </p:nvSpPr>
        <p:spPr>
          <a:xfrm>
            <a:off x="495360" y="1886040"/>
            <a:ext cx="8859600" cy="41716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52" name="PlaceHolder 2"/>
          <p:cNvSpPr>
            <a:spLocks noGrp="1"/>
          </p:cNvSpPr>
          <p:nvPr>
            <p:ph type="body"/>
          </p:nvPr>
        </p:nvSpPr>
        <p:spPr>
          <a:xfrm>
            <a:off x="495360" y="1886040"/>
            <a:ext cx="8859600" cy="417168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54" name="PlaceHolder 2"/>
          <p:cNvSpPr>
            <a:spLocks noGrp="1"/>
          </p:cNvSpPr>
          <p:nvPr>
            <p:ph type="body"/>
          </p:nvPr>
        </p:nvSpPr>
        <p:spPr>
          <a:xfrm>
            <a:off x="49536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55" name="PlaceHolder 3"/>
          <p:cNvSpPr>
            <a:spLocks noGrp="1"/>
          </p:cNvSpPr>
          <p:nvPr>
            <p:ph type="body"/>
          </p:nvPr>
        </p:nvSpPr>
        <p:spPr>
          <a:xfrm>
            <a:off x="503532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6"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7" name="PlaceHolder 1"/>
          <p:cNvSpPr>
            <a:spLocks noGrp="1"/>
          </p:cNvSpPr>
          <p:nvPr>
            <p:ph type="subTitle"/>
          </p:nvPr>
        </p:nvSpPr>
        <p:spPr>
          <a:xfrm>
            <a:off x="439560" y="228600"/>
            <a:ext cx="8419680" cy="529776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59" name="PlaceHolder 2"/>
          <p:cNvSpPr>
            <a:spLocks noGrp="1"/>
          </p:cNvSpPr>
          <p:nvPr>
            <p:ph type="body"/>
          </p:nvPr>
        </p:nvSpPr>
        <p:spPr>
          <a:xfrm>
            <a:off x="49536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60" name="PlaceHolder 3"/>
          <p:cNvSpPr>
            <a:spLocks noGrp="1"/>
          </p:cNvSpPr>
          <p:nvPr>
            <p:ph type="body"/>
          </p:nvPr>
        </p:nvSpPr>
        <p:spPr>
          <a:xfrm>
            <a:off x="503532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61" name="PlaceHolder 4"/>
          <p:cNvSpPr>
            <a:spLocks noGrp="1"/>
          </p:cNvSpPr>
          <p:nvPr>
            <p:ph type="body"/>
          </p:nvPr>
        </p:nvSpPr>
        <p:spPr>
          <a:xfrm>
            <a:off x="49536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63" name="PlaceHolder 2"/>
          <p:cNvSpPr>
            <a:spLocks noGrp="1"/>
          </p:cNvSpPr>
          <p:nvPr>
            <p:ph type="body"/>
          </p:nvPr>
        </p:nvSpPr>
        <p:spPr>
          <a:xfrm>
            <a:off x="49536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64" name="PlaceHolder 3"/>
          <p:cNvSpPr>
            <a:spLocks noGrp="1"/>
          </p:cNvSpPr>
          <p:nvPr>
            <p:ph type="body"/>
          </p:nvPr>
        </p:nvSpPr>
        <p:spPr>
          <a:xfrm>
            <a:off x="503532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65" name="PlaceHolder 4"/>
          <p:cNvSpPr>
            <a:spLocks noGrp="1"/>
          </p:cNvSpPr>
          <p:nvPr>
            <p:ph type="body"/>
          </p:nvPr>
        </p:nvSpPr>
        <p:spPr>
          <a:xfrm>
            <a:off x="503532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67" name="PlaceHolder 2"/>
          <p:cNvSpPr>
            <a:spLocks noGrp="1"/>
          </p:cNvSpPr>
          <p:nvPr>
            <p:ph type="body"/>
          </p:nvPr>
        </p:nvSpPr>
        <p:spPr>
          <a:xfrm>
            <a:off x="49536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68" name="PlaceHolder 3"/>
          <p:cNvSpPr>
            <a:spLocks noGrp="1"/>
          </p:cNvSpPr>
          <p:nvPr>
            <p:ph type="body"/>
          </p:nvPr>
        </p:nvSpPr>
        <p:spPr>
          <a:xfrm>
            <a:off x="503532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69" name="PlaceHolder 4"/>
          <p:cNvSpPr>
            <a:spLocks noGrp="1"/>
          </p:cNvSpPr>
          <p:nvPr>
            <p:ph type="body"/>
          </p:nvPr>
        </p:nvSpPr>
        <p:spPr>
          <a:xfrm>
            <a:off x="495360" y="4065120"/>
            <a:ext cx="885960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71" name="PlaceHolder 2"/>
          <p:cNvSpPr>
            <a:spLocks noGrp="1"/>
          </p:cNvSpPr>
          <p:nvPr>
            <p:ph type="body"/>
          </p:nvPr>
        </p:nvSpPr>
        <p:spPr>
          <a:xfrm>
            <a:off x="495360" y="1886040"/>
            <a:ext cx="885960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72" name="PlaceHolder 3"/>
          <p:cNvSpPr>
            <a:spLocks noGrp="1"/>
          </p:cNvSpPr>
          <p:nvPr>
            <p:ph type="body"/>
          </p:nvPr>
        </p:nvSpPr>
        <p:spPr>
          <a:xfrm>
            <a:off x="495360" y="4065120"/>
            <a:ext cx="885960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74" name="PlaceHolder 2"/>
          <p:cNvSpPr>
            <a:spLocks noGrp="1"/>
          </p:cNvSpPr>
          <p:nvPr>
            <p:ph type="body"/>
          </p:nvPr>
        </p:nvSpPr>
        <p:spPr>
          <a:xfrm>
            <a:off x="49536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75" name="PlaceHolder 3"/>
          <p:cNvSpPr>
            <a:spLocks noGrp="1"/>
          </p:cNvSpPr>
          <p:nvPr>
            <p:ph type="body"/>
          </p:nvPr>
        </p:nvSpPr>
        <p:spPr>
          <a:xfrm>
            <a:off x="503532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76" name="PlaceHolder 4"/>
          <p:cNvSpPr>
            <a:spLocks noGrp="1"/>
          </p:cNvSpPr>
          <p:nvPr>
            <p:ph type="body"/>
          </p:nvPr>
        </p:nvSpPr>
        <p:spPr>
          <a:xfrm>
            <a:off x="49536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77" name="PlaceHolder 5"/>
          <p:cNvSpPr>
            <a:spLocks noGrp="1"/>
          </p:cNvSpPr>
          <p:nvPr>
            <p:ph type="body"/>
          </p:nvPr>
        </p:nvSpPr>
        <p:spPr>
          <a:xfrm>
            <a:off x="503532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79" name="PlaceHolder 2"/>
          <p:cNvSpPr>
            <a:spLocks noGrp="1"/>
          </p:cNvSpPr>
          <p:nvPr>
            <p:ph type="body"/>
          </p:nvPr>
        </p:nvSpPr>
        <p:spPr>
          <a:xfrm>
            <a:off x="495360" y="188604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80" name="PlaceHolder 3"/>
          <p:cNvSpPr>
            <a:spLocks noGrp="1"/>
          </p:cNvSpPr>
          <p:nvPr>
            <p:ph type="body"/>
          </p:nvPr>
        </p:nvSpPr>
        <p:spPr>
          <a:xfrm>
            <a:off x="3490920" y="188604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81" name="PlaceHolder 4"/>
          <p:cNvSpPr>
            <a:spLocks noGrp="1"/>
          </p:cNvSpPr>
          <p:nvPr>
            <p:ph type="body"/>
          </p:nvPr>
        </p:nvSpPr>
        <p:spPr>
          <a:xfrm>
            <a:off x="6486840" y="188604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82" name="PlaceHolder 5"/>
          <p:cNvSpPr>
            <a:spLocks noGrp="1"/>
          </p:cNvSpPr>
          <p:nvPr>
            <p:ph type="body"/>
          </p:nvPr>
        </p:nvSpPr>
        <p:spPr>
          <a:xfrm>
            <a:off x="495360" y="406512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83" name="PlaceHolder 6"/>
          <p:cNvSpPr>
            <a:spLocks noGrp="1"/>
          </p:cNvSpPr>
          <p:nvPr>
            <p:ph type="body"/>
          </p:nvPr>
        </p:nvSpPr>
        <p:spPr>
          <a:xfrm>
            <a:off x="3490920" y="406512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84" name="PlaceHolder 7"/>
          <p:cNvSpPr>
            <a:spLocks noGrp="1"/>
          </p:cNvSpPr>
          <p:nvPr>
            <p:ph type="body"/>
          </p:nvPr>
        </p:nvSpPr>
        <p:spPr>
          <a:xfrm>
            <a:off x="6486840" y="406512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1"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92" name="PlaceHolder 2"/>
          <p:cNvSpPr>
            <a:spLocks noGrp="1"/>
          </p:cNvSpPr>
          <p:nvPr>
            <p:ph type="subTitle"/>
          </p:nvPr>
        </p:nvSpPr>
        <p:spPr>
          <a:xfrm>
            <a:off x="495360" y="1886040"/>
            <a:ext cx="8859600" cy="41716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94" name="PlaceHolder 2"/>
          <p:cNvSpPr>
            <a:spLocks noGrp="1"/>
          </p:cNvSpPr>
          <p:nvPr>
            <p:ph type="body"/>
          </p:nvPr>
        </p:nvSpPr>
        <p:spPr>
          <a:xfrm>
            <a:off x="495360" y="1886040"/>
            <a:ext cx="8859600" cy="417168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96" name="PlaceHolder 2"/>
          <p:cNvSpPr>
            <a:spLocks noGrp="1"/>
          </p:cNvSpPr>
          <p:nvPr>
            <p:ph type="body"/>
          </p:nvPr>
        </p:nvSpPr>
        <p:spPr>
          <a:xfrm>
            <a:off x="49536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97" name="PlaceHolder 3"/>
          <p:cNvSpPr>
            <a:spLocks noGrp="1"/>
          </p:cNvSpPr>
          <p:nvPr>
            <p:ph type="body"/>
          </p:nvPr>
        </p:nvSpPr>
        <p:spPr>
          <a:xfrm>
            <a:off x="503532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8"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9" name="PlaceHolder 1"/>
          <p:cNvSpPr>
            <a:spLocks noGrp="1"/>
          </p:cNvSpPr>
          <p:nvPr>
            <p:ph type="subTitle"/>
          </p:nvPr>
        </p:nvSpPr>
        <p:spPr>
          <a:xfrm>
            <a:off x="439560" y="228600"/>
            <a:ext cx="8419680" cy="529776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01" name="PlaceHolder 2"/>
          <p:cNvSpPr>
            <a:spLocks noGrp="1"/>
          </p:cNvSpPr>
          <p:nvPr>
            <p:ph type="body"/>
          </p:nvPr>
        </p:nvSpPr>
        <p:spPr>
          <a:xfrm>
            <a:off x="49536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02" name="PlaceHolder 3"/>
          <p:cNvSpPr>
            <a:spLocks noGrp="1"/>
          </p:cNvSpPr>
          <p:nvPr>
            <p:ph type="body"/>
          </p:nvPr>
        </p:nvSpPr>
        <p:spPr>
          <a:xfrm>
            <a:off x="503532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03" name="PlaceHolder 4"/>
          <p:cNvSpPr>
            <a:spLocks noGrp="1"/>
          </p:cNvSpPr>
          <p:nvPr>
            <p:ph type="body"/>
          </p:nvPr>
        </p:nvSpPr>
        <p:spPr>
          <a:xfrm>
            <a:off x="49536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05" name="PlaceHolder 2"/>
          <p:cNvSpPr>
            <a:spLocks noGrp="1"/>
          </p:cNvSpPr>
          <p:nvPr>
            <p:ph type="body"/>
          </p:nvPr>
        </p:nvSpPr>
        <p:spPr>
          <a:xfrm>
            <a:off x="49536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06" name="PlaceHolder 3"/>
          <p:cNvSpPr>
            <a:spLocks noGrp="1"/>
          </p:cNvSpPr>
          <p:nvPr>
            <p:ph type="body"/>
          </p:nvPr>
        </p:nvSpPr>
        <p:spPr>
          <a:xfrm>
            <a:off x="503532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07" name="PlaceHolder 4"/>
          <p:cNvSpPr>
            <a:spLocks noGrp="1"/>
          </p:cNvSpPr>
          <p:nvPr>
            <p:ph type="body"/>
          </p:nvPr>
        </p:nvSpPr>
        <p:spPr>
          <a:xfrm>
            <a:off x="503532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09" name="PlaceHolder 2"/>
          <p:cNvSpPr>
            <a:spLocks noGrp="1"/>
          </p:cNvSpPr>
          <p:nvPr>
            <p:ph type="body"/>
          </p:nvPr>
        </p:nvSpPr>
        <p:spPr>
          <a:xfrm>
            <a:off x="49536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10" name="PlaceHolder 3"/>
          <p:cNvSpPr>
            <a:spLocks noGrp="1"/>
          </p:cNvSpPr>
          <p:nvPr>
            <p:ph type="body"/>
          </p:nvPr>
        </p:nvSpPr>
        <p:spPr>
          <a:xfrm>
            <a:off x="503532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11" name="PlaceHolder 4"/>
          <p:cNvSpPr>
            <a:spLocks noGrp="1"/>
          </p:cNvSpPr>
          <p:nvPr>
            <p:ph type="body"/>
          </p:nvPr>
        </p:nvSpPr>
        <p:spPr>
          <a:xfrm>
            <a:off x="495360" y="4065120"/>
            <a:ext cx="885960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13" name="PlaceHolder 2"/>
          <p:cNvSpPr>
            <a:spLocks noGrp="1"/>
          </p:cNvSpPr>
          <p:nvPr>
            <p:ph type="body"/>
          </p:nvPr>
        </p:nvSpPr>
        <p:spPr>
          <a:xfrm>
            <a:off x="495360" y="1886040"/>
            <a:ext cx="885960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14" name="PlaceHolder 3"/>
          <p:cNvSpPr>
            <a:spLocks noGrp="1"/>
          </p:cNvSpPr>
          <p:nvPr>
            <p:ph type="body"/>
          </p:nvPr>
        </p:nvSpPr>
        <p:spPr>
          <a:xfrm>
            <a:off x="495360" y="4065120"/>
            <a:ext cx="885960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16" name="PlaceHolder 2"/>
          <p:cNvSpPr>
            <a:spLocks noGrp="1"/>
          </p:cNvSpPr>
          <p:nvPr>
            <p:ph type="body"/>
          </p:nvPr>
        </p:nvSpPr>
        <p:spPr>
          <a:xfrm>
            <a:off x="49536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17" name="PlaceHolder 3"/>
          <p:cNvSpPr>
            <a:spLocks noGrp="1"/>
          </p:cNvSpPr>
          <p:nvPr>
            <p:ph type="body"/>
          </p:nvPr>
        </p:nvSpPr>
        <p:spPr>
          <a:xfrm>
            <a:off x="503532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18" name="PlaceHolder 4"/>
          <p:cNvSpPr>
            <a:spLocks noGrp="1"/>
          </p:cNvSpPr>
          <p:nvPr>
            <p:ph type="body"/>
          </p:nvPr>
        </p:nvSpPr>
        <p:spPr>
          <a:xfrm>
            <a:off x="49536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19" name="PlaceHolder 5"/>
          <p:cNvSpPr>
            <a:spLocks noGrp="1"/>
          </p:cNvSpPr>
          <p:nvPr>
            <p:ph type="body"/>
          </p:nvPr>
        </p:nvSpPr>
        <p:spPr>
          <a:xfrm>
            <a:off x="503532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21" name="PlaceHolder 2"/>
          <p:cNvSpPr>
            <a:spLocks noGrp="1"/>
          </p:cNvSpPr>
          <p:nvPr>
            <p:ph type="body"/>
          </p:nvPr>
        </p:nvSpPr>
        <p:spPr>
          <a:xfrm>
            <a:off x="495360" y="188604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22" name="PlaceHolder 3"/>
          <p:cNvSpPr>
            <a:spLocks noGrp="1"/>
          </p:cNvSpPr>
          <p:nvPr>
            <p:ph type="body"/>
          </p:nvPr>
        </p:nvSpPr>
        <p:spPr>
          <a:xfrm>
            <a:off x="3490920" y="188604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23" name="PlaceHolder 4"/>
          <p:cNvSpPr>
            <a:spLocks noGrp="1"/>
          </p:cNvSpPr>
          <p:nvPr>
            <p:ph type="body"/>
          </p:nvPr>
        </p:nvSpPr>
        <p:spPr>
          <a:xfrm>
            <a:off x="6486840" y="188604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24" name="PlaceHolder 5"/>
          <p:cNvSpPr>
            <a:spLocks noGrp="1"/>
          </p:cNvSpPr>
          <p:nvPr>
            <p:ph type="body"/>
          </p:nvPr>
        </p:nvSpPr>
        <p:spPr>
          <a:xfrm>
            <a:off x="495360" y="406512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25" name="PlaceHolder 6"/>
          <p:cNvSpPr>
            <a:spLocks noGrp="1"/>
          </p:cNvSpPr>
          <p:nvPr>
            <p:ph type="body"/>
          </p:nvPr>
        </p:nvSpPr>
        <p:spPr>
          <a:xfrm>
            <a:off x="3490920" y="406512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26" name="PlaceHolder 7"/>
          <p:cNvSpPr>
            <a:spLocks noGrp="1"/>
          </p:cNvSpPr>
          <p:nvPr>
            <p:ph type="body"/>
          </p:nvPr>
        </p:nvSpPr>
        <p:spPr>
          <a:xfrm>
            <a:off x="6486840" y="406512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4"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35" name="PlaceHolder 2"/>
          <p:cNvSpPr>
            <a:spLocks noGrp="1"/>
          </p:cNvSpPr>
          <p:nvPr>
            <p:ph type="subTitle"/>
          </p:nvPr>
        </p:nvSpPr>
        <p:spPr>
          <a:xfrm>
            <a:off x="495360" y="1886040"/>
            <a:ext cx="8859600" cy="41716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37" name="PlaceHolder 2"/>
          <p:cNvSpPr>
            <a:spLocks noGrp="1"/>
          </p:cNvSpPr>
          <p:nvPr>
            <p:ph type="body"/>
          </p:nvPr>
        </p:nvSpPr>
        <p:spPr>
          <a:xfrm>
            <a:off x="495360" y="1886040"/>
            <a:ext cx="8859600" cy="417168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39" name="PlaceHolder 2"/>
          <p:cNvSpPr>
            <a:spLocks noGrp="1"/>
          </p:cNvSpPr>
          <p:nvPr>
            <p:ph type="body"/>
          </p:nvPr>
        </p:nvSpPr>
        <p:spPr>
          <a:xfrm>
            <a:off x="49536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40" name="PlaceHolder 3"/>
          <p:cNvSpPr>
            <a:spLocks noGrp="1"/>
          </p:cNvSpPr>
          <p:nvPr>
            <p:ph type="body"/>
          </p:nvPr>
        </p:nvSpPr>
        <p:spPr>
          <a:xfrm>
            <a:off x="503532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1"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2" name="PlaceHolder 1"/>
          <p:cNvSpPr>
            <a:spLocks noGrp="1"/>
          </p:cNvSpPr>
          <p:nvPr>
            <p:ph type="subTitle"/>
          </p:nvPr>
        </p:nvSpPr>
        <p:spPr>
          <a:xfrm>
            <a:off x="439560" y="228600"/>
            <a:ext cx="8419680" cy="529776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44" name="PlaceHolder 2"/>
          <p:cNvSpPr>
            <a:spLocks noGrp="1"/>
          </p:cNvSpPr>
          <p:nvPr>
            <p:ph type="body"/>
          </p:nvPr>
        </p:nvSpPr>
        <p:spPr>
          <a:xfrm>
            <a:off x="49536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45" name="PlaceHolder 3"/>
          <p:cNvSpPr>
            <a:spLocks noGrp="1"/>
          </p:cNvSpPr>
          <p:nvPr>
            <p:ph type="body"/>
          </p:nvPr>
        </p:nvSpPr>
        <p:spPr>
          <a:xfrm>
            <a:off x="503532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46" name="PlaceHolder 4"/>
          <p:cNvSpPr>
            <a:spLocks noGrp="1"/>
          </p:cNvSpPr>
          <p:nvPr>
            <p:ph type="body"/>
          </p:nvPr>
        </p:nvSpPr>
        <p:spPr>
          <a:xfrm>
            <a:off x="49536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48" name="PlaceHolder 2"/>
          <p:cNvSpPr>
            <a:spLocks noGrp="1"/>
          </p:cNvSpPr>
          <p:nvPr>
            <p:ph type="body"/>
          </p:nvPr>
        </p:nvSpPr>
        <p:spPr>
          <a:xfrm>
            <a:off x="495360" y="1886040"/>
            <a:ext cx="4323240" cy="417168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49" name="PlaceHolder 3"/>
          <p:cNvSpPr>
            <a:spLocks noGrp="1"/>
          </p:cNvSpPr>
          <p:nvPr>
            <p:ph type="body"/>
          </p:nvPr>
        </p:nvSpPr>
        <p:spPr>
          <a:xfrm>
            <a:off x="503532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50" name="PlaceHolder 4"/>
          <p:cNvSpPr>
            <a:spLocks noGrp="1"/>
          </p:cNvSpPr>
          <p:nvPr>
            <p:ph type="body"/>
          </p:nvPr>
        </p:nvSpPr>
        <p:spPr>
          <a:xfrm>
            <a:off x="503532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52" name="PlaceHolder 2"/>
          <p:cNvSpPr>
            <a:spLocks noGrp="1"/>
          </p:cNvSpPr>
          <p:nvPr>
            <p:ph type="body"/>
          </p:nvPr>
        </p:nvSpPr>
        <p:spPr>
          <a:xfrm>
            <a:off x="49536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53" name="PlaceHolder 3"/>
          <p:cNvSpPr>
            <a:spLocks noGrp="1"/>
          </p:cNvSpPr>
          <p:nvPr>
            <p:ph type="body"/>
          </p:nvPr>
        </p:nvSpPr>
        <p:spPr>
          <a:xfrm>
            <a:off x="503532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54" name="PlaceHolder 4"/>
          <p:cNvSpPr>
            <a:spLocks noGrp="1"/>
          </p:cNvSpPr>
          <p:nvPr>
            <p:ph type="body"/>
          </p:nvPr>
        </p:nvSpPr>
        <p:spPr>
          <a:xfrm>
            <a:off x="495360" y="4065120"/>
            <a:ext cx="885960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56" name="PlaceHolder 2"/>
          <p:cNvSpPr>
            <a:spLocks noGrp="1"/>
          </p:cNvSpPr>
          <p:nvPr>
            <p:ph type="body"/>
          </p:nvPr>
        </p:nvSpPr>
        <p:spPr>
          <a:xfrm>
            <a:off x="495360" y="1886040"/>
            <a:ext cx="885960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57" name="PlaceHolder 3"/>
          <p:cNvSpPr>
            <a:spLocks noGrp="1"/>
          </p:cNvSpPr>
          <p:nvPr>
            <p:ph type="body"/>
          </p:nvPr>
        </p:nvSpPr>
        <p:spPr>
          <a:xfrm>
            <a:off x="495360" y="4065120"/>
            <a:ext cx="885960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59" name="PlaceHolder 2"/>
          <p:cNvSpPr>
            <a:spLocks noGrp="1"/>
          </p:cNvSpPr>
          <p:nvPr>
            <p:ph type="body"/>
          </p:nvPr>
        </p:nvSpPr>
        <p:spPr>
          <a:xfrm>
            <a:off x="49536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60" name="PlaceHolder 3"/>
          <p:cNvSpPr>
            <a:spLocks noGrp="1"/>
          </p:cNvSpPr>
          <p:nvPr>
            <p:ph type="body"/>
          </p:nvPr>
        </p:nvSpPr>
        <p:spPr>
          <a:xfrm>
            <a:off x="5035320" y="188604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61" name="PlaceHolder 4"/>
          <p:cNvSpPr>
            <a:spLocks noGrp="1"/>
          </p:cNvSpPr>
          <p:nvPr>
            <p:ph type="body"/>
          </p:nvPr>
        </p:nvSpPr>
        <p:spPr>
          <a:xfrm>
            <a:off x="49536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62" name="PlaceHolder 5"/>
          <p:cNvSpPr>
            <a:spLocks noGrp="1"/>
          </p:cNvSpPr>
          <p:nvPr>
            <p:ph type="body"/>
          </p:nvPr>
        </p:nvSpPr>
        <p:spPr>
          <a:xfrm>
            <a:off x="5035320" y="4065120"/>
            <a:ext cx="43232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439560" y="228600"/>
            <a:ext cx="8419680" cy="1142640"/>
          </a:xfrm>
          <a:prstGeom prst="rect">
            <a:avLst/>
          </a:prstGeom>
        </p:spPr>
        <p:txBody>
          <a:bodyPr lIns="0" tIns="0" rIns="0" bIns="0" anchor="ctr">
            <a:spAutoFit/>
          </a:bodyPr>
          <a:lstStyle/>
          <a:p>
            <a:endParaRPr lang="en-US" sz="2400" b="0" strike="noStrike" spc="-1">
              <a:solidFill>
                <a:srgbClr val="000000"/>
              </a:solidFill>
              <a:latin typeface="Arial"/>
            </a:endParaRPr>
          </a:p>
        </p:txBody>
      </p:sp>
      <p:sp>
        <p:nvSpPr>
          <p:cNvPr id="164" name="PlaceHolder 2"/>
          <p:cNvSpPr>
            <a:spLocks noGrp="1"/>
          </p:cNvSpPr>
          <p:nvPr>
            <p:ph type="body"/>
          </p:nvPr>
        </p:nvSpPr>
        <p:spPr>
          <a:xfrm>
            <a:off x="495360" y="188604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65" name="PlaceHolder 3"/>
          <p:cNvSpPr>
            <a:spLocks noGrp="1"/>
          </p:cNvSpPr>
          <p:nvPr>
            <p:ph type="body"/>
          </p:nvPr>
        </p:nvSpPr>
        <p:spPr>
          <a:xfrm>
            <a:off x="3490920" y="188604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66" name="PlaceHolder 4"/>
          <p:cNvSpPr>
            <a:spLocks noGrp="1"/>
          </p:cNvSpPr>
          <p:nvPr>
            <p:ph type="body"/>
          </p:nvPr>
        </p:nvSpPr>
        <p:spPr>
          <a:xfrm>
            <a:off x="6486840" y="188604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67" name="PlaceHolder 5"/>
          <p:cNvSpPr>
            <a:spLocks noGrp="1"/>
          </p:cNvSpPr>
          <p:nvPr>
            <p:ph type="body"/>
          </p:nvPr>
        </p:nvSpPr>
        <p:spPr>
          <a:xfrm>
            <a:off x="495360" y="406512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68" name="PlaceHolder 6"/>
          <p:cNvSpPr>
            <a:spLocks noGrp="1"/>
          </p:cNvSpPr>
          <p:nvPr>
            <p:ph type="body"/>
          </p:nvPr>
        </p:nvSpPr>
        <p:spPr>
          <a:xfrm>
            <a:off x="3490920" y="406512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
        <p:nvSpPr>
          <p:cNvPr id="169" name="PlaceHolder 7"/>
          <p:cNvSpPr>
            <a:spLocks noGrp="1"/>
          </p:cNvSpPr>
          <p:nvPr>
            <p:ph type="body"/>
          </p:nvPr>
        </p:nvSpPr>
        <p:spPr>
          <a:xfrm>
            <a:off x="6486840" y="4065120"/>
            <a:ext cx="2852640" cy="1989720"/>
          </a:xfrm>
          <a:prstGeom prst="rect">
            <a:avLst/>
          </a:prstGeom>
        </p:spPr>
        <p:txBody>
          <a:bodyPr lIns="0" tIns="0" rIns="0" bIns="0">
            <a:normAutofit/>
          </a:bodyPr>
          <a:lstStyle/>
          <a:p>
            <a:endParaRPr lang="en-US" sz="3200" b="0" strike="noStrike" spc="-1">
              <a:solidFill>
                <a:srgbClr val="000000"/>
              </a:solidFill>
              <a:latin typeface="Tahom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3" name="Picture 7"/>
          <p:cNvPicPr/>
          <p:nvPr/>
        </p:nvPicPr>
        <p:blipFill>
          <a:blip r:embed="rId14"/>
          <a:stretch/>
        </p:blipFill>
        <p:spPr>
          <a:xfrm>
            <a:off x="990720" y="1314360"/>
            <a:ext cx="8915040" cy="383760"/>
          </a:xfrm>
          <a:prstGeom prst="rect">
            <a:avLst/>
          </a:prstGeom>
          <a:ln>
            <a:noFill/>
          </a:ln>
        </p:spPr>
      </p:pic>
      <p:sp>
        <p:nvSpPr>
          <p:cNvPr id="44" name="PlaceHolder 1"/>
          <p:cNvSpPr>
            <a:spLocks noGrp="1"/>
          </p:cNvSpPr>
          <p:nvPr>
            <p:ph type="title"/>
          </p:nvPr>
        </p:nvSpPr>
        <p:spPr>
          <a:xfrm>
            <a:off x="439560" y="228600"/>
            <a:ext cx="8419680" cy="1142640"/>
          </a:xfrm>
          <a:prstGeom prst="rect">
            <a:avLst/>
          </a:prstGeom>
        </p:spPr>
        <p:txBody>
          <a:bodyPr anchor="b">
            <a:noAutofit/>
          </a:bodyPr>
          <a:lstStyle/>
          <a:p>
            <a:pPr>
              <a:lnSpc>
                <a:spcPct val="100000"/>
              </a:lnSpc>
            </a:pPr>
            <a:r>
              <a:rPr lang="en-US" sz="4000" b="0" strike="noStrike" spc="-1">
                <a:solidFill>
                  <a:srgbClr val="000000"/>
                </a:solidFill>
                <a:latin typeface="Arial Black"/>
              </a:rPr>
              <a:t>Click to edit Master title style</a:t>
            </a:r>
            <a:endParaRPr lang="en-US" sz="4000" b="0" strike="noStrike" spc="-1">
              <a:solidFill>
                <a:srgbClr val="000000"/>
              </a:solidFill>
              <a:latin typeface="Arial"/>
            </a:endParaRPr>
          </a:p>
        </p:txBody>
      </p:sp>
      <p:sp>
        <p:nvSpPr>
          <p:cNvPr id="45" name="PlaceHolder 2"/>
          <p:cNvSpPr>
            <a:spLocks noGrp="1"/>
          </p:cNvSpPr>
          <p:nvPr>
            <p:ph type="body"/>
          </p:nvPr>
        </p:nvSpPr>
        <p:spPr>
          <a:xfrm>
            <a:off x="495360" y="1886040"/>
            <a:ext cx="8859600" cy="4171680"/>
          </a:xfrm>
          <a:prstGeom prst="rect">
            <a:avLst/>
          </a:prstGeom>
        </p:spPr>
        <p:txBody>
          <a:bodyPr>
            <a:noAutofit/>
          </a:bodyPr>
          <a:lstStyle/>
          <a:p>
            <a:pPr marL="343080" indent="-342720">
              <a:lnSpc>
                <a:spcPct val="100000"/>
              </a:lnSpc>
              <a:spcBef>
                <a:spcPts val="641"/>
              </a:spcBef>
              <a:buClr>
                <a:srgbClr val="FFCC00"/>
              </a:buClr>
              <a:buFont typeface="Monotype Sorts" charset="2"/>
              <a:buChar char=""/>
            </a:pPr>
            <a:r>
              <a:rPr lang="en-US" sz="3200" b="0" strike="noStrike" spc="-1">
                <a:solidFill>
                  <a:srgbClr val="000000"/>
                </a:solidFill>
                <a:latin typeface="Tahoma"/>
              </a:rPr>
              <a:t>Click to edit Master text styles</a:t>
            </a:r>
          </a:p>
          <a:p>
            <a:pPr marL="743040" lvl="1" indent="-285480">
              <a:lnSpc>
                <a:spcPct val="100000"/>
              </a:lnSpc>
              <a:spcBef>
                <a:spcPts val="561"/>
              </a:spcBef>
              <a:buClr>
                <a:srgbClr val="FFCC00"/>
              </a:buClr>
              <a:buFont typeface="Monotype Sorts" charset="2"/>
              <a:buChar char=""/>
            </a:pPr>
            <a:r>
              <a:rPr lang="en-US" sz="2800" b="0" strike="noStrike" spc="-1">
                <a:solidFill>
                  <a:srgbClr val="000000"/>
                </a:solidFill>
                <a:latin typeface="Tahoma"/>
              </a:rPr>
              <a:t>Second level</a:t>
            </a:r>
          </a:p>
          <a:p>
            <a:pPr marL="1143000" lvl="2" indent="-228240">
              <a:lnSpc>
                <a:spcPct val="100000"/>
              </a:lnSpc>
              <a:spcBef>
                <a:spcPts val="479"/>
              </a:spcBef>
              <a:buClr>
                <a:srgbClr val="FFCC00"/>
              </a:buClr>
              <a:buFont typeface="Monotype Sorts" charset="2"/>
              <a:buChar char=""/>
            </a:pPr>
            <a:r>
              <a:rPr lang="en-US" sz="2400" b="0" strike="noStrike" spc="-1">
                <a:solidFill>
                  <a:srgbClr val="000000"/>
                </a:solidFill>
                <a:latin typeface="Tahoma"/>
              </a:rPr>
              <a:t>Third level</a:t>
            </a:r>
          </a:p>
          <a:p>
            <a:pPr marL="1600200" lvl="3" indent="-228240">
              <a:lnSpc>
                <a:spcPct val="100000"/>
              </a:lnSpc>
              <a:spcBef>
                <a:spcPts val="400"/>
              </a:spcBef>
              <a:buClr>
                <a:srgbClr val="FFCC00"/>
              </a:buClr>
              <a:buFont typeface="Symbol" charset="2"/>
              <a:buChar char=""/>
            </a:pPr>
            <a:r>
              <a:rPr lang="en-US" sz="2000" b="0" strike="noStrike" spc="-1">
                <a:solidFill>
                  <a:srgbClr val="000000"/>
                </a:solidFill>
                <a:latin typeface="Tahoma"/>
              </a:rPr>
              <a:t>Fourth level</a:t>
            </a:r>
          </a:p>
          <a:p>
            <a:pPr marL="2057400" lvl="4" indent="-228240">
              <a:lnSpc>
                <a:spcPct val="100000"/>
              </a:lnSpc>
              <a:spcBef>
                <a:spcPts val="400"/>
              </a:spcBef>
              <a:buClr>
                <a:srgbClr val="FFCC00"/>
              </a:buClr>
              <a:buFont typeface="Symbol" charset="2"/>
              <a:buChar char=""/>
            </a:pPr>
            <a:r>
              <a:rPr lang="en-US" sz="2000" b="0" strike="noStrike" spc="-1">
                <a:solidFill>
                  <a:srgbClr val="000000"/>
                </a:solidFill>
                <a:latin typeface="Tahoma"/>
              </a:rPr>
              <a:t>Fifth level</a:t>
            </a:r>
          </a:p>
        </p:txBody>
      </p:sp>
      <p:sp>
        <p:nvSpPr>
          <p:cNvPr id="46" name="PlaceHolder 3"/>
          <p:cNvSpPr>
            <a:spLocks noGrp="1"/>
          </p:cNvSpPr>
          <p:nvPr>
            <p:ph type="dt"/>
          </p:nvPr>
        </p:nvSpPr>
        <p:spPr>
          <a:xfrm>
            <a:off x="468360" y="6229440"/>
            <a:ext cx="2063520" cy="456840"/>
          </a:xfrm>
          <a:prstGeom prst="rect">
            <a:avLst/>
          </a:prstGeom>
        </p:spPr>
        <p:txBody>
          <a:bodyPr anchor="b">
            <a:noAutofit/>
          </a:bodyPr>
          <a:lstStyle/>
          <a:p>
            <a:pPr>
              <a:lnSpc>
                <a:spcPct val="100000"/>
              </a:lnSpc>
              <a:spcBef>
                <a:spcPts val="700"/>
              </a:spcBef>
            </a:pPr>
            <a:fld id="{6585DBF8-0D3A-4A6A-B597-C5CCCA4CADAD}" type="datetime1">
              <a:rPr lang="en-US" sz="1400" b="0" strike="noStrike" spc="-1">
                <a:solidFill>
                  <a:srgbClr val="5E574E"/>
                </a:solidFill>
                <a:latin typeface="Arial"/>
              </a:rPr>
              <a:t>11/8/2020</a:t>
            </a:fld>
            <a:endParaRPr lang="en-US" sz="1400" b="0" strike="noStrike" spc="-1">
              <a:latin typeface="Times New Roman"/>
            </a:endParaRPr>
          </a:p>
        </p:txBody>
      </p:sp>
      <p:sp>
        <p:nvSpPr>
          <p:cNvPr id="47" name="PlaceHolder 4"/>
          <p:cNvSpPr>
            <a:spLocks noGrp="1"/>
          </p:cNvSpPr>
          <p:nvPr>
            <p:ph type="ftr"/>
          </p:nvPr>
        </p:nvSpPr>
        <p:spPr>
          <a:xfrm>
            <a:off x="3384720" y="6229440"/>
            <a:ext cx="3136680" cy="456840"/>
          </a:xfrm>
          <a:prstGeom prst="rect">
            <a:avLst/>
          </a:prstGeom>
        </p:spPr>
        <p:txBody>
          <a:bodyPr anchor="b">
            <a:noAutofit/>
          </a:bodyPr>
          <a:lstStyle/>
          <a:p>
            <a:pPr algn="ctr">
              <a:lnSpc>
                <a:spcPct val="100000"/>
              </a:lnSpc>
              <a:spcBef>
                <a:spcPts val="700"/>
              </a:spcBef>
            </a:pPr>
            <a:r>
              <a:rPr lang="en-US" sz="1400" b="0" strike="noStrike" spc="-1">
                <a:solidFill>
                  <a:srgbClr val="5E574E"/>
                </a:solidFill>
                <a:latin typeface="Arial"/>
              </a:rPr>
              <a:t>POO - Cap. 2.   Limbajul  JAVA - prezentare generală</a:t>
            </a:r>
            <a:endParaRPr lang="en-US" sz="1400" b="0" strike="noStrike" spc="-1">
              <a:latin typeface="Times New Roman"/>
            </a:endParaRPr>
          </a:p>
        </p:txBody>
      </p:sp>
      <p:sp>
        <p:nvSpPr>
          <p:cNvPr id="48" name="PlaceHolder 5"/>
          <p:cNvSpPr>
            <a:spLocks noGrp="1"/>
          </p:cNvSpPr>
          <p:nvPr>
            <p:ph type="sldNum"/>
          </p:nvPr>
        </p:nvSpPr>
        <p:spPr>
          <a:xfrm>
            <a:off x="7291440" y="6229440"/>
            <a:ext cx="2063520" cy="456840"/>
          </a:xfrm>
          <a:prstGeom prst="rect">
            <a:avLst/>
          </a:prstGeom>
        </p:spPr>
        <p:txBody>
          <a:bodyPr anchor="b">
            <a:noAutofit/>
          </a:bodyPr>
          <a:lstStyle/>
          <a:p>
            <a:pPr algn="r">
              <a:lnSpc>
                <a:spcPct val="100000"/>
              </a:lnSpc>
              <a:spcBef>
                <a:spcPts val="700"/>
              </a:spcBef>
            </a:pPr>
            <a:fld id="{D0F8D034-32B0-42B8-A728-2FF439492151}" type="slidenum">
              <a:rPr lang="en-US" sz="1400" b="0" strike="noStrike" spc="-1">
                <a:solidFill>
                  <a:srgbClr val="5E574E"/>
                </a:solidFill>
                <a:latin typeface="Arial"/>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 name="Picture 7"/>
          <p:cNvPicPr/>
          <p:nvPr/>
        </p:nvPicPr>
        <p:blipFill>
          <a:blip r:embed="rId14"/>
          <a:stretch/>
        </p:blipFill>
        <p:spPr>
          <a:xfrm>
            <a:off x="990720" y="1314360"/>
            <a:ext cx="8915040" cy="383760"/>
          </a:xfrm>
          <a:prstGeom prst="rect">
            <a:avLst/>
          </a:prstGeom>
          <a:ln>
            <a:noFill/>
          </a:ln>
        </p:spPr>
      </p:pic>
      <p:sp>
        <p:nvSpPr>
          <p:cNvPr id="86" name="PlaceHolder 1"/>
          <p:cNvSpPr>
            <a:spLocks noGrp="1"/>
          </p:cNvSpPr>
          <p:nvPr>
            <p:ph type="title"/>
          </p:nvPr>
        </p:nvSpPr>
        <p:spPr>
          <a:xfrm>
            <a:off x="439560" y="228600"/>
            <a:ext cx="8419680" cy="1142640"/>
          </a:xfrm>
          <a:prstGeom prst="rect">
            <a:avLst/>
          </a:prstGeom>
        </p:spPr>
        <p:txBody>
          <a:bodyPr anchor="b">
            <a:noAutofit/>
          </a:bodyPr>
          <a:lstStyle/>
          <a:p>
            <a:pPr>
              <a:lnSpc>
                <a:spcPct val="100000"/>
              </a:lnSpc>
            </a:pPr>
            <a:r>
              <a:rPr lang="en-US" sz="4000" b="0" strike="noStrike" spc="-1">
                <a:solidFill>
                  <a:srgbClr val="000000"/>
                </a:solidFill>
                <a:latin typeface="Arial Black"/>
              </a:rPr>
              <a:t>Click to edit Master title style</a:t>
            </a:r>
            <a:endParaRPr lang="en-US" sz="4000" b="0" strike="noStrike" spc="-1">
              <a:solidFill>
                <a:srgbClr val="000000"/>
              </a:solidFill>
              <a:latin typeface="Arial"/>
            </a:endParaRPr>
          </a:p>
        </p:txBody>
      </p:sp>
      <p:sp>
        <p:nvSpPr>
          <p:cNvPr id="87" name="PlaceHolder 2"/>
          <p:cNvSpPr>
            <a:spLocks noGrp="1"/>
          </p:cNvSpPr>
          <p:nvPr>
            <p:ph type="body"/>
          </p:nvPr>
        </p:nvSpPr>
        <p:spPr>
          <a:xfrm>
            <a:off x="495360" y="1886040"/>
            <a:ext cx="8859600" cy="4171680"/>
          </a:xfrm>
          <a:prstGeom prst="rect">
            <a:avLst/>
          </a:prstGeom>
        </p:spPr>
        <p:txBody>
          <a:bodyPr lIns="90000" tIns="45000" rIns="90000" bIns="45000">
            <a:noAutofit/>
          </a:bodyPr>
          <a:lstStyle/>
          <a:p>
            <a:pPr marL="432000" indent="-324000">
              <a:spcBef>
                <a:spcPts val="1417"/>
              </a:spcBef>
              <a:buClr>
                <a:srgbClr val="000000"/>
              </a:buClr>
              <a:buSzPct val="45000"/>
              <a:buFont typeface="Wingdings" charset="2"/>
              <a:buChar char=""/>
            </a:pPr>
            <a:r>
              <a:rPr lang="en-US" sz="2400" b="0" strike="noStrike" spc="-1">
                <a:solidFill>
                  <a:srgbClr val="000000"/>
                </a:solidFill>
                <a:latin typeface="Tahoma"/>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Tahoma"/>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Tahoma"/>
              </a:rPr>
              <a:t>Third Outline Level</a:t>
            </a:r>
          </a:p>
          <a:p>
            <a:pPr marL="1728000" lvl="3" indent="-216000">
              <a:spcBef>
                <a:spcPts val="567"/>
              </a:spcBef>
              <a:buClr>
                <a:srgbClr val="000000"/>
              </a:buClr>
              <a:buSzPct val="75000"/>
              <a:buFont typeface="Symbol" charset="2"/>
              <a:buChar char=""/>
            </a:pPr>
            <a:r>
              <a:rPr lang="en-US" sz="2400" b="0" strike="noStrike" spc="-1">
                <a:solidFill>
                  <a:srgbClr val="000000"/>
                </a:solidFill>
                <a:latin typeface="Tahoma"/>
              </a:rPr>
              <a:t>Fourth Outline Level</a:t>
            </a:r>
          </a:p>
          <a:p>
            <a:pPr marL="2160000" lvl="4" indent="-216000">
              <a:spcBef>
                <a:spcPts val="283"/>
              </a:spcBef>
              <a:buClr>
                <a:srgbClr val="000000"/>
              </a:buClr>
              <a:buSzPct val="45000"/>
              <a:buFont typeface="Wingdings" charset="2"/>
              <a:buChar char=""/>
            </a:pPr>
            <a:r>
              <a:rPr lang="en-US" sz="2400" b="0" strike="noStrike" spc="-1">
                <a:solidFill>
                  <a:srgbClr val="000000"/>
                </a:solidFill>
                <a:latin typeface="Tahoma"/>
              </a:rPr>
              <a:t>Fifth Outline Level</a:t>
            </a:r>
          </a:p>
          <a:p>
            <a:pPr marL="2592000" lvl="5" indent="-216000">
              <a:spcBef>
                <a:spcPts val="283"/>
              </a:spcBef>
              <a:buClr>
                <a:srgbClr val="000000"/>
              </a:buClr>
              <a:buSzPct val="45000"/>
              <a:buFont typeface="Wingdings" charset="2"/>
              <a:buChar char=""/>
            </a:pPr>
            <a:r>
              <a:rPr lang="en-US" sz="2400" b="0" strike="noStrike" spc="-1">
                <a:solidFill>
                  <a:srgbClr val="000000"/>
                </a:solidFill>
                <a:latin typeface="Tahoma"/>
              </a:rPr>
              <a:t>Sixth Outline Level</a:t>
            </a:r>
          </a:p>
          <a:p>
            <a:pPr marL="3024000" lvl="6" indent="-216000">
              <a:spcBef>
                <a:spcPts val="283"/>
              </a:spcBef>
              <a:buClr>
                <a:srgbClr val="000000"/>
              </a:buClr>
              <a:buSzPct val="45000"/>
              <a:buFont typeface="Wingdings" charset="2"/>
              <a:buChar char=""/>
            </a:pPr>
            <a:r>
              <a:rPr lang="en-US" sz="2400" b="0" strike="noStrike" spc="-1">
                <a:solidFill>
                  <a:srgbClr val="000000"/>
                </a:solidFill>
                <a:latin typeface="Tahoma"/>
              </a:rPr>
              <a:t>Seventh Outline Level</a:t>
            </a:r>
          </a:p>
        </p:txBody>
      </p:sp>
      <p:sp>
        <p:nvSpPr>
          <p:cNvPr id="88" name="PlaceHolder 3"/>
          <p:cNvSpPr>
            <a:spLocks noGrp="1"/>
          </p:cNvSpPr>
          <p:nvPr>
            <p:ph type="dt"/>
          </p:nvPr>
        </p:nvSpPr>
        <p:spPr>
          <a:xfrm>
            <a:off x="468360" y="6229440"/>
            <a:ext cx="2063520" cy="456840"/>
          </a:xfrm>
          <a:prstGeom prst="rect">
            <a:avLst/>
          </a:prstGeom>
        </p:spPr>
        <p:txBody>
          <a:bodyPr anchor="b">
            <a:noAutofit/>
          </a:bodyPr>
          <a:lstStyle/>
          <a:p>
            <a:pPr>
              <a:lnSpc>
                <a:spcPct val="100000"/>
              </a:lnSpc>
              <a:spcBef>
                <a:spcPts val="700"/>
              </a:spcBef>
            </a:pPr>
            <a:fld id="{4ACE830C-4C14-4E3B-ACE2-CC67C4150569}" type="datetime1">
              <a:rPr lang="en-US" sz="1400" b="0" strike="noStrike" spc="-1">
                <a:solidFill>
                  <a:srgbClr val="5E574E"/>
                </a:solidFill>
                <a:latin typeface="Arial"/>
              </a:rPr>
              <a:t>11/8/2020</a:t>
            </a:fld>
            <a:endParaRPr lang="en-US" sz="1400" b="0" strike="noStrike" spc="-1">
              <a:latin typeface="Times New Roman"/>
            </a:endParaRPr>
          </a:p>
        </p:txBody>
      </p:sp>
      <p:sp>
        <p:nvSpPr>
          <p:cNvPr id="89" name="PlaceHolder 4"/>
          <p:cNvSpPr>
            <a:spLocks noGrp="1"/>
          </p:cNvSpPr>
          <p:nvPr>
            <p:ph type="ftr"/>
          </p:nvPr>
        </p:nvSpPr>
        <p:spPr>
          <a:xfrm>
            <a:off x="3384720" y="6229440"/>
            <a:ext cx="3136680" cy="456840"/>
          </a:xfrm>
          <a:prstGeom prst="rect">
            <a:avLst/>
          </a:prstGeom>
        </p:spPr>
        <p:txBody>
          <a:bodyPr anchor="b">
            <a:noAutofit/>
          </a:bodyPr>
          <a:lstStyle/>
          <a:p>
            <a:pPr algn="ctr">
              <a:lnSpc>
                <a:spcPct val="100000"/>
              </a:lnSpc>
              <a:spcBef>
                <a:spcPts val="700"/>
              </a:spcBef>
            </a:pPr>
            <a:r>
              <a:rPr lang="en-US" sz="1400" b="0" strike="noStrike" spc="-1">
                <a:solidFill>
                  <a:srgbClr val="5E574E"/>
                </a:solidFill>
                <a:latin typeface="Arial"/>
              </a:rPr>
              <a:t>POO - Cap. 2.   Limbajul  JAVA - prezentare generală</a:t>
            </a:r>
            <a:endParaRPr lang="en-US" sz="1400" b="0" strike="noStrike" spc="-1">
              <a:latin typeface="Times New Roman"/>
            </a:endParaRPr>
          </a:p>
        </p:txBody>
      </p:sp>
      <p:sp>
        <p:nvSpPr>
          <p:cNvPr id="90" name="PlaceHolder 5"/>
          <p:cNvSpPr>
            <a:spLocks noGrp="1"/>
          </p:cNvSpPr>
          <p:nvPr>
            <p:ph type="sldNum"/>
          </p:nvPr>
        </p:nvSpPr>
        <p:spPr>
          <a:xfrm>
            <a:off x="7291440" y="6229440"/>
            <a:ext cx="2063520" cy="456840"/>
          </a:xfrm>
          <a:prstGeom prst="rect">
            <a:avLst/>
          </a:prstGeom>
        </p:spPr>
        <p:txBody>
          <a:bodyPr anchor="b">
            <a:noAutofit/>
          </a:bodyPr>
          <a:lstStyle/>
          <a:p>
            <a:pPr algn="r">
              <a:lnSpc>
                <a:spcPct val="100000"/>
              </a:lnSpc>
              <a:spcBef>
                <a:spcPts val="700"/>
              </a:spcBef>
            </a:pPr>
            <a:fld id="{F3DA2106-542F-44A3-B9A9-05F214C637FD}" type="slidenum">
              <a:rPr lang="en-US" sz="1400" b="0" strike="noStrike" spc="-1">
                <a:solidFill>
                  <a:srgbClr val="5E574E"/>
                </a:solidFill>
                <a:latin typeface="Arial"/>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7" name="Picture 7"/>
          <p:cNvPicPr/>
          <p:nvPr/>
        </p:nvPicPr>
        <p:blipFill>
          <a:blip r:embed="rId14"/>
          <a:stretch/>
        </p:blipFill>
        <p:spPr>
          <a:xfrm>
            <a:off x="990720" y="1314360"/>
            <a:ext cx="8915040" cy="383760"/>
          </a:xfrm>
          <a:prstGeom prst="rect">
            <a:avLst/>
          </a:prstGeom>
          <a:ln>
            <a:noFill/>
          </a:ln>
        </p:spPr>
      </p:pic>
      <p:sp>
        <p:nvSpPr>
          <p:cNvPr id="128" name="PlaceHolder 1"/>
          <p:cNvSpPr>
            <a:spLocks noGrp="1"/>
          </p:cNvSpPr>
          <p:nvPr>
            <p:ph type="title"/>
          </p:nvPr>
        </p:nvSpPr>
        <p:spPr>
          <a:xfrm>
            <a:off x="439560" y="228600"/>
            <a:ext cx="8419680" cy="1142640"/>
          </a:xfrm>
          <a:prstGeom prst="rect">
            <a:avLst/>
          </a:prstGeom>
        </p:spPr>
        <p:txBody>
          <a:bodyPr anchor="b">
            <a:noAutofit/>
          </a:bodyPr>
          <a:lstStyle/>
          <a:p>
            <a:pPr>
              <a:lnSpc>
                <a:spcPct val="100000"/>
              </a:lnSpc>
            </a:pPr>
            <a:r>
              <a:rPr lang="en-US" sz="4000" b="0" strike="noStrike" spc="-1">
                <a:solidFill>
                  <a:srgbClr val="000000"/>
                </a:solidFill>
                <a:latin typeface="Arial Black"/>
              </a:rPr>
              <a:t>Click to edit Master title style</a:t>
            </a:r>
            <a:endParaRPr lang="en-US" sz="4000" b="0" strike="noStrike" spc="-1">
              <a:solidFill>
                <a:srgbClr val="000000"/>
              </a:solidFill>
              <a:latin typeface="Arial"/>
            </a:endParaRPr>
          </a:p>
        </p:txBody>
      </p:sp>
      <p:sp>
        <p:nvSpPr>
          <p:cNvPr id="129" name="PlaceHolder 2"/>
          <p:cNvSpPr>
            <a:spLocks noGrp="1"/>
          </p:cNvSpPr>
          <p:nvPr>
            <p:ph type="body"/>
          </p:nvPr>
        </p:nvSpPr>
        <p:spPr>
          <a:xfrm>
            <a:off x="495360" y="1886040"/>
            <a:ext cx="4352400" cy="4171680"/>
          </a:xfrm>
          <a:prstGeom prst="rect">
            <a:avLst/>
          </a:prstGeom>
        </p:spPr>
        <p:txBody>
          <a:bodyPr>
            <a:noAutofit/>
          </a:bodyPr>
          <a:lstStyle/>
          <a:p>
            <a:pPr marL="343080" indent="-342720">
              <a:lnSpc>
                <a:spcPct val="100000"/>
              </a:lnSpc>
              <a:spcBef>
                <a:spcPts val="641"/>
              </a:spcBef>
              <a:buClr>
                <a:srgbClr val="FFCC00"/>
              </a:buClr>
              <a:buFont typeface="Monotype Sorts" charset="2"/>
              <a:buChar char=""/>
            </a:pPr>
            <a:r>
              <a:rPr lang="en-US" sz="3200" b="0" strike="noStrike" spc="-1">
                <a:solidFill>
                  <a:srgbClr val="000000"/>
                </a:solidFill>
                <a:latin typeface="Tahoma"/>
              </a:rPr>
              <a:t>Click to edit Master text styles</a:t>
            </a:r>
          </a:p>
          <a:p>
            <a:pPr marL="743040" lvl="1" indent="-285480">
              <a:lnSpc>
                <a:spcPct val="100000"/>
              </a:lnSpc>
              <a:spcBef>
                <a:spcPts val="561"/>
              </a:spcBef>
              <a:buClr>
                <a:srgbClr val="FFCC00"/>
              </a:buClr>
              <a:buFont typeface="Monotype Sorts" charset="2"/>
              <a:buChar char=""/>
            </a:pPr>
            <a:r>
              <a:rPr lang="en-US" sz="2800" b="0" strike="noStrike" spc="-1">
                <a:solidFill>
                  <a:srgbClr val="000000"/>
                </a:solidFill>
                <a:latin typeface="Tahoma"/>
              </a:rPr>
              <a:t>Second level</a:t>
            </a:r>
          </a:p>
          <a:p>
            <a:pPr marL="1143000" lvl="2" indent="-228240">
              <a:lnSpc>
                <a:spcPct val="100000"/>
              </a:lnSpc>
              <a:spcBef>
                <a:spcPts val="479"/>
              </a:spcBef>
              <a:buClr>
                <a:srgbClr val="FFCC00"/>
              </a:buClr>
              <a:buFont typeface="Monotype Sorts" charset="2"/>
              <a:buChar char=""/>
            </a:pPr>
            <a:r>
              <a:rPr lang="en-US" sz="2400" b="0" strike="noStrike" spc="-1">
                <a:solidFill>
                  <a:srgbClr val="000000"/>
                </a:solidFill>
                <a:latin typeface="Tahoma"/>
              </a:rPr>
              <a:t>Third level</a:t>
            </a:r>
          </a:p>
          <a:p>
            <a:pPr marL="1600200" lvl="3" indent="-228240">
              <a:lnSpc>
                <a:spcPct val="100000"/>
              </a:lnSpc>
              <a:spcBef>
                <a:spcPts val="400"/>
              </a:spcBef>
              <a:buClr>
                <a:srgbClr val="FFCC00"/>
              </a:buClr>
              <a:buFont typeface="Symbol" charset="2"/>
              <a:buChar char=""/>
            </a:pPr>
            <a:r>
              <a:rPr lang="en-US" sz="2000" b="0" strike="noStrike" spc="-1">
                <a:solidFill>
                  <a:srgbClr val="000000"/>
                </a:solidFill>
                <a:latin typeface="Tahoma"/>
              </a:rPr>
              <a:t>Fourth level</a:t>
            </a:r>
          </a:p>
          <a:p>
            <a:pPr marL="2057400" lvl="4" indent="-228240">
              <a:lnSpc>
                <a:spcPct val="100000"/>
              </a:lnSpc>
              <a:spcBef>
                <a:spcPts val="400"/>
              </a:spcBef>
              <a:buClr>
                <a:srgbClr val="FFCC00"/>
              </a:buClr>
              <a:buFont typeface="Symbol" charset="2"/>
              <a:buChar char=""/>
            </a:pPr>
            <a:r>
              <a:rPr lang="en-US" sz="2000" b="0" strike="noStrike" spc="-1">
                <a:solidFill>
                  <a:srgbClr val="000000"/>
                </a:solidFill>
                <a:latin typeface="Tahoma"/>
              </a:rPr>
              <a:t>Fifth level</a:t>
            </a:r>
          </a:p>
        </p:txBody>
      </p:sp>
      <p:sp>
        <p:nvSpPr>
          <p:cNvPr id="130" name="PlaceHolder 3"/>
          <p:cNvSpPr>
            <a:spLocks noGrp="1"/>
          </p:cNvSpPr>
          <p:nvPr>
            <p:ph type="body"/>
          </p:nvPr>
        </p:nvSpPr>
        <p:spPr>
          <a:xfrm>
            <a:off x="5000760" y="1886040"/>
            <a:ext cx="4354200" cy="4171680"/>
          </a:xfrm>
          <a:prstGeom prst="rect">
            <a:avLst/>
          </a:prstGeom>
        </p:spPr>
        <p:txBody>
          <a:bodyPr>
            <a:noAutofit/>
          </a:bodyPr>
          <a:lstStyle/>
          <a:p>
            <a:pPr marL="343080" indent="-342720">
              <a:lnSpc>
                <a:spcPct val="100000"/>
              </a:lnSpc>
              <a:spcBef>
                <a:spcPts val="641"/>
              </a:spcBef>
              <a:buClr>
                <a:srgbClr val="FFCC00"/>
              </a:buClr>
              <a:buFont typeface="Monotype Sorts" charset="2"/>
              <a:buChar char=""/>
            </a:pPr>
            <a:r>
              <a:rPr lang="en-US" sz="3200" b="0" strike="noStrike" spc="-1">
                <a:solidFill>
                  <a:srgbClr val="000000"/>
                </a:solidFill>
                <a:latin typeface="Tahoma"/>
              </a:rPr>
              <a:t>Click to edit Master text styles</a:t>
            </a:r>
          </a:p>
          <a:p>
            <a:pPr marL="743040" lvl="1" indent="-285480">
              <a:lnSpc>
                <a:spcPct val="100000"/>
              </a:lnSpc>
              <a:spcBef>
                <a:spcPts val="561"/>
              </a:spcBef>
              <a:buClr>
                <a:srgbClr val="FFCC00"/>
              </a:buClr>
              <a:buFont typeface="Monotype Sorts" charset="2"/>
              <a:buChar char=""/>
            </a:pPr>
            <a:r>
              <a:rPr lang="en-US" sz="2800" b="0" strike="noStrike" spc="-1">
                <a:solidFill>
                  <a:srgbClr val="000000"/>
                </a:solidFill>
                <a:latin typeface="Tahoma"/>
              </a:rPr>
              <a:t>Second level</a:t>
            </a:r>
          </a:p>
          <a:p>
            <a:pPr marL="1143000" lvl="2" indent="-228240">
              <a:lnSpc>
                <a:spcPct val="100000"/>
              </a:lnSpc>
              <a:spcBef>
                <a:spcPts val="479"/>
              </a:spcBef>
              <a:buClr>
                <a:srgbClr val="FFCC00"/>
              </a:buClr>
              <a:buFont typeface="Monotype Sorts" charset="2"/>
              <a:buChar char=""/>
            </a:pPr>
            <a:r>
              <a:rPr lang="en-US" sz="2400" b="0" strike="noStrike" spc="-1">
                <a:solidFill>
                  <a:srgbClr val="000000"/>
                </a:solidFill>
                <a:latin typeface="Tahoma"/>
              </a:rPr>
              <a:t>Third level</a:t>
            </a:r>
          </a:p>
          <a:p>
            <a:pPr marL="1600200" lvl="3" indent="-228240">
              <a:lnSpc>
                <a:spcPct val="100000"/>
              </a:lnSpc>
              <a:spcBef>
                <a:spcPts val="400"/>
              </a:spcBef>
              <a:buClr>
                <a:srgbClr val="FFCC00"/>
              </a:buClr>
              <a:buFont typeface="Symbol" charset="2"/>
              <a:buChar char=""/>
            </a:pPr>
            <a:r>
              <a:rPr lang="en-US" sz="2000" b="0" strike="noStrike" spc="-1">
                <a:solidFill>
                  <a:srgbClr val="000000"/>
                </a:solidFill>
                <a:latin typeface="Tahoma"/>
              </a:rPr>
              <a:t>Fourth level</a:t>
            </a:r>
          </a:p>
          <a:p>
            <a:pPr marL="2057400" lvl="4" indent="-228240">
              <a:lnSpc>
                <a:spcPct val="100000"/>
              </a:lnSpc>
              <a:spcBef>
                <a:spcPts val="400"/>
              </a:spcBef>
              <a:buClr>
                <a:srgbClr val="FFCC00"/>
              </a:buClr>
              <a:buFont typeface="Symbol" charset="2"/>
              <a:buChar char=""/>
            </a:pPr>
            <a:r>
              <a:rPr lang="en-US" sz="2000" b="0" strike="noStrike" spc="-1">
                <a:solidFill>
                  <a:srgbClr val="000000"/>
                </a:solidFill>
                <a:latin typeface="Tahoma"/>
              </a:rPr>
              <a:t>Fifth level</a:t>
            </a:r>
          </a:p>
        </p:txBody>
      </p:sp>
      <p:sp>
        <p:nvSpPr>
          <p:cNvPr id="131" name="PlaceHolder 4"/>
          <p:cNvSpPr>
            <a:spLocks noGrp="1"/>
          </p:cNvSpPr>
          <p:nvPr>
            <p:ph type="dt"/>
          </p:nvPr>
        </p:nvSpPr>
        <p:spPr>
          <a:xfrm>
            <a:off x="468360" y="6229440"/>
            <a:ext cx="2063520" cy="456840"/>
          </a:xfrm>
          <a:prstGeom prst="rect">
            <a:avLst/>
          </a:prstGeom>
        </p:spPr>
        <p:txBody>
          <a:bodyPr anchor="b">
            <a:noAutofit/>
          </a:bodyPr>
          <a:lstStyle/>
          <a:p>
            <a:pPr>
              <a:lnSpc>
                <a:spcPct val="100000"/>
              </a:lnSpc>
              <a:spcBef>
                <a:spcPts val="700"/>
              </a:spcBef>
            </a:pPr>
            <a:fld id="{BF20F679-B1EB-46AD-B8A6-8B6FB57214B8}" type="datetime1">
              <a:rPr lang="en-US" sz="1400" b="0" strike="noStrike" spc="-1">
                <a:solidFill>
                  <a:srgbClr val="5E574E"/>
                </a:solidFill>
                <a:latin typeface="Arial"/>
              </a:rPr>
              <a:t>11/8/2020</a:t>
            </a:fld>
            <a:endParaRPr lang="en-US" sz="1400" b="0" strike="noStrike" spc="-1">
              <a:latin typeface="Times New Roman"/>
            </a:endParaRPr>
          </a:p>
        </p:txBody>
      </p:sp>
      <p:sp>
        <p:nvSpPr>
          <p:cNvPr id="132" name="PlaceHolder 5"/>
          <p:cNvSpPr>
            <a:spLocks noGrp="1"/>
          </p:cNvSpPr>
          <p:nvPr>
            <p:ph type="ftr"/>
          </p:nvPr>
        </p:nvSpPr>
        <p:spPr>
          <a:xfrm>
            <a:off x="3384720" y="6229440"/>
            <a:ext cx="3136680" cy="456840"/>
          </a:xfrm>
          <a:prstGeom prst="rect">
            <a:avLst/>
          </a:prstGeom>
        </p:spPr>
        <p:txBody>
          <a:bodyPr anchor="b">
            <a:noAutofit/>
          </a:bodyPr>
          <a:lstStyle/>
          <a:p>
            <a:pPr algn="ctr">
              <a:lnSpc>
                <a:spcPct val="100000"/>
              </a:lnSpc>
              <a:spcBef>
                <a:spcPts val="700"/>
              </a:spcBef>
            </a:pPr>
            <a:r>
              <a:rPr lang="en-US" sz="1400" b="0" strike="noStrike" spc="-1">
                <a:solidFill>
                  <a:srgbClr val="5E574E"/>
                </a:solidFill>
                <a:latin typeface="Arial"/>
              </a:rPr>
              <a:t>POO - Cap. 2.   Limbajul  JAVA - prezentare generală</a:t>
            </a:r>
            <a:endParaRPr lang="en-US" sz="1400" b="0" strike="noStrike" spc="-1">
              <a:latin typeface="Times New Roman"/>
            </a:endParaRPr>
          </a:p>
        </p:txBody>
      </p:sp>
      <p:sp>
        <p:nvSpPr>
          <p:cNvPr id="133" name="PlaceHolder 6"/>
          <p:cNvSpPr>
            <a:spLocks noGrp="1"/>
          </p:cNvSpPr>
          <p:nvPr>
            <p:ph type="sldNum"/>
          </p:nvPr>
        </p:nvSpPr>
        <p:spPr>
          <a:xfrm>
            <a:off x="7291440" y="6229440"/>
            <a:ext cx="2063520" cy="456840"/>
          </a:xfrm>
          <a:prstGeom prst="rect">
            <a:avLst/>
          </a:prstGeom>
        </p:spPr>
        <p:txBody>
          <a:bodyPr anchor="b">
            <a:noAutofit/>
          </a:bodyPr>
          <a:lstStyle/>
          <a:p>
            <a:pPr algn="r">
              <a:lnSpc>
                <a:spcPct val="100000"/>
              </a:lnSpc>
              <a:spcBef>
                <a:spcPts val="700"/>
              </a:spcBef>
            </a:pPr>
            <a:fld id="{7EB7584E-711C-44CE-8DFD-AE4A5787323D}" type="slidenum">
              <a:rPr lang="en-US" sz="1400" b="0" strike="noStrike" spc="-1">
                <a:solidFill>
                  <a:srgbClr val="5E574E"/>
                </a:solidFill>
                <a:latin typeface="Arial"/>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B5B825A5-2207-48D7-950F-8B2FE9543A86}" type="slidenum">
              <a:rPr lang="en-US" sz="1400" b="0" strike="noStrike" spc="-1" smtClean="0">
                <a:solidFill>
                  <a:srgbClr val="5E574E"/>
                </a:solidFill>
                <a:latin typeface="Arial"/>
              </a:rPr>
              <a:t>1</a:t>
            </a:fld>
            <a:r>
              <a:rPr lang="en-US" sz="1400" b="0" strike="noStrike" spc="-1" dirty="0" smtClean="0">
                <a:solidFill>
                  <a:srgbClr val="5E574E"/>
                </a:solidFill>
                <a:latin typeface="Arial"/>
              </a:rPr>
              <a:t>3</a:t>
            </a:r>
            <a:endParaRPr lang="en-US" sz="1400" b="0" strike="noStrike" spc="-1" dirty="0">
              <a:latin typeface="Times New Roman"/>
            </a:endParaRPr>
          </a:p>
        </p:txBody>
      </p:sp>
      <p:sp>
        <p:nvSpPr>
          <p:cNvPr id="218" name="TextShape 4"/>
          <p:cNvSpPr txBox="1"/>
          <p:nvPr/>
        </p:nvSpPr>
        <p:spPr>
          <a:xfrm>
            <a:off x="439560" y="228600"/>
            <a:ext cx="8419680" cy="837720"/>
          </a:xfrm>
          <a:prstGeom prst="rect">
            <a:avLst/>
          </a:prstGeom>
          <a:noFill/>
          <a:ln>
            <a:noFill/>
          </a:ln>
        </p:spPr>
        <p:txBody>
          <a:bodyPr anchor="b">
            <a:noAutofit/>
          </a:bodyPr>
          <a:lstStyle/>
          <a:p>
            <a:pPr>
              <a:lnSpc>
                <a:spcPct val="100000"/>
              </a:lnSpc>
            </a:pPr>
            <a:r>
              <a:rPr lang="en-US" sz="4000" spc="-1" dirty="0" err="1" smtClean="0">
                <a:solidFill>
                  <a:srgbClr val="000000"/>
                </a:solidFill>
                <a:latin typeface="Arial"/>
              </a:rPr>
              <a:t>Instalarea</a:t>
            </a:r>
            <a:r>
              <a:rPr lang="en-US" sz="4000" spc="-1" dirty="0" smtClean="0">
                <a:solidFill>
                  <a:srgbClr val="000000"/>
                </a:solidFill>
                <a:latin typeface="Arial"/>
              </a:rPr>
              <a:t> Java</a:t>
            </a:r>
            <a:endParaRPr lang="en-US" sz="4000" b="0" strike="noStrike" spc="-1" dirty="0">
              <a:solidFill>
                <a:srgbClr val="000000"/>
              </a:solidFill>
              <a:latin typeface="Arial"/>
            </a:endParaRPr>
          </a:p>
        </p:txBody>
      </p:sp>
      <p:sp>
        <p:nvSpPr>
          <p:cNvPr id="219" name="TextShape 5"/>
          <p:cNvSpPr txBox="1"/>
          <p:nvPr/>
        </p:nvSpPr>
        <p:spPr>
          <a:xfrm>
            <a:off x="495360" y="1066680"/>
            <a:ext cx="8859600" cy="4990680"/>
          </a:xfrm>
          <a:prstGeom prst="rect">
            <a:avLst/>
          </a:prstGeom>
          <a:noFill/>
          <a:ln>
            <a:noFill/>
          </a:ln>
        </p:spPr>
        <p:txBody>
          <a:bodyPr>
            <a:noAutofit/>
          </a:bodyPr>
          <a:lstStyle/>
          <a:p>
            <a:pPr marL="343080" indent="-342720">
              <a:lnSpc>
                <a:spcPct val="100000"/>
              </a:lnSpc>
              <a:spcBef>
                <a:spcPts val="320"/>
              </a:spcBef>
            </a:pPr>
            <a:endParaRPr lang="en-US" b="0" strike="noStrike" spc="-1" dirty="0">
              <a:solidFill>
                <a:srgbClr val="000000"/>
              </a:solidFill>
              <a:latin typeface="Tahoma"/>
            </a:endParaRPr>
          </a:p>
          <a:p>
            <a:pPr marL="343080" indent="-342720">
              <a:lnSpc>
                <a:spcPct val="100000"/>
              </a:lnSpc>
              <a:spcBef>
                <a:spcPts val="320"/>
              </a:spcBef>
              <a:buClr>
                <a:srgbClr val="FFCC00"/>
              </a:buClr>
              <a:buFont typeface="Monotype Sorts" charset="2"/>
              <a:buChar char=""/>
            </a:pPr>
            <a:r>
              <a:rPr lang="en-US" b="0" strike="noStrike" spc="-1" dirty="0" err="1">
                <a:solidFill>
                  <a:srgbClr val="000000"/>
                </a:solidFill>
                <a:latin typeface="Tahoma"/>
              </a:rPr>
              <a:t>Instalarea</a:t>
            </a:r>
            <a:r>
              <a:rPr lang="en-US" b="0" strike="noStrike" spc="-1" dirty="0">
                <a:solidFill>
                  <a:srgbClr val="000000"/>
                </a:solidFill>
                <a:latin typeface="Tahoma"/>
              </a:rPr>
              <a:t> kit-</a:t>
            </a:r>
            <a:r>
              <a:rPr lang="en-US" b="0" strike="noStrike" spc="-1" dirty="0" err="1">
                <a:solidFill>
                  <a:srgbClr val="000000"/>
                </a:solidFill>
                <a:latin typeface="Tahoma"/>
              </a:rPr>
              <a:t>ului</a:t>
            </a:r>
            <a:r>
              <a:rPr lang="en-US" b="0" strike="noStrike" spc="-1" dirty="0">
                <a:solidFill>
                  <a:srgbClr val="000000"/>
                </a:solidFill>
                <a:latin typeface="Tahoma"/>
              </a:rPr>
              <a:t> JDK 1.8.x se </a:t>
            </a:r>
            <a:r>
              <a:rPr lang="en-US" b="0" strike="noStrike" spc="-1" dirty="0" err="1">
                <a:solidFill>
                  <a:srgbClr val="000000"/>
                </a:solidFill>
                <a:latin typeface="Tahoma"/>
              </a:rPr>
              <a:t>realizeaza</a:t>
            </a:r>
            <a:r>
              <a:rPr lang="en-US" b="0" strike="noStrike" spc="-1" dirty="0">
                <a:solidFill>
                  <a:srgbClr val="000000"/>
                </a:solidFill>
                <a:latin typeface="Tahoma"/>
              </a:rPr>
              <a:t> implicit in </a:t>
            </a:r>
            <a:r>
              <a:rPr lang="en-US" b="0" strike="noStrike" spc="-1" dirty="0" err="1">
                <a:solidFill>
                  <a:srgbClr val="000000"/>
                </a:solidFill>
                <a:latin typeface="Tahoma"/>
              </a:rPr>
              <a:t>directorul</a:t>
            </a:r>
            <a:r>
              <a:rPr lang="en-US" b="0" strike="noStrike" spc="-1" dirty="0">
                <a:solidFill>
                  <a:srgbClr val="000000"/>
                </a:solidFill>
                <a:latin typeface="Tahoma"/>
              </a:rPr>
              <a:t>:</a:t>
            </a:r>
          </a:p>
          <a:p>
            <a:pPr marL="343080" indent="-342720" algn="ctr">
              <a:lnSpc>
                <a:spcPct val="100000"/>
              </a:lnSpc>
              <a:spcBef>
                <a:spcPts val="360"/>
              </a:spcBef>
              <a:buClr>
                <a:srgbClr val="FFCC00"/>
              </a:buClr>
              <a:buFont typeface="Monotype Sorts" charset="2"/>
              <a:buChar char=""/>
            </a:pPr>
            <a:r>
              <a:rPr lang="en-US" sz="2000" b="1" strike="noStrike" spc="-1" dirty="0">
                <a:solidFill>
                  <a:srgbClr val="000000"/>
                </a:solidFill>
                <a:latin typeface="Courier New"/>
              </a:rPr>
              <a:t>C:\Program Files\Java\jdk1.8.x\ </a:t>
            </a:r>
            <a:endParaRPr lang="en-US" sz="2000" b="0" strike="noStrike" spc="-1" dirty="0">
              <a:solidFill>
                <a:srgbClr val="000000"/>
              </a:solidFill>
              <a:latin typeface="Tahoma"/>
            </a:endParaRPr>
          </a:p>
          <a:p>
            <a:pPr marL="343080" indent="-342720">
              <a:lnSpc>
                <a:spcPct val="100000"/>
              </a:lnSpc>
              <a:spcBef>
                <a:spcPts val="360"/>
              </a:spcBef>
            </a:pPr>
            <a:r>
              <a:rPr lang="en-US" sz="2000" b="1" strike="noStrike" spc="-1" dirty="0">
                <a:solidFill>
                  <a:srgbClr val="000000"/>
                </a:solidFill>
                <a:latin typeface="Courier New"/>
              </a:rPr>
              <a:t>	care </a:t>
            </a:r>
            <a:r>
              <a:rPr lang="en-US" sz="2000" b="1" strike="noStrike" spc="-1" dirty="0" err="1">
                <a:solidFill>
                  <a:srgbClr val="000000"/>
                </a:solidFill>
                <a:latin typeface="Courier New"/>
              </a:rPr>
              <a:t>va</a:t>
            </a:r>
            <a:r>
              <a:rPr lang="en-US" sz="2000" b="1" strike="noStrike" spc="-1" dirty="0">
                <a:solidFill>
                  <a:srgbClr val="000000"/>
                </a:solidFill>
                <a:latin typeface="Courier New"/>
              </a:rPr>
              <a:t> </a:t>
            </a:r>
            <a:r>
              <a:rPr lang="en-US" sz="2000" b="1" strike="noStrike" spc="-1" dirty="0" err="1">
                <a:solidFill>
                  <a:srgbClr val="000000"/>
                </a:solidFill>
                <a:latin typeface="Courier New"/>
              </a:rPr>
              <a:t>contine</a:t>
            </a:r>
            <a:r>
              <a:rPr lang="en-US" sz="2000" b="1" strike="noStrike" spc="-1" dirty="0">
                <a:solidFill>
                  <a:srgbClr val="000000"/>
                </a:solidFill>
                <a:latin typeface="Courier New"/>
              </a:rPr>
              <a:t> </a:t>
            </a:r>
            <a:r>
              <a:rPr lang="en-US" sz="2000" b="1" strike="noStrike" spc="-1" dirty="0" err="1">
                <a:solidFill>
                  <a:srgbClr val="000000"/>
                </a:solidFill>
                <a:latin typeface="Courier New"/>
              </a:rPr>
              <a:t>subfolderele</a:t>
            </a:r>
            <a:r>
              <a:rPr lang="en-US" sz="2000" b="1" strike="noStrike" spc="-1" dirty="0">
                <a:solidFill>
                  <a:srgbClr val="000000"/>
                </a:solidFill>
                <a:latin typeface="Courier New"/>
              </a:rPr>
              <a:t>: </a:t>
            </a:r>
            <a:r>
              <a:rPr lang="en-US" sz="2000" b="1" strike="noStrike" spc="-1" dirty="0">
                <a:solidFill>
                  <a:srgbClr val="008000"/>
                </a:solidFill>
                <a:latin typeface="Courier New"/>
              </a:rPr>
              <a:t>bin</a:t>
            </a:r>
            <a:r>
              <a:rPr lang="en-US" sz="2000" b="1" strike="noStrike" spc="-1" dirty="0">
                <a:solidFill>
                  <a:srgbClr val="000000"/>
                </a:solidFill>
                <a:latin typeface="Courier New"/>
              </a:rPr>
              <a:t>, </a:t>
            </a:r>
            <a:r>
              <a:rPr lang="en-US" sz="2000" b="1" strike="noStrike" spc="-1" dirty="0">
                <a:solidFill>
                  <a:srgbClr val="008000"/>
                </a:solidFill>
                <a:latin typeface="Courier New"/>
              </a:rPr>
              <a:t>demo</a:t>
            </a:r>
            <a:r>
              <a:rPr lang="en-US" sz="2000" b="1" strike="noStrike" spc="-1" dirty="0">
                <a:solidFill>
                  <a:srgbClr val="000000"/>
                </a:solidFill>
                <a:latin typeface="Courier New"/>
              </a:rPr>
              <a:t>, </a:t>
            </a:r>
            <a:r>
              <a:rPr lang="en-US" sz="2000" b="1" strike="noStrike" spc="-1" dirty="0">
                <a:solidFill>
                  <a:srgbClr val="008000"/>
                </a:solidFill>
                <a:latin typeface="Courier New"/>
              </a:rPr>
              <a:t>include</a:t>
            </a:r>
            <a:r>
              <a:rPr lang="en-US" sz="2000" b="1" strike="noStrike" spc="-1" dirty="0">
                <a:solidFill>
                  <a:srgbClr val="000000"/>
                </a:solidFill>
                <a:latin typeface="Courier New"/>
              </a:rPr>
              <a:t>, </a:t>
            </a:r>
            <a:r>
              <a:rPr lang="en-US" sz="2000" b="1" strike="noStrike" spc="-1" dirty="0" err="1">
                <a:solidFill>
                  <a:srgbClr val="008000"/>
                </a:solidFill>
                <a:latin typeface="Courier New"/>
              </a:rPr>
              <a:t>jre</a:t>
            </a:r>
            <a:r>
              <a:rPr lang="en-US" sz="2000" b="1" strike="noStrike" spc="-1" dirty="0">
                <a:solidFill>
                  <a:srgbClr val="000000"/>
                </a:solidFill>
                <a:latin typeface="Courier New"/>
              </a:rPr>
              <a:t>, </a:t>
            </a:r>
            <a:r>
              <a:rPr lang="en-US" sz="2000" b="1" strike="noStrike" spc="-1" dirty="0">
                <a:solidFill>
                  <a:srgbClr val="008000"/>
                </a:solidFill>
                <a:latin typeface="Courier New"/>
              </a:rPr>
              <a:t>lib</a:t>
            </a:r>
            <a:r>
              <a:rPr lang="en-US" sz="2000" b="1" strike="noStrike" spc="-1" dirty="0">
                <a:solidFill>
                  <a:srgbClr val="000000"/>
                </a:solidFill>
                <a:latin typeface="Courier New"/>
              </a:rPr>
              <a:t> </a:t>
            </a:r>
            <a:r>
              <a:rPr lang="en-US" sz="2000" b="1" strike="noStrike" spc="-1" dirty="0" err="1">
                <a:solidFill>
                  <a:srgbClr val="000000"/>
                </a:solidFill>
                <a:latin typeface="Courier New"/>
              </a:rPr>
              <a:t>si</a:t>
            </a:r>
            <a:r>
              <a:rPr lang="en-US" sz="2000" b="1" strike="noStrike" spc="-1" dirty="0">
                <a:solidFill>
                  <a:srgbClr val="000000"/>
                </a:solidFill>
                <a:latin typeface="Courier New"/>
              </a:rPr>
              <a:t> </a:t>
            </a:r>
            <a:r>
              <a:rPr lang="en-US" sz="2000" b="1" strike="noStrike" spc="-1" dirty="0">
                <a:solidFill>
                  <a:srgbClr val="008000"/>
                </a:solidFill>
                <a:latin typeface="Courier New"/>
              </a:rPr>
              <a:t>sample</a:t>
            </a:r>
            <a:r>
              <a:rPr lang="en-US" sz="2000" b="1" strike="noStrike" spc="-1" dirty="0">
                <a:solidFill>
                  <a:srgbClr val="000000"/>
                </a:solidFill>
                <a:latin typeface="Courier New"/>
              </a:rPr>
              <a:t>.</a:t>
            </a:r>
            <a:endParaRPr lang="en-US" sz="2000" b="0" strike="noStrike" spc="-1" dirty="0">
              <a:solidFill>
                <a:srgbClr val="000000"/>
              </a:solidFill>
              <a:latin typeface="Tahoma"/>
            </a:endParaRPr>
          </a:p>
          <a:p>
            <a:pPr>
              <a:lnSpc>
                <a:spcPct val="100000"/>
              </a:lnSpc>
              <a:spcBef>
                <a:spcPts val="360"/>
              </a:spcBef>
            </a:pPr>
            <a:endParaRPr lang="en-US" sz="2000" b="0" strike="noStrike" spc="-1" dirty="0">
              <a:solidFill>
                <a:srgbClr val="000000"/>
              </a:solidFill>
              <a:latin typeface="Tahoma"/>
            </a:endParaRPr>
          </a:p>
          <a:p>
            <a:pPr marL="343080" indent="-342720">
              <a:lnSpc>
                <a:spcPct val="100000"/>
              </a:lnSpc>
              <a:spcBef>
                <a:spcPts val="320"/>
              </a:spcBef>
              <a:buClr>
                <a:srgbClr val="FFCC00"/>
              </a:buClr>
              <a:buFont typeface="Monotype Sorts" charset="2"/>
              <a:buChar char=""/>
            </a:pPr>
            <a:r>
              <a:rPr lang="en-US" b="0" strike="noStrike" spc="-1" dirty="0">
                <a:solidFill>
                  <a:srgbClr val="000000"/>
                </a:solidFill>
                <a:latin typeface="Tahoma"/>
              </a:rPr>
              <a:t>In </a:t>
            </a:r>
            <a:r>
              <a:rPr lang="en-US" b="1" strike="noStrike" spc="-1" dirty="0">
                <a:solidFill>
                  <a:srgbClr val="008000"/>
                </a:solidFill>
                <a:latin typeface="Tahoma"/>
              </a:rPr>
              <a:t>bin </a:t>
            </a:r>
            <a:r>
              <a:rPr lang="en-US" b="0" strike="noStrike" spc="-1" dirty="0">
                <a:solidFill>
                  <a:srgbClr val="000000"/>
                </a:solidFill>
                <a:latin typeface="Tahoma"/>
              </a:rPr>
              <a:t>se </a:t>
            </a:r>
            <a:r>
              <a:rPr lang="en-US" b="0" strike="noStrike" spc="-1" dirty="0" err="1">
                <a:solidFill>
                  <a:srgbClr val="000000"/>
                </a:solidFill>
                <a:latin typeface="Tahoma"/>
              </a:rPr>
              <a:t>gasesc</a:t>
            </a:r>
            <a:r>
              <a:rPr lang="en-US" b="0" strike="noStrike" spc="-1" dirty="0">
                <a:solidFill>
                  <a:srgbClr val="000000"/>
                </a:solidFill>
                <a:latin typeface="Tahoma"/>
              </a:rPr>
              <a:t> </a:t>
            </a:r>
            <a:r>
              <a:rPr lang="en-US" b="0" strike="noStrike" spc="-1" dirty="0" err="1">
                <a:solidFill>
                  <a:srgbClr val="000000"/>
                </a:solidFill>
                <a:latin typeface="Tahoma"/>
              </a:rPr>
              <a:t>principalele</a:t>
            </a:r>
            <a:r>
              <a:rPr lang="en-US" b="0" strike="noStrike" spc="-1" dirty="0">
                <a:solidFill>
                  <a:srgbClr val="000000"/>
                </a:solidFill>
                <a:latin typeface="Tahoma"/>
              </a:rPr>
              <a:t> </a:t>
            </a:r>
            <a:r>
              <a:rPr lang="en-US" b="0" strike="noStrike" spc="-1" dirty="0" err="1">
                <a:solidFill>
                  <a:srgbClr val="000000"/>
                </a:solidFill>
                <a:latin typeface="Tahoma"/>
              </a:rPr>
              <a:t>instrumente</a:t>
            </a:r>
            <a:r>
              <a:rPr lang="en-US" b="0" strike="noStrike" spc="-1" dirty="0">
                <a:solidFill>
                  <a:srgbClr val="000000"/>
                </a:solidFill>
                <a:latin typeface="Tahoma"/>
              </a:rPr>
              <a:t> ale </a:t>
            </a:r>
            <a:r>
              <a:rPr lang="en-US" b="0" strike="noStrike" spc="-1" dirty="0" err="1">
                <a:solidFill>
                  <a:srgbClr val="000000"/>
                </a:solidFill>
                <a:latin typeface="Tahoma"/>
              </a:rPr>
              <a:t>pachetului</a:t>
            </a:r>
            <a:r>
              <a:rPr lang="en-US" b="0" strike="noStrike" spc="-1" dirty="0">
                <a:solidFill>
                  <a:srgbClr val="000000"/>
                </a:solidFill>
                <a:latin typeface="Tahoma"/>
              </a:rPr>
              <a:t> </a:t>
            </a:r>
            <a:r>
              <a:rPr lang="en-US" b="1" strike="noStrike" spc="-1" dirty="0">
                <a:solidFill>
                  <a:srgbClr val="008000"/>
                </a:solidFill>
                <a:latin typeface="Tahoma"/>
              </a:rPr>
              <a:t>JDK</a:t>
            </a:r>
            <a:r>
              <a:rPr lang="en-US" b="0" strike="noStrike" spc="-1" dirty="0">
                <a:solidFill>
                  <a:srgbClr val="000000"/>
                </a:solidFill>
                <a:latin typeface="Tahoma"/>
              </a:rPr>
              <a:t>:</a:t>
            </a:r>
          </a:p>
          <a:p>
            <a:pPr marL="743040" lvl="1" indent="-285480">
              <a:lnSpc>
                <a:spcPct val="100000"/>
              </a:lnSpc>
              <a:spcBef>
                <a:spcPts val="281"/>
              </a:spcBef>
              <a:buClr>
                <a:srgbClr val="FFCC00"/>
              </a:buClr>
              <a:buFont typeface="Monotype Sorts" charset="2"/>
              <a:buChar char=""/>
            </a:pPr>
            <a:r>
              <a:rPr lang="en-US" sz="1600" b="1" strike="noStrike" spc="-1" dirty="0">
                <a:solidFill>
                  <a:srgbClr val="000000"/>
                </a:solidFill>
                <a:latin typeface="Courier New"/>
              </a:rPr>
              <a:t>javac.exe</a:t>
            </a:r>
            <a:r>
              <a:rPr lang="en-US" sz="1600" b="0" strike="noStrike" spc="-1" dirty="0">
                <a:solidFill>
                  <a:srgbClr val="000000"/>
                </a:solidFill>
                <a:latin typeface="Tahoma"/>
              </a:rPr>
              <a:t> 	</a:t>
            </a:r>
            <a:r>
              <a:rPr lang="en-US" sz="1600" b="0" strike="noStrike" spc="-1" dirty="0" smtClean="0">
                <a:solidFill>
                  <a:srgbClr val="000000"/>
                </a:solidFill>
                <a:latin typeface="Tahoma"/>
              </a:rPr>
              <a:t>	– </a:t>
            </a:r>
            <a:r>
              <a:rPr lang="en-US" sz="1600" b="0" strike="noStrike" spc="-1" dirty="0" err="1">
                <a:solidFill>
                  <a:srgbClr val="000000"/>
                </a:solidFill>
                <a:latin typeface="Tahoma"/>
              </a:rPr>
              <a:t>compilator</a:t>
            </a:r>
            <a:r>
              <a:rPr lang="en-US" sz="1600" b="0" strike="noStrike" spc="-1" dirty="0">
                <a:solidFill>
                  <a:srgbClr val="000000"/>
                </a:solidFill>
                <a:latin typeface="Tahoma"/>
              </a:rPr>
              <a:t> </a:t>
            </a:r>
            <a:r>
              <a:rPr lang="en-US" sz="1600" b="1" strike="noStrike" spc="-1" dirty="0">
                <a:solidFill>
                  <a:srgbClr val="008000"/>
                </a:solidFill>
                <a:latin typeface="Tahoma"/>
              </a:rPr>
              <a:t>Java</a:t>
            </a:r>
            <a:r>
              <a:rPr lang="en-US" sz="1600" b="0" strike="noStrike" spc="-1" dirty="0">
                <a:solidFill>
                  <a:srgbClr val="000000"/>
                </a:solidFill>
                <a:latin typeface="Tahoma"/>
              </a:rPr>
              <a:t>;</a:t>
            </a:r>
          </a:p>
          <a:p>
            <a:pPr marL="743040" lvl="1" indent="-285480">
              <a:lnSpc>
                <a:spcPct val="100000"/>
              </a:lnSpc>
              <a:spcBef>
                <a:spcPts val="281"/>
              </a:spcBef>
              <a:buClr>
                <a:srgbClr val="FFCC00"/>
              </a:buClr>
              <a:buFont typeface="Monotype Sorts" charset="2"/>
              <a:buChar char=""/>
            </a:pPr>
            <a:r>
              <a:rPr lang="en-US" sz="1600" b="1" strike="noStrike" spc="-1" dirty="0">
                <a:solidFill>
                  <a:srgbClr val="000000"/>
                </a:solidFill>
                <a:latin typeface="Courier New"/>
              </a:rPr>
              <a:t>java.exe</a:t>
            </a:r>
            <a:r>
              <a:rPr lang="en-US" sz="1600" b="0" strike="noStrike" spc="-1" dirty="0">
                <a:solidFill>
                  <a:srgbClr val="000000"/>
                </a:solidFill>
                <a:latin typeface="Tahoma"/>
              </a:rPr>
              <a:t>		</a:t>
            </a:r>
            <a:r>
              <a:rPr lang="en-US" sz="1600" b="0" strike="noStrike" spc="-1" dirty="0" smtClean="0">
                <a:solidFill>
                  <a:srgbClr val="000000"/>
                </a:solidFill>
                <a:latin typeface="Tahoma"/>
              </a:rPr>
              <a:t>	– </a:t>
            </a:r>
            <a:r>
              <a:rPr lang="en-US" sz="1600" b="0" strike="noStrike" spc="-1" dirty="0" err="1">
                <a:solidFill>
                  <a:srgbClr val="000000"/>
                </a:solidFill>
                <a:latin typeface="Tahoma"/>
              </a:rPr>
              <a:t>interpretor</a:t>
            </a:r>
            <a:r>
              <a:rPr lang="en-US" sz="1600" b="0" strike="noStrike" spc="-1" dirty="0">
                <a:solidFill>
                  <a:srgbClr val="000000"/>
                </a:solidFill>
                <a:latin typeface="Tahoma"/>
              </a:rPr>
              <a:t> </a:t>
            </a:r>
            <a:r>
              <a:rPr lang="en-US" sz="1600" b="1" strike="noStrike" spc="-1" dirty="0">
                <a:solidFill>
                  <a:srgbClr val="008000"/>
                </a:solidFill>
                <a:latin typeface="Tahoma"/>
              </a:rPr>
              <a:t>Java</a:t>
            </a:r>
            <a:r>
              <a:rPr lang="en-US" sz="1600" b="0" strike="noStrike" spc="-1" dirty="0">
                <a:solidFill>
                  <a:srgbClr val="000000"/>
                </a:solidFill>
                <a:latin typeface="Tahoma"/>
              </a:rPr>
              <a:t>;</a:t>
            </a:r>
          </a:p>
          <a:p>
            <a:pPr marL="743040" lvl="1" indent="-285480">
              <a:lnSpc>
                <a:spcPct val="100000"/>
              </a:lnSpc>
              <a:spcBef>
                <a:spcPts val="281"/>
              </a:spcBef>
              <a:buClr>
                <a:srgbClr val="FFCC00"/>
              </a:buClr>
              <a:buFont typeface="Monotype Sorts" charset="2"/>
              <a:buChar char=""/>
            </a:pPr>
            <a:r>
              <a:rPr lang="en-US" sz="1600" b="1" strike="noStrike" spc="-1" dirty="0">
                <a:solidFill>
                  <a:srgbClr val="000000"/>
                </a:solidFill>
                <a:latin typeface="Courier New"/>
              </a:rPr>
              <a:t>appletviewer.exe</a:t>
            </a:r>
            <a:r>
              <a:rPr lang="en-US" sz="1600" b="0" strike="noStrike" spc="-1" dirty="0">
                <a:solidFill>
                  <a:srgbClr val="000000"/>
                </a:solidFill>
                <a:latin typeface="Tahoma"/>
              </a:rPr>
              <a:t> 	– instrument de </a:t>
            </a:r>
            <a:r>
              <a:rPr lang="en-US" sz="1600" b="0" strike="noStrike" spc="-1" dirty="0" err="1">
                <a:solidFill>
                  <a:srgbClr val="000000"/>
                </a:solidFill>
                <a:latin typeface="Tahoma"/>
              </a:rPr>
              <a:t>vizualizat</a:t>
            </a:r>
            <a:r>
              <a:rPr lang="en-US" sz="1600" b="0" strike="noStrike" spc="-1" dirty="0">
                <a:solidFill>
                  <a:srgbClr val="000000"/>
                </a:solidFill>
                <a:latin typeface="Tahoma"/>
              </a:rPr>
              <a:t> </a:t>
            </a:r>
            <a:r>
              <a:rPr lang="en-US" sz="1600" b="1" strike="noStrike" spc="-1" dirty="0">
                <a:solidFill>
                  <a:srgbClr val="008000"/>
                </a:solidFill>
                <a:latin typeface="Tahoma"/>
              </a:rPr>
              <a:t>applet</a:t>
            </a:r>
            <a:r>
              <a:rPr lang="en-US" sz="1600" b="0" strike="noStrike" spc="-1" dirty="0">
                <a:solidFill>
                  <a:srgbClr val="000000"/>
                </a:solidFill>
                <a:latin typeface="Tahoma"/>
              </a:rPr>
              <a:t>-</a:t>
            </a:r>
            <a:r>
              <a:rPr lang="en-US" sz="1600" b="0" strike="noStrike" spc="-1" dirty="0" err="1">
                <a:solidFill>
                  <a:srgbClr val="000000"/>
                </a:solidFill>
                <a:latin typeface="Tahoma"/>
              </a:rPr>
              <a:t>uri</a:t>
            </a:r>
            <a:r>
              <a:rPr lang="en-US" sz="1600" b="0" strike="noStrike" spc="-1" dirty="0">
                <a:solidFill>
                  <a:srgbClr val="000000"/>
                </a:solidFill>
                <a:latin typeface="Tahoma"/>
              </a:rPr>
              <a:t>;</a:t>
            </a:r>
          </a:p>
          <a:p>
            <a:pPr marL="743040" lvl="1" indent="-285480">
              <a:lnSpc>
                <a:spcPct val="100000"/>
              </a:lnSpc>
              <a:spcBef>
                <a:spcPts val="281"/>
              </a:spcBef>
              <a:buClr>
                <a:srgbClr val="FFCC00"/>
              </a:buClr>
              <a:buFont typeface="Monotype Sorts" charset="2"/>
              <a:buChar char=""/>
            </a:pPr>
            <a:r>
              <a:rPr lang="en-US" sz="1600" b="1" strike="noStrike" spc="-1" dirty="0">
                <a:solidFill>
                  <a:srgbClr val="000000"/>
                </a:solidFill>
                <a:latin typeface="Courier New"/>
              </a:rPr>
              <a:t>javadoc.exe</a:t>
            </a:r>
            <a:r>
              <a:rPr lang="en-US" sz="1600" b="0" strike="noStrike" spc="-1" dirty="0">
                <a:solidFill>
                  <a:srgbClr val="000000"/>
                </a:solidFill>
                <a:latin typeface="Tahoma"/>
              </a:rPr>
              <a:t>	</a:t>
            </a:r>
            <a:r>
              <a:rPr lang="en-US" sz="1600" b="0" strike="noStrike" spc="-1" dirty="0" smtClean="0">
                <a:solidFill>
                  <a:srgbClr val="000000"/>
                </a:solidFill>
                <a:latin typeface="Tahoma"/>
              </a:rPr>
              <a:t>	– </a:t>
            </a:r>
            <a:r>
              <a:rPr lang="en-US" sz="1600" b="0" strike="noStrike" spc="-1" dirty="0">
                <a:solidFill>
                  <a:srgbClr val="000000"/>
                </a:solidFill>
                <a:latin typeface="Tahoma"/>
              </a:rPr>
              <a:t>generator de </a:t>
            </a:r>
            <a:r>
              <a:rPr lang="en-US" sz="1600" b="0" strike="noStrike" spc="-1" dirty="0" err="1">
                <a:solidFill>
                  <a:srgbClr val="000000"/>
                </a:solidFill>
                <a:latin typeface="Tahoma"/>
              </a:rPr>
              <a:t>documentatii</a:t>
            </a:r>
            <a:r>
              <a:rPr lang="en-US" sz="1600" b="0" strike="noStrike" spc="-1" dirty="0">
                <a:solidFill>
                  <a:srgbClr val="000000"/>
                </a:solidFill>
                <a:latin typeface="Tahoma"/>
              </a:rPr>
              <a:t>;</a:t>
            </a:r>
          </a:p>
          <a:p>
            <a:pPr marL="743040" lvl="1" indent="-285480">
              <a:lnSpc>
                <a:spcPct val="100000"/>
              </a:lnSpc>
              <a:spcBef>
                <a:spcPts val="281"/>
              </a:spcBef>
              <a:buClr>
                <a:srgbClr val="FFCC00"/>
              </a:buClr>
              <a:buFont typeface="Monotype Sorts" charset="2"/>
              <a:buChar char=""/>
            </a:pPr>
            <a:r>
              <a:rPr lang="en-US" sz="1600" b="1" strike="noStrike" spc="-1" dirty="0">
                <a:solidFill>
                  <a:srgbClr val="000000"/>
                </a:solidFill>
                <a:latin typeface="Courier New"/>
              </a:rPr>
              <a:t>jar.exe</a:t>
            </a:r>
            <a:r>
              <a:rPr lang="en-US" sz="1600" b="0" strike="noStrike" spc="-1" dirty="0">
                <a:solidFill>
                  <a:srgbClr val="000000"/>
                </a:solidFill>
                <a:latin typeface="Tahoma"/>
              </a:rPr>
              <a:t>		</a:t>
            </a:r>
            <a:r>
              <a:rPr lang="en-US" sz="1600" b="0" strike="noStrike" spc="-1" dirty="0" smtClean="0">
                <a:solidFill>
                  <a:srgbClr val="000000"/>
                </a:solidFill>
                <a:latin typeface="Tahoma"/>
              </a:rPr>
              <a:t>	– </a:t>
            </a:r>
            <a:r>
              <a:rPr lang="en-US" sz="1600" b="0" strike="noStrike" spc="-1" dirty="0">
                <a:solidFill>
                  <a:srgbClr val="000000"/>
                </a:solidFill>
                <a:latin typeface="Tahoma"/>
              </a:rPr>
              <a:t>instrument </a:t>
            </a:r>
            <a:r>
              <a:rPr lang="en-US" sz="1600" b="0" strike="noStrike" spc="-1" dirty="0" err="1">
                <a:solidFill>
                  <a:srgbClr val="000000"/>
                </a:solidFill>
                <a:latin typeface="Tahoma"/>
              </a:rPr>
              <a:t>pentru</a:t>
            </a:r>
            <a:r>
              <a:rPr lang="en-US" sz="1600" b="0" strike="noStrike" spc="-1" dirty="0">
                <a:solidFill>
                  <a:srgbClr val="000000"/>
                </a:solidFill>
                <a:latin typeface="Tahoma"/>
              </a:rPr>
              <a:t> </a:t>
            </a:r>
            <a:r>
              <a:rPr lang="en-US" sz="1600" b="0" strike="noStrike" spc="-1" dirty="0" err="1">
                <a:solidFill>
                  <a:srgbClr val="000000"/>
                </a:solidFill>
                <a:latin typeface="Tahoma"/>
              </a:rPr>
              <a:t>arhive</a:t>
            </a:r>
            <a:r>
              <a:rPr lang="en-US" sz="1600" b="0" strike="noStrike" spc="-1" dirty="0">
                <a:solidFill>
                  <a:srgbClr val="000000"/>
                </a:solidFill>
                <a:latin typeface="Tahoma"/>
              </a:rPr>
              <a:t> </a:t>
            </a:r>
            <a:r>
              <a:rPr lang="en-US" sz="1600" b="1" strike="noStrike" spc="-1" dirty="0">
                <a:solidFill>
                  <a:srgbClr val="008000"/>
                </a:solidFill>
                <a:latin typeface="Tahoma"/>
              </a:rPr>
              <a:t>jar</a:t>
            </a:r>
            <a:r>
              <a:rPr lang="en-US" sz="1600" b="0" strike="noStrike" spc="-1" dirty="0">
                <a:solidFill>
                  <a:srgbClr val="000000"/>
                </a:solidFill>
                <a:latin typeface="Tahoma"/>
              </a:rPr>
              <a:t>;</a:t>
            </a:r>
          </a:p>
          <a:p>
            <a:pPr marL="743040" lvl="1" indent="-285480">
              <a:lnSpc>
                <a:spcPct val="100000"/>
              </a:lnSpc>
              <a:spcBef>
                <a:spcPts val="281"/>
              </a:spcBef>
              <a:buClr>
                <a:srgbClr val="FFCC00"/>
              </a:buClr>
              <a:buFont typeface="Monotype Sorts" charset="2"/>
              <a:buChar char=""/>
            </a:pPr>
            <a:r>
              <a:rPr lang="en-US" sz="1600" b="1" strike="noStrike" spc="-1" dirty="0">
                <a:solidFill>
                  <a:srgbClr val="000000"/>
                </a:solidFill>
                <a:latin typeface="Courier New"/>
              </a:rPr>
              <a:t>javap.exe</a:t>
            </a:r>
            <a:r>
              <a:rPr lang="en-US" sz="1600" b="0" strike="noStrike" spc="-1" dirty="0">
                <a:solidFill>
                  <a:srgbClr val="000000"/>
                </a:solidFill>
                <a:latin typeface="Tahoma"/>
              </a:rPr>
              <a:t>		– </a:t>
            </a:r>
            <a:r>
              <a:rPr lang="en-US" sz="1600" b="0" strike="noStrike" spc="-1" dirty="0" err="1">
                <a:solidFill>
                  <a:srgbClr val="000000"/>
                </a:solidFill>
                <a:latin typeface="Tahoma"/>
              </a:rPr>
              <a:t>dezasamblor</a:t>
            </a:r>
            <a:r>
              <a:rPr lang="en-US" sz="1600" b="0" strike="noStrike" spc="-1" dirty="0">
                <a:solidFill>
                  <a:srgbClr val="000000"/>
                </a:solidFill>
                <a:latin typeface="Tahoma"/>
              </a:rPr>
              <a:t> de </a:t>
            </a:r>
            <a:r>
              <a:rPr lang="en-US" sz="1600" b="0" strike="noStrike" spc="-1" dirty="0" err="1">
                <a:solidFill>
                  <a:srgbClr val="000000"/>
                </a:solidFill>
                <a:latin typeface="Tahoma"/>
              </a:rPr>
              <a:t>fisiere</a:t>
            </a:r>
            <a:r>
              <a:rPr lang="en-US" sz="1600" b="0" strike="noStrike" spc="-1" dirty="0">
                <a:solidFill>
                  <a:srgbClr val="000000"/>
                </a:solidFill>
                <a:latin typeface="Tahoma"/>
              </a:rPr>
              <a:t> </a:t>
            </a:r>
            <a:r>
              <a:rPr lang="en-US" sz="1600" b="1" strike="noStrike" spc="-1" dirty="0">
                <a:solidFill>
                  <a:srgbClr val="008000"/>
                </a:solidFill>
                <a:latin typeface="Tahoma"/>
              </a:rPr>
              <a:t>bytecode</a:t>
            </a:r>
            <a:r>
              <a:rPr lang="en-US" sz="1600" b="0" strike="noStrike" spc="-1" dirty="0">
                <a:solidFill>
                  <a:srgbClr val="000000"/>
                </a:solidFill>
                <a:latin typeface="Tahoma"/>
              </a:rPr>
              <a:t> </a:t>
            </a:r>
          </a:p>
          <a:p>
            <a:pPr>
              <a:lnSpc>
                <a:spcPct val="100000"/>
              </a:lnSpc>
              <a:spcBef>
                <a:spcPts val="320"/>
              </a:spcBef>
            </a:pPr>
            <a:endParaRPr lang="en-US" sz="1600" b="0" strike="noStrike" spc="-1" dirty="0">
              <a:solidFill>
                <a:srgbClr val="000000"/>
              </a:solidFill>
              <a:latin typeface="Tahoma"/>
            </a:endParaRPr>
          </a:p>
          <a:p>
            <a:pPr>
              <a:lnSpc>
                <a:spcPct val="100000"/>
              </a:lnSpc>
              <a:spcBef>
                <a:spcPts val="320"/>
              </a:spcBef>
            </a:pPr>
            <a:endParaRPr lang="en-US" sz="1600" b="0" strike="noStrike" spc="-1" dirty="0">
              <a:solidFill>
                <a:srgbClr val="000000"/>
              </a:solidFill>
              <a:latin typeface="Tahoma"/>
            </a:endParaRPr>
          </a:p>
          <a:p>
            <a:pPr>
              <a:lnSpc>
                <a:spcPct val="100000"/>
              </a:lnSpc>
              <a:spcBef>
                <a:spcPts val="641"/>
              </a:spcBef>
            </a:pPr>
            <a:endParaRPr lang="en-US" sz="16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721B016A-A8AB-4CE7-B7C0-ABE4FEB5D85A}" type="slidenum">
              <a:rPr lang="en-US" sz="1400" b="0" strike="noStrike" spc="-1">
                <a:solidFill>
                  <a:srgbClr val="5E574E"/>
                </a:solidFill>
                <a:latin typeface="Arial"/>
              </a:rPr>
              <a:t>2</a:t>
            </a:fld>
            <a:endParaRPr lang="en-US" sz="1400" b="0" strike="noStrike" spc="-1">
              <a:latin typeface="Times New Roman"/>
            </a:endParaRPr>
          </a:p>
        </p:txBody>
      </p:sp>
      <p:sp>
        <p:nvSpPr>
          <p:cNvPr id="223" name="TextShape 4"/>
          <p:cNvSpPr txBox="1"/>
          <p:nvPr/>
        </p:nvSpPr>
        <p:spPr>
          <a:xfrm>
            <a:off x="439560" y="228600"/>
            <a:ext cx="8419680" cy="1142640"/>
          </a:xfrm>
          <a:prstGeom prst="rect">
            <a:avLst/>
          </a:prstGeom>
          <a:noFill/>
          <a:ln>
            <a:noFill/>
          </a:ln>
        </p:spPr>
        <p:txBody>
          <a:bodyPr anchor="b">
            <a:noAutofit/>
          </a:bodyPr>
          <a:lstStyle/>
          <a:p>
            <a:pPr marL="343080" indent="-342720">
              <a:lnSpc>
                <a:spcPct val="80000"/>
              </a:lnSpc>
              <a:spcBef>
                <a:spcPts val="320"/>
              </a:spcBef>
              <a:buClr>
                <a:srgbClr val="FFCC00"/>
              </a:buClr>
              <a:buFont typeface="Monotype Sorts" charset="2"/>
              <a:buChar char=""/>
            </a:pPr>
            <a:r>
              <a:rPr lang="en-US" sz="4000" b="1" strike="noStrike" spc="-1" dirty="0" err="1" smtClean="0">
                <a:solidFill>
                  <a:srgbClr val="000000"/>
                </a:solidFill>
                <a:latin typeface="Tahoma"/>
              </a:rPr>
              <a:t>Crearea</a:t>
            </a:r>
            <a:r>
              <a:rPr lang="en-US" sz="4000" b="1" strike="noStrike" spc="-1" dirty="0" smtClean="0">
                <a:solidFill>
                  <a:srgbClr val="000000"/>
                </a:solidFill>
                <a:latin typeface="Tahoma"/>
              </a:rPr>
              <a:t> </a:t>
            </a:r>
            <a:r>
              <a:rPr lang="en-US" sz="4000" b="1" strike="noStrike" spc="-1" dirty="0" err="1" smtClean="0">
                <a:solidFill>
                  <a:srgbClr val="000000"/>
                </a:solidFill>
                <a:latin typeface="Tahoma"/>
              </a:rPr>
              <a:t>unei</a:t>
            </a:r>
            <a:r>
              <a:rPr lang="en-US" sz="4000" b="1" strike="noStrike" spc="-1" dirty="0" smtClean="0">
                <a:solidFill>
                  <a:srgbClr val="000000"/>
                </a:solidFill>
                <a:latin typeface="Tahoma"/>
              </a:rPr>
              <a:t> </a:t>
            </a:r>
            <a:r>
              <a:rPr lang="en-US" sz="4000" b="1" strike="noStrike" spc="-1" dirty="0" err="1" smtClean="0">
                <a:solidFill>
                  <a:srgbClr val="000000"/>
                </a:solidFill>
                <a:latin typeface="Tahoma"/>
              </a:rPr>
              <a:t>aplicatii</a:t>
            </a:r>
            <a:r>
              <a:rPr lang="en-US" sz="4000" b="1" strike="noStrike" spc="-1" dirty="0" smtClean="0">
                <a:solidFill>
                  <a:srgbClr val="000000"/>
                </a:solidFill>
                <a:latin typeface="Tahoma"/>
              </a:rPr>
              <a:t> simple</a:t>
            </a:r>
            <a:endParaRPr lang="en-US" sz="4000" b="0" strike="noStrike" spc="-1" dirty="0">
              <a:solidFill>
                <a:srgbClr val="000000"/>
              </a:solidFill>
              <a:latin typeface="Tahoma"/>
            </a:endParaRPr>
          </a:p>
        </p:txBody>
      </p:sp>
      <p:sp>
        <p:nvSpPr>
          <p:cNvPr id="224" name="TextShape 5"/>
          <p:cNvSpPr txBox="1"/>
          <p:nvPr/>
        </p:nvSpPr>
        <p:spPr>
          <a:xfrm>
            <a:off x="495360" y="1886040"/>
            <a:ext cx="8859600" cy="4171680"/>
          </a:xfrm>
          <a:prstGeom prst="rect">
            <a:avLst/>
          </a:prstGeom>
          <a:noFill/>
          <a:ln>
            <a:noFill/>
          </a:ln>
        </p:spPr>
        <p:txBody>
          <a:bodyPr>
            <a:noAutofit/>
          </a:bodyPr>
          <a:lstStyle/>
          <a:p>
            <a:pPr marL="343080" indent="-342720">
              <a:lnSpc>
                <a:spcPct val="80000"/>
              </a:lnSpc>
              <a:spcBef>
                <a:spcPts val="320"/>
              </a:spcBef>
              <a:buClr>
                <a:srgbClr val="FFCC00"/>
              </a:buClr>
              <a:buFont typeface="Monotype Sorts" charset="2"/>
              <a:buChar char=""/>
            </a:pPr>
            <a:r>
              <a:rPr lang="en-US" sz="2000" b="0" strike="noStrike" spc="-1" dirty="0" err="1" smtClean="0">
                <a:solidFill>
                  <a:srgbClr val="000000"/>
                </a:solidFill>
                <a:latin typeface="Tahoma"/>
              </a:rPr>
              <a:t>În</a:t>
            </a:r>
            <a:r>
              <a:rPr lang="en-US" sz="2000" b="0" strike="noStrike" spc="-1" dirty="0" smtClean="0">
                <a:solidFill>
                  <a:srgbClr val="000000"/>
                </a:solidFill>
                <a:latin typeface="Tahoma"/>
              </a:rPr>
              <a:t> </a:t>
            </a:r>
            <a:r>
              <a:rPr lang="en-US" sz="2000" b="0" strike="noStrike" spc="-1" dirty="0" err="1">
                <a:solidFill>
                  <a:srgbClr val="000000"/>
                </a:solidFill>
                <a:latin typeface="Tahoma"/>
              </a:rPr>
              <a:t>principiu</a:t>
            </a:r>
            <a:r>
              <a:rPr lang="en-US" sz="2000" b="0" strike="noStrike" spc="-1" dirty="0">
                <a:solidFill>
                  <a:srgbClr val="000000"/>
                </a:solidFill>
                <a:latin typeface="Tahoma"/>
              </a:rPr>
              <a:t>, </a:t>
            </a:r>
            <a:r>
              <a:rPr lang="en-US" sz="2000" b="0" strike="noStrike" spc="-1" dirty="0" err="1">
                <a:solidFill>
                  <a:srgbClr val="000000"/>
                </a:solidFill>
                <a:latin typeface="Tahoma"/>
              </a:rPr>
              <a:t>există</a:t>
            </a:r>
            <a:r>
              <a:rPr lang="en-US" sz="2000" b="0" strike="noStrike" spc="-1" dirty="0">
                <a:solidFill>
                  <a:srgbClr val="000000"/>
                </a:solidFill>
                <a:latin typeface="Tahoma"/>
              </a:rPr>
              <a:t> 3 </a:t>
            </a:r>
            <a:r>
              <a:rPr lang="en-US" sz="2000" b="0" strike="noStrike" spc="-1" dirty="0" err="1">
                <a:solidFill>
                  <a:srgbClr val="000000"/>
                </a:solidFill>
                <a:latin typeface="Tahoma"/>
              </a:rPr>
              <a:t>tipuri</a:t>
            </a:r>
            <a:r>
              <a:rPr lang="en-US" sz="2000" b="0" strike="noStrike" spc="-1" dirty="0">
                <a:solidFill>
                  <a:srgbClr val="000000"/>
                </a:solidFill>
                <a:latin typeface="Tahoma"/>
              </a:rPr>
              <a:t> de </a:t>
            </a:r>
            <a:r>
              <a:rPr lang="en-US" sz="2000" b="0" strike="noStrike" spc="-1" dirty="0" err="1">
                <a:solidFill>
                  <a:srgbClr val="000000"/>
                </a:solidFill>
                <a:latin typeface="Tahoma"/>
              </a:rPr>
              <a:t>aplicaţii</a:t>
            </a:r>
            <a:r>
              <a:rPr lang="en-US" sz="2000" b="0" strike="noStrike" spc="-1" dirty="0">
                <a:solidFill>
                  <a:srgbClr val="000000"/>
                </a:solidFill>
                <a:latin typeface="Tahoma"/>
              </a:rPr>
              <a:t> Java:</a:t>
            </a:r>
          </a:p>
          <a:p>
            <a:pPr marL="743040" lvl="1" indent="-285480">
              <a:lnSpc>
                <a:spcPct val="80000"/>
              </a:lnSpc>
              <a:spcBef>
                <a:spcPts val="281"/>
              </a:spcBef>
              <a:buClr>
                <a:srgbClr val="FFCC00"/>
              </a:buClr>
              <a:buFont typeface="Monotype Sorts" charset="2"/>
              <a:buChar char=""/>
            </a:pPr>
            <a:r>
              <a:rPr lang="en-US" b="0" strike="noStrike" spc="-1" dirty="0">
                <a:solidFill>
                  <a:srgbClr val="000000"/>
                </a:solidFill>
                <a:latin typeface="Tahoma"/>
              </a:rPr>
              <a:t>a) </a:t>
            </a:r>
            <a:r>
              <a:rPr lang="en-US" b="0" strike="noStrike" spc="-1" dirty="0" err="1">
                <a:solidFill>
                  <a:srgbClr val="000000"/>
                </a:solidFill>
                <a:latin typeface="Tahoma"/>
              </a:rPr>
              <a:t>aplicaţii</a:t>
            </a:r>
            <a:r>
              <a:rPr lang="en-US" b="0" strike="noStrike" spc="-1" dirty="0">
                <a:solidFill>
                  <a:srgbClr val="000000"/>
                </a:solidFill>
                <a:latin typeface="Tahoma"/>
              </a:rPr>
              <a:t> de sine </a:t>
            </a:r>
            <a:r>
              <a:rPr lang="en-US" b="0" strike="noStrike" spc="-1" dirty="0" err="1">
                <a:solidFill>
                  <a:srgbClr val="000000"/>
                </a:solidFill>
                <a:latin typeface="Tahoma"/>
              </a:rPr>
              <a:t>stătătoare</a:t>
            </a:r>
            <a:r>
              <a:rPr lang="en-US" b="0" strike="noStrike" spc="-1" dirty="0">
                <a:solidFill>
                  <a:srgbClr val="000000"/>
                </a:solidFill>
                <a:latin typeface="Tahoma"/>
              </a:rPr>
              <a:t>   (stand-alone);</a:t>
            </a:r>
          </a:p>
          <a:p>
            <a:pPr marL="743040" lvl="1" indent="-285480">
              <a:lnSpc>
                <a:spcPct val="80000"/>
              </a:lnSpc>
              <a:spcBef>
                <a:spcPts val="281"/>
              </a:spcBef>
              <a:buClr>
                <a:srgbClr val="FFCC00"/>
              </a:buClr>
              <a:buFont typeface="Monotype Sorts" charset="2"/>
              <a:buChar char=""/>
            </a:pPr>
            <a:r>
              <a:rPr lang="en-US" b="0" strike="noStrike" spc="-1" dirty="0">
                <a:solidFill>
                  <a:srgbClr val="000000"/>
                </a:solidFill>
                <a:latin typeface="Tahoma"/>
              </a:rPr>
              <a:t>b) </a:t>
            </a:r>
            <a:r>
              <a:rPr lang="en-US" b="0" strike="noStrike" spc="-1" dirty="0" err="1">
                <a:solidFill>
                  <a:srgbClr val="000000"/>
                </a:solidFill>
                <a:latin typeface="Tahoma"/>
              </a:rPr>
              <a:t>aplicaţii</a:t>
            </a:r>
            <a:r>
              <a:rPr lang="en-US" b="0" strike="noStrike" spc="-1" dirty="0">
                <a:solidFill>
                  <a:srgbClr val="000000"/>
                </a:solidFill>
                <a:latin typeface="Tahoma"/>
              </a:rPr>
              <a:t> care se </a:t>
            </a:r>
            <a:r>
              <a:rPr lang="en-US" b="0" strike="noStrike" spc="-1" dirty="0" err="1">
                <a:solidFill>
                  <a:srgbClr val="000000"/>
                </a:solidFill>
                <a:latin typeface="Tahoma"/>
              </a:rPr>
              <a:t>execută</a:t>
            </a:r>
            <a:r>
              <a:rPr lang="en-US" b="0" strike="noStrike" spc="-1" dirty="0">
                <a:solidFill>
                  <a:srgbClr val="000000"/>
                </a:solidFill>
                <a:latin typeface="Tahoma"/>
              </a:rPr>
              <a:t> </a:t>
            </a:r>
            <a:r>
              <a:rPr lang="en-US" b="0" strike="noStrike" spc="-1" dirty="0" err="1">
                <a:solidFill>
                  <a:srgbClr val="000000"/>
                </a:solidFill>
                <a:latin typeface="Tahoma"/>
              </a:rPr>
              <a:t>pe</a:t>
            </a:r>
            <a:r>
              <a:rPr lang="en-US" b="0" strike="noStrike" spc="-1" dirty="0">
                <a:solidFill>
                  <a:srgbClr val="000000"/>
                </a:solidFill>
                <a:latin typeface="Tahoma"/>
              </a:rPr>
              <a:t> </a:t>
            </a:r>
            <a:r>
              <a:rPr lang="en-US" b="0" strike="noStrike" spc="-1" dirty="0" err="1">
                <a:solidFill>
                  <a:srgbClr val="000000"/>
                </a:solidFill>
                <a:latin typeface="Tahoma"/>
              </a:rPr>
              <a:t>partea</a:t>
            </a:r>
            <a:r>
              <a:rPr lang="en-US" b="0" strike="noStrike" spc="-1" dirty="0">
                <a:solidFill>
                  <a:srgbClr val="000000"/>
                </a:solidFill>
                <a:latin typeface="Tahoma"/>
              </a:rPr>
              <a:t> de client (applet-</a:t>
            </a:r>
            <a:r>
              <a:rPr lang="en-US" b="0" strike="noStrike" spc="-1" dirty="0" err="1">
                <a:solidFill>
                  <a:srgbClr val="000000"/>
                </a:solidFill>
                <a:latin typeface="Tahoma"/>
              </a:rPr>
              <a:t>uri</a:t>
            </a:r>
            <a:r>
              <a:rPr lang="en-US" b="0" strike="noStrike" spc="-1" dirty="0">
                <a:solidFill>
                  <a:srgbClr val="000000"/>
                </a:solidFill>
                <a:latin typeface="Tahoma"/>
              </a:rPr>
              <a:t>);</a:t>
            </a:r>
          </a:p>
          <a:p>
            <a:pPr marL="743040" lvl="1" indent="-285480">
              <a:lnSpc>
                <a:spcPct val="80000"/>
              </a:lnSpc>
              <a:spcBef>
                <a:spcPts val="281"/>
              </a:spcBef>
              <a:buClr>
                <a:srgbClr val="FFCC00"/>
              </a:buClr>
              <a:buFont typeface="Monotype Sorts" charset="2"/>
              <a:buChar char=""/>
            </a:pPr>
            <a:r>
              <a:rPr lang="en-US" b="0" strike="noStrike" spc="-1" dirty="0">
                <a:solidFill>
                  <a:srgbClr val="000000"/>
                </a:solidFill>
                <a:latin typeface="Tahoma"/>
              </a:rPr>
              <a:t>c) </a:t>
            </a:r>
            <a:r>
              <a:rPr lang="en-US" b="0" strike="noStrike" spc="-1" dirty="0" err="1">
                <a:solidFill>
                  <a:srgbClr val="000000"/>
                </a:solidFill>
                <a:latin typeface="Tahoma"/>
              </a:rPr>
              <a:t>aplicaţii</a:t>
            </a:r>
            <a:r>
              <a:rPr lang="en-US" b="0" strike="noStrike" spc="-1" dirty="0">
                <a:solidFill>
                  <a:srgbClr val="000000"/>
                </a:solidFill>
                <a:latin typeface="Tahoma"/>
              </a:rPr>
              <a:t> care se </a:t>
            </a:r>
            <a:r>
              <a:rPr lang="en-US" b="0" strike="noStrike" spc="-1" dirty="0" err="1">
                <a:solidFill>
                  <a:srgbClr val="000000"/>
                </a:solidFill>
                <a:latin typeface="Tahoma"/>
              </a:rPr>
              <a:t>execută</a:t>
            </a:r>
            <a:r>
              <a:rPr lang="en-US" b="0" strike="noStrike" spc="-1" dirty="0">
                <a:solidFill>
                  <a:srgbClr val="000000"/>
                </a:solidFill>
                <a:latin typeface="Tahoma"/>
              </a:rPr>
              <a:t> </a:t>
            </a:r>
            <a:r>
              <a:rPr lang="en-US" b="0" strike="noStrike" spc="-1" dirty="0" err="1">
                <a:solidFill>
                  <a:srgbClr val="000000"/>
                </a:solidFill>
                <a:latin typeface="Tahoma"/>
              </a:rPr>
              <a:t>pe</a:t>
            </a:r>
            <a:r>
              <a:rPr lang="en-US" b="0" strike="noStrike" spc="-1" dirty="0">
                <a:solidFill>
                  <a:srgbClr val="000000"/>
                </a:solidFill>
                <a:latin typeface="Tahoma"/>
              </a:rPr>
              <a:t> </a:t>
            </a:r>
            <a:r>
              <a:rPr lang="en-US" b="0" strike="noStrike" spc="-1" dirty="0" err="1">
                <a:solidFill>
                  <a:srgbClr val="000000"/>
                </a:solidFill>
                <a:latin typeface="Tahoma"/>
              </a:rPr>
              <a:t>partea</a:t>
            </a:r>
            <a:r>
              <a:rPr lang="en-US" b="0" strike="noStrike" spc="-1" dirty="0">
                <a:solidFill>
                  <a:srgbClr val="000000"/>
                </a:solidFill>
                <a:latin typeface="Tahoma"/>
              </a:rPr>
              <a:t> de server (servlet-</a:t>
            </a:r>
            <a:r>
              <a:rPr lang="en-US" b="0" strike="noStrike" spc="-1" dirty="0" err="1">
                <a:solidFill>
                  <a:srgbClr val="000000"/>
                </a:solidFill>
                <a:latin typeface="Tahoma"/>
              </a:rPr>
              <a:t>uri</a:t>
            </a:r>
            <a:r>
              <a:rPr lang="en-US" b="0" strike="noStrike" spc="-1" dirty="0">
                <a:solidFill>
                  <a:srgbClr val="000000"/>
                </a:solidFill>
                <a:latin typeface="Tahoma"/>
              </a:rPr>
              <a:t>)</a:t>
            </a:r>
          </a:p>
          <a:p>
            <a:endParaRPr lang="en-US" b="0" strike="noStrike" spc="-1" dirty="0">
              <a:solidFill>
                <a:srgbClr val="000000"/>
              </a:solidFill>
              <a:latin typeface="Tahoma"/>
            </a:endParaRPr>
          </a:p>
          <a:p>
            <a:pPr marL="343080" indent="-342720">
              <a:lnSpc>
                <a:spcPct val="80000"/>
              </a:lnSpc>
              <a:spcBef>
                <a:spcPts val="320"/>
              </a:spcBef>
              <a:buClr>
                <a:srgbClr val="FFCC00"/>
              </a:buClr>
              <a:buFont typeface="Monotype Sorts" charset="2"/>
              <a:buChar char=""/>
            </a:pPr>
            <a:r>
              <a:rPr lang="en-US" sz="2000" b="0" strike="noStrike" spc="-1" dirty="0" err="1">
                <a:solidFill>
                  <a:srgbClr val="000000"/>
                </a:solidFill>
                <a:latin typeface="Tahoma"/>
              </a:rPr>
              <a:t>Realizarea</a:t>
            </a:r>
            <a:r>
              <a:rPr lang="en-US" sz="2000" b="0" strike="noStrike" spc="-1" dirty="0">
                <a:solidFill>
                  <a:srgbClr val="000000"/>
                </a:solidFill>
                <a:latin typeface="Tahoma"/>
              </a:rPr>
              <a:t> </a:t>
            </a:r>
            <a:r>
              <a:rPr lang="en-US" sz="2000" b="0" strike="noStrike" spc="-1" dirty="0" err="1">
                <a:solidFill>
                  <a:srgbClr val="000000"/>
                </a:solidFill>
                <a:latin typeface="Tahoma"/>
              </a:rPr>
              <a:t>unui</a:t>
            </a:r>
            <a:r>
              <a:rPr lang="en-US" sz="2000" b="0" strike="noStrike" spc="-1" dirty="0">
                <a:solidFill>
                  <a:srgbClr val="000000"/>
                </a:solidFill>
                <a:latin typeface="Tahoma"/>
              </a:rPr>
              <a:t> program </a:t>
            </a:r>
            <a:r>
              <a:rPr lang="en-US" sz="2000" b="1" strike="noStrike" spc="-1" dirty="0">
                <a:solidFill>
                  <a:srgbClr val="008000"/>
                </a:solidFill>
                <a:latin typeface="Tahoma"/>
              </a:rPr>
              <a:t>JAVA</a:t>
            </a:r>
            <a:r>
              <a:rPr lang="en-US" sz="2000" b="0" strike="noStrike" spc="-1" dirty="0">
                <a:solidFill>
                  <a:srgbClr val="000000"/>
                </a:solidFill>
                <a:latin typeface="Tahoma"/>
              </a:rPr>
              <a:t> </a:t>
            </a:r>
            <a:r>
              <a:rPr lang="en-US" sz="2000" b="0" strike="noStrike" spc="-1" dirty="0" err="1">
                <a:solidFill>
                  <a:srgbClr val="000000"/>
                </a:solidFill>
                <a:latin typeface="Tahoma"/>
              </a:rPr>
              <a:t>constă</a:t>
            </a:r>
            <a:r>
              <a:rPr lang="en-US" sz="2000" b="0" strike="noStrike" spc="-1" dirty="0">
                <a:solidFill>
                  <a:srgbClr val="000000"/>
                </a:solidFill>
                <a:latin typeface="Tahoma"/>
              </a:rPr>
              <a:t> </a:t>
            </a:r>
            <a:r>
              <a:rPr lang="en-US" sz="2000" b="0" strike="noStrike" spc="-1" dirty="0" err="1">
                <a:solidFill>
                  <a:srgbClr val="000000"/>
                </a:solidFill>
                <a:latin typeface="Tahoma"/>
              </a:rPr>
              <a:t>în</a:t>
            </a:r>
            <a:r>
              <a:rPr lang="en-US" sz="2000" b="0" strike="noStrike" spc="-1" dirty="0">
                <a:solidFill>
                  <a:srgbClr val="000000"/>
                </a:solidFill>
                <a:latin typeface="Tahoma"/>
              </a:rPr>
              <a:t> </a:t>
            </a:r>
            <a:r>
              <a:rPr lang="en-US" sz="2000" b="0" strike="noStrike" spc="-1" dirty="0" err="1">
                <a:solidFill>
                  <a:srgbClr val="000000"/>
                </a:solidFill>
                <a:latin typeface="Tahoma"/>
              </a:rPr>
              <a:t>următorii</a:t>
            </a:r>
            <a:r>
              <a:rPr lang="en-US" sz="2000" b="0" strike="noStrike" spc="-1" dirty="0">
                <a:solidFill>
                  <a:srgbClr val="000000"/>
                </a:solidFill>
                <a:latin typeface="Tahoma"/>
              </a:rPr>
              <a:t> </a:t>
            </a:r>
            <a:r>
              <a:rPr lang="en-US" sz="2000" b="0" strike="noStrike" spc="-1" dirty="0" err="1">
                <a:solidFill>
                  <a:srgbClr val="000000"/>
                </a:solidFill>
                <a:latin typeface="Tahoma"/>
              </a:rPr>
              <a:t>paşi</a:t>
            </a:r>
            <a:r>
              <a:rPr lang="en-US" sz="2000" b="0" strike="noStrike" spc="-1" dirty="0">
                <a:solidFill>
                  <a:srgbClr val="000000"/>
                </a:solidFill>
                <a:latin typeface="Tahoma"/>
              </a:rPr>
              <a:t>:</a:t>
            </a:r>
          </a:p>
          <a:p>
            <a:pPr marL="743040" lvl="1" indent="-285480">
              <a:lnSpc>
                <a:spcPct val="80000"/>
              </a:lnSpc>
              <a:spcBef>
                <a:spcPts val="281"/>
              </a:spcBef>
              <a:buClr>
                <a:srgbClr val="FFCC00"/>
              </a:buClr>
              <a:buFont typeface="Monotype Sorts" charset="2"/>
              <a:buChar char=""/>
            </a:pPr>
            <a:r>
              <a:rPr lang="en-US" b="0" strike="noStrike" spc="-1" dirty="0" err="1">
                <a:solidFill>
                  <a:srgbClr val="000000"/>
                </a:solidFill>
                <a:latin typeface="Tahoma"/>
              </a:rPr>
              <a:t>Editarea</a:t>
            </a:r>
            <a:r>
              <a:rPr lang="en-US" b="0" strike="noStrike" spc="-1" dirty="0">
                <a:solidFill>
                  <a:srgbClr val="000000"/>
                </a:solidFill>
                <a:latin typeface="Tahoma"/>
              </a:rPr>
              <a:t> </a:t>
            </a:r>
            <a:r>
              <a:rPr lang="en-US" b="0" strike="noStrike" spc="-1" dirty="0" err="1">
                <a:solidFill>
                  <a:srgbClr val="000000"/>
                </a:solidFill>
                <a:latin typeface="Tahoma"/>
              </a:rPr>
              <a:t>programului</a:t>
            </a:r>
            <a:r>
              <a:rPr lang="en-US" b="0" strike="noStrike" spc="-1" dirty="0">
                <a:solidFill>
                  <a:srgbClr val="000000"/>
                </a:solidFill>
                <a:latin typeface="Tahoma"/>
              </a:rPr>
              <a:t> </a:t>
            </a:r>
            <a:r>
              <a:rPr lang="en-US" b="0" strike="noStrike" spc="-1" dirty="0" err="1">
                <a:solidFill>
                  <a:srgbClr val="000000"/>
                </a:solidFill>
                <a:latin typeface="Tahoma"/>
              </a:rPr>
              <a:t>într</a:t>
            </a:r>
            <a:r>
              <a:rPr lang="en-US" b="0" strike="noStrike" spc="-1" dirty="0">
                <a:solidFill>
                  <a:srgbClr val="000000"/>
                </a:solidFill>
                <a:latin typeface="Tahoma"/>
              </a:rPr>
              <a:t>-un editor de </a:t>
            </a:r>
            <a:r>
              <a:rPr lang="en-US" b="0" strike="noStrike" spc="-1" dirty="0" err="1">
                <a:solidFill>
                  <a:srgbClr val="000000"/>
                </a:solidFill>
                <a:latin typeface="Tahoma"/>
              </a:rPr>
              <a:t>texte</a:t>
            </a:r>
            <a:r>
              <a:rPr lang="en-US" b="0" strike="noStrike" spc="-1" dirty="0">
                <a:solidFill>
                  <a:srgbClr val="000000"/>
                </a:solidFill>
                <a:latin typeface="Tahoma"/>
              </a:rPr>
              <a:t>;</a:t>
            </a:r>
          </a:p>
          <a:p>
            <a:pPr marL="743040" lvl="1" indent="-285480">
              <a:lnSpc>
                <a:spcPct val="80000"/>
              </a:lnSpc>
              <a:spcBef>
                <a:spcPts val="281"/>
              </a:spcBef>
              <a:buClr>
                <a:srgbClr val="FFCC00"/>
              </a:buClr>
              <a:buFont typeface="Monotype Sorts" charset="2"/>
              <a:buChar char=""/>
            </a:pPr>
            <a:r>
              <a:rPr lang="en-US" b="0" strike="noStrike" spc="-1" dirty="0" err="1">
                <a:solidFill>
                  <a:srgbClr val="000000"/>
                </a:solidFill>
                <a:latin typeface="Tahoma"/>
              </a:rPr>
              <a:t>Salvarea</a:t>
            </a:r>
            <a:r>
              <a:rPr lang="en-US" b="0" strike="noStrike" spc="-1" dirty="0">
                <a:solidFill>
                  <a:srgbClr val="000000"/>
                </a:solidFill>
                <a:latin typeface="Tahoma"/>
              </a:rPr>
              <a:t> </a:t>
            </a:r>
            <a:r>
              <a:rPr lang="en-US" b="0" strike="noStrike" spc="-1" dirty="0" err="1">
                <a:solidFill>
                  <a:srgbClr val="000000"/>
                </a:solidFill>
                <a:latin typeface="Tahoma"/>
              </a:rPr>
              <a:t>programului</a:t>
            </a:r>
            <a:r>
              <a:rPr lang="en-US" b="0" strike="noStrike" spc="-1" dirty="0">
                <a:solidFill>
                  <a:srgbClr val="000000"/>
                </a:solidFill>
                <a:latin typeface="Tahoma"/>
              </a:rPr>
              <a:t> sub </a:t>
            </a:r>
            <a:r>
              <a:rPr lang="en-US" b="0" strike="noStrike" spc="-1" dirty="0" err="1">
                <a:solidFill>
                  <a:srgbClr val="000000"/>
                </a:solidFill>
                <a:latin typeface="Tahoma"/>
              </a:rPr>
              <a:t>numele</a:t>
            </a:r>
            <a:r>
              <a:rPr lang="en-US" b="0" strike="noStrike" spc="-1" dirty="0">
                <a:solidFill>
                  <a:srgbClr val="000000"/>
                </a:solidFill>
                <a:latin typeface="Tahoma"/>
              </a:rPr>
              <a:t> </a:t>
            </a:r>
            <a:r>
              <a:rPr lang="en-US" b="1" strike="noStrike" spc="-1" dirty="0">
                <a:solidFill>
                  <a:srgbClr val="008000"/>
                </a:solidFill>
                <a:latin typeface="Tahoma"/>
              </a:rPr>
              <a:t>NumeClasa.java</a:t>
            </a:r>
            <a:r>
              <a:rPr lang="en-US" b="0" strike="noStrike" spc="-1" dirty="0">
                <a:solidFill>
                  <a:srgbClr val="000000"/>
                </a:solidFill>
                <a:latin typeface="Tahoma"/>
              </a:rPr>
              <a:t> </a:t>
            </a:r>
            <a:r>
              <a:rPr lang="en-US" b="0" strike="noStrike" spc="-1" dirty="0" err="1">
                <a:solidFill>
                  <a:srgbClr val="000000"/>
                </a:solidFill>
                <a:latin typeface="Tahoma"/>
              </a:rPr>
              <a:t>unde</a:t>
            </a:r>
            <a:r>
              <a:rPr lang="en-US" b="0" strike="noStrike" spc="-1" dirty="0">
                <a:solidFill>
                  <a:srgbClr val="000000"/>
                </a:solidFill>
                <a:latin typeface="Tahoma"/>
              </a:rPr>
              <a:t> </a:t>
            </a:r>
            <a:r>
              <a:rPr lang="en-US" b="1" strike="noStrike" spc="-1" dirty="0" err="1">
                <a:solidFill>
                  <a:srgbClr val="008000"/>
                </a:solidFill>
                <a:latin typeface="Tahoma"/>
              </a:rPr>
              <a:t>NumeClasa</a:t>
            </a:r>
            <a:r>
              <a:rPr lang="en-US" b="0" strike="noStrike" spc="-1" dirty="0">
                <a:solidFill>
                  <a:srgbClr val="000000"/>
                </a:solidFill>
                <a:latin typeface="Tahoma"/>
              </a:rPr>
              <a:t> </a:t>
            </a:r>
            <a:r>
              <a:rPr lang="en-US" b="0" strike="noStrike" spc="-1" dirty="0" err="1">
                <a:solidFill>
                  <a:srgbClr val="000000"/>
                </a:solidFill>
                <a:latin typeface="Tahoma"/>
              </a:rPr>
              <a:t>este</a:t>
            </a:r>
            <a:r>
              <a:rPr lang="en-US" b="0" strike="noStrike" spc="-1" dirty="0">
                <a:solidFill>
                  <a:srgbClr val="000000"/>
                </a:solidFill>
                <a:latin typeface="Tahoma"/>
              </a:rPr>
              <a:t> </a:t>
            </a:r>
            <a:r>
              <a:rPr lang="en-US" b="0" strike="noStrike" spc="-1" dirty="0" err="1">
                <a:solidFill>
                  <a:srgbClr val="000000"/>
                </a:solidFill>
                <a:latin typeface="Tahoma"/>
              </a:rPr>
              <a:t>numele</a:t>
            </a:r>
            <a:r>
              <a:rPr lang="en-US" b="0" strike="noStrike" spc="-1" dirty="0">
                <a:solidFill>
                  <a:srgbClr val="000000"/>
                </a:solidFill>
                <a:latin typeface="Tahoma"/>
              </a:rPr>
              <a:t> </a:t>
            </a:r>
            <a:r>
              <a:rPr lang="en-US" b="0" strike="noStrike" spc="-1" dirty="0" err="1">
                <a:solidFill>
                  <a:srgbClr val="000000"/>
                </a:solidFill>
                <a:latin typeface="Tahoma"/>
              </a:rPr>
              <a:t>clasei</a:t>
            </a:r>
            <a:r>
              <a:rPr lang="en-US" b="0" strike="noStrike" spc="-1" dirty="0">
                <a:solidFill>
                  <a:srgbClr val="000000"/>
                </a:solidFill>
                <a:latin typeface="Tahoma"/>
              </a:rPr>
              <a:t> care </a:t>
            </a:r>
            <a:r>
              <a:rPr lang="en-US" b="0" strike="noStrike" spc="-1" dirty="0" err="1">
                <a:solidFill>
                  <a:srgbClr val="000000"/>
                </a:solidFill>
                <a:latin typeface="Tahoma"/>
              </a:rPr>
              <a:t>conţine</a:t>
            </a:r>
            <a:r>
              <a:rPr lang="en-US" b="0" strike="noStrike" spc="-1" dirty="0">
                <a:solidFill>
                  <a:srgbClr val="000000"/>
                </a:solidFill>
                <a:latin typeface="Tahoma"/>
              </a:rPr>
              <a:t> </a:t>
            </a:r>
            <a:r>
              <a:rPr lang="en-US" b="0" strike="noStrike" spc="-1" dirty="0" err="1">
                <a:solidFill>
                  <a:srgbClr val="000000"/>
                </a:solidFill>
                <a:latin typeface="Tahoma"/>
              </a:rPr>
              <a:t>metoda</a:t>
            </a:r>
            <a:r>
              <a:rPr lang="en-US" b="0" strike="noStrike" spc="-1" dirty="0">
                <a:solidFill>
                  <a:srgbClr val="000000"/>
                </a:solidFill>
                <a:latin typeface="Tahoma"/>
              </a:rPr>
              <a:t> </a:t>
            </a:r>
            <a:r>
              <a:rPr lang="en-US" b="1" strike="noStrike" spc="-1" dirty="0">
                <a:solidFill>
                  <a:srgbClr val="000000"/>
                </a:solidFill>
                <a:latin typeface="Tahoma"/>
              </a:rPr>
              <a:t>main()</a:t>
            </a:r>
            <a:r>
              <a:rPr lang="en-US" b="0" strike="noStrike" spc="-1" dirty="0">
                <a:solidFill>
                  <a:srgbClr val="000000"/>
                </a:solidFill>
                <a:latin typeface="Tahoma"/>
              </a:rPr>
              <a:t>. </a:t>
            </a:r>
            <a:r>
              <a:rPr lang="en-US" b="0" strike="noStrike" spc="-1" dirty="0" err="1">
                <a:solidFill>
                  <a:srgbClr val="000000"/>
                </a:solidFill>
                <a:latin typeface="Arial"/>
              </a:rPr>
              <a:t>În</a:t>
            </a:r>
            <a:r>
              <a:rPr lang="en-US" b="0" strike="noStrike" spc="-1" dirty="0" err="1">
                <a:solidFill>
                  <a:srgbClr val="000000"/>
                </a:solidFill>
                <a:latin typeface="Tahoma"/>
              </a:rPr>
              <a:t>tr</a:t>
            </a:r>
            <a:r>
              <a:rPr lang="en-US" b="0" strike="noStrike" spc="-1" dirty="0">
                <a:solidFill>
                  <a:srgbClr val="000000"/>
                </a:solidFill>
                <a:latin typeface="Tahoma"/>
              </a:rPr>
              <a:t>-un program </a:t>
            </a:r>
            <a:r>
              <a:rPr lang="en-US" b="1" strike="noStrike" spc="-1" dirty="0">
                <a:solidFill>
                  <a:srgbClr val="008000"/>
                </a:solidFill>
                <a:latin typeface="Tahoma"/>
              </a:rPr>
              <a:t>Java</a:t>
            </a:r>
            <a:r>
              <a:rPr lang="en-US" b="0" strike="noStrike" spc="-1" dirty="0">
                <a:solidFill>
                  <a:srgbClr val="000000"/>
                </a:solidFill>
                <a:latin typeface="Tahoma"/>
              </a:rPr>
              <a:t> </a:t>
            </a:r>
            <a:r>
              <a:rPr lang="en-US" b="0" strike="noStrike" spc="-1" dirty="0" err="1">
                <a:solidFill>
                  <a:srgbClr val="000000"/>
                </a:solidFill>
                <a:latin typeface="Tahoma"/>
              </a:rPr>
              <a:t>trebuie</a:t>
            </a:r>
            <a:r>
              <a:rPr lang="en-US" b="0" strike="noStrike" spc="-1" dirty="0">
                <a:solidFill>
                  <a:srgbClr val="000000"/>
                </a:solidFill>
                <a:latin typeface="Tahoma"/>
              </a:rPr>
              <a:t> </a:t>
            </a:r>
            <a:r>
              <a:rPr lang="en-US" b="0" strike="noStrike" spc="-1" dirty="0" err="1">
                <a:solidFill>
                  <a:srgbClr val="000000"/>
                </a:solidFill>
                <a:latin typeface="Tahoma"/>
              </a:rPr>
              <a:t>să</a:t>
            </a:r>
            <a:r>
              <a:rPr lang="en-US" b="0" strike="noStrike" spc="-1" dirty="0">
                <a:solidFill>
                  <a:srgbClr val="000000"/>
                </a:solidFill>
                <a:latin typeface="Tahoma"/>
              </a:rPr>
              <a:t> </a:t>
            </a:r>
            <a:r>
              <a:rPr lang="en-US" b="0" strike="noStrike" spc="-1" dirty="0" err="1">
                <a:solidFill>
                  <a:srgbClr val="000000"/>
                </a:solidFill>
                <a:latin typeface="Tahoma"/>
              </a:rPr>
              <a:t>existe</a:t>
            </a:r>
            <a:r>
              <a:rPr lang="en-US" b="0" strike="noStrike" spc="-1" dirty="0">
                <a:solidFill>
                  <a:srgbClr val="000000"/>
                </a:solidFill>
                <a:latin typeface="Tahoma"/>
              </a:rPr>
              <a:t> o </a:t>
            </a:r>
            <a:r>
              <a:rPr lang="en-US" b="0" strike="noStrike" spc="-1" dirty="0" err="1">
                <a:solidFill>
                  <a:srgbClr val="000000"/>
                </a:solidFill>
                <a:latin typeface="Tahoma"/>
              </a:rPr>
              <a:t>singură</a:t>
            </a:r>
            <a:r>
              <a:rPr lang="en-US" b="0" strike="noStrike" spc="-1" dirty="0">
                <a:solidFill>
                  <a:srgbClr val="000000"/>
                </a:solidFill>
                <a:latin typeface="Tahoma"/>
              </a:rPr>
              <a:t> </a:t>
            </a:r>
            <a:r>
              <a:rPr lang="en-US" b="0" strike="noStrike" spc="-1" dirty="0" err="1">
                <a:solidFill>
                  <a:srgbClr val="000000"/>
                </a:solidFill>
                <a:latin typeface="Tahoma"/>
              </a:rPr>
              <a:t>clasă</a:t>
            </a:r>
            <a:r>
              <a:rPr lang="en-US" b="0" strike="noStrike" spc="-1" dirty="0">
                <a:solidFill>
                  <a:srgbClr val="000000"/>
                </a:solidFill>
                <a:latin typeface="Tahoma"/>
              </a:rPr>
              <a:t> care </a:t>
            </a:r>
            <a:r>
              <a:rPr lang="en-US" b="0" strike="noStrike" spc="-1" dirty="0" err="1">
                <a:solidFill>
                  <a:srgbClr val="000000"/>
                </a:solidFill>
                <a:latin typeface="Tahoma"/>
              </a:rPr>
              <a:t>să</a:t>
            </a:r>
            <a:r>
              <a:rPr lang="en-US" b="0" strike="noStrike" spc="-1" dirty="0">
                <a:solidFill>
                  <a:srgbClr val="000000"/>
                </a:solidFill>
                <a:latin typeface="Tahoma"/>
              </a:rPr>
              <a:t> </a:t>
            </a:r>
            <a:r>
              <a:rPr lang="en-US" b="0" strike="noStrike" spc="-1" dirty="0" err="1">
                <a:solidFill>
                  <a:srgbClr val="000000"/>
                </a:solidFill>
                <a:latin typeface="Tahoma"/>
              </a:rPr>
              <a:t>conţină</a:t>
            </a:r>
            <a:r>
              <a:rPr lang="en-US" b="0" strike="noStrike" spc="-1" dirty="0">
                <a:solidFill>
                  <a:srgbClr val="000000"/>
                </a:solidFill>
                <a:latin typeface="Tahoma"/>
              </a:rPr>
              <a:t> o </a:t>
            </a:r>
            <a:r>
              <a:rPr lang="en-US" b="0" strike="noStrike" spc="-1" dirty="0" err="1">
                <a:solidFill>
                  <a:srgbClr val="000000"/>
                </a:solidFill>
                <a:latin typeface="Tahoma"/>
              </a:rPr>
              <a:t>metodă</a:t>
            </a:r>
            <a:r>
              <a:rPr lang="en-US" b="0" strike="noStrike" spc="-1" dirty="0">
                <a:solidFill>
                  <a:srgbClr val="000000"/>
                </a:solidFill>
                <a:latin typeface="Tahoma"/>
              </a:rPr>
              <a:t> </a:t>
            </a:r>
            <a:r>
              <a:rPr lang="en-US" b="1" strike="noStrike" spc="-1" dirty="0">
                <a:solidFill>
                  <a:srgbClr val="008000"/>
                </a:solidFill>
                <a:latin typeface="Tahoma"/>
              </a:rPr>
              <a:t>main()</a:t>
            </a:r>
            <a:r>
              <a:rPr lang="en-US" b="0" strike="noStrike" spc="-1" dirty="0">
                <a:solidFill>
                  <a:srgbClr val="000000"/>
                </a:solidFill>
                <a:latin typeface="Tahoma"/>
              </a:rPr>
              <a:t>. Cu </a:t>
            </a:r>
            <a:r>
              <a:rPr lang="en-US" b="0" strike="noStrike" spc="-1" dirty="0" err="1">
                <a:solidFill>
                  <a:srgbClr val="000000"/>
                </a:solidFill>
                <a:latin typeface="Tahoma"/>
              </a:rPr>
              <a:t>alte</a:t>
            </a:r>
            <a:r>
              <a:rPr lang="en-US" b="0" strike="noStrike" spc="-1" dirty="0">
                <a:solidFill>
                  <a:srgbClr val="000000"/>
                </a:solidFill>
                <a:latin typeface="Tahoma"/>
              </a:rPr>
              <a:t> </a:t>
            </a:r>
            <a:r>
              <a:rPr lang="en-US" b="0" strike="noStrike" spc="-1" dirty="0" err="1">
                <a:solidFill>
                  <a:srgbClr val="000000"/>
                </a:solidFill>
                <a:latin typeface="Tahoma"/>
              </a:rPr>
              <a:t>cuvinte</a:t>
            </a:r>
            <a:r>
              <a:rPr lang="en-US" b="0" strike="noStrike" spc="-1" dirty="0">
                <a:solidFill>
                  <a:srgbClr val="000000"/>
                </a:solidFill>
                <a:latin typeface="Tahoma"/>
              </a:rPr>
              <a:t>, </a:t>
            </a:r>
            <a:r>
              <a:rPr lang="en-US" b="0" strike="noStrike" spc="-1" dirty="0" err="1">
                <a:solidFill>
                  <a:srgbClr val="000000"/>
                </a:solidFill>
                <a:latin typeface="Tahoma"/>
              </a:rPr>
              <a:t>numele</a:t>
            </a:r>
            <a:r>
              <a:rPr lang="en-US" b="0" strike="noStrike" spc="-1" dirty="0">
                <a:solidFill>
                  <a:srgbClr val="000000"/>
                </a:solidFill>
                <a:latin typeface="Tahoma"/>
              </a:rPr>
              <a:t> </a:t>
            </a:r>
            <a:r>
              <a:rPr lang="en-US" b="0" strike="noStrike" spc="-1" dirty="0" err="1">
                <a:solidFill>
                  <a:srgbClr val="000000"/>
                </a:solidFill>
                <a:latin typeface="Tahoma"/>
              </a:rPr>
              <a:t>clasei</a:t>
            </a:r>
            <a:r>
              <a:rPr lang="en-US" b="0" strike="noStrike" spc="-1" dirty="0">
                <a:solidFill>
                  <a:srgbClr val="000000"/>
                </a:solidFill>
                <a:latin typeface="Tahoma"/>
              </a:rPr>
              <a:t> </a:t>
            </a:r>
            <a:r>
              <a:rPr lang="en-US" b="0" strike="noStrike" spc="-1" dirty="0" err="1">
                <a:solidFill>
                  <a:srgbClr val="000000"/>
                </a:solidFill>
                <a:latin typeface="Tahoma"/>
              </a:rPr>
              <a:t>trebuie</a:t>
            </a:r>
            <a:r>
              <a:rPr lang="en-US" b="0" strike="noStrike" spc="-1" dirty="0">
                <a:solidFill>
                  <a:srgbClr val="000000"/>
                </a:solidFill>
                <a:latin typeface="Tahoma"/>
              </a:rPr>
              <a:t> </a:t>
            </a:r>
            <a:r>
              <a:rPr lang="en-US" b="0" strike="noStrike" spc="-1" dirty="0" err="1">
                <a:solidFill>
                  <a:srgbClr val="000000"/>
                </a:solidFill>
                <a:latin typeface="Tahoma"/>
              </a:rPr>
              <a:t>să</a:t>
            </a:r>
            <a:r>
              <a:rPr lang="en-US" b="0" strike="noStrike" spc="-1" dirty="0">
                <a:solidFill>
                  <a:srgbClr val="000000"/>
                </a:solidFill>
                <a:latin typeface="Tahoma"/>
              </a:rPr>
              <a:t> </a:t>
            </a:r>
            <a:r>
              <a:rPr lang="en-US" b="0" strike="noStrike" spc="-1" dirty="0" err="1">
                <a:solidFill>
                  <a:srgbClr val="000000"/>
                </a:solidFill>
                <a:latin typeface="Tahoma"/>
              </a:rPr>
              <a:t>coincidă</a:t>
            </a:r>
            <a:r>
              <a:rPr lang="en-US" b="0" strike="noStrike" spc="-1" dirty="0">
                <a:solidFill>
                  <a:srgbClr val="000000"/>
                </a:solidFill>
                <a:latin typeface="Tahoma"/>
              </a:rPr>
              <a:t> cu </a:t>
            </a:r>
            <a:r>
              <a:rPr lang="en-US" b="0" strike="noStrike" spc="-1" dirty="0" err="1">
                <a:solidFill>
                  <a:srgbClr val="000000"/>
                </a:solidFill>
                <a:latin typeface="Tahoma"/>
              </a:rPr>
              <a:t>numele</a:t>
            </a:r>
            <a:r>
              <a:rPr lang="en-US" b="0" strike="noStrike" spc="-1" dirty="0">
                <a:solidFill>
                  <a:srgbClr val="000000"/>
                </a:solidFill>
                <a:latin typeface="Tahoma"/>
              </a:rPr>
              <a:t> </a:t>
            </a:r>
            <a:r>
              <a:rPr lang="en-US" b="0" strike="noStrike" spc="-1" dirty="0" err="1">
                <a:solidFill>
                  <a:srgbClr val="000000"/>
                </a:solidFill>
                <a:latin typeface="Tahoma"/>
              </a:rPr>
              <a:t>fişierului</a:t>
            </a:r>
            <a:r>
              <a:rPr lang="en-US" b="0" strike="noStrike" spc="-1" dirty="0">
                <a:solidFill>
                  <a:srgbClr val="000000"/>
                </a:solidFill>
                <a:latin typeface="Tahoma"/>
              </a:rPr>
              <a:t>. </a:t>
            </a:r>
            <a:r>
              <a:rPr lang="en-US" b="0" strike="noStrike" spc="-1" dirty="0" err="1">
                <a:solidFill>
                  <a:srgbClr val="000000"/>
                </a:solidFill>
                <a:latin typeface="Tahoma"/>
              </a:rPr>
              <a:t>Extensia</a:t>
            </a:r>
            <a:r>
              <a:rPr lang="en-US" b="0" strike="noStrike" spc="-1" dirty="0">
                <a:solidFill>
                  <a:srgbClr val="000000"/>
                </a:solidFill>
                <a:latin typeface="Tahoma"/>
              </a:rPr>
              <a:t> </a:t>
            </a:r>
            <a:r>
              <a:rPr lang="en-US" b="0" strike="noStrike" spc="-1" dirty="0" err="1">
                <a:solidFill>
                  <a:srgbClr val="000000"/>
                </a:solidFill>
                <a:latin typeface="Tahoma"/>
              </a:rPr>
              <a:t>fişierului</a:t>
            </a:r>
            <a:r>
              <a:rPr lang="en-US" b="0" strike="noStrike" spc="-1" dirty="0">
                <a:solidFill>
                  <a:srgbClr val="000000"/>
                </a:solidFill>
                <a:latin typeface="Tahoma"/>
              </a:rPr>
              <a:t> </a:t>
            </a:r>
            <a:r>
              <a:rPr lang="en-US" b="0" strike="noStrike" spc="-1" dirty="0" err="1">
                <a:solidFill>
                  <a:srgbClr val="000000"/>
                </a:solidFill>
                <a:latin typeface="Tahoma"/>
              </a:rPr>
              <a:t>este</a:t>
            </a:r>
            <a:r>
              <a:rPr lang="en-US" b="0" strike="noStrike" spc="-1" dirty="0">
                <a:solidFill>
                  <a:srgbClr val="000000"/>
                </a:solidFill>
                <a:latin typeface="Tahoma"/>
              </a:rPr>
              <a:t> </a:t>
            </a:r>
            <a:r>
              <a:rPr lang="en-US" b="1" strike="noStrike" spc="-1" dirty="0">
                <a:solidFill>
                  <a:srgbClr val="008000"/>
                </a:solidFill>
                <a:latin typeface="Tahoma"/>
              </a:rPr>
              <a:t>.java</a:t>
            </a:r>
            <a:endParaRPr lang="en-US" b="0" strike="noStrike" spc="-1" dirty="0">
              <a:solidFill>
                <a:srgbClr val="000000"/>
              </a:solidFill>
              <a:latin typeface="Tahoma"/>
            </a:endParaRPr>
          </a:p>
          <a:p>
            <a:pPr marL="743040" lvl="1" indent="-285480">
              <a:lnSpc>
                <a:spcPct val="80000"/>
              </a:lnSpc>
              <a:spcBef>
                <a:spcPts val="281"/>
              </a:spcBef>
              <a:buClr>
                <a:srgbClr val="FFCC00"/>
              </a:buClr>
              <a:buFont typeface="Monotype Sorts" charset="2"/>
              <a:buChar char=""/>
            </a:pPr>
            <a:r>
              <a:rPr lang="en-US" b="0" strike="noStrike" spc="-1" dirty="0" err="1">
                <a:solidFill>
                  <a:srgbClr val="000000"/>
                </a:solidFill>
                <a:latin typeface="Tahoma"/>
              </a:rPr>
              <a:t>Compilarea</a:t>
            </a:r>
            <a:r>
              <a:rPr lang="en-US" b="0" strike="noStrike" spc="-1" dirty="0">
                <a:solidFill>
                  <a:srgbClr val="000000"/>
                </a:solidFill>
                <a:latin typeface="Tahoma"/>
              </a:rPr>
              <a:t> </a:t>
            </a:r>
            <a:r>
              <a:rPr lang="en-US" b="0" strike="noStrike" spc="-1" dirty="0" err="1">
                <a:solidFill>
                  <a:srgbClr val="000000"/>
                </a:solidFill>
                <a:latin typeface="Tahoma"/>
              </a:rPr>
              <a:t>programului</a:t>
            </a:r>
            <a:r>
              <a:rPr lang="en-US" b="0" strike="noStrike" spc="-1" dirty="0">
                <a:solidFill>
                  <a:srgbClr val="000000"/>
                </a:solidFill>
                <a:latin typeface="Tahoma"/>
              </a:rPr>
              <a:t> se face cu </a:t>
            </a:r>
            <a:r>
              <a:rPr lang="en-US" b="0" strike="noStrike" spc="-1" dirty="0" err="1">
                <a:solidFill>
                  <a:srgbClr val="000000"/>
                </a:solidFill>
                <a:latin typeface="Tahoma"/>
              </a:rPr>
              <a:t>ajutorul</a:t>
            </a:r>
            <a:r>
              <a:rPr lang="en-US" b="0" strike="noStrike" spc="-1" dirty="0">
                <a:solidFill>
                  <a:srgbClr val="000000"/>
                </a:solidFill>
                <a:latin typeface="Tahoma"/>
              </a:rPr>
              <a:t> </a:t>
            </a:r>
            <a:r>
              <a:rPr lang="en-US" b="0" strike="noStrike" spc="-1" dirty="0" err="1">
                <a:solidFill>
                  <a:srgbClr val="000000"/>
                </a:solidFill>
                <a:latin typeface="Tahoma"/>
              </a:rPr>
              <a:t>comenzii</a:t>
            </a:r>
            <a:endParaRPr lang="en-US" b="0" strike="noStrike" spc="-1" dirty="0">
              <a:solidFill>
                <a:srgbClr val="000000"/>
              </a:solidFill>
              <a:latin typeface="Tahoma"/>
            </a:endParaRPr>
          </a:p>
          <a:p>
            <a:pPr marL="343080" indent="-342720">
              <a:lnSpc>
                <a:spcPct val="80000"/>
              </a:lnSpc>
              <a:spcBef>
                <a:spcPts val="320"/>
              </a:spcBef>
            </a:pPr>
            <a:r>
              <a:rPr lang="en-US" sz="2000" b="0" strike="noStrike" spc="-1" dirty="0">
                <a:solidFill>
                  <a:srgbClr val="000000"/>
                </a:solidFill>
                <a:latin typeface="Tahoma"/>
              </a:rPr>
              <a:t>			</a:t>
            </a:r>
            <a:r>
              <a:rPr lang="en-US" sz="1100" b="1" strike="noStrike" spc="-1" dirty="0" err="1">
                <a:solidFill>
                  <a:srgbClr val="008000"/>
                </a:solidFill>
                <a:latin typeface="Tahoma"/>
              </a:rPr>
              <a:t>javac</a:t>
            </a:r>
            <a:r>
              <a:rPr lang="en-US" sz="1100" b="1" strike="noStrike" spc="-1" dirty="0">
                <a:solidFill>
                  <a:srgbClr val="008000"/>
                </a:solidFill>
                <a:latin typeface="Tahoma"/>
              </a:rPr>
              <a:t>  NumeClasa.java</a:t>
            </a:r>
            <a:endParaRPr lang="en-US" sz="1100" b="0" strike="noStrike" spc="-1" dirty="0">
              <a:solidFill>
                <a:srgbClr val="000000"/>
              </a:solidFill>
              <a:latin typeface="Tahoma"/>
            </a:endParaRPr>
          </a:p>
          <a:p>
            <a:pPr marL="743040" lvl="1" indent="-285480">
              <a:lnSpc>
                <a:spcPct val="80000"/>
              </a:lnSpc>
              <a:spcBef>
                <a:spcPts val="281"/>
              </a:spcBef>
              <a:buClr>
                <a:srgbClr val="FFCC00"/>
              </a:buClr>
              <a:buFont typeface="Monotype Sorts" charset="2"/>
              <a:buChar char=""/>
            </a:pPr>
            <a:r>
              <a:rPr lang="en-US" b="0" strike="noStrike" spc="-1" dirty="0" err="1">
                <a:solidFill>
                  <a:srgbClr val="000000"/>
                </a:solidFill>
                <a:latin typeface="Tahoma"/>
              </a:rPr>
              <a:t>Executarea</a:t>
            </a:r>
            <a:r>
              <a:rPr lang="en-US" b="0" strike="noStrike" spc="-1" dirty="0">
                <a:solidFill>
                  <a:srgbClr val="000000"/>
                </a:solidFill>
                <a:latin typeface="Tahoma"/>
              </a:rPr>
              <a:t> </a:t>
            </a:r>
            <a:r>
              <a:rPr lang="en-US" b="0" strike="noStrike" spc="-1" dirty="0" err="1">
                <a:solidFill>
                  <a:srgbClr val="000000"/>
                </a:solidFill>
                <a:latin typeface="Tahoma"/>
              </a:rPr>
              <a:t>programului</a:t>
            </a:r>
            <a:r>
              <a:rPr lang="en-US" b="0" strike="noStrike" spc="-1" dirty="0">
                <a:solidFill>
                  <a:srgbClr val="000000"/>
                </a:solidFill>
                <a:latin typeface="Tahoma"/>
              </a:rPr>
              <a:t> se face cu </a:t>
            </a:r>
            <a:r>
              <a:rPr lang="en-US" b="0" strike="noStrike" spc="-1" dirty="0" err="1">
                <a:solidFill>
                  <a:srgbClr val="000000"/>
                </a:solidFill>
                <a:latin typeface="Tahoma"/>
              </a:rPr>
              <a:t>ajutorul</a:t>
            </a:r>
            <a:r>
              <a:rPr lang="en-US" b="0" strike="noStrike" spc="-1" dirty="0">
                <a:solidFill>
                  <a:srgbClr val="000000"/>
                </a:solidFill>
                <a:latin typeface="Tahoma"/>
              </a:rPr>
              <a:t> </a:t>
            </a:r>
            <a:r>
              <a:rPr lang="en-US" b="0" strike="noStrike" spc="-1" dirty="0" err="1">
                <a:solidFill>
                  <a:srgbClr val="000000"/>
                </a:solidFill>
                <a:latin typeface="Tahoma"/>
              </a:rPr>
              <a:t>comenzii</a:t>
            </a:r>
            <a:endParaRPr lang="en-US" b="0" strike="noStrike" spc="-1" dirty="0">
              <a:solidFill>
                <a:srgbClr val="000000"/>
              </a:solidFill>
              <a:latin typeface="Tahoma"/>
            </a:endParaRPr>
          </a:p>
          <a:p>
            <a:pPr marL="343080" indent="-342720">
              <a:lnSpc>
                <a:spcPct val="80000"/>
              </a:lnSpc>
              <a:spcBef>
                <a:spcPts val="320"/>
              </a:spcBef>
            </a:pPr>
            <a:r>
              <a:rPr lang="en-US" sz="2000" b="0" strike="noStrike" spc="-1" dirty="0">
                <a:solidFill>
                  <a:srgbClr val="000000"/>
                </a:solidFill>
                <a:latin typeface="Tahoma"/>
              </a:rPr>
              <a:t>			</a:t>
            </a:r>
            <a:r>
              <a:rPr lang="en-US" sz="1100" b="1" strike="noStrike" spc="-1" dirty="0">
                <a:solidFill>
                  <a:srgbClr val="008000"/>
                </a:solidFill>
                <a:latin typeface="Tahoma"/>
              </a:rPr>
              <a:t>java  </a:t>
            </a:r>
            <a:r>
              <a:rPr lang="en-US" sz="1100" b="1" strike="noStrike" spc="-1" dirty="0" err="1">
                <a:solidFill>
                  <a:srgbClr val="008000"/>
                </a:solidFill>
                <a:latin typeface="Tahoma"/>
              </a:rPr>
              <a:t>NumeClasa</a:t>
            </a:r>
            <a:endParaRPr lang="en-US" sz="11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BCBB5FA8-BEA0-4B22-A915-59420DDF5D3F}" type="slidenum">
              <a:rPr lang="en-US" sz="1400" b="0" strike="noStrike" spc="-1">
                <a:solidFill>
                  <a:srgbClr val="5E574E"/>
                </a:solidFill>
                <a:latin typeface="Arial"/>
              </a:rPr>
              <a:t>3</a:t>
            </a:fld>
            <a:endParaRPr lang="en-US" sz="1400" b="0" strike="noStrike" spc="-1">
              <a:latin typeface="Times New Roman"/>
            </a:endParaRPr>
          </a:p>
        </p:txBody>
      </p:sp>
      <p:sp>
        <p:nvSpPr>
          <p:cNvPr id="228" name="TextShape 4"/>
          <p:cNvSpPr txBox="1"/>
          <p:nvPr/>
        </p:nvSpPr>
        <p:spPr>
          <a:xfrm>
            <a:off x="439560" y="228600"/>
            <a:ext cx="8419680" cy="1142640"/>
          </a:xfrm>
          <a:prstGeom prst="rect">
            <a:avLst/>
          </a:prstGeom>
          <a:noFill/>
          <a:ln>
            <a:noFill/>
          </a:ln>
        </p:spPr>
        <p:txBody>
          <a:bodyPr anchor="b">
            <a:noAutofit/>
          </a:bodyPr>
          <a:lstStyle/>
          <a:p>
            <a:pPr marL="609480" indent="-609120">
              <a:lnSpc>
                <a:spcPct val="100000"/>
              </a:lnSpc>
              <a:spcBef>
                <a:spcPts val="479"/>
              </a:spcBef>
            </a:pPr>
            <a:r>
              <a:rPr lang="en-US" sz="4000" b="1" strike="noStrike" spc="-1" dirty="0" err="1" smtClean="0">
                <a:solidFill>
                  <a:srgbClr val="000000"/>
                </a:solidFill>
                <a:latin typeface="Tahoma"/>
              </a:rPr>
              <a:t>Crearea</a:t>
            </a:r>
            <a:r>
              <a:rPr lang="en-US" sz="4000" b="1" strike="noStrike" spc="-1" dirty="0" smtClean="0">
                <a:solidFill>
                  <a:srgbClr val="000000"/>
                </a:solidFill>
                <a:latin typeface="Tahoma"/>
              </a:rPr>
              <a:t> </a:t>
            </a:r>
            <a:r>
              <a:rPr lang="en-US" sz="4000" b="1" strike="noStrike" spc="-1" dirty="0" err="1" smtClean="0">
                <a:solidFill>
                  <a:srgbClr val="000000"/>
                </a:solidFill>
                <a:latin typeface="Tahoma"/>
              </a:rPr>
              <a:t>unei</a:t>
            </a:r>
            <a:r>
              <a:rPr lang="en-US" sz="4000" b="1" strike="noStrike" spc="-1" dirty="0" smtClean="0">
                <a:solidFill>
                  <a:srgbClr val="000000"/>
                </a:solidFill>
                <a:latin typeface="Tahoma"/>
              </a:rPr>
              <a:t> </a:t>
            </a:r>
            <a:r>
              <a:rPr lang="en-US" sz="4000" b="1" strike="noStrike" spc="-1" dirty="0" err="1" smtClean="0">
                <a:solidFill>
                  <a:srgbClr val="000000"/>
                </a:solidFill>
                <a:latin typeface="Tahoma"/>
              </a:rPr>
              <a:t>aplicatii</a:t>
            </a:r>
            <a:r>
              <a:rPr lang="en-US" sz="4000" b="1" strike="noStrike" spc="-1" dirty="0" smtClean="0">
                <a:solidFill>
                  <a:srgbClr val="000000"/>
                </a:solidFill>
                <a:latin typeface="Tahoma"/>
              </a:rPr>
              <a:t> simple </a:t>
            </a:r>
            <a:r>
              <a:rPr lang="en-US" sz="2800" b="1" strike="noStrike" spc="-1" dirty="0" smtClean="0">
                <a:solidFill>
                  <a:srgbClr val="000000"/>
                </a:solidFill>
                <a:latin typeface="Tahoma"/>
              </a:rPr>
              <a:t>(</a:t>
            </a:r>
            <a:r>
              <a:rPr lang="en-US" sz="2800" b="1" strike="noStrike" spc="-1" dirty="0" err="1" smtClean="0">
                <a:solidFill>
                  <a:srgbClr val="000000"/>
                </a:solidFill>
                <a:latin typeface="Tahoma"/>
              </a:rPr>
              <a:t>continuare</a:t>
            </a:r>
            <a:r>
              <a:rPr lang="en-US" sz="2800" b="1" strike="noStrike" spc="-1" dirty="0" smtClean="0">
                <a:solidFill>
                  <a:srgbClr val="000000"/>
                </a:solidFill>
                <a:latin typeface="Tahoma"/>
              </a:rPr>
              <a:t>)</a:t>
            </a:r>
            <a:endParaRPr lang="en-US" sz="2800" b="0" strike="noStrike" spc="-1" dirty="0">
              <a:solidFill>
                <a:srgbClr val="000000"/>
              </a:solidFill>
              <a:latin typeface="Tahoma"/>
            </a:endParaRPr>
          </a:p>
        </p:txBody>
      </p:sp>
      <p:sp>
        <p:nvSpPr>
          <p:cNvPr id="229" name="TextShape 5"/>
          <p:cNvSpPr txBox="1"/>
          <p:nvPr/>
        </p:nvSpPr>
        <p:spPr>
          <a:xfrm>
            <a:off x="439560" y="1811263"/>
            <a:ext cx="8859600" cy="4533480"/>
          </a:xfrm>
          <a:prstGeom prst="rect">
            <a:avLst/>
          </a:prstGeom>
          <a:noFill/>
          <a:ln>
            <a:noFill/>
          </a:ln>
        </p:spPr>
        <p:txBody>
          <a:bodyPr>
            <a:noAutofit/>
          </a:bodyPr>
          <a:lstStyle/>
          <a:p>
            <a:pPr marL="609480" indent="-609120">
              <a:lnSpc>
                <a:spcPct val="100000"/>
              </a:lnSpc>
              <a:spcBef>
                <a:spcPts val="479"/>
              </a:spcBef>
            </a:pPr>
            <a:r>
              <a:rPr lang="en-US" sz="2400" b="1" strike="noStrike" spc="-1" dirty="0" smtClean="0">
                <a:solidFill>
                  <a:srgbClr val="000000"/>
                </a:solidFill>
                <a:latin typeface="Tahoma"/>
              </a:rPr>
              <a:t> </a:t>
            </a:r>
            <a:r>
              <a:rPr lang="en-US" sz="2000" b="1" strike="noStrike" spc="-1" dirty="0" err="1" smtClean="0">
                <a:solidFill>
                  <a:srgbClr val="008000"/>
                </a:solidFill>
                <a:latin typeface="Tahoma"/>
              </a:rPr>
              <a:t>Scrierea</a:t>
            </a:r>
            <a:r>
              <a:rPr lang="en-US" sz="2000" b="1" strike="noStrike" spc="-1" dirty="0" smtClean="0">
                <a:solidFill>
                  <a:srgbClr val="008000"/>
                </a:solidFill>
                <a:latin typeface="Tahoma"/>
              </a:rPr>
              <a:t> </a:t>
            </a:r>
            <a:r>
              <a:rPr lang="en-US" sz="2000" b="1" strike="noStrike" spc="-1" dirty="0" err="1">
                <a:solidFill>
                  <a:srgbClr val="008000"/>
                </a:solidFill>
                <a:latin typeface="Tahoma"/>
              </a:rPr>
              <a:t>codului</a:t>
            </a:r>
            <a:r>
              <a:rPr lang="en-US" sz="2000" b="1" strike="noStrike" spc="-1" dirty="0">
                <a:solidFill>
                  <a:srgbClr val="008000"/>
                </a:solidFill>
                <a:latin typeface="Tahoma"/>
              </a:rPr>
              <a:t> </a:t>
            </a:r>
            <a:r>
              <a:rPr lang="en-US" sz="2000" b="1" strike="noStrike" spc="-1" dirty="0" err="1">
                <a:solidFill>
                  <a:srgbClr val="008000"/>
                </a:solidFill>
                <a:latin typeface="Tahoma"/>
              </a:rPr>
              <a:t>sursă</a:t>
            </a:r>
            <a:r>
              <a:rPr lang="en-US" sz="2000" b="0" strike="noStrike" spc="-1" dirty="0">
                <a:solidFill>
                  <a:srgbClr val="000000"/>
                </a:solidFill>
                <a:latin typeface="Tahoma"/>
              </a:rPr>
              <a:t>:</a:t>
            </a:r>
          </a:p>
          <a:p>
            <a:pPr marL="990720" indent="-533160">
              <a:lnSpc>
                <a:spcPct val="100000"/>
              </a:lnSpc>
              <a:spcBef>
                <a:spcPts val="561"/>
              </a:spcBef>
            </a:pPr>
            <a:r>
              <a:rPr lang="en-US" sz="2800" b="0" strike="noStrike" spc="-1" dirty="0">
                <a:solidFill>
                  <a:srgbClr val="000000"/>
                </a:solidFill>
                <a:latin typeface="Tahoma"/>
              </a:rPr>
              <a:t>	</a:t>
            </a:r>
            <a:r>
              <a:rPr lang="en-US" sz="1800" b="1" strike="noStrike" spc="-1" dirty="0">
                <a:solidFill>
                  <a:srgbClr val="000000"/>
                </a:solidFill>
                <a:latin typeface="Tahoma"/>
              </a:rPr>
              <a:t>class </a:t>
            </a:r>
            <a:r>
              <a:rPr lang="en-US" sz="1800" b="1" strike="noStrike" spc="-1" dirty="0" err="1">
                <a:solidFill>
                  <a:srgbClr val="000000"/>
                </a:solidFill>
                <a:latin typeface="Tahoma"/>
              </a:rPr>
              <a:t>Salut</a:t>
            </a:r>
            <a:r>
              <a:rPr lang="en-US" sz="1800" b="1" strike="noStrike" spc="-1" dirty="0">
                <a:solidFill>
                  <a:srgbClr val="000000"/>
                </a:solidFill>
                <a:latin typeface="Tahoma"/>
              </a:rPr>
              <a:t> {</a:t>
            </a:r>
            <a:endParaRPr lang="en-US" sz="1800" b="0" strike="noStrike" spc="-1" dirty="0">
              <a:solidFill>
                <a:srgbClr val="000000"/>
              </a:solidFill>
              <a:latin typeface="Tahoma"/>
            </a:endParaRPr>
          </a:p>
          <a:p>
            <a:pPr marL="990720" indent="-533160">
              <a:lnSpc>
                <a:spcPct val="100000"/>
              </a:lnSpc>
              <a:spcBef>
                <a:spcPts val="360"/>
              </a:spcBef>
            </a:pPr>
            <a:r>
              <a:rPr lang="en-US" sz="1800" b="1" strike="noStrike" spc="-1" dirty="0">
                <a:solidFill>
                  <a:srgbClr val="000000"/>
                </a:solidFill>
                <a:latin typeface="Tahoma"/>
              </a:rPr>
              <a:t>		public static void main(String </a:t>
            </a:r>
            <a:r>
              <a:rPr lang="en-US" sz="1800" b="1" strike="noStrike" spc="-1" dirty="0" err="1">
                <a:solidFill>
                  <a:srgbClr val="000000"/>
                </a:solidFill>
                <a:latin typeface="Tahoma"/>
              </a:rPr>
              <a:t>args</a:t>
            </a:r>
            <a:r>
              <a:rPr lang="en-US" sz="1800" b="1" strike="noStrike" spc="-1" dirty="0">
                <a:solidFill>
                  <a:srgbClr val="000000"/>
                </a:solidFill>
                <a:latin typeface="Tahoma"/>
              </a:rPr>
              <a:t>[]) {</a:t>
            </a:r>
            <a:endParaRPr lang="en-US" sz="1800" b="0" strike="noStrike" spc="-1" dirty="0">
              <a:solidFill>
                <a:srgbClr val="000000"/>
              </a:solidFill>
              <a:latin typeface="Tahoma"/>
            </a:endParaRPr>
          </a:p>
          <a:p>
            <a:pPr marL="990720" indent="-533160">
              <a:lnSpc>
                <a:spcPct val="100000"/>
              </a:lnSpc>
              <a:spcBef>
                <a:spcPts val="360"/>
              </a:spcBef>
            </a:pPr>
            <a:r>
              <a:rPr lang="en-US" sz="1800" b="1" strike="noStrike" spc="-1" dirty="0">
                <a:solidFill>
                  <a:srgbClr val="000000"/>
                </a:solidFill>
                <a:latin typeface="Tahoma"/>
              </a:rPr>
              <a:t>		    </a:t>
            </a:r>
            <a:r>
              <a:rPr lang="en-US" sz="1800" b="1" strike="noStrike" spc="-1" dirty="0" err="1">
                <a:solidFill>
                  <a:srgbClr val="000000"/>
                </a:solidFill>
                <a:latin typeface="Tahoma"/>
              </a:rPr>
              <a:t>System.out.println</a:t>
            </a:r>
            <a:r>
              <a:rPr lang="en-US" sz="1800" b="1" strike="noStrike" spc="-1" dirty="0">
                <a:solidFill>
                  <a:srgbClr val="000000"/>
                </a:solidFill>
                <a:latin typeface="Tahoma"/>
              </a:rPr>
              <a:t>("</a:t>
            </a:r>
            <a:r>
              <a:rPr lang="en-US" sz="1800" b="1" strike="noStrike" spc="-1" dirty="0" err="1">
                <a:solidFill>
                  <a:srgbClr val="000000"/>
                </a:solidFill>
                <a:latin typeface="Tahoma"/>
              </a:rPr>
              <a:t>Salut</a:t>
            </a:r>
            <a:r>
              <a:rPr lang="en-US" sz="1800" b="1" strike="noStrike" spc="-1" dirty="0">
                <a:solidFill>
                  <a:srgbClr val="000000"/>
                </a:solidFill>
                <a:latin typeface="Tahoma"/>
              </a:rPr>
              <a:t> !!!");</a:t>
            </a:r>
            <a:endParaRPr lang="en-US" sz="1800" b="0" strike="noStrike" spc="-1" dirty="0">
              <a:solidFill>
                <a:srgbClr val="000000"/>
              </a:solidFill>
              <a:latin typeface="Tahoma"/>
            </a:endParaRPr>
          </a:p>
          <a:p>
            <a:pPr marL="990720" indent="-533160">
              <a:lnSpc>
                <a:spcPct val="100000"/>
              </a:lnSpc>
              <a:spcBef>
                <a:spcPts val="360"/>
              </a:spcBef>
            </a:pPr>
            <a:r>
              <a:rPr lang="en-US" sz="1800" b="1" strike="noStrike" spc="-1" dirty="0">
                <a:solidFill>
                  <a:srgbClr val="000000"/>
                </a:solidFill>
                <a:latin typeface="Tahoma"/>
              </a:rPr>
              <a:t>		}</a:t>
            </a:r>
            <a:endParaRPr lang="en-US" sz="1800" b="0" strike="noStrike" spc="-1" dirty="0">
              <a:solidFill>
                <a:srgbClr val="000000"/>
              </a:solidFill>
              <a:latin typeface="Tahoma"/>
            </a:endParaRPr>
          </a:p>
          <a:p>
            <a:pPr marL="990720" indent="-533160">
              <a:lnSpc>
                <a:spcPct val="100000"/>
              </a:lnSpc>
              <a:spcBef>
                <a:spcPts val="360"/>
              </a:spcBef>
            </a:pPr>
            <a:r>
              <a:rPr lang="en-US" sz="1800" b="1" strike="noStrike" spc="-1" dirty="0">
                <a:solidFill>
                  <a:srgbClr val="000000"/>
                </a:solidFill>
                <a:latin typeface="Tahoma"/>
              </a:rPr>
              <a:t>	}</a:t>
            </a:r>
            <a:endParaRPr lang="en-US" sz="1800" b="0" strike="noStrike" spc="-1" dirty="0">
              <a:solidFill>
                <a:srgbClr val="000000"/>
              </a:solidFill>
              <a:latin typeface="Tahoma"/>
            </a:endParaRPr>
          </a:p>
          <a:p>
            <a:pPr marL="609480" indent="-609120">
              <a:lnSpc>
                <a:spcPct val="100000"/>
              </a:lnSpc>
              <a:spcBef>
                <a:spcPts val="641"/>
              </a:spcBef>
              <a:buClr>
                <a:srgbClr val="FFCC00"/>
              </a:buClr>
              <a:buFont typeface="Monotype Sorts" charset="2"/>
              <a:buChar char=""/>
            </a:pPr>
            <a:r>
              <a:rPr lang="en-US" sz="2000" b="0" strike="noStrike" spc="-1" dirty="0" err="1">
                <a:solidFill>
                  <a:srgbClr val="000000"/>
                </a:solidFill>
                <a:latin typeface="Tahoma"/>
              </a:rPr>
              <a:t>Toate</a:t>
            </a:r>
            <a:r>
              <a:rPr lang="en-US" sz="2000" b="0" strike="noStrike" spc="-1" dirty="0">
                <a:solidFill>
                  <a:srgbClr val="000000"/>
                </a:solidFill>
                <a:latin typeface="Tahoma"/>
              </a:rPr>
              <a:t> </a:t>
            </a:r>
            <a:r>
              <a:rPr lang="en-US" sz="2000" b="0" strike="noStrike" spc="-1" dirty="0" err="1">
                <a:solidFill>
                  <a:srgbClr val="000000"/>
                </a:solidFill>
                <a:latin typeface="Tahoma"/>
              </a:rPr>
              <a:t>aplicaţiile</a:t>
            </a:r>
            <a:r>
              <a:rPr lang="en-US" sz="2000" b="0" strike="noStrike" spc="-1" dirty="0">
                <a:solidFill>
                  <a:srgbClr val="000000"/>
                </a:solidFill>
                <a:latin typeface="Tahoma"/>
              </a:rPr>
              <a:t>  </a:t>
            </a:r>
            <a:r>
              <a:rPr lang="en-US" sz="2000" b="1" strike="noStrike" spc="-1" dirty="0">
                <a:solidFill>
                  <a:srgbClr val="008000"/>
                </a:solidFill>
                <a:latin typeface="Tahoma"/>
              </a:rPr>
              <a:t>Java</a:t>
            </a:r>
            <a:r>
              <a:rPr lang="en-US" sz="2000" b="0" strike="noStrike" spc="-1" dirty="0">
                <a:solidFill>
                  <a:srgbClr val="000000"/>
                </a:solidFill>
                <a:latin typeface="Tahoma"/>
              </a:rPr>
              <a:t>  </a:t>
            </a:r>
            <a:r>
              <a:rPr lang="en-US" sz="2000" b="0" strike="noStrike" spc="-1" dirty="0" err="1">
                <a:solidFill>
                  <a:srgbClr val="000000"/>
                </a:solidFill>
                <a:latin typeface="Tahoma"/>
              </a:rPr>
              <a:t>conţin</a:t>
            </a:r>
            <a:r>
              <a:rPr lang="en-US" sz="2000" b="0" strike="noStrike" spc="-1" dirty="0">
                <a:solidFill>
                  <a:srgbClr val="000000"/>
                </a:solidFill>
                <a:latin typeface="Tahoma"/>
              </a:rPr>
              <a:t> o </a:t>
            </a:r>
            <a:r>
              <a:rPr lang="en-US" sz="2000" b="0" strike="noStrike" spc="-1" dirty="0" err="1">
                <a:solidFill>
                  <a:srgbClr val="000000"/>
                </a:solidFill>
                <a:latin typeface="Tahoma"/>
              </a:rPr>
              <a:t>clasă</a:t>
            </a:r>
            <a:r>
              <a:rPr lang="en-US" sz="2000" b="0" strike="noStrike" spc="-1" dirty="0">
                <a:solidFill>
                  <a:srgbClr val="000000"/>
                </a:solidFill>
                <a:latin typeface="Tahoma"/>
              </a:rPr>
              <a:t> </a:t>
            </a:r>
            <a:r>
              <a:rPr lang="en-US" sz="2000" b="0" strike="noStrike" spc="-1" dirty="0" err="1">
                <a:solidFill>
                  <a:srgbClr val="000000"/>
                </a:solidFill>
                <a:latin typeface="Tahoma"/>
              </a:rPr>
              <a:t>principală</a:t>
            </a:r>
            <a:r>
              <a:rPr lang="en-US" sz="2000" b="0" strike="noStrike" spc="-1" dirty="0">
                <a:solidFill>
                  <a:srgbClr val="000000"/>
                </a:solidFill>
                <a:latin typeface="Tahoma"/>
              </a:rPr>
              <a:t> </a:t>
            </a:r>
            <a:r>
              <a:rPr lang="en-US" sz="2000" b="0" strike="noStrike" spc="-1" dirty="0" err="1">
                <a:solidFill>
                  <a:srgbClr val="000000"/>
                </a:solidFill>
                <a:latin typeface="Tahoma"/>
              </a:rPr>
              <a:t>în</a:t>
            </a:r>
            <a:r>
              <a:rPr lang="en-US" sz="2000" b="0" strike="noStrike" spc="-1" dirty="0">
                <a:solidFill>
                  <a:srgbClr val="000000"/>
                </a:solidFill>
                <a:latin typeface="Tahoma"/>
              </a:rPr>
              <a:t> care </a:t>
            </a:r>
            <a:r>
              <a:rPr lang="en-US" sz="2000" b="0" strike="noStrike" spc="-1" dirty="0" err="1">
                <a:solidFill>
                  <a:srgbClr val="000000"/>
                </a:solidFill>
                <a:latin typeface="Tahoma"/>
              </a:rPr>
              <a:t>trebuie</a:t>
            </a:r>
            <a:r>
              <a:rPr lang="en-US" sz="2000" b="0" strike="noStrike" spc="-1" dirty="0">
                <a:solidFill>
                  <a:srgbClr val="000000"/>
                </a:solidFill>
                <a:latin typeface="Tahoma"/>
              </a:rPr>
              <a:t> </a:t>
            </a:r>
            <a:r>
              <a:rPr lang="en-US" sz="2000" b="0" strike="noStrike" spc="-1" dirty="0" err="1">
                <a:solidFill>
                  <a:srgbClr val="000000"/>
                </a:solidFill>
                <a:latin typeface="Tahoma"/>
              </a:rPr>
              <a:t>să</a:t>
            </a:r>
            <a:r>
              <a:rPr lang="en-US" sz="2000" b="0" strike="noStrike" spc="-1" dirty="0">
                <a:solidFill>
                  <a:srgbClr val="000000"/>
                </a:solidFill>
                <a:latin typeface="Tahoma"/>
              </a:rPr>
              <a:t> se </a:t>
            </a:r>
            <a:r>
              <a:rPr lang="en-US" sz="2000" b="0" strike="noStrike" spc="-1" dirty="0" err="1">
                <a:solidFill>
                  <a:srgbClr val="000000"/>
                </a:solidFill>
                <a:latin typeface="Tahoma"/>
              </a:rPr>
              <a:t>găsească</a:t>
            </a:r>
            <a:r>
              <a:rPr lang="en-US" sz="2000" b="0" strike="noStrike" spc="-1" dirty="0">
                <a:solidFill>
                  <a:srgbClr val="000000"/>
                </a:solidFill>
                <a:latin typeface="Tahoma"/>
              </a:rPr>
              <a:t> </a:t>
            </a:r>
            <a:r>
              <a:rPr lang="en-US" sz="2000" b="0" strike="noStrike" spc="-1" dirty="0" err="1">
                <a:solidFill>
                  <a:srgbClr val="000000"/>
                </a:solidFill>
                <a:latin typeface="Tahoma"/>
              </a:rPr>
              <a:t>metoda</a:t>
            </a:r>
            <a:r>
              <a:rPr lang="en-US" sz="2000" b="0" strike="noStrike" spc="-1" dirty="0">
                <a:solidFill>
                  <a:srgbClr val="000000"/>
                </a:solidFill>
                <a:latin typeface="Tahoma"/>
              </a:rPr>
              <a:t> </a:t>
            </a:r>
            <a:r>
              <a:rPr lang="en-US" sz="2000" b="1" strike="noStrike" spc="-1" dirty="0">
                <a:solidFill>
                  <a:srgbClr val="008000"/>
                </a:solidFill>
                <a:latin typeface="Tahoma"/>
              </a:rPr>
              <a:t>main()</a:t>
            </a:r>
            <a:r>
              <a:rPr lang="en-US" sz="2000" b="0" strike="noStrike" spc="-1" dirty="0">
                <a:solidFill>
                  <a:srgbClr val="000000"/>
                </a:solidFill>
                <a:latin typeface="Tahoma"/>
              </a:rPr>
              <a:t>. </a:t>
            </a:r>
            <a:r>
              <a:rPr lang="en-US" sz="2000" b="0" strike="noStrike" spc="-1" dirty="0" err="1">
                <a:solidFill>
                  <a:srgbClr val="000000"/>
                </a:solidFill>
                <a:latin typeface="Tahoma"/>
              </a:rPr>
              <a:t>Clasele</a:t>
            </a:r>
            <a:r>
              <a:rPr lang="en-US" sz="2000" b="0" strike="noStrike" spc="-1" dirty="0">
                <a:solidFill>
                  <a:srgbClr val="000000"/>
                </a:solidFill>
                <a:latin typeface="Tahoma"/>
              </a:rPr>
              <a:t> </a:t>
            </a:r>
            <a:r>
              <a:rPr lang="en-US" sz="2000" b="0" strike="noStrike" spc="-1" dirty="0" err="1">
                <a:solidFill>
                  <a:srgbClr val="000000"/>
                </a:solidFill>
                <a:latin typeface="Tahoma"/>
              </a:rPr>
              <a:t>aplicaţiei</a:t>
            </a:r>
            <a:r>
              <a:rPr lang="en-US" sz="2000" b="0" strike="noStrike" spc="-1" dirty="0">
                <a:solidFill>
                  <a:srgbClr val="000000"/>
                </a:solidFill>
                <a:latin typeface="Tahoma"/>
              </a:rPr>
              <a:t> se pot </a:t>
            </a:r>
            <a:r>
              <a:rPr lang="en-US" sz="2000" b="0" strike="noStrike" spc="-1" dirty="0" err="1">
                <a:solidFill>
                  <a:srgbClr val="000000"/>
                </a:solidFill>
                <a:latin typeface="Tahoma"/>
              </a:rPr>
              <a:t>găsi</a:t>
            </a:r>
            <a:r>
              <a:rPr lang="en-US" sz="2000" b="0" strike="noStrike" spc="-1" dirty="0">
                <a:solidFill>
                  <a:srgbClr val="000000"/>
                </a:solidFill>
                <a:latin typeface="Tahoma"/>
              </a:rPr>
              <a:t> fie </a:t>
            </a:r>
            <a:r>
              <a:rPr lang="en-US" sz="2000" b="0" strike="noStrike" spc="-1" dirty="0" err="1">
                <a:solidFill>
                  <a:srgbClr val="000000"/>
                </a:solidFill>
                <a:latin typeface="Tahoma"/>
              </a:rPr>
              <a:t>într</a:t>
            </a:r>
            <a:r>
              <a:rPr lang="en-US" sz="2000" b="0" strike="noStrike" spc="-1" dirty="0">
                <a:solidFill>
                  <a:srgbClr val="000000"/>
                </a:solidFill>
                <a:latin typeface="Tahoma"/>
              </a:rPr>
              <a:t>-un </a:t>
            </a:r>
            <a:r>
              <a:rPr lang="en-US" sz="2000" b="0" strike="noStrike" spc="-1" dirty="0" err="1">
                <a:solidFill>
                  <a:srgbClr val="000000"/>
                </a:solidFill>
                <a:latin typeface="Tahoma"/>
              </a:rPr>
              <a:t>singur</a:t>
            </a:r>
            <a:r>
              <a:rPr lang="en-US" sz="2000" b="0" strike="noStrike" spc="-1" dirty="0">
                <a:solidFill>
                  <a:srgbClr val="000000"/>
                </a:solidFill>
                <a:latin typeface="Tahoma"/>
              </a:rPr>
              <a:t> </a:t>
            </a:r>
            <a:r>
              <a:rPr lang="en-US" sz="2000" b="0" strike="noStrike" spc="-1" dirty="0" err="1">
                <a:solidFill>
                  <a:srgbClr val="000000"/>
                </a:solidFill>
                <a:latin typeface="Tahoma"/>
              </a:rPr>
              <a:t>fişier</a:t>
            </a:r>
            <a:r>
              <a:rPr lang="en-US" sz="2000" b="0" strike="noStrike" spc="-1" dirty="0">
                <a:solidFill>
                  <a:srgbClr val="000000"/>
                </a:solidFill>
                <a:latin typeface="Tahoma"/>
              </a:rPr>
              <a:t>, fie </a:t>
            </a:r>
            <a:r>
              <a:rPr lang="en-US" sz="2000" b="0" strike="noStrike" spc="-1" dirty="0" err="1">
                <a:solidFill>
                  <a:srgbClr val="000000"/>
                </a:solidFill>
                <a:latin typeface="Tahoma"/>
              </a:rPr>
              <a:t>în</a:t>
            </a:r>
            <a:r>
              <a:rPr lang="en-US" sz="2000" b="0" strike="noStrike" spc="-1" dirty="0">
                <a:solidFill>
                  <a:srgbClr val="000000"/>
                </a:solidFill>
                <a:latin typeface="Tahoma"/>
              </a:rPr>
              <a:t> </a:t>
            </a:r>
            <a:r>
              <a:rPr lang="en-US" sz="2000" b="0" strike="noStrike" spc="-1" dirty="0" err="1">
                <a:solidFill>
                  <a:srgbClr val="000000"/>
                </a:solidFill>
                <a:latin typeface="Tahoma"/>
              </a:rPr>
              <a:t>mai</a:t>
            </a:r>
            <a:r>
              <a:rPr lang="en-US" sz="2000" b="0" strike="noStrike" spc="-1" dirty="0">
                <a:solidFill>
                  <a:srgbClr val="000000"/>
                </a:solidFill>
                <a:latin typeface="Tahoma"/>
              </a:rPr>
              <a:t> </a:t>
            </a:r>
            <a:r>
              <a:rPr lang="en-US" sz="2000" b="0" strike="noStrike" spc="-1" dirty="0" err="1">
                <a:solidFill>
                  <a:srgbClr val="000000"/>
                </a:solidFill>
                <a:latin typeface="Tahoma"/>
              </a:rPr>
              <a:t>multe</a:t>
            </a:r>
            <a:r>
              <a:rPr lang="en-US" sz="2000" b="0" strike="noStrike" spc="-1" dirty="0">
                <a:solidFill>
                  <a:srgbClr val="000000"/>
                </a:solidFill>
                <a:latin typeface="Tahoma"/>
              </a:rPr>
              <a:t>.</a:t>
            </a:r>
            <a:r>
              <a:rPr lang="en-US" sz="3200" b="0" strike="noStrike" spc="-1" dirty="0">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E420CE54-B29C-46D3-962A-C2E0589DFFE4}" type="slidenum">
              <a:rPr lang="en-US" sz="1400" b="0" strike="noStrike" spc="-1">
                <a:solidFill>
                  <a:srgbClr val="5E574E"/>
                </a:solidFill>
                <a:latin typeface="Arial"/>
              </a:rPr>
              <a:t>4</a:t>
            </a:fld>
            <a:endParaRPr lang="en-US" sz="1400" b="0" strike="noStrike" spc="-1">
              <a:latin typeface="Times New Roman"/>
            </a:endParaRPr>
          </a:p>
        </p:txBody>
      </p:sp>
      <p:sp>
        <p:nvSpPr>
          <p:cNvPr id="233" name="TextShape 4"/>
          <p:cNvSpPr txBox="1"/>
          <p:nvPr/>
        </p:nvSpPr>
        <p:spPr>
          <a:xfrm>
            <a:off x="439560" y="228600"/>
            <a:ext cx="8419680" cy="1142640"/>
          </a:xfrm>
          <a:prstGeom prst="rect">
            <a:avLst/>
          </a:prstGeom>
          <a:noFill/>
          <a:ln>
            <a:noFill/>
          </a:ln>
        </p:spPr>
        <p:txBody>
          <a:bodyPr anchor="b">
            <a:noAutofit/>
          </a:bodyPr>
          <a:lstStyle/>
          <a:p>
            <a:pPr marL="609480" indent="-609120">
              <a:lnSpc>
                <a:spcPct val="80000"/>
              </a:lnSpc>
              <a:spcBef>
                <a:spcPts val="479"/>
              </a:spcBef>
            </a:pPr>
            <a:r>
              <a:rPr lang="en-US" sz="4000" b="1" strike="noStrike" spc="-1" dirty="0" err="1" smtClean="0">
                <a:solidFill>
                  <a:srgbClr val="000000"/>
                </a:solidFill>
                <a:latin typeface="Tahoma"/>
              </a:rPr>
              <a:t>Crearea</a:t>
            </a:r>
            <a:r>
              <a:rPr lang="en-US" sz="4000" b="1" strike="noStrike" spc="-1" dirty="0" smtClean="0">
                <a:solidFill>
                  <a:srgbClr val="000000"/>
                </a:solidFill>
                <a:latin typeface="Tahoma"/>
              </a:rPr>
              <a:t> </a:t>
            </a:r>
            <a:r>
              <a:rPr lang="en-US" sz="4000" b="1" strike="noStrike" spc="-1" dirty="0" err="1" smtClean="0">
                <a:solidFill>
                  <a:srgbClr val="000000"/>
                </a:solidFill>
                <a:latin typeface="Tahoma"/>
              </a:rPr>
              <a:t>unei</a:t>
            </a:r>
            <a:r>
              <a:rPr lang="en-US" sz="4000" b="1" strike="noStrike" spc="-1" dirty="0" smtClean="0">
                <a:solidFill>
                  <a:srgbClr val="000000"/>
                </a:solidFill>
                <a:latin typeface="Tahoma"/>
              </a:rPr>
              <a:t> </a:t>
            </a:r>
            <a:r>
              <a:rPr lang="en-US" sz="4000" b="1" strike="noStrike" spc="-1" dirty="0" err="1" smtClean="0">
                <a:solidFill>
                  <a:srgbClr val="000000"/>
                </a:solidFill>
                <a:latin typeface="Tahoma"/>
              </a:rPr>
              <a:t>aplicatii</a:t>
            </a:r>
            <a:r>
              <a:rPr lang="en-US" sz="4000" b="1" strike="noStrike" spc="-1" dirty="0" smtClean="0">
                <a:solidFill>
                  <a:srgbClr val="000000"/>
                </a:solidFill>
                <a:latin typeface="Tahoma"/>
              </a:rPr>
              <a:t> simple </a:t>
            </a:r>
            <a:r>
              <a:rPr lang="en-US" sz="2400" b="1" strike="noStrike" spc="-1" dirty="0" smtClean="0">
                <a:solidFill>
                  <a:srgbClr val="000000"/>
                </a:solidFill>
                <a:latin typeface="Tahoma"/>
              </a:rPr>
              <a:t>(</a:t>
            </a:r>
            <a:r>
              <a:rPr lang="en-US" sz="2400" b="1" strike="noStrike" spc="-1" dirty="0" err="1" smtClean="0">
                <a:solidFill>
                  <a:srgbClr val="000000"/>
                </a:solidFill>
                <a:latin typeface="Tahoma"/>
              </a:rPr>
              <a:t>continuare</a:t>
            </a:r>
            <a:r>
              <a:rPr lang="en-US" sz="2400" b="1" strike="noStrike" spc="-1" dirty="0" smtClean="0">
                <a:solidFill>
                  <a:srgbClr val="000000"/>
                </a:solidFill>
                <a:latin typeface="Tahoma"/>
              </a:rPr>
              <a:t>)</a:t>
            </a:r>
            <a:endParaRPr lang="en-US" sz="2400" b="0" strike="noStrike" spc="-1" dirty="0">
              <a:solidFill>
                <a:srgbClr val="000000"/>
              </a:solidFill>
              <a:latin typeface="Tahoma"/>
            </a:endParaRPr>
          </a:p>
        </p:txBody>
      </p:sp>
      <p:sp>
        <p:nvSpPr>
          <p:cNvPr id="234" name="TextShape 5"/>
          <p:cNvSpPr txBox="1"/>
          <p:nvPr/>
        </p:nvSpPr>
        <p:spPr>
          <a:xfrm>
            <a:off x="495360" y="1371600"/>
            <a:ext cx="8859600" cy="4686120"/>
          </a:xfrm>
          <a:prstGeom prst="rect">
            <a:avLst/>
          </a:prstGeom>
          <a:noFill/>
          <a:ln>
            <a:noFill/>
          </a:ln>
        </p:spPr>
        <p:txBody>
          <a:bodyPr>
            <a:noAutofit/>
          </a:bodyPr>
          <a:lstStyle/>
          <a:p>
            <a:pPr marL="609480" indent="-609120">
              <a:lnSpc>
                <a:spcPct val="80000"/>
              </a:lnSpc>
              <a:spcBef>
                <a:spcPts val="479"/>
              </a:spcBef>
            </a:pPr>
            <a:r>
              <a:rPr lang="en-US" sz="2400" b="1" strike="noStrike" spc="-1" dirty="0" smtClean="0">
                <a:solidFill>
                  <a:srgbClr val="000000"/>
                </a:solidFill>
                <a:latin typeface="Tahoma"/>
              </a:rPr>
              <a:t> </a:t>
            </a:r>
            <a:endParaRPr lang="en-US" sz="14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1" strike="noStrike" spc="-1" dirty="0" err="1">
                <a:solidFill>
                  <a:srgbClr val="008000"/>
                </a:solidFill>
                <a:latin typeface="Tahoma"/>
              </a:rPr>
              <a:t>Salvarea</a:t>
            </a:r>
            <a:r>
              <a:rPr lang="en-US" sz="2000" b="1" strike="noStrike" spc="-1" dirty="0">
                <a:solidFill>
                  <a:srgbClr val="008000"/>
                </a:solidFill>
                <a:latin typeface="Tahoma"/>
              </a:rPr>
              <a:t> </a:t>
            </a:r>
            <a:r>
              <a:rPr lang="en-US" sz="2000" b="1" strike="noStrike" spc="-1" dirty="0" err="1">
                <a:solidFill>
                  <a:srgbClr val="008000"/>
                </a:solidFill>
                <a:latin typeface="Tahoma"/>
              </a:rPr>
              <a:t>fişierelor</a:t>
            </a:r>
            <a:r>
              <a:rPr lang="en-US" sz="2000" b="1" strike="noStrike" spc="-1" dirty="0">
                <a:solidFill>
                  <a:srgbClr val="008000"/>
                </a:solidFill>
                <a:latin typeface="Tahoma"/>
              </a:rPr>
              <a:t> </a:t>
            </a:r>
            <a:r>
              <a:rPr lang="en-US" sz="2000" b="1" strike="noStrike" spc="-1" dirty="0" err="1">
                <a:solidFill>
                  <a:srgbClr val="008000"/>
                </a:solidFill>
                <a:latin typeface="Tahoma"/>
              </a:rPr>
              <a:t>sursă</a:t>
            </a:r>
            <a:r>
              <a:rPr lang="en-US" sz="2000" b="0" i="1" strike="noStrike" spc="-1" dirty="0">
                <a:solidFill>
                  <a:srgbClr val="000000"/>
                </a:solidFill>
                <a:latin typeface="Tahoma"/>
              </a:rPr>
              <a:t> </a:t>
            </a:r>
            <a:endParaRPr lang="en-US" sz="2000" b="0" strike="noStrike" spc="-1" dirty="0">
              <a:solidFill>
                <a:srgbClr val="000000"/>
              </a:solidFill>
              <a:latin typeface="Tahoma"/>
            </a:endParaRPr>
          </a:p>
          <a:p>
            <a:pPr marL="990720" lvl="1" indent="-533160">
              <a:lnSpc>
                <a:spcPct val="80000"/>
              </a:lnSpc>
              <a:spcBef>
                <a:spcPts val="360"/>
              </a:spcBef>
              <a:buClr>
                <a:srgbClr val="FFCC00"/>
              </a:buClr>
              <a:buFont typeface="Monotype Sorts" charset="2"/>
              <a:buChar char=""/>
            </a:pPr>
            <a:r>
              <a:rPr lang="en-US" sz="1800" b="0" strike="noStrike" spc="-1" dirty="0">
                <a:solidFill>
                  <a:srgbClr val="000000"/>
                </a:solidFill>
                <a:latin typeface="Tahoma"/>
              </a:rPr>
              <a:t>Se </a:t>
            </a:r>
            <a:r>
              <a:rPr lang="en-US" sz="1800" b="0" strike="noStrike" spc="-1" dirty="0" err="1">
                <a:solidFill>
                  <a:srgbClr val="000000"/>
                </a:solidFill>
                <a:latin typeface="Tahoma"/>
              </a:rPr>
              <a:t>va</a:t>
            </a:r>
            <a:r>
              <a:rPr lang="en-US" sz="1800" b="0" strike="noStrike" spc="-1" dirty="0">
                <a:solidFill>
                  <a:srgbClr val="000000"/>
                </a:solidFill>
                <a:latin typeface="Tahoma"/>
              </a:rPr>
              <a:t> face </a:t>
            </a:r>
            <a:r>
              <a:rPr lang="en-US" sz="1800" b="0" strike="noStrike" spc="-1" dirty="0" err="1">
                <a:solidFill>
                  <a:srgbClr val="000000"/>
                </a:solidFill>
                <a:latin typeface="Tahoma"/>
              </a:rPr>
              <a:t>în</a:t>
            </a:r>
            <a:r>
              <a:rPr lang="en-US" sz="1800" b="0" strike="noStrike" spc="-1" dirty="0">
                <a:solidFill>
                  <a:srgbClr val="000000"/>
                </a:solidFill>
                <a:latin typeface="Tahoma"/>
              </a:rPr>
              <a:t> </a:t>
            </a:r>
            <a:r>
              <a:rPr lang="en-US" sz="1800" b="0" strike="noStrike" spc="-1" dirty="0" err="1">
                <a:solidFill>
                  <a:srgbClr val="000000"/>
                </a:solidFill>
                <a:latin typeface="Tahoma"/>
              </a:rPr>
              <a:t>fişiere</a:t>
            </a:r>
            <a:r>
              <a:rPr lang="en-US" sz="1800" b="0" strike="noStrike" spc="-1" dirty="0">
                <a:solidFill>
                  <a:srgbClr val="000000"/>
                </a:solidFill>
                <a:latin typeface="Tahoma"/>
              </a:rPr>
              <a:t> cu </a:t>
            </a:r>
            <a:r>
              <a:rPr lang="en-US" sz="1800" b="0" strike="noStrike" spc="-1" dirty="0" err="1">
                <a:solidFill>
                  <a:srgbClr val="000000"/>
                </a:solidFill>
                <a:latin typeface="Tahoma"/>
              </a:rPr>
              <a:t>extensia</a:t>
            </a:r>
            <a:r>
              <a:rPr lang="en-US" sz="1800" b="0" strike="noStrike" spc="-1" dirty="0">
                <a:solidFill>
                  <a:srgbClr val="000000"/>
                </a:solidFill>
                <a:latin typeface="Tahoma"/>
              </a:rPr>
              <a:t> </a:t>
            </a:r>
            <a:r>
              <a:rPr lang="en-US" sz="1800" b="1" strike="noStrike" spc="-1" dirty="0">
                <a:solidFill>
                  <a:srgbClr val="008000"/>
                </a:solidFill>
                <a:latin typeface="Tahoma"/>
              </a:rPr>
              <a:t>.java</a:t>
            </a:r>
            <a:r>
              <a:rPr lang="en-US" sz="1800" b="0" strike="noStrike" spc="-1" dirty="0">
                <a:solidFill>
                  <a:srgbClr val="000000"/>
                </a:solidFill>
                <a:latin typeface="Tahoma"/>
              </a:rPr>
              <a:t>. </a:t>
            </a:r>
            <a:r>
              <a:rPr lang="en-US" sz="1800" b="0" strike="noStrike" spc="-1" dirty="0" err="1">
                <a:solidFill>
                  <a:srgbClr val="000000"/>
                </a:solidFill>
                <a:latin typeface="Tahoma"/>
              </a:rPr>
              <a:t>Fişierul</a:t>
            </a:r>
            <a:r>
              <a:rPr lang="en-US" sz="1800" b="0" strike="noStrike" spc="-1" dirty="0">
                <a:solidFill>
                  <a:srgbClr val="000000"/>
                </a:solidFill>
                <a:latin typeface="Tahoma"/>
              </a:rPr>
              <a:t> care </a:t>
            </a:r>
            <a:r>
              <a:rPr lang="en-US" sz="1800" b="0" strike="noStrike" spc="-1" dirty="0" err="1">
                <a:solidFill>
                  <a:srgbClr val="000000"/>
                </a:solidFill>
                <a:latin typeface="Tahoma"/>
              </a:rPr>
              <a:t>conţine</a:t>
            </a:r>
            <a:r>
              <a:rPr lang="en-US" sz="1800" b="0" strike="noStrike" spc="-1" dirty="0">
                <a:solidFill>
                  <a:srgbClr val="000000"/>
                </a:solidFill>
                <a:latin typeface="Tahoma"/>
              </a:rPr>
              <a:t> </a:t>
            </a:r>
            <a:r>
              <a:rPr lang="en-US" sz="1800" b="0" strike="noStrike" spc="-1" dirty="0" err="1">
                <a:solidFill>
                  <a:srgbClr val="000000"/>
                </a:solidFill>
                <a:latin typeface="Tahoma"/>
              </a:rPr>
              <a:t>codul</a:t>
            </a:r>
            <a:r>
              <a:rPr lang="en-US" sz="1800" b="0" strike="noStrike" spc="-1" dirty="0">
                <a:solidFill>
                  <a:srgbClr val="000000"/>
                </a:solidFill>
                <a:latin typeface="Tahoma"/>
              </a:rPr>
              <a:t> </a:t>
            </a:r>
            <a:r>
              <a:rPr lang="en-US" sz="1800" b="0" strike="noStrike" spc="-1" dirty="0" err="1">
                <a:solidFill>
                  <a:srgbClr val="000000"/>
                </a:solidFill>
                <a:latin typeface="Tahoma"/>
              </a:rPr>
              <a:t>sursă</a:t>
            </a:r>
            <a:r>
              <a:rPr lang="en-US" sz="1800" b="0" strike="noStrike" spc="-1" dirty="0">
                <a:solidFill>
                  <a:srgbClr val="000000"/>
                </a:solidFill>
                <a:latin typeface="Tahoma"/>
              </a:rPr>
              <a:t> al </a:t>
            </a:r>
            <a:r>
              <a:rPr lang="en-US" sz="1800" b="0" strike="noStrike" spc="-1" dirty="0" err="1">
                <a:solidFill>
                  <a:srgbClr val="000000"/>
                </a:solidFill>
                <a:latin typeface="Tahoma"/>
              </a:rPr>
              <a:t>clasei</a:t>
            </a:r>
            <a:r>
              <a:rPr lang="en-US" sz="1800" b="0" strike="noStrike" spc="-1" dirty="0">
                <a:solidFill>
                  <a:srgbClr val="000000"/>
                </a:solidFill>
                <a:latin typeface="Tahoma"/>
              </a:rPr>
              <a:t> </a:t>
            </a:r>
            <a:r>
              <a:rPr lang="en-US" sz="1800" b="0" strike="noStrike" spc="-1" dirty="0" err="1">
                <a:solidFill>
                  <a:srgbClr val="000000"/>
                </a:solidFill>
                <a:latin typeface="Tahoma"/>
              </a:rPr>
              <a:t>principale</a:t>
            </a:r>
            <a:r>
              <a:rPr lang="en-US" sz="1800" b="0" strike="noStrike" spc="-1" dirty="0">
                <a:solidFill>
                  <a:srgbClr val="000000"/>
                </a:solidFill>
                <a:latin typeface="Tahoma"/>
              </a:rPr>
              <a:t> </a:t>
            </a:r>
            <a:r>
              <a:rPr lang="en-US" sz="1800" b="0" strike="noStrike" spc="-1" dirty="0" err="1">
                <a:solidFill>
                  <a:srgbClr val="000000"/>
                </a:solidFill>
                <a:latin typeface="Tahoma"/>
              </a:rPr>
              <a:t>trebuie</a:t>
            </a:r>
            <a:r>
              <a:rPr lang="en-US" sz="1800" b="0" strike="noStrike" spc="-1" dirty="0">
                <a:solidFill>
                  <a:srgbClr val="000000"/>
                </a:solidFill>
                <a:latin typeface="Tahoma"/>
              </a:rPr>
              <a:t> </a:t>
            </a:r>
            <a:r>
              <a:rPr lang="en-US" sz="1800" b="0" strike="noStrike" spc="-1" dirty="0" err="1">
                <a:solidFill>
                  <a:srgbClr val="000000"/>
                </a:solidFill>
                <a:latin typeface="Tahoma"/>
              </a:rPr>
              <a:t>să</a:t>
            </a:r>
            <a:r>
              <a:rPr lang="en-US" sz="1800" b="0" strike="noStrike" spc="-1" dirty="0">
                <a:solidFill>
                  <a:srgbClr val="000000"/>
                </a:solidFill>
                <a:latin typeface="Tahoma"/>
              </a:rPr>
              <a:t> </a:t>
            </a:r>
            <a:r>
              <a:rPr lang="en-US" sz="1800" b="0" strike="noStrike" spc="-1" dirty="0" err="1">
                <a:solidFill>
                  <a:srgbClr val="000000"/>
                </a:solidFill>
                <a:latin typeface="Tahoma"/>
              </a:rPr>
              <a:t>aibă</a:t>
            </a:r>
            <a:r>
              <a:rPr lang="en-US" sz="1800" b="0" strike="noStrike" spc="-1" dirty="0">
                <a:solidFill>
                  <a:srgbClr val="000000"/>
                </a:solidFill>
                <a:latin typeface="Tahoma"/>
              </a:rPr>
              <a:t> </a:t>
            </a:r>
            <a:r>
              <a:rPr lang="en-US" sz="1800" b="0" strike="noStrike" spc="-1" dirty="0" err="1">
                <a:solidFill>
                  <a:srgbClr val="000000"/>
                </a:solidFill>
                <a:latin typeface="Tahoma"/>
              </a:rPr>
              <a:t>acelaşi</a:t>
            </a:r>
            <a:r>
              <a:rPr lang="en-US" sz="1800" b="0" strike="noStrike" spc="-1" dirty="0">
                <a:solidFill>
                  <a:srgbClr val="000000"/>
                </a:solidFill>
                <a:latin typeface="Tahoma"/>
              </a:rPr>
              <a:t> </a:t>
            </a:r>
            <a:r>
              <a:rPr lang="en-US" sz="1800" b="0" strike="noStrike" spc="-1" dirty="0" err="1">
                <a:solidFill>
                  <a:srgbClr val="000000"/>
                </a:solidFill>
                <a:latin typeface="Tahoma"/>
              </a:rPr>
              <a:t>nume</a:t>
            </a:r>
            <a:r>
              <a:rPr lang="en-US" sz="1800" b="0" strike="noStrike" spc="-1" dirty="0">
                <a:solidFill>
                  <a:srgbClr val="000000"/>
                </a:solidFill>
                <a:latin typeface="Tahoma"/>
              </a:rPr>
              <a:t> cu </a:t>
            </a:r>
            <a:r>
              <a:rPr lang="en-US" sz="1800" b="0" strike="noStrike" spc="-1" dirty="0" err="1">
                <a:solidFill>
                  <a:srgbClr val="000000"/>
                </a:solidFill>
                <a:latin typeface="Tahoma"/>
              </a:rPr>
              <a:t>clasa</a:t>
            </a:r>
            <a:r>
              <a:rPr lang="en-US" sz="1800" b="0" strike="noStrike" spc="-1" dirty="0">
                <a:solidFill>
                  <a:srgbClr val="000000"/>
                </a:solidFill>
                <a:latin typeface="Tahoma"/>
              </a:rPr>
              <a:t> </a:t>
            </a:r>
            <a:r>
              <a:rPr lang="en-US" sz="1800" b="0" strike="noStrike" spc="-1" dirty="0" err="1">
                <a:solidFill>
                  <a:srgbClr val="000000"/>
                </a:solidFill>
                <a:latin typeface="Tahoma"/>
              </a:rPr>
              <a:t>principală</a:t>
            </a:r>
            <a:r>
              <a:rPr lang="en-US" sz="1800" b="0" strike="noStrike" spc="-1" dirty="0">
                <a:solidFill>
                  <a:srgbClr val="000000"/>
                </a:solidFill>
                <a:latin typeface="Tahoma"/>
              </a:rPr>
              <a:t> a </a:t>
            </a:r>
            <a:r>
              <a:rPr lang="en-US" sz="1800" b="0" strike="noStrike" spc="-1" dirty="0" err="1">
                <a:solidFill>
                  <a:srgbClr val="000000"/>
                </a:solidFill>
                <a:latin typeface="Tahoma"/>
              </a:rPr>
              <a:t>aplicaţiei</a:t>
            </a:r>
            <a:r>
              <a:rPr lang="en-US" sz="1800" b="0" strike="noStrike" spc="-1" dirty="0">
                <a:solidFill>
                  <a:srgbClr val="000000"/>
                </a:solidFill>
                <a:latin typeface="Tahoma"/>
              </a:rPr>
              <a:t> (</a:t>
            </a:r>
            <a:r>
              <a:rPr lang="en-US" sz="1800" b="0" strike="noStrike" spc="-1" dirty="0" err="1">
                <a:solidFill>
                  <a:srgbClr val="000000"/>
                </a:solidFill>
                <a:latin typeface="Tahoma"/>
              </a:rPr>
              <a:t>clasa</a:t>
            </a:r>
            <a:r>
              <a:rPr lang="en-US" sz="1800" b="0" strike="noStrike" spc="-1" dirty="0">
                <a:solidFill>
                  <a:srgbClr val="000000"/>
                </a:solidFill>
                <a:latin typeface="Tahoma"/>
              </a:rPr>
              <a:t> care </a:t>
            </a:r>
            <a:r>
              <a:rPr lang="en-US" sz="1800" b="0" strike="noStrike" spc="-1" dirty="0" err="1">
                <a:solidFill>
                  <a:srgbClr val="000000"/>
                </a:solidFill>
                <a:latin typeface="Tahoma"/>
              </a:rPr>
              <a:t>conţine</a:t>
            </a:r>
            <a:r>
              <a:rPr lang="en-US" sz="1800" b="0" strike="noStrike" spc="-1" dirty="0">
                <a:solidFill>
                  <a:srgbClr val="000000"/>
                </a:solidFill>
                <a:latin typeface="Tahoma"/>
              </a:rPr>
              <a:t> </a:t>
            </a:r>
            <a:r>
              <a:rPr lang="en-US" sz="1800" b="0" strike="noStrike" spc="-1" dirty="0" err="1">
                <a:solidFill>
                  <a:srgbClr val="000000"/>
                </a:solidFill>
                <a:latin typeface="Tahoma"/>
              </a:rPr>
              <a:t>metoda</a:t>
            </a:r>
            <a:r>
              <a:rPr lang="en-US" sz="1800" b="0" strike="noStrike" spc="-1" dirty="0">
                <a:solidFill>
                  <a:srgbClr val="000000"/>
                </a:solidFill>
                <a:latin typeface="Tahoma"/>
              </a:rPr>
              <a:t> </a:t>
            </a:r>
            <a:r>
              <a:rPr lang="en-US" sz="1800" b="1" strike="noStrike" spc="-1" dirty="0">
                <a:solidFill>
                  <a:srgbClr val="008000"/>
                </a:solidFill>
                <a:latin typeface="Tahoma"/>
              </a:rPr>
              <a:t>main</a:t>
            </a:r>
            <a:r>
              <a:rPr lang="en-US" sz="1800" b="0" strike="noStrike" spc="-1" dirty="0">
                <a:solidFill>
                  <a:srgbClr val="000000"/>
                </a:solidFill>
                <a:latin typeface="Tahoma"/>
              </a:rPr>
              <a:t>). </a:t>
            </a:r>
            <a:r>
              <a:rPr lang="en-US" sz="1800" b="0" strike="noStrike" spc="-1" dirty="0" err="1">
                <a:solidFill>
                  <a:srgbClr val="000000"/>
                </a:solidFill>
                <a:latin typeface="Tahoma"/>
              </a:rPr>
              <a:t>Prin</a:t>
            </a:r>
            <a:r>
              <a:rPr lang="en-US" sz="1800" b="0" strike="noStrike" spc="-1" dirty="0">
                <a:solidFill>
                  <a:srgbClr val="000000"/>
                </a:solidFill>
                <a:latin typeface="Tahoma"/>
              </a:rPr>
              <a:t> </a:t>
            </a:r>
            <a:r>
              <a:rPr lang="en-US" sz="1800" b="0" strike="noStrike" spc="-1" dirty="0" err="1">
                <a:solidFill>
                  <a:srgbClr val="000000"/>
                </a:solidFill>
                <a:latin typeface="Tahoma"/>
              </a:rPr>
              <a:t>urmare</a:t>
            </a:r>
            <a:r>
              <a:rPr lang="en-US" sz="1800" b="0" strike="noStrike" spc="-1" dirty="0">
                <a:solidFill>
                  <a:srgbClr val="000000"/>
                </a:solidFill>
                <a:latin typeface="Tahoma"/>
              </a:rPr>
              <a:t>, </a:t>
            </a:r>
            <a:r>
              <a:rPr lang="en-US" sz="1800" b="0" strike="noStrike" spc="-1" dirty="0" err="1">
                <a:solidFill>
                  <a:srgbClr val="000000"/>
                </a:solidFill>
                <a:latin typeface="Tahoma"/>
              </a:rPr>
              <a:t>fişierul</a:t>
            </a:r>
            <a:r>
              <a:rPr lang="en-US" sz="1800" b="0" strike="noStrike" spc="-1" dirty="0">
                <a:solidFill>
                  <a:srgbClr val="000000"/>
                </a:solidFill>
                <a:latin typeface="Tahoma"/>
              </a:rPr>
              <a:t> </a:t>
            </a:r>
            <a:r>
              <a:rPr lang="en-US" sz="1800" b="0" strike="noStrike" spc="-1" dirty="0" err="1">
                <a:solidFill>
                  <a:srgbClr val="000000"/>
                </a:solidFill>
                <a:latin typeface="Tahoma"/>
              </a:rPr>
              <a:t>nostru</a:t>
            </a:r>
            <a:r>
              <a:rPr lang="en-US" sz="1800" b="0" strike="noStrike" spc="-1" dirty="0">
                <a:solidFill>
                  <a:srgbClr val="000000"/>
                </a:solidFill>
                <a:latin typeface="Tahoma"/>
              </a:rPr>
              <a:t> o </a:t>
            </a:r>
            <a:r>
              <a:rPr lang="en-US" sz="1800" b="0" strike="noStrike" spc="-1" dirty="0" err="1">
                <a:solidFill>
                  <a:srgbClr val="000000"/>
                </a:solidFill>
                <a:latin typeface="Tahoma"/>
              </a:rPr>
              <a:t>să</a:t>
            </a:r>
            <a:r>
              <a:rPr lang="en-US" sz="1800" b="0" strike="noStrike" spc="-1" dirty="0">
                <a:solidFill>
                  <a:srgbClr val="000000"/>
                </a:solidFill>
                <a:latin typeface="Tahoma"/>
              </a:rPr>
              <a:t>-l </a:t>
            </a:r>
            <a:r>
              <a:rPr lang="en-US" sz="1800" b="0" strike="noStrike" spc="-1" dirty="0" err="1">
                <a:solidFill>
                  <a:srgbClr val="000000"/>
                </a:solidFill>
                <a:latin typeface="Tahoma"/>
              </a:rPr>
              <a:t>salvăm</a:t>
            </a:r>
            <a:r>
              <a:rPr lang="en-US" sz="1800" b="0" strike="noStrike" spc="-1" dirty="0">
                <a:solidFill>
                  <a:srgbClr val="000000"/>
                </a:solidFill>
                <a:latin typeface="Tahoma"/>
              </a:rPr>
              <a:t> sub </a:t>
            </a:r>
            <a:r>
              <a:rPr lang="en-US" sz="1800" b="0" strike="noStrike" spc="-1" dirty="0" err="1">
                <a:solidFill>
                  <a:srgbClr val="000000"/>
                </a:solidFill>
                <a:latin typeface="Tahoma"/>
              </a:rPr>
              <a:t>numele</a:t>
            </a:r>
            <a:r>
              <a:rPr lang="en-US" sz="1800" b="0" strike="noStrike" spc="-1" dirty="0">
                <a:solidFill>
                  <a:srgbClr val="000000"/>
                </a:solidFill>
                <a:latin typeface="Tahoma"/>
              </a:rPr>
              <a:t>: </a:t>
            </a:r>
            <a:r>
              <a:rPr lang="en-US" sz="1800" b="1" strike="noStrike" spc="-1" dirty="0">
                <a:solidFill>
                  <a:srgbClr val="008000"/>
                </a:solidFill>
                <a:latin typeface="Tahoma"/>
              </a:rPr>
              <a:t>Salut.java</a:t>
            </a:r>
            <a:endParaRPr lang="en-US" sz="1800" b="0" strike="noStrike" spc="-1" dirty="0">
              <a:solidFill>
                <a:srgbClr val="000000"/>
              </a:solidFill>
              <a:latin typeface="Tahoma"/>
            </a:endParaRPr>
          </a:p>
          <a:p>
            <a:pPr marL="990720" indent="-533160">
              <a:lnSpc>
                <a:spcPct val="80000"/>
              </a:lnSpc>
              <a:spcBef>
                <a:spcPts val="360"/>
              </a:spcBef>
            </a:pPr>
            <a:endParaRPr lang="en-US" sz="18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1" strike="noStrike" spc="-1" dirty="0" err="1">
                <a:solidFill>
                  <a:srgbClr val="008000"/>
                </a:solidFill>
                <a:latin typeface="Tahoma"/>
              </a:rPr>
              <a:t>Compilarea</a:t>
            </a:r>
            <a:r>
              <a:rPr lang="en-US" sz="2000" b="1" strike="noStrike" spc="-1" dirty="0">
                <a:solidFill>
                  <a:srgbClr val="008000"/>
                </a:solidFill>
                <a:latin typeface="Tahoma"/>
              </a:rPr>
              <a:t> </a:t>
            </a:r>
            <a:r>
              <a:rPr lang="en-US" sz="2000" b="1" strike="noStrike" spc="-1" dirty="0" err="1">
                <a:solidFill>
                  <a:srgbClr val="008000"/>
                </a:solidFill>
                <a:latin typeface="Tahoma"/>
              </a:rPr>
              <a:t>aplicaţiei</a:t>
            </a:r>
            <a:r>
              <a:rPr lang="en-US" sz="2000" b="0" i="1" strike="noStrike" spc="-1" dirty="0">
                <a:solidFill>
                  <a:srgbClr val="000000"/>
                </a:solidFill>
                <a:latin typeface="Tahoma"/>
              </a:rPr>
              <a:t> </a:t>
            </a:r>
            <a:endParaRPr lang="en-US" sz="2000" b="0" strike="noStrike" spc="-1" dirty="0">
              <a:solidFill>
                <a:srgbClr val="000000"/>
              </a:solidFill>
              <a:latin typeface="Tahoma"/>
            </a:endParaRPr>
          </a:p>
          <a:p>
            <a:pPr marL="990720" lvl="1" indent="-533160">
              <a:lnSpc>
                <a:spcPct val="80000"/>
              </a:lnSpc>
              <a:spcBef>
                <a:spcPts val="360"/>
              </a:spcBef>
              <a:buClr>
                <a:srgbClr val="FFCC00"/>
              </a:buClr>
              <a:buFont typeface="Monotype Sorts" charset="2"/>
              <a:buChar char=""/>
            </a:pPr>
            <a:r>
              <a:rPr lang="en-US" sz="1800" b="0" strike="noStrike" spc="-1" dirty="0">
                <a:solidFill>
                  <a:srgbClr val="000000"/>
                </a:solidFill>
                <a:latin typeface="Tahoma"/>
              </a:rPr>
              <a:t>Se </a:t>
            </a:r>
            <a:r>
              <a:rPr lang="en-US" sz="1800" b="0" strike="noStrike" spc="-1" dirty="0" err="1">
                <a:solidFill>
                  <a:srgbClr val="000000"/>
                </a:solidFill>
                <a:latin typeface="Tahoma"/>
              </a:rPr>
              <a:t>foloseşte</a:t>
            </a:r>
            <a:r>
              <a:rPr lang="en-US" sz="1800" b="0" strike="noStrike" spc="-1" dirty="0">
                <a:solidFill>
                  <a:srgbClr val="000000"/>
                </a:solidFill>
                <a:latin typeface="Tahoma"/>
              </a:rPr>
              <a:t> </a:t>
            </a:r>
            <a:r>
              <a:rPr lang="en-US" sz="1800" b="0" strike="noStrike" spc="-1" dirty="0" err="1">
                <a:solidFill>
                  <a:srgbClr val="000000"/>
                </a:solidFill>
                <a:latin typeface="Tahoma"/>
              </a:rPr>
              <a:t>compilatorul</a:t>
            </a:r>
            <a:r>
              <a:rPr lang="en-US" sz="1800" b="0" strike="noStrike" spc="-1" dirty="0">
                <a:solidFill>
                  <a:srgbClr val="000000"/>
                </a:solidFill>
                <a:latin typeface="Tahoma"/>
              </a:rPr>
              <a:t> Java, </a:t>
            </a:r>
            <a:r>
              <a:rPr lang="en-US" sz="1800" b="1" strike="noStrike" spc="-1" dirty="0" err="1">
                <a:solidFill>
                  <a:srgbClr val="008000"/>
                </a:solidFill>
                <a:latin typeface="Tahoma"/>
              </a:rPr>
              <a:t>javac</a:t>
            </a:r>
            <a:r>
              <a:rPr lang="en-US" sz="1800" b="0" strike="noStrike" spc="-1" dirty="0">
                <a:solidFill>
                  <a:srgbClr val="000000"/>
                </a:solidFill>
                <a:latin typeface="Tahoma"/>
              </a:rPr>
              <a:t>. </a:t>
            </a:r>
            <a:r>
              <a:rPr lang="en-US" sz="1800" b="0" strike="noStrike" spc="-1" dirty="0" err="1">
                <a:solidFill>
                  <a:srgbClr val="000000"/>
                </a:solidFill>
                <a:latin typeface="Tahoma"/>
              </a:rPr>
              <a:t>Apelul</a:t>
            </a:r>
            <a:r>
              <a:rPr lang="en-US" sz="1800" b="0" strike="noStrike" spc="-1" dirty="0">
                <a:solidFill>
                  <a:srgbClr val="000000"/>
                </a:solidFill>
                <a:latin typeface="Tahoma"/>
              </a:rPr>
              <a:t> </a:t>
            </a:r>
            <a:r>
              <a:rPr lang="en-US" sz="1800" b="0" strike="noStrike" spc="-1" dirty="0" err="1">
                <a:solidFill>
                  <a:srgbClr val="000000"/>
                </a:solidFill>
                <a:latin typeface="Tahoma"/>
              </a:rPr>
              <a:t>compilatorului</a:t>
            </a:r>
            <a:r>
              <a:rPr lang="en-US" sz="1800" b="0" strike="noStrike" spc="-1" dirty="0">
                <a:solidFill>
                  <a:srgbClr val="000000"/>
                </a:solidFill>
                <a:latin typeface="Tahoma"/>
              </a:rPr>
              <a:t> se face </a:t>
            </a:r>
            <a:r>
              <a:rPr lang="en-US" sz="1800" b="0" strike="noStrike" spc="-1" dirty="0" err="1">
                <a:solidFill>
                  <a:srgbClr val="000000"/>
                </a:solidFill>
                <a:latin typeface="Tahoma"/>
              </a:rPr>
              <a:t>pentru</a:t>
            </a:r>
            <a:r>
              <a:rPr lang="en-US" sz="1800" b="0" strike="noStrike" spc="-1" dirty="0">
                <a:solidFill>
                  <a:srgbClr val="000000"/>
                </a:solidFill>
                <a:latin typeface="Tahoma"/>
              </a:rPr>
              <a:t> </a:t>
            </a:r>
            <a:r>
              <a:rPr lang="en-US" sz="1800" b="0" strike="noStrike" spc="-1" dirty="0" err="1">
                <a:solidFill>
                  <a:srgbClr val="000000"/>
                </a:solidFill>
                <a:latin typeface="Tahoma"/>
              </a:rPr>
              <a:t>fişierul</a:t>
            </a:r>
            <a:r>
              <a:rPr lang="en-US" sz="1800" b="0" strike="noStrike" spc="-1" dirty="0">
                <a:solidFill>
                  <a:srgbClr val="000000"/>
                </a:solidFill>
                <a:latin typeface="Tahoma"/>
              </a:rPr>
              <a:t> </a:t>
            </a:r>
            <a:r>
              <a:rPr lang="en-US" sz="1800" b="0" strike="noStrike" spc="-1" dirty="0" err="1">
                <a:solidFill>
                  <a:srgbClr val="000000"/>
                </a:solidFill>
                <a:latin typeface="Tahoma"/>
              </a:rPr>
              <a:t>ce</a:t>
            </a:r>
            <a:r>
              <a:rPr lang="en-US" sz="1800" b="0" strike="noStrike" spc="-1" dirty="0">
                <a:solidFill>
                  <a:srgbClr val="000000"/>
                </a:solidFill>
                <a:latin typeface="Tahoma"/>
              </a:rPr>
              <a:t> </a:t>
            </a:r>
            <a:r>
              <a:rPr lang="en-US" sz="1800" b="0" strike="noStrike" spc="-1" dirty="0" err="1">
                <a:solidFill>
                  <a:srgbClr val="000000"/>
                </a:solidFill>
                <a:latin typeface="Tahoma"/>
              </a:rPr>
              <a:t>conţine</a:t>
            </a:r>
            <a:r>
              <a:rPr lang="en-US" sz="1800" b="0" strike="noStrike" spc="-1" dirty="0">
                <a:solidFill>
                  <a:srgbClr val="000000"/>
                </a:solidFill>
                <a:latin typeface="Tahoma"/>
              </a:rPr>
              <a:t> </a:t>
            </a:r>
            <a:r>
              <a:rPr lang="en-US" sz="1800" b="0" strike="noStrike" spc="-1" dirty="0" err="1">
                <a:solidFill>
                  <a:srgbClr val="000000"/>
                </a:solidFill>
                <a:latin typeface="Tahoma"/>
              </a:rPr>
              <a:t>clasa</a:t>
            </a:r>
            <a:r>
              <a:rPr lang="en-US" sz="1800" b="0" strike="noStrike" spc="-1" dirty="0">
                <a:solidFill>
                  <a:srgbClr val="000000"/>
                </a:solidFill>
                <a:latin typeface="Tahoma"/>
              </a:rPr>
              <a:t> </a:t>
            </a:r>
            <a:r>
              <a:rPr lang="en-US" sz="1800" b="0" strike="noStrike" spc="-1" dirty="0" err="1">
                <a:solidFill>
                  <a:srgbClr val="000000"/>
                </a:solidFill>
                <a:latin typeface="Tahoma"/>
              </a:rPr>
              <a:t>principală</a:t>
            </a:r>
            <a:r>
              <a:rPr lang="en-US" sz="1800" b="0" strike="noStrike" spc="-1" dirty="0">
                <a:solidFill>
                  <a:srgbClr val="000000"/>
                </a:solidFill>
                <a:latin typeface="Tahoma"/>
              </a:rPr>
              <a:t> a </a:t>
            </a:r>
            <a:r>
              <a:rPr lang="en-US" sz="1800" b="0" strike="noStrike" spc="-1" dirty="0" err="1">
                <a:solidFill>
                  <a:srgbClr val="000000"/>
                </a:solidFill>
                <a:latin typeface="Tahoma"/>
              </a:rPr>
              <a:t>aplicaţiei</a:t>
            </a:r>
            <a:r>
              <a:rPr lang="en-US" sz="1800" b="0" strike="noStrike" spc="-1" dirty="0">
                <a:solidFill>
                  <a:srgbClr val="000000"/>
                </a:solidFill>
                <a:latin typeface="Tahoma"/>
              </a:rPr>
              <a:t>. </a:t>
            </a:r>
            <a:r>
              <a:rPr lang="en-US" sz="1800" b="0" strike="noStrike" spc="-1" dirty="0" err="1">
                <a:solidFill>
                  <a:srgbClr val="000000"/>
                </a:solidFill>
                <a:latin typeface="Tahoma"/>
              </a:rPr>
              <a:t>Compilatorul</a:t>
            </a:r>
            <a:r>
              <a:rPr lang="en-US" sz="1800" b="0" strike="noStrike" spc="-1" dirty="0">
                <a:solidFill>
                  <a:srgbClr val="000000"/>
                </a:solidFill>
                <a:latin typeface="Tahoma"/>
              </a:rPr>
              <a:t> </a:t>
            </a:r>
            <a:r>
              <a:rPr lang="en-US" sz="1800" b="0" strike="noStrike" spc="-1" dirty="0" err="1">
                <a:solidFill>
                  <a:srgbClr val="000000"/>
                </a:solidFill>
                <a:latin typeface="Tahoma"/>
              </a:rPr>
              <a:t>creează</a:t>
            </a:r>
            <a:r>
              <a:rPr lang="en-US" sz="1800" b="0" strike="noStrike" spc="-1" dirty="0">
                <a:solidFill>
                  <a:srgbClr val="000000"/>
                </a:solidFill>
                <a:latin typeface="Tahoma"/>
              </a:rPr>
              <a:t> </a:t>
            </a:r>
            <a:r>
              <a:rPr lang="en-US" sz="1800" b="0" strike="noStrike" spc="-1" dirty="0" err="1">
                <a:solidFill>
                  <a:srgbClr val="000000"/>
                </a:solidFill>
                <a:latin typeface="Tahoma"/>
              </a:rPr>
              <a:t>câte</a:t>
            </a:r>
            <a:r>
              <a:rPr lang="en-US" sz="1800" b="0" strike="noStrike" spc="-1" dirty="0">
                <a:solidFill>
                  <a:srgbClr val="000000"/>
                </a:solidFill>
                <a:latin typeface="Tahoma"/>
              </a:rPr>
              <a:t> un </a:t>
            </a:r>
            <a:r>
              <a:rPr lang="en-US" sz="1800" b="0" strike="noStrike" spc="-1" dirty="0" err="1">
                <a:solidFill>
                  <a:srgbClr val="000000"/>
                </a:solidFill>
                <a:latin typeface="Tahoma"/>
              </a:rPr>
              <a:t>fişier</a:t>
            </a:r>
            <a:r>
              <a:rPr lang="en-US" sz="1800" b="0" strike="noStrike" spc="-1" dirty="0">
                <a:solidFill>
                  <a:srgbClr val="000000"/>
                </a:solidFill>
                <a:latin typeface="Tahoma"/>
              </a:rPr>
              <a:t> </a:t>
            </a:r>
            <a:r>
              <a:rPr lang="en-US" sz="1800" b="0" strike="noStrike" spc="-1" dirty="0" err="1">
                <a:solidFill>
                  <a:srgbClr val="000000"/>
                </a:solidFill>
                <a:latin typeface="Tahoma"/>
              </a:rPr>
              <a:t>separat</a:t>
            </a:r>
            <a:r>
              <a:rPr lang="en-US" sz="1800" b="0" strike="noStrike" spc="-1" dirty="0">
                <a:solidFill>
                  <a:srgbClr val="000000"/>
                </a:solidFill>
                <a:latin typeface="Tahoma"/>
              </a:rPr>
              <a:t> </a:t>
            </a:r>
            <a:r>
              <a:rPr lang="en-US" sz="1800" b="0" strike="noStrike" spc="-1" dirty="0" err="1">
                <a:solidFill>
                  <a:srgbClr val="000000"/>
                </a:solidFill>
                <a:latin typeface="Tahoma"/>
              </a:rPr>
              <a:t>pentru</a:t>
            </a:r>
            <a:r>
              <a:rPr lang="en-US" sz="1800" b="0" strike="noStrike" spc="-1" dirty="0">
                <a:solidFill>
                  <a:srgbClr val="000000"/>
                </a:solidFill>
                <a:latin typeface="Tahoma"/>
              </a:rPr>
              <a:t> </a:t>
            </a:r>
            <a:r>
              <a:rPr lang="en-US" sz="1800" b="0" strike="noStrike" spc="-1" dirty="0" err="1">
                <a:solidFill>
                  <a:srgbClr val="000000"/>
                </a:solidFill>
                <a:latin typeface="Tahoma"/>
              </a:rPr>
              <a:t>fiecare</a:t>
            </a:r>
            <a:r>
              <a:rPr lang="en-US" sz="1800" b="0" strike="noStrike" spc="-1" dirty="0">
                <a:solidFill>
                  <a:srgbClr val="000000"/>
                </a:solidFill>
                <a:latin typeface="Tahoma"/>
              </a:rPr>
              <a:t> </a:t>
            </a:r>
            <a:r>
              <a:rPr lang="en-US" sz="1800" b="0" strike="noStrike" spc="-1" dirty="0" err="1">
                <a:solidFill>
                  <a:srgbClr val="000000"/>
                </a:solidFill>
                <a:latin typeface="Tahoma"/>
              </a:rPr>
              <a:t>clasă</a:t>
            </a:r>
            <a:r>
              <a:rPr lang="en-US" sz="1800" b="0" strike="noStrike" spc="-1" dirty="0">
                <a:solidFill>
                  <a:srgbClr val="000000"/>
                </a:solidFill>
                <a:latin typeface="Tahoma"/>
              </a:rPr>
              <a:t> a </a:t>
            </a:r>
            <a:r>
              <a:rPr lang="en-US" sz="1800" b="0" strike="noStrike" spc="-1" dirty="0" err="1">
                <a:solidFill>
                  <a:srgbClr val="000000"/>
                </a:solidFill>
                <a:latin typeface="Tahoma"/>
              </a:rPr>
              <a:t>programului</a:t>
            </a:r>
            <a:r>
              <a:rPr lang="en-US" sz="1800" b="0" strike="noStrike" spc="-1" dirty="0">
                <a:solidFill>
                  <a:srgbClr val="000000"/>
                </a:solidFill>
                <a:latin typeface="Tahoma"/>
              </a:rPr>
              <a:t>; </a:t>
            </a:r>
            <a:r>
              <a:rPr lang="en-US" sz="1800" b="0" strike="noStrike" spc="-1" dirty="0" err="1">
                <a:solidFill>
                  <a:srgbClr val="000000"/>
                </a:solidFill>
                <a:latin typeface="Tahoma"/>
              </a:rPr>
              <a:t>acestea</a:t>
            </a:r>
            <a:r>
              <a:rPr lang="en-US" sz="1800" b="0" strike="noStrike" spc="-1" dirty="0">
                <a:solidFill>
                  <a:srgbClr val="000000"/>
                </a:solidFill>
                <a:latin typeface="Tahoma"/>
              </a:rPr>
              <a:t> au </a:t>
            </a:r>
            <a:r>
              <a:rPr lang="en-US" sz="1800" b="0" strike="noStrike" spc="-1" dirty="0" err="1">
                <a:solidFill>
                  <a:srgbClr val="000000"/>
                </a:solidFill>
                <a:latin typeface="Tahoma"/>
              </a:rPr>
              <a:t>extensia</a:t>
            </a:r>
            <a:r>
              <a:rPr lang="en-US" sz="1800" b="0" strike="noStrike" spc="-1" dirty="0">
                <a:solidFill>
                  <a:srgbClr val="000000"/>
                </a:solidFill>
                <a:latin typeface="Tahoma"/>
              </a:rPr>
              <a:t> </a:t>
            </a:r>
            <a:r>
              <a:rPr lang="en-US" sz="1800" b="1" strike="noStrike" spc="-1" dirty="0">
                <a:solidFill>
                  <a:srgbClr val="008000"/>
                </a:solidFill>
                <a:latin typeface="Tahoma"/>
              </a:rPr>
              <a:t>.class</a:t>
            </a:r>
            <a:r>
              <a:rPr lang="en-US" sz="1800" b="0" strike="noStrike" spc="-1" dirty="0">
                <a:solidFill>
                  <a:srgbClr val="000000"/>
                </a:solidFill>
                <a:latin typeface="Tahoma"/>
              </a:rPr>
              <a:t> </a:t>
            </a:r>
            <a:r>
              <a:rPr lang="en-US" sz="1800" b="0" strike="noStrike" spc="-1" dirty="0" err="1">
                <a:solidFill>
                  <a:srgbClr val="000000"/>
                </a:solidFill>
                <a:latin typeface="Tahoma"/>
              </a:rPr>
              <a:t>şi</a:t>
            </a:r>
            <a:r>
              <a:rPr lang="en-US" sz="1800" b="0" strike="noStrike" spc="-1" dirty="0">
                <a:solidFill>
                  <a:srgbClr val="000000"/>
                </a:solidFill>
                <a:latin typeface="Tahoma"/>
              </a:rPr>
              <a:t> </a:t>
            </a:r>
            <a:r>
              <a:rPr lang="en-US" sz="1800" b="0" strike="noStrike" spc="-1" dirty="0" err="1">
                <a:solidFill>
                  <a:srgbClr val="000000"/>
                </a:solidFill>
                <a:latin typeface="Tahoma"/>
              </a:rPr>
              <a:t>sunt</a:t>
            </a:r>
            <a:r>
              <a:rPr lang="en-US" sz="1800" b="0" strike="noStrike" spc="-1" dirty="0">
                <a:solidFill>
                  <a:srgbClr val="000000"/>
                </a:solidFill>
                <a:latin typeface="Tahoma"/>
              </a:rPr>
              <a:t> </a:t>
            </a:r>
            <a:r>
              <a:rPr lang="en-US" sz="1800" b="0" strike="noStrike" spc="-1" dirty="0" err="1">
                <a:solidFill>
                  <a:srgbClr val="000000"/>
                </a:solidFill>
                <a:latin typeface="Tahoma"/>
              </a:rPr>
              <a:t>plasate</a:t>
            </a:r>
            <a:r>
              <a:rPr lang="en-US" sz="1800" b="0" strike="noStrike" spc="-1" dirty="0">
                <a:solidFill>
                  <a:srgbClr val="000000"/>
                </a:solidFill>
                <a:latin typeface="Tahoma"/>
              </a:rPr>
              <a:t> </a:t>
            </a:r>
            <a:r>
              <a:rPr lang="en-US" sz="1800" b="0" strike="noStrike" spc="-1" dirty="0" err="1">
                <a:solidFill>
                  <a:srgbClr val="000000"/>
                </a:solidFill>
                <a:latin typeface="Tahoma"/>
              </a:rPr>
              <a:t>în</a:t>
            </a:r>
            <a:r>
              <a:rPr lang="en-US" sz="1800" b="0" strike="noStrike" spc="-1" dirty="0">
                <a:solidFill>
                  <a:srgbClr val="000000"/>
                </a:solidFill>
                <a:latin typeface="Tahoma"/>
              </a:rPr>
              <a:t> </a:t>
            </a:r>
            <a:r>
              <a:rPr lang="en-US" sz="1800" b="0" strike="noStrike" spc="-1" dirty="0" err="1">
                <a:solidFill>
                  <a:srgbClr val="000000"/>
                </a:solidFill>
                <a:latin typeface="Tahoma"/>
              </a:rPr>
              <a:t>acelaşi</a:t>
            </a:r>
            <a:r>
              <a:rPr lang="en-US" sz="1800" b="0" strike="noStrike" spc="-1" dirty="0">
                <a:solidFill>
                  <a:srgbClr val="000000"/>
                </a:solidFill>
                <a:latin typeface="Tahoma"/>
              </a:rPr>
              <a:t> director cu </a:t>
            </a:r>
            <a:r>
              <a:rPr lang="en-US" sz="1800" b="0" strike="noStrike" spc="-1" dirty="0" err="1">
                <a:solidFill>
                  <a:srgbClr val="000000"/>
                </a:solidFill>
                <a:latin typeface="Tahoma"/>
              </a:rPr>
              <a:t>fişierele</a:t>
            </a:r>
            <a:r>
              <a:rPr lang="en-US" sz="1800" b="0" strike="noStrike" spc="-1" dirty="0">
                <a:solidFill>
                  <a:srgbClr val="000000"/>
                </a:solidFill>
                <a:latin typeface="Tahoma"/>
              </a:rPr>
              <a:t> </a:t>
            </a:r>
            <a:r>
              <a:rPr lang="en-US" sz="1800" b="0" strike="noStrike" spc="-1" dirty="0" err="1">
                <a:solidFill>
                  <a:srgbClr val="000000"/>
                </a:solidFill>
                <a:latin typeface="Tahoma"/>
              </a:rPr>
              <a:t>sursă</a:t>
            </a:r>
            <a:r>
              <a:rPr lang="en-US" sz="1800" b="0" strike="noStrike" spc="-1" dirty="0">
                <a:solidFill>
                  <a:srgbClr val="000000"/>
                </a:solidFill>
                <a:latin typeface="Tahoma"/>
              </a:rPr>
              <a:t>. </a:t>
            </a:r>
            <a:r>
              <a:rPr lang="en-US" sz="1800" b="0" strike="noStrike" spc="-1" dirty="0" err="1">
                <a:solidFill>
                  <a:srgbClr val="000000"/>
                </a:solidFill>
                <a:latin typeface="Tahoma"/>
              </a:rPr>
              <a:t>Rezultatul</a:t>
            </a:r>
            <a:r>
              <a:rPr lang="en-US" sz="1800" b="0" strike="noStrike" spc="-1" dirty="0">
                <a:solidFill>
                  <a:srgbClr val="000000"/>
                </a:solidFill>
                <a:latin typeface="Tahoma"/>
              </a:rPr>
              <a:t> </a:t>
            </a:r>
            <a:r>
              <a:rPr lang="en-US" sz="1800" b="0" strike="noStrike" spc="-1" dirty="0" err="1">
                <a:solidFill>
                  <a:srgbClr val="000000"/>
                </a:solidFill>
                <a:latin typeface="Tahoma"/>
              </a:rPr>
              <a:t>comenzii</a:t>
            </a:r>
            <a:endParaRPr lang="en-US" sz="1800" b="0" strike="noStrike" spc="-1" dirty="0">
              <a:solidFill>
                <a:srgbClr val="000000"/>
              </a:solidFill>
              <a:latin typeface="Tahoma"/>
            </a:endParaRPr>
          </a:p>
          <a:p>
            <a:pPr marL="609480" indent="-609120">
              <a:lnSpc>
                <a:spcPct val="80000"/>
              </a:lnSpc>
              <a:spcBef>
                <a:spcPts val="400"/>
              </a:spcBef>
            </a:pPr>
            <a:r>
              <a:rPr lang="en-US" sz="2000" b="0" strike="noStrike" spc="-1" dirty="0">
                <a:solidFill>
                  <a:srgbClr val="000000"/>
                </a:solidFill>
                <a:latin typeface="Tahoma"/>
              </a:rPr>
              <a:t>				</a:t>
            </a:r>
            <a:r>
              <a:rPr lang="en-US" sz="1400" b="1" strike="noStrike" spc="-1" dirty="0" err="1">
                <a:solidFill>
                  <a:srgbClr val="008000"/>
                </a:solidFill>
                <a:latin typeface="Tahoma"/>
              </a:rPr>
              <a:t>javac</a:t>
            </a:r>
            <a:r>
              <a:rPr lang="en-US" sz="1400" b="1" strike="noStrike" spc="-1" dirty="0">
                <a:solidFill>
                  <a:srgbClr val="008000"/>
                </a:solidFill>
                <a:latin typeface="Tahoma"/>
              </a:rPr>
              <a:t>  Salut.java</a:t>
            </a:r>
            <a:endParaRPr lang="en-US" sz="1400" b="0" strike="noStrike" spc="-1" dirty="0">
              <a:solidFill>
                <a:srgbClr val="000000"/>
              </a:solidFill>
              <a:latin typeface="Tahoma"/>
            </a:endParaRPr>
          </a:p>
          <a:p>
            <a:pPr marL="990720" indent="-533160">
              <a:lnSpc>
                <a:spcPct val="80000"/>
              </a:lnSpc>
              <a:spcBef>
                <a:spcPts val="360"/>
              </a:spcBef>
            </a:pPr>
            <a:r>
              <a:rPr lang="en-US" sz="1800" b="0" strike="noStrike" spc="-1" dirty="0">
                <a:solidFill>
                  <a:srgbClr val="000000"/>
                </a:solidFill>
                <a:latin typeface="Tahoma"/>
              </a:rPr>
              <a:t>	</a:t>
            </a:r>
            <a:r>
              <a:rPr lang="en-US" sz="1800" b="0" strike="noStrike" spc="-1" dirty="0" err="1">
                <a:solidFill>
                  <a:srgbClr val="000000"/>
                </a:solidFill>
                <a:latin typeface="Tahoma"/>
              </a:rPr>
              <a:t>este</a:t>
            </a:r>
            <a:r>
              <a:rPr lang="en-US" sz="1800" b="0" strike="noStrike" spc="-1" dirty="0">
                <a:solidFill>
                  <a:srgbClr val="000000"/>
                </a:solidFill>
                <a:latin typeface="Tahoma"/>
              </a:rPr>
              <a:t> </a:t>
            </a:r>
            <a:r>
              <a:rPr lang="en-US" sz="1800" b="0" strike="noStrike" spc="-1" dirty="0" err="1">
                <a:solidFill>
                  <a:srgbClr val="000000"/>
                </a:solidFill>
                <a:latin typeface="Tahoma"/>
              </a:rPr>
              <a:t>fişierul</a:t>
            </a:r>
            <a:r>
              <a:rPr lang="en-US" sz="1800" b="0" strike="noStrike" spc="-1" dirty="0">
                <a:solidFill>
                  <a:srgbClr val="000000"/>
                </a:solidFill>
                <a:latin typeface="Tahoma"/>
              </a:rPr>
              <a:t> </a:t>
            </a:r>
            <a:r>
              <a:rPr lang="en-US" sz="1600" b="1" strike="noStrike" spc="-1" dirty="0" err="1">
                <a:solidFill>
                  <a:srgbClr val="008000"/>
                </a:solidFill>
                <a:latin typeface="Tahoma"/>
              </a:rPr>
              <a:t>Salut.class</a:t>
            </a:r>
            <a:r>
              <a:rPr lang="en-US" sz="1600" b="1" strike="noStrike" spc="-1" dirty="0">
                <a:solidFill>
                  <a:srgbClr val="000000"/>
                </a:solidFill>
                <a:latin typeface="Tahoma"/>
              </a:rPr>
              <a:t> </a:t>
            </a:r>
            <a:endParaRPr lang="en-US" sz="16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6E81AF64-A6F2-41B2-B9C0-07C9A04DBE82}" type="slidenum">
              <a:rPr lang="en-US" sz="1400" b="0" strike="noStrike" spc="-1">
                <a:solidFill>
                  <a:srgbClr val="5E574E"/>
                </a:solidFill>
                <a:latin typeface="Arial"/>
              </a:rPr>
              <a:t>5</a:t>
            </a:fld>
            <a:endParaRPr lang="en-US" sz="1400" b="0" strike="noStrike" spc="-1">
              <a:latin typeface="Times New Roman"/>
            </a:endParaRPr>
          </a:p>
        </p:txBody>
      </p:sp>
      <p:sp>
        <p:nvSpPr>
          <p:cNvPr id="238" name="TextShape 4"/>
          <p:cNvSpPr txBox="1"/>
          <p:nvPr/>
        </p:nvSpPr>
        <p:spPr>
          <a:xfrm>
            <a:off x="457200" y="380880"/>
            <a:ext cx="8419680" cy="837720"/>
          </a:xfrm>
          <a:prstGeom prst="rect">
            <a:avLst/>
          </a:prstGeom>
          <a:noFill/>
          <a:ln>
            <a:noFill/>
          </a:ln>
        </p:spPr>
        <p:txBody>
          <a:bodyPr anchor="b">
            <a:noAutofit/>
          </a:bodyPr>
          <a:lstStyle/>
          <a:p>
            <a:pPr>
              <a:lnSpc>
                <a:spcPct val="100000"/>
              </a:lnSpc>
            </a:pPr>
            <a:r>
              <a:rPr lang="en-US" sz="4000" b="1" strike="noStrike" spc="-1" dirty="0" smtClean="0">
                <a:solidFill>
                  <a:srgbClr val="000000"/>
                </a:solidFill>
                <a:latin typeface="Tahoma"/>
              </a:rPr>
              <a:t> </a:t>
            </a:r>
            <a:r>
              <a:rPr lang="en-US" sz="4000" b="1" strike="noStrike" spc="-1" dirty="0" err="1" smtClean="0">
                <a:solidFill>
                  <a:srgbClr val="000000"/>
                </a:solidFill>
                <a:latin typeface="Tahoma"/>
              </a:rPr>
              <a:t>Crearea</a:t>
            </a:r>
            <a:r>
              <a:rPr lang="en-US" sz="4000" b="1" strike="noStrike" spc="-1" dirty="0" smtClean="0">
                <a:solidFill>
                  <a:srgbClr val="000000"/>
                </a:solidFill>
                <a:latin typeface="Tahoma"/>
              </a:rPr>
              <a:t> </a:t>
            </a:r>
            <a:r>
              <a:rPr lang="en-US" sz="4000" b="1" strike="noStrike" spc="-1" dirty="0" err="1" smtClean="0">
                <a:solidFill>
                  <a:srgbClr val="000000"/>
                </a:solidFill>
                <a:latin typeface="Tahoma"/>
              </a:rPr>
              <a:t>unei</a:t>
            </a:r>
            <a:r>
              <a:rPr lang="en-US" sz="4000" b="1" strike="noStrike" spc="-1" dirty="0" smtClean="0">
                <a:solidFill>
                  <a:srgbClr val="000000"/>
                </a:solidFill>
                <a:latin typeface="Tahoma"/>
              </a:rPr>
              <a:t> </a:t>
            </a:r>
            <a:r>
              <a:rPr lang="en-US" sz="4000" b="1" strike="noStrike" spc="-1" dirty="0" err="1" smtClean="0">
                <a:solidFill>
                  <a:srgbClr val="000000"/>
                </a:solidFill>
                <a:latin typeface="Tahoma"/>
              </a:rPr>
              <a:t>aplicatii</a:t>
            </a:r>
            <a:r>
              <a:rPr lang="en-US" sz="4000" b="1" strike="noStrike" spc="-1" dirty="0" smtClean="0">
                <a:solidFill>
                  <a:srgbClr val="000000"/>
                </a:solidFill>
                <a:latin typeface="Tahoma"/>
              </a:rPr>
              <a:t> simple </a:t>
            </a:r>
            <a:r>
              <a:rPr lang="en-US" sz="2800" b="1" strike="noStrike" spc="-1" dirty="0" smtClean="0">
                <a:solidFill>
                  <a:srgbClr val="000000"/>
                </a:solidFill>
                <a:latin typeface="Tahoma"/>
              </a:rPr>
              <a:t>(</a:t>
            </a:r>
            <a:r>
              <a:rPr lang="en-US" sz="2800" b="1" strike="noStrike" spc="-1" dirty="0" err="1" smtClean="0">
                <a:solidFill>
                  <a:srgbClr val="000000"/>
                </a:solidFill>
                <a:latin typeface="Tahoma"/>
              </a:rPr>
              <a:t>continuare</a:t>
            </a:r>
            <a:endParaRPr lang="en-US" sz="4000" b="0" strike="noStrike" spc="-1" dirty="0">
              <a:solidFill>
                <a:srgbClr val="000000"/>
              </a:solidFill>
              <a:latin typeface="Arial"/>
            </a:endParaRPr>
          </a:p>
        </p:txBody>
      </p:sp>
      <p:sp>
        <p:nvSpPr>
          <p:cNvPr id="239" name="TextShape 5"/>
          <p:cNvSpPr txBox="1"/>
          <p:nvPr/>
        </p:nvSpPr>
        <p:spPr>
          <a:xfrm>
            <a:off x="495360" y="1143000"/>
            <a:ext cx="8859600" cy="4914720"/>
          </a:xfrm>
          <a:prstGeom prst="rect">
            <a:avLst/>
          </a:prstGeom>
          <a:noFill/>
          <a:ln>
            <a:noFill/>
          </a:ln>
        </p:spPr>
        <p:txBody>
          <a:bodyPr>
            <a:noAutofit/>
          </a:bodyPr>
          <a:lstStyle/>
          <a:p>
            <a:pPr marL="609480" indent="-609120">
              <a:lnSpc>
                <a:spcPct val="100000"/>
              </a:lnSpc>
              <a:spcBef>
                <a:spcPts val="479"/>
              </a:spcBef>
            </a:pPr>
            <a:endParaRPr lang="en-US" sz="1600" b="0" strike="noStrike" spc="-1" dirty="0">
              <a:solidFill>
                <a:srgbClr val="000000"/>
              </a:solidFill>
              <a:latin typeface="Tahoma"/>
            </a:endParaRPr>
          </a:p>
          <a:p>
            <a:pPr marL="609480" indent="-609120">
              <a:lnSpc>
                <a:spcPct val="100000"/>
              </a:lnSpc>
              <a:spcBef>
                <a:spcPts val="641"/>
              </a:spcBef>
              <a:buClr>
                <a:srgbClr val="FFCC00"/>
              </a:buClr>
              <a:buFont typeface="Monotype Sorts" charset="2"/>
              <a:buChar char=""/>
            </a:pPr>
            <a:r>
              <a:rPr lang="en-US" sz="3200" b="1" strike="noStrike" spc="-1" dirty="0" err="1">
                <a:solidFill>
                  <a:srgbClr val="008000"/>
                </a:solidFill>
                <a:latin typeface="Tahoma"/>
              </a:rPr>
              <a:t>Rularea</a:t>
            </a:r>
            <a:r>
              <a:rPr lang="en-US" sz="3200" b="1" strike="noStrike" spc="-1" dirty="0">
                <a:solidFill>
                  <a:srgbClr val="008000"/>
                </a:solidFill>
                <a:latin typeface="Tahoma"/>
              </a:rPr>
              <a:t> </a:t>
            </a:r>
            <a:r>
              <a:rPr lang="en-US" sz="3200" b="1" strike="noStrike" spc="-1" dirty="0" err="1">
                <a:solidFill>
                  <a:srgbClr val="008000"/>
                </a:solidFill>
                <a:latin typeface="Tahoma"/>
              </a:rPr>
              <a:t>aplicaţiei</a:t>
            </a:r>
            <a:r>
              <a:rPr lang="en-US" sz="3200" b="0" i="1" strike="noStrike" spc="-1" dirty="0">
                <a:solidFill>
                  <a:srgbClr val="000000"/>
                </a:solidFill>
                <a:latin typeface="Tahoma"/>
              </a:rPr>
              <a:t> </a:t>
            </a:r>
            <a:endParaRPr lang="en-US" sz="3200" b="0" strike="noStrike" spc="-1" dirty="0">
              <a:solidFill>
                <a:srgbClr val="000000"/>
              </a:solidFill>
              <a:latin typeface="Tahoma"/>
            </a:endParaRPr>
          </a:p>
          <a:p>
            <a:pPr marL="990720" lvl="1" indent="-533160">
              <a:lnSpc>
                <a:spcPct val="100000"/>
              </a:lnSpc>
              <a:spcBef>
                <a:spcPts val="561"/>
              </a:spcBef>
              <a:buClr>
                <a:srgbClr val="FFCC00"/>
              </a:buClr>
              <a:buFont typeface="Monotype Sorts" charset="2"/>
              <a:buChar char=""/>
            </a:pPr>
            <a:r>
              <a:rPr lang="en-US" sz="2800" b="0" strike="noStrike" spc="-1" dirty="0">
                <a:solidFill>
                  <a:srgbClr val="000000"/>
                </a:solidFill>
                <a:latin typeface="Tahoma"/>
              </a:rPr>
              <a:t>Se face cu </a:t>
            </a:r>
            <a:r>
              <a:rPr lang="en-US" sz="2800" b="0" strike="noStrike" spc="-1" dirty="0" err="1">
                <a:solidFill>
                  <a:srgbClr val="000000"/>
                </a:solidFill>
                <a:latin typeface="Tahoma"/>
              </a:rPr>
              <a:t>interpretorul</a:t>
            </a:r>
            <a:r>
              <a:rPr lang="en-US" sz="2800" b="0" strike="noStrike" spc="-1" dirty="0">
                <a:solidFill>
                  <a:srgbClr val="000000"/>
                </a:solidFill>
                <a:latin typeface="Tahoma"/>
              </a:rPr>
              <a:t> </a:t>
            </a:r>
            <a:r>
              <a:rPr lang="en-US" sz="2800" b="1" strike="noStrike" spc="-1" dirty="0">
                <a:solidFill>
                  <a:srgbClr val="008000"/>
                </a:solidFill>
                <a:latin typeface="Tahoma"/>
              </a:rPr>
              <a:t>Java</a:t>
            </a:r>
            <a:r>
              <a:rPr lang="en-US" sz="2800" b="0" strike="noStrike" spc="-1" dirty="0">
                <a:solidFill>
                  <a:srgbClr val="000000"/>
                </a:solidFill>
                <a:latin typeface="Tahoma"/>
              </a:rPr>
              <a:t>, </a:t>
            </a:r>
            <a:r>
              <a:rPr lang="en-US" sz="2800" b="0" strike="noStrike" spc="-1" dirty="0" err="1">
                <a:solidFill>
                  <a:srgbClr val="000000"/>
                </a:solidFill>
                <a:latin typeface="Tahoma"/>
              </a:rPr>
              <a:t>apelat</a:t>
            </a:r>
            <a:r>
              <a:rPr lang="en-US" sz="2800" b="0" strike="noStrike" spc="-1" dirty="0">
                <a:solidFill>
                  <a:srgbClr val="000000"/>
                </a:solidFill>
                <a:latin typeface="Tahoma"/>
              </a:rPr>
              <a:t> </a:t>
            </a:r>
            <a:r>
              <a:rPr lang="en-US" sz="2800" b="0" strike="noStrike" spc="-1" dirty="0" err="1">
                <a:solidFill>
                  <a:srgbClr val="000000"/>
                </a:solidFill>
                <a:latin typeface="Tahoma"/>
              </a:rPr>
              <a:t>pentru</a:t>
            </a:r>
            <a:r>
              <a:rPr lang="en-US" sz="2800" b="0" strike="noStrike" spc="-1" dirty="0">
                <a:solidFill>
                  <a:srgbClr val="000000"/>
                </a:solidFill>
                <a:latin typeface="Tahoma"/>
              </a:rPr>
              <a:t> </a:t>
            </a:r>
            <a:r>
              <a:rPr lang="en-US" sz="2800" b="0" strike="noStrike" spc="-1" dirty="0" err="1">
                <a:solidFill>
                  <a:srgbClr val="000000"/>
                </a:solidFill>
                <a:latin typeface="Tahoma"/>
              </a:rPr>
              <a:t>unitatea</a:t>
            </a:r>
            <a:r>
              <a:rPr lang="en-US" sz="2800" b="0" strike="noStrike" spc="-1" dirty="0">
                <a:solidFill>
                  <a:srgbClr val="000000"/>
                </a:solidFill>
                <a:latin typeface="Tahoma"/>
              </a:rPr>
              <a:t> de </a:t>
            </a:r>
            <a:r>
              <a:rPr lang="en-US" sz="2800" b="0" strike="noStrike" spc="-1" dirty="0" err="1">
                <a:solidFill>
                  <a:srgbClr val="000000"/>
                </a:solidFill>
                <a:latin typeface="Tahoma"/>
              </a:rPr>
              <a:t>compilare</a:t>
            </a:r>
            <a:r>
              <a:rPr lang="en-US" sz="2800" b="0" strike="noStrike" spc="-1" dirty="0">
                <a:solidFill>
                  <a:srgbClr val="000000"/>
                </a:solidFill>
                <a:latin typeface="Tahoma"/>
              </a:rPr>
              <a:t> </a:t>
            </a:r>
            <a:r>
              <a:rPr lang="en-US" sz="2800" b="0" strike="noStrike" spc="-1" dirty="0" err="1">
                <a:solidFill>
                  <a:srgbClr val="000000"/>
                </a:solidFill>
                <a:latin typeface="Tahoma"/>
              </a:rPr>
              <a:t>corespunzătoare</a:t>
            </a:r>
            <a:r>
              <a:rPr lang="en-US" sz="2800" b="0" strike="noStrike" spc="-1" dirty="0">
                <a:solidFill>
                  <a:srgbClr val="000000"/>
                </a:solidFill>
                <a:latin typeface="Tahoma"/>
              </a:rPr>
              <a:t> </a:t>
            </a:r>
            <a:r>
              <a:rPr lang="en-US" sz="2800" b="0" strike="noStrike" spc="-1" dirty="0" err="1">
                <a:solidFill>
                  <a:srgbClr val="000000"/>
                </a:solidFill>
                <a:latin typeface="Tahoma"/>
              </a:rPr>
              <a:t>clasei</a:t>
            </a:r>
            <a:r>
              <a:rPr lang="en-US" sz="2800" b="0" strike="noStrike" spc="-1" dirty="0">
                <a:solidFill>
                  <a:srgbClr val="000000"/>
                </a:solidFill>
                <a:latin typeface="Tahoma"/>
              </a:rPr>
              <a:t> </a:t>
            </a:r>
            <a:r>
              <a:rPr lang="en-US" sz="2800" b="0" strike="noStrike" spc="-1" dirty="0" err="1">
                <a:solidFill>
                  <a:srgbClr val="000000"/>
                </a:solidFill>
                <a:latin typeface="Tahoma"/>
              </a:rPr>
              <a:t>principale</a:t>
            </a:r>
            <a:r>
              <a:rPr lang="en-US" sz="2800" b="0" strike="noStrike" spc="-1" dirty="0">
                <a:solidFill>
                  <a:srgbClr val="000000"/>
                </a:solidFill>
                <a:latin typeface="Tahoma"/>
              </a:rPr>
              <a:t>, </a:t>
            </a:r>
            <a:r>
              <a:rPr lang="en-US" sz="2800" b="0" strike="noStrike" spc="-1" dirty="0" err="1">
                <a:solidFill>
                  <a:srgbClr val="000000"/>
                </a:solidFill>
                <a:latin typeface="Tahoma"/>
              </a:rPr>
              <a:t>fiind</a:t>
            </a:r>
            <a:r>
              <a:rPr lang="en-US" sz="2800" b="0" strike="noStrike" spc="-1" dirty="0">
                <a:solidFill>
                  <a:srgbClr val="000000"/>
                </a:solidFill>
                <a:latin typeface="Tahoma"/>
              </a:rPr>
              <a:t> </a:t>
            </a:r>
            <a:r>
              <a:rPr lang="en-US" sz="2800" b="0" strike="noStrike" spc="-1" dirty="0" err="1">
                <a:solidFill>
                  <a:srgbClr val="000000"/>
                </a:solidFill>
                <a:latin typeface="Tahoma"/>
              </a:rPr>
              <a:t>însă</a:t>
            </a:r>
            <a:r>
              <a:rPr lang="en-US" sz="2800" b="0" strike="noStrike" spc="-1" dirty="0">
                <a:solidFill>
                  <a:srgbClr val="000000"/>
                </a:solidFill>
                <a:latin typeface="Tahoma"/>
              </a:rPr>
              <a:t> </a:t>
            </a:r>
            <a:r>
              <a:rPr lang="en-US" sz="2800" b="0" strike="noStrike" spc="-1" dirty="0" err="1">
                <a:solidFill>
                  <a:srgbClr val="000000"/>
                </a:solidFill>
                <a:latin typeface="Tahoma"/>
              </a:rPr>
              <a:t>omisă</a:t>
            </a:r>
            <a:r>
              <a:rPr lang="en-US" sz="2800" b="0" strike="noStrike" spc="-1" dirty="0">
                <a:solidFill>
                  <a:srgbClr val="000000"/>
                </a:solidFill>
                <a:latin typeface="Tahoma"/>
              </a:rPr>
              <a:t> </a:t>
            </a:r>
            <a:r>
              <a:rPr lang="en-US" sz="2800" b="0" strike="noStrike" spc="-1" dirty="0" err="1">
                <a:solidFill>
                  <a:srgbClr val="000000"/>
                </a:solidFill>
                <a:latin typeface="Tahoma"/>
              </a:rPr>
              <a:t>extensia</a:t>
            </a:r>
            <a:r>
              <a:rPr lang="en-US" sz="2800" b="0" strike="noStrike" spc="-1" dirty="0">
                <a:solidFill>
                  <a:srgbClr val="000000"/>
                </a:solidFill>
                <a:latin typeface="Tahoma"/>
              </a:rPr>
              <a:t> </a:t>
            </a:r>
            <a:r>
              <a:rPr lang="en-US" sz="2800" b="1" strike="noStrike" spc="-1" dirty="0">
                <a:solidFill>
                  <a:srgbClr val="008000"/>
                </a:solidFill>
                <a:latin typeface="Tahoma"/>
              </a:rPr>
              <a:t>.class</a:t>
            </a:r>
            <a:r>
              <a:rPr lang="en-US" sz="2800" b="0" strike="noStrike" spc="-1" dirty="0">
                <a:solidFill>
                  <a:srgbClr val="000000"/>
                </a:solidFill>
                <a:latin typeface="Tahoma"/>
              </a:rPr>
              <a:t> </a:t>
            </a:r>
            <a:r>
              <a:rPr lang="en-US" sz="2800" b="0" strike="noStrike" spc="-1" dirty="0" err="1">
                <a:solidFill>
                  <a:srgbClr val="000000"/>
                </a:solidFill>
                <a:latin typeface="Tahoma"/>
              </a:rPr>
              <a:t>asociată</a:t>
            </a:r>
            <a:r>
              <a:rPr lang="en-US" sz="2800" b="0" strike="noStrike" spc="-1" dirty="0">
                <a:solidFill>
                  <a:srgbClr val="000000"/>
                </a:solidFill>
                <a:latin typeface="Tahoma"/>
              </a:rPr>
              <a:t> </a:t>
            </a:r>
            <a:r>
              <a:rPr lang="en-US" sz="2800" b="0" strike="noStrike" spc="-1" dirty="0" err="1">
                <a:solidFill>
                  <a:srgbClr val="000000"/>
                </a:solidFill>
                <a:latin typeface="Tahoma"/>
              </a:rPr>
              <a:t>acesteia</a:t>
            </a:r>
            <a:r>
              <a:rPr lang="en-US" sz="2800" b="0" strike="noStrike" spc="-1" dirty="0">
                <a:solidFill>
                  <a:srgbClr val="000000"/>
                </a:solidFill>
                <a:latin typeface="Tahoma"/>
              </a:rPr>
              <a:t>. </a:t>
            </a:r>
          </a:p>
          <a:p>
            <a:pPr marL="609480" indent="-609120">
              <a:lnSpc>
                <a:spcPct val="100000"/>
              </a:lnSpc>
              <a:spcBef>
                <a:spcPts val="641"/>
              </a:spcBef>
            </a:pPr>
            <a:r>
              <a:rPr lang="en-US" sz="3200" b="0" strike="noStrike" spc="-1" dirty="0">
                <a:solidFill>
                  <a:srgbClr val="000000"/>
                </a:solidFill>
                <a:latin typeface="Tahoma"/>
              </a:rPr>
              <a:t>			</a:t>
            </a:r>
            <a:r>
              <a:rPr lang="en-US" sz="2400" b="1" strike="noStrike" spc="-1" dirty="0">
                <a:solidFill>
                  <a:srgbClr val="008000"/>
                </a:solidFill>
                <a:latin typeface="Tahoma"/>
              </a:rPr>
              <a:t>java   </a:t>
            </a:r>
            <a:r>
              <a:rPr lang="en-US" sz="2400" b="1" strike="noStrike" spc="-1" dirty="0" err="1">
                <a:solidFill>
                  <a:srgbClr val="008000"/>
                </a:solidFill>
                <a:latin typeface="Tahoma"/>
              </a:rPr>
              <a:t>Salut</a:t>
            </a:r>
            <a:r>
              <a:rPr lang="en-US" sz="3200" b="0" strike="noStrike" spc="-1" dirty="0">
                <a:solidFill>
                  <a:srgbClr val="000000"/>
                </a:solidFill>
                <a:latin typeface="Tahoma"/>
              </a:rPr>
              <a:t> </a:t>
            </a:r>
          </a:p>
          <a:p>
            <a:pPr marL="990720" lvl="1" indent="-533160">
              <a:lnSpc>
                <a:spcPct val="100000"/>
              </a:lnSpc>
              <a:spcBef>
                <a:spcPts val="561"/>
              </a:spcBef>
              <a:buClr>
                <a:srgbClr val="FFCC00"/>
              </a:buClr>
              <a:buFont typeface="Monotype Sorts" charset="2"/>
              <a:buChar char=""/>
            </a:pPr>
            <a:r>
              <a:rPr lang="en-US" sz="2800" b="0" strike="noStrike" spc="-1" dirty="0" err="1">
                <a:solidFill>
                  <a:srgbClr val="000000"/>
                </a:solidFill>
                <a:latin typeface="Tahoma"/>
              </a:rPr>
              <a:t>Rularea</a:t>
            </a:r>
            <a:r>
              <a:rPr lang="en-US" sz="2800" b="0" strike="noStrike" spc="-1" dirty="0">
                <a:solidFill>
                  <a:srgbClr val="000000"/>
                </a:solidFill>
                <a:latin typeface="Tahoma"/>
              </a:rPr>
              <a:t> </a:t>
            </a:r>
            <a:r>
              <a:rPr lang="en-US" sz="2800" b="0" strike="noStrike" spc="-1" dirty="0" err="1">
                <a:solidFill>
                  <a:srgbClr val="000000"/>
                </a:solidFill>
                <a:latin typeface="Tahoma"/>
              </a:rPr>
              <a:t>unei</a:t>
            </a:r>
            <a:r>
              <a:rPr lang="en-US" sz="2800" b="0" strike="noStrike" spc="-1" dirty="0">
                <a:solidFill>
                  <a:srgbClr val="000000"/>
                </a:solidFill>
                <a:latin typeface="Tahoma"/>
              </a:rPr>
              <a:t> </a:t>
            </a:r>
            <a:r>
              <a:rPr lang="en-US" sz="2800" b="0" strike="noStrike" spc="-1" dirty="0" err="1">
                <a:solidFill>
                  <a:srgbClr val="000000"/>
                </a:solidFill>
                <a:latin typeface="Tahoma"/>
              </a:rPr>
              <a:t>aplicaţii</a:t>
            </a:r>
            <a:r>
              <a:rPr lang="en-US" sz="2800" b="0" strike="noStrike" spc="-1" dirty="0">
                <a:solidFill>
                  <a:srgbClr val="000000"/>
                </a:solidFill>
                <a:latin typeface="Tahoma"/>
              </a:rPr>
              <a:t> care nu </a:t>
            </a:r>
            <a:r>
              <a:rPr lang="en-US" sz="2800" b="0" strike="noStrike" spc="-1" dirty="0" err="1">
                <a:solidFill>
                  <a:srgbClr val="000000"/>
                </a:solidFill>
                <a:latin typeface="Tahoma"/>
              </a:rPr>
              <a:t>foloseşte</a:t>
            </a:r>
            <a:r>
              <a:rPr lang="en-US" sz="2800" b="0" strike="noStrike" spc="-1" dirty="0">
                <a:solidFill>
                  <a:srgbClr val="000000"/>
                </a:solidFill>
                <a:latin typeface="Tahoma"/>
              </a:rPr>
              <a:t> </a:t>
            </a:r>
            <a:r>
              <a:rPr lang="en-US" sz="2800" b="0" strike="noStrike" spc="-1" dirty="0" err="1">
                <a:solidFill>
                  <a:srgbClr val="000000"/>
                </a:solidFill>
                <a:latin typeface="Tahoma"/>
              </a:rPr>
              <a:t>interfaţă</a:t>
            </a:r>
            <a:r>
              <a:rPr lang="en-US" sz="2800" b="0" strike="noStrike" spc="-1" dirty="0">
                <a:solidFill>
                  <a:srgbClr val="000000"/>
                </a:solidFill>
                <a:latin typeface="Tahoma"/>
              </a:rPr>
              <a:t> </a:t>
            </a:r>
            <a:r>
              <a:rPr lang="en-US" sz="2800" b="0" strike="noStrike" spc="-1" dirty="0" err="1">
                <a:solidFill>
                  <a:srgbClr val="000000"/>
                </a:solidFill>
                <a:latin typeface="Tahoma"/>
              </a:rPr>
              <a:t>grafică</a:t>
            </a:r>
            <a:r>
              <a:rPr lang="en-US" sz="2800" b="0" strike="noStrike" spc="-1" dirty="0">
                <a:solidFill>
                  <a:srgbClr val="000000"/>
                </a:solidFill>
                <a:latin typeface="Tahoma"/>
              </a:rPr>
              <a:t>, se </a:t>
            </a:r>
            <a:r>
              <a:rPr lang="en-US" sz="2800" b="0" strike="noStrike" spc="-1" dirty="0" err="1">
                <a:solidFill>
                  <a:srgbClr val="000000"/>
                </a:solidFill>
                <a:latin typeface="Tahoma"/>
              </a:rPr>
              <a:t>va</a:t>
            </a:r>
            <a:r>
              <a:rPr lang="en-US" sz="2800" b="0" strike="noStrike" spc="-1" dirty="0">
                <a:solidFill>
                  <a:srgbClr val="000000"/>
                </a:solidFill>
                <a:latin typeface="Tahoma"/>
              </a:rPr>
              <a:t> face </a:t>
            </a:r>
            <a:r>
              <a:rPr lang="en-US" sz="2800" b="0" strike="noStrike" spc="-1" dirty="0" err="1">
                <a:solidFill>
                  <a:srgbClr val="000000"/>
                </a:solidFill>
                <a:latin typeface="Tahoma"/>
              </a:rPr>
              <a:t>într</a:t>
            </a:r>
            <a:r>
              <a:rPr lang="en-US" sz="2800" b="0" strike="noStrike" spc="-1" dirty="0">
                <a:solidFill>
                  <a:srgbClr val="000000"/>
                </a:solidFill>
                <a:latin typeface="Tahoma"/>
              </a:rPr>
              <a:t>-o </a:t>
            </a:r>
            <a:r>
              <a:rPr lang="en-US" sz="2800" b="0" strike="noStrike" spc="-1" dirty="0" err="1">
                <a:solidFill>
                  <a:srgbClr val="000000"/>
                </a:solidFill>
                <a:latin typeface="Tahoma"/>
              </a:rPr>
              <a:t>fereastră</a:t>
            </a:r>
            <a:r>
              <a:rPr lang="en-US" sz="2800" b="0" strike="noStrike" spc="-1" dirty="0">
                <a:solidFill>
                  <a:srgbClr val="000000"/>
                </a:solidFill>
                <a:latin typeface="Tahoma"/>
              </a:rPr>
              <a:t> </a:t>
            </a:r>
            <a:r>
              <a:rPr lang="en-US" sz="2800" b="0" strike="noStrike" spc="-1" dirty="0" err="1">
                <a:solidFill>
                  <a:srgbClr val="000000"/>
                </a:solidFill>
                <a:latin typeface="Tahoma"/>
              </a:rPr>
              <a:t>sistem</a:t>
            </a:r>
            <a:r>
              <a:rPr lang="en-US" sz="2800" b="0" strike="noStrike" spc="-1" dirty="0">
                <a:solidFill>
                  <a:srgbClr val="000000"/>
                </a:solidFill>
                <a:latin typeface="Tahoma"/>
              </a:rPr>
              <a:t>. </a:t>
            </a:r>
          </a:p>
          <a:p>
            <a:pPr>
              <a:lnSpc>
                <a:spcPct val="100000"/>
              </a:lnSpc>
              <a:spcBef>
                <a:spcPts val="561"/>
              </a:spcBef>
            </a:pPr>
            <a:endParaRPr lang="en-US" sz="2800" b="0" strike="noStrike" spc="-1" dirty="0">
              <a:solidFill>
                <a:srgbClr val="000000"/>
              </a:solidFill>
              <a:latin typeface="Tahoma"/>
            </a:endParaRPr>
          </a:p>
          <a:p>
            <a:pPr>
              <a:lnSpc>
                <a:spcPct val="100000"/>
              </a:lnSpc>
              <a:spcBef>
                <a:spcPts val="641"/>
              </a:spcBef>
            </a:pPr>
            <a:endParaRPr lang="en-US" sz="28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B370F1C3-5A8A-4CD0-9A5A-495C1779E956}" type="slidenum">
              <a:rPr lang="en-US" sz="1400" b="0" strike="noStrike" spc="-1">
                <a:solidFill>
                  <a:srgbClr val="5E574E"/>
                </a:solidFill>
                <a:latin typeface="Arial"/>
              </a:rPr>
              <a:t>6</a:t>
            </a:fld>
            <a:endParaRPr lang="en-US" sz="1400" b="0" strike="noStrike" spc="-1">
              <a:latin typeface="Times New Roman"/>
            </a:endParaRPr>
          </a:p>
        </p:txBody>
      </p:sp>
      <p:sp>
        <p:nvSpPr>
          <p:cNvPr id="258" name="TextShape 4"/>
          <p:cNvSpPr txBox="1"/>
          <p:nvPr/>
        </p:nvSpPr>
        <p:spPr>
          <a:xfrm>
            <a:off x="495360" y="1295280"/>
            <a:ext cx="8859600" cy="4762080"/>
          </a:xfrm>
          <a:prstGeom prst="rect">
            <a:avLst/>
          </a:prstGeom>
          <a:noFill/>
          <a:ln>
            <a:noFill/>
          </a:ln>
        </p:spPr>
        <p:txBody>
          <a:bodyPr>
            <a:noAutofit/>
          </a:bodyPr>
          <a:lstStyle/>
          <a:p>
            <a:pPr marL="990720" indent="-533160">
              <a:lnSpc>
                <a:spcPct val="80000"/>
              </a:lnSpc>
              <a:spcBef>
                <a:spcPts val="561"/>
              </a:spcBef>
            </a:pPr>
            <a:r>
              <a:rPr lang="en-US" sz="2800" b="1" strike="noStrike" spc="-1" dirty="0" err="1" smtClean="0">
                <a:solidFill>
                  <a:srgbClr val="000000"/>
                </a:solidFill>
                <a:latin typeface="Tahoma"/>
              </a:rPr>
              <a:t>Structura</a:t>
            </a:r>
            <a:r>
              <a:rPr lang="en-US" sz="2800" b="1" strike="noStrike" spc="-1" dirty="0" smtClean="0">
                <a:solidFill>
                  <a:srgbClr val="000000"/>
                </a:solidFill>
                <a:latin typeface="Tahoma"/>
              </a:rPr>
              <a:t> </a:t>
            </a:r>
            <a:r>
              <a:rPr lang="en-US" sz="2800" b="1" strike="noStrike" spc="-1" dirty="0" err="1">
                <a:solidFill>
                  <a:srgbClr val="000000"/>
                </a:solidFill>
                <a:latin typeface="Tahoma"/>
              </a:rPr>
              <a:t>lexicală</a:t>
            </a:r>
            <a:r>
              <a:rPr lang="en-US" sz="2800" b="1" strike="noStrike" spc="-1" dirty="0">
                <a:solidFill>
                  <a:srgbClr val="000000"/>
                </a:solidFill>
                <a:latin typeface="Tahoma"/>
              </a:rPr>
              <a:t> a </a:t>
            </a:r>
            <a:r>
              <a:rPr lang="en-US" sz="2800" b="1" strike="noStrike" spc="-1" dirty="0" err="1">
                <a:solidFill>
                  <a:srgbClr val="000000"/>
                </a:solidFill>
                <a:latin typeface="Tahoma"/>
              </a:rPr>
              <a:t>limbajului</a:t>
            </a:r>
            <a:endParaRPr lang="en-US" sz="2800" b="0" strike="noStrike" spc="-1" dirty="0">
              <a:solidFill>
                <a:srgbClr val="000000"/>
              </a:solidFill>
              <a:latin typeface="Tahoma"/>
            </a:endParaRPr>
          </a:p>
          <a:p>
            <a:pPr marL="990720" indent="-533160">
              <a:lnSpc>
                <a:spcPct val="80000"/>
              </a:lnSpc>
              <a:spcBef>
                <a:spcPts val="479"/>
              </a:spcBef>
            </a:pPr>
            <a:r>
              <a:rPr lang="en-US" sz="2400" b="1" strike="noStrike" spc="-1" dirty="0" err="1">
                <a:solidFill>
                  <a:srgbClr val="008000"/>
                </a:solidFill>
                <a:latin typeface="Tahoma"/>
              </a:rPr>
              <a:t>Setul</a:t>
            </a:r>
            <a:r>
              <a:rPr lang="en-US" sz="2400" b="1" strike="noStrike" spc="-1" dirty="0">
                <a:solidFill>
                  <a:srgbClr val="008000"/>
                </a:solidFill>
                <a:latin typeface="Tahoma"/>
              </a:rPr>
              <a:t> de </a:t>
            </a:r>
            <a:r>
              <a:rPr lang="en-US" sz="2400" b="1" strike="noStrike" spc="-1" dirty="0" err="1">
                <a:solidFill>
                  <a:srgbClr val="008000"/>
                </a:solidFill>
                <a:latin typeface="Tahoma"/>
              </a:rPr>
              <a:t>caractere</a:t>
            </a:r>
            <a:endParaRPr lang="en-US" sz="2400" b="0" strike="noStrike" spc="-1" dirty="0">
              <a:solidFill>
                <a:srgbClr val="000000"/>
              </a:solidFill>
              <a:latin typeface="Tahoma"/>
            </a:endParaRPr>
          </a:p>
          <a:p>
            <a:pPr marL="609480" indent="-609120">
              <a:lnSpc>
                <a:spcPct val="80000"/>
              </a:lnSpc>
              <a:spcBef>
                <a:spcPts val="479"/>
              </a:spcBef>
              <a:buClr>
                <a:srgbClr val="FFCC00"/>
              </a:buClr>
              <a:buFont typeface="Monotype Sorts" charset="2"/>
              <a:buChar char=""/>
            </a:pPr>
            <a:r>
              <a:rPr lang="en-US" sz="2400" b="0" strike="noStrike" spc="-1" dirty="0" err="1">
                <a:solidFill>
                  <a:srgbClr val="000000"/>
                </a:solidFill>
                <a:latin typeface="Tahoma"/>
              </a:rPr>
              <a:t>Limbajului</a:t>
            </a:r>
            <a:r>
              <a:rPr lang="en-US" sz="2400" b="0" strike="noStrike" spc="-1" dirty="0">
                <a:solidFill>
                  <a:srgbClr val="000000"/>
                </a:solidFill>
                <a:latin typeface="Tahoma"/>
              </a:rPr>
              <a:t> Java </a:t>
            </a:r>
            <a:r>
              <a:rPr lang="en-US" sz="2400" b="0" strike="noStrike" spc="-1" dirty="0" err="1">
                <a:solidFill>
                  <a:srgbClr val="000000"/>
                </a:solidFill>
                <a:latin typeface="Tahoma"/>
              </a:rPr>
              <a:t>foloseşte</a:t>
            </a:r>
            <a:r>
              <a:rPr lang="en-US" sz="2400" b="0" strike="noStrike" spc="-1" dirty="0">
                <a:solidFill>
                  <a:srgbClr val="000000"/>
                </a:solidFill>
                <a:latin typeface="Tahoma"/>
              </a:rPr>
              <a:t> </a:t>
            </a:r>
            <a:r>
              <a:rPr lang="en-US" sz="2400" b="0" strike="noStrike" spc="-1" dirty="0" err="1">
                <a:solidFill>
                  <a:srgbClr val="000000"/>
                </a:solidFill>
                <a:latin typeface="Tahoma"/>
              </a:rPr>
              <a:t>setul</a:t>
            </a:r>
            <a:r>
              <a:rPr lang="en-US" sz="2400" b="0" strike="noStrike" spc="-1" dirty="0">
                <a:solidFill>
                  <a:srgbClr val="000000"/>
                </a:solidFill>
                <a:latin typeface="Tahoma"/>
              </a:rPr>
              <a:t> de </a:t>
            </a:r>
            <a:r>
              <a:rPr lang="en-US" sz="2400" b="0" strike="noStrike" spc="-1" dirty="0" err="1">
                <a:solidFill>
                  <a:srgbClr val="000000"/>
                </a:solidFill>
                <a:latin typeface="Tahoma"/>
              </a:rPr>
              <a:t>caractere</a:t>
            </a:r>
            <a:r>
              <a:rPr lang="en-US" sz="2400" b="0" strike="noStrike" spc="-1" dirty="0">
                <a:solidFill>
                  <a:srgbClr val="000000"/>
                </a:solidFill>
                <a:latin typeface="Tahoma"/>
              </a:rPr>
              <a:t> </a:t>
            </a:r>
            <a:r>
              <a:rPr lang="en-US" sz="2400" b="1" strike="noStrike" spc="-1" dirty="0">
                <a:solidFill>
                  <a:srgbClr val="008000"/>
                </a:solidFill>
                <a:latin typeface="Tahoma"/>
              </a:rPr>
              <a:t>Unicode</a:t>
            </a:r>
            <a:r>
              <a:rPr lang="en-US" sz="2400" b="0" strike="noStrike" spc="-1" dirty="0">
                <a:solidFill>
                  <a:srgbClr val="000000"/>
                </a:solidFill>
                <a:latin typeface="Tahoma"/>
              </a:rPr>
              <a:t>. Este un standard </a:t>
            </a:r>
            <a:r>
              <a:rPr lang="en-US" sz="2400" b="0" strike="noStrike" spc="-1" dirty="0" err="1">
                <a:solidFill>
                  <a:srgbClr val="000000"/>
                </a:solidFill>
                <a:latin typeface="Tahoma"/>
              </a:rPr>
              <a:t>internaţional</a:t>
            </a:r>
            <a:r>
              <a:rPr lang="en-US" sz="2400" b="0" strike="noStrike" spc="-1" dirty="0">
                <a:solidFill>
                  <a:srgbClr val="000000"/>
                </a:solidFill>
                <a:latin typeface="Tahoma"/>
              </a:rPr>
              <a:t> care </a:t>
            </a:r>
            <a:r>
              <a:rPr lang="en-US" sz="2400" b="0" strike="noStrike" spc="-1" dirty="0" err="1">
                <a:solidFill>
                  <a:srgbClr val="000000"/>
                </a:solidFill>
                <a:latin typeface="Tahoma"/>
              </a:rPr>
              <a:t>înglobează</a:t>
            </a:r>
            <a:r>
              <a:rPr lang="en-US" sz="2400" b="0" strike="noStrike" spc="-1" dirty="0">
                <a:solidFill>
                  <a:srgbClr val="000000"/>
                </a:solidFill>
                <a:latin typeface="Tahoma"/>
              </a:rPr>
              <a:t> </a:t>
            </a:r>
            <a:r>
              <a:rPr lang="en-US" sz="2400" b="0" strike="noStrike" spc="-1" dirty="0" err="1">
                <a:solidFill>
                  <a:srgbClr val="000000"/>
                </a:solidFill>
                <a:latin typeface="Tahoma"/>
              </a:rPr>
              <a:t>setul</a:t>
            </a:r>
            <a:r>
              <a:rPr lang="en-US" sz="2400" b="0" strike="noStrike" spc="-1" dirty="0">
                <a:solidFill>
                  <a:srgbClr val="000000"/>
                </a:solidFill>
                <a:latin typeface="Tahoma"/>
              </a:rPr>
              <a:t> de </a:t>
            </a:r>
            <a:r>
              <a:rPr lang="en-US" sz="2400" b="0" strike="noStrike" spc="-1" dirty="0" err="1">
                <a:solidFill>
                  <a:srgbClr val="000000"/>
                </a:solidFill>
                <a:latin typeface="Tahoma"/>
              </a:rPr>
              <a:t>caractere</a:t>
            </a:r>
            <a:r>
              <a:rPr lang="en-US" sz="2400" b="0" strike="noStrike" spc="-1" dirty="0">
                <a:solidFill>
                  <a:srgbClr val="000000"/>
                </a:solidFill>
                <a:latin typeface="Tahoma"/>
              </a:rPr>
              <a:t> </a:t>
            </a:r>
            <a:r>
              <a:rPr lang="en-US" sz="2400" b="1" strike="noStrike" spc="-1" dirty="0">
                <a:solidFill>
                  <a:srgbClr val="008000"/>
                </a:solidFill>
                <a:latin typeface="Tahoma"/>
              </a:rPr>
              <a:t>ASCII</a:t>
            </a:r>
            <a:r>
              <a:rPr lang="en-US" sz="2400" b="0" strike="noStrike" spc="-1" dirty="0">
                <a:solidFill>
                  <a:srgbClr val="000000"/>
                </a:solidFill>
                <a:latin typeface="Tahoma"/>
              </a:rPr>
              <a:t> (</a:t>
            </a:r>
            <a:r>
              <a:rPr lang="en-US" sz="2400" b="0" strike="noStrike" spc="-1" dirty="0" err="1">
                <a:solidFill>
                  <a:srgbClr val="000000"/>
                </a:solidFill>
                <a:latin typeface="Tahoma"/>
              </a:rPr>
              <a:t>permite</a:t>
            </a:r>
            <a:r>
              <a:rPr lang="en-US" sz="2400" b="0" strike="noStrike" spc="-1" dirty="0">
                <a:solidFill>
                  <a:srgbClr val="000000"/>
                </a:solidFill>
                <a:latin typeface="Tahoma"/>
              </a:rPr>
              <a:t> </a:t>
            </a:r>
            <a:r>
              <a:rPr lang="en-US" sz="2400" b="0" strike="noStrike" spc="-1" dirty="0" err="1">
                <a:solidFill>
                  <a:srgbClr val="000000"/>
                </a:solidFill>
                <a:latin typeface="Tahoma"/>
              </a:rPr>
              <a:t>reprezentarea</a:t>
            </a:r>
            <a:r>
              <a:rPr lang="en-US" sz="2400" b="0" strike="noStrike" spc="-1" dirty="0">
                <a:solidFill>
                  <a:srgbClr val="000000"/>
                </a:solidFill>
                <a:latin typeface="Tahoma"/>
              </a:rPr>
              <a:t> a 256 de </a:t>
            </a:r>
            <a:r>
              <a:rPr lang="en-US" sz="2400" b="0" strike="noStrike" spc="-1" dirty="0" err="1">
                <a:solidFill>
                  <a:srgbClr val="000000"/>
                </a:solidFill>
                <a:latin typeface="Tahoma"/>
              </a:rPr>
              <a:t>caractere</a:t>
            </a:r>
            <a:r>
              <a:rPr lang="en-US" sz="2400" b="0" strike="noStrike" spc="-1" dirty="0">
                <a:solidFill>
                  <a:srgbClr val="000000"/>
                </a:solidFill>
                <a:latin typeface="Tahoma"/>
              </a:rPr>
              <a:t>).  </a:t>
            </a:r>
            <a:r>
              <a:rPr lang="en-US" sz="2400" b="0" strike="noStrike" spc="-1" dirty="0" err="1">
                <a:solidFill>
                  <a:srgbClr val="000000"/>
                </a:solidFill>
                <a:latin typeface="Tahoma"/>
              </a:rPr>
              <a:t>Foloseşte</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t>
            </a:r>
            <a:r>
              <a:rPr lang="en-US" sz="2400" b="0" strike="noStrike" spc="-1" dirty="0" err="1">
                <a:solidFill>
                  <a:srgbClr val="000000"/>
                </a:solidFill>
                <a:latin typeface="Tahoma"/>
              </a:rPr>
              <a:t>reprezentarea</a:t>
            </a:r>
            <a:r>
              <a:rPr lang="en-US" sz="2400" b="0" strike="noStrike" spc="-1" dirty="0">
                <a:solidFill>
                  <a:srgbClr val="000000"/>
                </a:solidFill>
                <a:latin typeface="Tahoma"/>
              </a:rPr>
              <a:t> </a:t>
            </a:r>
            <a:r>
              <a:rPr lang="en-US" sz="2400" b="0" strike="noStrike" spc="-1" dirty="0" err="1">
                <a:solidFill>
                  <a:srgbClr val="000000"/>
                </a:solidFill>
                <a:latin typeface="Tahoma"/>
              </a:rPr>
              <a:t>caracterelor</a:t>
            </a:r>
            <a:r>
              <a:rPr lang="en-US" sz="2400" b="0" strike="noStrike" spc="-1" dirty="0">
                <a:solidFill>
                  <a:srgbClr val="000000"/>
                </a:solidFill>
                <a:latin typeface="Tahoma"/>
              </a:rPr>
              <a:t> 2 </a:t>
            </a:r>
            <a:r>
              <a:rPr lang="en-US" sz="2400" b="0" strike="noStrike" spc="-1" dirty="0" err="1">
                <a:solidFill>
                  <a:srgbClr val="000000"/>
                </a:solidFill>
                <a:latin typeface="Tahoma"/>
              </a:rPr>
              <a:t>octeţi</a:t>
            </a:r>
            <a:r>
              <a:rPr lang="en-US" sz="2400" b="0" strike="noStrike" spc="-1" dirty="0">
                <a:solidFill>
                  <a:srgbClr val="000000"/>
                </a:solidFill>
                <a:latin typeface="Tahoma"/>
              </a:rPr>
              <a:t>, </a:t>
            </a:r>
            <a:r>
              <a:rPr lang="en-US" sz="2400" b="0" strike="noStrike" spc="-1" dirty="0" err="1">
                <a:solidFill>
                  <a:srgbClr val="000000"/>
                </a:solidFill>
                <a:latin typeface="Tahoma"/>
              </a:rPr>
              <a:t>ceea</a:t>
            </a:r>
            <a:r>
              <a:rPr lang="en-US" sz="2400" b="0" strike="noStrike" spc="-1" dirty="0">
                <a:solidFill>
                  <a:srgbClr val="000000"/>
                </a:solidFill>
                <a:latin typeface="Tahoma"/>
              </a:rPr>
              <a:t> </a:t>
            </a:r>
            <a:r>
              <a:rPr lang="en-US" sz="2400" b="0" strike="noStrike" spc="-1" dirty="0" err="1">
                <a:solidFill>
                  <a:srgbClr val="000000"/>
                </a:solidFill>
                <a:latin typeface="Tahoma"/>
              </a:rPr>
              <a:t>ce</a:t>
            </a:r>
            <a:r>
              <a:rPr lang="en-US" sz="2400" b="0" strike="noStrike" spc="-1" dirty="0">
                <a:solidFill>
                  <a:srgbClr val="000000"/>
                </a:solidFill>
                <a:latin typeface="Tahoma"/>
              </a:rPr>
              <a:t> </a:t>
            </a:r>
            <a:r>
              <a:rPr lang="en-US" sz="2400" b="0" strike="noStrike" spc="-1" dirty="0" err="1">
                <a:solidFill>
                  <a:srgbClr val="000000"/>
                </a:solidFill>
                <a:latin typeface="Tahoma"/>
              </a:rPr>
              <a:t>înseamnă</a:t>
            </a:r>
            <a:r>
              <a:rPr lang="en-US" sz="2400" b="0" strike="noStrike" spc="-1" dirty="0">
                <a:solidFill>
                  <a:srgbClr val="000000"/>
                </a:solidFill>
                <a:latin typeface="Tahoma"/>
              </a:rPr>
              <a:t> </a:t>
            </a:r>
            <a:r>
              <a:rPr lang="en-US" sz="2400" b="0" strike="noStrike" spc="-1" dirty="0" err="1">
                <a:solidFill>
                  <a:srgbClr val="000000"/>
                </a:solidFill>
                <a:latin typeface="Tahoma"/>
              </a:rPr>
              <a:t>că</a:t>
            </a:r>
            <a:r>
              <a:rPr lang="en-US" sz="2400" b="0" strike="noStrike" spc="-1" dirty="0">
                <a:solidFill>
                  <a:srgbClr val="000000"/>
                </a:solidFill>
                <a:latin typeface="Tahoma"/>
              </a:rPr>
              <a:t> se pot </a:t>
            </a:r>
            <a:r>
              <a:rPr lang="en-US" sz="2400" b="0" strike="noStrike" spc="-1" dirty="0" err="1">
                <a:solidFill>
                  <a:srgbClr val="000000"/>
                </a:solidFill>
                <a:latin typeface="Tahoma"/>
              </a:rPr>
              <a:t>reprezenta</a:t>
            </a:r>
            <a:r>
              <a:rPr lang="en-US" sz="2400" b="0" strike="noStrike" spc="-1" dirty="0">
                <a:solidFill>
                  <a:srgbClr val="000000"/>
                </a:solidFill>
                <a:latin typeface="Tahoma"/>
              </a:rPr>
              <a:t> 65536 de </a:t>
            </a:r>
            <a:r>
              <a:rPr lang="en-US" sz="2400" b="0" strike="noStrike" spc="-1" dirty="0" err="1">
                <a:solidFill>
                  <a:srgbClr val="000000"/>
                </a:solidFill>
                <a:latin typeface="Tahoma"/>
              </a:rPr>
              <a:t>semne</a:t>
            </a:r>
            <a:r>
              <a:rPr lang="en-US" sz="2400" b="0" strike="noStrike" spc="-1" dirty="0">
                <a:solidFill>
                  <a:srgbClr val="000000"/>
                </a:solidFill>
                <a:latin typeface="Tahoma"/>
              </a:rPr>
              <a:t>. </a:t>
            </a:r>
            <a:r>
              <a:rPr lang="en-US" sz="2400" b="0" strike="noStrike" spc="-1" dirty="0" err="1">
                <a:solidFill>
                  <a:srgbClr val="000000"/>
                </a:solidFill>
                <a:latin typeface="Tahoma"/>
              </a:rPr>
              <a:t>Primele</a:t>
            </a:r>
            <a:r>
              <a:rPr lang="en-US" sz="2400" b="0" strike="noStrike" spc="-1" dirty="0">
                <a:solidFill>
                  <a:srgbClr val="000000"/>
                </a:solidFill>
                <a:latin typeface="Tahoma"/>
              </a:rPr>
              <a:t> 256 </a:t>
            </a:r>
            <a:r>
              <a:rPr lang="en-US" sz="2400" b="0" strike="noStrike" spc="-1" dirty="0" err="1">
                <a:solidFill>
                  <a:srgbClr val="000000"/>
                </a:solidFill>
                <a:latin typeface="Tahoma"/>
              </a:rPr>
              <a:t>caractere</a:t>
            </a:r>
            <a:r>
              <a:rPr lang="en-US" sz="2400" b="0" strike="noStrike" spc="-1" dirty="0">
                <a:solidFill>
                  <a:srgbClr val="000000"/>
                </a:solidFill>
                <a:latin typeface="Tahoma"/>
              </a:rPr>
              <a:t> </a:t>
            </a:r>
            <a:r>
              <a:rPr lang="en-US" sz="2400" b="1" strike="noStrike" spc="-1" dirty="0">
                <a:solidFill>
                  <a:srgbClr val="008000"/>
                </a:solidFill>
                <a:latin typeface="Tahoma"/>
              </a:rPr>
              <a:t>Unicode</a:t>
            </a:r>
            <a:r>
              <a:rPr lang="en-US" sz="2400" b="0" strike="noStrike" spc="-1" dirty="0">
                <a:solidFill>
                  <a:srgbClr val="000000"/>
                </a:solidFill>
                <a:latin typeface="Tahoma"/>
              </a:rPr>
              <a:t> </a:t>
            </a:r>
            <a:r>
              <a:rPr lang="en-US" sz="2400" b="0" strike="noStrike" spc="-1" dirty="0" err="1">
                <a:solidFill>
                  <a:srgbClr val="000000"/>
                </a:solidFill>
                <a:latin typeface="Tahoma"/>
              </a:rPr>
              <a:t>corespund</a:t>
            </a:r>
            <a:r>
              <a:rPr lang="en-US" sz="2400" b="0" strike="noStrike" spc="-1" dirty="0">
                <a:solidFill>
                  <a:srgbClr val="000000"/>
                </a:solidFill>
                <a:latin typeface="Tahoma"/>
              </a:rPr>
              <a:t> </a:t>
            </a:r>
            <a:r>
              <a:rPr lang="en-US" sz="2400" b="0" strike="noStrike" spc="-1" dirty="0" err="1">
                <a:solidFill>
                  <a:srgbClr val="000000"/>
                </a:solidFill>
                <a:latin typeface="Tahoma"/>
              </a:rPr>
              <a:t>celor</a:t>
            </a:r>
            <a:r>
              <a:rPr lang="en-US" sz="2400" b="0" strike="noStrike" spc="-1" dirty="0">
                <a:solidFill>
                  <a:srgbClr val="000000"/>
                </a:solidFill>
                <a:latin typeface="Tahoma"/>
              </a:rPr>
              <a:t> din </a:t>
            </a:r>
            <a:r>
              <a:rPr lang="en-US" sz="2400" b="1" strike="noStrike" spc="-1" dirty="0">
                <a:solidFill>
                  <a:srgbClr val="008000"/>
                </a:solidFill>
                <a:latin typeface="Tahoma"/>
              </a:rPr>
              <a:t>ASCII</a:t>
            </a:r>
            <a:r>
              <a:rPr lang="en-US" sz="2400" b="0" strike="noStrike" spc="-1" dirty="0">
                <a:solidFill>
                  <a:srgbClr val="000000"/>
                </a:solidFill>
                <a:latin typeface="Tahoma"/>
              </a:rPr>
              <a:t>. </a:t>
            </a:r>
            <a:r>
              <a:rPr lang="en-US" sz="2400" b="0" strike="noStrike" spc="-1" dirty="0" err="1">
                <a:solidFill>
                  <a:srgbClr val="000000"/>
                </a:solidFill>
                <a:latin typeface="Tahoma"/>
              </a:rPr>
              <a:t>Referirea</a:t>
            </a:r>
            <a:r>
              <a:rPr lang="en-US" sz="2400" b="0" strike="noStrike" spc="-1" dirty="0">
                <a:solidFill>
                  <a:srgbClr val="000000"/>
                </a:solidFill>
                <a:latin typeface="Tahoma"/>
              </a:rPr>
              <a:t> la un </a:t>
            </a:r>
            <a:r>
              <a:rPr lang="en-US" sz="2400" b="0" strike="noStrike" spc="-1" dirty="0" err="1">
                <a:solidFill>
                  <a:srgbClr val="000000"/>
                </a:solidFill>
                <a:latin typeface="Tahoma"/>
              </a:rPr>
              <a:t>caracter</a:t>
            </a:r>
            <a:r>
              <a:rPr lang="en-US" sz="2400" b="0" strike="noStrike" spc="-1" dirty="0">
                <a:solidFill>
                  <a:srgbClr val="000000"/>
                </a:solidFill>
                <a:latin typeface="Tahoma"/>
              </a:rPr>
              <a:t> se face </a:t>
            </a:r>
            <a:r>
              <a:rPr lang="en-US" sz="2400" b="0" strike="noStrike" spc="-1" dirty="0" err="1">
                <a:solidFill>
                  <a:srgbClr val="000000"/>
                </a:solidFill>
                <a:latin typeface="Tahoma"/>
              </a:rPr>
              <a:t>prin</a:t>
            </a:r>
            <a:r>
              <a:rPr lang="en-US" sz="2400" b="0" strike="noStrike" spc="-1" dirty="0">
                <a:solidFill>
                  <a:srgbClr val="000000"/>
                </a:solidFill>
                <a:latin typeface="Tahoma"/>
              </a:rPr>
              <a:t> </a:t>
            </a:r>
            <a:r>
              <a:rPr lang="en-US" sz="2400" b="1" strike="noStrike" spc="-1" dirty="0">
                <a:solidFill>
                  <a:srgbClr val="008000"/>
                </a:solidFill>
                <a:latin typeface="Tahoma"/>
              </a:rPr>
              <a:t>\</a:t>
            </a:r>
            <a:r>
              <a:rPr lang="en-US" sz="2400" b="1" strike="noStrike" spc="-1" dirty="0" err="1">
                <a:solidFill>
                  <a:srgbClr val="008000"/>
                </a:solidFill>
                <a:latin typeface="Tahoma"/>
              </a:rPr>
              <a:t>uxxxx</a:t>
            </a:r>
            <a:r>
              <a:rPr lang="en-US" sz="2400" b="0" strike="noStrike" spc="-1" dirty="0">
                <a:solidFill>
                  <a:srgbClr val="000000"/>
                </a:solidFill>
                <a:latin typeface="Tahoma"/>
              </a:rPr>
              <a:t>, </a:t>
            </a:r>
            <a:r>
              <a:rPr lang="en-US" sz="2400" b="0" strike="noStrike" spc="-1" dirty="0" err="1">
                <a:solidFill>
                  <a:srgbClr val="000000"/>
                </a:solidFill>
                <a:latin typeface="Tahoma"/>
              </a:rPr>
              <a:t>unde</a:t>
            </a:r>
            <a:r>
              <a:rPr lang="en-US" sz="2400" b="0" strike="noStrike" spc="-1" dirty="0">
                <a:solidFill>
                  <a:srgbClr val="000000"/>
                </a:solidFill>
                <a:latin typeface="Tahoma"/>
              </a:rPr>
              <a:t> </a:t>
            </a:r>
            <a:r>
              <a:rPr lang="en-US" sz="2400" b="1" strike="noStrike" spc="-1" dirty="0" err="1">
                <a:solidFill>
                  <a:srgbClr val="008000"/>
                </a:solidFill>
                <a:latin typeface="Tahoma"/>
              </a:rPr>
              <a:t>xxxx</a:t>
            </a:r>
            <a:r>
              <a:rPr lang="en-US" sz="2400" b="0" strike="noStrike" spc="-1" dirty="0">
                <a:solidFill>
                  <a:srgbClr val="000000"/>
                </a:solidFill>
                <a:latin typeface="Tahoma"/>
              </a:rPr>
              <a:t> </a:t>
            </a:r>
            <a:r>
              <a:rPr lang="en-US" sz="2400" b="0" strike="noStrike" spc="-1" dirty="0" err="1">
                <a:solidFill>
                  <a:srgbClr val="000000"/>
                </a:solidFill>
                <a:latin typeface="Tahoma"/>
              </a:rPr>
              <a:t>reprezintă</a:t>
            </a:r>
            <a:r>
              <a:rPr lang="en-US" sz="2400" b="0" strike="noStrike" spc="-1" dirty="0">
                <a:solidFill>
                  <a:srgbClr val="000000"/>
                </a:solidFill>
                <a:latin typeface="Tahoma"/>
              </a:rPr>
              <a:t> </a:t>
            </a:r>
            <a:r>
              <a:rPr lang="en-US" sz="2400" b="0" strike="noStrike" spc="-1" dirty="0" err="1">
                <a:solidFill>
                  <a:srgbClr val="000000"/>
                </a:solidFill>
                <a:latin typeface="Tahoma"/>
              </a:rPr>
              <a:t>codul</a:t>
            </a:r>
            <a:r>
              <a:rPr lang="en-US" sz="2400" b="0" strike="noStrike" spc="-1" dirty="0">
                <a:solidFill>
                  <a:srgbClr val="000000"/>
                </a:solidFill>
                <a:latin typeface="Tahoma"/>
              </a:rPr>
              <a:t> </a:t>
            </a:r>
            <a:r>
              <a:rPr lang="en-US" sz="2400" b="0" strike="noStrike" spc="-1" dirty="0" err="1">
                <a:solidFill>
                  <a:srgbClr val="000000"/>
                </a:solidFill>
                <a:latin typeface="Tahoma"/>
              </a:rPr>
              <a:t>caracterului</a:t>
            </a:r>
            <a:r>
              <a:rPr lang="en-US" sz="2400" b="0" strike="noStrike" spc="-1" dirty="0">
                <a:solidFill>
                  <a:srgbClr val="000000"/>
                </a:solidFill>
                <a:latin typeface="Tahoma"/>
              </a:rPr>
              <a:t>. </a:t>
            </a:r>
          </a:p>
          <a:p>
            <a:pPr marL="609480" indent="-609120">
              <a:lnSpc>
                <a:spcPct val="80000"/>
              </a:lnSpc>
              <a:spcBef>
                <a:spcPts val="479"/>
              </a:spcBef>
              <a:buClr>
                <a:srgbClr val="FFCC00"/>
              </a:buClr>
              <a:buFont typeface="Monotype Sorts" charset="2"/>
              <a:buChar char=""/>
            </a:pPr>
            <a:r>
              <a:rPr lang="en-US" sz="2400" b="1" strike="noStrike" spc="-1" dirty="0" err="1">
                <a:solidFill>
                  <a:srgbClr val="008000"/>
                </a:solidFill>
                <a:latin typeface="Tahoma"/>
              </a:rPr>
              <a:t>Exemple</a:t>
            </a:r>
            <a:r>
              <a:rPr lang="en-US" sz="2400" b="0" i="1" strike="noStrike" spc="-1" dirty="0">
                <a:solidFill>
                  <a:srgbClr val="000000"/>
                </a:solidFill>
                <a:latin typeface="Tahoma"/>
              </a:rPr>
              <a:t>: </a:t>
            </a:r>
            <a:endParaRPr lang="en-US" sz="2400" b="0" strike="noStrike" spc="-1" dirty="0">
              <a:solidFill>
                <a:srgbClr val="000000"/>
              </a:solidFill>
              <a:latin typeface="Tahoma"/>
            </a:endParaRPr>
          </a:p>
          <a:p>
            <a:pPr marL="990720" lvl="1" indent="-533160">
              <a:lnSpc>
                <a:spcPct val="80000"/>
              </a:lnSpc>
              <a:spcBef>
                <a:spcPts val="400"/>
              </a:spcBef>
              <a:buClr>
                <a:srgbClr val="FFCC00"/>
              </a:buClr>
              <a:buFont typeface="Monotype Sorts" charset="2"/>
              <a:buChar char=""/>
            </a:pPr>
            <a:r>
              <a:rPr lang="en-US" sz="2000" b="0" strike="noStrike" spc="-1" dirty="0">
                <a:solidFill>
                  <a:srgbClr val="000000"/>
                </a:solidFill>
                <a:latin typeface="Tahoma"/>
              </a:rPr>
              <a:t>\u0030 - \u0039 : </a:t>
            </a:r>
            <a:r>
              <a:rPr lang="en-US" sz="2000" b="0" strike="noStrike" spc="-1" dirty="0" err="1">
                <a:solidFill>
                  <a:srgbClr val="000000"/>
                </a:solidFill>
                <a:latin typeface="Tahoma"/>
              </a:rPr>
              <a:t>cifre</a:t>
            </a:r>
            <a:r>
              <a:rPr lang="en-US" sz="2000" b="0" strike="noStrike" spc="-1" dirty="0">
                <a:solidFill>
                  <a:srgbClr val="000000"/>
                </a:solidFill>
                <a:latin typeface="Tahoma"/>
              </a:rPr>
              <a:t> ISO-Latin 0 - 9 </a:t>
            </a:r>
          </a:p>
          <a:p>
            <a:pPr marL="990720" lvl="1" indent="-533160">
              <a:lnSpc>
                <a:spcPct val="80000"/>
              </a:lnSpc>
              <a:spcBef>
                <a:spcPts val="400"/>
              </a:spcBef>
              <a:buClr>
                <a:srgbClr val="FFCC00"/>
              </a:buClr>
              <a:buFont typeface="Monotype Sorts" charset="2"/>
              <a:buChar char=""/>
            </a:pPr>
            <a:r>
              <a:rPr lang="en-US" sz="2000" b="0" strike="noStrike" spc="-1" dirty="0">
                <a:solidFill>
                  <a:srgbClr val="000000"/>
                </a:solidFill>
                <a:latin typeface="Tahoma"/>
              </a:rPr>
              <a:t>\u0660 - \u0669 : </a:t>
            </a:r>
            <a:r>
              <a:rPr lang="en-US" sz="2000" b="0" strike="noStrike" spc="-1" dirty="0" err="1">
                <a:solidFill>
                  <a:srgbClr val="000000"/>
                </a:solidFill>
                <a:latin typeface="Tahoma"/>
              </a:rPr>
              <a:t>cifre</a:t>
            </a:r>
            <a:r>
              <a:rPr lang="en-US" sz="2000" b="0" strike="noStrike" spc="-1" dirty="0">
                <a:solidFill>
                  <a:srgbClr val="000000"/>
                </a:solidFill>
                <a:latin typeface="Tahoma"/>
              </a:rPr>
              <a:t> </a:t>
            </a:r>
            <a:r>
              <a:rPr lang="en-US" sz="2000" b="0" strike="noStrike" spc="-1" dirty="0" err="1">
                <a:solidFill>
                  <a:srgbClr val="000000"/>
                </a:solidFill>
                <a:latin typeface="Tahoma"/>
              </a:rPr>
              <a:t>arabic-indic</a:t>
            </a:r>
            <a:r>
              <a:rPr lang="en-US" sz="2000" b="0" strike="noStrike" spc="-1" dirty="0">
                <a:solidFill>
                  <a:srgbClr val="000000"/>
                </a:solidFill>
                <a:latin typeface="Tahoma"/>
              </a:rPr>
              <a:t> 0 - 9 </a:t>
            </a:r>
          </a:p>
          <a:p>
            <a:pPr marL="990720" lvl="1" indent="-533160">
              <a:lnSpc>
                <a:spcPct val="80000"/>
              </a:lnSpc>
              <a:spcBef>
                <a:spcPts val="400"/>
              </a:spcBef>
              <a:buClr>
                <a:srgbClr val="FFCC00"/>
              </a:buClr>
              <a:buFont typeface="Monotype Sorts" charset="2"/>
              <a:buChar char=""/>
            </a:pPr>
            <a:r>
              <a:rPr lang="en-US" sz="2000" b="0" strike="noStrike" spc="-1" dirty="0">
                <a:solidFill>
                  <a:srgbClr val="000000"/>
                </a:solidFill>
                <a:latin typeface="Tahoma"/>
              </a:rPr>
              <a:t>\u4e00 - \u9fff   : </a:t>
            </a:r>
            <a:r>
              <a:rPr lang="en-US" sz="2000" b="0" strike="noStrike" spc="-1" dirty="0" err="1">
                <a:solidFill>
                  <a:srgbClr val="000000"/>
                </a:solidFill>
                <a:latin typeface="Tahoma"/>
              </a:rPr>
              <a:t>litere</a:t>
            </a:r>
            <a:r>
              <a:rPr lang="en-US" sz="2000" b="0" strike="noStrike" spc="-1" dirty="0">
                <a:solidFill>
                  <a:srgbClr val="000000"/>
                </a:solidFill>
                <a:latin typeface="Tahoma"/>
              </a:rPr>
              <a:t> din </a:t>
            </a:r>
            <a:r>
              <a:rPr lang="en-US" sz="2000" b="0" strike="noStrike" spc="-1" dirty="0" err="1">
                <a:solidFill>
                  <a:srgbClr val="000000"/>
                </a:solidFill>
                <a:latin typeface="Tahoma"/>
              </a:rPr>
              <a:t>alfabetul</a:t>
            </a:r>
            <a:r>
              <a:rPr lang="en-US" sz="2000" b="0" strike="noStrike" spc="-1" dirty="0">
                <a:solidFill>
                  <a:srgbClr val="000000"/>
                </a:solidFill>
                <a:latin typeface="Tahoma"/>
              </a:rPr>
              <a:t> Han (</a:t>
            </a:r>
            <a:r>
              <a:rPr lang="en-US" sz="1800" b="0" strike="noStrike" spc="-1" dirty="0" err="1">
                <a:solidFill>
                  <a:srgbClr val="000000"/>
                </a:solidFill>
                <a:latin typeface="Tahoma"/>
              </a:rPr>
              <a:t>Chinez</a:t>
            </a:r>
            <a:r>
              <a:rPr lang="en-US" sz="1800" b="0" strike="noStrike" spc="-1" dirty="0">
                <a:solidFill>
                  <a:srgbClr val="000000"/>
                </a:solidFill>
                <a:latin typeface="Tahoma"/>
              </a:rPr>
              <a:t>, </a:t>
            </a:r>
            <a:r>
              <a:rPr lang="en-US" sz="1800" b="0" strike="noStrike" spc="-1" dirty="0" err="1">
                <a:solidFill>
                  <a:srgbClr val="000000"/>
                </a:solidFill>
                <a:latin typeface="Tahoma"/>
              </a:rPr>
              <a:t>Japonez</a:t>
            </a:r>
            <a:r>
              <a:rPr lang="en-US" sz="1800" b="0" strike="noStrike" spc="-1" dirty="0">
                <a:solidFill>
                  <a:srgbClr val="000000"/>
                </a:solidFill>
                <a:latin typeface="Tahoma"/>
              </a:rPr>
              <a:t>, </a:t>
            </a:r>
            <a:r>
              <a:rPr lang="en-US" sz="1800" b="0" strike="noStrike" spc="-1" dirty="0" err="1">
                <a:solidFill>
                  <a:srgbClr val="000000"/>
                </a:solidFill>
                <a:latin typeface="Tahoma"/>
              </a:rPr>
              <a:t>Coreean</a:t>
            </a:r>
            <a:r>
              <a:rPr lang="en-US" sz="2000" b="0" strike="noStrike" spc="-1" dirty="0">
                <a:solidFill>
                  <a:srgbClr val="000000"/>
                </a:solidFill>
                <a:latin typeface="Tahoma"/>
              </a:rPr>
              <a:t>)</a:t>
            </a:r>
            <a:r>
              <a:rPr lang="en-US" sz="1800" b="0" strike="noStrike" spc="-1" dirty="0">
                <a:solidFill>
                  <a:srgbClr val="000000"/>
                </a:solidFill>
                <a:latin typeface="Tahoma"/>
              </a:rPr>
              <a:t> </a:t>
            </a:r>
          </a:p>
        </p:txBody>
      </p:sp>
      <p:sp>
        <p:nvSpPr>
          <p:cNvPr id="259" name="TextShape 5"/>
          <p:cNvSpPr txBox="1"/>
          <p:nvPr/>
        </p:nvSpPr>
        <p:spPr>
          <a:xfrm>
            <a:off x="457200" y="30492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4E00F939-E342-4F61-BE5F-570D28CD35AA}" type="slidenum">
              <a:rPr lang="en-US" sz="1400" b="0" strike="noStrike" spc="-1">
                <a:solidFill>
                  <a:srgbClr val="5E574E"/>
                </a:solidFill>
                <a:latin typeface="Arial"/>
              </a:rPr>
              <a:t>7</a:t>
            </a:fld>
            <a:endParaRPr lang="en-US" sz="1400" b="0" strike="noStrike" spc="-1">
              <a:latin typeface="Times New Roman"/>
            </a:endParaRPr>
          </a:p>
        </p:txBody>
      </p:sp>
      <p:sp>
        <p:nvSpPr>
          <p:cNvPr id="263" name="TextShape 4"/>
          <p:cNvSpPr txBox="1"/>
          <p:nvPr/>
        </p:nvSpPr>
        <p:spPr>
          <a:xfrm>
            <a:off x="439560" y="228600"/>
            <a:ext cx="8419680" cy="685440"/>
          </a:xfrm>
          <a:prstGeom prst="rect">
            <a:avLst/>
          </a:prstGeom>
          <a:noFill/>
          <a:ln>
            <a:noFill/>
          </a:ln>
        </p:spPr>
        <p:txBody>
          <a:bodyPr anchor="b">
            <a:noAutofit/>
          </a:bodyPr>
          <a:lstStyle/>
          <a:p>
            <a:pPr>
              <a:lnSpc>
                <a:spcPct val="100000"/>
              </a:lnSpc>
            </a:pPr>
            <a:endParaRPr lang="en-US" sz="3600" b="0" strike="noStrike" spc="-1" dirty="0">
              <a:solidFill>
                <a:srgbClr val="000000"/>
              </a:solidFill>
              <a:latin typeface="Arial"/>
            </a:endParaRPr>
          </a:p>
        </p:txBody>
      </p:sp>
      <p:sp>
        <p:nvSpPr>
          <p:cNvPr id="264" name="TextShape 5"/>
          <p:cNvSpPr txBox="1"/>
          <p:nvPr/>
        </p:nvSpPr>
        <p:spPr>
          <a:xfrm>
            <a:off x="495360" y="1143000"/>
            <a:ext cx="8859600" cy="4914720"/>
          </a:xfrm>
          <a:prstGeom prst="rect">
            <a:avLst/>
          </a:prstGeom>
          <a:noFill/>
          <a:ln>
            <a:noFill/>
          </a:ln>
        </p:spPr>
        <p:txBody>
          <a:bodyPr>
            <a:noAutofit/>
          </a:bodyPr>
          <a:lstStyle/>
          <a:p>
            <a:pPr marL="1371600" indent="-456840">
              <a:lnSpc>
                <a:spcPct val="80000"/>
              </a:lnSpc>
              <a:spcBef>
                <a:spcPts val="479"/>
              </a:spcBef>
            </a:pPr>
            <a:r>
              <a:rPr lang="en-US" sz="2400" b="1" strike="noStrike" spc="-1">
                <a:solidFill>
                  <a:srgbClr val="008000"/>
                </a:solidFill>
                <a:latin typeface="Tahoma"/>
              </a:rPr>
              <a:t>Constante</a:t>
            </a:r>
            <a:endParaRPr lang="en-US" sz="2400" b="0" strike="noStrike" spc="-1">
              <a:solidFill>
                <a:srgbClr val="000000"/>
              </a:solidFill>
              <a:latin typeface="Tahoma"/>
            </a:endParaRPr>
          </a:p>
          <a:p>
            <a:pPr marL="609480" indent="-609120">
              <a:lnSpc>
                <a:spcPct val="80000"/>
              </a:lnSpc>
              <a:spcBef>
                <a:spcPts val="479"/>
              </a:spcBef>
              <a:buClr>
                <a:srgbClr val="FFCC00"/>
              </a:buClr>
              <a:buFont typeface="Monotype Sorts" charset="2"/>
              <a:buChar char=""/>
            </a:pPr>
            <a:r>
              <a:rPr lang="en-US" sz="2400" b="0" strike="noStrike" spc="-1">
                <a:solidFill>
                  <a:srgbClr val="000000"/>
                </a:solidFill>
                <a:latin typeface="Tahoma"/>
              </a:rPr>
              <a:t>Constantele pot fi de următoarele tipuri </a:t>
            </a:r>
          </a:p>
          <a:p>
            <a:pPr marL="609480" indent="-609120">
              <a:lnSpc>
                <a:spcPct val="80000"/>
              </a:lnSpc>
              <a:spcBef>
                <a:spcPts val="479"/>
              </a:spcBef>
            </a:pPr>
            <a:r>
              <a:rPr lang="en-US" sz="2400" b="1" strike="noStrike" spc="-1">
                <a:solidFill>
                  <a:srgbClr val="000000"/>
                </a:solidFill>
                <a:latin typeface="Tahoma"/>
              </a:rPr>
              <a:t>		</a:t>
            </a:r>
            <a:r>
              <a:rPr lang="en-US" sz="2400" b="1" strike="noStrike" spc="-1">
                <a:solidFill>
                  <a:srgbClr val="008000"/>
                </a:solidFill>
                <a:latin typeface="Tahoma"/>
              </a:rPr>
              <a:t>Constante întregi</a:t>
            </a:r>
            <a:endParaRPr lang="en-US" sz="2400" b="0" strike="noStrike" spc="-1">
              <a:solidFill>
                <a:srgbClr val="000000"/>
              </a:solidFill>
              <a:latin typeface="Tahoma"/>
            </a:endParaRPr>
          </a:p>
          <a:p>
            <a:pPr marL="609480" indent="-609120">
              <a:lnSpc>
                <a:spcPct val="80000"/>
              </a:lnSpc>
              <a:spcBef>
                <a:spcPts val="479"/>
              </a:spcBef>
              <a:buClr>
                <a:srgbClr val="FFCC00"/>
              </a:buClr>
              <a:buFont typeface="Monotype Sorts" charset="2"/>
              <a:buChar char=""/>
            </a:pPr>
            <a:r>
              <a:rPr lang="en-US" sz="2400" b="0" strike="noStrike" spc="-1">
                <a:solidFill>
                  <a:srgbClr val="000000"/>
                </a:solidFill>
                <a:latin typeface="Tahoma"/>
              </a:rPr>
              <a:t>Sunt acceptate 3 baze de numeraţie : baza 10, baza 16 (încep cu caracterele 0x) şi baza 8 (încep cu cifra 0) şi pot fi de două tipuri: </a:t>
            </a:r>
          </a:p>
          <a:p>
            <a:pPr marL="1371600" lvl="2" indent="-456840">
              <a:lnSpc>
                <a:spcPct val="80000"/>
              </a:lnSpc>
              <a:spcBef>
                <a:spcPts val="360"/>
              </a:spcBef>
              <a:buClr>
                <a:srgbClr val="FFCC00"/>
              </a:buClr>
              <a:buFont typeface="Monotype Sorts" charset="2"/>
              <a:buChar char=""/>
            </a:pPr>
            <a:r>
              <a:rPr lang="en-US" sz="1800" b="0" strike="noStrike" spc="-1">
                <a:solidFill>
                  <a:srgbClr val="000000"/>
                </a:solidFill>
                <a:latin typeface="Tahoma"/>
              </a:rPr>
              <a:t>normale, (se reprezintă pe 4 octeţi - 32 biţi) </a:t>
            </a:r>
          </a:p>
          <a:p>
            <a:pPr marL="1371600" lvl="2" indent="-456840">
              <a:lnSpc>
                <a:spcPct val="80000"/>
              </a:lnSpc>
              <a:spcBef>
                <a:spcPts val="360"/>
              </a:spcBef>
              <a:buClr>
                <a:srgbClr val="FFCC00"/>
              </a:buClr>
              <a:buFont typeface="Monotype Sorts" charset="2"/>
              <a:buChar char=""/>
            </a:pPr>
            <a:r>
              <a:rPr lang="en-US" sz="1800" b="0" strike="noStrike" spc="-1">
                <a:solidFill>
                  <a:srgbClr val="000000"/>
                </a:solidFill>
                <a:latin typeface="Tahoma"/>
              </a:rPr>
              <a:t>lungi (8 octeţi - 64 biţi): se termină cu caracterul L (sau l).</a:t>
            </a:r>
          </a:p>
          <a:p>
            <a:pPr marL="609480" indent="-609120">
              <a:lnSpc>
                <a:spcPct val="80000"/>
              </a:lnSpc>
              <a:spcBef>
                <a:spcPts val="479"/>
              </a:spcBef>
            </a:pPr>
            <a:r>
              <a:rPr lang="en-US" sz="2400" b="1" strike="noStrike" spc="-1">
                <a:solidFill>
                  <a:srgbClr val="000000"/>
                </a:solidFill>
                <a:latin typeface="Tahoma"/>
              </a:rPr>
              <a:t>		</a:t>
            </a:r>
            <a:r>
              <a:rPr lang="en-US" sz="2400" b="1" strike="noStrike" spc="-1">
                <a:solidFill>
                  <a:srgbClr val="008000"/>
                </a:solidFill>
                <a:latin typeface="Tahoma"/>
              </a:rPr>
              <a:t>Constante reale</a:t>
            </a:r>
            <a:endParaRPr lang="en-US" sz="2400" b="0" strike="noStrike" spc="-1">
              <a:solidFill>
                <a:srgbClr val="000000"/>
              </a:solidFill>
              <a:latin typeface="Tahoma"/>
            </a:endParaRPr>
          </a:p>
          <a:p>
            <a:pPr marL="609480" indent="-609120">
              <a:lnSpc>
                <a:spcPct val="80000"/>
              </a:lnSpc>
              <a:spcBef>
                <a:spcPts val="479"/>
              </a:spcBef>
              <a:buClr>
                <a:srgbClr val="FFCC00"/>
              </a:buClr>
              <a:buFont typeface="Monotype Sorts" charset="2"/>
              <a:buChar char=""/>
            </a:pPr>
            <a:r>
              <a:rPr lang="en-US" sz="2400" b="0" strike="noStrike" spc="-1">
                <a:solidFill>
                  <a:srgbClr val="000000"/>
                </a:solidFill>
                <a:latin typeface="Tahoma"/>
              </a:rPr>
              <a:t>Pentru ca o constantă să fie considerată reală ea trebuie să aibă cel puţin o zecimală după virgulă, să fie în notaţie exponenţială sau să aibă sufixul F sau f pentru valorile normale (reprezentate pe 32 biţi), respectiv D sau d pentru valorile lungi (reprezentate pe 64 biţi).</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41B2B8BA-F772-420D-98CE-CC4ABE4C996B}" type="slidenum">
              <a:rPr lang="en-US" sz="1400" b="0" strike="noStrike" spc="-1">
                <a:solidFill>
                  <a:srgbClr val="5E574E"/>
                </a:solidFill>
                <a:latin typeface="Arial"/>
              </a:rPr>
              <a:t>8</a:t>
            </a:fld>
            <a:endParaRPr lang="en-US" sz="1400" b="0" strike="noStrike" spc="-1">
              <a:latin typeface="Times New Roman"/>
            </a:endParaRPr>
          </a:p>
        </p:txBody>
      </p:sp>
      <p:sp>
        <p:nvSpPr>
          <p:cNvPr id="268" name="TextShape 4"/>
          <p:cNvSpPr txBox="1"/>
          <p:nvPr/>
        </p:nvSpPr>
        <p:spPr>
          <a:xfrm>
            <a:off x="439560" y="22860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269" name="TextShape 5"/>
          <p:cNvSpPr txBox="1"/>
          <p:nvPr/>
        </p:nvSpPr>
        <p:spPr>
          <a:xfrm>
            <a:off x="495360" y="1295280"/>
            <a:ext cx="8859600" cy="4762080"/>
          </a:xfrm>
          <a:prstGeom prst="rect">
            <a:avLst/>
          </a:prstGeom>
          <a:noFill/>
          <a:ln>
            <a:noFill/>
          </a:ln>
        </p:spPr>
        <p:txBody>
          <a:bodyPr>
            <a:noAutofit/>
          </a:bodyPr>
          <a:lstStyle/>
          <a:p>
            <a:pPr marL="609480" indent="-609120">
              <a:lnSpc>
                <a:spcPct val="90000"/>
              </a:lnSpc>
              <a:spcBef>
                <a:spcPts val="479"/>
              </a:spcBef>
            </a:pPr>
            <a:r>
              <a:rPr lang="en-US" sz="2400" b="1" strike="noStrike" spc="-1">
                <a:solidFill>
                  <a:srgbClr val="000000"/>
                </a:solidFill>
                <a:latin typeface="Tahoma"/>
              </a:rPr>
              <a:t>		</a:t>
            </a:r>
            <a:r>
              <a:rPr lang="en-US" sz="2400" b="1" strike="noStrike" spc="-1">
                <a:solidFill>
                  <a:srgbClr val="008000"/>
                </a:solidFill>
                <a:latin typeface="Tahoma"/>
              </a:rPr>
              <a:t>Constante logice</a:t>
            </a:r>
            <a:endParaRPr lang="en-US" sz="2400" b="0" strike="noStrike" spc="-1">
              <a:solidFill>
                <a:srgbClr val="000000"/>
              </a:solidFill>
              <a:latin typeface="Tahoma"/>
            </a:endParaRPr>
          </a:p>
          <a:p>
            <a:pPr marL="609480" indent="-609120">
              <a:lnSpc>
                <a:spcPct val="90000"/>
              </a:lnSpc>
              <a:spcBef>
                <a:spcPts val="479"/>
              </a:spcBef>
              <a:buClr>
                <a:srgbClr val="FFCC00"/>
              </a:buClr>
              <a:buFont typeface="Monotype Sorts" charset="2"/>
              <a:buChar char=""/>
            </a:pPr>
            <a:r>
              <a:rPr lang="en-US" sz="2400" b="1" strike="noStrike" spc="-1">
                <a:solidFill>
                  <a:srgbClr val="008000"/>
                </a:solidFill>
                <a:latin typeface="Tahoma"/>
              </a:rPr>
              <a:t>true</a:t>
            </a:r>
            <a:r>
              <a:rPr lang="en-US" sz="2400" b="1" strike="noStrike" spc="-1">
                <a:solidFill>
                  <a:srgbClr val="000000"/>
                </a:solidFill>
                <a:latin typeface="Tahoma"/>
              </a:rPr>
              <a:t>  </a:t>
            </a:r>
            <a:r>
              <a:rPr lang="en-US" sz="2400" b="0" strike="noStrike" spc="-1">
                <a:solidFill>
                  <a:srgbClr val="000000"/>
                </a:solidFill>
                <a:latin typeface="Tahoma"/>
              </a:rPr>
              <a:t>: valoarea booleană de adevăr</a:t>
            </a:r>
          </a:p>
          <a:p>
            <a:pPr marL="609480" indent="-609120">
              <a:lnSpc>
                <a:spcPct val="90000"/>
              </a:lnSpc>
              <a:spcBef>
                <a:spcPts val="479"/>
              </a:spcBef>
              <a:buClr>
                <a:srgbClr val="FFCC00"/>
              </a:buClr>
              <a:buFont typeface="Monotype Sorts" charset="2"/>
              <a:buChar char=""/>
            </a:pPr>
            <a:r>
              <a:rPr lang="en-US" sz="2400" b="1" strike="noStrike" spc="-1">
                <a:solidFill>
                  <a:srgbClr val="008000"/>
                </a:solidFill>
                <a:latin typeface="Tahoma"/>
              </a:rPr>
              <a:t>false</a:t>
            </a:r>
            <a:r>
              <a:rPr lang="en-US" sz="2400" b="0" strike="noStrike" spc="-1">
                <a:solidFill>
                  <a:srgbClr val="000000"/>
                </a:solidFill>
                <a:latin typeface="Tahoma"/>
              </a:rPr>
              <a:t> : valoarea booleană de fals</a:t>
            </a:r>
          </a:p>
          <a:p>
            <a:pPr marL="609480" indent="-609120">
              <a:lnSpc>
                <a:spcPct val="90000"/>
              </a:lnSpc>
              <a:spcBef>
                <a:spcPts val="479"/>
              </a:spcBef>
            </a:pPr>
            <a:r>
              <a:rPr lang="en-US" sz="2400" b="0" i="1" strike="noStrike" spc="-1">
                <a:solidFill>
                  <a:srgbClr val="000000"/>
                </a:solidFill>
                <a:latin typeface="Tahoma"/>
              </a:rPr>
              <a:t>	Observaţie:</a:t>
            </a:r>
            <a:r>
              <a:rPr lang="en-US" sz="2400" b="0" strike="noStrike" spc="-1">
                <a:solidFill>
                  <a:srgbClr val="000000"/>
                </a:solidFill>
                <a:latin typeface="Tahoma"/>
              </a:rPr>
              <a:t> spre deosebire de </a:t>
            </a:r>
            <a:r>
              <a:rPr lang="en-US" sz="2400" b="1" strike="noStrike" spc="-1">
                <a:solidFill>
                  <a:srgbClr val="008000"/>
                </a:solidFill>
                <a:latin typeface="Tahoma"/>
              </a:rPr>
              <a:t>C++</a:t>
            </a:r>
            <a:r>
              <a:rPr lang="en-US" sz="2400" b="0" strike="noStrike" spc="-1">
                <a:solidFill>
                  <a:srgbClr val="000000"/>
                </a:solidFill>
                <a:latin typeface="Tahoma"/>
              </a:rPr>
              <a:t>, constantele întregi </a:t>
            </a:r>
            <a:r>
              <a:rPr lang="en-US" sz="2400" b="1" strike="noStrike" spc="-1">
                <a:solidFill>
                  <a:srgbClr val="000000"/>
                </a:solidFill>
                <a:latin typeface="Tahoma"/>
              </a:rPr>
              <a:t>1</a:t>
            </a:r>
            <a:r>
              <a:rPr lang="en-US" sz="2400" b="0" strike="noStrike" spc="-1">
                <a:solidFill>
                  <a:srgbClr val="000000"/>
                </a:solidFill>
                <a:latin typeface="Tahoma"/>
              </a:rPr>
              <a:t> şi </a:t>
            </a:r>
            <a:r>
              <a:rPr lang="en-US" sz="2400" b="1" strike="noStrike" spc="-1">
                <a:solidFill>
                  <a:srgbClr val="000000"/>
                </a:solidFill>
                <a:latin typeface="Tahoma"/>
              </a:rPr>
              <a:t>0</a:t>
            </a:r>
            <a:r>
              <a:rPr lang="en-US" sz="2400" b="0" strike="noStrike" spc="-1">
                <a:solidFill>
                  <a:srgbClr val="000000"/>
                </a:solidFill>
                <a:latin typeface="Tahoma"/>
              </a:rPr>
              <a:t> nu mai au rolul de adevărat şi fals. </a:t>
            </a:r>
          </a:p>
          <a:p>
            <a:pPr marL="990720" indent="-533160">
              <a:lnSpc>
                <a:spcPct val="90000"/>
              </a:lnSpc>
              <a:spcBef>
                <a:spcPts val="479"/>
              </a:spcBef>
            </a:pPr>
            <a:r>
              <a:rPr lang="en-US" sz="2000" b="1" strike="noStrike" spc="-1">
                <a:solidFill>
                  <a:srgbClr val="000000"/>
                </a:solidFill>
                <a:latin typeface="Tahoma"/>
              </a:rPr>
              <a:t>       </a:t>
            </a:r>
            <a:r>
              <a:rPr lang="en-US" sz="2400" b="1" strike="noStrike" spc="-1">
                <a:solidFill>
                  <a:srgbClr val="008000"/>
                </a:solidFill>
                <a:latin typeface="Tahoma"/>
              </a:rPr>
              <a:t>Constante caracter</a:t>
            </a:r>
            <a:endParaRPr lang="en-US" sz="2400" b="0" strike="noStrike" spc="-1">
              <a:solidFill>
                <a:srgbClr val="000000"/>
              </a:solidFill>
              <a:latin typeface="Tahoma"/>
            </a:endParaRPr>
          </a:p>
          <a:p>
            <a:pPr marL="609480" indent="-609120">
              <a:lnSpc>
                <a:spcPct val="90000"/>
              </a:lnSpc>
              <a:spcBef>
                <a:spcPts val="479"/>
              </a:spcBef>
            </a:pPr>
            <a:r>
              <a:rPr lang="en-US" sz="2400" b="0" strike="noStrike" spc="-1">
                <a:solidFill>
                  <a:srgbClr val="000000"/>
                </a:solidFill>
                <a:latin typeface="Tahoma"/>
              </a:rPr>
              <a:t>	O constantă de tip caracter este utilizată pentru a exprima caracterele codului Unicode. Reprezentarea se face fie folosind o literă, fie o secvenţă </a:t>
            </a:r>
            <a:r>
              <a:rPr lang="en-US" sz="2400" b="1" strike="noStrike" spc="-1">
                <a:solidFill>
                  <a:srgbClr val="008000"/>
                </a:solidFill>
                <a:latin typeface="Tahoma"/>
              </a:rPr>
              <a:t>escape</a:t>
            </a:r>
            <a:r>
              <a:rPr lang="en-US" sz="2400" b="0" strike="noStrike" spc="-1">
                <a:solidFill>
                  <a:srgbClr val="000000"/>
                </a:solidFill>
                <a:latin typeface="Tahoma"/>
              </a:rPr>
              <a:t> scrisă între </a:t>
            </a:r>
            <a:r>
              <a:rPr lang="en-US" sz="2400" b="1" strike="noStrike" spc="-1">
                <a:solidFill>
                  <a:srgbClr val="008000"/>
                </a:solidFill>
                <a:latin typeface="Tahoma"/>
              </a:rPr>
              <a:t>apostrofuri</a:t>
            </a:r>
            <a:r>
              <a:rPr lang="en-US" sz="2400" b="0" strike="noStrike" spc="-1">
                <a:solidFill>
                  <a:srgbClr val="000000"/>
                </a:solidFill>
                <a:latin typeface="Tahoma"/>
              </a:rPr>
              <a:t>. Secvenţele </a:t>
            </a:r>
            <a:r>
              <a:rPr lang="en-US" sz="2400" b="1" strike="noStrike" spc="-1">
                <a:solidFill>
                  <a:srgbClr val="008000"/>
                </a:solidFill>
                <a:latin typeface="Tahoma"/>
              </a:rPr>
              <a:t>escape</a:t>
            </a:r>
            <a:r>
              <a:rPr lang="en-US" sz="2400" b="0" strike="noStrike" spc="-1">
                <a:solidFill>
                  <a:srgbClr val="000000"/>
                </a:solidFill>
                <a:latin typeface="Tahoma"/>
              </a:rPr>
              <a:t> permit reprezentarea caracterelor care nu au reprezentare grafică şi reprezentarea unor caractere speciale precum backslash, apostrof, etc.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60EA3E2C-2F54-4BEA-B4D8-C010CBD996AD}" type="slidenum">
              <a:rPr lang="en-US" sz="1400" b="0" strike="noStrike" spc="-1">
                <a:solidFill>
                  <a:srgbClr val="5E574E"/>
                </a:solidFill>
                <a:latin typeface="Arial"/>
              </a:rPr>
              <a:t>9</a:t>
            </a:fld>
            <a:endParaRPr lang="en-US" sz="1400" b="0" strike="noStrike" spc="-1">
              <a:latin typeface="Times New Roman"/>
            </a:endParaRPr>
          </a:p>
        </p:txBody>
      </p:sp>
      <p:sp>
        <p:nvSpPr>
          <p:cNvPr id="273" name="TextShape 4"/>
          <p:cNvSpPr txBox="1"/>
          <p:nvPr/>
        </p:nvSpPr>
        <p:spPr>
          <a:xfrm>
            <a:off x="439560" y="22860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graphicFrame>
        <p:nvGraphicFramePr>
          <p:cNvPr id="274" name="Table 5"/>
          <p:cNvGraphicFramePr/>
          <p:nvPr/>
        </p:nvGraphicFramePr>
        <p:xfrm>
          <a:off x="609480" y="1523880"/>
          <a:ext cx="8762760" cy="3122520"/>
        </p:xfrm>
        <a:graphic>
          <a:graphicData uri="http://schemas.openxmlformats.org/drawingml/2006/table">
            <a:tbl>
              <a:tblPr/>
              <a:tblGrid>
                <a:gridCol w="2035080"/>
                <a:gridCol w="2863800"/>
                <a:gridCol w="3863880"/>
              </a:tblGrid>
              <a:tr h="335160">
                <a:tc>
                  <a:txBody>
                    <a:bodyPr/>
                    <a:lstStyle/>
                    <a:p>
                      <a:pPr>
                        <a:lnSpc>
                          <a:spcPct val="100000"/>
                        </a:lnSpc>
                        <a:spcBef>
                          <a:spcPts val="320"/>
                        </a:spcBef>
                      </a:pPr>
                      <a:r>
                        <a:rPr lang="en-US" sz="1600" b="1" strike="noStrike" spc="-1">
                          <a:solidFill>
                            <a:srgbClr val="000000"/>
                          </a:solidFill>
                          <a:latin typeface="Arial"/>
                          <a:ea typeface="Times New Roman"/>
                        </a:rPr>
                        <a:t>Cod</a:t>
                      </a:r>
                      <a:endParaRPr lang="en-US" sz="1600" b="0" strike="noStrike" spc="-1">
                        <a:latin typeface="Arial"/>
                      </a:endParaRPr>
                    </a:p>
                  </a:txBody>
                  <a:tcPr>
                    <a:lnL w="28080">
                      <a:solidFill>
                        <a:srgbClr val="000000"/>
                      </a:solidFill>
                    </a:lnL>
                    <a:lnR w="12240">
                      <a:solidFill>
                        <a:srgbClr val="000000"/>
                      </a:solidFill>
                    </a:lnR>
                    <a:lnT w="2808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Secvenţa Escape</a:t>
                      </a:r>
                      <a:endParaRPr lang="en-US" sz="1600" b="0" strike="noStrike" spc="-1">
                        <a:latin typeface="Arial"/>
                      </a:endParaRPr>
                    </a:p>
                  </a:txBody>
                  <a:tcPr>
                    <a:lnL w="12240">
                      <a:solidFill>
                        <a:srgbClr val="000000"/>
                      </a:solidFill>
                    </a:lnL>
                    <a:lnR w="12240">
                      <a:solidFill>
                        <a:srgbClr val="000000"/>
                      </a:solidFill>
                    </a:lnR>
                    <a:lnT w="2808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Caracter</a:t>
                      </a:r>
                      <a:endParaRPr lang="en-US" sz="1600" b="0" strike="noStrike" spc="-1">
                        <a:latin typeface="Arial"/>
                      </a:endParaRPr>
                    </a:p>
                  </a:txBody>
                  <a:tcPr>
                    <a:lnL w="12240">
                      <a:solidFill>
                        <a:srgbClr val="000000"/>
                      </a:solidFill>
                    </a:lnL>
                    <a:lnR w="28080">
                      <a:solidFill>
                        <a:srgbClr val="000000"/>
                      </a:solidFill>
                    </a:lnR>
                    <a:lnT w="28080">
                      <a:solidFill>
                        <a:srgbClr val="000000"/>
                      </a:solidFill>
                    </a:lnT>
                    <a:lnB w="12240">
                      <a:solidFill>
                        <a:srgbClr val="000000"/>
                      </a:solidFill>
                    </a:lnB>
                    <a:noFill/>
                  </a:tcPr>
                </a:tc>
              </a:tr>
              <a:tr h="335160">
                <a:tc>
                  <a:txBody>
                    <a:bodyPr/>
                    <a:lstStyle/>
                    <a:p>
                      <a:pPr>
                        <a:lnSpc>
                          <a:spcPct val="100000"/>
                        </a:lnSpc>
                        <a:spcBef>
                          <a:spcPts val="320"/>
                        </a:spcBef>
                      </a:pPr>
                      <a:r>
                        <a:rPr lang="en-US" sz="1600" b="1" strike="noStrike" spc="-1">
                          <a:solidFill>
                            <a:srgbClr val="000000"/>
                          </a:solidFill>
                          <a:latin typeface="Arial"/>
                        </a:rPr>
                        <a:t>\u0008 </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rPr>
                        <a:t>'\b' </a:t>
                      </a:r>
                      <a:endParaRPr lang="en-US"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rPr>
                        <a:t>Backspace(BS) </a:t>
                      </a:r>
                      <a:endParaRPr lang="en-US" sz="16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348840">
                <a:tc>
                  <a:txBody>
                    <a:bodyPr/>
                    <a:lstStyle/>
                    <a:p>
                      <a:pPr>
                        <a:lnSpc>
                          <a:spcPct val="100000"/>
                        </a:lnSpc>
                        <a:spcBef>
                          <a:spcPts val="320"/>
                        </a:spcBef>
                      </a:pPr>
                      <a:r>
                        <a:rPr lang="en-US" sz="1600" b="1" strike="noStrike" spc="-1">
                          <a:solidFill>
                            <a:srgbClr val="000000"/>
                          </a:solidFill>
                          <a:latin typeface="Arial"/>
                          <a:ea typeface="Times New Roman"/>
                        </a:rPr>
                        <a:t>\u0009</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'\t'</a:t>
                      </a:r>
                      <a:endParaRPr lang="en-US"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Tab orizontal (HT) </a:t>
                      </a:r>
                      <a:endParaRPr lang="en-US" sz="16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350640">
                <a:tc>
                  <a:txBody>
                    <a:bodyPr/>
                    <a:lstStyle/>
                    <a:p>
                      <a:pPr>
                        <a:lnSpc>
                          <a:spcPct val="100000"/>
                        </a:lnSpc>
                        <a:spcBef>
                          <a:spcPts val="320"/>
                        </a:spcBef>
                      </a:pPr>
                      <a:r>
                        <a:rPr lang="en-US" sz="1600" b="1" strike="noStrike" spc="-1">
                          <a:solidFill>
                            <a:srgbClr val="000000"/>
                          </a:solidFill>
                          <a:latin typeface="Arial"/>
                          <a:ea typeface="Times New Roman"/>
                        </a:rPr>
                        <a:t>\u000a</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'\n' </a:t>
                      </a:r>
                      <a:endParaRPr lang="en-US"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'Linie nouă - linefeed (LF) </a:t>
                      </a:r>
                      <a:endParaRPr lang="en-US" sz="16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350640">
                <a:tc>
                  <a:txBody>
                    <a:bodyPr/>
                    <a:lstStyle/>
                    <a:p>
                      <a:pPr>
                        <a:lnSpc>
                          <a:spcPct val="100000"/>
                        </a:lnSpc>
                        <a:spcBef>
                          <a:spcPts val="320"/>
                        </a:spcBef>
                      </a:pPr>
                      <a:r>
                        <a:rPr lang="en-US" sz="1600" b="1" strike="noStrike" spc="-1">
                          <a:solidFill>
                            <a:srgbClr val="000000"/>
                          </a:solidFill>
                          <a:latin typeface="Arial"/>
                          <a:ea typeface="Times New Roman"/>
                        </a:rPr>
                        <a:t>\u000c</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'\f'</a:t>
                      </a:r>
                      <a:endParaRPr lang="en-US"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Pagină nouă - formfeed (FF) </a:t>
                      </a:r>
                      <a:endParaRPr lang="en-US" sz="16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350640">
                <a:tc>
                  <a:txBody>
                    <a:bodyPr/>
                    <a:lstStyle/>
                    <a:p>
                      <a:pPr>
                        <a:lnSpc>
                          <a:spcPct val="100000"/>
                        </a:lnSpc>
                        <a:spcBef>
                          <a:spcPts val="320"/>
                        </a:spcBef>
                      </a:pPr>
                      <a:r>
                        <a:rPr lang="en-US" sz="1600" b="1" strike="noStrike" spc="-1">
                          <a:solidFill>
                            <a:srgbClr val="000000"/>
                          </a:solidFill>
                          <a:latin typeface="Arial"/>
                          <a:ea typeface="Times New Roman"/>
                        </a:rPr>
                        <a:t>\u000d</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'\r'</a:t>
                      </a:r>
                      <a:endParaRPr lang="en-US"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Început de rând (CR) </a:t>
                      </a:r>
                      <a:endParaRPr lang="en-US" sz="16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350640">
                <a:tc>
                  <a:txBody>
                    <a:bodyPr/>
                    <a:lstStyle/>
                    <a:p>
                      <a:pPr>
                        <a:lnSpc>
                          <a:spcPct val="100000"/>
                        </a:lnSpc>
                        <a:spcBef>
                          <a:spcPts val="320"/>
                        </a:spcBef>
                      </a:pPr>
                      <a:r>
                        <a:rPr lang="en-US" sz="1600" b="1" strike="noStrike" spc="-1">
                          <a:solidFill>
                            <a:srgbClr val="000000"/>
                          </a:solidFill>
                          <a:latin typeface="Arial"/>
                          <a:ea typeface="Times New Roman"/>
                        </a:rPr>
                        <a:t>\u0022</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a:t>
                      </a:r>
                      <a:endParaRPr lang="en-US"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Ghilimele </a:t>
                      </a:r>
                      <a:endParaRPr lang="en-US" sz="16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348840">
                <a:tc>
                  <a:txBody>
                    <a:bodyPr/>
                    <a:lstStyle/>
                    <a:p>
                      <a:pPr>
                        <a:lnSpc>
                          <a:spcPct val="100000"/>
                        </a:lnSpc>
                        <a:spcBef>
                          <a:spcPts val="320"/>
                        </a:spcBef>
                      </a:pPr>
                      <a:r>
                        <a:rPr lang="en-US" sz="1600" b="1" strike="noStrike" spc="-1">
                          <a:solidFill>
                            <a:srgbClr val="000000"/>
                          </a:solidFill>
                          <a:latin typeface="Arial"/>
                          <a:ea typeface="Times New Roman"/>
                        </a:rPr>
                        <a:t>\u0027</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 </a:t>
                      </a:r>
                      <a:endParaRPr lang="en-US" sz="16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Apostrof </a:t>
                      </a:r>
                      <a:endParaRPr lang="en-US" sz="16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351720">
                <a:tc>
                  <a:txBody>
                    <a:bodyPr/>
                    <a:lstStyle/>
                    <a:p>
                      <a:pPr>
                        <a:lnSpc>
                          <a:spcPct val="100000"/>
                        </a:lnSpc>
                        <a:spcBef>
                          <a:spcPts val="320"/>
                        </a:spcBef>
                      </a:pPr>
                      <a:r>
                        <a:rPr lang="en-US" sz="1600" b="1" strike="noStrike" spc="-1">
                          <a:solidFill>
                            <a:srgbClr val="000000"/>
                          </a:solidFill>
                          <a:latin typeface="Arial"/>
                          <a:ea typeface="Times New Roman"/>
                        </a:rPr>
                        <a:t>\u005c</a:t>
                      </a:r>
                      <a:endParaRPr lang="en-US" sz="1600" b="0" strike="noStrike" spc="-1">
                        <a:latin typeface="Arial"/>
                      </a:endParaRPr>
                    </a:p>
                  </a:txBody>
                  <a:tcPr>
                    <a:lnL w="28080">
                      <a:solidFill>
                        <a:srgbClr val="000000"/>
                      </a:solidFill>
                    </a:lnL>
                    <a:lnR w="12240">
                      <a:solidFill>
                        <a:srgbClr val="000000"/>
                      </a:solidFill>
                    </a:lnR>
                    <a:lnT w="12240">
                      <a:solidFill>
                        <a:srgbClr val="000000"/>
                      </a:solidFill>
                    </a:lnT>
                    <a:lnB w="2808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a:t>
                      </a:r>
                      <a:endParaRPr lang="en-US" sz="1600" b="0" strike="noStrike" spc="-1">
                        <a:latin typeface="Arial"/>
                      </a:endParaRPr>
                    </a:p>
                  </a:txBody>
                  <a:tcPr>
                    <a:lnL w="12240">
                      <a:solidFill>
                        <a:srgbClr val="000000"/>
                      </a:solidFill>
                    </a:lnL>
                    <a:lnR w="12240">
                      <a:solidFill>
                        <a:srgbClr val="000000"/>
                      </a:solidFill>
                    </a:lnR>
                    <a:lnT w="12240">
                      <a:solidFill>
                        <a:srgbClr val="000000"/>
                      </a:solidFill>
                    </a:lnT>
                    <a:lnB w="28080">
                      <a:solidFill>
                        <a:srgbClr val="000000"/>
                      </a:solidFill>
                    </a:lnB>
                    <a:noFill/>
                  </a:tcPr>
                </a:tc>
                <a:tc>
                  <a:txBody>
                    <a:bodyPr/>
                    <a:lstStyle/>
                    <a:p>
                      <a:pPr>
                        <a:lnSpc>
                          <a:spcPct val="100000"/>
                        </a:lnSpc>
                        <a:spcBef>
                          <a:spcPts val="320"/>
                        </a:spcBef>
                      </a:pPr>
                      <a:r>
                        <a:rPr lang="en-US" sz="1600" b="1" strike="noStrike" spc="-1">
                          <a:solidFill>
                            <a:srgbClr val="000000"/>
                          </a:solidFill>
                          <a:latin typeface="Arial"/>
                          <a:ea typeface="Times New Roman"/>
                        </a:rPr>
                        <a:t>Backslash </a:t>
                      </a:r>
                      <a:endParaRPr lang="en-US" sz="1600" b="0" strike="noStrike" spc="-1">
                        <a:latin typeface="Arial"/>
                      </a:endParaRPr>
                    </a:p>
                  </a:txBody>
                  <a:tcPr>
                    <a:lnL w="12240">
                      <a:solidFill>
                        <a:srgbClr val="000000"/>
                      </a:solidFill>
                    </a:lnL>
                    <a:lnR w="28080">
                      <a:solidFill>
                        <a:srgbClr val="000000"/>
                      </a:solidFill>
                    </a:lnR>
                    <a:lnT w="12240">
                      <a:solidFill>
                        <a:srgbClr val="000000"/>
                      </a:solidFill>
                    </a:lnT>
                    <a:lnB w="28080">
                      <a:solidFill>
                        <a:srgbClr val="000000"/>
                      </a:solidFill>
                    </a:lnB>
                    <a:no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4740D760-ABEE-48F0-8FFB-537C07E5E604}" type="slidenum">
              <a:rPr lang="en-US" sz="1400" b="0" strike="noStrike" spc="-1">
                <a:solidFill>
                  <a:srgbClr val="5E574E"/>
                </a:solidFill>
                <a:latin typeface="Arial"/>
              </a:rPr>
              <a:t>10</a:t>
            </a:fld>
            <a:endParaRPr lang="en-US" sz="1400" b="0" strike="noStrike" spc="-1">
              <a:latin typeface="Times New Roman"/>
            </a:endParaRPr>
          </a:p>
        </p:txBody>
      </p:sp>
      <p:sp>
        <p:nvSpPr>
          <p:cNvPr id="278"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279" name="TextShape 5"/>
          <p:cNvSpPr txBox="1"/>
          <p:nvPr/>
        </p:nvSpPr>
        <p:spPr>
          <a:xfrm>
            <a:off x="495360" y="1219320"/>
            <a:ext cx="8859600" cy="4838400"/>
          </a:xfrm>
          <a:prstGeom prst="rect">
            <a:avLst/>
          </a:prstGeom>
          <a:noFill/>
          <a:ln>
            <a:noFill/>
          </a:ln>
        </p:spPr>
        <p:txBody>
          <a:bodyPr>
            <a:noAutofit/>
          </a:bodyPr>
          <a:lstStyle/>
          <a:p>
            <a:pPr marL="990720" indent="-533160">
              <a:lnSpc>
                <a:spcPct val="80000"/>
              </a:lnSpc>
              <a:spcBef>
                <a:spcPts val="561"/>
              </a:spcBef>
            </a:pPr>
            <a:r>
              <a:rPr lang="en-US" sz="2000" b="1" strike="noStrike" spc="-1">
                <a:solidFill>
                  <a:srgbClr val="000000"/>
                </a:solidFill>
                <a:latin typeface="Tahoma"/>
              </a:rPr>
              <a:t>	</a:t>
            </a:r>
            <a:r>
              <a:rPr lang="en-US" sz="2800" b="1" strike="noStrike" spc="-1">
                <a:solidFill>
                  <a:srgbClr val="008000"/>
                </a:solidFill>
                <a:latin typeface="Tahoma"/>
              </a:rPr>
              <a:t>Constante şiruri de caractere</a:t>
            </a:r>
            <a:endParaRPr lang="en-US" sz="2800" b="0" strike="noStrike" spc="-1">
              <a:solidFill>
                <a:srgbClr val="000000"/>
              </a:solidFill>
              <a:latin typeface="Tahoma"/>
            </a:endParaRPr>
          </a:p>
          <a:p>
            <a:pPr marL="609480" indent="-609120">
              <a:lnSpc>
                <a:spcPct val="80000"/>
              </a:lnSpc>
              <a:spcBef>
                <a:spcPts val="479"/>
              </a:spcBef>
            </a:pPr>
            <a:r>
              <a:rPr lang="en-US" sz="2400" b="0" strike="noStrike" spc="-1">
                <a:solidFill>
                  <a:srgbClr val="000000"/>
                </a:solidFill>
                <a:latin typeface="Tahoma"/>
              </a:rPr>
              <a:t>	Un şir de caractere este format din zero sau mai multe caractere cuprinse între ghilimele. Caracterele care formează şirul de caractere pot fi caractere grafice sau secvenţe </a:t>
            </a:r>
            <a:r>
              <a:rPr lang="en-US" sz="2400" b="1" strike="noStrike" spc="-1">
                <a:solidFill>
                  <a:srgbClr val="008000"/>
                </a:solidFill>
                <a:latin typeface="Tahoma"/>
              </a:rPr>
              <a:t>escape</a:t>
            </a:r>
            <a:r>
              <a:rPr lang="en-US" sz="2400" b="0" strike="noStrike" spc="-1">
                <a:solidFill>
                  <a:srgbClr val="000000"/>
                </a:solidFill>
                <a:latin typeface="Tahoma"/>
              </a:rPr>
              <a:t>. Dacă şirul este prea lung el poate fi scris ca o concatenare de subşiruri de dimensiune mai mică. </a:t>
            </a:r>
            <a:r>
              <a:rPr lang="en-US" sz="2400" b="1" strike="noStrike" spc="-1">
                <a:solidFill>
                  <a:srgbClr val="008000"/>
                </a:solidFill>
                <a:latin typeface="Tahoma"/>
              </a:rPr>
              <a:t>Concatenarea</a:t>
            </a:r>
            <a:r>
              <a:rPr lang="en-US" sz="2400" b="0" strike="noStrike" spc="-1">
                <a:solidFill>
                  <a:srgbClr val="000000"/>
                </a:solidFill>
                <a:latin typeface="Tahoma"/>
              </a:rPr>
              <a:t> şirurilor se face cu operatorul + ("Ana " + " are " + " mere "). Şirul vid este "". După cum vom vedea, orice şir este de fapt, o instanţă a clasei </a:t>
            </a:r>
            <a:r>
              <a:rPr lang="en-US" sz="2400" b="1" strike="noStrike" spc="-1">
                <a:solidFill>
                  <a:srgbClr val="008000"/>
                </a:solidFill>
                <a:latin typeface="Tahoma"/>
              </a:rPr>
              <a:t>String</a:t>
            </a:r>
            <a:r>
              <a:rPr lang="en-US" sz="2400" b="0" strike="noStrike" spc="-1">
                <a:solidFill>
                  <a:srgbClr val="000000"/>
                </a:solidFill>
                <a:latin typeface="Tahoma"/>
              </a:rPr>
              <a:t>, definită în pachetul java.lang. </a:t>
            </a:r>
          </a:p>
          <a:p>
            <a:pPr marL="1371600" indent="-456840">
              <a:lnSpc>
                <a:spcPct val="80000"/>
              </a:lnSpc>
              <a:spcBef>
                <a:spcPts val="561"/>
              </a:spcBef>
            </a:pPr>
            <a:r>
              <a:rPr lang="en-US" sz="2800" b="1" strike="noStrike" spc="-1">
                <a:solidFill>
                  <a:srgbClr val="008000"/>
                </a:solidFill>
                <a:latin typeface="Tahoma"/>
              </a:rPr>
              <a:t>Separatori</a:t>
            </a:r>
            <a:endParaRPr lang="en-US" sz="2800" b="0" strike="noStrike" spc="-1">
              <a:solidFill>
                <a:srgbClr val="000000"/>
              </a:solidFill>
              <a:latin typeface="Tahoma"/>
            </a:endParaRPr>
          </a:p>
          <a:p>
            <a:pPr marL="609480" indent="-609120">
              <a:lnSpc>
                <a:spcPct val="80000"/>
              </a:lnSpc>
              <a:spcBef>
                <a:spcPts val="479"/>
              </a:spcBef>
            </a:pPr>
            <a:r>
              <a:rPr lang="en-US" sz="2400" b="0" strike="noStrike" spc="-1">
                <a:solidFill>
                  <a:srgbClr val="000000"/>
                </a:solidFill>
                <a:latin typeface="Tahoma"/>
              </a:rPr>
              <a:t>	Un separator este un caracter care indică sfârşitul unei unităţi lexicale şi începutul alteia. În Java separatorii sunt următorii: ( ) { } [ ] ; , . Instrucţiunile unui program se separă cu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127C7FC2-C9D3-4798-A8CC-D32CB5BF2518}" type="slidenum">
              <a:rPr lang="en-US" sz="1400" b="0" strike="noStrike" spc="-1">
                <a:solidFill>
                  <a:srgbClr val="5E574E"/>
                </a:solidFill>
                <a:latin typeface="Arial"/>
              </a:rPr>
              <a:t>11</a:t>
            </a:fld>
            <a:endParaRPr lang="en-US" sz="1400" b="0" strike="noStrike" spc="-1">
              <a:latin typeface="Times New Roman"/>
            </a:endParaRPr>
          </a:p>
        </p:txBody>
      </p:sp>
      <p:sp>
        <p:nvSpPr>
          <p:cNvPr id="283" name="TextShape 4"/>
          <p:cNvSpPr txBox="1"/>
          <p:nvPr/>
        </p:nvSpPr>
        <p:spPr>
          <a:xfrm>
            <a:off x="439560" y="228600"/>
            <a:ext cx="8419680" cy="114264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284" name="TextShape 5"/>
          <p:cNvSpPr txBox="1"/>
          <p:nvPr/>
        </p:nvSpPr>
        <p:spPr>
          <a:xfrm>
            <a:off x="495360" y="1523880"/>
            <a:ext cx="8859600" cy="4533480"/>
          </a:xfrm>
          <a:prstGeom prst="rect">
            <a:avLst/>
          </a:prstGeom>
          <a:noFill/>
          <a:ln>
            <a:noFill/>
          </a:ln>
        </p:spPr>
        <p:txBody>
          <a:bodyPr>
            <a:noAutofit/>
          </a:bodyPr>
          <a:lstStyle/>
          <a:p>
            <a:pPr marL="1371600" indent="-456840">
              <a:lnSpc>
                <a:spcPct val="90000"/>
              </a:lnSpc>
              <a:spcBef>
                <a:spcPts val="479"/>
              </a:spcBef>
            </a:pPr>
            <a:r>
              <a:rPr lang="en-US" sz="2400" b="1" strike="noStrike" spc="-1">
                <a:solidFill>
                  <a:srgbClr val="008000"/>
                </a:solidFill>
                <a:latin typeface="Tahoma"/>
              </a:rPr>
              <a:t>Operatori</a:t>
            </a:r>
            <a:endParaRPr lang="en-US" sz="2400" b="0" strike="noStrike" spc="-1">
              <a:solidFill>
                <a:srgbClr val="000000"/>
              </a:solidFill>
              <a:latin typeface="Tahoma"/>
            </a:endParaRPr>
          </a:p>
          <a:p>
            <a:pPr marL="609480" indent="-609120">
              <a:lnSpc>
                <a:spcPct val="90000"/>
              </a:lnSpc>
              <a:spcBef>
                <a:spcPts val="479"/>
              </a:spcBef>
              <a:buClr>
                <a:srgbClr val="FFCC00"/>
              </a:buClr>
              <a:buFont typeface="Monotype Sorts" charset="2"/>
              <a:buChar char=""/>
            </a:pPr>
            <a:r>
              <a:rPr lang="en-US" sz="2400" b="1" strike="noStrike" spc="-1">
                <a:solidFill>
                  <a:srgbClr val="008000"/>
                </a:solidFill>
                <a:latin typeface="Tahoma"/>
              </a:rPr>
              <a:t>operator de atribuire</a:t>
            </a:r>
            <a:r>
              <a:rPr lang="en-US" sz="2400" b="1" strike="noStrike" spc="-1">
                <a:solidFill>
                  <a:srgbClr val="000000"/>
                </a:solidFill>
                <a:latin typeface="Tahoma"/>
              </a:rPr>
              <a:t>:</a:t>
            </a:r>
            <a:r>
              <a:rPr lang="en-US" sz="2400" b="0" strike="noStrike" spc="-1">
                <a:solidFill>
                  <a:srgbClr val="000000"/>
                </a:solidFill>
                <a:latin typeface="Tahoma"/>
              </a:rPr>
              <a:t> = (semnul egal)</a:t>
            </a:r>
          </a:p>
          <a:p>
            <a:pPr marL="609480" indent="-609120">
              <a:lnSpc>
                <a:spcPct val="90000"/>
              </a:lnSpc>
              <a:spcBef>
                <a:spcPts val="479"/>
              </a:spcBef>
            </a:pPr>
            <a:r>
              <a:rPr lang="en-US" sz="2400" b="0" i="1" strike="noStrike" spc="-1">
                <a:solidFill>
                  <a:srgbClr val="000000"/>
                </a:solidFill>
                <a:latin typeface="Tahoma"/>
              </a:rPr>
              <a:t>	Exemplu: </a:t>
            </a:r>
            <a:r>
              <a:rPr lang="en-US" sz="2400" b="0" strike="noStrike" spc="-1">
                <a:solidFill>
                  <a:srgbClr val="000000"/>
                </a:solidFill>
                <a:latin typeface="Tahoma"/>
              </a:rPr>
              <a:t>a=9 (lui a i se atribuie valoarea 9)</a:t>
            </a:r>
          </a:p>
          <a:p>
            <a:pPr marL="609480" indent="-609120">
              <a:lnSpc>
                <a:spcPct val="90000"/>
              </a:lnSpc>
              <a:spcBef>
                <a:spcPts val="479"/>
              </a:spcBef>
            </a:pPr>
            <a:r>
              <a:rPr lang="en-US" sz="2400" b="0" strike="noStrike" spc="-1">
                <a:solidFill>
                  <a:srgbClr val="000000"/>
                </a:solidFill>
                <a:latin typeface="Tahoma"/>
              </a:rPr>
              <a:t>	Operatorii de atribuire pot fi înlănţuiţi. </a:t>
            </a:r>
          </a:p>
          <a:p>
            <a:pPr marL="609480" indent="-609120">
              <a:lnSpc>
                <a:spcPct val="90000"/>
              </a:lnSpc>
              <a:spcBef>
                <a:spcPts val="479"/>
              </a:spcBef>
            </a:pPr>
            <a:r>
              <a:rPr lang="en-US" sz="2400" b="0" strike="noStrike" spc="-1">
                <a:solidFill>
                  <a:srgbClr val="000000"/>
                </a:solidFill>
                <a:latin typeface="Tahoma"/>
              </a:rPr>
              <a:t>	De exemplu: a=b=c=10 </a:t>
            </a:r>
          </a:p>
          <a:p>
            <a:pPr marL="609480" indent="-609120">
              <a:lnSpc>
                <a:spcPct val="90000"/>
              </a:lnSpc>
              <a:spcBef>
                <a:spcPts val="479"/>
              </a:spcBef>
              <a:buClr>
                <a:srgbClr val="FFCC00"/>
              </a:buClr>
              <a:buFont typeface="Monotype Sorts" charset="2"/>
              <a:buChar char=""/>
            </a:pPr>
            <a:r>
              <a:rPr lang="en-US" sz="2400" b="1" strike="noStrike" spc="-1">
                <a:solidFill>
                  <a:srgbClr val="008000"/>
                </a:solidFill>
                <a:latin typeface="Tahoma"/>
              </a:rPr>
              <a:t>operatori aritmetici binari</a:t>
            </a:r>
            <a:r>
              <a:rPr lang="en-US" sz="2400" b="1" strike="noStrike" spc="-1">
                <a:solidFill>
                  <a:srgbClr val="000000"/>
                </a:solidFill>
                <a:latin typeface="Tahoma"/>
              </a:rPr>
              <a:t>:</a:t>
            </a:r>
            <a:r>
              <a:rPr lang="en-US" sz="2400" b="0" strike="noStrike" spc="-1">
                <a:solidFill>
                  <a:srgbClr val="000000"/>
                </a:solidFill>
                <a:latin typeface="Tahoma"/>
              </a:rPr>
              <a:t> +, -, *, /, % </a:t>
            </a:r>
          </a:p>
          <a:p>
            <a:pPr marL="609480" indent="-609120">
              <a:lnSpc>
                <a:spcPct val="90000"/>
              </a:lnSpc>
              <a:spcBef>
                <a:spcPts val="479"/>
              </a:spcBef>
            </a:pPr>
            <a:r>
              <a:rPr lang="en-US" sz="2400" b="0" i="1" strike="noStrike" spc="-1">
                <a:solidFill>
                  <a:srgbClr val="000000"/>
                </a:solidFill>
                <a:latin typeface="Tahoma"/>
              </a:rPr>
              <a:t>	Exemplu:</a:t>
            </a:r>
            <a:r>
              <a:rPr lang="en-US" sz="2400" b="0" strike="noStrike" spc="-1">
                <a:solidFill>
                  <a:srgbClr val="000000"/>
                </a:solidFill>
                <a:latin typeface="Tahoma"/>
              </a:rPr>
              <a:t> s=a+b</a:t>
            </a:r>
          </a:p>
          <a:p>
            <a:pPr marL="609480" indent="-609120">
              <a:lnSpc>
                <a:spcPct val="90000"/>
              </a:lnSpc>
              <a:spcBef>
                <a:spcPts val="479"/>
              </a:spcBef>
            </a:pPr>
            <a:r>
              <a:rPr lang="en-US" sz="2400" b="0" strike="noStrike" spc="-1">
                <a:solidFill>
                  <a:srgbClr val="000000"/>
                </a:solidFill>
                <a:latin typeface="Tahoma"/>
              </a:rPr>
              <a:t>	În Java există forme prescurtate care cuprind operatorul de atribuire şi un operator aritmetic binar. Operatorii prescurtaţi sunt:+=, -=, *=, /=, %= </a:t>
            </a:r>
          </a:p>
          <a:p>
            <a:pPr marL="609480" indent="-609120">
              <a:lnSpc>
                <a:spcPct val="90000"/>
              </a:lnSpc>
              <a:spcBef>
                <a:spcPts val="479"/>
              </a:spcBef>
            </a:pPr>
            <a:r>
              <a:rPr lang="en-US" sz="2400" b="0" i="1" strike="noStrike" spc="-1">
                <a:solidFill>
                  <a:srgbClr val="000000"/>
                </a:solidFill>
                <a:latin typeface="Tahoma"/>
              </a:rPr>
              <a:t>	Exemplu:</a:t>
            </a:r>
            <a:r>
              <a:rPr lang="en-US" sz="2400" b="0" strike="noStrike" spc="-1">
                <a:solidFill>
                  <a:srgbClr val="000000"/>
                </a:solidFill>
                <a:latin typeface="Tahoma"/>
              </a:rPr>
              <a:t> n += 2 este echivalentă cu n=n+2</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FE5FFCC0-860D-487E-8001-2990A98C3FF4}" type="slidenum">
              <a:rPr lang="en-US" sz="1400" b="0" strike="noStrike" spc="-1">
                <a:solidFill>
                  <a:srgbClr val="5E574E"/>
                </a:solidFill>
                <a:latin typeface="Arial"/>
              </a:rPr>
              <a:t>12</a:t>
            </a:fld>
            <a:endParaRPr lang="en-US" sz="1400" b="0" strike="noStrike" spc="-1">
              <a:latin typeface="Times New Roman"/>
            </a:endParaRPr>
          </a:p>
        </p:txBody>
      </p:sp>
      <p:sp>
        <p:nvSpPr>
          <p:cNvPr id="288"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289" name="TextShape 5"/>
          <p:cNvSpPr txBox="1"/>
          <p:nvPr/>
        </p:nvSpPr>
        <p:spPr>
          <a:xfrm>
            <a:off x="495360" y="1143000"/>
            <a:ext cx="8859600" cy="4914720"/>
          </a:xfrm>
          <a:prstGeom prst="rect">
            <a:avLst/>
          </a:prstGeom>
          <a:noFill/>
          <a:ln>
            <a:noFill/>
          </a:ln>
        </p:spPr>
        <p:txBody>
          <a:bodyPr>
            <a:noAutofit/>
          </a:bodyPr>
          <a:lstStyle/>
          <a:p>
            <a:pPr marL="609480" indent="-609120">
              <a:lnSpc>
                <a:spcPct val="100000"/>
              </a:lnSpc>
              <a:spcBef>
                <a:spcPts val="561"/>
              </a:spcBef>
              <a:buClr>
                <a:srgbClr val="FFCC00"/>
              </a:buClr>
              <a:buFont typeface="Monotype Sorts" charset="2"/>
              <a:buChar char=""/>
            </a:pPr>
            <a:r>
              <a:rPr lang="en-US" sz="2800" b="1" strike="noStrike" spc="-1">
                <a:solidFill>
                  <a:srgbClr val="008000"/>
                </a:solidFill>
                <a:latin typeface="Tahoma"/>
              </a:rPr>
              <a:t>operatori aritmetici unari</a:t>
            </a:r>
            <a:r>
              <a:rPr lang="en-US" sz="2800" b="1" strike="noStrike" spc="-1">
                <a:solidFill>
                  <a:srgbClr val="000000"/>
                </a:solidFill>
                <a:latin typeface="Tahoma"/>
              </a:rPr>
              <a:t>:</a:t>
            </a:r>
            <a:r>
              <a:rPr lang="en-US" sz="2800" b="0" strike="noStrike" spc="-1">
                <a:solidFill>
                  <a:srgbClr val="000000"/>
                </a:solidFill>
                <a:latin typeface="Tahoma"/>
              </a:rPr>
              <a:t> </a:t>
            </a:r>
          </a:p>
          <a:p>
            <a:pPr marL="990720" lvl="1" indent="-533160">
              <a:lnSpc>
                <a:spcPct val="100000"/>
              </a:lnSpc>
              <a:spcBef>
                <a:spcPts val="479"/>
              </a:spcBef>
              <a:buClr>
                <a:srgbClr val="FFCC00"/>
              </a:buClr>
              <a:buFont typeface="Monotype Sorts" charset="2"/>
              <a:buChar char=""/>
            </a:pPr>
            <a:r>
              <a:rPr lang="en-US" sz="2400" b="0" strike="noStrike" spc="-1">
                <a:solidFill>
                  <a:srgbClr val="000000"/>
                </a:solidFill>
                <a:latin typeface="Tahoma"/>
              </a:rPr>
              <a:t>+, -, </a:t>
            </a:r>
          </a:p>
          <a:p>
            <a:pPr marL="990720" lvl="1" indent="-533160">
              <a:lnSpc>
                <a:spcPct val="100000"/>
              </a:lnSpc>
              <a:spcBef>
                <a:spcPts val="479"/>
              </a:spcBef>
              <a:buClr>
                <a:srgbClr val="FFCC00"/>
              </a:buClr>
              <a:buFont typeface="Monotype Sorts" charset="2"/>
              <a:buChar char=""/>
            </a:pPr>
            <a:r>
              <a:rPr lang="en-US" sz="2400" b="0" strike="noStrike" spc="-1">
                <a:solidFill>
                  <a:srgbClr val="000000"/>
                </a:solidFill>
                <a:latin typeface="Tahoma"/>
              </a:rPr>
              <a:t>++  (operator de incrementare),</a:t>
            </a:r>
          </a:p>
          <a:p>
            <a:pPr marL="990720" lvl="1" indent="-533160">
              <a:lnSpc>
                <a:spcPct val="100000"/>
              </a:lnSpc>
              <a:spcBef>
                <a:spcPts val="479"/>
              </a:spcBef>
              <a:buClr>
                <a:srgbClr val="FFCC00"/>
              </a:buClr>
              <a:buFont typeface="Monotype Sorts" charset="2"/>
              <a:buChar char=""/>
            </a:pPr>
            <a:r>
              <a:rPr lang="en-US" sz="2400" b="0" strike="noStrike" spc="-1">
                <a:solidFill>
                  <a:srgbClr val="000000"/>
                </a:solidFill>
                <a:latin typeface="Tahoma"/>
              </a:rPr>
              <a:t> ̶   ̶   (operator de decrementare). </a:t>
            </a:r>
          </a:p>
          <a:p>
            <a:pPr marL="990720" indent="-533160">
              <a:lnSpc>
                <a:spcPct val="100000"/>
              </a:lnSpc>
              <a:spcBef>
                <a:spcPts val="479"/>
              </a:spcBef>
            </a:pPr>
            <a:r>
              <a:rPr lang="en-US" sz="2400" b="0" strike="noStrike" spc="-1">
                <a:solidFill>
                  <a:srgbClr val="000000"/>
                </a:solidFill>
                <a:latin typeface="Tahoma"/>
              </a:rPr>
              <a:t>	Operatorii de incrementare şi decrementare pot fi</a:t>
            </a:r>
          </a:p>
          <a:p>
            <a:pPr marL="990720" indent="-533160">
              <a:lnSpc>
                <a:spcPct val="100000"/>
              </a:lnSpc>
              <a:spcBef>
                <a:spcPts val="479"/>
              </a:spcBef>
            </a:pPr>
            <a:r>
              <a:rPr lang="en-US" sz="2400" b="0" strike="noStrike" spc="-1">
                <a:solidFill>
                  <a:srgbClr val="000000"/>
                </a:solidFill>
                <a:latin typeface="Tahoma"/>
              </a:rPr>
              <a:t>prefixaţi (++x sau --x) sau postfixaţi (x++ sau x--).</a:t>
            </a:r>
          </a:p>
          <a:p>
            <a:pPr marL="990720" indent="-533160">
              <a:lnSpc>
                <a:spcPct val="100000"/>
              </a:lnSpc>
              <a:spcBef>
                <a:spcPts val="479"/>
              </a:spcBef>
            </a:pPr>
            <a:r>
              <a:rPr lang="en-US" sz="2400" b="0" strike="noStrike" spc="-1">
                <a:solidFill>
                  <a:srgbClr val="000000"/>
                </a:solidFill>
                <a:latin typeface="Tahoma"/>
              </a:rPr>
              <a:t>Diferenţa dintre operatorii prefixaţi şi cei postfixaţi este</a:t>
            </a:r>
          </a:p>
          <a:p>
            <a:pPr marL="990720" indent="-533160">
              <a:lnSpc>
                <a:spcPct val="100000"/>
              </a:lnSpc>
              <a:spcBef>
                <a:spcPts val="479"/>
              </a:spcBef>
            </a:pPr>
            <a:r>
              <a:rPr lang="en-US" sz="2400" b="0" strike="noStrike" spc="-1">
                <a:solidFill>
                  <a:srgbClr val="000000"/>
                </a:solidFill>
                <a:latin typeface="Tahoma"/>
              </a:rPr>
              <a:t>semnificativă doar atunci când expresia de </a:t>
            </a:r>
          </a:p>
          <a:p>
            <a:pPr marL="990720" indent="-533160">
              <a:lnSpc>
                <a:spcPct val="100000"/>
              </a:lnSpc>
              <a:spcBef>
                <a:spcPts val="479"/>
              </a:spcBef>
            </a:pPr>
            <a:r>
              <a:rPr lang="en-US" sz="2400" b="0" strike="noStrike" spc="-1">
                <a:solidFill>
                  <a:srgbClr val="000000"/>
                </a:solidFill>
                <a:latin typeface="Tahoma"/>
              </a:rPr>
              <a:t>incrementare / decrementare apare în cadrul unei expresii.</a:t>
            </a:r>
          </a:p>
          <a:p>
            <a:pPr marL="990720" indent="-533160">
              <a:lnSpc>
                <a:spcPct val="100000"/>
              </a:lnSpc>
              <a:spcBef>
                <a:spcPts val="479"/>
              </a:spcBef>
            </a:pPr>
            <a:r>
              <a:rPr lang="en-US" sz="2400" b="0" strike="noStrike" spc="-1">
                <a:solidFill>
                  <a:srgbClr val="000000"/>
                </a:solidFill>
                <a:latin typeface="Tahoma"/>
              </a:rPr>
              <a:t>Exemplele următoare vor evidenţia aceste lucruri.</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0E1AA5D8-A052-439A-87AF-94087B205E9F}" type="slidenum">
              <a:rPr lang="en-US" sz="1400" b="0" strike="noStrike" spc="-1">
                <a:solidFill>
                  <a:srgbClr val="5E574E"/>
                </a:solidFill>
                <a:latin typeface="Arial"/>
              </a:rPr>
              <a:t>13</a:t>
            </a:fld>
            <a:endParaRPr lang="en-US" sz="1400" b="0" strike="noStrike" spc="-1">
              <a:latin typeface="Times New Roman"/>
            </a:endParaRPr>
          </a:p>
        </p:txBody>
      </p:sp>
      <p:sp>
        <p:nvSpPr>
          <p:cNvPr id="293" name="TextShape 4"/>
          <p:cNvSpPr txBox="1"/>
          <p:nvPr/>
        </p:nvSpPr>
        <p:spPr>
          <a:xfrm>
            <a:off x="439560" y="22860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294" name="TextShape 5"/>
          <p:cNvSpPr txBox="1"/>
          <p:nvPr/>
        </p:nvSpPr>
        <p:spPr>
          <a:xfrm>
            <a:off x="495360" y="1741834"/>
            <a:ext cx="8859600" cy="4838400"/>
          </a:xfrm>
          <a:prstGeom prst="rect">
            <a:avLst/>
          </a:prstGeom>
          <a:noFill/>
          <a:ln>
            <a:noFill/>
          </a:ln>
        </p:spPr>
        <p:txBody>
          <a:bodyPr>
            <a:noAutofit/>
          </a:bodyPr>
          <a:lstStyle/>
          <a:p>
            <a:pPr marL="990720" indent="-533160">
              <a:lnSpc>
                <a:spcPct val="80000"/>
              </a:lnSpc>
              <a:spcBef>
                <a:spcPts val="360"/>
              </a:spcBef>
            </a:pPr>
            <a:r>
              <a:rPr lang="en-US" sz="1800" b="1" strike="noStrike" spc="-1" dirty="0">
                <a:solidFill>
                  <a:srgbClr val="000000"/>
                </a:solidFill>
                <a:latin typeface="Tahoma"/>
              </a:rPr>
              <a:t>a)</a:t>
            </a:r>
            <a:r>
              <a:rPr lang="en-US" sz="1800" b="0" strike="noStrike" spc="-1" dirty="0">
                <a:solidFill>
                  <a:srgbClr val="000000"/>
                </a:solidFill>
                <a:latin typeface="Tahoma"/>
              </a:rPr>
              <a:t> </a:t>
            </a:r>
            <a:r>
              <a:rPr lang="en-US" sz="1800" b="1" strike="noStrike" spc="-1" dirty="0">
                <a:solidFill>
                  <a:srgbClr val="000000"/>
                </a:solidFill>
                <a:latin typeface="Tahoma"/>
              </a:rPr>
              <a:t>-x</a:t>
            </a:r>
            <a:r>
              <a:rPr lang="en-US" sz="1800" b="0" strike="noStrike" spc="-1" dirty="0">
                <a:solidFill>
                  <a:srgbClr val="000000"/>
                </a:solidFill>
                <a:latin typeface="Tahoma"/>
              </a:rPr>
              <a:t> </a:t>
            </a:r>
            <a:r>
              <a:rPr lang="en-US" sz="1800" b="0" strike="noStrike" spc="-1" dirty="0" err="1">
                <a:solidFill>
                  <a:srgbClr val="000000"/>
                </a:solidFill>
                <a:latin typeface="Tahoma"/>
              </a:rPr>
              <a:t>reprezintă</a:t>
            </a:r>
            <a:r>
              <a:rPr lang="en-US" sz="1800" b="0" strike="noStrike" spc="-1" dirty="0">
                <a:solidFill>
                  <a:srgbClr val="000000"/>
                </a:solidFill>
                <a:latin typeface="Tahoma"/>
              </a:rPr>
              <a:t> </a:t>
            </a:r>
            <a:r>
              <a:rPr lang="en-US" sz="1800" b="0" strike="noStrike" spc="-1" dirty="0" err="1">
                <a:solidFill>
                  <a:srgbClr val="000000"/>
                </a:solidFill>
                <a:latin typeface="Tahoma"/>
              </a:rPr>
              <a:t>opusul</a:t>
            </a:r>
            <a:r>
              <a:rPr lang="en-US" sz="1800" b="0" strike="noStrike" spc="-1" dirty="0">
                <a:solidFill>
                  <a:srgbClr val="000000"/>
                </a:solidFill>
                <a:latin typeface="Tahoma"/>
              </a:rPr>
              <a:t> </a:t>
            </a:r>
            <a:r>
              <a:rPr lang="en-US" sz="1800" b="0" strike="noStrike" spc="-1" dirty="0" err="1">
                <a:solidFill>
                  <a:srgbClr val="000000"/>
                </a:solidFill>
                <a:latin typeface="Tahoma"/>
              </a:rPr>
              <a:t>lui</a:t>
            </a:r>
            <a:r>
              <a:rPr lang="en-US" sz="1800" b="0" strike="noStrike" spc="-1" dirty="0">
                <a:solidFill>
                  <a:srgbClr val="000000"/>
                </a:solidFill>
                <a:latin typeface="Tahoma"/>
              </a:rPr>
              <a:t> </a:t>
            </a:r>
            <a:r>
              <a:rPr lang="en-US" sz="1800" b="1" strike="noStrike" spc="-1" dirty="0">
                <a:solidFill>
                  <a:srgbClr val="000000"/>
                </a:solidFill>
                <a:latin typeface="Tahoma"/>
              </a:rPr>
              <a:t>x</a:t>
            </a:r>
            <a:endParaRPr lang="en-US" sz="18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Tahoma"/>
              </a:rPr>
              <a:t>b)</a:t>
            </a:r>
            <a:r>
              <a:rPr lang="en-US" sz="1800" b="0" strike="noStrike" spc="-1" dirty="0">
                <a:solidFill>
                  <a:srgbClr val="000000"/>
                </a:solidFill>
                <a:latin typeface="Tahoma"/>
              </a:rPr>
              <a:t> </a:t>
            </a:r>
            <a:r>
              <a:rPr lang="en-US" sz="1800" b="1" strike="noStrike" spc="-1" dirty="0" err="1">
                <a:solidFill>
                  <a:srgbClr val="000000"/>
                </a:solidFill>
                <a:latin typeface="Tahoma"/>
              </a:rPr>
              <a:t>int</a:t>
            </a:r>
            <a:r>
              <a:rPr lang="en-US" sz="1800" b="1" strike="noStrike" spc="-1" dirty="0">
                <a:solidFill>
                  <a:srgbClr val="000000"/>
                </a:solidFill>
                <a:latin typeface="Tahoma"/>
              </a:rPr>
              <a:t> x=5,y=7</a:t>
            </a:r>
            <a:r>
              <a:rPr lang="en-US" sz="1800" b="0" strike="noStrike" spc="-1" dirty="0">
                <a:solidFill>
                  <a:srgbClr val="000000"/>
                </a:solidFill>
                <a:latin typeface="Tahoma"/>
              </a:rPr>
              <a:t>;</a:t>
            </a:r>
          </a:p>
          <a:p>
            <a:pPr marL="990720" indent="-533160">
              <a:lnSpc>
                <a:spcPct val="80000"/>
              </a:lnSpc>
              <a:spcBef>
                <a:spcPts val="360"/>
              </a:spcBef>
            </a:pPr>
            <a:r>
              <a:rPr lang="en-US" sz="1800" b="0" strike="noStrike" spc="-1" dirty="0">
                <a:solidFill>
                  <a:srgbClr val="000000"/>
                </a:solidFill>
                <a:latin typeface="Arial"/>
              </a:rPr>
              <a:t>	</a:t>
            </a:r>
            <a:r>
              <a:rPr lang="en-US" sz="1800" b="1" strike="noStrike" spc="-1" dirty="0">
                <a:solidFill>
                  <a:srgbClr val="000000"/>
                </a:solidFill>
                <a:latin typeface="Arial"/>
              </a:rPr>
              <a:t>x++; 	</a:t>
            </a:r>
            <a:r>
              <a:rPr lang="en-US" sz="1800" b="0" strike="noStrike" spc="-1" dirty="0">
                <a:solidFill>
                  <a:srgbClr val="000000"/>
                </a:solidFill>
                <a:latin typeface="Arial"/>
              </a:rPr>
              <a:t>// x </a:t>
            </a:r>
            <a:r>
              <a:rPr lang="en-US" sz="1800" b="0" strike="noStrike" spc="-1" dirty="0" err="1">
                <a:solidFill>
                  <a:srgbClr val="000000"/>
                </a:solidFill>
                <a:latin typeface="Arial"/>
              </a:rPr>
              <a:t>primeste</a:t>
            </a:r>
            <a:r>
              <a:rPr lang="en-US" sz="1800" b="0" strike="noStrike" spc="-1" dirty="0">
                <a:solidFill>
                  <a:srgbClr val="000000"/>
                </a:solidFill>
                <a:latin typeface="Arial"/>
              </a:rPr>
              <a:t> </a:t>
            </a:r>
            <a:r>
              <a:rPr lang="en-US" sz="1800" b="0" strike="noStrike" spc="-1" dirty="0" err="1">
                <a:solidFill>
                  <a:srgbClr val="000000"/>
                </a:solidFill>
                <a:latin typeface="Arial"/>
              </a:rPr>
              <a:t>valoarea</a:t>
            </a:r>
            <a:r>
              <a:rPr lang="en-US" sz="1800" b="0" strike="noStrike" spc="-1" dirty="0">
                <a:solidFill>
                  <a:srgbClr val="000000"/>
                </a:solidFill>
                <a:latin typeface="Arial"/>
              </a:rPr>
              <a:t> 6</a:t>
            </a:r>
            <a:endParaRPr lang="en-US" sz="18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Arial"/>
              </a:rPr>
              <a:t>	y - -; 	</a:t>
            </a:r>
            <a:r>
              <a:rPr lang="en-US" sz="1800" b="0" strike="noStrike" spc="-1" dirty="0">
                <a:solidFill>
                  <a:srgbClr val="000000"/>
                </a:solidFill>
                <a:latin typeface="Arial"/>
              </a:rPr>
              <a:t>// y </a:t>
            </a:r>
            <a:r>
              <a:rPr lang="en-US" sz="1800" b="0" strike="noStrike" spc="-1" dirty="0" err="1">
                <a:solidFill>
                  <a:srgbClr val="000000"/>
                </a:solidFill>
                <a:latin typeface="Arial"/>
              </a:rPr>
              <a:t>primeste</a:t>
            </a:r>
            <a:r>
              <a:rPr lang="en-US" sz="1800" b="0" strike="noStrike" spc="-1" dirty="0">
                <a:solidFill>
                  <a:srgbClr val="000000"/>
                </a:solidFill>
                <a:latin typeface="Arial"/>
              </a:rPr>
              <a:t> </a:t>
            </a:r>
            <a:r>
              <a:rPr lang="en-US" sz="1800" b="0" strike="noStrike" spc="-1" dirty="0" err="1">
                <a:solidFill>
                  <a:srgbClr val="000000"/>
                </a:solidFill>
                <a:latin typeface="Arial"/>
              </a:rPr>
              <a:t>valoarea</a:t>
            </a:r>
            <a:r>
              <a:rPr lang="en-US" sz="1800" b="0" strike="noStrike" spc="-1" dirty="0">
                <a:solidFill>
                  <a:srgbClr val="000000"/>
                </a:solidFill>
                <a:latin typeface="Arial"/>
              </a:rPr>
              <a:t> 6</a:t>
            </a:r>
            <a:endParaRPr lang="en-US" sz="18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Arial"/>
              </a:rPr>
              <a:t>c) </a:t>
            </a:r>
            <a:r>
              <a:rPr lang="en-US" sz="1800" b="1" strike="noStrike" spc="-1" dirty="0" err="1">
                <a:solidFill>
                  <a:srgbClr val="000000"/>
                </a:solidFill>
                <a:latin typeface="Arial"/>
              </a:rPr>
              <a:t>int</a:t>
            </a:r>
            <a:r>
              <a:rPr lang="en-US" sz="1800" b="1" strike="noStrike" spc="-1" dirty="0">
                <a:solidFill>
                  <a:srgbClr val="000000"/>
                </a:solidFill>
                <a:latin typeface="Arial"/>
              </a:rPr>
              <a:t> x=5,y=7;</a:t>
            </a:r>
            <a:endParaRPr lang="en-US" sz="1800" b="0" strike="noStrike" spc="-1" dirty="0">
              <a:solidFill>
                <a:srgbClr val="000000"/>
              </a:solidFill>
              <a:latin typeface="Tahoma"/>
            </a:endParaRPr>
          </a:p>
          <a:p>
            <a:pPr marL="609480" indent="-609120">
              <a:lnSpc>
                <a:spcPct val="80000"/>
              </a:lnSpc>
              <a:spcBef>
                <a:spcPts val="400"/>
              </a:spcBef>
            </a:pPr>
            <a:r>
              <a:rPr lang="en-US" sz="2000" b="0" strike="noStrike" spc="-1" dirty="0">
                <a:solidFill>
                  <a:srgbClr val="000000"/>
                </a:solidFill>
                <a:latin typeface="Arial"/>
              </a:rPr>
              <a:t>      		</a:t>
            </a:r>
            <a:r>
              <a:rPr lang="en-US" sz="2000" b="1" strike="noStrike" spc="-1" dirty="0">
                <a:solidFill>
                  <a:srgbClr val="000000"/>
                </a:solidFill>
                <a:latin typeface="Arial"/>
              </a:rPr>
              <a:t>++x;</a:t>
            </a:r>
            <a:r>
              <a:rPr lang="en-US" sz="2000" b="0" strike="noStrike" spc="-1" dirty="0">
                <a:solidFill>
                  <a:srgbClr val="000000"/>
                </a:solidFill>
                <a:latin typeface="Arial"/>
              </a:rPr>
              <a:t> 	// x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6</a:t>
            </a:r>
            <a:endParaRPr lang="en-US" sz="2000" b="0" strike="noStrike" spc="-1" dirty="0">
              <a:solidFill>
                <a:srgbClr val="000000"/>
              </a:solidFill>
              <a:latin typeface="Tahoma"/>
            </a:endParaRPr>
          </a:p>
          <a:p>
            <a:pPr marL="609480" indent="-609120">
              <a:lnSpc>
                <a:spcPct val="80000"/>
              </a:lnSpc>
              <a:spcBef>
                <a:spcPts val="400"/>
              </a:spcBef>
            </a:pPr>
            <a:r>
              <a:rPr lang="en-US" sz="2000" b="0" strike="noStrike" spc="-1" dirty="0">
                <a:solidFill>
                  <a:srgbClr val="000000"/>
                </a:solidFill>
                <a:latin typeface="Arial"/>
              </a:rPr>
              <a:t>		</a:t>
            </a:r>
            <a:r>
              <a:rPr lang="en-US" sz="2000" b="1" strike="noStrike" spc="-1" dirty="0">
                <a:solidFill>
                  <a:srgbClr val="000000"/>
                </a:solidFill>
                <a:latin typeface="Arial"/>
              </a:rPr>
              <a:t>- - y;</a:t>
            </a:r>
            <a:r>
              <a:rPr lang="en-US" sz="2000" b="0" strike="noStrike" spc="-1" dirty="0">
                <a:solidFill>
                  <a:srgbClr val="000000"/>
                </a:solidFill>
                <a:latin typeface="Arial"/>
              </a:rPr>
              <a:t> 	// y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6</a:t>
            </a:r>
            <a:endParaRPr lang="en-US" sz="20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Arial"/>
              </a:rPr>
              <a:t>d) </a:t>
            </a:r>
            <a:r>
              <a:rPr lang="en-US" sz="1800" b="1" strike="noStrike" spc="-1" dirty="0" err="1">
                <a:solidFill>
                  <a:srgbClr val="000000"/>
                </a:solidFill>
                <a:latin typeface="Arial"/>
              </a:rPr>
              <a:t>int</a:t>
            </a:r>
            <a:r>
              <a:rPr lang="en-US" sz="1800" b="1" strike="noStrike" spc="-1" dirty="0">
                <a:solidFill>
                  <a:srgbClr val="000000"/>
                </a:solidFill>
                <a:latin typeface="Arial"/>
              </a:rPr>
              <a:t> x=5,y;</a:t>
            </a:r>
            <a:endParaRPr lang="en-US" sz="1800" b="0" strike="noStrike" spc="-1" dirty="0">
              <a:solidFill>
                <a:srgbClr val="000000"/>
              </a:solidFill>
              <a:latin typeface="Tahoma"/>
            </a:endParaRPr>
          </a:p>
          <a:p>
            <a:pPr marL="609480" indent="-609120">
              <a:lnSpc>
                <a:spcPct val="80000"/>
              </a:lnSpc>
              <a:spcBef>
                <a:spcPts val="400"/>
              </a:spcBef>
            </a:pPr>
            <a:r>
              <a:rPr lang="en-US" sz="2000" b="0" strike="noStrike" spc="-1" dirty="0">
                <a:solidFill>
                  <a:srgbClr val="000000"/>
                </a:solidFill>
                <a:latin typeface="Arial"/>
              </a:rPr>
              <a:t>		</a:t>
            </a:r>
            <a:r>
              <a:rPr lang="en-US" sz="2000" b="1" strike="noStrike" spc="-1" dirty="0">
                <a:solidFill>
                  <a:srgbClr val="000000"/>
                </a:solidFill>
                <a:latin typeface="Arial"/>
              </a:rPr>
              <a:t>y=x++;</a:t>
            </a:r>
            <a:r>
              <a:rPr lang="en-US" sz="2000" b="0" strike="noStrike" spc="-1" dirty="0">
                <a:solidFill>
                  <a:srgbClr val="000000"/>
                </a:solidFill>
                <a:latin typeface="Arial"/>
              </a:rPr>
              <a:t> 	// y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5, x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6</a:t>
            </a:r>
            <a:endParaRPr lang="en-US" sz="2000" b="0" strike="noStrike" spc="-1" dirty="0">
              <a:solidFill>
                <a:srgbClr val="000000"/>
              </a:solidFill>
              <a:latin typeface="Tahoma"/>
            </a:endParaRPr>
          </a:p>
          <a:p>
            <a:pPr marL="609480" indent="-609120">
              <a:lnSpc>
                <a:spcPct val="80000"/>
              </a:lnSpc>
              <a:spcBef>
                <a:spcPts val="400"/>
              </a:spcBef>
            </a:pPr>
            <a:r>
              <a:rPr lang="en-US" sz="2000" b="0" strike="noStrike" spc="-1" dirty="0">
                <a:solidFill>
                  <a:srgbClr val="000000"/>
                </a:solidFill>
                <a:latin typeface="Arial"/>
              </a:rPr>
              <a:t>       </a:t>
            </a:r>
            <a:r>
              <a:rPr lang="en-US" sz="2000" b="1" strike="noStrike" spc="-1" dirty="0">
                <a:solidFill>
                  <a:srgbClr val="000000"/>
                </a:solidFill>
                <a:latin typeface="Arial"/>
              </a:rPr>
              <a:t>e)</a:t>
            </a:r>
            <a:r>
              <a:rPr lang="en-US" sz="2000" b="0" strike="noStrike" spc="-1" dirty="0">
                <a:solidFill>
                  <a:srgbClr val="000000"/>
                </a:solidFill>
                <a:latin typeface="Arial"/>
              </a:rPr>
              <a:t> </a:t>
            </a:r>
            <a:r>
              <a:rPr lang="en-US" sz="2000" b="1" strike="noStrike" spc="-1" dirty="0" err="1">
                <a:solidFill>
                  <a:srgbClr val="000000"/>
                </a:solidFill>
                <a:latin typeface="Arial"/>
              </a:rPr>
              <a:t>int</a:t>
            </a:r>
            <a:r>
              <a:rPr lang="en-US" sz="2000" b="1" strike="noStrike" spc="-1" dirty="0">
                <a:solidFill>
                  <a:srgbClr val="000000"/>
                </a:solidFill>
                <a:latin typeface="Arial"/>
              </a:rPr>
              <a:t> x=5,y;</a:t>
            </a:r>
            <a:endParaRPr lang="en-US" sz="2000" b="0" strike="noStrike" spc="-1" dirty="0">
              <a:solidFill>
                <a:srgbClr val="000000"/>
              </a:solidFill>
              <a:latin typeface="Tahoma"/>
            </a:endParaRPr>
          </a:p>
          <a:p>
            <a:pPr marL="609480" indent="-609120">
              <a:lnSpc>
                <a:spcPct val="80000"/>
              </a:lnSpc>
              <a:spcBef>
                <a:spcPts val="400"/>
              </a:spcBef>
            </a:pPr>
            <a:r>
              <a:rPr lang="en-US" sz="2000" b="0" strike="noStrike" spc="-1" dirty="0">
                <a:solidFill>
                  <a:srgbClr val="000000"/>
                </a:solidFill>
                <a:latin typeface="Arial"/>
              </a:rPr>
              <a:t>		</a:t>
            </a:r>
            <a:r>
              <a:rPr lang="en-US" sz="2000" b="1" strike="noStrike" spc="-1" dirty="0">
                <a:solidFill>
                  <a:srgbClr val="000000"/>
                </a:solidFill>
                <a:latin typeface="Arial"/>
              </a:rPr>
              <a:t>y=x - -;</a:t>
            </a:r>
            <a:r>
              <a:rPr lang="en-US" sz="2000" b="0" strike="noStrike" spc="-1" dirty="0">
                <a:solidFill>
                  <a:srgbClr val="000000"/>
                </a:solidFill>
                <a:latin typeface="Arial"/>
              </a:rPr>
              <a:t> 	// y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5, x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4</a:t>
            </a:r>
            <a:endParaRPr lang="en-US" sz="20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Arial"/>
              </a:rPr>
              <a:t>f) </a:t>
            </a:r>
            <a:r>
              <a:rPr lang="en-US" sz="1800" b="1" strike="noStrike" spc="-1" dirty="0" err="1">
                <a:solidFill>
                  <a:srgbClr val="000000"/>
                </a:solidFill>
                <a:latin typeface="Arial"/>
              </a:rPr>
              <a:t>int</a:t>
            </a:r>
            <a:r>
              <a:rPr lang="en-US" sz="1800" b="1" strike="noStrike" spc="-1" dirty="0">
                <a:solidFill>
                  <a:srgbClr val="000000"/>
                </a:solidFill>
                <a:latin typeface="Arial"/>
              </a:rPr>
              <a:t> x=5,y;</a:t>
            </a:r>
            <a:endParaRPr lang="en-US" sz="1800" b="0" strike="noStrike" spc="-1" dirty="0">
              <a:solidFill>
                <a:srgbClr val="000000"/>
              </a:solidFill>
              <a:latin typeface="Tahoma"/>
            </a:endParaRPr>
          </a:p>
          <a:p>
            <a:pPr marL="609480" indent="-609120">
              <a:lnSpc>
                <a:spcPct val="80000"/>
              </a:lnSpc>
              <a:spcBef>
                <a:spcPts val="400"/>
              </a:spcBef>
            </a:pPr>
            <a:r>
              <a:rPr lang="en-US" sz="2000" b="0" strike="noStrike" spc="-1" dirty="0">
                <a:solidFill>
                  <a:srgbClr val="000000"/>
                </a:solidFill>
                <a:latin typeface="Arial"/>
              </a:rPr>
              <a:t>		</a:t>
            </a:r>
            <a:r>
              <a:rPr lang="en-US" sz="2000" b="1" strike="noStrike" spc="-1" dirty="0">
                <a:solidFill>
                  <a:srgbClr val="000000"/>
                </a:solidFill>
                <a:latin typeface="Arial"/>
              </a:rPr>
              <a:t>y=++x;</a:t>
            </a:r>
            <a:r>
              <a:rPr lang="en-US" sz="2000" b="0" strike="noStrike" spc="-1" dirty="0">
                <a:solidFill>
                  <a:srgbClr val="000000"/>
                </a:solidFill>
                <a:latin typeface="Arial"/>
              </a:rPr>
              <a:t> 	// x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6, y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6</a:t>
            </a:r>
            <a:endParaRPr lang="en-US" sz="20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Arial"/>
              </a:rPr>
              <a:t>g) </a:t>
            </a:r>
            <a:r>
              <a:rPr lang="en-US" sz="1800" b="1" strike="noStrike" spc="-1" dirty="0" err="1">
                <a:solidFill>
                  <a:srgbClr val="000000"/>
                </a:solidFill>
                <a:latin typeface="Arial"/>
              </a:rPr>
              <a:t>int</a:t>
            </a:r>
            <a:r>
              <a:rPr lang="en-US" sz="1800" b="1" strike="noStrike" spc="-1" dirty="0">
                <a:solidFill>
                  <a:srgbClr val="000000"/>
                </a:solidFill>
                <a:latin typeface="Arial"/>
              </a:rPr>
              <a:t> x=5,y;</a:t>
            </a:r>
            <a:endParaRPr lang="en-US" sz="1800" b="0" strike="noStrike" spc="-1" dirty="0">
              <a:solidFill>
                <a:srgbClr val="000000"/>
              </a:solidFill>
              <a:latin typeface="Tahoma"/>
            </a:endParaRPr>
          </a:p>
          <a:p>
            <a:pPr marL="609480" indent="-609120">
              <a:lnSpc>
                <a:spcPct val="80000"/>
              </a:lnSpc>
              <a:spcBef>
                <a:spcPts val="400"/>
              </a:spcBef>
            </a:pPr>
            <a:r>
              <a:rPr lang="en-US" sz="2000" b="0" strike="noStrike" spc="-1" dirty="0">
                <a:solidFill>
                  <a:srgbClr val="000000"/>
                </a:solidFill>
                <a:latin typeface="Arial"/>
              </a:rPr>
              <a:t>		</a:t>
            </a:r>
            <a:r>
              <a:rPr lang="en-US" sz="2000" b="1" strike="noStrike" spc="-1" dirty="0">
                <a:solidFill>
                  <a:srgbClr val="000000"/>
                </a:solidFill>
                <a:latin typeface="Arial"/>
              </a:rPr>
              <a:t>y= - - x;</a:t>
            </a:r>
            <a:r>
              <a:rPr lang="en-US" sz="2000" b="0" strike="noStrike" spc="-1" dirty="0">
                <a:solidFill>
                  <a:srgbClr val="000000"/>
                </a:solidFill>
                <a:latin typeface="Arial"/>
              </a:rPr>
              <a:t> // x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4, y </a:t>
            </a:r>
            <a:r>
              <a:rPr lang="en-US" sz="2000" b="0" strike="noStrike" spc="-1" dirty="0" err="1">
                <a:solidFill>
                  <a:srgbClr val="000000"/>
                </a:solidFill>
                <a:latin typeface="Arial"/>
              </a:rPr>
              <a:t>primeste</a:t>
            </a:r>
            <a:r>
              <a:rPr lang="en-US" sz="2000" b="0" strike="noStrike" spc="-1" dirty="0">
                <a:solidFill>
                  <a:srgbClr val="000000"/>
                </a:solidFill>
                <a:latin typeface="Arial"/>
              </a:rPr>
              <a:t> </a:t>
            </a:r>
            <a:r>
              <a:rPr lang="en-US" sz="2000" b="0" strike="noStrike" spc="-1" dirty="0" err="1">
                <a:solidFill>
                  <a:srgbClr val="000000"/>
                </a:solidFill>
                <a:latin typeface="Arial"/>
              </a:rPr>
              <a:t>valoarea</a:t>
            </a:r>
            <a:r>
              <a:rPr lang="en-US" sz="2000" b="0" strike="noStrike" spc="-1" dirty="0">
                <a:solidFill>
                  <a:srgbClr val="000000"/>
                </a:solidFill>
                <a:latin typeface="Arial"/>
              </a:rPr>
              <a:t> 4</a:t>
            </a:r>
            <a:endParaRPr lang="en-US" sz="20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7AD2EFD7-81CC-4B9C-8895-53EACF5183A6}" type="slidenum">
              <a:rPr lang="en-US" sz="1400" b="0" strike="noStrike" spc="-1">
                <a:solidFill>
                  <a:srgbClr val="5E574E"/>
                </a:solidFill>
                <a:latin typeface="Arial"/>
              </a:rPr>
              <a:t>14</a:t>
            </a:fld>
            <a:endParaRPr lang="en-US" sz="1400" b="0" strike="noStrike" spc="-1">
              <a:latin typeface="Times New Roman"/>
            </a:endParaRPr>
          </a:p>
        </p:txBody>
      </p:sp>
      <p:sp>
        <p:nvSpPr>
          <p:cNvPr id="298" name="TextShape 4"/>
          <p:cNvSpPr txBox="1"/>
          <p:nvPr/>
        </p:nvSpPr>
        <p:spPr>
          <a:xfrm>
            <a:off x="439560" y="228600"/>
            <a:ext cx="8419680" cy="609120"/>
          </a:xfrm>
          <a:prstGeom prst="rect">
            <a:avLst/>
          </a:prstGeom>
          <a:noFill/>
          <a:ln>
            <a:noFill/>
          </a:ln>
        </p:spPr>
        <p:txBody>
          <a:bodyPr anchor="b">
            <a:noAutofit/>
          </a:bodyPr>
          <a:lstStyle/>
          <a:p>
            <a:pPr>
              <a:lnSpc>
                <a:spcPct val="100000"/>
              </a:lnSpc>
            </a:pPr>
            <a:endParaRPr lang="en-US" sz="3600" b="0" strike="noStrike" spc="-1" dirty="0">
              <a:solidFill>
                <a:srgbClr val="000000"/>
              </a:solidFill>
              <a:latin typeface="Arial"/>
            </a:endParaRPr>
          </a:p>
        </p:txBody>
      </p:sp>
      <p:sp>
        <p:nvSpPr>
          <p:cNvPr id="299" name="TextShape 5"/>
          <p:cNvSpPr txBox="1"/>
          <p:nvPr/>
        </p:nvSpPr>
        <p:spPr>
          <a:xfrm>
            <a:off x="439560" y="1467180"/>
            <a:ext cx="8859600" cy="4990680"/>
          </a:xfrm>
          <a:prstGeom prst="rect">
            <a:avLst/>
          </a:prstGeom>
          <a:noFill/>
          <a:ln>
            <a:noFill/>
          </a:ln>
        </p:spPr>
        <p:txBody>
          <a:bodyPr>
            <a:noAutofit/>
          </a:bodyPr>
          <a:lstStyle/>
          <a:p>
            <a:pPr marL="609480" indent="-609120">
              <a:lnSpc>
                <a:spcPct val="100000"/>
              </a:lnSpc>
              <a:spcBef>
                <a:spcPts val="561"/>
              </a:spcBef>
              <a:buClr>
                <a:srgbClr val="FFCC00"/>
              </a:buClr>
              <a:buFont typeface="Monotype Sorts" charset="2"/>
              <a:buChar char=""/>
            </a:pPr>
            <a:r>
              <a:rPr lang="en-US" sz="2800" b="1" strike="noStrike" spc="-1">
                <a:solidFill>
                  <a:srgbClr val="008000"/>
                </a:solidFill>
                <a:latin typeface="Tahoma"/>
              </a:rPr>
              <a:t>operatori logici</a:t>
            </a:r>
            <a:r>
              <a:rPr lang="en-US" sz="2800" b="1" strike="noStrike" spc="-1">
                <a:solidFill>
                  <a:srgbClr val="000000"/>
                </a:solidFill>
                <a:latin typeface="Tahoma"/>
              </a:rPr>
              <a:t>:</a:t>
            </a:r>
            <a:r>
              <a:rPr lang="en-US" sz="2800" b="0" strike="noStrike" spc="-1">
                <a:solidFill>
                  <a:srgbClr val="000000"/>
                </a:solidFill>
                <a:latin typeface="Tahoma"/>
              </a:rPr>
              <a:t> &amp;&amp;(and), ||(or), !(not) </a:t>
            </a:r>
          </a:p>
          <a:p>
            <a:pPr marL="609480" indent="-609120">
              <a:lnSpc>
                <a:spcPct val="100000"/>
              </a:lnSpc>
              <a:spcBef>
                <a:spcPts val="561"/>
              </a:spcBef>
            </a:pPr>
            <a:r>
              <a:rPr lang="en-US" sz="2800" b="0" i="1" strike="noStrike" spc="-1">
                <a:solidFill>
                  <a:srgbClr val="000000"/>
                </a:solidFill>
                <a:latin typeface="Tahoma"/>
              </a:rPr>
              <a:t>	Observaţie:</a:t>
            </a:r>
            <a:r>
              <a:rPr lang="en-US" sz="2800" b="0" strike="noStrike" spc="-1">
                <a:solidFill>
                  <a:srgbClr val="000000"/>
                </a:solidFill>
                <a:latin typeface="Tahoma"/>
              </a:rPr>
              <a:t> evaluarea expresiilor logice se face prin </a:t>
            </a:r>
            <a:r>
              <a:rPr lang="en-US" sz="2800" b="0" i="1" strike="noStrike" spc="-1">
                <a:solidFill>
                  <a:srgbClr val="000000"/>
                </a:solidFill>
                <a:latin typeface="Tahoma"/>
              </a:rPr>
              <a:t>scurtcircuitare</a:t>
            </a:r>
            <a:r>
              <a:rPr lang="en-US" sz="2800" b="0" strike="noStrike" spc="-1">
                <a:solidFill>
                  <a:srgbClr val="000000"/>
                </a:solidFill>
                <a:latin typeface="Tahoma"/>
              </a:rPr>
              <a:t> (evaluarea se opreşte în momentul în care valoarea de adevăr a expresiei este sigur determinată) </a:t>
            </a:r>
          </a:p>
          <a:p>
            <a:pPr marL="609480" indent="-609120">
              <a:lnSpc>
                <a:spcPct val="100000"/>
              </a:lnSpc>
              <a:spcBef>
                <a:spcPts val="561"/>
              </a:spcBef>
              <a:buClr>
                <a:srgbClr val="FFCC00"/>
              </a:buClr>
              <a:buFont typeface="Monotype Sorts" charset="2"/>
              <a:buChar char=""/>
            </a:pPr>
            <a:r>
              <a:rPr lang="en-US" sz="2800" b="1" strike="noStrike" spc="-1">
                <a:solidFill>
                  <a:srgbClr val="008000"/>
                </a:solidFill>
                <a:latin typeface="Tahoma"/>
              </a:rPr>
              <a:t>operatori relaţionali</a:t>
            </a:r>
            <a:r>
              <a:rPr lang="en-US" sz="2800" b="1" strike="noStrike" spc="-1">
                <a:solidFill>
                  <a:srgbClr val="000000"/>
                </a:solidFill>
                <a:latin typeface="Tahoma"/>
              </a:rPr>
              <a:t>:</a:t>
            </a:r>
            <a:r>
              <a:rPr lang="en-US" sz="2800" b="0" strike="noStrike" spc="-1">
                <a:solidFill>
                  <a:srgbClr val="000000"/>
                </a:solidFill>
                <a:latin typeface="Tahoma"/>
              </a:rPr>
              <a:t> &lt;, &lt;=, &gt;, &gt;=, ==, != </a:t>
            </a:r>
          </a:p>
          <a:p>
            <a:pPr marL="609480" indent="-609120">
              <a:lnSpc>
                <a:spcPct val="100000"/>
              </a:lnSpc>
              <a:spcBef>
                <a:spcPts val="561"/>
              </a:spcBef>
              <a:buClr>
                <a:srgbClr val="FFCC00"/>
              </a:buClr>
              <a:buFont typeface="Monotype Sorts" charset="2"/>
              <a:buChar char=""/>
            </a:pPr>
            <a:r>
              <a:rPr lang="en-US" sz="2800" b="1" strike="noStrike" spc="-1">
                <a:solidFill>
                  <a:srgbClr val="008000"/>
                </a:solidFill>
                <a:latin typeface="Tahoma"/>
              </a:rPr>
              <a:t>operatori pe biţi</a:t>
            </a:r>
            <a:r>
              <a:rPr lang="en-US" sz="2800" b="1" strike="noStrike" spc="-1">
                <a:solidFill>
                  <a:srgbClr val="000000"/>
                </a:solidFill>
                <a:latin typeface="Tahoma"/>
              </a:rPr>
              <a:t>:</a:t>
            </a:r>
            <a:r>
              <a:rPr lang="en-US" sz="2800" b="0" strike="noStrike" spc="-1">
                <a:solidFill>
                  <a:srgbClr val="000000"/>
                </a:solidFill>
                <a:latin typeface="Tahoma"/>
              </a:rPr>
              <a:t> &amp; (and), |(or), ^(xor), ~(not) </a:t>
            </a:r>
          </a:p>
          <a:p>
            <a:pPr marL="609480" indent="-609120">
              <a:lnSpc>
                <a:spcPct val="100000"/>
              </a:lnSpc>
              <a:spcBef>
                <a:spcPts val="561"/>
              </a:spcBef>
              <a:buClr>
                <a:srgbClr val="FFCC00"/>
              </a:buClr>
              <a:buFont typeface="Monotype Sorts" charset="2"/>
              <a:buChar char=""/>
            </a:pPr>
            <a:r>
              <a:rPr lang="en-US" sz="2800" b="1" strike="noStrike" spc="-1">
                <a:solidFill>
                  <a:srgbClr val="008000"/>
                </a:solidFill>
                <a:latin typeface="Tahoma"/>
              </a:rPr>
              <a:t>operatori de translaţie</a:t>
            </a:r>
            <a:r>
              <a:rPr lang="en-US" sz="2800" b="1" strike="noStrike" spc="-1">
                <a:solidFill>
                  <a:srgbClr val="000000"/>
                </a:solidFill>
                <a:latin typeface="Tahoma"/>
              </a:rPr>
              <a:t>:</a:t>
            </a:r>
            <a:r>
              <a:rPr lang="en-US" sz="2800" b="0" strike="noStrike" spc="-1">
                <a:solidFill>
                  <a:srgbClr val="000000"/>
                </a:solidFill>
                <a:latin typeface="Tahoma"/>
              </a:rPr>
              <a:t> &lt;&lt;, &gt;&gt;, &gt;&gt;&gt; (shift-are la dreapta fără semn)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1F20EC65-1FFA-4003-93CE-6C51D98AD421}" type="slidenum">
              <a:rPr lang="en-US" sz="1400" b="0" strike="noStrike" spc="-1">
                <a:solidFill>
                  <a:srgbClr val="5E574E"/>
                </a:solidFill>
                <a:latin typeface="Arial"/>
              </a:rPr>
              <a:t>15</a:t>
            </a:fld>
            <a:endParaRPr lang="en-US" sz="1400" b="0" strike="noStrike" spc="-1">
              <a:latin typeface="Times New Roman"/>
            </a:endParaRPr>
          </a:p>
        </p:txBody>
      </p:sp>
      <p:sp>
        <p:nvSpPr>
          <p:cNvPr id="303" name="TextShape 4"/>
          <p:cNvSpPr txBox="1"/>
          <p:nvPr/>
        </p:nvSpPr>
        <p:spPr>
          <a:xfrm>
            <a:off x="439560" y="228600"/>
            <a:ext cx="8419680" cy="91404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04" name="TextShape 5"/>
          <p:cNvSpPr txBox="1"/>
          <p:nvPr/>
        </p:nvSpPr>
        <p:spPr>
          <a:xfrm>
            <a:off x="495360" y="1695780"/>
            <a:ext cx="8859600" cy="4762080"/>
          </a:xfrm>
          <a:prstGeom prst="rect">
            <a:avLst/>
          </a:prstGeom>
          <a:noFill/>
          <a:ln>
            <a:noFill/>
          </a:ln>
        </p:spPr>
        <p:txBody>
          <a:bodyPr>
            <a:noAutofit/>
          </a:bodyPr>
          <a:lstStyle/>
          <a:p>
            <a:pPr marL="609480" indent="-609120">
              <a:lnSpc>
                <a:spcPct val="90000"/>
              </a:lnSpc>
              <a:spcBef>
                <a:spcPts val="479"/>
              </a:spcBef>
              <a:buClr>
                <a:srgbClr val="FFCC00"/>
              </a:buClr>
              <a:buFont typeface="Monotype Sorts" charset="2"/>
              <a:buChar char=""/>
            </a:pPr>
            <a:r>
              <a:rPr lang="en-US" sz="2400" b="1" strike="noStrike" spc="-1" dirty="0" err="1">
                <a:solidFill>
                  <a:srgbClr val="008000"/>
                </a:solidFill>
                <a:latin typeface="Tahoma"/>
              </a:rPr>
              <a:t>operatorul</a:t>
            </a:r>
            <a:r>
              <a:rPr lang="en-US" sz="2400" b="1" strike="noStrike" spc="-1" dirty="0">
                <a:solidFill>
                  <a:srgbClr val="008000"/>
                </a:solidFill>
                <a:latin typeface="Tahoma"/>
              </a:rPr>
              <a:t> </a:t>
            </a:r>
            <a:r>
              <a:rPr lang="en-US" sz="2400" b="1" strike="noStrike" spc="-1" dirty="0" err="1">
                <a:solidFill>
                  <a:srgbClr val="008000"/>
                </a:solidFill>
                <a:latin typeface="Tahoma"/>
              </a:rPr>
              <a:t>condiţional</a:t>
            </a:r>
            <a:r>
              <a:rPr lang="en-US" sz="2400" b="1" strike="noStrike" spc="-1" dirty="0">
                <a:solidFill>
                  <a:srgbClr val="000000"/>
                </a:solidFill>
                <a:latin typeface="Tahoma"/>
              </a:rPr>
              <a:t>:</a:t>
            </a:r>
            <a:r>
              <a:rPr lang="en-US" sz="2400" b="0" strike="noStrike" spc="-1" dirty="0">
                <a:solidFill>
                  <a:srgbClr val="000000"/>
                </a:solidFill>
                <a:latin typeface="Tahoma"/>
              </a:rPr>
              <a:t> ”</a:t>
            </a:r>
            <a:r>
              <a:rPr lang="en-US" sz="2400" b="1" strike="noStrike" spc="-1" dirty="0">
                <a:solidFill>
                  <a:srgbClr val="000000"/>
                </a:solidFill>
                <a:latin typeface="Tahoma"/>
              </a:rPr>
              <a:t>? : </a:t>
            </a:r>
            <a:r>
              <a:rPr lang="en-US" sz="2400" b="0" strike="noStrike" spc="-1" dirty="0">
                <a:solidFill>
                  <a:srgbClr val="000000"/>
                </a:solidFill>
                <a:latin typeface="Tahoma"/>
              </a:rPr>
              <a:t>” . Are forma:</a:t>
            </a:r>
          </a:p>
          <a:p>
            <a:pPr marL="609480" indent="-609120">
              <a:lnSpc>
                <a:spcPct val="90000"/>
              </a:lnSpc>
              <a:spcBef>
                <a:spcPts val="479"/>
              </a:spcBef>
            </a:pPr>
            <a:r>
              <a:rPr lang="en-US" sz="2400" b="0" strike="noStrike" spc="-1" dirty="0">
                <a:solidFill>
                  <a:srgbClr val="000000"/>
                </a:solidFill>
                <a:latin typeface="Tahoma"/>
              </a:rPr>
              <a:t>	</a:t>
            </a:r>
            <a:r>
              <a:rPr lang="en-US" sz="2400" b="0" strike="noStrike" spc="-1" dirty="0" err="1">
                <a:solidFill>
                  <a:srgbClr val="000000"/>
                </a:solidFill>
                <a:latin typeface="Tahoma"/>
              </a:rPr>
              <a:t>expresie_logica</a:t>
            </a:r>
            <a:r>
              <a:rPr lang="en-US" sz="2400" b="0" strike="noStrike" spc="-1" dirty="0">
                <a:solidFill>
                  <a:srgbClr val="000000"/>
                </a:solidFill>
                <a:latin typeface="Tahoma"/>
              </a:rPr>
              <a:t> ? expresie1 : expresie2</a:t>
            </a:r>
          </a:p>
          <a:p>
            <a:pPr marL="609480" indent="-609120">
              <a:lnSpc>
                <a:spcPct val="90000"/>
              </a:lnSpc>
              <a:spcBef>
                <a:spcPts val="479"/>
              </a:spcBef>
            </a:pPr>
            <a:r>
              <a:rPr lang="en-US" sz="2400" b="0" strike="noStrike" spc="-1" dirty="0">
                <a:solidFill>
                  <a:srgbClr val="000000"/>
                </a:solidFill>
                <a:latin typeface="Tahoma"/>
              </a:rPr>
              <a:t>	</a:t>
            </a:r>
            <a:r>
              <a:rPr lang="en-US" sz="2400" b="0" strike="noStrike" spc="-1" dirty="0" err="1">
                <a:solidFill>
                  <a:srgbClr val="000000"/>
                </a:solidFill>
                <a:latin typeface="Tahoma"/>
              </a:rPr>
              <a:t>Valoarea</a:t>
            </a:r>
            <a:r>
              <a:rPr lang="en-US" sz="2400" b="0" strike="noStrike" spc="-1" dirty="0">
                <a:solidFill>
                  <a:srgbClr val="000000"/>
                </a:solidFill>
                <a:latin typeface="Tahoma"/>
              </a:rPr>
              <a:t> </a:t>
            </a:r>
            <a:r>
              <a:rPr lang="en-US" sz="2400" b="0" strike="noStrike" spc="-1" dirty="0" err="1">
                <a:solidFill>
                  <a:srgbClr val="000000"/>
                </a:solidFill>
                <a:latin typeface="Tahoma"/>
              </a:rPr>
              <a:t>expresiei</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dată</a:t>
            </a:r>
            <a:r>
              <a:rPr lang="en-US" sz="2400" b="0" strike="noStrike" spc="-1" dirty="0">
                <a:solidFill>
                  <a:srgbClr val="000000"/>
                </a:solidFill>
                <a:latin typeface="Tahoma"/>
              </a:rPr>
              <a:t> de expresie1 </a:t>
            </a:r>
            <a:r>
              <a:rPr lang="en-US" sz="2400" b="0" strike="noStrike" spc="-1" dirty="0" err="1">
                <a:solidFill>
                  <a:srgbClr val="000000"/>
                </a:solidFill>
                <a:latin typeface="Tahoma"/>
              </a:rPr>
              <a:t>dacă</a:t>
            </a:r>
            <a:r>
              <a:rPr lang="en-US" sz="2400" b="0" strike="noStrike" spc="-1" dirty="0">
                <a:solidFill>
                  <a:srgbClr val="000000"/>
                </a:solidFill>
                <a:latin typeface="Tahoma"/>
              </a:rPr>
              <a:t> </a:t>
            </a:r>
            <a:r>
              <a:rPr lang="en-US" sz="2400" b="0" strike="noStrike" spc="-1" dirty="0" err="1">
                <a:solidFill>
                  <a:srgbClr val="000000"/>
                </a:solidFill>
                <a:latin typeface="Tahoma"/>
              </a:rPr>
              <a:t>expresie_logică</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true </a:t>
            </a:r>
            <a:r>
              <a:rPr lang="en-US" sz="2400" b="0" strike="noStrike" spc="-1" dirty="0" err="1">
                <a:solidFill>
                  <a:srgbClr val="000000"/>
                </a:solidFill>
                <a:latin typeface="Tahoma"/>
              </a:rPr>
              <a:t>sau</a:t>
            </a:r>
            <a:r>
              <a:rPr lang="en-US" sz="2400" b="0" strike="noStrike" spc="-1" dirty="0">
                <a:solidFill>
                  <a:srgbClr val="000000"/>
                </a:solidFill>
                <a:latin typeface="Tahoma"/>
              </a:rPr>
              <a:t> de expresie2 </a:t>
            </a:r>
            <a:r>
              <a:rPr lang="en-US" sz="2400" b="0" strike="noStrike" spc="-1" dirty="0" err="1">
                <a:solidFill>
                  <a:srgbClr val="000000"/>
                </a:solidFill>
                <a:latin typeface="Tahoma"/>
              </a:rPr>
              <a:t>dacă</a:t>
            </a:r>
            <a:r>
              <a:rPr lang="en-US" sz="2400" b="0" strike="noStrike" spc="-1" dirty="0">
                <a:solidFill>
                  <a:srgbClr val="000000"/>
                </a:solidFill>
                <a:latin typeface="Tahoma"/>
              </a:rPr>
              <a:t> </a:t>
            </a:r>
            <a:r>
              <a:rPr lang="en-US" sz="2400" b="0" strike="noStrike" spc="-1" dirty="0" err="1">
                <a:solidFill>
                  <a:srgbClr val="000000"/>
                </a:solidFill>
                <a:latin typeface="Tahoma"/>
              </a:rPr>
              <a:t>expresie_logică</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false.</a:t>
            </a:r>
          </a:p>
          <a:p>
            <a:pPr marL="609480" indent="-609120">
              <a:lnSpc>
                <a:spcPct val="90000"/>
              </a:lnSpc>
              <a:spcBef>
                <a:spcPts val="479"/>
              </a:spcBef>
            </a:pPr>
            <a:r>
              <a:rPr lang="en-US" sz="2400" b="0" i="1" strike="noStrike" spc="-1" dirty="0">
                <a:solidFill>
                  <a:srgbClr val="000000"/>
                </a:solidFill>
                <a:latin typeface="Tahoma"/>
              </a:rPr>
              <a:t>	</a:t>
            </a:r>
            <a:r>
              <a:rPr lang="en-US" sz="2400" b="0" i="1" strike="noStrike" spc="-1" dirty="0" err="1">
                <a:solidFill>
                  <a:srgbClr val="000000"/>
                </a:solidFill>
                <a:latin typeface="Tahoma"/>
              </a:rPr>
              <a:t>Exemplu</a:t>
            </a:r>
            <a:r>
              <a:rPr lang="en-US" sz="2400" b="0" i="1" strike="noStrike" spc="-1" dirty="0">
                <a:solidFill>
                  <a:srgbClr val="000000"/>
                </a:solidFill>
                <a:latin typeface="Tahoma"/>
              </a:rPr>
              <a:t>:</a:t>
            </a:r>
            <a:r>
              <a:rPr lang="en-US" sz="2400" b="0" strike="noStrike" spc="-1" dirty="0">
                <a:solidFill>
                  <a:srgbClr val="000000"/>
                </a:solidFill>
                <a:latin typeface="Tahoma"/>
              </a:rPr>
              <a:t> </a:t>
            </a:r>
            <a:r>
              <a:rPr lang="en-US" sz="2400" b="0" strike="noStrike" spc="-1" dirty="0" err="1">
                <a:solidFill>
                  <a:srgbClr val="000000"/>
                </a:solidFill>
                <a:latin typeface="Tahoma"/>
              </a:rPr>
              <a:t>Metoda</a:t>
            </a:r>
            <a:r>
              <a:rPr lang="en-US" sz="2400" b="0" strike="noStrike" spc="-1" dirty="0">
                <a:solidFill>
                  <a:srgbClr val="000000"/>
                </a:solidFill>
                <a:latin typeface="Tahoma"/>
              </a:rPr>
              <a:t> de </a:t>
            </a:r>
            <a:r>
              <a:rPr lang="en-US" sz="2400" b="0" strike="noStrike" spc="-1" dirty="0" err="1">
                <a:solidFill>
                  <a:srgbClr val="000000"/>
                </a:solidFill>
                <a:latin typeface="Tahoma"/>
              </a:rPr>
              <a:t>calculul</a:t>
            </a:r>
            <a:r>
              <a:rPr lang="en-US" sz="2400" b="0" strike="noStrike" spc="-1" dirty="0">
                <a:solidFill>
                  <a:srgbClr val="000000"/>
                </a:solidFill>
                <a:latin typeface="Tahoma"/>
              </a:rPr>
              <a:t> </a:t>
            </a:r>
            <a:r>
              <a:rPr lang="en-US" sz="2400" b="0" strike="noStrike" spc="-1" dirty="0" err="1">
                <a:solidFill>
                  <a:srgbClr val="000000"/>
                </a:solidFill>
                <a:latin typeface="Tahoma"/>
              </a:rPr>
              <a:t>minimului</a:t>
            </a:r>
            <a:r>
              <a:rPr lang="en-US" sz="2400" b="0" strike="noStrike" spc="-1" dirty="0">
                <a:solidFill>
                  <a:srgbClr val="000000"/>
                </a:solidFill>
                <a:latin typeface="Tahoma"/>
              </a:rPr>
              <a:t> a </a:t>
            </a:r>
            <a:r>
              <a:rPr lang="en-US" sz="2400" b="0" strike="noStrike" spc="-1" dirty="0" err="1">
                <a:solidFill>
                  <a:srgbClr val="000000"/>
                </a:solidFill>
                <a:latin typeface="Tahoma"/>
              </a:rPr>
              <a:t>două</a:t>
            </a:r>
            <a:r>
              <a:rPr lang="en-US" sz="2400" b="0" strike="noStrike" spc="-1" dirty="0">
                <a:solidFill>
                  <a:srgbClr val="000000"/>
                </a:solidFill>
                <a:latin typeface="Tahoma"/>
              </a:rPr>
              <a:t> </a:t>
            </a:r>
            <a:r>
              <a:rPr lang="en-US" sz="2400" b="0" strike="noStrike" spc="-1" dirty="0" err="1">
                <a:solidFill>
                  <a:srgbClr val="000000"/>
                </a:solidFill>
                <a:latin typeface="Tahoma"/>
              </a:rPr>
              <a:t>numere</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a:t>
            </a:r>
          </a:p>
          <a:p>
            <a:pPr marL="990720" indent="-533160">
              <a:lnSpc>
                <a:spcPct val="90000"/>
              </a:lnSpc>
              <a:spcBef>
                <a:spcPts val="400"/>
              </a:spcBef>
            </a:pPr>
            <a:r>
              <a:rPr lang="en-US" sz="2000" b="0" strike="noStrike" spc="-1" dirty="0">
                <a:solidFill>
                  <a:srgbClr val="000000"/>
                </a:solidFill>
                <a:latin typeface="Tahoma"/>
              </a:rPr>
              <a:t>	</a:t>
            </a:r>
            <a:r>
              <a:rPr lang="en-US" sz="1600" b="1" strike="noStrike" spc="-1" dirty="0">
                <a:solidFill>
                  <a:srgbClr val="000000"/>
                </a:solidFill>
                <a:latin typeface="Courier New"/>
              </a:rPr>
              <a:t>public </a:t>
            </a:r>
            <a:r>
              <a:rPr lang="en-US" sz="1600" b="1" strike="noStrike" spc="-1" dirty="0" err="1">
                <a:solidFill>
                  <a:srgbClr val="000000"/>
                </a:solidFill>
                <a:latin typeface="Courier New"/>
              </a:rPr>
              <a:t>int</a:t>
            </a:r>
            <a:r>
              <a:rPr lang="en-US" sz="1600" b="1" strike="noStrike" spc="-1" dirty="0">
                <a:solidFill>
                  <a:srgbClr val="000000"/>
                </a:solidFill>
                <a:latin typeface="Courier New"/>
              </a:rPr>
              <a:t> min (</a:t>
            </a:r>
            <a:r>
              <a:rPr lang="en-US" sz="1600" b="1" strike="noStrike" spc="-1" dirty="0" err="1">
                <a:solidFill>
                  <a:srgbClr val="000000"/>
                </a:solidFill>
                <a:latin typeface="Courier New"/>
              </a:rPr>
              <a:t>int</a:t>
            </a:r>
            <a:r>
              <a:rPr lang="en-US" sz="1600" b="1" strike="noStrike" spc="-1" dirty="0">
                <a:solidFill>
                  <a:srgbClr val="000000"/>
                </a:solidFill>
                <a:latin typeface="Courier New"/>
              </a:rPr>
              <a:t> a, </a:t>
            </a:r>
            <a:r>
              <a:rPr lang="en-US" sz="1600" b="1" strike="noStrike" spc="-1" dirty="0" err="1">
                <a:solidFill>
                  <a:srgbClr val="000000"/>
                </a:solidFill>
                <a:latin typeface="Courier New"/>
              </a:rPr>
              <a:t>int</a:t>
            </a:r>
            <a:r>
              <a:rPr lang="en-US" sz="1600" b="1" strike="noStrike" spc="-1" dirty="0">
                <a:solidFill>
                  <a:srgbClr val="000000"/>
                </a:solidFill>
                <a:latin typeface="Courier New"/>
              </a:rPr>
              <a:t> b){</a:t>
            </a:r>
            <a:endParaRPr lang="en-US" sz="1600" b="0" strike="noStrike" spc="-1" dirty="0">
              <a:solidFill>
                <a:srgbClr val="000000"/>
              </a:solidFill>
              <a:latin typeface="Tahoma"/>
            </a:endParaRPr>
          </a:p>
          <a:p>
            <a:pPr marL="990720" indent="-533160">
              <a:lnSpc>
                <a:spcPct val="90000"/>
              </a:lnSpc>
              <a:spcBef>
                <a:spcPts val="320"/>
              </a:spcBef>
            </a:pPr>
            <a:r>
              <a:rPr lang="en-US" sz="1600" b="1" strike="noStrike" spc="-1" dirty="0">
                <a:solidFill>
                  <a:srgbClr val="000000"/>
                </a:solidFill>
                <a:latin typeface="Courier New"/>
              </a:rPr>
              <a:t>		return ((a)&lt;(b)) ? (a) : (b);</a:t>
            </a:r>
            <a:endParaRPr lang="en-US" sz="1600" b="0" strike="noStrike" spc="-1" dirty="0">
              <a:solidFill>
                <a:srgbClr val="000000"/>
              </a:solidFill>
              <a:latin typeface="Tahoma"/>
            </a:endParaRPr>
          </a:p>
          <a:p>
            <a:pPr marL="990720" indent="-533160">
              <a:lnSpc>
                <a:spcPct val="90000"/>
              </a:lnSpc>
              <a:spcBef>
                <a:spcPts val="320"/>
              </a:spcBef>
            </a:pPr>
            <a:r>
              <a:rPr lang="en-US" sz="1600" b="1" strike="noStrike" spc="-1" dirty="0">
                <a:solidFill>
                  <a:srgbClr val="000000"/>
                </a:solidFill>
                <a:latin typeface="Courier New"/>
              </a:rPr>
              <a:t>	}   				// la </a:t>
            </a:r>
            <a:r>
              <a:rPr lang="en-US" sz="1600" b="1" strike="noStrike" spc="-1" dirty="0" err="1">
                <a:solidFill>
                  <a:srgbClr val="000000"/>
                </a:solidFill>
                <a:latin typeface="Courier New"/>
              </a:rPr>
              <a:t>apel</a:t>
            </a:r>
            <a:r>
              <a:rPr lang="en-US" sz="1600" b="1" strike="noStrike" spc="-1" dirty="0">
                <a:solidFill>
                  <a:srgbClr val="000000"/>
                </a:solidFill>
                <a:latin typeface="Courier New"/>
              </a:rPr>
              <a:t>  min(x+5,y-10)</a:t>
            </a:r>
            <a:endParaRPr lang="en-US" sz="1600" b="0" strike="noStrike" spc="-1" dirty="0">
              <a:solidFill>
                <a:srgbClr val="000000"/>
              </a:solidFill>
              <a:latin typeface="Tahoma"/>
            </a:endParaRPr>
          </a:p>
          <a:p>
            <a:pPr marL="609480" indent="-609120">
              <a:lnSpc>
                <a:spcPct val="90000"/>
              </a:lnSpc>
              <a:spcBef>
                <a:spcPts val="479"/>
              </a:spcBef>
              <a:buClr>
                <a:srgbClr val="FFCC00"/>
              </a:buClr>
              <a:buFont typeface="Monotype Sorts" charset="2"/>
              <a:buChar char=""/>
            </a:pPr>
            <a:r>
              <a:rPr lang="en-US" sz="2400" b="1" strike="noStrike" spc="-1" dirty="0" err="1">
                <a:solidFill>
                  <a:srgbClr val="008000"/>
                </a:solidFill>
                <a:latin typeface="Tahoma"/>
              </a:rPr>
              <a:t>operatorul</a:t>
            </a:r>
            <a:r>
              <a:rPr lang="en-US" sz="2400" b="1" strike="noStrike" spc="-1" dirty="0">
                <a:solidFill>
                  <a:srgbClr val="000000"/>
                </a:solidFill>
                <a:latin typeface="Tahoma"/>
              </a:rPr>
              <a:t> ,</a:t>
            </a:r>
            <a:r>
              <a:rPr lang="en-US" sz="2400" b="0" strike="noStrike" spc="-1" dirty="0">
                <a:solidFill>
                  <a:srgbClr val="000000"/>
                </a:solidFill>
                <a:latin typeface="Tahoma"/>
              </a:rPr>
              <a:t> (</a:t>
            </a:r>
            <a:r>
              <a:rPr lang="en-US" sz="2400" b="0" strike="noStrike" spc="-1" dirty="0" err="1">
                <a:solidFill>
                  <a:srgbClr val="000000"/>
                </a:solidFill>
                <a:latin typeface="Tahoma"/>
              </a:rPr>
              <a:t>virgula</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folosit</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t>
            </a:r>
            <a:r>
              <a:rPr lang="en-US" sz="2400" b="0" strike="noStrike" spc="-1" dirty="0" err="1">
                <a:solidFill>
                  <a:srgbClr val="000000"/>
                </a:solidFill>
                <a:latin typeface="Tahoma"/>
              </a:rPr>
              <a:t>evaluarea</a:t>
            </a:r>
            <a:r>
              <a:rPr lang="en-US" sz="2400" b="0" strike="noStrike" spc="-1" dirty="0">
                <a:solidFill>
                  <a:srgbClr val="000000"/>
                </a:solidFill>
                <a:latin typeface="Tahoma"/>
              </a:rPr>
              <a:t> </a:t>
            </a:r>
            <a:r>
              <a:rPr lang="en-US" sz="2400" b="0" strike="noStrike" spc="-1" dirty="0" err="1">
                <a:solidFill>
                  <a:srgbClr val="000000"/>
                </a:solidFill>
                <a:latin typeface="Tahoma"/>
              </a:rPr>
              <a:t>secvenţială</a:t>
            </a:r>
            <a:r>
              <a:rPr lang="en-US" sz="2400" b="0" strike="noStrike" spc="-1" dirty="0">
                <a:solidFill>
                  <a:srgbClr val="000000"/>
                </a:solidFill>
                <a:latin typeface="Tahoma"/>
              </a:rPr>
              <a:t> a </a:t>
            </a:r>
            <a:r>
              <a:rPr lang="en-US" sz="2400" b="0" strike="noStrike" spc="-1" dirty="0" err="1">
                <a:solidFill>
                  <a:srgbClr val="000000"/>
                </a:solidFill>
                <a:latin typeface="Tahoma"/>
              </a:rPr>
              <a:t>operaţiilor</a:t>
            </a:r>
            <a:r>
              <a:rPr lang="en-US" sz="2400" b="0" strike="noStrike" spc="-1" dirty="0">
                <a:solidFill>
                  <a:srgbClr val="000000"/>
                </a:solidFill>
                <a:latin typeface="Tahoma"/>
              </a:rPr>
              <a:t> </a:t>
            </a:r>
          </a:p>
          <a:p>
            <a:pPr marL="609480" indent="-609120">
              <a:lnSpc>
                <a:spcPct val="90000"/>
              </a:lnSpc>
              <a:spcBef>
                <a:spcPts val="479"/>
              </a:spcBef>
            </a:pPr>
            <a:r>
              <a:rPr lang="en-US" sz="2400" b="0" i="1" strike="noStrike" spc="-1" dirty="0">
                <a:solidFill>
                  <a:srgbClr val="000000"/>
                </a:solidFill>
                <a:latin typeface="Tahoma"/>
              </a:rPr>
              <a:t>	</a:t>
            </a:r>
            <a:r>
              <a:rPr lang="en-US" sz="2400" b="0" i="1" strike="noStrike" spc="-1" dirty="0" err="1">
                <a:solidFill>
                  <a:srgbClr val="000000"/>
                </a:solidFill>
                <a:latin typeface="Tahoma"/>
              </a:rPr>
              <a:t>Exemplu</a:t>
            </a:r>
            <a:r>
              <a:rPr lang="en-US" sz="2400" b="0" i="1" strike="noStrike" spc="-1" dirty="0">
                <a:solidFill>
                  <a:srgbClr val="000000"/>
                </a:solidFill>
                <a:latin typeface="Tahoma"/>
              </a:rPr>
              <a:t>:</a:t>
            </a:r>
            <a:r>
              <a:rPr lang="en-US" sz="2400" b="0" strike="noStrike" spc="-1" dirty="0">
                <a:solidFill>
                  <a:srgbClr val="000000"/>
                </a:solidFill>
                <a:latin typeface="Tahoma"/>
              </a:rPr>
              <a:t> </a:t>
            </a:r>
            <a:r>
              <a:rPr lang="en-US" sz="2400" b="0" strike="noStrike" spc="-1" dirty="0" err="1">
                <a:solidFill>
                  <a:srgbClr val="000000"/>
                </a:solidFill>
                <a:latin typeface="Tahoma"/>
              </a:rPr>
              <a:t>int</a:t>
            </a:r>
            <a:r>
              <a:rPr lang="en-US" sz="2400" b="0" strike="noStrike" spc="-1" dirty="0">
                <a:solidFill>
                  <a:srgbClr val="000000"/>
                </a:solidFill>
                <a:latin typeface="Tahoma"/>
              </a:rPr>
              <a:t> x=0, y=1, z=2;  (x=1,y=a=10,c=1)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0F1A6EBF-3B01-4CDD-9A5B-C8B6F38D05D4}" type="slidenum">
              <a:rPr lang="en-US" sz="1400" b="0" strike="noStrike" spc="-1">
                <a:solidFill>
                  <a:srgbClr val="5E574E"/>
                </a:solidFill>
                <a:latin typeface="Arial"/>
              </a:rPr>
              <a:t>16</a:t>
            </a:fld>
            <a:endParaRPr lang="en-US" sz="1400" b="0" strike="noStrike" spc="-1">
              <a:latin typeface="Times New Roman"/>
            </a:endParaRPr>
          </a:p>
        </p:txBody>
      </p:sp>
      <p:sp>
        <p:nvSpPr>
          <p:cNvPr id="308"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09" name="TextShape 5"/>
          <p:cNvSpPr txBox="1"/>
          <p:nvPr/>
        </p:nvSpPr>
        <p:spPr>
          <a:xfrm>
            <a:off x="364731" y="1591372"/>
            <a:ext cx="8859600" cy="4762080"/>
          </a:xfrm>
          <a:prstGeom prst="rect">
            <a:avLst/>
          </a:prstGeom>
          <a:noFill/>
          <a:ln>
            <a:noFill/>
          </a:ln>
        </p:spPr>
        <p:txBody>
          <a:bodyPr>
            <a:noAutofit/>
          </a:bodyPr>
          <a:lstStyle/>
          <a:p>
            <a:pPr marL="609480" indent="-609120">
              <a:lnSpc>
                <a:spcPct val="100000"/>
              </a:lnSpc>
              <a:spcBef>
                <a:spcPts val="479"/>
              </a:spcBef>
              <a:buClr>
                <a:srgbClr val="FFCC00"/>
              </a:buClr>
              <a:buFont typeface="Monotype Sorts" charset="2"/>
              <a:buChar char=""/>
            </a:pPr>
            <a:r>
              <a:rPr lang="en-US" sz="2400" b="1" strike="noStrike" spc="-1" dirty="0" err="1">
                <a:solidFill>
                  <a:srgbClr val="008000"/>
                </a:solidFill>
                <a:latin typeface="Tahoma"/>
              </a:rPr>
              <a:t>operatorul</a:t>
            </a:r>
            <a:r>
              <a:rPr lang="en-US" sz="2400" b="1" strike="noStrike" spc="-1" dirty="0">
                <a:solidFill>
                  <a:srgbClr val="000000"/>
                </a:solidFill>
                <a:latin typeface="Tahoma"/>
              </a:rPr>
              <a:t> +</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t>
            </a:r>
            <a:r>
              <a:rPr lang="en-US" sz="2400" b="0" strike="noStrike" spc="-1" dirty="0" err="1">
                <a:solidFill>
                  <a:srgbClr val="000000"/>
                </a:solidFill>
                <a:latin typeface="Tahoma"/>
              </a:rPr>
              <a:t>concatenarea</a:t>
            </a:r>
            <a:r>
              <a:rPr lang="en-US" sz="2400" b="0" strike="noStrike" spc="-1" dirty="0">
                <a:solidFill>
                  <a:srgbClr val="000000"/>
                </a:solidFill>
                <a:latin typeface="Tahoma"/>
              </a:rPr>
              <a:t> </a:t>
            </a:r>
            <a:r>
              <a:rPr lang="en-US" sz="2400" b="0" strike="noStrike" spc="-1" dirty="0" err="1">
                <a:solidFill>
                  <a:srgbClr val="000000"/>
                </a:solidFill>
                <a:latin typeface="Tahoma"/>
              </a:rPr>
              <a:t>şirurilor</a:t>
            </a:r>
            <a:r>
              <a:rPr lang="en-US" sz="2400" b="0" strike="noStrike" spc="-1" dirty="0">
                <a:solidFill>
                  <a:srgbClr val="000000"/>
                </a:solidFill>
                <a:latin typeface="Tahoma"/>
              </a:rPr>
              <a:t>: </a:t>
            </a:r>
          </a:p>
          <a:p>
            <a:pPr marL="609480" indent="-609120">
              <a:lnSpc>
                <a:spcPct val="100000"/>
              </a:lnSpc>
              <a:spcBef>
                <a:spcPts val="561"/>
              </a:spcBef>
            </a:pPr>
            <a:r>
              <a:rPr lang="en-US" sz="2800" b="0" strike="noStrike" spc="-1" dirty="0">
                <a:solidFill>
                  <a:srgbClr val="000000"/>
                </a:solidFill>
                <a:latin typeface="Tahoma"/>
              </a:rPr>
              <a:t>	</a:t>
            </a:r>
            <a:r>
              <a:rPr lang="en-US" sz="1600" b="1" strike="noStrike" spc="-1" dirty="0">
                <a:solidFill>
                  <a:srgbClr val="000000"/>
                </a:solidFill>
                <a:latin typeface="Courier New"/>
              </a:rPr>
              <a:t>String s="</a:t>
            </a:r>
            <a:r>
              <a:rPr lang="en-US" sz="1600" b="1" strike="noStrike" spc="-1" dirty="0" err="1">
                <a:solidFill>
                  <a:srgbClr val="000000"/>
                </a:solidFill>
                <a:latin typeface="Courier New"/>
              </a:rPr>
              <a:t>abcd</a:t>
            </a:r>
            <a:r>
              <a:rPr lang="en-US" sz="1600" b="1" strike="noStrike" spc="-1" dirty="0">
                <a:solidFill>
                  <a:srgbClr val="000000"/>
                </a:solidFill>
                <a:latin typeface="Courier New"/>
              </a:rPr>
              <a:t>“;</a:t>
            </a:r>
            <a:endParaRPr lang="en-US" sz="1600" b="0" strike="noStrike" spc="-1" dirty="0">
              <a:solidFill>
                <a:srgbClr val="000000"/>
              </a:solidFill>
              <a:latin typeface="Tahoma"/>
            </a:endParaRPr>
          </a:p>
          <a:p>
            <a:pPr marL="609480" indent="-609120">
              <a:lnSpc>
                <a:spcPct val="100000"/>
              </a:lnSpc>
              <a:spcBef>
                <a:spcPts val="320"/>
              </a:spcBef>
            </a:pPr>
            <a:r>
              <a:rPr lang="en-US" sz="1600" b="1" strike="noStrike" spc="-1" dirty="0">
                <a:solidFill>
                  <a:srgbClr val="000000"/>
                </a:solidFill>
                <a:latin typeface="Courier New"/>
              </a:rPr>
              <a:t>	</a:t>
            </a:r>
            <a:r>
              <a:rPr lang="en-US" sz="1600" b="1" strike="noStrike" spc="-1" dirty="0" err="1">
                <a:solidFill>
                  <a:srgbClr val="000000"/>
                </a:solidFill>
                <a:latin typeface="Courier New"/>
              </a:rPr>
              <a:t>int</a:t>
            </a:r>
            <a:r>
              <a:rPr lang="en-US" sz="1600" b="1" strike="noStrike" spc="-1" dirty="0">
                <a:solidFill>
                  <a:srgbClr val="000000"/>
                </a:solidFill>
                <a:latin typeface="Courier New"/>
              </a:rPr>
              <a:t>    x=100;	</a:t>
            </a:r>
            <a:endParaRPr lang="en-US" sz="1600" b="0" strike="noStrike" spc="-1" dirty="0">
              <a:solidFill>
                <a:srgbClr val="000000"/>
              </a:solidFill>
              <a:latin typeface="Tahoma"/>
            </a:endParaRPr>
          </a:p>
          <a:p>
            <a:pPr marL="609480" indent="-609120">
              <a:lnSpc>
                <a:spcPct val="100000"/>
              </a:lnSpc>
              <a:spcBef>
                <a:spcPts val="561"/>
              </a:spcBef>
            </a:pPr>
            <a:r>
              <a:rPr lang="en-US" sz="1600" b="1" strike="noStrike" spc="-1" dirty="0">
                <a:solidFill>
                  <a:srgbClr val="000000"/>
                </a:solidFill>
                <a:latin typeface="Courier New"/>
              </a:rPr>
              <a:t>	</a:t>
            </a:r>
            <a:r>
              <a:rPr lang="en-US" sz="1600" b="1" strike="noStrike" spc="-1" dirty="0" err="1">
                <a:solidFill>
                  <a:srgbClr val="000000"/>
                </a:solidFill>
                <a:latin typeface="Courier New"/>
              </a:rPr>
              <a:t>System.out.println</a:t>
            </a:r>
            <a:r>
              <a:rPr lang="en-US" sz="1600" b="1" strike="noStrike" spc="-1" dirty="0">
                <a:solidFill>
                  <a:srgbClr val="000000"/>
                </a:solidFill>
                <a:latin typeface="Courier New"/>
              </a:rPr>
              <a:t>(s + " - " + x); //</a:t>
            </a:r>
            <a:r>
              <a:rPr lang="en-US" sz="1600" b="1" strike="noStrike" spc="-1" dirty="0" err="1">
                <a:solidFill>
                  <a:srgbClr val="000000"/>
                </a:solidFill>
                <a:latin typeface="Courier New"/>
              </a:rPr>
              <a:t>afiseaza</a:t>
            </a:r>
            <a:r>
              <a:rPr lang="en-US" sz="1600" b="1" strike="noStrike" spc="-1" dirty="0">
                <a:solidFill>
                  <a:srgbClr val="000000"/>
                </a:solidFill>
                <a:latin typeface="Courier New"/>
              </a:rPr>
              <a:t> </a:t>
            </a:r>
            <a:r>
              <a:rPr lang="en-US" sz="1600" b="1" strike="noStrike" spc="-1" dirty="0" err="1">
                <a:solidFill>
                  <a:srgbClr val="000000"/>
                </a:solidFill>
                <a:latin typeface="Courier New"/>
              </a:rPr>
              <a:t>abcd</a:t>
            </a:r>
            <a:r>
              <a:rPr lang="en-US" sz="1600" b="1" strike="noStrike" spc="-1" dirty="0">
                <a:solidFill>
                  <a:srgbClr val="000000"/>
                </a:solidFill>
                <a:latin typeface="Courier New"/>
              </a:rPr>
              <a:t> - 100</a:t>
            </a:r>
            <a:r>
              <a:rPr lang="en-US" sz="2800" b="0" strike="noStrike" spc="-1" dirty="0">
                <a:solidFill>
                  <a:srgbClr val="000000"/>
                </a:solidFill>
                <a:latin typeface="Tahoma"/>
              </a:rPr>
              <a:t> </a:t>
            </a:r>
          </a:p>
          <a:p>
            <a:pPr marL="609480" indent="-609120">
              <a:lnSpc>
                <a:spcPct val="100000"/>
              </a:lnSpc>
              <a:spcBef>
                <a:spcPts val="479"/>
              </a:spcBef>
              <a:buClr>
                <a:srgbClr val="FFCC00"/>
              </a:buClr>
              <a:buFont typeface="Monotype Sorts" charset="2"/>
              <a:buChar char=""/>
            </a:pPr>
            <a:r>
              <a:rPr lang="en-US" sz="2400" b="1" strike="noStrike" spc="-1" dirty="0" err="1">
                <a:solidFill>
                  <a:srgbClr val="008000"/>
                </a:solidFill>
                <a:latin typeface="Tahoma"/>
              </a:rPr>
              <a:t>operatorul</a:t>
            </a:r>
            <a:r>
              <a:rPr lang="en-US" sz="2400" b="1" strike="noStrike" spc="-1" dirty="0">
                <a:solidFill>
                  <a:srgbClr val="008000"/>
                </a:solidFill>
                <a:latin typeface="Tahoma"/>
              </a:rPr>
              <a:t> de </a:t>
            </a:r>
            <a:r>
              <a:rPr lang="en-US" sz="2400" b="1" strike="noStrike" spc="-1" dirty="0" err="1">
                <a:solidFill>
                  <a:srgbClr val="008000"/>
                </a:solidFill>
                <a:latin typeface="Tahoma"/>
              </a:rPr>
              <a:t>conversie</a:t>
            </a:r>
            <a:r>
              <a:rPr lang="en-US" sz="2400" b="1" strike="noStrike" spc="-1" dirty="0">
                <a:solidFill>
                  <a:srgbClr val="008000"/>
                </a:solidFill>
                <a:latin typeface="Tahoma"/>
              </a:rPr>
              <a:t> de tip</a:t>
            </a:r>
            <a:r>
              <a:rPr lang="en-US" sz="2400" b="0" strike="noStrike" spc="-1" dirty="0">
                <a:solidFill>
                  <a:srgbClr val="000000"/>
                </a:solidFill>
                <a:latin typeface="Tahoma"/>
              </a:rPr>
              <a:t> (cast)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tip_de_data</a:t>
            </a:r>
            <a:r>
              <a:rPr lang="en-US" sz="2400" b="0" strike="noStrike" spc="-1" dirty="0">
                <a:solidFill>
                  <a:srgbClr val="000000"/>
                </a:solidFill>
                <a:latin typeface="Tahoma"/>
              </a:rPr>
              <a:t>) </a:t>
            </a:r>
          </a:p>
          <a:p>
            <a:pPr marL="609480" indent="-609120">
              <a:lnSpc>
                <a:spcPct val="100000"/>
              </a:lnSpc>
              <a:spcBef>
                <a:spcPts val="561"/>
              </a:spcBef>
            </a:pPr>
            <a:r>
              <a:rPr lang="en-US" sz="2800" b="0" strike="noStrike" spc="-1" dirty="0">
                <a:solidFill>
                  <a:srgbClr val="000000"/>
                </a:solidFill>
                <a:latin typeface="Tahoma"/>
              </a:rPr>
              <a:t>	</a:t>
            </a:r>
            <a:r>
              <a:rPr lang="en-US" sz="1800" b="1" strike="noStrike" spc="-1" dirty="0" err="1">
                <a:solidFill>
                  <a:srgbClr val="000000"/>
                </a:solidFill>
                <a:latin typeface="Courier New"/>
              </a:rPr>
              <a:t>int</a:t>
            </a:r>
            <a:r>
              <a:rPr lang="en-US" sz="1800" b="1" strike="noStrike" spc="-1" dirty="0">
                <a:solidFill>
                  <a:srgbClr val="000000"/>
                </a:solidFill>
                <a:latin typeface="Courier New"/>
              </a:rPr>
              <a:t> </a:t>
            </a:r>
            <a:r>
              <a:rPr lang="en-US" sz="1800" b="1" strike="noStrike" spc="-1" dirty="0" err="1">
                <a:solidFill>
                  <a:srgbClr val="000000"/>
                </a:solidFill>
                <a:latin typeface="Courier New"/>
              </a:rPr>
              <a:t>i</a:t>
            </a:r>
            <a:r>
              <a:rPr lang="en-US" sz="1800" b="1" strike="noStrike" spc="-1" dirty="0">
                <a:solidFill>
                  <a:srgbClr val="000000"/>
                </a:solidFill>
                <a:latin typeface="Courier New"/>
              </a:rPr>
              <a:t>   = 200;</a:t>
            </a:r>
            <a:endParaRPr lang="en-US" sz="1800" b="0" strike="noStrike" spc="-1" dirty="0">
              <a:solidFill>
                <a:srgbClr val="000000"/>
              </a:solidFill>
              <a:latin typeface="Tahoma"/>
            </a:endParaRPr>
          </a:p>
          <a:p>
            <a:pPr marL="609480" indent="-609120">
              <a:lnSpc>
                <a:spcPct val="100000"/>
              </a:lnSpc>
              <a:spcBef>
                <a:spcPts val="360"/>
              </a:spcBef>
            </a:pPr>
            <a:r>
              <a:rPr lang="en-US" sz="1800" b="1" strike="noStrike" spc="-1" dirty="0">
                <a:solidFill>
                  <a:srgbClr val="000000"/>
                </a:solidFill>
                <a:latin typeface="Courier New"/>
              </a:rPr>
              <a:t>	long l  = (long)</a:t>
            </a:r>
            <a:r>
              <a:rPr lang="en-US" sz="1800" b="1" strike="noStrike" spc="-1" dirty="0" err="1">
                <a:solidFill>
                  <a:srgbClr val="000000"/>
                </a:solidFill>
                <a:latin typeface="Courier New"/>
              </a:rPr>
              <a:t>i</a:t>
            </a:r>
            <a:r>
              <a:rPr lang="en-US" sz="1800" b="1" strike="noStrike" spc="-1" dirty="0">
                <a:solidFill>
                  <a:srgbClr val="000000"/>
                </a:solidFill>
                <a:latin typeface="Courier New"/>
              </a:rPr>
              <a:t>; 	//</a:t>
            </a:r>
            <a:r>
              <a:rPr lang="en-US" sz="1800" b="1" strike="noStrike" spc="-1" dirty="0" err="1">
                <a:solidFill>
                  <a:srgbClr val="000000"/>
                </a:solidFill>
                <a:latin typeface="Courier New"/>
              </a:rPr>
              <a:t>conversie</a:t>
            </a:r>
            <a:r>
              <a:rPr lang="en-US" sz="1800" b="1" strike="noStrike" spc="-1" dirty="0">
                <a:solidFill>
                  <a:srgbClr val="000000"/>
                </a:solidFill>
                <a:latin typeface="Courier New"/>
              </a:rPr>
              <a:t> </a:t>
            </a:r>
            <a:r>
              <a:rPr lang="en-US" sz="1800" b="1" strike="noStrike" spc="-1" dirty="0" err="1">
                <a:solidFill>
                  <a:srgbClr val="000000"/>
                </a:solidFill>
                <a:latin typeface="Courier New"/>
              </a:rPr>
              <a:t>prin</a:t>
            </a:r>
            <a:r>
              <a:rPr lang="en-US" sz="1800" b="1" strike="noStrike" spc="-1" dirty="0">
                <a:solidFill>
                  <a:srgbClr val="000000"/>
                </a:solidFill>
                <a:latin typeface="Courier New"/>
              </a:rPr>
              <a:t> </a:t>
            </a:r>
            <a:r>
              <a:rPr lang="en-US" sz="1800" b="1" strike="noStrike" spc="-1" dirty="0" err="1">
                <a:solidFill>
                  <a:srgbClr val="000000"/>
                </a:solidFill>
                <a:latin typeface="Courier New"/>
              </a:rPr>
              <a:t>extensie</a:t>
            </a:r>
            <a:endParaRPr lang="en-US" sz="1800" b="0" strike="noStrike" spc="-1" dirty="0">
              <a:solidFill>
                <a:srgbClr val="000000"/>
              </a:solidFill>
              <a:latin typeface="Tahoma"/>
            </a:endParaRPr>
          </a:p>
          <a:p>
            <a:pPr marL="609480" indent="-609120">
              <a:lnSpc>
                <a:spcPct val="100000"/>
              </a:lnSpc>
              <a:spcBef>
                <a:spcPts val="360"/>
              </a:spcBef>
            </a:pPr>
            <a:r>
              <a:rPr lang="en-US" sz="1800" b="1" strike="noStrike" spc="-1" dirty="0">
                <a:solidFill>
                  <a:srgbClr val="000000"/>
                </a:solidFill>
                <a:latin typeface="Courier New"/>
              </a:rPr>
              <a:t>	long L2 = (long)200;</a:t>
            </a:r>
            <a:endParaRPr lang="en-US" sz="1800" b="0" strike="noStrike" spc="-1" dirty="0">
              <a:solidFill>
                <a:srgbClr val="000000"/>
              </a:solidFill>
              <a:latin typeface="Tahoma"/>
            </a:endParaRPr>
          </a:p>
          <a:p>
            <a:pPr marL="609480" indent="-609120">
              <a:lnSpc>
                <a:spcPct val="100000"/>
              </a:lnSpc>
              <a:spcBef>
                <a:spcPts val="360"/>
              </a:spcBef>
            </a:pPr>
            <a:r>
              <a:rPr lang="en-US" sz="1800" b="1" strike="noStrike" spc="-1" dirty="0">
                <a:solidFill>
                  <a:srgbClr val="000000"/>
                </a:solidFill>
                <a:latin typeface="Courier New"/>
              </a:rPr>
              <a:t>	</a:t>
            </a:r>
            <a:r>
              <a:rPr lang="en-US" sz="1800" b="1" strike="noStrike" spc="-1" dirty="0" err="1">
                <a:solidFill>
                  <a:srgbClr val="000000"/>
                </a:solidFill>
                <a:latin typeface="Courier New"/>
              </a:rPr>
              <a:t>int</a:t>
            </a:r>
            <a:r>
              <a:rPr lang="en-US" sz="1800" b="1" strike="noStrike" spc="-1" dirty="0">
                <a:solidFill>
                  <a:srgbClr val="000000"/>
                </a:solidFill>
                <a:latin typeface="Courier New"/>
              </a:rPr>
              <a:t> i2  = (</a:t>
            </a:r>
            <a:r>
              <a:rPr lang="en-US" sz="1800" b="1" strike="noStrike" spc="-1" dirty="0" err="1">
                <a:solidFill>
                  <a:srgbClr val="000000"/>
                </a:solidFill>
                <a:latin typeface="Courier New"/>
              </a:rPr>
              <a:t>int</a:t>
            </a:r>
            <a:r>
              <a:rPr lang="en-US" sz="1800" b="1" strike="noStrike" spc="-1" dirty="0">
                <a:solidFill>
                  <a:srgbClr val="000000"/>
                </a:solidFill>
                <a:latin typeface="Courier New"/>
              </a:rPr>
              <a:t>) L2; 	//</a:t>
            </a:r>
            <a:r>
              <a:rPr lang="en-US" sz="1800" b="1" strike="noStrike" spc="-1" dirty="0" err="1">
                <a:solidFill>
                  <a:srgbClr val="000000"/>
                </a:solidFill>
                <a:latin typeface="Courier New"/>
              </a:rPr>
              <a:t>conversie</a:t>
            </a:r>
            <a:r>
              <a:rPr lang="en-US" sz="1800" b="1" strike="noStrike" spc="-1" dirty="0">
                <a:solidFill>
                  <a:srgbClr val="000000"/>
                </a:solidFill>
                <a:latin typeface="Courier New"/>
              </a:rPr>
              <a:t> </a:t>
            </a:r>
            <a:r>
              <a:rPr lang="en-US" sz="1800" b="1" strike="noStrike" spc="-1" dirty="0" err="1">
                <a:solidFill>
                  <a:srgbClr val="000000"/>
                </a:solidFill>
                <a:latin typeface="Courier New"/>
              </a:rPr>
              <a:t>prin</a:t>
            </a:r>
            <a:r>
              <a:rPr lang="en-US" sz="1800" b="1" strike="noStrike" spc="-1" dirty="0">
                <a:solidFill>
                  <a:srgbClr val="000000"/>
                </a:solidFill>
                <a:latin typeface="Courier New"/>
              </a:rPr>
              <a:t> </a:t>
            </a:r>
            <a:r>
              <a:rPr lang="en-US" sz="1800" b="1" strike="noStrike" spc="-1" dirty="0" err="1">
                <a:solidFill>
                  <a:srgbClr val="000000"/>
                </a:solidFill>
                <a:latin typeface="Courier New"/>
              </a:rPr>
              <a:t>contractie</a:t>
            </a:r>
            <a:r>
              <a:rPr lang="en-US" sz="1800" b="1" strike="noStrike" spc="-1" dirty="0">
                <a:solidFill>
                  <a:srgbClr val="000000"/>
                </a:solidFill>
                <a:latin typeface="Courier New"/>
              </a:rPr>
              <a:t> </a:t>
            </a:r>
            <a:endParaRPr lang="en-US" sz="18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BA3C953E-2326-4157-91F2-3FC2BB740E0C}" type="slidenum">
              <a:rPr lang="en-US" sz="1400" b="0" strike="noStrike" spc="-1">
                <a:solidFill>
                  <a:srgbClr val="5E574E"/>
                </a:solidFill>
                <a:latin typeface="Arial"/>
              </a:rPr>
              <a:t>17</a:t>
            </a:fld>
            <a:endParaRPr lang="en-US" sz="1400" b="0" strike="noStrike" spc="-1">
              <a:latin typeface="Times New Roman"/>
            </a:endParaRPr>
          </a:p>
        </p:txBody>
      </p:sp>
      <p:sp>
        <p:nvSpPr>
          <p:cNvPr id="313" name="TextShape 4"/>
          <p:cNvSpPr txBox="1"/>
          <p:nvPr/>
        </p:nvSpPr>
        <p:spPr>
          <a:xfrm>
            <a:off x="439560" y="22860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14" name="TextShape 5"/>
          <p:cNvSpPr txBox="1"/>
          <p:nvPr/>
        </p:nvSpPr>
        <p:spPr>
          <a:xfrm>
            <a:off x="495360" y="1295280"/>
            <a:ext cx="8859600" cy="4762080"/>
          </a:xfrm>
          <a:prstGeom prst="rect">
            <a:avLst/>
          </a:prstGeom>
          <a:noFill/>
          <a:ln>
            <a:noFill/>
          </a:ln>
        </p:spPr>
        <p:txBody>
          <a:bodyPr>
            <a:noAutofit/>
          </a:bodyPr>
          <a:lstStyle/>
          <a:p>
            <a:pPr marL="343080" indent="-342720">
              <a:lnSpc>
                <a:spcPct val="90000"/>
              </a:lnSpc>
              <a:spcBef>
                <a:spcPts val="641"/>
              </a:spcBef>
              <a:buClr>
                <a:srgbClr val="FFCC00"/>
              </a:buClr>
              <a:buFont typeface="Monotype Sorts" charset="2"/>
              <a:buChar char=""/>
            </a:pPr>
            <a:r>
              <a:rPr lang="en-US" sz="3200" b="0" i="1" strike="noStrike" spc="-1" dirty="0" err="1">
                <a:solidFill>
                  <a:srgbClr val="000000"/>
                </a:solidFill>
                <a:latin typeface="Tahoma"/>
              </a:rPr>
              <a:t>Exemplu</a:t>
            </a:r>
            <a:r>
              <a:rPr lang="en-US" sz="3200" b="0" i="1" strike="noStrike" spc="-1" dirty="0">
                <a:solidFill>
                  <a:srgbClr val="000000"/>
                </a:solidFill>
                <a:latin typeface="Tahoma"/>
              </a:rPr>
              <a:t>:</a:t>
            </a:r>
            <a:r>
              <a:rPr lang="en-US" sz="3200" b="0" strike="noStrike" spc="-1" dirty="0">
                <a:solidFill>
                  <a:srgbClr val="000000"/>
                </a:solidFill>
                <a:latin typeface="Tahoma"/>
              </a:rPr>
              <a:t> </a:t>
            </a:r>
          </a:p>
          <a:p>
            <a:pPr marL="343080" indent="-342720">
              <a:lnSpc>
                <a:spcPct val="90000"/>
              </a:lnSpc>
              <a:spcBef>
                <a:spcPts val="641"/>
              </a:spcBef>
            </a:pPr>
            <a:r>
              <a:rPr lang="en-US" sz="3200" b="0" strike="noStrike" spc="-1" dirty="0">
                <a:solidFill>
                  <a:srgbClr val="000000"/>
                </a:solidFill>
                <a:latin typeface="Tahoma"/>
              </a:rPr>
              <a:t>    </a:t>
            </a:r>
            <a:r>
              <a:rPr lang="en-US" sz="2000" b="1" strike="noStrike" spc="-1" dirty="0">
                <a:solidFill>
                  <a:srgbClr val="000000"/>
                </a:solidFill>
                <a:latin typeface="Courier New"/>
              </a:rPr>
              <a:t>public class Operator{  </a:t>
            </a:r>
            <a:endParaRPr lang="en-US" sz="2000" b="0" strike="noStrike" spc="-1" dirty="0">
              <a:solidFill>
                <a:srgbClr val="000000"/>
              </a:solidFill>
              <a:latin typeface="Tahoma"/>
            </a:endParaRPr>
          </a:p>
          <a:p>
            <a:pPr marL="743040" indent="-285480">
              <a:lnSpc>
                <a:spcPct val="90000"/>
              </a:lnSpc>
              <a:spcBef>
                <a:spcPts val="400"/>
              </a:spcBef>
            </a:pPr>
            <a:r>
              <a:rPr lang="en-US" sz="2000" b="1" strike="noStrike" spc="-1" dirty="0">
                <a:solidFill>
                  <a:srgbClr val="000000"/>
                </a:solidFill>
                <a:latin typeface="Courier New"/>
              </a:rPr>
              <a:t>  public static void main(String </a:t>
            </a:r>
            <a:r>
              <a:rPr lang="en-US" sz="2000" b="1" strike="noStrike" spc="-1" dirty="0" err="1">
                <a:solidFill>
                  <a:srgbClr val="000000"/>
                </a:solidFill>
                <a:latin typeface="Courier New"/>
              </a:rPr>
              <a:t>args</a:t>
            </a:r>
            <a:r>
              <a:rPr lang="en-US" sz="2000" b="1" strike="noStrike" spc="-1" dirty="0">
                <a:solidFill>
                  <a:srgbClr val="000000"/>
                </a:solidFill>
                <a:latin typeface="Courier New"/>
              </a:rPr>
              <a:t>[]){</a:t>
            </a:r>
            <a:endParaRPr lang="en-US" sz="2000" b="0" strike="noStrike" spc="-1" dirty="0">
              <a:solidFill>
                <a:srgbClr val="000000"/>
              </a:solidFill>
              <a:latin typeface="Tahoma"/>
            </a:endParaRPr>
          </a:p>
          <a:p>
            <a:pPr marL="743040" indent="-285480">
              <a:lnSpc>
                <a:spcPct val="90000"/>
              </a:lnSpc>
              <a:spcBef>
                <a:spcPts val="400"/>
              </a:spcBef>
            </a:pPr>
            <a:r>
              <a:rPr lang="en-US" sz="2000" b="1" strike="noStrike" spc="-1" dirty="0">
                <a:solidFill>
                  <a:srgbClr val="000000"/>
                </a:solidFill>
                <a:latin typeface="Courier New"/>
              </a:rPr>
              <a:t> 	  </a:t>
            </a:r>
            <a:r>
              <a:rPr lang="en-US" sz="2000" b="1" strike="noStrike" spc="-1" dirty="0" err="1">
                <a:solidFill>
                  <a:srgbClr val="000000"/>
                </a:solidFill>
                <a:latin typeface="Courier New"/>
              </a:rPr>
              <a:t>int</a:t>
            </a:r>
            <a:r>
              <a:rPr lang="en-US" sz="2000" b="1" strike="noStrike" spc="-1" dirty="0">
                <a:solidFill>
                  <a:srgbClr val="000000"/>
                </a:solidFill>
                <a:latin typeface="Courier New"/>
              </a:rPr>
              <a:t> a=2, b=3,c;</a:t>
            </a:r>
            <a:endParaRPr lang="en-US" sz="2000" b="0" strike="noStrike" spc="-1" dirty="0">
              <a:solidFill>
                <a:srgbClr val="000000"/>
              </a:solidFill>
              <a:latin typeface="Tahoma"/>
            </a:endParaRPr>
          </a:p>
          <a:p>
            <a:pPr marL="743040" indent="-285480">
              <a:lnSpc>
                <a:spcPct val="90000"/>
              </a:lnSpc>
              <a:spcBef>
                <a:spcPts val="400"/>
              </a:spcBef>
            </a:pPr>
            <a:r>
              <a:rPr lang="en-US" sz="2000" b="1" strike="noStrike" spc="-1" dirty="0">
                <a:solidFill>
                  <a:srgbClr val="000000"/>
                </a:solidFill>
                <a:latin typeface="Courier New"/>
              </a:rPr>
              <a:t>	  c=</a:t>
            </a:r>
            <a:r>
              <a:rPr lang="en-US" sz="2000" b="1" strike="noStrike" spc="-1" dirty="0" err="1">
                <a:solidFill>
                  <a:srgbClr val="000000"/>
                </a:solidFill>
                <a:latin typeface="Courier New"/>
              </a:rPr>
              <a:t>a+b</a:t>
            </a:r>
            <a:r>
              <a:rPr lang="en-US" sz="2000" b="1" strike="noStrike" spc="-1" dirty="0">
                <a:solidFill>
                  <a:srgbClr val="000000"/>
                </a:solidFill>
                <a:latin typeface="Courier New"/>
              </a:rPr>
              <a:t>;	 </a:t>
            </a:r>
            <a:r>
              <a:rPr lang="en-US" sz="2000" b="1" strike="noStrike" spc="-1" dirty="0" err="1">
                <a:solidFill>
                  <a:srgbClr val="000000"/>
                </a:solidFill>
                <a:latin typeface="Courier New"/>
              </a:rPr>
              <a:t>System.out.println</a:t>
            </a:r>
            <a:r>
              <a:rPr lang="en-US" sz="2000" b="1" strike="noStrike" spc="-1" dirty="0">
                <a:solidFill>
                  <a:srgbClr val="000000"/>
                </a:solidFill>
                <a:latin typeface="Courier New"/>
              </a:rPr>
              <a:t>(a+" "+b+" "+c);</a:t>
            </a:r>
            <a:endParaRPr lang="en-US" sz="2000" b="0" strike="noStrike" spc="-1" dirty="0">
              <a:solidFill>
                <a:srgbClr val="000000"/>
              </a:solidFill>
              <a:latin typeface="Tahoma"/>
            </a:endParaRPr>
          </a:p>
          <a:p>
            <a:pPr marL="743040" indent="-285480">
              <a:lnSpc>
                <a:spcPct val="90000"/>
              </a:lnSpc>
              <a:spcBef>
                <a:spcPts val="400"/>
              </a:spcBef>
            </a:pPr>
            <a:r>
              <a:rPr lang="en-US" sz="2000" b="1" strike="noStrike" spc="-1" dirty="0">
                <a:solidFill>
                  <a:srgbClr val="000000"/>
                </a:solidFill>
                <a:latin typeface="Courier New"/>
              </a:rPr>
              <a:t>    a++;--b;  	 </a:t>
            </a:r>
            <a:r>
              <a:rPr lang="en-US" sz="2000" b="1" strike="noStrike" spc="-1" dirty="0" err="1">
                <a:solidFill>
                  <a:srgbClr val="000000"/>
                </a:solidFill>
                <a:latin typeface="Courier New"/>
              </a:rPr>
              <a:t>System.out.println</a:t>
            </a:r>
            <a:r>
              <a:rPr lang="en-US" sz="2000" b="1" strike="noStrike" spc="-1" dirty="0">
                <a:solidFill>
                  <a:srgbClr val="000000"/>
                </a:solidFill>
                <a:latin typeface="Courier New"/>
              </a:rPr>
              <a:t>(a+" "+b+" "+c);  	 c=++</a:t>
            </a:r>
            <a:r>
              <a:rPr lang="en-US" sz="2000" b="1" strike="noStrike" spc="-1" dirty="0" err="1">
                <a:solidFill>
                  <a:srgbClr val="000000"/>
                </a:solidFill>
                <a:latin typeface="Courier New"/>
              </a:rPr>
              <a:t>a+b</a:t>
            </a:r>
            <a:r>
              <a:rPr lang="en-US" sz="2000" b="1" strike="noStrike" spc="-1" dirty="0">
                <a:solidFill>
                  <a:srgbClr val="000000"/>
                </a:solidFill>
                <a:latin typeface="Courier New"/>
              </a:rPr>
              <a:t>++;  </a:t>
            </a:r>
            <a:r>
              <a:rPr lang="en-US" sz="2000" b="1" strike="noStrike" spc="-1" dirty="0" err="1">
                <a:solidFill>
                  <a:srgbClr val="000000"/>
                </a:solidFill>
                <a:latin typeface="Courier New"/>
              </a:rPr>
              <a:t>System.out.println</a:t>
            </a:r>
            <a:r>
              <a:rPr lang="en-US" sz="2000" b="1" strike="noStrike" spc="-1" dirty="0">
                <a:solidFill>
                  <a:srgbClr val="000000"/>
                </a:solidFill>
                <a:latin typeface="Courier New"/>
              </a:rPr>
              <a:t>(a+" "+b+" "+c);</a:t>
            </a:r>
            <a:endParaRPr lang="en-US" sz="2000" b="0" strike="noStrike" spc="-1" dirty="0">
              <a:solidFill>
                <a:srgbClr val="000000"/>
              </a:solidFill>
              <a:latin typeface="Tahoma"/>
            </a:endParaRPr>
          </a:p>
          <a:p>
            <a:pPr marL="743040" indent="-285480">
              <a:lnSpc>
                <a:spcPct val="90000"/>
              </a:lnSpc>
              <a:spcBef>
                <a:spcPts val="400"/>
              </a:spcBef>
            </a:pPr>
            <a:r>
              <a:rPr lang="en-US" sz="2000" b="1" strike="noStrike" spc="-1" dirty="0">
                <a:solidFill>
                  <a:srgbClr val="000000"/>
                </a:solidFill>
                <a:latin typeface="Courier New"/>
              </a:rPr>
              <a:t>    a/=2;b*=2;  </a:t>
            </a:r>
            <a:r>
              <a:rPr lang="en-US" sz="2000" b="1" strike="noStrike" spc="-1" dirty="0" err="1">
                <a:solidFill>
                  <a:srgbClr val="000000"/>
                </a:solidFill>
                <a:latin typeface="Courier New"/>
              </a:rPr>
              <a:t>System.out.println</a:t>
            </a:r>
            <a:r>
              <a:rPr lang="en-US" sz="2000" b="1" strike="noStrike" spc="-1" dirty="0">
                <a:solidFill>
                  <a:srgbClr val="000000"/>
                </a:solidFill>
                <a:latin typeface="Courier New"/>
              </a:rPr>
              <a:t>(a+" "+b+" "+c);</a:t>
            </a:r>
            <a:endParaRPr lang="en-US" sz="2000" b="0" strike="noStrike" spc="-1" dirty="0">
              <a:solidFill>
                <a:srgbClr val="000000"/>
              </a:solidFill>
              <a:latin typeface="Tahoma"/>
            </a:endParaRPr>
          </a:p>
          <a:p>
            <a:pPr marL="743040" indent="-285480">
              <a:lnSpc>
                <a:spcPct val="90000"/>
              </a:lnSpc>
              <a:spcBef>
                <a:spcPts val="400"/>
              </a:spcBef>
            </a:pPr>
            <a:r>
              <a:rPr lang="en-US" sz="2000" b="1" strike="noStrike" spc="-1" dirty="0">
                <a:solidFill>
                  <a:srgbClr val="000000"/>
                </a:solidFill>
                <a:latin typeface="Courier New"/>
              </a:rPr>
              <a:t>    c=a-- + --</a:t>
            </a:r>
            <a:r>
              <a:rPr lang="en-US" sz="2000" b="1" strike="noStrike" spc="-1" dirty="0" err="1">
                <a:solidFill>
                  <a:srgbClr val="000000"/>
                </a:solidFill>
                <a:latin typeface="Courier New"/>
              </a:rPr>
              <a:t>b;System.out.println</a:t>
            </a:r>
            <a:r>
              <a:rPr lang="en-US" sz="2000" b="1" strike="noStrike" spc="-1" dirty="0">
                <a:solidFill>
                  <a:srgbClr val="000000"/>
                </a:solidFill>
                <a:latin typeface="Courier New"/>
              </a:rPr>
              <a:t>(a+" "+b+" "+c);</a:t>
            </a:r>
            <a:endParaRPr lang="en-US" sz="2000" b="0" strike="noStrike" spc="-1" dirty="0">
              <a:solidFill>
                <a:srgbClr val="000000"/>
              </a:solidFill>
              <a:latin typeface="Tahoma"/>
            </a:endParaRPr>
          </a:p>
          <a:p>
            <a:pPr marL="743040" indent="-285480">
              <a:lnSpc>
                <a:spcPct val="90000"/>
              </a:lnSpc>
              <a:spcBef>
                <a:spcPts val="400"/>
              </a:spcBef>
            </a:pPr>
            <a:r>
              <a:rPr lang="en-US" sz="2000" b="1" strike="noStrike" spc="-1" dirty="0">
                <a:solidFill>
                  <a:srgbClr val="000000"/>
                </a:solidFill>
                <a:latin typeface="Courier New"/>
              </a:rPr>
              <a:t>    c=b=(a+=1); </a:t>
            </a:r>
            <a:r>
              <a:rPr lang="en-US" sz="2000" b="1" strike="noStrike" spc="-1" dirty="0" err="1">
                <a:solidFill>
                  <a:srgbClr val="000000"/>
                </a:solidFill>
                <a:latin typeface="Courier New"/>
              </a:rPr>
              <a:t>System.out.println</a:t>
            </a:r>
            <a:r>
              <a:rPr lang="en-US" sz="2000" b="1" strike="noStrike" spc="-1" dirty="0">
                <a:solidFill>
                  <a:srgbClr val="000000"/>
                </a:solidFill>
                <a:latin typeface="Courier New"/>
              </a:rPr>
              <a:t>(a+" "+b+" "+c);</a:t>
            </a:r>
            <a:endParaRPr lang="en-US" sz="2000" b="0" strike="noStrike" spc="-1" dirty="0">
              <a:solidFill>
                <a:srgbClr val="000000"/>
              </a:solidFill>
              <a:latin typeface="Tahoma"/>
            </a:endParaRPr>
          </a:p>
          <a:p>
            <a:pPr marL="743040" indent="-285480">
              <a:lnSpc>
                <a:spcPct val="90000"/>
              </a:lnSpc>
              <a:spcBef>
                <a:spcPts val="400"/>
              </a:spcBef>
            </a:pPr>
            <a:r>
              <a:rPr lang="en-US" sz="2000" b="1" strike="noStrike" spc="-1" dirty="0">
                <a:solidFill>
                  <a:srgbClr val="000000"/>
                </a:solidFill>
                <a:latin typeface="Courier New"/>
              </a:rPr>
              <a:t>  }</a:t>
            </a:r>
            <a:endParaRPr lang="en-US" sz="2000" b="0" strike="noStrike" spc="-1" dirty="0">
              <a:solidFill>
                <a:srgbClr val="000000"/>
              </a:solidFill>
              <a:latin typeface="Tahoma"/>
            </a:endParaRPr>
          </a:p>
          <a:p>
            <a:pPr marL="743040" indent="-285480">
              <a:lnSpc>
                <a:spcPct val="90000"/>
              </a:lnSpc>
              <a:spcBef>
                <a:spcPts val="400"/>
              </a:spcBef>
            </a:pPr>
            <a:r>
              <a:rPr lang="en-US" sz="2000" b="1" strike="noStrike" spc="-1" dirty="0">
                <a:solidFill>
                  <a:srgbClr val="000000"/>
                </a:solidFill>
                <a:latin typeface="Courier New"/>
              </a:rPr>
              <a:t>} </a:t>
            </a:r>
            <a:endParaRPr lang="en-US" sz="2000" b="0" strike="noStrike" spc="-1" dirty="0">
              <a:solidFill>
                <a:srgbClr val="000000"/>
              </a:solidFill>
              <a:latin typeface="Tahoma"/>
            </a:endParaRPr>
          </a:p>
          <a:p>
            <a:pPr>
              <a:lnSpc>
                <a:spcPct val="90000"/>
              </a:lnSpc>
              <a:spcBef>
                <a:spcPts val="400"/>
              </a:spcBef>
            </a:pPr>
            <a:endParaRPr lang="en-US" sz="20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211E71B6-E5CF-4659-BCB9-E74F726692B5}" type="slidenum">
              <a:rPr lang="en-US" sz="1400" b="0" strike="noStrike" spc="-1">
                <a:solidFill>
                  <a:srgbClr val="5E574E"/>
                </a:solidFill>
                <a:latin typeface="Arial"/>
              </a:rPr>
              <a:t>18</a:t>
            </a:fld>
            <a:endParaRPr lang="en-US" sz="1400" b="0" strike="noStrike" spc="-1">
              <a:latin typeface="Times New Roman"/>
            </a:endParaRPr>
          </a:p>
        </p:txBody>
      </p:sp>
      <p:sp>
        <p:nvSpPr>
          <p:cNvPr id="318"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19" name="TextShape 5"/>
          <p:cNvSpPr txBox="1"/>
          <p:nvPr/>
        </p:nvSpPr>
        <p:spPr>
          <a:xfrm>
            <a:off x="219600" y="1741834"/>
            <a:ext cx="8859600" cy="4838400"/>
          </a:xfrm>
          <a:prstGeom prst="rect">
            <a:avLst/>
          </a:prstGeom>
          <a:noFill/>
          <a:ln>
            <a:noFill/>
          </a:ln>
        </p:spPr>
        <p:txBody>
          <a:bodyPr>
            <a:noAutofit/>
          </a:bodyPr>
          <a:lstStyle/>
          <a:p>
            <a:pPr marL="1371600" indent="-456840">
              <a:lnSpc>
                <a:spcPct val="80000"/>
              </a:lnSpc>
              <a:spcBef>
                <a:spcPts val="479"/>
              </a:spcBef>
            </a:pPr>
            <a:r>
              <a:rPr lang="en-US" sz="2400" b="1" strike="noStrike" spc="-1" dirty="0" err="1">
                <a:solidFill>
                  <a:srgbClr val="008000"/>
                </a:solidFill>
                <a:latin typeface="Tahoma"/>
              </a:rPr>
              <a:t>Comentarii</a:t>
            </a:r>
            <a:endParaRPr lang="en-US" sz="2400" b="0" strike="noStrike" spc="-1" dirty="0">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strike="noStrike" spc="-1" dirty="0" err="1">
                <a:solidFill>
                  <a:srgbClr val="000000"/>
                </a:solidFill>
                <a:latin typeface="Tahoma"/>
              </a:rPr>
              <a:t>În</a:t>
            </a:r>
            <a:r>
              <a:rPr lang="en-US" sz="1800" b="0" strike="noStrike" spc="-1" dirty="0">
                <a:solidFill>
                  <a:srgbClr val="000000"/>
                </a:solidFill>
                <a:latin typeface="Tahoma"/>
              </a:rPr>
              <a:t> Java </a:t>
            </a:r>
            <a:r>
              <a:rPr lang="en-US" sz="1800" b="0" strike="noStrike" spc="-1" dirty="0" err="1">
                <a:solidFill>
                  <a:srgbClr val="000000"/>
                </a:solidFill>
                <a:latin typeface="Tahoma"/>
              </a:rPr>
              <a:t>există</a:t>
            </a:r>
            <a:r>
              <a:rPr lang="en-US" sz="1800" b="0" strike="noStrike" spc="-1" dirty="0">
                <a:solidFill>
                  <a:srgbClr val="000000"/>
                </a:solidFill>
                <a:latin typeface="Tahoma"/>
              </a:rPr>
              <a:t> </a:t>
            </a:r>
            <a:r>
              <a:rPr lang="en-US" sz="1800" b="0" strike="noStrike" spc="-1" dirty="0" err="1">
                <a:solidFill>
                  <a:srgbClr val="000000"/>
                </a:solidFill>
                <a:latin typeface="Tahoma"/>
              </a:rPr>
              <a:t>trei</a:t>
            </a:r>
            <a:r>
              <a:rPr lang="en-US" sz="1800" b="0" strike="noStrike" spc="-1" dirty="0">
                <a:solidFill>
                  <a:srgbClr val="000000"/>
                </a:solidFill>
                <a:latin typeface="Tahoma"/>
              </a:rPr>
              <a:t> </a:t>
            </a:r>
            <a:r>
              <a:rPr lang="en-US" sz="1800" b="0" strike="noStrike" spc="-1" dirty="0" err="1">
                <a:solidFill>
                  <a:srgbClr val="000000"/>
                </a:solidFill>
                <a:latin typeface="Tahoma"/>
              </a:rPr>
              <a:t>feluri</a:t>
            </a:r>
            <a:r>
              <a:rPr lang="en-US" sz="1800" b="0" strike="noStrike" spc="-1" dirty="0">
                <a:solidFill>
                  <a:srgbClr val="000000"/>
                </a:solidFill>
                <a:latin typeface="Tahoma"/>
              </a:rPr>
              <a:t> de </a:t>
            </a:r>
            <a:r>
              <a:rPr lang="en-US" sz="1800" b="0" strike="noStrike" spc="-1" dirty="0" err="1">
                <a:solidFill>
                  <a:srgbClr val="000000"/>
                </a:solidFill>
                <a:latin typeface="Tahoma"/>
              </a:rPr>
              <a:t>comentarii</a:t>
            </a:r>
            <a:r>
              <a:rPr lang="en-US" sz="1800" b="0" strike="noStrike" spc="-1" dirty="0">
                <a:solidFill>
                  <a:srgbClr val="000000"/>
                </a:solidFill>
                <a:latin typeface="Tahoma"/>
              </a:rPr>
              <a:t>: </a:t>
            </a:r>
          </a:p>
          <a:p>
            <a:pPr marL="609480" indent="-609120">
              <a:lnSpc>
                <a:spcPct val="80000"/>
              </a:lnSpc>
              <a:spcBef>
                <a:spcPts val="360"/>
              </a:spcBef>
            </a:pPr>
            <a:r>
              <a:rPr lang="en-US" sz="1800" b="0" strike="noStrike" spc="-1" dirty="0">
                <a:solidFill>
                  <a:srgbClr val="000000"/>
                </a:solidFill>
                <a:latin typeface="Tahoma"/>
              </a:rPr>
              <a:t>		</a:t>
            </a:r>
            <a:r>
              <a:rPr lang="en-US" sz="1800" b="0" strike="noStrike" spc="-1" dirty="0" err="1">
                <a:solidFill>
                  <a:srgbClr val="000000"/>
                </a:solidFill>
                <a:latin typeface="Tahoma"/>
              </a:rPr>
              <a:t>Comentarii</a:t>
            </a:r>
            <a:r>
              <a:rPr lang="en-US" sz="1800" b="0" strike="noStrike" spc="-1" dirty="0">
                <a:solidFill>
                  <a:srgbClr val="000000"/>
                </a:solidFill>
                <a:latin typeface="Tahoma"/>
              </a:rPr>
              <a:t> </a:t>
            </a:r>
            <a:r>
              <a:rPr lang="en-US" sz="1800" b="0" strike="noStrike" spc="-1" dirty="0" err="1">
                <a:solidFill>
                  <a:srgbClr val="000000"/>
                </a:solidFill>
                <a:latin typeface="Tahoma"/>
              </a:rPr>
              <a:t>pe</a:t>
            </a:r>
            <a:r>
              <a:rPr lang="en-US" sz="1800" b="0" strike="noStrike" spc="-1" dirty="0">
                <a:solidFill>
                  <a:srgbClr val="000000"/>
                </a:solidFill>
                <a:latin typeface="Tahoma"/>
              </a:rPr>
              <a:t> o </a:t>
            </a:r>
            <a:r>
              <a:rPr lang="en-US" sz="1800" b="0" strike="noStrike" spc="-1" dirty="0" err="1">
                <a:solidFill>
                  <a:srgbClr val="000000"/>
                </a:solidFill>
                <a:latin typeface="Tahoma"/>
              </a:rPr>
              <a:t>singură</a:t>
            </a:r>
            <a:r>
              <a:rPr lang="en-US" sz="1800" b="0" strike="noStrike" spc="-1" dirty="0">
                <a:solidFill>
                  <a:srgbClr val="000000"/>
                </a:solidFill>
                <a:latin typeface="Tahoma"/>
              </a:rPr>
              <a:t> </a:t>
            </a:r>
            <a:r>
              <a:rPr lang="en-US" sz="1800" b="0" strike="noStrike" spc="-1" dirty="0" err="1">
                <a:solidFill>
                  <a:srgbClr val="000000"/>
                </a:solidFill>
                <a:latin typeface="Tahoma"/>
              </a:rPr>
              <a:t>linie</a:t>
            </a:r>
            <a:r>
              <a:rPr lang="en-US" sz="1800" b="0" strike="noStrike" spc="-1" dirty="0">
                <a:solidFill>
                  <a:srgbClr val="000000"/>
                </a:solidFill>
                <a:latin typeface="Tahoma"/>
              </a:rPr>
              <a:t>: </a:t>
            </a:r>
            <a:r>
              <a:rPr lang="en-US" sz="1800" b="0" strike="noStrike" spc="-1" dirty="0" err="1">
                <a:solidFill>
                  <a:srgbClr val="000000"/>
                </a:solidFill>
                <a:latin typeface="Tahoma"/>
              </a:rPr>
              <a:t>încep</a:t>
            </a:r>
            <a:r>
              <a:rPr lang="en-US" sz="1800" b="0" strike="noStrike" spc="-1" dirty="0">
                <a:solidFill>
                  <a:srgbClr val="000000"/>
                </a:solidFill>
                <a:latin typeface="Tahoma"/>
              </a:rPr>
              <a:t> cu //. </a:t>
            </a:r>
          </a:p>
          <a:p>
            <a:pPr marL="609480" indent="-609120">
              <a:lnSpc>
                <a:spcPct val="80000"/>
              </a:lnSpc>
              <a:spcBef>
                <a:spcPts val="360"/>
              </a:spcBef>
            </a:pPr>
            <a:r>
              <a:rPr lang="en-US" sz="1800" b="0" strike="noStrike" spc="-1" dirty="0">
                <a:solidFill>
                  <a:srgbClr val="000000"/>
                </a:solidFill>
                <a:latin typeface="Tahoma"/>
              </a:rPr>
              <a:t>		</a:t>
            </a:r>
            <a:r>
              <a:rPr lang="en-US" sz="1800" b="0" strike="noStrike" spc="-1" dirty="0" err="1">
                <a:solidFill>
                  <a:srgbClr val="000000"/>
                </a:solidFill>
                <a:latin typeface="Tahoma"/>
              </a:rPr>
              <a:t>Comentarii</a:t>
            </a:r>
            <a:r>
              <a:rPr lang="en-US" sz="1800" b="0" strike="noStrike" spc="-1" dirty="0">
                <a:solidFill>
                  <a:srgbClr val="000000"/>
                </a:solidFill>
                <a:latin typeface="Tahoma"/>
              </a:rPr>
              <a:t> </a:t>
            </a:r>
            <a:r>
              <a:rPr lang="en-US" sz="1800" b="0" strike="noStrike" spc="-1" dirty="0" err="1">
                <a:solidFill>
                  <a:srgbClr val="000000"/>
                </a:solidFill>
                <a:latin typeface="Tahoma"/>
              </a:rPr>
              <a:t>pe</a:t>
            </a:r>
            <a:r>
              <a:rPr lang="en-US" sz="1800" b="0" strike="noStrike" spc="-1" dirty="0">
                <a:solidFill>
                  <a:srgbClr val="000000"/>
                </a:solidFill>
                <a:latin typeface="Tahoma"/>
              </a:rPr>
              <a:t> </a:t>
            </a:r>
            <a:r>
              <a:rPr lang="en-US" sz="1800" b="0" strike="noStrike" spc="-1" dirty="0" err="1">
                <a:solidFill>
                  <a:srgbClr val="000000"/>
                </a:solidFill>
                <a:latin typeface="Tahoma"/>
              </a:rPr>
              <a:t>mai</a:t>
            </a:r>
            <a:r>
              <a:rPr lang="en-US" sz="1800" b="0" strike="noStrike" spc="-1" dirty="0">
                <a:solidFill>
                  <a:srgbClr val="000000"/>
                </a:solidFill>
                <a:latin typeface="Tahoma"/>
              </a:rPr>
              <a:t> </a:t>
            </a:r>
            <a:r>
              <a:rPr lang="en-US" sz="1800" b="0" strike="noStrike" spc="-1" dirty="0" err="1">
                <a:solidFill>
                  <a:srgbClr val="000000"/>
                </a:solidFill>
                <a:latin typeface="Tahoma"/>
              </a:rPr>
              <a:t>multe</a:t>
            </a:r>
            <a:r>
              <a:rPr lang="en-US" sz="1800" b="0" strike="noStrike" spc="-1" dirty="0">
                <a:solidFill>
                  <a:srgbClr val="000000"/>
                </a:solidFill>
                <a:latin typeface="Tahoma"/>
              </a:rPr>
              <a:t> </a:t>
            </a:r>
            <a:r>
              <a:rPr lang="en-US" sz="1800" b="0" strike="noStrike" spc="-1" dirty="0" err="1">
                <a:solidFill>
                  <a:srgbClr val="000000"/>
                </a:solidFill>
                <a:latin typeface="Tahoma"/>
              </a:rPr>
              <a:t>linii</a:t>
            </a:r>
            <a:r>
              <a:rPr lang="en-US" sz="1800" b="0" strike="noStrike" spc="-1" dirty="0">
                <a:solidFill>
                  <a:srgbClr val="000000"/>
                </a:solidFill>
                <a:latin typeface="Tahoma"/>
              </a:rPr>
              <a:t>, </a:t>
            </a:r>
            <a:r>
              <a:rPr lang="en-US" sz="1800" b="0" strike="noStrike" spc="-1" dirty="0" err="1">
                <a:solidFill>
                  <a:srgbClr val="000000"/>
                </a:solidFill>
                <a:latin typeface="Tahoma"/>
              </a:rPr>
              <a:t>închise</a:t>
            </a:r>
            <a:r>
              <a:rPr lang="en-US" sz="1800" b="0" strike="noStrike" spc="-1" dirty="0">
                <a:solidFill>
                  <a:srgbClr val="000000"/>
                </a:solidFill>
                <a:latin typeface="Tahoma"/>
              </a:rPr>
              <a:t> </a:t>
            </a:r>
            <a:r>
              <a:rPr lang="en-US" sz="1800" b="0" strike="noStrike" spc="-1" dirty="0" err="1">
                <a:solidFill>
                  <a:srgbClr val="000000"/>
                </a:solidFill>
                <a:latin typeface="Tahoma"/>
              </a:rPr>
              <a:t>între</a:t>
            </a:r>
            <a:r>
              <a:rPr lang="en-US" sz="1800" b="0" strike="noStrike" spc="-1" dirty="0">
                <a:solidFill>
                  <a:srgbClr val="000000"/>
                </a:solidFill>
                <a:latin typeface="Tahoma"/>
              </a:rPr>
              <a:t> /* </a:t>
            </a:r>
            <a:r>
              <a:rPr lang="en-US" sz="1800" b="0" strike="noStrike" spc="-1" dirty="0" err="1">
                <a:solidFill>
                  <a:srgbClr val="000000"/>
                </a:solidFill>
                <a:latin typeface="Tahoma"/>
              </a:rPr>
              <a:t>şi</a:t>
            </a:r>
            <a:r>
              <a:rPr lang="en-US" sz="1800" b="0" strike="noStrike" spc="-1" dirty="0">
                <a:solidFill>
                  <a:srgbClr val="000000"/>
                </a:solidFill>
                <a:latin typeface="Tahoma"/>
              </a:rPr>
              <a:t> */. </a:t>
            </a:r>
          </a:p>
          <a:p>
            <a:pPr marL="609480" indent="-609120">
              <a:lnSpc>
                <a:spcPct val="80000"/>
              </a:lnSpc>
              <a:spcBef>
                <a:spcPts val="360"/>
              </a:spcBef>
            </a:pPr>
            <a:r>
              <a:rPr lang="en-US" sz="1800" b="0" strike="noStrike" spc="-1" dirty="0">
                <a:solidFill>
                  <a:srgbClr val="000000"/>
                </a:solidFill>
                <a:latin typeface="Tahoma"/>
              </a:rPr>
              <a:t>		</a:t>
            </a:r>
            <a:r>
              <a:rPr lang="en-US" sz="1800" b="0" strike="noStrike" spc="-1" dirty="0" err="1">
                <a:solidFill>
                  <a:srgbClr val="000000"/>
                </a:solidFill>
                <a:latin typeface="Tahoma"/>
              </a:rPr>
              <a:t>Comentarii</a:t>
            </a:r>
            <a:r>
              <a:rPr lang="en-US" sz="1800" b="0" strike="noStrike" spc="-1" dirty="0">
                <a:solidFill>
                  <a:srgbClr val="000000"/>
                </a:solidFill>
                <a:latin typeface="Tahoma"/>
              </a:rPr>
              <a:t> </a:t>
            </a:r>
            <a:r>
              <a:rPr lang="en-US" sz="1800" b="0" strike="noStrike" spc="-1" dirty="0" err="1">
                <a:solidFill>
                  <a:srgbClr val="000000"/>
                </a:solidFill>
                <a:latin typeface="Tahoma"/>
              </a:rPr>
              <a:t>pe</a:t>
            </a:r>
            <a:r>
              <a:rPr lang="en-US" sz="1800" b="0" strike="noStrike" spc="-1" dirty="0">
                <a:solidFill>
                  <a:srgbClr val="000000"/>
                </a:solidFill>
                <a:latin typeface="Tahoma"/>
              </a:rPr>
              <a:t> </a:t>
            </a:r>
            <a:r>
              <a:rPr lang="en-US" sz="1800" b="0" strike="noStrike" spc="-1" dirty="0" err="1">
                <a:solidFill>
                  <a:srgbClr val="000000"/>
                </a:solidFill>
                <a:latin typeface="Tahoma"/>
              </a:rPr>
              <a:t>mai</a:t>
            </a:r>
            <a:r>
              <a:rPr lang="en-US" sz="1800" b="0" strike="noStrike" spc="-1" dirty="0">
                <a:solidFill>
                  <a:srgbClr val="000000"/>
                </a:solidFill>
                <a:latin typeface="Tahoma"/>
              </a:rPr>
              <a:t> </a:t>
            </a:r>
            <a:r>
              <a:rPr lang="en-US" sz="1800" b="0" strike="noStrike" spc="-1" dirty="0" err="1">
                <a:solidFill>
                  <a:srgbClr val="000000"/>
                </a:solidFill>
                <a:latin typeface="Tahoma"/>
              </a:rPr>
              <a:t>multe</a:t>
            </a:r>
            <a:r>
              <a:rPr lang="en-US" sz="1800" b="0" strike="noStrike" spc="-1" dirty="0">
                <a:solidFill>
                  <a:srgbClr val="000000"/>
                </a:solidFill>
                <a:latin typeface="Tahoma"/>
              </a:rPr>
              <a:t> </a:t>
            </a:r>
            <a:r>
              <a:rPr lang="en-US" sz="1800" b="0" strike="noStrike" spc="-1" dirty="0" err="1">
                <a:solidFill>
                  <a:srgbClr val="000000"/>
                </a:solidFill>
                <a:latin typeface="Tahoma"/>
              </a:rPr>
              <a:t>linii</a:t>
            </a:r>
            <a:r>
              <a:rPr lang="en-US" sz="1800" b="0" strike="noStrike" spc="-1" dirty="0">
                <a:solidFill>
                  <a:srgbClr val="000000"/>
                </a:solidFill>
                <a:latin typeface="Tahoma"/>
              </a:rPr>
              <a:t> care </a:t>
            </a:r>
            <a:r>
              <a:rPr lang="en-US" sz="1800" b="0" strike="noStrike" spc="-1" dirty="0" err="1">
                <a:solidFill>
                  <a:srgbClr val="000000"/>
                </a:solidFill>
                <a:latin typeface="Tahoma"/>
              </a:rPr>
              <a:t>formează</a:t>
            </a:r>
            <a:r>
              <a:rPr lang="en-US" sz="1800" b="0" strike="noStrike" spc="-1" dirty="0">
                <a:solidFill>
                  <a:srgbClr val="000000"/>
                </a:solidFill>
                <a:latin typeface="Tahoma"/>
              </a:rPr>
              <a:t> </a:t>
            </a:r>
            <a:r>
              <a:rPr lang="en-US" sz="1800" b="0" strike="noStrike" spc="-1" dirty="0" err="1">
                <a:solidFill>
                  <a:srgbClr val="000000"/>
                </a:solidFill>
                <a:latin typeface="Tahoma"/>
              </a:rPr>
              <a:t>documentaţia</a:t>
            </a:r>
            <a:r>
              <a:rPr lang="en-US" sz="1800" b="0" strike="noStrike" spc="-1" dirty="0">
                <a:solidFill>
                  <a:srgbClr val="000000"/>
                </a:solidFill>
                <a:latin typeface="Tahoma"/>
              </a:rPr>
              <a:t>, </a:t>
            </a:r>
            <a:r>
              <a:rPr lang="en-US" sz="1800" b="0" strike="noStrike" spc="-1" dirty="0" err="1">
                <a:solidFill>
                  <a:srgbClr val="000000"/>
                </a:solidFill>
                <a:latin typeface="Tahoma"/>
              </a:rPr>
              <a:t>închise</a:t>
            </a:r>
            <a:r>
              <a:rPr lang="en-US" sz="1800" b="0" strike="noStrike" spc="-1" dirty="0">
                <a:solidFill>
                  <a:srgbClr val="000000"/>
                </a:solidFill>
                <a:latin typeface="Tahoma"/>
              </a:rPr>
              <a:t> </a:t>
            </a:r>
            <a:r>
              <a:rPr lang="en-US" sz="1800" b="0" strike="noStrike" spc="-1" dirty="0" err="1">
                <a:solidFill>
                  <a:srgbClr val="000000"/>
                </a:solidFill>
                <a:latin typeface="Tahoma"/>
              </a:rPr>
              <a:t>între</a:t>
            </a:r>
            <a:r>
              <a:rPr lang="en-US" sz="1800" b="0" strike="noStrike" spc="-1" dirty="0">
                <a:solidFill>
                  <a:srgbClr val="000000"/>
                </a:solidFill>
                <a:latin typeface="Tahoma"/>
              </a:rPr>
              <a:t> /**</a:t>
            </a:r>
          </a:p>
          <a:p>
            <a:pPr marL="609480" indent="-609120">
              <a:lnSpc>
                <a:spcPct val="80000"/>
              </a:lnSpc>
              <a:spcBef>
                <a:spcPts val="360"/>
              </a:spcBef>
            </a:pPr>
            <a:r>
              <a:rPr lang="en-US" sz="1800" b="0" strike="noStrike" spc="-1" dirty="0">
                <a:solidFill>
                  <a:srgbClr val="000000"/>
                </a:solidFill>
                <a:latin typeface="Tahoma"/>
              </a:rPr>
              <a:t>		 </a:t>
            </a:r>
            <a:r>
              <a:rPr lang="en-US" sz="1800" b="0" strike="noStrike" spc="-1" dirty="0" err="1">
                <a:solidFill>
                  <a:srgbClr val="000000"/>
                </a:solidFill>
                <a:latin typeface="Tahoma"/>
              </a:rPr>
              <a:t>şi</a:t>
            </a:r>
            <a:r>
              <a:rPr lang="en-US" sz="1800" b="0" strike="noStrike" spc="-1" dirty="0">
                <a:solidFill>
                  <a:srgbClr val="000000"/>
                </a:solidFill>
                <a:latin typeface="Tahoma"/>
              </a:rPr>
              <a:t> **/. </a:t>
            </a:r>
            <a:r>
              <a:rPr lang="en-US" sz="1800" b="0" strike="noStrike" spc="-1" dirty="0" err="1">
                <a:solidFill>
                  <a:srgbClr val="000000"/>
                </a:solidFill>
                <a:latin typeface="Tahoma"/>
              </a:rPr>
              <a:t>Textul</a:t>
            </a:r>
            <a:r>
              <a:rPr lang="en-US" sz="1800" b="0" strike="noStrike" spc="-1" dirty="0">
                <a:solidFill>
                  <a:srgbClr val="000000"/>
                </a:solidFill>
                <a:latin typeface="Tahoma"/>
              </a:rPr>
              <a:t> </a:t>
            </a:r>
            <a:r>
              <a:rPr lang="en-US" sz="1800" b="0" strike="noStrike" spc="-1" dirty="0" err="1">
                <a:solidFill>
                  <a:srgbClr val="000000"/>
                </a:solidFill>
                <a:latin typeface="Tahoma"/>
              </a:rPr>
              <a:t>dintre</a:t>
            </a:r>
            <a:r>
              <a:rPr lang="en-US" sz="1800" b="0" strike="noStrike" spc="-1" dirty="0">
                <a:solidFill>
                  <a:srgbClr val="000000"/>
                </a:solidFill>
                <a:latin typeface="Tahoma"/>
              </a:rPr>
              <a:t> </a:t>
            </a:r>
            <a:r>
              <a:rPr lang="en-US" sz="1800" b="0" strike="noStrike" spc="-1" dirty="0" err="1">
                <a:solidFill>
                  <a:srgbClr val="000000"/>
                </a:solidFill>
                <a:latin typeface="Tahoma"/>
              </a:rPr>
              <a:t>cele</a:t>
            </a:r>
            <a:r>
              <a:rPr lang="en-US" sz="1800" b="0" strike="noStrike" spc="-1" dirty="0">
                <a:solidFill>
                  <a:srgbClr val="000000"/>
                </a:solidFill>
                <a:latin typeface="Tahoma"/>
              </a:rPr>
              <a:t> </a:t>
            </a:r>
            <a:r>
              <a:rPr lang="en-US" sz="1800" b="0" strike="noStrike" spc="-1" dirty="0" err="1">
                <a:solidFill>
                  <a:srgbClr val="000000"/>
                </a:solidFill>
                <a:latin typeface="Tahoma"/>
              </a:rPr>
              <a:t>douã</a:t>
            </a:r>
            <a:r>
              <a:rPr lang="en-US" sz="1800" b="0" strike="noStrike" spc="-1" dirty="0">
                <a:solidFill>
                  <a:srgbClr val="000000"/>
                </a:solidFill>
                <a:latin typeface="Tahoma"/>
              </a:rPr>
              <a:t> </a:t>
            </a:r>
            <a:r>
              <a:rPr lang="en-US" sz="1800" b="0" strike="noStrike" spc="-1" dirty="0" err="1">
                <a:solidFill>
                  <a:srgbClr val="000000"/>
                </a:solidFill>
                <a:latin typeface="Tahoma"/>
              </a:rPr>
              <a:t>secvenţe</a:t>
            </a:r>
            <a:r>
              <a:rPr lang="en-US" sz="1800" b="0" strike="noStrike" spc="-1" dirty="0">
                <a:solidFill>
                  <a:srgbClr val="000000"/>
                </a:solidFill>
                <a:latin typeface="Tahoma"/>
              </a:rPr>
              <a:t> </a:t>
            </a:r>
            <a:r>
              <a:rPr lang="en-US" sz="1800" b="0" strike="noStrike" spc="-1" dirty="0" err="1">
                <a:solidFill>
                  <a:srgbClr val="000000"/>
                </a:solidFill>
                <a:latin typeface="Tahoma"/>
              </a:rPr>
              <a:t>este</a:t>
            </a:r>
            <a:r>
              <a:rPr lang="en-US" sz="1800" b="0" strike="noStrike" spc="-1" dirty="0">
                <a:solidFill>
                  <a:srgbClr val="000000"/>
                </a:solidFill>
                <a:latin typeface="Tahoma"/>
              </a:rPr>
              <a:t> automat </a:t>
            </a:r>
            <a:r>
              <a:rPr lang="en-US" sz="1800" b="0" strike="noStrike" spc="-1" dirty="0" err="1">
                <a:solidFill>
                  <a:srgbClr val="000000"/>
                </a:solidFill>
                <a:latin typeface="Tahoma"/>
              </a:rPr>
              <a:t>mutat</a:t>
            </a:r>
            <a:r>
              <a:rPr lang="en-US" sz="1800" b="0" strike="noStrike" spc="-1" dirty="0">
                <a:solidFill>
                  <a:srgbClr val="000000"/>
                </a:solidFill>
                <a:latin typeface="Tahoma"/>
              </a:rPr>
              <a:t> </a:t>
            </a:r>
            <a:r>
              <a:rPr lang="en-US" sz="1800" b="0" strike="noStrike" spc="-1" dirty="0" err="1">
                <a:solidFill>
                  <a:srgbClr val="000000"/>
                </a:solidFill>
                <a:latin typeface="Tahoma"/>
              </a:rPr>
              <a:t>în</a:t>
            </a:r>
            <a:r>
              <a:rPr lang="en-US" sz="1800" b="0" strike="noStrike" spc="-1" dirty="0">
                <a:solidFill>
                  <a:srgbClr val="000000"/>
                </a:solidFill>
                <a:latin typeface="Tahoma"/>
              </a:rPr>
              <a:t>  </a:t>
            </a:r>
          </a:p>
          <a:p>
            <a:pPr marL="609480" indent="-609120">
              <a:lnSpc>
                <a:spcPct val="80000"/>
              </a:lnSpc>
              <a:spcBef>
                <a:spcPts val="360"/>
              </a:spcBef>
            </a:pPr>
            <a:r>
              <a:rPr lang="en-US" sz="1800" b="0" strike="noStrike" spc="-1" dirty="0">
                <a:solidFill>
                  <a:srgbClr val="000000"/>
                </a:solidFill>
                <a:latin typeface="Tahoma"/>
              </a:rPr>
              <a:t>             </a:t>
            </a:r>
            <a:r>
              <a:rPr lang="en-US" sz="1800" b="0" strike="noStrike" spc="-1" dirty="0" err="1">
                <a:solidFill>
                  <a:srgbClr val="000000"/>
                </a:solidFill>
                <a:latin typeface="Tahoma"/>
              </a:rPr>
              <a:t>documentaţia</a:t>
            </a:r>
            <a:r>
              <a:rPr lang="en-US" sz="1800" b="0" strike="noStrike" spc="-1" dirty="0">
                <a:solidFill>
                  <a:srgbClr val="000000"/>
                </a:solidFill>
                <a:latin typeface="Tahoma"/>
              </a:rPr>
              <a:t> </a:t>
            </a:r>
            <a:r>
              <a:rPr lang="en-US" sz="1800" b="0" strike="noStrike" spc="-1" dirty="0" err="1">
                <a:solidFill>
                  <a:srgbClr val="000000"/>
                </a:solidFill>
                <a:latin typeface="Tahoma"/>
              </a:rPr>
              <a:t>aplicaţiei</a:t>
            </a:r>
            <a:r>
              <a:rPr lang="en-US" sz="1800" b="0" strike="noStrike" spc="-1" dirty="0">
                <a:solidFill>
                  <a:srgbClr val="000000"/>
                </a:solidFill>
                <a:latin typeface="Tahoma"/>
              </a:rPr>
              <a:t> de </a:t>
            </a:r>
            <a:r>
              <a:rPr lang="en-US" sz="1800" b="0" strike="noStrike" spc="-1" dirty="0" err="1">
                <a:solidFill>
                  <a:srgbClr val="000000"/>
                </a:solidFill>
                <a:latin typeface="Tahoma"/>
              </a:rPr>
              <a:t>către</a:t>
            </a:r>
            <a:r>
              <a:rPr lang="en-US" sz="1800" b="0" strike="noStrike" spc="-1" dirty="0">
                <a:solidFill>
                  <a:srgbClr val="000000"/>
                </a:solidFill>
                <a:latin typeface="Tahoma"/>
              </a:rPr>
              <a:t> </a:t>
            </a:r>
            <a:r>
              <a:rPr lang="en-US" sz="1800" b="0" strike="noStrike" spc="-1" dirty="0" err="1">
                <a:solidFill>
                  <a:srgbClr val="000000"/>
                </a:solidFill>
                <a:latin typeface="Tahoma"/>
              </a:rPr>
              <a:t>generatorul</a:t>
            </a:r>
            <a:r>
              <a:rPr lang="en-US" sz="1800" b="0" strike="noStrike" spc="-1" dirty="0">
                <a:solidFill>
                  <a:srgbClr val="000000"/>
                </a:solidFill>
                <a:latin typeface="Tahoma"/>
              </a:rPr>
              <a:t> automat de </a:t>
            </a:r>
            <a:r>
              <a:rPr lang="en-US" sz="1800" b="0" strike="noStrike" spc="-1" dirty="0" err="1">
                <a:solidFill>
                  <a:srgbClr val="000000"/>
                </a:solidFill>
                <a:latin typeface="Tahoma"/>
              </a:rPr>
              <a:t>documentaţie</a:t>
            </a:r>
            <a:endParaRPr lang="en-US" sz="1800" b="0" strike="noStrike" spc="-1" dirty="0">
              <a:solidFill>
                <a:srgbClr val="000000"/>
              </a:solidFill>
              <a:latin typeface="Tahoma"/>
            </a:endParaRPr>
          </a:p>
          <a:p>
            <a:pPr marL="609480" indent="-609120">
              <a:lnSpc>
                <a:spcPct val="80000"/>
              </a:lnSpc>
              <a:spcBef>
                <a:spcPts val="360"/>
              </a:spcBef>
            </a:pPr>
            <a:r>
              <a:rPr lang="en-US" sz="1800" b="0" strike="noStrike" spc="-1" dirty="0">
                <a:solidFill>
                  <a:srgbClr val="000000"/>
                </a:solidFill>
                <a:latin typeface="Tahoma"/>
              </a:rPr>
              <a:t>             </a:t>
            </a:r>
            <a:r>
              <a:rPr lang="en-US" sz="1800" b="0" strike="noStrike" spc="-1" dirty="0" err="1">
                <a:solidFill>
                  <a:srgbClr val="000000"/>
                </a:solidFill>
                <a:latin typeface="Tahoma"/>
              </a:rPr>
              <a:t>javadoc</a:t>
            </a:r>
            <a:r>
              <a:rPr lang="en-US" sz="1800" b="0" strike="noStrike" spc="-1" dirty="0">
                <a:solidFill>
                  <a:srgbClr val="000000"/>
                </a:solidFill>
                <a:latin typeface="Tahoma"/>
              </a:rPr>
              <a:t>. </a:t>
            </a:r>
          </a:p>
          <a:p>
            <a:pPr marL="609480" indent="-609120">
              <a:lnSpc>
                <a:spcPct val="80000"/>
              </a:lnSpc>
              <a:spcBef>
                <a:spcPts val="360"/>
              </a:spcBef>
              <a:buClr>
                <a:srgbClr val="FFCC00"/>
              </a:buClr>
              <a:buFont typeface="Monotype Sorts" charset="2"/>
              <a:buChar char=""/>
            </a:pPr>
            <a:r>
              <a:rPr lang="en-US" sz="1800" b="0" strike="noStrike" spc="-1" dirty="0" err="1">
                <a:solidFill>
                  <a:srgbClr val="000000"/>
                </a:solidFill>
                <a:latin typeface="Tahoma"/>
              </a:rPr>
              <a:t>Observaţii</a:t>
            </a:r>
            <a:r>
              <a:rPr lang="en-US" sz="1800" b="0" strike="noStrike" spc="-1" dirty="0">
                <a:solidFill>
                  <a:srgbClr val="000000"/>
                </a:solidFill>
                <a:latin typeface="Tahoma"/>
              </a:rPr>
              <a:t>: </a:t>
            </a:r>
          </a:p>
          <a:p>
            <a:pPr marL="609480" indent="-609120">
              <a:lnSpc>
                <a:spcPct val="80000"/>
              </a:lnSpc>
              <a:spcBef>
                <a:spcPts val="360"/>
              </a:spcBef>
            </a:pPr>
            <a:r>
              <a:rPr lang="en-US" sz="1800" b="0" strike="noStrike" spc="-1" dirty="0">
                <a:solidFill>
                  <a:srgbClr val="000000"/>
                </a:solidFill>
                <a:latin typeface="Tahoma"/>
              </a:rPr>
              <a:t>		nu pot fi </a:t>
            </a:r>
            <a:r>
              <a:rPr lang="en-US" sz="1800" b="0" strike="noStrike" spc="-1" dirty="0" err="1">
                <a:solidFill>
                  <a:srgbClr val="000000"/>
                </a:solidFill>
                <a:latin typeface="Tahoma"/>
              </a:rPr>
              <a:t>scrise</a:t>
            </a:r>
            <a:r>
              <a:rPr lang="en-US" sz="1800" b="0" strike="noStrike" spc="-1" dirty="0">
                <a:solidFill>
                  <a:srgbClr val="000000"/>
                </a:solidFill>
                <a:latin typeface="Tahoma"/>
              </a:rPr>
              <a:t> </a:t>
            </a:r>
            <a:r>
              <a:rPr lang="en-US" sz="1800" b="0" strike="noStrike" spc="-1" dirty="0" err="1">
                <a:solidFill>
                  <a:srgbClr val="000000"/>
                </a:solidFill>
                <a:latin typeface="Tahoma"/>
              </a:rPr>
              <a:t>comentarii</a:t>
            </a:r>
            <a:r>
              <a:rPr lang="en-US" sz="1800" b="0" strike="noStrike" spc="-1" dirty="0">
                <a:solidFill>
                  <a:srgbClr val="000000"/>
                </a:solidFill>
                <a:latin typeface="Tahoma"/>
              </a:rPr>
              <a:t> </a:t>
            </a:r>
            <a:r>
              <a:rPr lang="en-US" sz="1800" b="0" strike="noStrike" spc="-1" dirty="0" err="1">
                <a:solidFill>
                  <a:srgbClr val="000000"/>
                </a:solidFill>
                <a:latin typeface="Tahoma"/>
              </a:rPr>
              <a:t>în</a:t>
            </a:r>
            <a:r>
              <a:rPr lang="en-US" sz="1800" b="0" strike="noStrike" spc="-1" dirty="0">
                <a:solidFill>
                  <a:srgbClr val="000000"/>
                </a:solidFill>
                <a:latin typeface="Tahoma"/>
              </a:rPr>
              <a:t> </a:t>
            </a:r>
            <a:r>
              <a:rPr lang="en-US" sz="1800" b="0" strike="noStrike" spc="-1" dirty="0" err="1">
                <a:solidFill>
                  <a:srgbClr val="000000"/>
                </a:solidFill>
                <a:latin typeface="Tahoma"/>
              </a:rPr>
              <a:t>interiorul</a:t>
            </a:r>
            <a:r>
              <a:rPr lang="en-US" sz="1800" b="0" strike="noStrike" spc="-1" dirty="0">
                <a:solidFill>
                  <a:srgbClr val="000000"/>
                </a:solidFill>
                <a:latin typeface="Tahoma"/>
              </a:rPr>
              <a:t> </a:t>
            </a:r>
            <a:r>
              <a:rPr lang="en-US" sz="1800" b="0" strike="noStrike" spc="-1" dirty="0" err="1">
                <a:solidFill>
                  <a:srgbClr val="000000"/>
                </a:solidFill>
                <a:latin typeface="Tahoma"/>
              </a:rPr>
              <a:t>altor</a:t>
            </a:r>
            <a:r>
              <a:rPr lang="en-US" sz="1800" b="0" strike="noStrike" spc="-1" dirty="0">
                <a:solidFill>
                  <a:srgbClr val="000000"/>
                </a:solidFill>
                <a:latin typeface="Tahoma"/>
              </a:rPr>
              <a:t> </a:t>
            </a:r>
            <a:r>
              <a:rPr lang="en-US" sz="1800" b="0" strike="noStrike" spc="-1" dirty="0" err="1">
                <a:solidFill>
                  <a:srgbClr val="000000"/>
                </a:solidFill>
                <a:latin typeface="Tahoma"/>
              </a:rPr>
              <a:t>comentarii</a:t>
            </a:r>
            <a:r>
              <a:rPr lang="en-US" sz="1800" b="0" strike="noStrike" spc="-1" dirty="0">
                <a:solidFill>
                  <a:srgbClr val="000000"/>
                </a:solidFill>
                <a:latin typeface="Tahoma"/>
              </a:rPr>
              <a:t>. </a:t>
            </a:r>
          </a:p>
          <a:p>
            <a:pPr marL="609480" indent="-609120">
              <a:lnSpc>
                <a:spcPct val="80000"/>
              </a:lnSpc>
              <a:spcBef>
                <a:spcPts val="360"/>
              </a:spcBef>
            </a:pPr>
            <a:r>
              <a:rPr lang="en-US" sz="1800" b="0" strike="noStrike" spc="-1" dirty="0">
                <a:solidFill>
                  <a:srgbClr val="000000"/>
                </a:solidFill>
                <a:latin typeface="Tahoma"/>
              </a:rPr>
              <a:t>		nu pot fi </a:t>
            </a:r>
            <a:r>
              <a:rPr lang="en-US" sz="1800" b="0" strike="noStrike" spc="-1" dirty="0" err="1">
                <a:solidFill>
                  <a:srgbClr val="000000"/>
                </a:solidFill>
                <a:latin typeface="Tahoma"/>
              </a:rPr>
              <a:t>introduse</a:t>
            </a:r>
            <a:r>
              <a:rPr lang="en-US" sz="1800" b="0" strike="noStrike" spc="-1" dirty="0">
                <a:solidFill>
                  <a:srgbClr val="000000"/>
                </a:solidFill>
                <a:latin typeface="Tahoma"/>
              </a:rPr>
              <a:t> </a:t>
            </a:r>
            <a:r>
              <a:rPr lang="en-US" sz="1800" b="0" strike="noStrike" spc="-1" dirty="0" err="1">
                <a:solidFill>
                  <a:srgbClr val="000000"/>
                </a:solidFill>
                <a:latin typeface="Tahoma"/>
              </a:rPr>
              <a:t>comentarii</a:t>
            </a:r>
            <a:r>
              <a:rPr lang="en-US" sz="1800" b="0" strike="noStrike" spc="-1" dirty="0">
                <a:solidFill>
                  <a:srgbClr val="000000"/>
                </a:solidFill>
                <a:latin typeface="Tahoma"/>
              </a:rPr>
              <a:t> </a:t>
            </a:r>
            <a:r>
              <a:rPr lang="en-US" sz="1800" b="0" strike="noStrike" spc="-1" dirty="0" err="1">
                <a:solidFill>
                  <a:srgbClr val="000000"/>
                </a:solidFill>
                <a:latin typeface="Tahoma"/>
              </a:rPr>
              <a:t>în</a:t>
            </a:r>
            <a:r>
              <a:rPr lang="en-US" sz="1800" b="0" strike="noStrike" spc="-1" dirty="0">
                <a:solidFill>
                  <a:srgbClr val="000000"/>
                </a:solidFill>
                <a:latin typeface="Tahoma"/>
              </a:rPr>
              <a:t> </a:t>
            </a:r>
            <a:r>
              <a:rPr lang="en-US" sz="1800" b="0" strike="noStrike" spc="-1" dirty="0" err="1">
                <a:solidFill>
                  <a:srgbClr val="000000"/>
                </a:solidFill>
                <a:latin typeface="Tahoma"/>
              </a:rPr>
              <a:t>interiorul</a:t>
            </a:r>
            <a:r>
              <a:rPr lang="en-US" sz="1800" b="0" strike="noStrike" spc="-1" dirty="0">
                <a:solidFill>
                  <a:srgbClr val="000000"/>
                </a:solidFill>
                <a:latin typeface="Tahoma"/>
              </a:rPr>
              <a:t> </a:t>
            </a:r>
            <a:r>
              <a:rPr lang="en-US" sz="1800" b="0" strike="noStrike" spc="-1" dirty="0" err="1">
                <a:solidFill>
                  <a:srgbClr val="000000"/>
                </a:solidFill>
                <a:latin typeface="Tahoma"/>
              </a:rPr>
              <a:t>constantelor</a:t>
            </a:r>
            <a:r>
              <a:rPr lang="en-US" sz="1800" b="0" strike="noStrike" spc="-1" dirty="0">
                <a:solidFill>
                  <a:srgbClr val="000000"/>
                </a:solidFill>
                <a:latin typeface="Tahoma"/>
              </a:rPr>
              <a:t> </a:t>
            </a:r>
            <a:r>
              <a:rPr lang="en-US" sz="1800" b="0" strike="noStrike" spc="-1" dirty="0" err="1">
                <a:solidFill>
                  <a:srgbClr val="000000"/>
                </a:solidFill>
                <a:latin typeface="Tahoma"/>
              </a:rPr>
              <a:t>caracter</a:t>
            </a:r>
            <a:r>
              <a:rPr lang="en-US" sz="1800" b="0" strike="noStrike" spc="-1" dirty="0">
                <a:solidFill>
                  <a:srgbClr val="000000"/>
                </a:solidFill>
                <a:latin typeface="Tahoma"/>
              </a:rPr>
              <a:t> </a:t>
            </a:r>
            <a:r>
              <a:rPr lang="en-US" sz="1800" b="0" strike="noStrike" spc="-1" dirty="0" err="1">
                <a:solidFill>
                  <a:srgbClr val="000000"/>
                </a:solidFill>
                <a:latin typeface="Tahoma"/>
              </a:rPr>
              <a:t>sau</a:t>
            </a:r>
            <a:r>
              <a:rPr lang="en-US" sz="1800" b="0" strike="noStrike" spc="-1" dirty="0">
                <a:solidFill>
                  <a:srgbClr val="000000"/>
                </a:solidFill>
                <a:latin typeface="Tahoma"/>
              </a:rPr>
              <a:t> </a:t>
            </a:r>
            <a:r>
              <a:rPr lang="en-US" sz="1800" b="0" strike="noStrike" spc="-1" dirty="0" err="1">
                <a:solidFill>
                  <a:srgbClr val="000000"/>
                </a:solidFill>
                <a:latin typeface="Tahoma"/>
              </a:rPr>
              <a:t>şir</a:t>
            </a:r>
            <a:r>
              <a:rPr lang="en-US" sz="1800" b="0" strike="noStrike" spc="-1" dirty="0">
                <a:solidFill>
                  <a:srgbClr val="000000"/>
                </a:solidFill>
                <a:latin typeface="Tahoma"/>
              </a:rPr>
              <a:t> de</a:t>
            </a:r>
          </a:p>
          <a:p>
            <a:pPr marL="609480" indent="-609120">
              <a:lnSpc>
                <a:spcPct val="80000"/>
              </a:lnSpc>
              <a:spcBef>
                <a:spcPts val="360"/>
              </a:spcBef>
            </a:pPr>
            <a:r>
              <a:rPr lang="en-US" sz="1800" b="0" strike="noStrike" spc="-1" dirty="0">
                <a:solidFill>
                  <a:srgbClr val="000000"/>
                </a:solidFill>
                <a:latin typeface="Tahoma"/>
              </a:rPr>
              <a:t>	    </a:t>
            </a:r>
            <a:r>
              <a:rPr lang="en-US" sz="1800" b="0" strike="noStrike" spc="-1" dirty="0" err="1">
                <a:solidFill>
                  <a:srgbClr val="000000"/>
                </a:solidFill>
                <a:latin typeface="Tahoma"/>
              </a:rPr>
              <a:t>caractere</a:t>
            </a:r>
            <a:r>
              <a:rPr lang="en-US" sz="1800" b="0" strike="noStrike" spc="-1" dirty="0">
                <a:solidFill>
                  <a:srgbClr val="000000"/>
                </a:solidFill>
                <a:latin typeface="Tahoma"/>
              </a:rPr>
              <a:t>. </a:t>
            </a:r>
          </a:p>
          <a:p>
            <a:pPr marL="609480" indent="-609120">
              <a:lnSpc>
                <a:spcPct val="80000"/>
              </a:lnSpc>
              <a:spcBef>
                <a:spcPts val="360"/>
              </a:spcBef>
            </a:pPr>
            <a:r>
              <a:rPr lang="en-US" sz="1800" b="0" strike="noStrike" spc="-1" dirty="0">
                <a:solidFill>
                  <a:srgbClr val="000000"/>
                </a:solidFill>
                <a:latin typeface="Tahoma"/>
              </a:rPr>
              <a:t>	    </a:t>
            </a:r>
            <a:r>
              <a:rPr lang="en-US" sz="1800" b="0" strike="noStrike" spc="-1" dirty="0" err="1">
                <a:solidFill>
                  <a:srgbClr val="000000"/>
                </a:solidFill>
                <a:latin typeface="Tahoma"/>
              </a:rPr>
              <a:t>secvenţele</a:t>
            </a:r>
            <a:r>
              <a:rPr lang="en-US" sz="1800" b="0" strike="noStrike" spc="-1" dirty="0">
                <a:solidFill>
                  <a:srgbClr val="000000"/>
                </a:solidFill>
                <a:latin typeface="Tahoma"/>
              </a:rPr>
              <a:t> /* </a:t>
            </a:r>
            <a:r>
              <a:rPr lang="en-US" sz="1800" b="0" strike="noStrike" spc="-1" dirty="0" err="1">
                <a:solidFill>
                  <a:srgbClr val="000000"/>
                </a:solidFill>
                <a:latin typeface="Tahoma"/>
              </a:rPr>
              <a:t>şi</a:t>
            </a:r>
            <a:r>
              <a:rPr lang="en-US" sz="1800" b="0" strike="noStrike" spc="-1" dirty="0">
                <a:solidFill>
                  <a:srgbClr val="000000"/>
                </a:solidFill>
                <a:latin typeface="Tahoma"/>
              </a:rPr>
              <a:t> */ pot </a:t>
            </a:r>
            <a:r>
              <a:rPr lang="en-US" sz="1800" b="0" strike="noStrike" spc="-1" dirty="0" err="1">
                <a:solidFill>
                  <a:srgbClr val="000000"/>
                </a:solidFill>
                <a:latin typeface="Tahoma"/>
              </a:rPr>
              <a:t>să</a:t>
            </a:r>
            <a:r>
              <a:rPr lang="en-US" sz="1800" b="0" strike="noStrike" spc="-1" dirty="0">
                <a:solidFill>
                  <a:srgbClr val="000000"/>
                </a:solidFill>
                <a:latin typeface="Tahoma"/>
              </a:rPr>
              <a:t> </a:t>
            </a:r>
            <a:r>
              <a:rPr lang="en-US" sz="1800" b="0" strike="noStrike" spc="-1" dirty="0" err="1">
                <a:solidFill>
                  <a:srgbClr val="000000"/>
                </a:solidFill>
                <a:latin typeface="Tahoma"/>
              </a:rPr>
              <a:t>apară</a:t>
            </a:r>
            <a:r>
              <a:rPr lang="en-US" sz="1800" b="0" strike="noStrike" spc="-1" dirty="0">
                <a:solidFill>
                  <a:srgbClr val="000000"/>
                </a:solidFill>
                <a:latin typeface="Tahoma"/>
              </a:rPr>
              <a:t> </a:t>
            </a:r>
            <a:r>
              <a:rPr lang="en-US" sz="1800" b="0" strike="noStrike" spc="-1" dirty="0" err="1">
                <a:solidFill>
                  <a:srgbClr val="000000"/>
                </a:solidFill>
                <a:latin typeface="Tahoma"/>
              </a:rPr>
              <a:t>pe</a:t>
            </a:r>
            <a:r>
              <a:rPr lang="en-US" sz="1800" b="0" strike="noStrike" spc="-1" dirty="0">
                <a:solidFill>
                  <a:srgbClr val="000000"/>
                </a:solidFill>
                <a:latin typeface="Tahoma"/>
              </a:rPr>
              <a:t> </a:t>
            </a:r>
            <a:r>
              <a:rPr lang="en-US" sz="1800" b="0" strike="noStrike" spc="-1" dirty="0" err="1">
                <a:solidFill>
                  <a:srgbClr val="000000"/>
                </a:solidFill>
                <a:latin typeface="Tahoma"/>
              </a:rPr>
              <a:t>aceeaşi</a:t>
            </a:r>
            <a:r>
              <a:rPr lang="en-US" sz="1800" b="0" strike="noStrike" spc="-1" dirty="0">
                <a:solidFill>
                  <a:srgbClr val="000000"/>
                </a:solidFill>
                <a:latin typeface="Tahoma"/>
              </a:rPr>
              <a:t> </a:t>
            </a:r>
            <a:r>
              <a:rPr lang="en-US" sz="1800" b="0" strike="noStrike" spc="-1" dirty="0" err="1">
                <a:solidFill>
                  <a:srgbClr val="000000"/>
                </a:solidFill>
                <a:latin typeface="Tahoma"/>
              </a:rPr>
              <a:t>linie</a:t>
            </a:r>
            <a:r>
              <a:rPr lang="en-US" sz="1800" b="0" strike="noStrike" spc="-1" dirty="0">
                <a:solidFill>
                  <a:srgbClr val="000000"/>
                </a:solidFill>
                <a:latin typeface="Tahoma"/>
              </a:rPr>
              <a:t> cu </a:t>
            </a:r>
            <a:r>
              <a:rPr lang="en-US" sz="1800" b="0" strike="noStrike" spc="-1" dirty="0" err="1">
                <a:solidFill>
                  <a:srgbClr val="000000"/>
                </a:solidFill>
                <a:latin typeface="Tahoma"/>
              </a:rPr>
              <a:t>secvenţa</a:t>
            </a:r>
            <a:r>
              <a:rPr lang="en-US" sz="1800" b="0" strike="noStrike" spc="-1" dirty="0">
                <a:solidFill>
                  <a:srgbClr val="000000"/>
                </a:solidFill>
                <a:latin typeface="Tahoma"/>
              </a:rPr>
              <a:t> // </a:t>
            </a:r>
            <a:r>
              <a:rPr lang="en-US" sz="1800" b="0" strike="noStrike" spc="-1" dirty="0" err="1">
                <a:solidFill>
                  <a:srgbClr val="000000"/>
                </a:solidFill>
                <a:latin typeface="Tahoma"/>
              </a:rPr>
              <a:t>dar</a:t>
            </a:r>
            <a:r>
              <a:rPr lang="en-US" sz="1800" b="0" strike="noStrike" spc="-1" dirty="0">
                <a:solidFill>
                  <a:srgbClr val="000000"/>
                </a:solidFill>
                <a:latin typeface="Tahoma"/>
              </a:rPr>
              <a:t> </a:t>
            </a:r>
            <a:r>
              <a:rPr lang="en-US" sz="1800" b="0" strike="noStrike" spc="-1" dirty="0" err="1">
                <a:solidFill>
                  <a:srgbClr val="000000"/>
                </a:solidFill>
                <a:latin typeface="Tahoma"/>
              </a:rPr>
              <a:t>îşi</a:t>
            </a:r>
            <a:r>
              <a:rPr lang="en-US" sz="1800" b="0" strike="noStrike" spc="-1" dirty="0">
                <a:solidFill>
                  <a:srgbClr val="000000"/>
                </a:solidFill>
                <a:latin typeface="Tahoma"/>
              </a:rPr>
              <a:t> </a:t>
            </a:r>
            <a:r>
              <a:rPr lang="en-US" sz="1800" b="0" strike="noStrike" spc="-1" dirty="0" err="1">
                <a:solidFill>
                  <a:srgbClr val="000000"/>
                </a:solidFill>
                <a:latin typeface="Tahoma"/>
              </a:rPr>
              <a:t>pierd</a:t>
            </a:r>
            <a:r>
              <a:rPr lang="en-US" sz="1800" b="0" strike="noStrike" spc="-1" dirty="0">
                <a:solidFill>
                  <a:srgbClr val="000000"/>
                </a:solidFill>
                <a:latin typeface="Tahoma"/>
              </a:rPr>
              <a:t> 		</a:t>
            </a:r>
            <a:r>
              <a:rPr lang="en-US" sz="1800" b="0" strike="noStrike" spc="-1" dirty="0" err="1">
                <a:solidFill>
                  <a:srgbClr val="000000"/>
                </a:solidFill>
                <a:latin typeface="Tahoma"/>
              </a:rPr>
              <a:t>semnificaţia</a:t>
            </a:r>
            <a:r>
              <a:rPr lang="en-US" sz="1800" b="0" strike="noStrike" spc="-1" dirty="0">
                <a:solidFill>
                  <a:srgbClr val="000000"/>
                </a:solidFill>
                <a:latin typeface="Tahoma"/>
              </a:rPr>
              <a:t>;</a:t>
            </a:r>
          </a:p>
          <a:p>
            <a:pPr marL="609480" indent="-609120">
              <a:lnSpc>
                <a:spcPct val="80000"/>
              </a:lnSpc>
              <a:spcBef>
                <a:spcPts val="360"/>
              </a:spcBef>
            </a:pPr>
            <a:r>
              <a:rPr lang="en-US" sz="1800" b="0" strike="noStrike" spc="-1" dirty="0">
                <a:solidFill>
                  <a:srgbClr val="000000"/>
                </a:solidFill>
                <a:latin typeface="Tahoma"/>
              </a:rPr>
              <a:t>	 	la </a:t>
            </a:r>
            <a:r>
              <a:rPr lang="en-US" sz="1800" b="0" strike="noStrike" spc="-1" dirty="0" err="1">
                <a:solidFill>
                  <a:srgbClr val="000000"/>
                </a:solidFill>
                <a:latin typeface="Tahoma"/>
              </a:rPr>
              <a:t>fel</a:t>
            </a:r>
            <a:r>
              <a:rPr lang="en-US" sz="1800" b="0" strike="noStrike" spc="-1" dirty="0">
                <a:solidFill>
                  <a:srgbClr val="000000"/>
                </a:solidFill>
                <a:latin typeface="Tahoma"/>
              </a:rPr>
              <a:t> se </a:t>
            </a:r>
            <a:r>
              <a:rPr lang="en-US" sz="1800" b="0" strike="noStrike" spc="-1" dirty="0" err="1">
                <a:solidFill>
                  <a:srgbClr val="000000"/>
                </a:solidFill>
                <a:latin typeface="Tahoma"/>
              </a:rPr>
              <a:t>întâmplã</a:t>
            </a:r>
            <a:r>
              <a:rPr lang="en-US" sz="1800" b="0" strike="noStrike" spc="-1" dirty="0">
                <a:solidFill>
                  <a:srgbClr val="000000"/>
                </a:solidFill>
                <a:latin typeface="Tahoma"/>
              </a:rPr>
              <a:t> cu </a:t>
            </a:r>
            <a:r>
              <a:rPr lang="en-US" sz="1800" b="0" strike="noStrike" spc="-1" dirty="0" err="1">
                <a:solidFill>
                  <a:srgbClr val="000000"/>
                </a:solidFill>
                <a:latin typeface="Tahoma"/>
              </a:rPr>
              <a:t>secvenţa</a:t>
            </a:r>
            <a:r>
              <a:rPr lang="en-US" sz="1800" b="0" strike="noStrike" spc="-1" dirty="0">
                <a:solidFill>
                  <a:srgbClr val="000000"/>
                </a:solidFill>
                <a:latin typeface="Tahoma"/>
              </a:rPr>
              <a:t> // </a:t>
            </a:r>
            <a:r>
              <a:rPr lang="en-US" sz="1800" b="0" strike="noStrike" spc="-1" dirty="0" err="1">
                <a:solidFill>
                  <a:srgbClr val="000000"/>
                </a:solidFill>
                <a:latin typeface="Tahoma"/>
              </a:rPr>
              <a:t>în</a:t>
            </a:r>
            <a:r>
              <a:rPr lang="en-US" sz="1800" b="0" strike="noStrike" spc="-1" dirty="0">
                <a:solidFill>
                  <a:srgbClr val="000000"/>
                </a:solidFill>
                <a:latin typeface="Tahoma"/>
              </a:rPr>
              <a:t> </a:t>
            </a:r>
            <a:r>
              <a:rPr lang="en-US" sz="1800" b="0" strike="noStrike" spc="-1" dirty="0" err="1">
                <a:solidFill>
                  <a:srgbClr val="000000"/>
                </a:solidFill>
                <a:latin typeface="Tahoma"/>
              </a:rPr>
              <a:t>comentarii</a:t>
            </a:r>
            <a:r>
              <a:rPr lang="en-US" sz="1800" b="0" strike="noStrike" spc="-1" dirty="0">
                <a:solidFill>
                  <a:srgbClr val="000000"/>
                </a:solidFill>
                <a:latin typeface="Tahoma"/>
              </a:rPr>
              <a:t> care </a:t>
            </a:r>
            <a:r>
              <a:rPr lang="en-US" sz="1800" b="0" strike="noStrike" spc="-1" dirty="0" err="1">
                <a:solidFill>
                  <a:srgbClr val="000000"/>
                </a:solidFill>
                <a:latin typeface="Tahoma"/>
              </a:rPr>
              <a:t>încep</a:t>
            </a:r>
            <a:r>
              <a:rPr lang="en-US" sz="1800" b="0" strike="noStrike" spc="-1" dirty="0">
                <a:solidFill>
                  <a:srgbClr val="000000"/>
                </a:solidFill>
                <a:latin typeface="Tahoma"/>
              </a:rPr>
              <a:t> cu /* </a:t>
            </a:r>
            <a:r>
              <a:rPr lang="en-US" sz="1800" b="0" strike="noStrike" spc="-1" dirty="0" err="1">
                <a:solidFill>
                  <a:srgbClr val="000000"/>
                </a:solidFill>
                <a:latin typeface="Tahoma"/>
              </a:rPr>
              <a:t>sau</a:t>
            </a:r>
            <a:r>
              <a:rPr lang="en-US" sz="1800" b="0" strike="noStrike" spc="-1" dirty="0">
                <a:solidFill>
                  <a:srgbClr val="000000"/>
                </a:solidFill>
                <a:latin typeface="Tahoma"/>
              </a:rPr>
              <a:t> /**.</a:t>
            </a:r>
            <a:r>
              <a:rPr lang="en-US" sz="1400" b="0" strike="noStrike" spc="-1" dirty="0">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586F9249-87E7-44A9-BD45-587E58D21636}" type="slidenum">
              <a:rPr lang="en-US" sz="1400" b="0" strike="noStrike" spc="-1">
                <a:solidFill>
                  <a:srgbClr val="5E574E"/>
                </a:solidFill>
                <a:latin typeface="Arial"/>
              </a:rPr>
              <a:t>19</a:t>
            </a:fld>
            <a:endParaRPr lang="en-US" sz="1400" b="0" strike="noStrike" spc="-1">
              <a:latin typeface="Times New Roman"/>
            </a:endParaRPr>
          </a:p>
        </p:txBody>
      </p:sp>
      <p:sp>
        <p:nvSpPr>
          <p:cNvPr id="323" name="TextShape 4"/>
          <p:cNvSpPr txBox="1"/>
          <p:nvPr/>
        </p:nvSpPr>
        <p:spPr>
          <a:xfrm>
            <a:off x="439560" y="22860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24" name="TextShape 5"/>
          <p:cNvSpPr txBox="1"/>
          <p:nvPr/>
        </p:nvSpPr>
        <p:spPr>
          <a:xfrm>
            <a:off x="295063" y="1619460"/>
            <a:ext cx="8859600" cy="4838400"/>
          </a:xfrm>
          <a:prstGeom prst="rect">
            <a:avLst/>
          </a:prstGeom>
          <a:noFill/>
          <a:ln>
            <a:noFill/>
          </a:ln>
        </p:spPr>
        <p:txBody>
          <a:bodyPr>
            <a:noAutofit/>
          </a:bodyPr>
          <a:lstStyle/>
          <a:p>
            <a:pPr marL="990720" indent="-533160">
              <a:lnSpc>
                <a:spcPct val="90000"/>
              </a:lnSpc>
              <a:spcBef>
                <a:spcPts val="479"/>
              </a:spcBef>
            </a:pPr>
            <a:r>
              <a:rPr lang="en-US" sz="2400" b="1" strike="noStrike" spc="-1" dirty="0" err="1">
                <a:solidFill>
                  <a:srgbClr val="000000"/>
                </a:solidFill>
                <a:latin typeface="Tahoma"/>
              </a:rPr>
              <a:t>Tipuri</a:t>
            </a:r>
            <a:r>
              <a:rPr lang="en-US" sz="2400" b="1" strike="noStrike" spc="-1" dirty="0">
                <a:solidFill>
                  <a:srgbClr val="000000"/>
                </a:solidFill>
                <a:latin typeface="Tahoma"/>
              </a:rPr>
              <a:t> de date</a:t>
            </a:r>
            <a:endParaRPr lang="en-US" sz="2400" b="0" strike="noStrike" spc="-1" dirty="0">
              <a:solidFill>
                <a:srgbClr val="000000"/>
              </a:solidFill>
              <a:latin typeface="Tahoma"/>
            </a:endParaRPr>
          </a:p>
          <a:p>
            <a:pPr marL="609480" indent="-609120">
              <a:lnSpc>
                <a:spcPct val="90000"/>
              </a:lnSpc>
              <a:spcBef>
                <a:spcPts val="479"/>
              </a:spcBef>
              <a:buClr>
                <a:srgbClr val="FFCC00"/>
              </a:buClr>
              <a:buFont typeface="Monotype Sorts" charset="2"/>
              <a:buChar char=""/>
            </a:pP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1" strike="noStrike" spc="-1" dirty="0">
                <a:solidFill>
                  <a:srgbClr val="008000"/>
                </a:solidFill>
                <a:latin typeface="Tahoma"/>
              </a:rPr>
              <a:t>Java</a:t>
            </a:r>
            <a:r>
              <a:rPr lang="en-US" sz="2400" b="0" strike="noStrike" spc="-1" dirty="0">
                <a:solidFill>
                  <a:srgbClr val="000000"/>
                </a:solidFill>
                <a:latin typeface="Tahoma"/>
              </a:rPr>
              <a:t> </a:t>
            </a:r>
            <a:r>
              <a:rPr lang="en-US" sz="2400" b="0" strike="noStrike" spc="-1" dirty="0" err="1">
                <a:solidFill>
                  <a:srgbClr val="000000"/>
                </a:solidFill>
                <a:latin typeface="Tahoma"/>
              </a:rPr>
              <a:t>tipurile</a:t>
            </a:r>
            <a:r>
              <a:rPr lang="en-US" sz="2400" b="0" strike="noStrike" spc="-1" dirty="0">
                <a:solidFill>
                  <a:srgbClr val="000000"/>
                </a:solidFill>
                <a:latin typeface="Tahoma"/>
              </a:rPr>
              <a:t> de date se </a:t>
            </a:r>
            <a:r>
              <a:rPr lang="en-US" sz="2400" b="0" strike="noStrike" spc="-1" dirty="0" err="1">
                <a:solidFill>
                  <a:srgbClr val="000000"/>
                </a:solidFill>
                <a:latin typeface="Tahoma"/>
              </a:rPr>
              <a:t>împart</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două</a:t>
            </a:r>
            <a:r>
              <a:rPr lang="en-US" sz="2400" b="0" strike="noStrike" spc="-1" dirty="0">
                <a:solidFill>
                  <a:srgbClr val="000000"/>
                </a:solidFill>
                <a:latin typeface="Tahoma"/>
              </a:rPr>
              <a:t> </a:t>
            </a:r>
            <a:r>
              <a:rPr lang="en-US" sz="2400" b="0" strike="noStrike" spc="-1" dirty="0" err="1">
                <a:solidFill>
                  <a:srgbClr val="000000"/>
                </a:solidFill>
                <a:latin typeface="Tahoma"/>
              </a:rPr>
              <a:t>categorii</a:t>
            </a:r>
            <a:r>
              <a:rPr lang="en-US" sz="2400" b="0" strike="noStrike" spc="-1" dirty="0">
                <a:solidFill>
                  <a:srgbClr val="000000"/>
                </a:solidFill>
                <a:latin typeface="Tahoma"/>
              </a:rPr>
              <a:t>: </a:t>
            </a:r>
          </a:p>
          <a:p>
            <a:pPr marL="609480" indent="-609120">
              <a:lnSpc>
                <a:spcPct val="90000"/>
              </a:lnSpc>
              <a:spcBef>
                <a:spcPts val="479"/>
              </a:spcBef>
            </a:pPr>
            <a:r>
              <a:rPr lang="en-US" sz="2400" b="1" strike="noStrike" spc="-1" dirty="0">
                <a:solidFill>
                  <a:srgbClr val="000000"/>
                </a:solidFill>
                <a:latin typeface="Tahoma"/>
              </a:rPr>
              <a:t>		</a:t>
            </a:r>
            <a:r>
              <a:rPr lang="en-US" sz="2400" b="1" strike="noStrike" spc="-1" dirty="0" err="1">
                <a:solidFill>
                  <a:srgbClr val="008000"/>
                </a:solidFill>
                <a:latin typeface="Tahoma"/>
              </a:rPr>
              <a:t>tipuri</a:t>
            </a:r>
            <a:r>
              <a:rPr lang="en-US" sz="2400" b="1" strike="noStrike" spc="-1" dirty="0">
                <a:solidFill>
                  <a:srgbClr val="008000"/>
                </a:solidFill>
                <a:latin typeface="Tahoma"/>
              </a:rPr>
              <a:t> primitive de date</a:t>
            </a:r>
            <a:r>
              <a:rPr lang="en-US" sz="2400" b="0" strike="noStrike" spc="-1" dirty="0">
                <a:solidFill>
                  <a:srgbClr val="008000"/>
                </a:solidFill>
                <a:latin typeface="Tahoma"/>
              </a:rPr>
              <a:t> </a:t>
            </a:r>
            <a:endParaRPr lang="en-US" sz="2400" b="0" strike="noStrike" spc="-1" dirty="0">
              <a:solidFill>
                <a:srgbClr val="000000"/>
              </a:solidFill>
              <a:latin typeface="Tahoma"/>
            </a:endParaRPr>
          </a:p>
          <a:p>
            <a:pPr marL="609480" indent="-609120">
              <a:lnSpc>
                <a:spcPct val="90000"/>
              </a:lnSpc>
              <a:spcBef>
                <a:spcPts val="479"/>
              </a:spcBef>
            </a:pPr>
            <a:r>
              <a:rPr lang="en-US" sz="2400" b="1" strike="noStrike" spc="-1" dirty="0">
                <a:solidFill>
                  <a:srgbClr val="008000"/>
                </a:solidFill>
                <a:latin typeface="Tahoma"/>
              </a:rPr>
              <a:t>		</a:t>
            </a:r>
            <a:r>
              <a:rPr lang="en-US" sz="2400" b="1" strike="noStrike" spc="-1" dirty="0" err="1">
                <a:solidFill>
                  <a:srgbClr val="008000"/>
                </a:solidFill>
                <a:latin typeface="Tahoma"/>
              </a:rPr>
              <a:t>tipuri</a:t>
            </a:r>
            <a:r>
              <a:rPr lang="en-US" sz="2400" b="1" strike="noStrike" spc="-1" dirty="0">
                <a:solidFill>
                  <a:srgbClr val="008000"/>
                </a:solidFill>
                <a:latin typeface="Tahoma"/>
              </a:rPr>
              <a:t> </a:t>
            </a:r>
            <a:r>
              <a:rPr lang="en-US" sz="2400" b="1" strike="noStrike" spc="-1" dirty="0" err="1">
                <a:solidFill>
                  <a:srgbClr val="008000"/>
                </a:solidFill>
                <a:latin typeface="Tahoma"/>
              </a:rPr>
              <a:t>referinţă</a:t>
            </a:r>
            <a:r>
              <a:rPr lang="en-US" sz="2400" b="0" strike="noStrike" spc="-1" dirty="0">
                <a:solidFill>
                  <a:srgbClr val="000000"/>
                </a:solidFill>
                <a:latin typeface="Tahoma"/>
              </a:rPr>
              <a:t>. </a:t>
            </a:r>
          </a:p>
          <a:p>
            <a:pPr marL="609480" indent="-609120">
              <a:lnSpc>
                <a:spcPct val="90000"/>
              </a:lnSpc>
              <a:spcBef>
                <a:spcPts val="479"/>
              </a:spcBef>
              <a:buClr>
                <a:srgbClr val="FFCC00"/>
              </a:buClr>
              <a:buFont typeface="Monotype Sorts" charset="2"/>
              <a:buChar char=""/>
            </a:pPr>
            <a:r>
              <a:rPr lang="en-US" sz="2400" b="1" strike="noStrike" spc="-1" dirty="0">
                <a:solidFill>
                  <a:srgbClr val="008000"/>
                </a:solidFill>
                <a:latin typeface="Tahoma"/>
              </a:rPr>
              <a:t>Java</a:t>
            </a:r>
            <a:r>
              <a:rPr lang="en-US" sz="2400" b="0" strike="noStrike" spc="-1" dirty="0">
                <a:solidFill>
                  <a:srgbClr val="000000"/>
                </a:solidFill>
                <a:latin typeface="Tahoma"/>
              </a:rPr>
              <a:t> </a:t>
            </a:r>
            <a:r>
              <a:rPr lang="en-US" sz="2400" b="0" strike="noStrike" spc="-1" dirty="0" err="1">
                <a:solidFill>
                  <a:srgbClr val="000000"/>
                </a:solidFill>
                <a:latin typeface="Tahoma"/>
              </a:rPr>
              <a:t>porneşte</a:t>
            </a:r>
            <a:r>
              <a:rPr lang="en-US" sz="2400" b="0" strike="noStrike" spc="-1" dirty="0">
                <a:solidFill>
                  <a:srgbClr val="000000"/>
                </a:solidFill>
                <a:latin typeface="Tahoma"/>
              </a:rPr>
              <a:t> de la </a:t>
            </a:r>
            <a:r>
              <a:rPr lang="en-US" sz="2400" b="0" strike="noStrike" spc="-1" dirty="0" err="1">
                <a:solidFill>
                  <a:srgbClr val="000000"/>
                </a:solidFill>
                <a:latin typeface="Tahoma"/>
              </a:rPr>
              <a:t>premiza</a:t>
            </a:r>
            <a:r>
              <a:rPr lang="en-US" sz="2400" b="0" strike="noStrike" spc="-1" dirty="0">
                <a:solidFill>
                  <a:srgbClr val="000000"/>
                </a:solidFill>
                <a:latin typeface="Tahoma"/>
              </a:rPr>
              <a:t> </a:t>
            </a:r>
            <a:r>
              <a:rPr lang="en-US" sz="2400" b="0" strike="noStrike" spc="-1" dirty="0" err="1">
                <a:solidFill>
                  <a:srgbClr val="000000"/>
                </a:solidFill>
                <a:latin typeface="Tahoma"/>
              </a:rPr>
              <a:t>că</a:t>
            </a:r>
            <a:r>
              <a:rPr lang="en-US" sz="2400" b="0" strike="noStrike" spc="-1" dirty="0">
                <a:solidFill>
                  <a:srgbClr val="000000"/>
                </a:solidFill>
                <a:latin typeface="Tahoma"/>
              </a:rPr>
              <a:t> "</a:t>
            </a:r>
            <a:r>
              <a:rPr lang="en-US" sz="2400" b="0" strike="noStrike" spc="-1" dirty="0" err="1">
                <a:solidFill>
                  <a:srgbClr val="000000"/>
                </a:solidFill>
                <a:latin typeface="Tahoma"/>
              </a:rPr>
              <a:t>orice</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un </a:t>
            </a:r>
            <a:r>
              <a:rPr lang="en-US" sz="2400" b="0" strike="noStrike" spc="-1" dirty="0" err="1">
                <a:solidFill>
                  <a:srgbClr val="000000"/>
                </a:solidFill>
                <a:latin typeface="Tahoma"/>
              </a:rPr>
              <a:t>obiect</a:t>
            </a:r>
            <a:r>
              <a:rPr lang="en-US" sz="2400" b="0" strike="noStrike" spc="-1" dirty="0">
                <a:solidFill>
                  <a:srgbClr val="000000"/>
                </a:solidFill>
                <a:latin typeface="Tahoma"/>
              </a:rPr>
              <a:t>". </a:t>
            </a:r>
            <a:r>
              <a:rPr lang="en-US" sz="2400" b="0" strike="noStrike" spc="-1" dirty="0" err="1">
                <a:solidFill>
                  <a:srgbClr val="000000"/>
                </a:solidFill>
                <a:latin typeface="Tahoma"/>
              </a:rPr>
              <a:t>Prin</a:t>
            </a:r>
            <a:r>
              <a:rPr lang="en-US" sz="2400" b="0" strike="noStrike" spc="-1" dirty="0">
                <a:solidFill>
                  <a:srgbClr val="000000"/>
                </a:solidFill>
                <a:latin typeface="Tahoma"/>
              </a:rPr>
              <a:t> </a:t>
            </a:r>
            <a:r>
              <a:rPr lang="en-US" sz="2400" b="0" strike="noStrike" spc="-1" dirty="0" err="1">
                <a:solidFill>
                  <a:srgbClr val="000000"/>
                </a:solidFill>
                <a:latin typeface="Tahoma"/>
              </a:rPr>
              <a:t>urmare</a:t>
            </a:r>
            <a:r>
              <a:rPr lang="en-US" sz="2400" b="0" strike="noStrike" spc="-1" dirty="0">
                <a:solidFill>
                  <a:srgbClr val="000000"/>
                </a:solidFill>
                <a:latin typeface="Tahoma"/>
              </a:rPr>
              <a:t>, </a:t>
            </a:r>
            <a:r>
              <a:rPr lang="en-US" sz="2400" b="0" strike="noStrike" spc="-1" dirty="0" err="1">
                <a:solidFill>
                  <a:srgbClr val="000000"/>
                </a:solidFill>
                <a:latin typeface="Tahoma"/>
              </a:rPr>
              <a:t>tipurile</a:t>
            </a:r>
            <a:r>
              <a:rPr lang="en-US" sz="2400" b="0" strike="noStrike" spc="-1" dirty="0">
                <a:solidFill>
                  <a:srgbClr val="000000"/>
                </a:solidFill>
                <a:latin typeface="Tahoma"/>
              </a:rPr>
              <a:t> de date </a:t>
            </a:r>
            <a:r>
              <a:rPr lang="en-US" sz="2400" b="0" strike="noStrike" spc="-1" dirty="0" err="1">
                <a:solidFill>
                  <a:srgbClr val="000000"/>
                </a:solidFill>
                <a:latin typeface="Tahoma"/>
              </a:rPr>
              <a:t>ar</a:t>
            </a:r>
            <a:r>
              <a:rPr lang="en-US" sz="2400" b="0" strike="noStrike" spc="-1" dirty="0">
                <a:solidFill>
                  <a:srgbClr val="000000"/>
                </a:solidFill>
                <a:latin typeface="Tahoma"/>
              </a:rPr>
              <a:t> </a:t>
            </a:r>
            <a:r>
              <a:rPr lang="en-US" sz="2400" b="0" strike="noStrike" spc="-1" dirty="0" err="1">
                <a:solidFill>
                  <a:srgbClr val="000000"/>
                </a:solidFill>
                <a:latin typeface="Tahoma"/>
              </a:rPr>
              <a:t>trebui</a:t>
            </a:r>
            <a:r>
              <a:rPr lang="en-US" sz="2400" b="0" strike="noStrike" spc="-1" dirty="0">
                <a:solidFill>
                  <a:srgbClr val="000000"/>
                </a:solidFill>
                <a:latin typeface="Tahoma"/>
              </a:rPr>
              <a:t> </a:t>
            </a:r>
            <a:r>
              <a:rPr lang="en-US" sz="2400" b="0" strike="noStrike" spc="-1" dirty="0" err="1">
                <a:solidFill>
                  <a:srgbClr val="000000"/>
                </a:solidFill>
                <a:latin typeface="Tahoma"/>
              </a:rPr>
              <a:t>să</a:t>
            </a:r>
            <a:r>
              <a:rPr lang="en-US" sz="2400" b="0" strike="noStrike" spc="-1" dirty="0">
                <a:solidFill>
                  <a:srgbClr val="000000"/>
                </a:solidFill>
                <a:latin typeface="Tahoma"/>
              </a:rPr>
              <a:t> fie de </a:t>
            </a:r>
            <a:r>
              <a:rPr lang="en-US" sz="2400" b="0" strike="noStrike" spc="-1" dirty="0" err="1">
                <a:solidFill>
                  <a:srgbClr val="000000"/>
                </a:solidFill>
                <a:latin typeface="Tahoma"/>
              </a:rPr>
              <a:t>fapt</a:t>
            </a:r>
            <a:r>
              <a:rPr lang="en-US" sz="2400" b="0" strike="noStrike" spc="-1" dirty="0">
                <a:solidFill>
                  <a:srgbClr val="000000"/>
                </a:solidFill>
                <a:latin typeface="Tahoma"/>
              </a:rPr>
              <a:t> definite de </a:t>
            </a:r>
            <a:r>
              <a:rPr lang="en-US" sz="2400" b="0" strike="noStrike" spc="-1" dirty="0" err="1">
                <a:solidFill>
                  <a:srgbClr val="000000"/>
                </a:solidFill>
                <a:latin typeface="Tahoma"/>
              </a:rPr>
              <a:t>clase</a:t>
            </a:r>
            <a:r>
              <a:rPr lang="en-US" sz="2400" b="0" strike="noStrike" spc="-1" dirty="0">
                <a:solidFill>
                  <a:srgbClr val="000000"/>
                </a:solidFill>
                <a:latin typeface="Tahoma"/>
              </a:rPr>
              <a:t> </a:t>
            </a:r>
            <a:r>
              <a:rPr lang="en-US" sz="2400" b="0" strike="noStrike" spc="-1" dirty="0" err="1">
                <a:solidFill>
                  <a:srgbClr val="000000"/>
                </a:solidFill>
                <a:latin typeface="Tahoma"/>
              </a:rPr>
              <a:t>şi</a:t>
            </a:r>
            <a:r>
              <a:rPr lang="en-US" sz="2400" b="0" strike="noStrike" spc="-1" dirty="0">
                <a:solidFill>
                  <a:srgbClr val="000000"/>
                </a:solidFill>
                <a:latin typeface="Tahoma"/>
              </a:rPr>
              <a:t> </a:t>
            </a:r>
            <a:r>
              <a:rPr lang="en-US" sz="2400" b="0" strike="noStrike" spc="-1" dirty="0" err="1">
                <a:solidFill>
                  <a:srgbClr val="000000"/>
                </a:solidFill>
                <a:latin typeface="Tahoma"/>
              </a:rPr>
              <a:t>toate</a:t>
            </a:r>
            <a:r>
              <a:rPr lang="en-US" sz="2400" b="0" strike="noStrike" spc="-1" dirty="0">
                <a:solidFill>
                  <a:srgbClr val="000000"/>
                </a:solidFill>
                <a:latin typeface="Tahoma"/>
              </a:rPr>
              <a:t> </a:t>
            </a:r>
            <a:r>
              <a:rPr lang="en-US" sz="2400" b="0" strike="noStrike" spc="-1" dirty="0" err="1">
                <a:solidFill>
                  <a:srgbClr val="000000"/>
                </a:solidFill>
                <a:latin typeface="Tahoma"/>
              </a:rPr>
              <a:t>variabilele</a:t>
            </a:r>
            <a:r>
              <a:rPr lang="en-US" sz="2400" b="0" strike="noStrike" spc="-1" dirty="0">
                <a:solidFill>
                  <a:srgbClr val="000000"/>
                </a:solidFill>
                <a:latin typeface="Tahoma"/>
              </a:rPr>
              <a:t> </a:t>
            </a:r>
            <a:r>
              <a:rPr lang="en-US" sz="2400" b="0" strike="noStrike" spc="-1" dirty="0" err="1">
                <a:solidFill>
                  <a:srgbClr val="000000"/>
                </a:solidFill>
                <a:latin typeface="Tahoma"/>
              </a:rPr>
              <a:t>ar</a:t>
            </a:r>
            <a:r>
              <a:rPr lang="en-US" sz="2400" b="0" strike="noStrike" spc="-1" dirty="0">
                <a:solidFill>
                  <a:srgbClr val="000000"/>
                </a:solidFill>
                <a:latin typeface="Tahoma"/>
              </a:rPr>
              <a:t> </a:t>
            </a:r>
            <a:r>
              <a:rPr lang="en-US" sz="2400" b="0" strike="noStrike" spc="-1" dirty="0" err="1">
                <a:solidFill>
                  <a:srgbClr val="000000"/>
                </a:solidFill>
                <a:latin typeface="Tahoma"/>
              </a:rPr>
              <a:t>trebui</a:t>
            </a:r>
            <a:r>
              <a:rPr lang="en-US" sz="2400" b="0" strike="noStrike" spc="-1" dirty="0">
                <a:solidFill>
                  <a:srgbClr val="000000"/>
                </a:solidFill>
                <a:latin typeface="Tahoma"/>
              </a:rPr>
              <a:t> </a:t>
            </a:r>
            <a:r>
              <a:rPr lang="en-US" sz="2400" b="0" strike="noStrike" spc="-1" dirty="0" err="1">
                <a:solidFill>
                  <a:srgbClr val="000000"/>
                </a:solidFill>
                <a:latin typeface="Tahoma"/>
              </a:rPr>
              <a:t>să</a:t>
            </a:r>
            <a:r>
              <a:rPr lang="en-US" sz="2400" b="0" strike="noStrike" spc="-1" dirty="0">
                <a:solidFill>
                  <a:srgbClr val="000000"/>
                </a:solidFill>
                <a:latin typeface="Tahoma"/>
              </a:rPr>
              <a:t> </a:t>
            </a:r>
            <a:r>
              <a:rPr lang="en-US" sz="2400" b="0" strike="noStrike" spc="-1" dirty="0" err="1">
                <a:solidFill>
                  <a:srgbClr val="000000"/>
                </a:solidFill>
                <a:latin typeface="Tahoma"/>
              </a:rPr>
              <a:t>memoreze</a:t>
            </a:r>
            <a:r>
              <a:rPr lang="en-US" sz="2400" b="0" strike="noStrike" spc="-1" dirty="0">
                <a:solidFill>
                  <a:srgbClr val="000000"/>
                </a:solidFill>
                <a:latin typeface="Tahoma"/>
              </a:rPr>
              <a:t> de </a:t>
            </a:r>
            <a:r>
              <a:rPr lang="en-US" sz="2400" b="0" strike="noStrike" spc="-1" dirty="0" err="1">
                <a:solidFill>
                  <a:srgbClr val="000000"/>
                </a:solidFill>
                <a:latin typeface="Tahoma"/>
              </a:rPr>
              <a:t>fapt</a:t>
            </a:r>
            <a:r>
              <a:rPr lang="en-US" sz="2400" b="0" strike="noStrike" spc="-1" dirty="0">
                <a:solidFill>
                  <a:srgbClr val="000000"/>
                </a:solidFill>
                <a:latin typeface="Tahoma"/>
              </a:rPr>
              <a:t> </a:t>
            </a:r>
            <a:r>
              <a:rPr lang="en-US" sz="2400" b="0" strike="noStrike" spc="-1" dirty="0" err="1">
                <a:solidFill>
                  <a:srgbClr val="000000"/>
                </a:solidFill>
                <a:latin typeface="Tahoma"/>
              </a:rPr>
              <a:t>instanţe</a:t>
            </a:r>
            <a:r>
              <a:rPr lang="en-US" sz="2400" b="0" strike="noStrike" spc="-1" dirty="0">
                <a:solidFill>
                  <a:srgbClr val="000000"/>
                </a:solidFill>
                <a:latin typeface="Tahoma"/>
              </a:rPr>
              <a:t> (</a:t>
            </a:r>
            <a:r>
              <a:rPr lang="en-US" sz="2400" b="0" strike="noStrike" spc="-1" dirty="0" err="1">
                <a:solidFill>
                  <a:srgbClr val="000000"/>
                </a:solidFill>
                <a:latin typeface="Tahoma"/>
              </a:rPr>
              <a:t>obiecte</a:t>
            </a:r>
            <a:r>
              <a:rPr lang="en-US" sz="2400" b="0" strike="noStrike" spc="-1" dirty="0">
                <a:solidFill>
                  <a:srgbClr val="000000"/>
                </a:solidFill>
                <a:latin typeface="Tahoma"/>
              </a:rPr>
              <a:t>) ale </a:t>
            </a:r>
            <a:r>
              <a:rPr lang="en-US" sz="2400" b="0" strike="noStrike" spc="-1" dirty="0" err="1">
                <a:solidFill>
                  <a:srgbClr val="000000"/>
                </a:solidFill>
                <a:latin typeface="Tahoma"/>
              </a:rPr>
              <a:t>acestor</a:t>
            </a:r>
            <a:r>
              <a:rPr lang="en-US" sz="2400" b="0" strike="noStrike" spc="-1" dirty="0">
                <a:solidFill>
                  <a:srgbClr val="000000"/>
                </a:solidFill>
                <a:latin typeface="Tahoma"/>
              </a:rPr>
              <a:t> </a:t>
            </a:r>
            <a:r>
              <a:rPr lang="en-US" sz="2400" b="0" strike="noStrike" spc="-1" dirty="0" err="1">
                <a:solidFill>
                  <a:srgbClr val="000000"/>
                </a:solidFill>
                <a:latin typeface="Tahoma"/>
              </a:rPr>
              <a:t>clase</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principiu</a:t>
            </a:r>
            <a:r>
              <a:rPr lang="en-US" sz="2400" b="0" strike="noStrike" spc="-1" dirty="0">
                <a:solidFill>
                  <a:srgbClr val="000000"/>
                </a:solidFill>
                <a:latin typeface="Tahoma"/>
              </a:rPr>
              <a:t> </a:t>
            </a:r>
            <a:r>
              <a:rPr lang="en-US" sz="2400" b="0" strike="noStrike" spc="-1" dirty="0" err="1">
                <a:solidFill>
                  <a:srgbClr val="000000"/>
                </a:solidFill>
                <a:latin typeface="Tahoma"/>
              </a:rPr>
              <a:t>acest</a:t>
            </a:r>
            <a:r>
              <a:rPr lang="en-US" sz="2400" b="0" strike="noStrike" spc="-1" dirty="0">
                <a:solidFill>
                  <a:srgbClr val="000000"/>
                </a:solidFill>
                <a:latin typeface="Tahoma"/>
              </a:rPr>
              <a:t> </a:t>
            </a:r>
            <a:r>
              <a:rPr lang="en-US" sz="2400" b="0" strike="noStrike" spc="-1" dirty="0" err="1">
                <a:solidFill>
                  <a:srgbClr val="000000"/>
                </a:solidFill>
                <a:latin typeface="Tahoma"/>
              </a:rPr>
              <a:t>lucru</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adevărat</a:t>
            </a:r>
            <a:r>
              <a:rPr lang="en-US" sz="2400" b="0" strike="noStrike" spc="-1" dirty="0">
                <a:solidFill>
                  <a:srgbClr val="000000"/>
                </a:solidFill>
                <a:latin typeface="Tahoma"/>
              </a:rPr>
              <a:t>, </a:t>
            </a:r>
            <a:r>
              <a:rPr lang="en-US" sz="2400" b="0" strike="noStrike" spc="-1" dirty="0" err="1">
                <a:solidFill>
                  <a:srgbClr val="000000"/>
                </a:solidFill>
                <a:latin typeface="Tahoma"/>
              </a:rPr>
              <a:t>însă</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t>
            </a:r>
            <a:r>
              <a:rPr lang="en-US" sz="2400" b="0" strike="noStrike" spc="-1" dirty="0" err="1">
                <a:solidFill>
                  <a:srgbClr val="000000"/>
                </a:solidFill>
                <a:latin typeface="Tahoma"/>
              </a:rPr>
              <a:t>uşurinţa</a:t>
            </a:r>
            <a:r>
              <a:rPr lang="en-US" sz="2400" b="0" strike="noStrike" spc="-1" dirty="0">
                <a:solidFill>
                  <a:srgbClr val="000000"/>
                </a:solidFill>
                <a:latin typeface="Tahoma"/>
              </a:rPr>
              <a:t> </a:t>
            </a:r>
            <a:r>
              <a:rPr lang="en-US" sz="2400" b="0" strike="noStrike" spc="-1" dirty="0" err="1">
                <a:solidFill>
                  <a:srgbClr val="000000"/>
                </a:solidFill>
                <a:latin typeface="Tahoma"/>
              </a:rPr>
              <a:t>programării</a:t>
            </a:r>
            <a:r>
              <a:rPr lang="en-US" sz="2400" b="0" strike="noStrike" spc="-1" dirty="0">
                <a:solidFill>
                  <a:srgbClr val="000000"/>
                </a:solidFill>
                <a:latin typeface="Tahoma"/>
              </a:rPr>
              <a:t>, </a:t>
            </a:r>
            <a:r>
              <a:rPr lang="en-US" sz="2400" b="0" strike="noStrike" spc="-1" dirty="0" err="1">
                <a:solidFill>
                  <a:srgbClr val="000000"/>
                </a:solidFill>
                <a:latin typeface="Tahoma"/>
              </a:rPr>
              <a:t>mai</a:t>
            </a:r>
            <a:r>
              <a:rPr lang="en-US" sz="2400" b="0" strike="noStrike" spc="-1" dirty="0">
                <a:solidFill>
                  <a:srgbClr val="000000"/>
                </a:solidFill>
                <a:latin typeface="Tahoma"/>
              </a:rPr>
              <a:t> </a:t>
            </a:r>
            <a:r>
              <a:rPr lang="en-US" sz="2400" b="0" strike="noStrike" spc="-1" dirty="0" err="1">
                <a:solidFill>
                  <a:srgbClr val="000000"/>
                </a:solidFill>
                <a:latin typeface="Tahoma"/>
              </a:rPr>
              <a:t>există</a:t>
            </a:r>
            <a:r>
              <a:rPr lang="en-US" sz="2400" b="0" strike="noStrike" spc="-1" dirty="0">
                <a:solidFill>
                  <a:srgbClr val="000000"/>
                </a:solidFill>
                <a:latin typeface="Tahoma"/>
              </a:rPr>
              <a:t> </a:t>
            </a:r>
            <a:r>
              <a:rPr lang="en-US" sz="2400" b="0" strike="noStrike" spc="-1" dirty="0" err="1">
                <a:solidFill>
                  <a:srgbClr val="000000"/>
                </a:solidFill>
                <a:latin typeface="Tahoma"/>
              </a:rPr>
              <a:t>şi</a:t>
            </a:r>
            <a:r>
              <a:rPr lang="en-US" sz="2400" b="0" strike="noStrike" spc="-1" dirty="0">
                <a:solidFill>
                  <a:srgbClr val="000000"/>
                </a:solidFill>
                <a:latin typeface="Tahoma"/>
              </a:rPr>
              <a:t> </a:t>
            </a:r>
            <a:r>
              <a:rPr lang="en-US" sz="2400" b="0" strike="noStrike" spc="-1" dirty="0" err="1">
                <a:solidFill>
                  <a:srgbClr val="000000"/>
                </a:solidFill>
                <a:latin typeface="Tahoma"/>
              </a:rPr>
              <a:t>aşa</a:t>
            </a:r>
            <a:r>
              <a:rPr lang="en-US" sz="2400" b="0" strike="noStrike" spc="-1" dirty="0">
                <a:solidFill>
                  <a:srgbClr val="000000"/>
                </a:solidFill>
                <a:latin typeface="Tahoma"/>
              </a:rPr>
              <a:t> </a:t>
            </a:r>
            <a:r>
              <a:rPr lang="en-US" sz="2400" b="0" strike="noStrike" spc="-1" dirty="0" err="1">
                <a:solidFill>
                  <a:srgbClr val="000000"/>
                </a:solidFill>
                <a:latin typeface="Tahoma"/>
              </a:rPr>
              <a:t>numitele</a:t>
            </a:r>
            <a:r>
              <a:rPr lang="en-US" sz="2400" b="0" strike="noStrike" spc="-1" dirty="0">
                <a:solidFill>
                  <a:srgbClr val="000000"/>
                </a:solidFill>
                <a:latin typeface="Tahoma"/>
              </a:rPr>
              <a:t> </a:t>
            </a:r>
            <a:r>
              <a:rPr lang="en-US" sz="2400" b="1" strike="noStrike" spc="-1" dirty="0" err="1">
                <a:solidFill>
                  <a:srgbClr val="008000"/>
                </a:solidFill>
                <a:latin typeface="Tahoma"/>
              </a:rPr>
              <a:t>tipuri</a:t>
            </a:r>
            <a:r>
              <a:rPr lang="en-US" sz="2400" b="1" strike="noStrike" spc="-1" dirty="0">
                <a:solidFill>
                  <a:srgbClr val="008000"/>
                </a:solidFill>
                <a:latin typeface="Tahoma"/>
              </a:rPr>
              <a:t> primitive</a:t>
            </a:r>
            <a:r>
              <a:rPr lang="en-US" sz="2400" b="0" strike="noStrike" spc="-1" dirty="0">
                <a:solidFill>
                  <a:srgbClr val="000000"/>
                </a:solidFill>
                <a:latin typeface="Tahoma"/>
              </a:rPr>
              <a:t> de date, care </a:t>
            </a:r>
            <a:r>
              <a:rPr lang="en-US" sz="2400" b="0" strike="noStrike" spc="-1" dirty="0" err="1">
                <a:solidFill>
                  <a:srgbClr val="000000"/>
                </a:solidFill>
                <a:latin typeface="Tahoma"/>
              </a:rPr>
              <a:t>sunt</a:t>
            </a:r>
            <a:r>
              <a:rPr lang="en-US" sz="2400" b="0" strike="noStrike" spc="-1" dirty="0">
                <a:solidFill>
                  <a:srgbClr val="000000"/>
                </a:solidFill>
                <a:latin typeface="Tahoma"/>
              </a:rPr>
              <a:t> </a:t>
            </a:r>
            <a:r>
              <a:rPr lang="en-US" sz="2400" b="0" strike="noStrike" spc="-1" dirty="0" err="1">
                <a:solidFill>
                  <a:srgbClr val="000000"/>
                </a:solidFill>
                <a:latin typeface="Tahoma"/>
              </a:rPr>
              <a:t>cele</a:t>
            </a:r>
            <a:r>
              <a:rPr lang="en-US" sz="2400" b="0" strike="noStrike" spc="-1" dirty="0">
                <a:solidFill>
                  <a:srgbClr val="000000"/>
                </a:solidFill>
                <a:latin typeface="Tahoma"/>
              </a:rPr>
              <a:t> </a:t>
            </a:r>
            <a:r>
              <a:rPr lang="en-US" sz="2400" b="0" strike="noStrike" spc="-1" dirty="0" err="1">
                <a:solidFill>
                  <a:srgbClr val="000000"/>
                </a:solidFill>
                <a:latin typeface="Tahoma"/>
              </a:rPr>
              <a:t>uzuale</a:t>
            </a:r>
            <a:r>
              <a:rPr lang="en-US" sz="2400" b="0" strike="noStrike" spc="-1" dirty="0">
                <a:solidFill>
                  <a:srgbClr val="000000"/>
                </a:solidFill>
                <a:latin typeface="Tahoma"/>
              </a:rPr>
              <a:t>:</a:t>
            </a:r>
            <a:r>
              <a:rPr lang="en-US" sz="2000" b="0" strike="noStrike" spc="-1" dirty="0">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CFB6209D-9A7A-4A06-B556-FC65643884B4}" type="slidenum">
              <a:rPr lang="en-US" sz="1400" b="0" strike="noStrike" spc="-1">
                <a:solidFill>
                  <a:srgbClr val="5E574E"/>
                </a:solidFill>
                <a:latin typeface="Arial"/>
              </a:rPr>
              <a:t>20</a:t>
            </a:fld>
            <a:endParaRPr lang="en-US" sz="1400" b="0" strike="noStrike" spc="-1">
              <a:latin typeface="Times New Roman"/>
            </a:endParaRPr>
          </a:p>
        </p:txBody>
      </p:sp>
      <p:sp>
        <p:nvSpPr>
          <p:cNvPr id="328"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29" name="TextShape 5"/>
          <p:cNvSpPr txBox="1"/>
          <p:nvPr/>
        </p:nvSpPr>
        <p:spPr>
          <a:xfrm>
            <a:off x="495360" y="1886040"/>
            <a:ext cx="4352400" cy="4171680"/>
          </a:xfrm>
          <a:prstGeom prst="rect">
            <a:avLst/>
          </a:prstGeom>
          <a:noFill/>
          <a:ln>
            <a:noFill/>
          </a:ln>
        </p:spPr>
        <p:txBody>
          <a:bodyPr>
            <a:noAutofit/>
          </a:bodyPr>
          <a:lstStyle/>
          <a:p>
            <a:pPr marL="609480" indent="-609120">
              <a:lnSpc>
                <a:spcPct val="100000"/>
              </a:lnSpc>
              <a:spcBef>
                <a:spcPts val="561"/>
              </a:spcBef>
              <a:buClr>
                <a:srgbClr val="FFCC00"/>
              </a:buClr>
              <a:buFont typeface="Monotype Sorts" charset="2"/>
              <a:buChar char=""/>
            </a:pPr>
            <a:r>
              <a:rPr lang="en-US" sz="2800" b="1" strike="noStrike" spc="-1">
                <a:solidFill>
                  <a:srgbClr val="008000"/>
                </a:solidFill>
                <a:latin typeface="Tahoma"/>
              </a:rPr>
              <a:t>tipuri întregi</a:t>
            </a:r>
            <a:endParaRPr lang="en-US" sz="2800" b="0" strike="noStrike" spc="-1">
              <a:solidFill>
                <a:srgbClr val="000000"/>
              </a:solidFill>
              <a:latin typeface="Tahoma"/>
            </a:endParaRPr>
          </a:p>
          <a:p>
            <a:pPr>
              <a:lnSpc>
                <a:spcPct val="100000"/>
              </a:lnSpc>
              <a:spcBef>
                <a:spcPts val="561"/>
              </a:spcBef>
            </a:pPr>
            <a:endParaRPr lang="en-US" sz="2800" b="0" strike="noStrike" spc="-1">
              <a:solidFill>
                <a:srgbClr val="000000"/>
              </a:solidFill>
              <a:latin typeface="Tahoma"/>
            </a:endParaRPr>
          </a:p>
        </p:txBody>
      </p:sp>
      <p:graphicFrame>
        <p:nvGraphicFramePr>
          <p:cNvPr id="330" name="Table 6"/>
          <p:cNvGraphicFramePr/>
          <p:nvPr/>
        </p:nvGraphicFramePr>
        <p:xfrm>
          <a:off x="5000760" y="1886040"/>
          <a:ext cx="4354200" cy="3476160"/>
        </p:xfrm>
        <a:graphic>
          <a:graphicData uri="http://schemas.openxmlformats.org/drawingml/2006/table">
            <a:tbl>
              <a:tblPr/>
              <a:tblGrid>
                <a:gridCol w="1452240"/>
                <a:gridCol w="1449360"/>
                <a:gridCol w="1452600"/>
              </a:tblGrid>
              <a:tr h="695160">
                <a:tc>
                  <a:txBody>
                    <a:bodyPr/>
                    <a:lstStyle/>
                    <a:p>
                      <a:pPr>
                        <a:lnSpc>
                          <a:spcPct val="100000"/>
                        </a:lnSpc>
                        <a:spcBef>
                          <a:spcPts val="281"/>
                        </a:spcBef>
                      </a:pPr>
                      <a:r>
                        <a:rPr lang="en-US" sz="1400" b="1" strike="noStrike" spc="-1">
                          <a:solidFill>
                            <a:srgbClr val="000000"/>
                          </a:solidFill>
                          <a:latin typeface="Arial"/>
                          <a:ea typeface="Times New Roman"/>
                        </a:rPr>
                        <a:t>Tip de date</a:t>
                      </a:r>
                      <a:endParaRPr lang="en-US" sz="1400" b="0" strike="noStrike" spc="-1">
                        <a:latin typeface="Arial"/>
                      </a:endParaRPr>
                    </a:p>
                  </a:txBody>
                  <a:tcPr>
                    <a:lnL w="28080">
                      <a:solidFill>
                        <a:srgbClr val="000000"/>
                      </a:solidFill>
                    </a:lnL>
                    <a:lnR w="12240">
                      <a:solidFill>
                        <a:srgbClr val="000000"/>
                      </a:solidFill>
                    </a:lnR>
                    <a:lnT w="2808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ea typeface="Times New Roman"/>
                        </a:rPr>
                        <a:t>Dimensiune în octeţi</a:t>
                      </a:r>
                      <a:endParaRPr lang="en-US" sz="1400" b="0" strike="noStrike" spc="-1">
                        <a:latin typeface="Arial"/>
                      </a:endParaRPr>
                    </a:p>
                  </a:txBody>
                  <a:tcPr>
                    <a:lnL w="12240">
                      <a:solidFill>
                        <a:srgbClr val="000000"/>
                      </a:solidFill>
                    </a:lnL>
                    <a:lnR w="12240">
                      <a:solidFill>
                        <a:srgbClr val="000000"/>
                      </a:solidFill>
                    </a:lnR>
                    <a:lnT w="2808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ea typeface="Times New Roman"/>
                        </a:rPr>
                        <a:t>Domeniu</a:t>
                      </a:r>
                      <a:endParaRPr lang="en-US" sz="1400" b="0" strike="noStrike" spc="-1">
                        <a:latin typeface="Arial"/>
                      </a:endParaRPr>
                    </a:p>
                  </a:txBody>
                  <a:tcPr>
                    <a:lnL w="12240">
                      <a:solidFill>
                        <a:srgbClr val="000000"/>
                      </a:solidFill>
                    </a:lnL>
                    <a:lnR w="28080">
                      <a:solidFill>
                        <a:srgbClr val="000000"/>
                      </a:solidFill>
                    </a:lnR>
                    <a:lnT w="28080">
                      <a:solidFill>
                        <a:srgbClr val="000000"/>
                      </a:solidFill>
                    </a:lnT>
                    <a:lnB w="12240">
                      <a:solidFill>
                        <a:srgbClr val="000000"/>
                      </a:solidFill>
                    </a:lnB>
                    <a:noFill/>
                  </a:tcPr>
                </a:tc>
              </a:tr>
              <a:tr h="695160">
                <a:tc>
                  <a:txBody>
                    <a:bodyPr/>
                    <a:lstStyle/>
                    <a:p>
                      <a:pPr>
                        <a:lnSpc>
                          <a:spcPct val="100000"/>
                        </a:lnSpc>
                        <a:spcBef>
                          <a:spcPts val="281"/>
                        </a:spcBef>
                      </a:pPr>
                      <a:r>
                        <a:rPr lang="en-US" sz="1400" b="1" strike="noStrike" spc="-1">
                          <a:solidFill>
                            <a:srgbClr val="000000"/>
                          </a:solidFill>
                          <a:latin typeface="Arial"/>
                        </a:rPr>
                        <a:t>byte</a:t>
                      </a:r>
                      <a:endParaRPr lang="en-US" sz="14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1</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-128 .. 127 </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695160">
                <a:tc>
                  <a:txBody>
                    <a:bodyPr/>
                    <a:lstStyle/>
                    <a:p>
                      <a:pPr>
                        <a:lnSpc>
                          <a:spcPct val="100000"/>
                        </a:lnSpc>
                        <a:spcBef>
                          <a:spcPts val="281"/>
                        </a:spcBef>
                      </a:pPr>
                      <a:r>
                        <a:rPr lang="en-US" sz="1400" b="1" strike="noStrike" spc="-1">
                          <a:solidFill>
                            <a:srgbClr val="000000"/>
                          </a:solidFill>
                          <a:latin typeface="Arial"/>
                        </a:rPr>
                        <a:t>short</a:t>
                      </a:r>
                      <a:endParaRPr lang="en-US" sz="14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2</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-32768 .. 32767 </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695160">
                <a:tc>
                  <a:txBody>
                    <a:bodyPr/>
                    <a:lstStyle/>
                    <a:p>
                      <a:pPr>
                        <a:lnSpc>
                          <a:spcPct val="100000"/>
                        </a:lnSpc>
                        <a:spcBef>
                          <a:spcPts val="281"/>
                        </a:spcBef>
                      </a:pPr>
                      <a:r>
                        <a:rPr lang="en-US" sz="1400" b="1" strike="noStrike" spc="-1">
                          <a:solidFill>
                            <a:srgbClr val="000000"/>
                          </a:solidFill>
                          <a:latin typeface="Arial"/>
                        </a:rPr>
                        <a:t>int</a:t>
                      </a:r>
                      <a:endParaRPr lang="en-US" sz="14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4</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-2147483648 ..  2147483647 </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695520">
                <a:tc>
                  <a:txBody>
                    <a:bodyPr/>
                    <a:lstStyle/>
                    <a:p>
                      <a:pPr>
                        <a:lnSpc>
                          <a:spcPct val="100000"/>
                        </a:lnSpc>
                        <a:spcBef>
                          <a:spcPts val="281"/>
                        </a:spcBef>
                      </a:pPr>
                      <a:r>
                        <a:rPr lang="en-US" sz="1400" b="1" strike="noStrike" spc="-1">
                          <a:solidFill>
                            <a:srgbClr val="000000"/>
                          </a:solidFill>
                          <a:latin typeface="Arial"/>
                        </a:rPr>
                        <a:t>long</a:t>
                      </a:r>
                      <a:endParaRPr lang="en-US" sz="1400" b="0" strike="noStrike" spc="-1">
                        <a:latin typeface="Arial"/>
                      </a:endParaRPr>
                    </a:p>
                  </a:txBody>
                  <a:tcPr>
                    <a:lnL w="28080">
                      <a:solidFill>
                        <a:srgbClr val="000000"/>
                      </a:solidFill>
                    </a:lnL>
                    <a:lnR w="12240">
                      <a:solidFill>
                        <a:srgbClr val="000000"/>
                      </a:solidFill>
                    </a:lnR>
                    <a:lnT w="12240">
                      <a:solidFill>
                        <a:srgbClr val="000000"/>
                      </a:solidFill>
                    </a:lnT>
                    <a:lnB w="2808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8</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2808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-2^63 .. 2^63-1 </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28080">
                      <a:solidFill>
                        <a:srgbClr val="000000"/>
                      </a:solidFill>
                    </a:lnB>
                    <a:no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4F2EFA41-79F5-47DA-9E3C-07C83BBDC37F}" type="slidenum">
              <a:rPr lang="en-US" sz="1400" b="0" strike="noStrike" spc="-1">
                <a:solidFill>
                  <a:srgbClr val="5E574E"/>
                </a:solidFill>
                <a:latin typeface="Arial"/>
              </a:rPr>
              <a:t>21</a:t>
            </a:fld>
            <a:endParaRPr lang="en-US" sz="1400" b="0" strike="noStrike" spc="-1">
              <a:latin typeface="Times New Roman"/>
            </a:endParaRPr>
          </a:p>
        </p:txBody>
      </p:sp>
      <p:sp>
        <p:nvSpPr>
          <p:cNvPr id="334" name="TextShape 4"/>
          <p:cNvSpPr txBox="1"/>
          <p:nvPr/>
        </p:nvSpPr>
        <p:spPr>
          <a:xfrm>
            <a:off x="439560" y="228600"/>
            <a:ext cx="8419680" cy="685440"/>
          </a:xfrm>
          <a:prstGeom prst="rect">
            <a:avLst/>
          </a:prstGeom>
          <a:noFill/>
          <a:ln>
            <a:noFill/>
          </a:ln>
        </p:spPr>
        <p:txBody>
          <a:bodyPr anchor="b">
            <a:noAutofit/>
          </a:bodyPr>
          <a:lstStyle/>
          <a:p>
            <a:pPr>
              <a:lnSpc>
                <a:spcPct val="100000"/>
              </a:lnSpc>
            </a:pPr>
            <a:endParaRPr lang="en-US" sz="3600" b="0" strike="noStrike" spc="-1" dirty="0">
              <a:solidFill>
                <a:srgbClr val="000000"/>
              </a:solidFill>
              <a:latin typeface="Arial"/>
            </a:endParaRPr>
          </a:p>
        </p:txBody>
      </p:sp>
      <p:sp>
        <p:nvSpPr>
          <p:cNvPr id="335" name="TextShape 5"/>
          <p:cNvSpPr txBox="1"/>
          <p:nvPr/>
        </p:nvSpPr>
        <p:spPr>
          <a:xfrm>
            <a:off x="495360" y="1886040"/>
            <a:ext cx="4352400" cy="4171680"/>
          </a:xfrm>
          <a:prstGeom prst="rect">
            <a:avLst/>
          </a:prstGeom>
          <a:noFill/>
          <a:ln>
            <a:noFill/>
          </a:ln>
        </p:spPr>
        <p:txBody>
          <a:bodyPr>
            <a:noAutofit/>
          </a:bodyPr>
          <a:lstStyle/>
          <a:p>
            <a:pPr marL="609480" indent="-609120">
              <a:lnSpc>
                <a:spcPct val="100000"/>
              </a:lnSpc>
              <a:spcBef>
                <a:spcPts val="561"/>
              </a:spcBef>
              <a:buClr>
                <a:srgbClr val="FFCC00"/>
              </a:buClr>
              <a:buFont typeface="Monotype Sorts" charset="2"/>
              <a:buChar char=""/>
            </a:pPr>
            <a:r>
              <a:rPr lang="en-US" sz="2800" b="1" strike="noStrike" spc="-1">
                <a:solidFill>
                  <a:srgbClr val="008000"/>
                </a:solidFill>
                <a:latin typeface="Tahoma"/>
              </a:rPr>
              <a:t>tipuri reale</a:t>
            </a:r>
            <a:endParaRPr lang="en-US" sz="2800" b="0" strike="noStrike" spc="-1">
              <a:solidFill>
                <a:srgbClr val="000000"/>
              </a:solidFill>
              <a:latin typeface="Tahoma"/>
            </a:endParaRPr>
          </a:p>
          <a:p>
            <a:pPr>
              <a:lnSpc>
                <a:spcPct val="100000"/>
              </a:lnSpc>
              <a:spcBef>
                <a:spcPts val="561"/>
              </a:spcBef>
            </a:pPr>
            <a:endParaRPr lang="en-US" sz="2800" b="0" strike="noStrike" spc="-1">
              <a:solidFill>
                <a:srgbClr val="000000"/>
              </a:solidFill>
              <a:latin typeface="Tahoma"/>
            </a:endParaRPr>
          </a:p>
        </p:txBody>
      </p:sp>
      <p:graphicFrame>
        <p:nvGraphicFramePr>
          <p:cNvPr id="336" name="Table 6"/>
          <p:cNvGraphicFramePr/>
          <p:nvPr/>
        </p:nvGraphicFramePr>
        <p:xfrm>
          <a:off x="4114800" y="1886040"/>
          <a:ext cx="5240160" cy="2057040"/>
        </p:xfrm>
        <a:graphic>
          <a:graphicData uri="http://schemas.openxmlformats.org/drawingml/2006/table">
            <a:tbl>
              <a:tblPr/>
              <a:tblGrid>
                <a:gridCol w="1143000"/>
                <a:gridCol w="1981080"/>
                <a:gridCol w="2116080"/>
              </a:tblGrid>
              <a:tr h="474480">
                <a:tc>
                  <a:txBody>
                    <a:bodyPr/>
                    <a:lstStyle/>
                    <a:p>
                      <a:pPr>
                        <a:lnSpc>
                          <a:spcPct val="100000"/>
                        </a:lnSpc>
                        <a:spcBef>
                          <a:spcPts val="281"/>
                        </a:spcBef>
                      </a:pPr>
                      <a:r>
                        <a:rPr lang="en-US" sz="1400" b="1" strike="noStrike" spc="-1">
                          <a:solidFill>
                            <a:srgbClr val="000000"/>
                          </a:solidFill>
                          <a:latin typeface="Arial"/>
                        </a:rPr>
                        <a:t>Tip de date </a:t>
                      </a:r>
                      <a:endParaRPr lang="en-US" sz="1400" b="0" strike="noStrike" spc="-1">
                        <a:latin typeface="Arial"/>
                      </a:endParaRPr>
                    </a:p>
                  </a:txBody>
                  <a:tcPr>
                    <a:lnL w="28080">
                      <a:solidFill>
                        <a:srgbClr val="000000"/>
                      </a:solidFill>
                    </a:lnL>
                    <a:lnR w="12240">
                      <a:solidFill>
                        <a:srgbClr val="000000"/>
                      </a:solidFill>
                    </a:lnR>
                    <a:lnT w="2808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Dimensiune în octeţi </a:t>
                      </a:r>
                      <a:endParaRPr lang="en-US" sz="1400" b="0" strike="noStrike" spc="-1">
                        <a:latin typeface="Arial"/>
                      </a:endParaRPr>
                    </a:p>
                  </a:txBody>
                  <a:tcPr>
                    <a:lnL w="12240">
                      <a:solidFill>
                        <a:srgbClr val="000000"/>
                      </a:solidFill>
                    </a:lnL>
                    <a:lnR w="12240">
                      <a:solidFill>
                        <a:srgbClr val="000000"/>
                      </a:solidFill>
                    </a:lnR>
                    <a:lnT w="2808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Domeniu </a:t>
                      </a:r>
                      <a:endParaRPr lang="en-US" sz="1400" b="0" strike="noStrike" spc="-1">
                        <a:latin typeface="Arial"/>
                      </a:endParaRPr>
                    </a:p>
                  </a:txBody>
                  <a:tcPr>
                    <a:lnL w="12240">
                      <a:solidFill>
                        <a:srgbClr val="000000"/>
                      </a:solidFill>
                    </a:lnL>
                    <a:lnR w="28080">
                      <a:solidFill>
                        <a:srgbClr val="000000"/>
                      </a:solidFill>
                    </a:lnR>
                    <a:lnT w="28080">
                      <a:solidFill>
                        <a:srgbClr val="000000"/>
                      </a:solidFill>
                    </a:lnT>
                    <a:lnB w="12240">
                      <a:solidFill>
                        <a:srgbClr val="000000"/>
                      </a:solidFill>
                    </a:lnB>
                    <a:noFill/>
                  </a:tcPr>
                </a:tc>
              </a:tr>
              <a:tr h="645840">
                <a:tc>
                  <a:txBody>
                    <a:bodyPr/>
                    <a:lstStyle/>
                    <a:p>
                      <a:pPr>
                        <a:lnSpc>
                          <a:spcPct val="100000"/>
                        </a:lnSpc>
                        <a:spcBef>
                          <a:spcPts val="281"/>
                        </a:spcBef>
                      </a:pPr>
                      <a:r>
                        <a:rPr lang="en-US" sz="1400" b="1" strike="noStrike" spc="-1">
                          <a:solidFill>
                            <a:srgbClr val="000000"/>
                          </a:solidFill>
                          <a:latin typeface="Arial"/>
                        </a:rPr>
                        <a:t>float</a:t>
                      </a:r>
                      <a:endParaRPr lang="en-US" sz="1400" b="0" strike="noStrike" spc="-1">
                        <a:latin typeface="Arial"/>
                      </a:endParaRPr>
                    </a:p>
                  </a:txBody>
                  <a:tcPr>
                    <a:lnL w="2808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4</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-10^46 .. 10^38 </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12240">
                      <a:solidFill>
                        <a:srgbClr val="000000"/>
                      </a:solidFill>
                    </a:lnB>
                    <a:noFill/>
                  </a:tcPr>
                </a:tc>
              </a:tr>
              <a:tr h="936720">
                <a:tc>
                  <a:txBody>
                    <a:bodyPr/>
                    <a:lstStyle/>
                    <a:p>
                      <a:pPr>
                        <a:lnSpc>
                          <a:spcPct val="100000"/>
                        </a:lnSpc>
                        <a:spcBef>
                          <a:spcPts val="281"/>
                        </a:spcBef>
                      </a:pPr>
                      <a:r>
                        <a:rPr lang="en-US" sz="1400" b="1" strike="noStrike" spc="-1">
                          <a:solidFill>
                            <a:srgbClr val="000000"/>
                          </a:solidFill>
                          <a:latin typeface="Arial"/>
                        </a:rPr>
                        <a:t>double</a:t>
                      </a:r>
                      <a:endParaRPr lang="en-US" sz="1400" b="0" strike="noStrike" spc="-1">
                        <a:latin typeface="Arial"/>
                      </a:endParaRPr>
                    </a:p>
                  </a:txBody>
                  <a:tcPr>
                    <a:lnL w="28080">
                      <a:solidFill>
                        <a:srgbClr val="000000"/>
                      </a:solidFill>
                    </a:lnL>
                    <a:lnR w="12240">
                      <a:solidFill>
                        <a:srgbClr val="000000"/>
                      </a:solidFill>
                    </a:lnR>
                    <a:lnT w="12240">
                      <a:solidFill>
                        <a:srgbClr val="000000"/>
                      </a:solidFill>
                    </a:lnT>
                    <a:lnB w="2808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8</a:t>
                      </a:r>
                      <a:endParaRPr lang="en-US" sz="1400" b="0" strike="noStrike" spc="-1">
                        <a:latin typeface="Arial"/>
                      </a:endParaRPr>
                    </a:p>
                  </a:txBody>
                  <a:tcPr>
                    <a:lnL w="12240">
                      <a:solidFill>
                        <a:srgbClr val="000000"/>
                      </a:solidFill>
                    </a:lnL>
                    <a:lnR w="12240">
                      <a:solidFill>
                        <a:srgbClr val="000000"/>
                      </a:solidFill>
                    </a:lnR>
                    <a:lnT w="12240">
                      <a:solidFill>
                        <a:srgbClr val="000000"/>
                      </a:solidFill>
                    </a:lnT>
                    <a:lnB w="28080">
                      <a:solidFill>
                        <a:srgbClr val="000000"/>
                      </a:solidFill>
                    </a:lnB>
                    <a:noFill/>
                  </a:tcPr>
                </a:tc>
                <a:tc>
                  <a:txBody>
                    <a:bodyPr/>
                    <a:lstStyle/>
                    <a:p>
                      <a:pPr>
                        <a:lnSpc>
                          <a:spcPct val="100000"/>
                        </a:lnSpc>
                        <a:spcBef>
                          <a:spcPts val="281"/>
                        </a:spcBef>
                      </a:pPr>
                      <a:r>
                        <a:rPr lang="en-US" sz="1400" b="1" strike="noStrike" spc="-1">
                          <a:solidFill>
                            <a:srgbClr val="000000"/>
                          </a:solidFill>
                          <a:latin typeface="Arial"/>
                        </a:rPr>
                        <a:t>-10^324 .. 10^308 </a:t>
                      </a:r>
                      <a:endParaRPr lang="en-US" sz="1400" b="0" strike="noStrike" spc="-1">
                        <a:latin typeface="Arial"/>
                      </a:endParaRPr>
                    </a:p>
                  </a:txBody>
                  <a:tcPr>
                    <a:lnL w="12240">
                      <a:solidFill>
                        <a:srgbClr val="000000"/>
                      </a:solidFill>
                    </a:lnL>
                    <a:lnR w="28080">
                      <a:solidFill>
                        <a:srgbClr val="000000"/>
                      </a:solidFill>
                    </a:lnR>
                    <a:lnT w="12240">
                      <a:solidFill>
                        <a:srgbClr val="000000"/>
                      </a:solidFill>
                    </a:lnT>
                    <a:lnB w="28080">
                      <a:solidFill>
                        <a:srgbClr val="000000"/>
                      </a:solidFill>
                    </a:lnB>
                    <a:no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B13A4DBA-3557-4D36-B89E-5FB90C5BB8E1}" type="slidenum">
              <a:rPr lang="en-US" sz="1400" b="0" strike="noStrike" spc="-1">
                <a:solidFill>
                  <a:srgbClr val="5E574E"/>
                </a:solidFill>
                <a:latin typeface="Arial"/>
              </a:rPr>
              <a:t>22</a:t>
            </a:fld>
            <a:endParaRPr lang="en-US" sz="1400" b="0" strike="noStrike" spc="-1">
              <a:latin typeface="Times New Roman"/>
            </a:endParaRPr>
          </a:p>
        </p:txBody>
      </p:sp>
      <p:sp>
        <p:nvSpPr>
          <p:cNvPr id="340" name="TextShape 4"/>
          <p:cNvSpPr txBox="1"/>
          <p:nvPr/>
        </p:nvSpPr>
        <p:spPr>
          <a:xfrm>
            <a:off x="439560" y="22860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41" name="TextShape 5"/>
          <p:cNvSpPr txBox="1"/>
          <p:nvPr/>
        </p:nvSpPr>
        <p:spPr>
          <a:xfrm>
            <a:off x="495360" y="1695780"/>
            <a:ext cx="8859600" cy="4762080"/>
          </a:xfrm>
          <a:prstGeom prst="rect">
            <a:avLst/>
          </a:prstGeom>
          <a:noFill/>
          <a:ln>
            <a:noFill/>
          </a:ln>
        </p:spPr>
        <p:txBody>
          <a:bodyPr>
            <a:noAutofit/>
          </a:bodyPr>
          <a:lstStyle/>
          <a:p>
            <a:pPr marL="609480" indent="-609120">
              <a:lnSpc>
                <a:spcPct val="80000"/>
              </a:lnSpc>
              <a:spcBef>
                <a:spcPts val="400"/>
              </a:spcBef>
              <a:buClr>
                <a:srgbClr val="FFCC00"/>
              </a:buClr>
              <a:buFont typeface="Monotype Sorts" charset="2"/>
              <a:buChar char=""/>
            </a:pPr>
            <a:r>
              <a:rPr lang="en-US" sz="2000" b="1" strike="noStrike" spc="-1" dirty="0" err="1">
                <a:solidFill>
                  <a:srgbClr val="008000"/>
                </a:solidFill>
                <a:latin typeface="Tahoma"/>
              </a:rPr>
              <a:t>tipul</a:t>
            </a:r>
            <a:r>
              <a:rPr lang="en-US" sz="2000" b="1" strike="noStrike" spc="-1" dirty="0">
                <a:solidFill>
                  <a:srgbClr val="008000"/>
                </a:solidFill>
                <a:latin typeface="Tahoma"/>
              </a:rPr>
              <a:t> </a:t>
            </a:r>
            <a:r>
              <a:rPr lang="en-US" sz="2000" b="1" strike="noStrike" spc="-1" dirty="0" err="1">
                <a:solidFill>
                  <a:srgbClr val="008000"/>
                </a:solidFill>
                <a:latin typeface="Tahoma"/>
              </a:rPr>
              <a:t>caracter</a:t>
            </a:r>
            <a:r>
              <a:rPr lang="en-US" sz="2000" b="0" strike="noStrike" spc="-1" dirty="0">
                <a:solidFill>
                  <a:srgbClr val="000000"/>
                </a:solidFill>
                <a:latin typeface="Tahoma"/>
              </a:rPr>
              <a:t>: char </a:t>
            </a:r>
            <a:r>
              <a:rPr lang="en-US" sz="2000" b="0" strike="noStrike" spc="-1" dirty="0" err="1">
                <a:solidFill>
                  <a:srgbClr val="000000"/>
                </a:solidFill>
                <a:latin typeface="Tahoma"/>
              </a:rPr>
              <a:t>memorat</a:t>
            </a:r>
            <a:r>
              <a:rPr lang="en-US" sz="2000" b="0" strike="noStrike" spc="-1" dirty="0">
                <a:solidFill>
                  <a:srgbClr val="000000"/>
                </a:solidFill>
                <a:latin typeface="Tahoma"/>
              </a:rPr>
              <a:t> </a:t>
            </a:r>
            <a:r>
              <a:rPr lang="en-US" sz="2000" b="0" strike="noStrike" spc="-1" dirty="0" err="1">
                <a:solidFill>
                  <a:srgbClr val="000000"/>
                </a:solidFill>
                <a:latin typeface="Tahoma"/>
              </a:rPr>
              <a:t>pe</a:t>
            </a:r>
            <a:r>
              <a:rPr lang="en-US" sz="2000" b="0" strike="noStrike" spc="-1" dirty="0">
                <a:solidFill>
                  <a:srgbClr val="000000"/>
                </a:solidFill>
                <a:latin typeface="Tahoma"/>
              </a:rPr>
              <a:t> 2 </a:t>
            </a:r>
            <a:r>
              <a:rPr lang="en-US" sz="2000" b="0" strike="noStrike" spc="-1" dirty="0" err="1">
                <a:solidFill>
                  <a:srgbClr val="000000"/>
                </a:solidFill>
                <a:latin typeface="Tahoma"/>
              </a:rPr>
              <a:t>octeţi</a:t>
            </a:r>
            <a:r>
              <a:rPr lang="en-US" sz="2000" b="0" strike="noStrike" spc="-1" dirty="0">
                <a:solidFill>
                  <a:srgbClr val="000000"/>
                </a:solidFill>
                <a:latin typeface="Tahoma"/>
              </a:rPr>
              <a:t> </a:t>
            </a:r>
          </a:p>
          <a:p>
            <a:pPr>
              <a:lnSpc>
                <a:spcPct val="80000"/>
              </a:lnSpc>
              <a:spcBef>
                <a:spcPts val="400"/>
              </a:spcBef>
            </a:pPr>
            <a:endParaRPr lang="en-US" sz="20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1" strike="noStrike" spc="-1" dirty="0" err="1">
                <a:solidFill>
                  <a:srgbClr val="008000"/>
                </a:solidFill>
                <a:latin typeface="Tahoma"/>
              </a:rPr>
              <a:t>tipul</a:t>
            </a:r>
            <a:r>
              <a:rPr lang="en-US" sz="2000" b="1" strike="noStrike" spc="-1" dirty="0">
                <a:solidFill>
                  <a:srgbClr val="008000"/>
                </a:solidFill>
                <a:latin typeface="Tahoma"/>
              </a:rPr>
              <a:t> </a:t>
            </a:r>
            <a:r>
              <a:rPr lang="en-US" sz="2000" b="1" strike="noStrike" spc="-1" dirty="0" err="1">
                <a:solidFill>
                  <a:srgbClr val="008000"/>
                </a:solidFill>
                <a:latin typeface="Tahoma"/>
              </a:rPr>
              <a:t>boolean</a:t>
            </a:r>
            <a:r>
              <a:rPr lang="en-US" sz="2000" b="0" strike="noStrike" spc="-1" dirty="0">
                <a:solidFill>
                  <a:srgbClr val="000000"/>
                </a:solidFill>
                <a:latin typeface="Tahoma"/>
              </a:rPr>
              <a:t>: are </a:t>
            </a:r>
            <a:r>
              <a:rPr lang="en-US" sz="2000" b="0" strike="noStrike" spc="-1" dirty="0" err="1">
                <a:solidFill>
                  <a:srgbClr val="000000"/>
                </a:solidFill>
                <a:latin typeface="Tahoma"/>
              </a:rPr>
              <a:t>două</a:t>
            </a:r>
            <a:r>
              <a:rPr lang="en-US" sz="2000" b="0" strike="noStrike" spc="-1" dirty="0">
                <a:solidFill>
                  <a:srgbClr val="000000"/>
                </a:solidFill>
                <a:latin typeface="Tahoma"/>
              </a:rPr>
              <a:t> </a:t>
            </a:r>
            <a:r>
              <a:rPr lang="en-US" sz="2000" b="0" strike="noStrike" spc="-1" dirty="0" err="1">
                <a:solidFill>
                  <a:srgbClr val="000000"/>
                </a:solidFill>
                <a:latin typeface="Tahoma"/>
              </a:rPr>
              <a:t>valori</a:t>
            </a:r>
            <a:r>
              <a:rPr lang="en-US" sz="2000" b="0" strike="noStrike" spc="-1" dirty="0">
                <a:solidFill>
                  <a:srgbClr val="000000"/>
                </a:solidFill>
                <a:latin typeface="Tahoma"/>
              </a:rPr>
              <a:t> – </a:t>
            </a:r>
            <a:r>
              <a:rPr lang="en-US" sz="2000" b="1" strike="noStrike" spc="-1" dirty="0">
                <a:solidFill>
                  <a:srgbClr val="008000"/>
                </a:solidFill>
                <a:latin typeface="Tahoma"/>
              </a:rPr>
              <a:t>true</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a:t>
            </a:r>
            <a:r>
              <a:rPr lang="en-US" sz="2000" b="1" strike="noStrike" spc="-1" dirty="0">
                <a:solidFill>
                  <a:srgbClr val="008000"/>
                </a:solidFill>
                <a:latin typeface="Tahoma"/>
              </a:rPr>
              <a:t>false</a:t>
            </a:r>
            <a:r>
              <a:rPr lang="en-US" sz="2000" b="0" strike="noStrike" spc="-1" dirty="0">
                <a:solidFill>
                  <a:srgbClr val="000000"/>
                </a:solidFill>
                <a:latin typeface="Tahoma"/>
              </a:rPr>
              <a:t> </a:t>
            </a:r>
          </a:p>
          <a:p>
            <a:pPr marL="609480" indent="-6091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În</a:t>
            </a:r>
            <a:r>
              <a:rPr lang="en-US" sz="2000" b="0" strike="noStrike" spc="-1" dirty="0">
                <a:solidFill>
                  <a:srgbClr val="000000"/>
                </a:solidFill>
                <a:latin typeface="Tahoma"/>
              </a:rPr>
              <a:t> </a:t>
            </a:r>
            <a:r>
              <a:rPr lang="en-US" sz="2000" b="0" strike="noStrike" spc="-1" dirty="0" err="1">
                <a:solidFill>
                  <a:srgbClr val="000000"/>
                </a:solidFill>
                <a:latin typeface="Tahoma"/>
              </a:rPr>
              <a:t>alte</a:t>
            </a:r>
            <a:r>
              <a:rPr lang="en-US" sz="2000" b="0" strike="noStrike" spc="-1" dirty="0">
                <a:solidFill>
                  <a:srgbClr val="000000"/>
                </a:solidFill>
                <a:latin typeface="Tahoma"/>
              </a:rPr>
              <a:t> </a:t>
            </a:r>
            <a:r>
              <a:rPr lang="en-US" sz="2000" b="0" strike="noStrike" spc="-1" dirty="0" err="1">
                <a:solidFill>
                  <a:srgbClr val="000000"/>
                </a:solidFill>
                <a:latin typeface="Tahoma"/>
              </a:rPr>
              <a:t>limbaje</a:t>
            </a:r>
            <a:r>
              <a:rPr lang="en-US" sz="2000" b="0" strike="noStrike" spc="-1" dirty="0">
                <a:solidFill>
                  <a:srgbClr val="000000"/>
                </a:solidFill>
                <a:latin typeface="Tahoma"/>
              </a:rPr>
              <a:t> </a:t>
            </a:r>
            <a:r>
              <a:rPr lang="en-US" sz="2000" b="0" strike="noStrike" spc="-1" dirty="0" err="1">
                <a:solidFill>
                  <a:srgbClr val="000000"/>
                </a:solidFill>
                <a:latin typeface="Tahoma"/>
              </a:rPr>
              <a:t>formatul</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a:t>
            </a:r>
            <a:r>
              <a:rPr lang="en-US" sz="2000" b="0" strike="noStrike" spc="-1" dirty="0" err="1">
                <a:solidFill>
                  <a:srgbClr val="000000"/>
                </a:solidFill>
                <a:latin typeface="Tahoma"/>
              </a:rPr>
              <a:t>dimensiunea</a:t>
            </a:r>
            <a:r>
              <a:rPr lang="en-US" sz="2000" b="0" strike="noStrike" spc="-1" dirty="0">
                <a:solidFill>
                  <a:srgbClr val="000000"/>
                </a:solidFill>
                <a:latin typeface="Tahoma"/>
              </a:rPr>
              <a:t> </a:t>
            </a:r>
            <a:r>
              <a:rPr lang="en-US" sz="2000" b="0" strike="noStrike" spc="-1" dirty="0" err="1">
                <a:solidFill>
                  <a:srgbClr val="000000"/>
                </a:solidFill>
                <a:latin typeface="Tahoma"/>
              </a:rPr>
              <a:t>tipurilor</a:t>
            </a:r>
            <a:r>
              <a:rPr lang="en-US" sz="2000" b="0" strike="noStrike" spc="-1" dirty="0">
                <a:solidFill>
                  <a:srgbClr val="000000"/>
                </a:solidFill>
                <a:latin typeface="Tahoma"/>
              </a:rPr>
              <a:t> primitive de date </a:t>
            </a:r>
            <a:r>
              <a:rPr lang="en-US" sz="2000" b="0" strike="noStrike" spc="-1" dirty="0" err="1">
                <a:solidFill>
                  <a:srgbClr val="000000"/>
                </a:solidFill>
                <a:latin typeface="Tahoma"/>
              </a:rPr>
              <a:t>folosite</a:t>
            </a:r>
            <a:r>
              <a:rPr lang="en-US" sz="2000" b="0" strike="noStrike" spc="-1" dirty="0">
                <a:solidFill>
                  <a:srgbClr val="000000"/>
                </a:solidFill>
                <a:latin typeface="Tahoma"/>
              </a:rPr>
              <a:t> </a:t>
            </a:r>
            <a:r>
              <a:rPr lang="en-US" sz="2000" b="0" strike="noStrike" spc="-1" dirty="0" err="1">
                <a:solidFill>
                  <a:srgbClr val="000000"/>
                </a:solidFill>
                <a:latin typeface="Tahoma"/>
              </a:rPr>
              <a:t>într</a:t>
            </a:r>
            <a:r>
              <a:rPr lang="en-US" sz="2000" b="0" strike="noStrike" spc="-1" dirty="0">
                <a:solidFill>
                  <a:srgbClr val="000000"/>
                </a:solidFill>
                <a:latin typeface="Tahoma"/>
              </a:rPr>
              <a:t>-un program pot </a:t>
            </a:r>
            <a:r>
              <a:rPr lang="en-US" sz="2000" b="0" strike="noStrike" spc="-1" dirty="0" err="1">
                <a:solidFill>
                  <a:srgbClr val="000000"/>
                </a:solidFill>
                <a:latin typeface="Tahoma"/>
              </a:rPr>
              <a:t>depinde</a:t>
            </a:r>
            <a:r>
              <a:rPr lang="en-US" sz="2000" b="0" strike="noStrike" spc="-1" dirty="0">
                <a:solidFill>
                  <a:srgbClr val="000000"/>
                </a:solidFill>
                <a:latin typeface="Tahoma"/>
              </a:rPr>
              <a:t> de </a:t>
            </a:r>
            <a:r>
              <a:rPr lang="en-US" sz="2000" b="0" strike="noStrike" spc="-1" dirty="0" err="1">
                <a:solidFill>
                  <a:srgbClr val="000000"/>
                </a:solidFill>
                <a:latin typeface="Tahoma"/>
              </a:rPr>
              <a:t>platforma</a:t>
            </a:r>
            <a:r>
              <a:rPr lang="en-US" sz="2000" b="0" strike="noStrike" spc="-1" dirty="0">
                <a:solidFill>
                  <a:srgbClr val="000000"/>
                </a:solidFill>
                <a:latin typeface="Tahoma"/>
              </a:rPr>
              <a:t> </a:t>
            </a:r>
            <a:r>
              <a:rPr lang="en-US" sz="2000" b="0" strike="noStrike" spc="-1" dirty="0" err="1">
                <a:solidFill>
                  <a:srgbClr val="000000"/>
                </a:solidFill>
                <a:latin typeface="Tahoma"/>
              </a:rPr>
              <a:t>pe</a:t>
            </a:r>
            <a:r>
              <a:rPr lang="en-US" sz="2000" b="0" strike="noStrike" spc="-1" dirty="0">
                <a:solidFill>
                  <a:srgbClr val="000000"/>
                </a:solidFill>
                <a:latin typeface="Tahoma"/>
              </a:rPr>
              <a:t> care </a:t>
            </a:r>
            <a:r>
              <a:rPr lang="en-US" sz="2000" b="0" strike="noStrike" spc="-1" dirty="0" err="1">
                <a:solidFill>
                  <a:srgbClr val="000000"/>
                </a:solidFill>
                <a:latin typeface="Tahoma"/>
              </a:rPr>
              <a:t>rulează</a:t>
            </a:r>
            <a:r>
              <a:rPr lang="en-US" sz="2000" b="0" strike="noStrike" spc="-1" dirty="0">
                <a:solidFill>
                  <a:srgbClr val="000000"/>
                </a:solidFill>
                <a:latin typeface="Tahoma"/>
              </a:rPr>
              <a:t> </a:t>
            </a:r>
            <a:r>
              <a:rPr lang="en-US" sz="2000" b="0" strike="noStrike" spc="-1" dirty="0" err="1">
                <a:solidFill>
                  <a:srgbClr val="000000"/>
                </a:solidFill>
                <a:latin typeface="Tahoma"/>
              </a:rPr>
              <a:t>programul</a:t>
            </a:r>
            <a:r>
              <a:rPr lang="en-US" sz="2000" b="0" strike="noStrike" spc="-1" dirty="0">
                <a:solidFill>
                  <a:srgbClr val="000000"/>
                </a:solidFill>
                <a:latin typeface="Tahoma"/>
              </a:rPr>
              <a:t>. </a:t>
            </a:r>
            <a:r>
              <a:rPr lang="en-US" sz="2000" b="0" strike="noStrike" spc="-1" dirty="0" err="1">
                <a:solidFill>
                  <a:srgbClr val="000000"/>
                </a:solidFill>
                <a:latin typeface="Tahoma"/>
              </a:rPr>
              <a:t>În</a:t>
            </a:r>
            <a:r>
              <a:rPr lang="en-US" sz="2000" b="0" strike="noStrike" spc="-1" dirty="0">
                <a:solidFill>
                  <a:srgbClr val="000000"/>
                </a:solidFill>
                <a:latin typeface="Tahoma"/>
              </a:rPr>
              <a:t> Java </a:t>
            </a:r>
            <a:r>
              <a:rPr lang="en-US" sz="2000" b="0" strike="noStrike" spc="-1" dirty="0" err="1">
                <a:solidFill>
                  <a:srgbClr val="000000"/>
                </a:solidFill>
                <a:latin typeface="Tahoma"/>
              </a:rPr>
              <a:t>acest</a:t>
            </a:r>
            <a:r>
              <a:rPr lang="en-US" sz="2000" b="0" strike="noStrike" spc="-1" dirty="0">
                <a:solidFill>
                  <a:srgbClr val="000000"/>
                </a:solidFill>
                <a:latin typeface="Tahoma"/>
              </a:rPr>
              <a:t> </a:t>
            </a:r>
            <a:r>
              <a:rPr lang="en-US" sz="2000" b="0" strike="noStrike" spc="-1" dirty="0" err="1">
                <a:solidFill>
                  <a:srgbClr val="000000"/>
                </a:solidFill>
                <a:latin typeface="Tahoma"/>
              </a:rPr>
              <a:t>lucru</a:t>
            </a:r>
            <a:r>
              <a:rPr lang="en-US" sz="2000" b="0" strike="noStrike" spc="-1" dirty="0">
                <a:solidFill>
                  <a:srgbClr val="000000"/>
                </a:solidFill>
                <a:latin typeface="Tahoma"/>
              </a:rPr>
              <a:t> nu </a:t>
            </a:r>
            <a:r>
              <a:rPr lang="en-US" sz="2000" b="0" strike="noStrike" spc="-1" dirty="0" err="1">
                <a:solidFill>
                  <a:srgbClr val="000000"/>
                </a:solidFill>
                <a:latin typeface="Tahoma"/>
              </a:rPr>
              <a:t>mai</a:t>
            </a:r>
            <a:r>
              <a:rPr lang="en-US" sz="2000" b="0" strike="noStrike" spc="-1" dirty="0">
                <a:solidFill>
                  <a:srgbClr val="000000"/>
                </a:solidFill>
                <a:latin typeface="Tahoma"/>
              </a:rPr>
              <a:t> </a:t>
            </a:r>
            <a:r>
              <a:rPr lang="en-US" sz="2000" b="0" strike="noStrike" spc="-1" dirty="0" err="1">
                <a:solidFill>
                  <a:srgbClr val="000000"/>
                </a:solidFill>
                <a:latin typeface="Tahoma"/>
              </a:rPr>
              <a:t>este</a:t>
            </a:r>
            <a:r>
              <a:rPr lang="en-US" sz="2000" b="0" strike="noStrike" spc="-1" dirty="0">
                <a:solidFill>
                  <a:srgbClr val="000000"/>
                </a:solidFill>
                <a:latin typeface="Tahoma"/>
              </a:rPr>
              <a:t> </a:t>
            </a:r>
            <a:r>
              <a:rPr lang="en-US" sz="2000" b="0" strike="noStrike" spc="-1" dirty="0" err="1">
                <a:solidFill>
                  <a:srgbClr val="000000"/>
                </a:solidFill>
                <a:latin typeface="Tahoma"/>
              </a:rPr>
              <a:t>valabil</a:t>
            </a:r>
            <a:r>
              <a:rPr lang="en-US" sz="2000" b="0" strike="noStrike" spc="-1" dirty="0">
                <a:solidFill>
                  <a:srgbClr val="000000"/>
                </a:solidFill>
                <a:latin typeface="Tahoma"/>
              </a:rPr>
              <a:t>, Java </a:t>
            </a:r>
            <a:r>
              <a:rPr lang="en-US" sz="2000" b="0" strike="noStrike" spc="-1" dirty="0" err="1">
                <a:solidFill>
                  <a:srgbClr val="000000"/>
                </a:solidFill>
                <a:latin typeface="Tahoma"/>
              </a:rPr>
              <a:t>fiind</a:t>
            </a:r>
            <a:r>
              <a:rPr lang="en-US" sz="2000" b="0" strike="noStrike" spc="-1" dirty="0">
                <a:solidFill>
                  <a:srgbClr val="000000"/>
                </a:solidFill>
                <a:latin typeface="Tahoma"/>
              </a:rPr>
              <a:t> independent de </a:t>
            </a:r>
            <a:r>
              <a:rPr lang="en-US" sz="2000" b="0" strike="noStrike" spc="-1" dirty="0" err="1">
                <a:solidFill>
                  <a:srgbClr val="000000"/>
                </a:solidFill>
                <a:latin typeface="Tahoma"/>
              </a:rPr>
              <a:t>platformă</a:t>
            </a:r>
            <a:r>
              <a:rPr lang="en-US" sz="2000" b="0" strike="noStrike" spc="-1" dirty="0">
                <a:solidFill>
                  <a:srgbClr val="000000"/>
                </a:solidFill>
                <a:latin typeface="Tahoma"/>
              </a:rPr>
              <a:t>.</a:t>
            </a:r>
          </a:p>
          <a:p>
            <a:pPr>
              <a:lnSpc>
                <a:spcPct val="80000"/>
              </a:lnSpc>
              <a:spcBef>
                <a:spcPts val="400"/>
              </a:spcBef>
            </a:pPr>
            <a:endParaRPr lang="en-US" sz="20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Vectorii</a:t>
            </a:r>
            <a:r>
              <a:rPr lang="en-US" sz="2000" b="0" strike="noStrike" spc="-1" dirty="0">
                <a:solidFill>
                  <a:srgbClr val="000000"/>
                </a:solidFill>
                <a:latin typeface="Tahoma"/>
              </a:rPr>
              <a:t>, </a:t>
            </a:r>
            <a:r>
              <a:rPr lang="en-US" sz="2000" b="0" strike="noStrike" spc="-1" dirty="0" err="1">
                <a:solidFill>
                  <a:srgbClr val="000000"/>
                </a:solidFill>
                <a:latin typeface="Tahoma"/>
              </a:rPr>
              <a:t>clasele</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a:t>
            </a:r>
            <a:r>
              <a:rPr lang="en-US" sz="2000" b="0" strike="noStrike" spc="-1" dirty="0" err="1">
                <a:solidFill>
                  <a:srgbClr val="000000"/>
                </a:solidFill>
                <a:latin typeface="Tahoma"/>
              </a:rPr>
              <a:t>interfeţele</a:t>
            </a:r>
            <a:r>
              <a:rPr lang="en-US" sz="2000" b="0" strike="noStrike" spc="-1" dirty="0">
                <a:solidFill>
                  <a:srgbClr val="000000"/>
                </a:solidFill>
                <a:latin typeface="Tahoma"/>
              </a:rPr>
              <a:t> </a:t>
            </a:r>
            <a:r>
              <a:rPr lang="en-US" sz="2000" b="0" strike="noStrike" spc="-1" dirty="0" err="1">
                <a:solidFill>
                  <a:srgbClr val="000000"/>
                </a:solidFill>
                <a:latin typeface="Tahoma"/>
              </a:rPr>
              <a:t>sunt</a:t>
            </a:r>
            <a:r>
              <a:rPr lang="en-US" sz="2000" b="0" strike="noStrike" spc="-1" dirty="0">
                <a:solidFill>
                  <a:srgbClr val="000000"/>
                </a:solidFill>
                <a:latin typeface="Tahoma"/>
              </a:rPr>
              <a:t> </a:t>
            </a:r>
            <a:r>
              <a:rPr lang="en-US" sz="2000" b="1" strike="noStrike" spc="-1" dirty="0" err="1">
                <a:solidFill>
                  <a:srgbClr val="008000"/>
                </a:solidFill>
                <a:latin typeface="Tahoma"/>
              </a:rPr>
              <a:t>tipuri</a:t>
            </a:r>
            <a:r>
              <a:rPr lang="en-US" sz="2000" b="1" strike="noStrike" spc="-1" dirty="0">
                <a:solidFill>
                  <a:srgbClr val="008000"/>
                </a:solidFill>
                <a:latin typeface="Tahoma"/>
              </a:rPr>
              <a:t> </a:t>
            </a:r>
            <a:r>
              <a:rPr lang="en-US" sz="2000" b="1" strike="noStrike" spc="-1" dirty="0" err="1">
                <a:solidFill>
                  <a:srgbClr val="008000"/>
                </a:solidFill>
                <a:latin typeface="Tahoma"/>
              </a:rPr>
              <a:t>referinţă</a:t>
            </a:r>
            <a:r>
              <a:rPr lang="en-US" sz="2000" b="0" strike="noStrike" spc="-1" dirty="0">
                <a:solidFill>
                  <a:srgbClr val="000000"/>
                </a:solidFill>
                <a:latin typeface="Tahoma"/>
              </a:rPr>
              <a:t>. </a:t>
            </a:r>
            <a:r>
              <a:rPr lang="en-US" sz="2000" b="0" strike="noStrike" spc="-1" dirty="0" err="1">
                <a:solidFill>
                  <a:srgbClr val="000000"/>
                </a:solidFill>
                <a:latin typeface="Tahoma"/>
              </a:rPr>
              <a:t>Valoarea</a:t>
            </a:r>
            <a:r>
              <a:rPr lang="en-US" sz="2000" b="0" strike="noStrike" spc="-1" dirty="0">
                <a:solidFill>
                  <a:srgbClr val="000000"/>
                </a:solidFill>
                <a:latin typeface="Tahoma"/>
              </a:rPr>
              <a:t> </a:t>
            </a:r>
            <a:r>
              <a:rPr lang="en-US" sz="2000" b="0" strike="noStrike" spc="-1" dirty="0" err="1">
                <a:solidFill>
                  <a:srgbClr val="000000"/>
                </a:solidFill>
                <a:latin typeface="Tahoma"/>
              </a:rPr>
              <a:t>unei</a:t>
            </a:r>
            <a:r>
              <a:rPr lang="en-US" sz="2000" b="0" strike="noStrike" spc="-1" dirty="0">
                <a:solidFill>
                  <a:srgbClr val="000000"/>
                </a:solidFill>
                <a:latin typeface="Tahoma"/>
              </a:rPr>
              <a:t> </a:t>
            </a:r>
            <a:r>
              <a:rPr lang="en-US" sz="2000" b="0" strike="noStrike" spc="-1" dirty="0" err="1">
                <a:solidFill>
                  <a:srgbClr val="000000"/>
                </a:solidFill>
                <a:latin typeface="Tahoma"/>
              </a:rPr>
              <a:t>variabile</a:t>
            </a:r>
            <a:r>
              <a:rPr lang="en-US" sz="2000" b="0" strike="noStrike" spc="-1" dirty="0">
                <a:solidFill>
                  <a:srgbClr val="000000"/>
                </a:solidFill>
                <a:latin typeface="Tahoma"/>
              </a:rPr>
              <a:t> de </a:t>
            </a:r>
            <a:r>
              <a:rPr lang="en-US" sz="2000" b="0" strike="noStrike" spc="-1" dirty="0" err="1">
                <a:solidFill>
                  <a:srgbClr val="000000"/>
                </a:solidFill>
                <a:latin typeface="Tahoma"/>
              </a:rPr>
              <a:t>acest</a:t>
            </a:r>
            <a:r>
              <a:rPr lang="en-US" sz="2000" b="0" strike="noStrike" spc="-1" dirty="0">
                <a:solidFill>
                  <a:srgbClr val="000000"/>
                </a:solidFill>
                <a:latin typeface="Tahoma"/>
              </a:rPr>
              <a:t> tip </a:t>
            </a:r>
            <a:r>
              <a:rPr lang="en-US" sz="2000" b="0" strike="noStrike" spc="-1" dirty="0" err="1">
                <a:solidFill>
                  <a:srgbClr val="000000"/>
                </a:solidFill>
                <a:latin typeface="Tahoma"/>
              </a:rPr>
              <a:t>este</a:t>
            </a:r>
            <a:r>
              <a:rPr lang="en-US" sz="2000" b="0" strike="noStrike" spc="-1" dirty="0">
                <a:solidFill>
                  <a:srgbClr val="000000"/>
                </a:solidFill>
                <a:latin typeface="Tahoma"/>
              </a:rPr>
              <a:t>, o </a:t>
            </a:r>
            <a:r>
              <a:rPr lang="en-US" sz="2000" b="0" strike="noStrike" spc="-1" dirty="0" err="1">
                <a:solidFill>
                  <a:srgbClr val="000000"/>
                </a:solidFill>
                <a:latin typeface="Tahoma"/>
              </a:rPr>
              <a:t>referinţă</a:t>
            </a:r>
            <a:r>
              <a:rPr lang="en-US" sz="2000" b="0" strike="noStrike" spc="-1" dirty="0">
                <a:solidFill>
                  <a:srgbClr val="000000"/>
                </a:solidFill>
                <a:latin typeface="Tahoma"/>
              </a:rPr>
              <a:t> (</a:t>
            </a:r>
            <a:r>
              <a:rPr lang="en-US" sz="2000" b="0" strike="noStrike" spc="-1" dirty="0" err="1">
                <a:solidFill>
                  <a:srgbClr val="000000"/>
                </a:solidFill>
                <a:latin typeface="Tahoma"/>
              </a:rPr>
              <a:t>adresă</a:t>
            </a:r>
            <a:r>
              <a:rPr lang="en-US" sz="2000" b="0" strike="noStrike" spc="-1" dirty="0">
                <a:solidFill>
                  <a:srgbClr val="000000"/>
                </a:solidFill>
                <a:latin typeface="Tahoma"/>
              </a:rPr>
              <a:t> de </a:t>
            </a:r>
            <a:r>
              <a:rPr lang="en-US" sz="2000" b="0" strike="noStrike" spc="-1" dirty="0" err="1">
                <a:solidFill>
                  <a:srgbClr val="000000"/>
                </a:solidFill>
                <a:latin typeface="Tahoma"/>
              </a:rPr>
              <a:t>memorie</a:t>
            </a:r>
            <a:r>
              <a:rPr lang="en-US" sz="2000" b="0" strike="noStrike" spc="-1" dirty="0">
                <a:solidFill>
                  <a:srgbClr val="000000"/>
                </a:solidFill>
                <a:latin typeface="Tahoma"/>
              </a:rPr>
              <a:t>) </a:t>
            </a:r>
            <a:r>
              <a:rPr lang="en-US" sz="2000" b="0" strike="noStrike" spc="-1" dirty="0" err="1">
                <a:solidFill>
                  <a:srgbClr val="000000"/>
                </a:solidFill>
                <a:latin typeface="Tahoma"/>
              </a:rPr>
              <a:t>către</a:t>
            </a:r>
            <a:r>
              <a:rPr lang="en-US" sz="2000" b="0" strike="noStrike" spc="-1" dirty="0">
                <a:solidFill>
                  <a:srgbClr val="000000"/>
                </a:solidFill>
                <a:latin typeface="Tahoma"/>
              </a:rPr>
              <a:t> </a:t>
            </a:r>
            <a:r>
              <a:rPr lang="en-US" sz="2000" b="0" strike="noStrike" spc="-1" dirty="0" err="1">
                <a:solidFill>
                  <a:srgbClr val="000000"/>
                </a:solidFill>
                <a:latin typeface="Tahoma"/>
              </a:rPr>
              <a:t>valoarea</a:t>
            </a:r>
            <a:r>
              <a:rPr lang="en-US" sz="2000" b="0" strike="noStrike" spc="-1" dirty="0">
                <a:solidFill>
                  <a:srgbClr val="000000"/>
                </a:solidFill>
                <a:latin typeface="Tahoma"/>
              </a:rPr>
              <a:t> </a:t>
            </a:r>
            <a:r>
              <a:rPr lang="en-US" sz="2000" b="0" strike="noStrike" spc="-1" dirty="0" err="1">
                <a:solidFill>
                  <a:srgbClr val="000000"/>
                </a:solidFill>
                <a:latin typeface="Tahoma"/>
              </a:rPr>
              <a:t>sau</a:t>
            </a:r>
            <a:r>
              <a:rPr lang="en-US" sz="2000" b="0" strike="noStrike" spc="-1" dirty="0">
                <a:solidFill>
                  <a:srgbClr val="000000"/>
                </a:solidFill>
                <a:latin typeface="Tahoma"/>
              </a:rPr>
              <a:t> </a:t>
            </a:r>
            <a:r>
              <a:rPr lang="en-US" sz="2000" b="0" strike="noStrike" spc="-1" dirty="0" err="1">
                <a:solidFill>
                  <a:srgbClr val="000000"/>
                </a:solidFill>
                <a:latin typeface="Tahoma"/>
              </a:rPr>
              <a:t>mulţimea</a:t>
            </a:r>
            <a:r>
              <a:rPr lang="en-US" sz="2000" b="0" strike="noStrike" spc="-1" dirty="0">
                <a:solidFill>
                  <a:srgbClr val="000000"/>
                </a:solidFill>
                <a:latin typeface="Tahoma"/>
              </a:rPr>
              <a:t> de </a:t>
            </a:r>
            <a:r>
              <a:rPr lang="en-US" sz="2000" b="0" strike="noStrike" spc="-1" dirty="0" err="1">
                <a:solidFill>
                  <a:srgbClr val="000000"/>
                </a:solidFill>
                <a:latin typeface="Tahoma"/>
              </a:rPr>
              <a:t>valori</a:t>
            </a:r>
            <a:r>
              <a:rPr lang="en-US" sz="2000" b="0" strike="noStrike" spc="-1" dirty="0">
                <a:solidFill>
                  <a:srgbClr val="000000"/>
                </a:solidFill>
                <a:latin typeface="Tahoma"/>
              </a:rPr>
              <a:t> </a:t>
            </a:r>
            <a:r>
              <a:rPr lang="en-US" sz="2000" b="0" strike="noStrike" spc="-1" dirty="0" err="1">
                <a:solidFill>
                  <a:srgbClr val="000000"/>
                </a:solidFill>
                <a:latin typeface="Tahoma"/>
              </a:rPr>
              <a:t>reprezentată</a:t>
            </a:r>
            <a:r>
              <a:rPr lang="en-US" sz="2000" b="0" strike="noStrike" spc="-1" dirty="0">
                <a:solidFill>
                  <a:srgbClr val="000000"/>
                </a:solidFill>
                <a:latin typeface="Tahoma"/>
              </a:rPr>
              <a:t> de </a:t>
            </a:r>
            <a:r>
              <a:rPr lang="en-US" sz="2000" b="0" strike="noStrike" spc="-1" dirty="0" err="1">
                <a:solidFill>
                  <a:srgbClr val="000000"/>
                </a:solidFill>
                <a:latin typeface="Tahoma"/>
              </a:rPr>
              <a:t>variabila</a:t>
            </a:r>
            <a:r>
              <a:rPr lang="en-US" sz="2000" b="0" strike="noStrike" spc="-1" dirty="0">
                <a:solidFill>
                  <a:srgbClr val="000000"/>
                </a:solidFill>
                <a:latin typeface="Tahoma"/>
              </a:rPr>
              <a:t> </a:t>
            </a:r>
            <a:r>
              <a:rPr lang="en-US" sz="2000" b="0" strike="noStrike" spc="-1" dirty="0" err="1">
                <a:solidFill>
                  <a:srgbClr val="000000"/>
                </a:solidFill>
                <a:latin typeface="Tahoma"/>
              </a:rPr>
              <a:t>respectivă</a:t>
            </a:r>
            <a:r>
              <a:rPr lang="en-US" sz="2000" b="0" strike="noStrike" spc="-1" dirty="0">
                <a:solidFill>
                  <a:srgbClr val="000000"/>
                </a:solidFill>
                <a:latin typeface="Tahoma"/>
              </a:rPr>
              <a:t>.</a:t>
            </a:r>
          </a:p>
          <a:p>
            <a:pPr marL="609480" indent="-609120">
              <a:lnSpc>
                <a:spcPct val="80000"/>
              </a:lnSpc>
              <a:spcBef>
                <a:spcPts val="400"/>
              </a:spcBef>
            </a:pPr>
            <a:endParaRPr lang="en-US" sz="20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Există</a:t>
            </a:r>
            <a:r>
              <a:rPr lang="en-US" sz="2000" b="0" strike="noStrike" spc="-1" dirty="0">
                <a:solidFill>
                  <a:srgbClr val="000000"/>
                </a:solidFill>
                <a:latin typeface="Tahoma"/>
              </a:rPr>
              <a:t> </a:t>
            </a:r>
            <a:r>
              <a:rPr lang="en-US" sz="2000" b="0" strike="noStrike" spc="-1" dirty="0" err="1">
                <a:solidFill>
                  <a:srgbClr val="000000"/>
                </a:solidFill>
                <a:latin typeface="Tahoma"/>
              </a:rPr>
              <a:t>trei</a:t>
            </a:r>
            <a:r>
              <a:rPr lang="en-US" sz="2000" b="0" strike="noStrike" spc="-1" dirty="0">
                <a:solidFill>
                  <a:srgbClr val="000000"/>
                </a:solidFill>
                <a:latin typeface="Tahoma"/>
              </a:rPr>
              <a:t> </a:t>
            </a:r>
            <a:r>
              <a:rPr lang="en-US" sz="2000" b="0" strike="noStrike" spc="-1" dirty="0" err="1">
                <a:solidFill>
                  <a:srgbClr val="000000"/>
                </a:solidFill>
                <a:latin typeface="Tahoma"/>
              </a:rPr>
              <a:t>tipuri</a:t>
            </a:r>
            <a:r>
              <a:rPr lang="en-US" sz="2000" b="0" strike="noStrike" spc="-1" dirty="0">
                <a:solidFill>
                  <a:srgbClr val="000000"/>
                </a:solidFill>
                <a:latin typeface="Tahoma"/>
              </a:rPr>
              <a:t> de date C care nu </a:t>
            </a:r>
            <a:r>
              <a:rPr lang="en-US" sz="2000" b="0" strike="noStrike" spc="-1" dirty="0" err="1">
                <a:solidFill>
                  <a:srgbClr val="000000"/>
                </a:solidFill>
                <a:latin typeface="Tahoma"/>
              </a:rPr>
              <a:t>sunt</a:t>
            </a:r>
            <a:r>
              <a:rPr lang="en-US" sz="2000" b="0" strike="noStrike" spc="-1" dirty="0">
                <a:solidFill>
                  <a:srgbClr val="000000"/>
                </a:solidFill>
                <a:latin typeface="Tahoma"/>
              </a:rPr>
              <a:t> </a:t>
            </a:r>
            <a:r>
              <a:rPr lang="en-US" sz="2000" b="0" strike="noStrike" spc="-1" dirty="0" err="1">
                <a:solidFill>
                  <a:srgbClr val="000000"/>
                </a:solidFill>
                <a:latin typeface="Tahoma"/>
              </a:rPr>
              <a:t>suportate</a:t>
            </a:r>
            <a:r>
              <a:rPr lang="en-US" sz="2000" b="0" strike="noStrike" spc="-1" dirty="0">
                <a:solidFill>
                  <a:srgbClr val="000000"/>
                </a:solidFill>
                <a:latin typeface="Tahoma"/>
              </a:rPr>
              <a:t> de </a:t>
            </a:r>
            <a:r>
              <a:rPr lang="en-US" sz="2000" b="0" strike="noStrike" spc="-1" dirty="0" err="1">
                <a:solidFill>
                  <a:srgbClr val="000000"/>
                </a:solidFill>
                <a:latin typeface="Tahoma"/>
              </a:rPr>
              <a:t>limbajul</a:t>
            </a:r>
            <a:r>
              <a:rPr lang="en-US" sz="2000" b="0" strike="noStrike" spc="-1" dirty="0">
                <a:solidFill>
                  <a:srgbClr val="000000"/>
                </a:solidFill>
                <a:latin typeface="Tahoma"/>
              </a:rPr>
              <a:t> Java: pointer, </a:t>
            </a:r>
            <a:r>
              <a:rPr lang="en-US" sz="2000" b="0" strike="noStrike" spc="-1" dirty="0" err="1">
                <a:solidFill>
                  <a:srgbClr val="000000"/>
                </a:solidFill>
                <a:latin typeface="Tahoma"/>
              </a:rPr>
              <a:t>struct</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union. </a:t>
            </a:r>
            <a:r>
              <a:rPr lang="en-US" sz="2000" b="0" strike="noStrike" spc="-1" dirty="0" err="1">
                <a:solidFill>
                  <a:srgbClr val="000000"/>
                </a:solidFill>
                <a:latin typeface="Tahoma"/>
              </a:rPr>
              <a:t>Pointerii</a:t>
            </a:r>
            <a:r>
              <a:rPr lang="en-US" sz="2000" b="0" strike="noStrike" spc="-1" dirty="0">
                <a:solidFill>
                  <a:srgbClr val="000000"/>
                </a:solidFill>
                <a:latin typeface="Tahoma"/>
              </a:rPr>
              <a:t> au </a:t>
            </a:r>
            <a:r>
              <a:rPr lang="en-US" sz="2000" b="0" strike="noStrike" spc="-1" dirty="0" err="1">
                <a:solidFill>
                  <a:srgbClr val="000000"/>
                </a:solidFill>
                <a:latin typeface="Tahoma"/>
              </a:rPr>
              <a:t>fost</a:t>
            </a:r>
            <a:r>
              <a:rPr lang="en-US" sz="2000" b="0" strike="noStrike" spc="-1" dirty="0">
                <a:solidFill>
                  <a:srgbClr val="000000"/>
                </a:solidFill>
                <a:latin typeface="Tahoma"/>
              </a:rPr>
              <a:t> </a:t>
            </a:r>
            <a:r>
              <a:rPr lang="en-US" sz="2000" b="0" strike="noStrike" spc="-1" dirty="0" err="1">
                <a:solidFill>
                  <a:srgbClr val="000000"/>
                </a:solidFill>
                <a:latin typeface="Tahoma"/>
              </a:rPr>
              <a:t>eliminaţi</a:t>
            </a:r>
            <a:r>
              <a:rPr lang="en-US" sz="2000" b="0" strike="noStrike" spc="-1" dirty="0">
                <a:solidFill>
                  <a:srgbClr val="000000"/>
                </a:solidFill>
                <a:latin typeface="Tahoma"/>
              </a:rPr>
              <a:t> din </a:t>
            </a:r>
            <a:r>
              <a:rPr lang="en-US" sz="2000" b="0" strike="noStrike" spc="-1" dirty="0" err="1">
                <a:solidFill>
                  <a:srgbClr val="000000"/>
                </a:solidFill>
                <a:latin typeface="Tahoma"/>
              </a:rPr>
              <a:t>cauza</a:t>
            </a:r>
            <a:r>
              <a:rPr lang="en-US" sz="2000" b="0" strike="noStrike" spc="-1" dirty="0">
                <a:solidFill>
                  <a:srgbClr val="000000"/>
                </a:solidFill>
                <a:latin typeface="Tahoma"/>
              </a:rPr>
              <a:t> </a:t>
            </a:r>
            <a:r>
              <a:rPr lang="en-US" sz="2000" b="0" strike="noStrike" spc="-1" dirty="0" err="1">
                <a:solidFill>
                  <a:srgbClr val="000000"/>
                </a:solidFill>
                <a:latin typeface="Tahoma"/>
              </a:rPr>
              <a:t>că</a:t>
            </a:r>
            <a:r>
              <a:rPr lang="en-US" sz="2000" b="0" strike="noStrike" spc="-1" dirty="0">
                <a:solidFill>
                  <a:srgbClr val="000000"/>
                </a:solidFill>
                <a:latin typeface="Tahoma"/>
              </a:rPr>
              <a:t> </a:t>
            </a:r>
            <a:r>
              <a:rPr lang="en-US" sz="2000" b="0" strike="noStrike" spc="-1" dirty="0" err="1">
                <a:solidFill>
                  <a:srgbClr val="000000"/>
                </a:solidFill>
                <a:latin typeface="Tahoma"/>
              </a:rPr>
              <a:t>erau</a:t>
            </a:r>
            <a:r>
              <a:rPr lang="en-US" sz="2000" b="0" strike="noStrike" spc="-1" dirty="0">
                <a:solidFill>
                  <a:srgbClr val="000000"/>
                </a:solidFill>
                <a:latin typeface="Tahoma"/>
              </a:rPr>
              <a:t> o </a:t>
            </a:r>
            <a:r>
              <a:rPr lang="en-US" sz="2000" b="0" strike="noStrike" spc="-1" dirty="0" err="1">
                <a:solidFill>
                  <a:srgbClr val="000000"/>
                </a:solidFill>
                <a:latin typeface="Tahoma"/>
              </a:rPr>
              <a:t>sursă</a:t>
            </a:r>
            <a:r>
              <a:rPr lang="en-US" sz="2000" b="0" strike="noStrike" spc="-1" dirty="0">
                <a:solidFill>
                  <a:srgbClr val="000000"/>
                </a:solidFill>
                <a:latin typeface="Tahoma"/>
              </a:rPr>
              <a:t> </a:t>
            </a:r>
            <a:r>
              <a:rPr lang="en-US" sz="2000" b="0" strike="noStrike" spc="-1" dirty="0" err="1">
                <a:solidFill>
                  <a:srgbClr val="000000"/>
                </a:solidFill>
                <a:latin typeface="Tahoma"/>
              </a:rPr>
              <a:t>constantă</a:t>
            </a:r>
            <a:r>
              <a:rPr lang="en-US" sz="2000" b="0" strike="noStrike" spc="-1" dirty="0">
                <a:solidFill>
                  <a:srgbClr val="000000"/>
                </a:solidFill>
                <a:latin typeface="Tahoma"/>
              </a:rPr>
              <a:t> de </a:t>
            </a:r>
            <a:r>
              <a:rPr lang="en-US" sz="2000" b="0" strike="noStrike" spc="-1" dirty="0" err="1">
                <a:solidFill>
                  <a:srgbClr val="000000"/>
                </a:solidFill>
                <a:latin typeface="Tahoma"/>
              </a:rPr>
              <a:t>erori</a:t>
            </a:r>
            <a:r>
              <a:rPr lang="en-US" sz="2000" b="0" strike="noStrike" spc="-1" dirty="0">
                <a:solidFill>
                  <a:srgbClr val="000000"/>
                </a:solidFill>
                <a:latin typeface="Tahoma"/>
              </a:rPr>
              <a:t>, </a:t>
            </a:r>
            <a:r>
              <a:rPr lang="en-US" sz="2000" b="0" strike="noStrike" spc="-1" dirty="0" err="1">
                <a:solidFill>
                  <a:srgbClr val="000000"/>
                </a:solidFill>
                <a:latin typeface="Tahoma"/>
              </a:rPr>
              <a:t>locul</a:t>
            </a:r>
            <a:r>
              <a:rPr lang="en-US" sz="2000" b="0" strike="noStrike" spc="-1" dirty="0">
                <a:solidFill>
                  <a:srgbClr val="000000"/>
                </a:solidFill>
                <a:latin typeface="Tahoma"/>
              </a:rPr>
              <a:t> </a:t>
            </a:r>
            <a:r>
              <a:rPr lang="en-US" sz="2000" b="0" strike="noStrike" spc="-1" dirty="0" err="1">
                <a:solidFill>
                  <a:srgbClr val="000000"/>
                </a:solidFill>
                <a:latin typeface="Tahoma"/>
              </a:rPr>
              <a:t>lor</a:t>
            </a:r>
            <a:r>
              <a:rPr lang="en-US" sz="2000" b="0" strike="noStrike" spc="-1" dirty="0">
                <a:solidFill>
                  <a:srgbClr val="000000"/>
                </a:solidFill>
                <a:latin typeface="Tahoma"/>
              </a:rPr>
              <a:t> </a:t>
            </a:r>
            <a:r>
              <a:rPr lang="en-US" sz="2000" b="0" strike="noStrike" spc="-1" dirty="0" err="1">
                <a:solidFill>
                  <a:srgbClr val="000000"/>
                </a:solidFill>
                <a:latin typeface="Tahoma"/>
              </a:rPr>
              <a:t>fiind</a:t>
            </a:r>
            <a:r>
              <a:rPr lang="en-US" sz="2000" b="0" strike="noStrike" spc="-1" dirty="0">
                <a:solidFill>
                  <a:srgbClr val="000000"/>
                </a:solidFill>
                <a:latin typeface="Tahoma"/>
              </a:rPr>
              <a:t> </a:t>
            </a:r>
            <a:r>
              <a:rPr lang="en-US" sz="2000" b="0" strike="noStrike" spc="-1" dirty="0" err="1">
                <a:solidFill>
                  <a:srgbClr val="000000"/>
                </a:solidFill>
                <a:latin typeface="Tahoma"/>
              </a:rPr>
              <a:t>luat</a:t>
            </a:r>
            <a:r>
              <a:rPr lang="en-US" sz="2000" b="0" strike="noStrike" spc="-1" dirty="0">
                <a:solidFill>
                  <a:srgbClr val="000000"/>
                </a:solidFill>
                <a:latin typeface="Tahoma"/>
              </a:rPr>
              <a:t> de </a:t>
            </a:r>
            <a:r>
              <a:rPr lang="en-US" sz="2000" b="0" strike="noStrike" spc="-1" dirty="0" err="1">
                <a:solidFill>
                  <a:srgbClr val="000000"/>
                </a:solidFill>
                <a:latin typeface="Tahoma"/>
              </a:rPr>
              <a:t>tipul</a:t>
            </a:r>
            <a:r>
              <a:rPr lang="en-US" sz="2000" b="0" strike="noStrike" spc="-1" dirty="0">
                <a:solidFill>
                  <a:srgbClr val="000000"/>
                </a:solidFill>
                <a:latin typeface="Tahoma"/>
              </a:rPr>
              <a:t> </a:t>
            </a:r>
            <a:r>
              <a:rPr lang="en-US" sz="2000" b="0" strike="noStrike" spc="-1" dirty="0" err="1">
                <a:solidFill>
                  <a:srgbClr val="000000"/>
                </a:solidFill>
                <a:latin typeface="Tahoma"/>
              </a:rPr>
              <a:t>referinţă</a:t>
            </a:r>
            <a:r>
              <a:rPr lang="en-US" sz="2000" b="0" strike="noStrike" spc="-1" dirty="0">
                <a:solidFill>
                  <a:srgbClr val="000000"/>
                </a:solidFill>
                <a:latin typeface="Tahoma"/>
              </a:rPr>
              <a:t>, </a:t>
            </a:r>
            <a:r>
              <a:rPr lang="en-US" sz="2000" b="0" strike="noStrike" spc="-1" dirty="0" err="1">
                <a:solidFill>
                  <a:srgbClr val="000000"/>
                </a:solidFill>
                <a:latin typeface="Tahoma"/>
              </a:rPr>
              <a:t>iar</a:t>
            </a:r>
            <a:r>
              <a:rPr lang="en-US" sz="2000" b="0" strike="noStrike" spc="-1" dirty="0">
                <a:solidFill>
                  <a:srgbClr val="000000"/>
                </a:solidFill>
                <a:latin typeface="Tahoma"/>
              </a:rPr>
              <a:t> </a:t>
            </a:r>
            <a:r>
              <a:rPr lang="en-US" sz="2000" b="0" strike="noStrike" spc="-1" dirty="0" err="1">
                <a:solidFill>
                  <a:srgbClr val="000000"/>
                </a:solidFill>
                <a:latin typeface="Tahoma"/>
              </a:rPr>
              <a:t>struct</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union nu </a:t>
            </a:r>
            <a:r>
              <a:rPr lang="en-US" sz="2000" b="0" strike="noStrike" spc="-1" dirty="0" err="1">
                <a:solidFill>
                  <a:srgbClr val="000000"/>
                </a:solidFill>
                <a:latin typeface="Tahoma"/>
              </a:rPr>
              <a:t>îşi</a:t>
            </a:r>
            <a:r>
              <a:rPr lang="en-US" sz="2000" b="0" strike="noStrike" spc="-1" dirty="0">
                <a:solidFill>
                  <a:srgbClr val="000000"/>
                </a:solidFill>
                <a:latin typeface="Tahoma"/>
              </a:rPr>
              <a:t> </a:t>
            </a:r>
            <a:r>
              <a:rPr lang="en-US" sz="2000" b="0" strike="noStrike" spc="-1" dirty="0" err="1">
                <a:solidFill>
                  <a:srgbClr val="000000"/>
                </a:solidFill>
                <a:latin typeface="Tahoma"/>
              </a:rPr>
              <a:t>mai</a:t>
            </a:r>
            <a:r>
              <a:rPr lang="en-US" sz="2000" b="0" strike="noStrike" spc="-1" dirty="0">
                <a:solidFill>
                  <a:srgbClr val="000000"/>
                </a:solidFill>
                <a:latin typeface="Tahoma"/>
              </a:rPr>
              <a:t> au </a:t>
            </a:r>
            <a:r>
              <a:rPr lang="en-US" sz="2000" b="0" strike="noStrike" spc="-1" dirty="0" err="1">
                <a:solidFill>
                  <a:srgbClr val="000000"/>
                </a:solidFill>
                <a:latin typeface="Tahoma"/>
              </a:rPr>
              <a:t>rostul</a:t>
            </a:r>
            <a:r>
              <a:rPr lang="en-US" sz="2000" b="0" strike="noStrike" spc="-1" dirty="0">
                <a:solidFill>
                  <a:srgbClr val="000000"/>
                </a:solidFill>
                <a:latin typeface="Tahoma"/>
              </a:rPr>
              <a:t> </a:t>
            </a:r>
            <a:r>
              <a:rPr lang="en-US" sz="2000" b="0" strike="noStrike" spc="-1" dirty="0" err="1">
                <a:solidFill>
                  <a:srgbClr val="000000"/>
                </a:solidFill>
                <a:latin typeface="Tahoma"/>
              </a:rPr>
              <a:t>atât</a:t>
            </a:r>
            <a:r>
              <a:rPr lang="en-US" sz="2000" b="0" strike="noStrike" spc="-1" dirty="0">
                <a:solidFill>
                  <a:srgbClr val="000000"/>
                </a:solidFill>
                <a:latin typeface="Tahoma"/>
              </a:rPr>
              <a:t> </a:t>
            </a:r>
            <a:r>
              <a:rPr lang="en-US" sz="2000" b="0" strike="noStrike" spc="-1" dirty="0" err="1">
                <a:solidFill>
                  <a:srgbClr val="000000"/>
                </a:solidFill>
                <a:latin typeface="Tahoma"/>
              </a:rPr>
              <a:t>timp</a:t>
            </a:r>
            <a:r>
              <a:rPr lang="en-US" sz="2000" b="0" strike="noStrike" spc="-1" dirty="0">
                <a:solidFill>
                  <a:srgbClr val="000000"/>
                </a:solidFill>
                <a:latin typeface="Tahoma"/>
              </a:rPr>
              <a:t> </a:t>
            </a:r>
            <a:r>
              <a:rPr lang="en-US" sz="2000" b="0" strike="noStrike" spc="-1" dirty="0" err="1">
                <a:solidFill>
                  <a:srgbClr val="000000"/>
                </a:solidFill>
                <a:latin typeface="Tahoma"/>
              </a:rPr>
              <a:t>cât</a:t>
            </a:r>
            <a:r>
              <a:rPr lang="en-US" sz="2000" b="0" strike="noStrike" spc="-1" dirty="0">
                <a:solidFill>
                  <a:srgbClr val="000000"/>
                </a:solidFill>
                <a:latin typeface="Tahoma"/>
              </a:rPr>
              <a:t> </a:t>
            </a:r>
            <a:r>
              <a:rPr lang="en-US" sz="2000" b="0" strike="noStrike" spc="-1" dirty="0" err="1">
                <a:solidFill>
                  <a:srgbClr val="000000"/>
                </a:solidFill>
                <a:latin typeface="Tahoma"/>
              </a:rPr>
              <a:t>tipurile</a:t>
            </a:r>
            <a:r>
              <a:rPr lang="en-US" sz="2000" b="0" strike="noStrike" spc="-1" dirty="0">
                <a:solidFill>
                  <a:srgbClr val="000000"/>
                </a:solidFill>
                <a:latin typeface="Tahoma"/>
              </a:rPr>
              <a:t> </a:t>
            </a:r>
            <a:r>
              <a:rPr lang="en-US" sz="2000" b="0" strike="noStrike" spc="-1" dirty="0" err="1">
                <a:solidFill>
                  <a:srgbClr val="000000"/>
                </a:solidFill>
                <a:latin typeface="Tahoma"/>
              </a:rPr>
              <a:t>compuse</a:t>
            </a:r>
            <a:r>
              <a:rPr lang="en-US" sz="2000" b="0" strike="noStrike" spc="-1" dirty="0">
                <a:solidFill>
                  <a:srgbClr val="000000"/>
                </a:solidFill>
                <a:latin typeface="Tahoma"/>
              </a:rPr>
              <a:t> de date </a:t>
            </a:r>
            <a:r>
              <a:rPr lang="en-US" sz="2000" b="0" strike="noStrike" spc="-1" dirty="0" err="1">
                <a:solidFill>
                  <a:srgbClr val="000000"/>
                </a:solidFill>
                <a:latin typeface="Tahoma"/>
              </a:rPr>
              <a:t>sunt</a:t>
            </a:r>
            <a:r>
              <a:rPr lang="en-US" sz="2000" b="0" strike="noStrike" spc="-1" dirty="0">
                <a:solidFill>
                  <a:srgbClr val="000000"/>
                </a:solidFill>
                <a:latin typeface="Tahoma"/>
              </a:rPr>
              <a:t> </a:t>
            </a:r>
            <a:r>
              <a:rPr lang="en-US" sz="2000" b="0" strike="noStrike" spc="-1" dirty="0" err="1">
                <a:solidFill>
                  <a:srgbClr val="000000"/>
                </a:solidFill>
                <a:latin typeface="Tahoma"/>
              </a:rPr>
              <a:t>formate</a:t>
            </a:r>
            <a:r>
              <a:rPr lang="en-US" sz="2000" b="0" strike="noStrike" spc="-1" dirty="0">
                <a:solidFill>
                  <a:srgbClr val="000000"/>
                </a:solidFill>
                <a:latin typeface="Tahoma"/>
              </a:rPr>
              <a:t> </a:t>
            </a:r>
            <a:r>
              <a:rPr lang="en-US" sz="2000" b="0" strike="noStrike" spc="-1" dirty="0" err="1">
                <a:solidFill>
                  <a:srgbClr val="000000"/>
                </a:solidFill>
                <a:latin typeface="Tahoma"/>
              </a:rPr>
              <a:t>în</a:t>
            </a:r>
            <a:r>
              <a:rPr lang="en-US" sz="2000" b="0" strike="noStrike" spc="-1" dirty="0">
                <a:solidFill>
                  <a:srgbClr val="000000"/>
                </a:solidFill>
                <a:latin typeface="Tahoma"/>
              </a:rPr>
              <a:t> Java </a:t>
            </a:r>
            <a:r>
              <a:rPr lang="en-US" sz="2000" b="0" strike="noStrike" spc="-1" dirty="0" err="1">
                <a:solidFill>
                  <a:srgbClr val="000000"/>
                </a:solidFill>
                <a:latin typeface="Tahoma"/>
              </a:rPr>
              <a:t>prin</a:t>
            </a:r>
            <a:r>
              <a:rPr lang="en-US" sz="2000" b="0" strike="noStrike" spc="-1" dirty="0">
                <a:solidFill>
                  <a:srgbClr val="000000"/>
                </a:solidFill>
                <a:latin typeface="Tahoma"/>
              </a:rPr>
              <a:t> </a:t>
            </a:r>
            <a:r>
              <a:rPr lang="en-US" sz="2000" b="0" strike="noStrike" spc="-1" dirty="0" err="1">
                <a:solidFill>
                  <a:srgbClr val="000000"/>
                </a:solidFill>
                <a:latin typeface="Tahoma"/>
              </a:rPr>
              <a:t>intermediul</a:t>
            </a:r>
            <a:r>
              <a:rPr lang="en-US" sz="2000" b="0" strike="noStrike" spc="-1" dirty="0">
                <a:solidFill>
                  <a:srgbClr val="000000"/>
                </a:solidFill>
                <a:latin typeface="Tahoma"/>
              </a:rPr>
              <a:t> </a:t>
            </a:r>
            <a:r>
              <a:rPr lang="en-US" sz="2000" b="0" strike="noStrike" spc="-1" dirty="0" err="1">
                <a:solidFill>
                  <a:srgbClr val="000000"/>
                </a:solidFill>
                <a:latin typeface="Tahoma"/>
              </a:rPr>
              <a:t>claselor</a:t>
            </a:r>
            <a:r>
              <a:rPr lang="en-US" sz="2000" b="0" strike="noStrike" spc="-1" dirty="0">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A07B0B1C-398A-426F-ACB7-6AF23839FCEF}" type="slidenum">
              <a:rPr lang="en-US" sz="1400" b="0" strike="noStrike" spc="-1">
                <a:solidFill>
                  <a:srgbClr val="5E574E"/>
                </a:solidFill>
                <a:latin typeface="Arial"/>
              </a:rPr>
              <a:t>23</a:t>
            </a:fld>
            <a:endParaRPr lang="en-US" sz="1400" b="0" strike="noStrike" spc="-1">
              <a:latin typeface="Times New Roman"/>
            </a:endParaRPr>
          </a:p>
        </p:txBody>
      </p:sp>
      <p:sp>
        <p:nvSpPr>
          <p:cNvPr id="345" name="TextShape 4"/>
          <p:cNvSpPr txBox="1"/>
          <p:nvPr/>
        </p:nvSpPr>
        <p:spPr>
          <a:xfrm>
            <a:off x="439560" y="22860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46" name="TextShape 5"/>
          <p:cNvSpPr txBox="1"/>
          <p:nvPr/>
        </p:nvSpPr>
        <p:spPr>
          <a:xfrm>
            <a:off x="495360" y="1695780"/>
            <a:ext cx="8859600" cy="4762080"/>
          </a:xfrm>
          <a:prstGeom prst="rect">
            <a:avLst/>
          </a:prstGeom>
          <a:noFill/>
          <a:ln>
            <a:noFill/>
          </a:ln>
        </p:spPr>
        <p:txBody>
          <a:bodyPr>
            <a:noAutofit/>
          </a:bodyPr>
          <a:lstStyle/>
          <a:p>
            <a:pPr marL="990720" indent="-533160">
              <a:lnSpc>
                <a:spcPct val="80000"/>
              </a:lnSpc>
              <a:spcBef>
                <a:spcPts val="561"/>
              </a:spcBef>
            </a:pPr>
            <a:r>
              <a:rPr lang="en-US" sz="2000" b="1" strike="noStrike" spc="-1" dirty="0">
                <a:solidFill>
                  <a:srgbClr val="000000"/>
                </a:solidFill>
                <a:latin typeface="Tahoma"/>
              </a:rPr>
              <a:t>	</a:t>
            </a:r>
            <a:r>
              <a:rPr lang="en-US" sz="2800" b="1" strike="noStrike" spc="-1" dirty="0" err="1">
                <a:solidFill>
                  <a:srgbClr val="008000"/>
                </a:solidFill>
                <a:latin typeface="Tahoma"/>
              </a:rPr>
              <a:t>Variabile</a:t>
            </a:r>
            <a:endParaRPr lang="en-US" sz="2800" b="0" strike="noStrike" spc="-1" dirty="0">
              <a:solidFill>
                <a:srgbClr val="000000"/>
              </a:solidFill>
              <a:latin typeface="Tahoma"/>
            </a:endParaRPr>
          </a:p>
          <a:p>
            <a:pPr marL="609480" indent="-609120">
              <a:lnSpc>
                <a:spcPct val="80000"/>
              </a:lnSpc>
              <a:spcBef>
                <a:spcPts val="479"/>
              </a:spcBef>
              <a:buClr>
                <a:srgbClr val="FFCC00"/>
              </a:buClr>
              <a:buFont typeface="Monotype Sorts" charset="2"/>
              <a:buChar char=""/>
            </a:pPr>
            <a:r>
              <a:rPr lang="en-US" sz="2400" b="0" strike="noStrike" spc="-1" dirty="0" err="1">
                <a:solidFill>
                  <a:srgbClr val="000000"/>
                </a:solidFill>
                <a:latin typeface="Tahoma"/>
              </a:rPr>
              <a:t>Variabilele</a:t>
            </a:r>
            <a:r>
              <a:rPr lang="en-US" sz="2400" b="0" strike="noStrike" spc="-1" dirty="0">
                <a:solidFill>
                  <a:srgbClr val="000000"/>
                </a:solidFill>
                <a:latin typeface="Tahoma"/>
              </a:rPr>
              <a:t> pot </a:t>
            </a:r>
            <a:r>
              <a:rPr lang="en-US" sz="2400" b="0" strike="noStrike" spc="-1" dirty="0" err="1">
                <a:solidFill>
                  <a:srgbClr val="000000"/>
                </a:solidFill>
                <a:latin typeface="Tahoma"/>
              </a:rPr>
              <a:t>avea</a:t>
            </a:r>
            <a:r>
              <a:rPr lang="en-US" sz="2400" b="0" strike="noStrike" spc="-1" dirty="0">
                <a:solidFill>
                  <a:srgbClr val="000000"/>
                </a:solidFill>
                <a:latin typeface="Tahoma"/>
              </a:rPr>
              <a:t> ca tip fie un tip </a:t>
            </a:r>
            <a:r>
              <a:rPr lang="en-US" sz="2400" b="0" strike="noStrike" spc="-1" dirty="0" err="1">
                <a:solidFill>
                  <a:srgbClr val="000000"/>
                </a:solidFill>
                <a:latin typeface="Tahoma"/>
              </a:rPr>
              <a:t>primitiv</a:t>
            </a:r>
            <a:r>
              <a:rPr lang="en-US" sz="2400" b="0" strike="noStrike" spc="-1" dirty="0">
                <a:solidFill>
                  <a:srgbClr val="000000"/>
                </a:solidFill>
                <a:latin typeface="Tahoma"/>
              </a:rPr>
              <a:t> de </a:t>
            </a:r>
            <a:r>
              <a:rPr lang="en-US" sz="2400" b="0" strike="noStrike" spc="-1" dirty="0" err="1">
                <a:solidFill>
                  <a:srgbClr val="000000"/>
                </a:solidFill>
                <a:latin typeface="Tahoma"/>
              </a:rPr>
              <a:t>dată</a:t>
            </a:r>
            <a:r>
              <a:rPr lang="en-US" sz="2400" b="0" strike="noStrike" spc="-1" dirty="0">
                <a:solidFill>
                  <a:srgbClr val="000000"/>
                </a:solidFill>
                <a:latin typeface="Tahoma"/>
              </a:rPr>
              <a:t>, fie o </a:t>
            </a:r>
            <a:r>
              <a:rPr lang="en-US" sz="2400" b="0" strike="noStrike" spc="-1" dirty="0" err="1">
                <a:solidFill>
                  <a:srgbClr val="000000"/>
                </a:solidFill>
                <a:latin typeface="Tahoma"/>
              </a:rPr>
              <a:t>referinţă</a:t>
            </a:r>
            <a:r>
              <a:rPr lang="en-US" sz="2400" b="0" strike="noStrike" spc="-1" dirty="0">
                <a:solidFill>
                  <a:srgbClr val="000000"/>
                </a:solidFill>
                <a:latin typeface="Tahoma"/>
              </a:rPr>
              <a:t> la un </a:t>
            </a:r>
            <a:r>
              <a:rPr lang="en-US" sz="2400" b="0" strike="noStrike" spc="-1" dirty="0" err="1">
                <a:solidFill>
                  <a:srgbClr val="000000"/>
                </a:solidFill>
                <a:latin typeface="Tahoma"/>
              </a:rPr>
              <a:t>obiect</a:t>
            </a:r>
            <a:r>
              <a:rPr lang="en-US" sz="2400" b="0" strike="noStrike" spc="-1" dirty="0">
                <a:solidFill>
                  <a:srgbClr val="000000"/>
                </a:solidFill>
                <a:latin typeface="Tahoma"/>
              </a:rPr>
              <a:t>. </a:t>
            </a:r>
          </a:p>
          <a:p>
            <a:pPr marL="609480" indent="-609120">
              <a:lnSpc>
                <a:spcPct val="80000"/>
              </a:lnSpc>
              <a:spcBef>
                <a:spcPts val="479"/>
              </a:spcBef>
              <a:buClr>
                <a:srgbClr val="FFCC00"/>
              </a:buClr>
              <a:buFont typeface="Monotype Sorts" charset="2"/>
              <a:buChar char=""/>
            </a:pPr>
            <a:r>
              <a:rPr lang="en-US" sz="2400" b="1" strike="noStrike" spc="-1" dirty="0" err="1">
                <a:solidFill>
                  <a:srgbClr val="008000"/>
                </a:solidFill>
                <a:latin typeface="Tahoma"/>
              </a:rPr>
              <a:t>Declararea</a:t>
            </a:r>
            <a:r>
              <a:rPr lang="en-US" sz="2400" b="1" strike="noStrike" spc="-1" dirty="0">
                <a:solidFill>
                  <a:srgbClr val="008000"/>
                </a:solidFill>
                <a:latin typeface="Tahoma"/>
              </a:rPr>
              <a:t> </a:t>
            </a:r>
            <a:r>
              <a:rPr lang="en-US" sz="2400" b="1" strike="noStrike" spc="-1" dirty="0" err="1">
                <a:solidFill>
                  <a:srgbClr val="008000"/>
                </a:solidFill>
                <a:latin typeface="Tahoma"/>
              </a:rPr>
              <a:t>variabilelor</a:t>
            </a:r>
            <a:r>
              <a:rPr lang="en-US" sz="2400" b="0" strike="noStrike" spc="-1" dirty="0">
                <a:solidFill>
                  <a:srgbClr val="000000"/>
                </a:solidFill>
                <a:latin typeface="Tahoma"/>
              </a:rPr>
              <a:t> se face </a:t>
            </a:r>
            <a:r>
              <a:rPr lang="en-US" sz="2400" b="0" strike="noStrike" spc="-1" dirty="0" err="1">
                <a:solidFill>
                  <a:srgbClr val="000000"/>
                </a:solidFill>
                <a:latin typeface="Tahoma"/>
              </a:rPr>
              <a:t>prin</a:t>
            </a:r>
            <a:r>
              <a:rPr lang="en-US" sz="2400" b="0" strike="noStrike" spc="-1" dirty="0">
                <a:solidFill>
                  <a:srgbClr val="000000"/>
                </a:solidFill>
                <a:latin typeface="Tahoma"/>
              </a:rPr>
              <a:t>:</a:t>
            </a:r>
          </a:p>
          <a:p>
            <a:pPr marL="609480" indent="-609120">
              <a:lnSpc>
                <a:spcPct val="80000"/>
              </a:lnSpc>
              <a:spcBef>
                <a:spcPts val="479"/>
              </a:spcBef>
            </a:pPr>
            <a:r>
              <a:rPr lang="en-US" sz="2400" b="0" strike="noStrike" spc="-1" dirty="0">
                <a:solidFill>
                  <a:srgbClr val="000000"/>
                </a:solidFill>
                <a:latin typeface="Tahoma"/>
              </a:rPr>
              <a:t>		</a:t>
            </a:r>
            <a:r>
              <a:rPr lang="en-US" sz="1800" b="1" strike="noStrike" spc="-1" dirty="0" err="1">
                <a:solidFill>
                  <a:srgbClr val="000000"/>
                </a:solidFill>
                <a:latin typeface="Courier New"/>
              </a:rPr>
              <a:t>tip</a:t>
            </a:r>
            <a:r>
              <a:rPr lang="en-US" sz="2000" b="1" strike="noStrike" spc="-1" dirty="0" err="1">
                <a:solidFill>
                  <a:srgbClr val="000000"/>
                </a:solidFill>
                <a:latin typeface="Courier New"/>
              </a:rPr>
              <a:t>_</a:t>
            </a:r>
            <a:r>
              <a:rPr lang="en-US" sz="1800" b="1" strike="noStrike" spc="-1" dirty="0" err="1">
                <a:solidFill>
                  <a:srgbClr val="000000"/>
                </a:solidFill>
                <a:latin typeface="Courier New"/>
              </a:rPr>
              <a:t>de_date</a:t>
            </a:r>
            <a:r>
              <a:rPr lang="en-US" sz="1800" b="1" strike="noStrike" spc="-1" dirty="0">
                <a:solidFill>
                  <a:srgbClr val="000000"/>
                </a:solidFill>
                <a:latin typeface="Courier New"/>
              </a:rPr>
              <a:t>  </a:t>
            </a:r>
            <a:r>
              <a:rPr lang="en-US" sz="1800" b="1" strike="noStrike" spc="-1" dirty="0" err="1">
                <a:solidFill>
                  <a:srgbClr val="000000"/>
                </a:solidFill>
                <a:latin typeface="Courier New"/>
              </a:rPr>
              <a:t>NumeVariabila</a:t>
            </a:r>
            <a:endParaRPr lang="en-US" sz="1800" b="0" strike="noStrike" spc="-1" dirty="0">
              <a:solidFill>
                <a:srgbClr val="000000"/>
              </a:solidFill>
              <a:latin typeface="Tahoma"/>
            </a:endParaRPr>
          </a:p>
          <a:p>
            <a:pPr marL="609480" indent="-609120">
              <a:lnSpc>
                <a:spcPct val="80000"/>
              </a:lnSpc>
              <a:spcBef>
                <a:spcPts val="479"/>
              </a:spcBef>
              <a:buClr>
                <a:srgbClr val="FFCC00"/>
              </a:buClr>
              <a:buFont typeface="Monotype Sorts" charset="2"/>
              <a:buChar char=""/>
            </a:pPr>
            <a:r>
              <a:rPr lang="en-US" sz="2400" b="1" strike="noStrike" spc="-1" dirty="0" err="1">
                <a:solidFill>
                  <a:srgbClr val="008000"/>
                </a:solidFill>
                <a:latin typeface="Tahoma"/>
              </a:rPr>
              <a:t>Iniţializarea</a:t>
            </a:r>
            <a:r>
              <a:rPr lang="en-US" sz="2400" b="1" strike="noStrike" spc="-1" dirty="0">
                <a:solidFill>
                  <a:srgbClr val="008000"/>
                </a:solidFill>
                <a:latin typeface="Tahoma"/>
              </a:rPr>
              <a:t> </a:t>
            </a:r>
            <a:r>
              <a:rPr lang="en-US" sz="2400" b="1" strike="noStrike" spc="-1" dirty="0" err="1">
                <a:solidFill>
                  <a:srgbClr val="008000"/>
                </a:solidFill>
                <a:latin typeface="Tahoma"/>
              </a:rPr>
              <a:t>variabilelor</a:t>
            </a:r>
            <a:r>
              <a:rPr lang="en-US" sz="2400" b="1" strike="noStrike" spc="-1" dirty="0">
                <a:solidFill>
                  <a:srgbClr val="000000"/>
                </a:solidFill>
                <a:latin typeface="Tahoma"/>
              </a:rPr>
              <a:t> </a:t>
            </a:r>
            <a:r>
              <a:rPr lang="en-US" sz="2400" b="0" strike="noStrike" spc="-1" dirty="0">
                <a:solidFill>
                  <a:srgbClr val="000000"/>
                </a:solidFill>
                <a:latin typeface="Tahoma"/>
              </a:rPr>
              <a:t>se face </a:t>
            </a:r>
            <a:r>
              <a:rPr lang="en-US" sz="2400" b="0" strike="noStrike" spc="-1" dirty="0" err="1">
                <a:solidFill>
                  <a:srgbClr val="000000"/>
                </a:solidFill>
                <a:latin typeface="Tahoma"/>
              </a:rPr>
              <a:t>prin</a:t>
            </a:r>
            <a:r>
              <a:rPr lang="en-US" sz="2400" b="0" strike="noStrike" spc="-1" dirty="0">
                <a:solidFill>
                  <a:srgbClr val="000000"/>
                </a:solidFill>
                <a:latin typeface="Tahoma"/>
              </a:rPr>
              <a:t>:</a:t>
            </a:r>
          </a:p>
          <a:p>
            <a:pPr marL="609480" indent="-609120">
              <a:lnSpc>
                <a:spcPct val="80000"/>
              </a:lnSpc>
              <a:spcBef>
                <a:spcPts val="479"/>
              </a:spcBef>
            </a:pPr>
            <a:r>
              <a:rPr lang="en-US" sz="2400" b="0" strike="noStrike" spc="-1" dirty="0">
                <a:solidFill>
                  <a:srgbClr val="000000"/>
                </a:solidFill>
                <a:latin typeface="Tahoma"/>
              </a:rPr>
              <a:t>		</a:t>
            </a:r>
            <a:r>
              <a:rPr lang="en-US" sz="1800" b="1" strike="noStrike" spc="-1" dirty="0" err="1">
                <a:solidFill>
                  <a:srgbClr val="000000"/>
                </a:solidFill>
                <a:latin typeface="Courier New"/>
              </a:rPr>
              <a:t>NumeVariabila</a:t>
            </a:r>
            <a:r>
              <a:rPr lang="en-US" sz="1800" b="1" strike="noStrike" spc="-1" dirty="0">
                <a:solidFill>
                  <a:srgbClr val="000000"/>
                </a:solidFill>
                <a:latin typeface="Courier New"/>
              </a:rPr>
              <a:t> = </a:t>
            </a:r>
            <a:r>
              <a:rPr lang="en-US" sz="1800" b="1" strike="noStrike" spc="-1" dirty="0" err="1">
                <a:solidFill>
                  <a:srgbClr val="000000"/>
                </a:solidFill>
                <a:latin typeface="Courier New"/>
              </a:rPr>
              <a:t>valoare</a:t>
            </a:r>
            <a:r>
              <a:rPr lang="en-US" sz="2400" b="0" strike="noStrike" spc="-1" dirty="0">
                <a:solidFill>
                  <a:srgbClr val="000000"/>
                </a:solidFill>
                <a:latin typeface="Tahoma"/>
              </a:rPr>
              <a:t>  </a:t>
            </a:r>
          </a:p>
          <a:p>
            <a:pPr marL="609480" indent="-609120">
              <a:lnSpc>
                <a:spcPct val="80000"/>
              </a:lnSpc>
              <a:spcBef>
                <a:spcPts val="479"/>
              </a:spcBef>
              <a:buClr>
                <a:srgbClr val="FFCC00"/>
              </a:buClr>
              <a:buFont typeface="Monotype Sorts" charset="2"/>
              <a:buChar char=""/>
            </a:pPr>
            <a:r>
              <a:rPr lang="en-US" sz="2400" b="0" strike="noStrike" spc="-1" dirty="0" err="1">
                <a:solidFill>
                  <a:srgbClr val="000000"/>
                </a:solidFill>
                <a:latin typeface="Tahoma"/>
              </a:rPr>
              <a:t>Declararea</a:t>
            </a:r>
            <a:r>
              <a:rPr lang="en-US" sz="2400" b="0" strike="noStrike" spc="-1" dirty="0">
                <a:solidFill>
                  <a:srgbClr val="000000"/>
                </a:solidFill>
                <a:latin typeface="Tahoma"/>
              </a:rPr>
              <a:t> </a:t>
            </a:r>
            <a:r>
              <a:rPr lang="en-US" sz="2400" b="0" strike="noStrike" spc="-1" dirty="0" err="1">
                <a:solidFill>
                  <a:srgbClr val="000000"/>
                </a:solidFill>
                <a:latin typeface="Tahoma"/>
              </a:rPr>
              <a:t>şi</a:t>
            </a:r>
            <a:r>
              <a:rPr lang="en-US" sz="2400" b="0" strike="noStrike" spc="-1" dirty="0">
                <a:solidFill>
                  <a:srgbClr val="000000"/>
                </a:solidFill>
                <a:latin typeface="Tahoma"/>
              </a:rPr>
              <a:t> </a:t>
            </a:r>
            <a:r>
              <a:rPr lang="en-US" sz="2400" b="0" strike="noStrike" spc="-1" dirty="0" err="1">
                <a:solidFill>
                  <a:srgbClr val="000000"/>
                </a:solidFill>
                <a:latin typeface="Tahoma"/>
              </a:rPr>
              <a:t>iniţializarea</a:t>
            </a:r>
            <a:r>
              <a:rPr lang="en-US" sz="2400" b="0" strike="noStrike" spc="-1" dirty="0">
                <a:solidFill>
                  <a:srgbClr val="000000"/>
                </a:solidFill>
                <a:latin typeface="Tahoma"/>
              </a:rPr>
              <a:t> </a:t>
            </a:r>
            <a:r>
              <a:rPr lang="en-US" sz="2400" b="0" strike="noStrike" spc="-1" dirty="0" err="1">
                <a:solidFill>
                  <a:srgbClr val="000000"/>
                </a:solidFill>
                <a:latin typeface="Tahoma"/>
              </a:rPr>
              <a:t>variabilelor</a:t>
            </a:r>
            <a:r>
              <a:rPr lang="en-US" sz="2400" b="0" strike="noStrike" spc="-1" dirty="0">
                <a:solidFill>
                  <a:srgbClr val="000000"/>
                </a:solidFill>
                <a:latin typeface="Tahoma"/>
              </a:rPr>
              <a:t> pot fi </a:t>
            </a:r>
            <a:r>
              <a:rPr lang="en-US" sz="2400" b="0" strike="noStrike" spc="-1" dirty="0" err="1">
                <a:solidFill>
                  <a:srgbClr val="000000"/>
                </a:solidFill>
                <a:latin typeface="Tahoma"/>
              </a:rPr>
              <a:t>făcute</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acelaşi</a:t>
            </a:r>
            <a:r>
              <a:rPr lang="en-US" sz="2400" b="0" strike="noStrike" spc="-1" dirty="0">
                <a:solidFill>
                  <a:srgbClr val="000000"/>
                </a:solidFill>
                <a:latin typeface="Tahoma"/>
              </a:rPr>
              <a:t> moment:</a:t>
            </a:r>
          </a:p>
          <a:p>
            <a:pPr marL="609480" indent="-609120">
              <a:lnSpc>
                <a:spcPct val="80000"/>
              </a:lnSpc>
              <a:spcBef>
                <a:spcPts val="479"/>
              </a:spcBef>
            </a:pPr>
            <a:r>
              <a:rPr lang="en-US" sz="2400" b="0" strike="noStrike" spc="-1" dirty="0">
                <a:solidFill>
                  <a:srgbClr val="000000"/>
                </a:solidFill>
                <a:latin typeface="Tahoma"/>
              </a:rPr>
              <a:t>		</a:t>
            </a:r>
            <a:r>
              <a:rPr lang="en-US" sz="1800" b="1" strike="noStrike" spc="-1" dirty="0" err="1">
                <a:solidFill>
                  <a:srgbClr val="000000"/>
                </a:solidFill>
                <a:latin typeface="Courier New"/>
              </a:rPr>
              <a:t>tip</a:t>
            </a:r>
            <a:r>
              <a:rPr lang="en-US" sz="2000" b="1" strike="noStrike" spc="-1" dirty="0" err="1">
                <a:solidFill>
                  <a:srgbClr val="000000"/>
                </a:solidFill>
                <a:latin typeface="Courier New"/>
              </a:rPr>
              <a:t>_</a:t>
            </a:r>
            <a:r>
              <a:rPr lang="en-US" sz="1800" b="1" strike="noStrike" spc="-1" dirty="0" err="1">
                <a:solidFill>
                  <a:srgbClr val="000000"/>
                </a:solidFill>
                <a:latin typeface="Courier New"/>
              </a:rPr>
              <a:t>de_date</a:t>
            </a:r>
            <a:r>
              <a:rPr lang="en-US" sz="1800" b="1" strike="noStrike" spc="-1" dirty="0">
                <a:solidFill>
                  <a:srgbClr val="000000"/>
                </a:solidFill>
                <a:latin typeface="Courier New"/>
              </a:rPr>
              <a:t>  </a:t>
            </a:r>
            <a:r>
              <a:rPr lang="en-US" sz="1800" b="1" strike="noStrike" spc="-1" dirty="0" err="1">
                <a:solidFill>
                  <a:srgbClr val="000000"/>
                </a:solidFill>
                <a:latin typeface="Courier New"/>
              </a:rPr>
              <a:t>NumeVariabila</a:t>
            </a:r>
            <a:r>
              <a:rPr lang="en-US" sz="1800" b="1" strike="noStrike" spc="-1" dirty="0">
                <a:solidFill>
                  <a:srgbClr val="000000"/>
                </a:solidFill>
                <a:latin typeface="Courier New"/>
              </a:rPr>
              <a:t> = </a:t>
            </a:r>
            <a:r>
              <a:rPr lang="en-US" sz="1800" b="1" strike="noStrike" spc="-1" dirty="0" err="1">
                <a:solidFill>
                  <a:srgbClr val="000000"/>
                </a:solidFill>
                <a:latin typeface="Courier New"/>
              </a:rPr>
              <a:t>valoare</a:t>
            </a:r>
            <a:r>
              <a:rPr lang="en-US" sz="2400" b="0" strike="noStrike" spc="-1" dirty="0">
                <a:solidFill>
                  <a:srgbClr val="000000"/>
                </a:solidFill>
                <a:latin typeface="Tahoma"/>
              </a:rPr>
              <a:t>  </a:t>
            </a:r>
          </a:p>
          <a:p>
            <a:pPr marL="609480" indent="-609120">
              <a:lnSpc>
                <a:spcPct val="80000"/>
              </a:lnSpc>
              <a:spcBef>
                <a:spcPts val="479"/>
              </a:spcBef>
              <a:buClr>
                <a:srgbClr val="FFCC00"/>
              </a:buClr>
              <a:buFont typeface="Monotype Sorts" charset="2"/>
              <a:buChar char=""/>
            </a:pPr>
            <a:r>
              <a:rPr lang="en-US" sz="2400" b="1" strike="noStrike" spc="-1" dirty="0" err="1">
                <a:solidFill>
                  <a:srgbClr val="008000"/>
                </a:solidFill>
                <a:latin typeface="Tahoma"/>
              </a:rPr>
              <a:t>Declararea</a:t>
            </a:r>
            <a:r>
              <a:rPr lang="en-US" sz="2400" b="1" strike="noStrike" spc="-1" dirty="0">
                <a:solidFill>
                  <a:srgbClr val="008000"/>
                </a:solidFill>
                <a:latin typeface="Tahoma"/>
              </a:rPr>
              <a:t> </a:t>
            </a:r>
            <a:r>
              <a:rPr lang="en-US" sz="2400" b="1" strike="noStrike" spc="-1" dirty="0" err="1">
                <a:solidFill>
                  <a:srgbClr val="008000"/>
                </a:solidFill>
                <a:latin typeface="Tahoma"/>
              </a:rPr>
              <a:t>constantelor</a:t>
            </a:r>
            <a:r>
              <a:rPr lang="en-US" sz="2400" b="0" strike="noStrike" spc="-1" dirty="0">
                <a:solidFill>
                  <a:srgbClr val="000000"/>
                </a:solidFill>
                <a:latin typeface="Tahoma"/>
              </a:rPr>
              <a:t> se face </a:t>
            </a:r>
            <a:r>
              <a:rPr lang="en-US" sz="2400" b="0" strike="noStrike" spc="-1" dirty="0" err="1">
                <a:solidFill>
                  <a:srgbClr val="000000"/>
                </a:solidFill>
                <a:latin typeface="Tahoma"/>
              </a:rPr>
              <a:t>prin</a:t>
            </a:r>
            <a:r>
              <a:rPr lang="en-US" sz="2400" b="0" strike="noStrike" spc="-1" dirty="0">
                <a:solidFill>
                  <a:srgbClr val="000000"/>
                </a:solidFill>
                <a:latin typeface="Tahoma"/>
              </a:rPr>
              <a:t>:</a:t>
            </a:r>
          </a:p>
          <a:p>
            <a:pPr marL="990720" indent="-533160">
              <a:lnSpc>
                <a:spcPct val="80000"/>
              </a:lnSpc>
              <a:spcBef>
                <a:spcPts val="360"/>
              </a:spcBef>
            </a:pPr>
            <a:r>
              <a:rPr lang="en-US" sz="1600" b="1" strike="noStrike" spc="-1" dirty="0">
                <a:solidFill>
                  <a:srgbClr val="000000"/>
                </a:solidFill>
                <a:latin typeface="Courier New"/>
              </a:rPr>
              <a:t>    </a:t>
            </a:r>
            <a:r>
              <a:rPr lang="en-US" sz="1800" b="1" strike="noStrike" spc="-1" dirty="0">
                <a:solidFill>
                  <a:srgbClr val="000000"/>
                </a:solidFill>
                <a:latin typeface="Courier New"/>
              </a:rPr>
              <a:t>final </a:t>
            </a:r>
            <a:r>
              <a:rPr lang="en-US" sz="1800" b="1" strike="noStrike" spc="-1" dirty="0" err="1">
                <a:solidFill>
                  <a:srgbClr val="000000"/>
                </a:solidFill>
                <a:latin typeface="Courier New"/>
              </a:rPr>
              <a:t>tip_de_date</a:t>
            </a:r>
            <a:r>
              <a:rPr lang="en-US" sz="1800" b="1" strike="noStrike" spc="-1" dirty="0">
                <a:solidFill>
                  <a:srgbClr val="000000"/>
                </a:solidFill>
                <a:latin typeface="Courier New"/>
              </a:rPr>
              <a:t>  </a:t>
            </a:r>
            <a:r>
              <a:rPr lang="en-US" sz="1800" b="1" strike="noStrike" spc="-1" dirty="0" err="1">
                <a:solidFill>
                  <a:srgbClr val="000000"/>
                </a:solidFill>
                <a:latin typeface="Courier New"/>
              </a:rPr>
              <a:t>NumeVariabila</a:t>
            </a:r>
            <a:endParaRPr lang="en-US" sz="1800" b="0" strike="noStrike" spc="-1" dirty="0">
              <a:solidFill>
                <a:srgbClr val="000000"/>
              </a:solidFill>
              <a:latin typeface="Tahoma"/>
            </a:endParaRPr>
          </a:p>
          <a:p>
            <a:pPr marL="990720" indent="-533160">
              <a:lnSpc>
                <a:spcPct val="80000"/>
              </a:lnSpc>
              <a:spcBef>
                <a:spcPts val="400"/>
              </a:spcBef>
            </a:pPr>
            <a:r>
              <a:rPr lang="en-US" sz="2000" b="1" strike="noStrike" spc="-1" dirty="0">
                <a:solidFill>
                  <a:srgbClr val="000000"/>
                </a:solidFill>
                <a:latin typeface="Tahoma"/>
              </a:rPr>
              <a:t>  </a:t>
            </a:r>
            <a:r>
              <a:rPr lang="en-US" sz="2000" b="0" strike="noStrike" spc="-1" dirty="0" err="1">
                <a:solidFill>
                  <a:srgbClr val="000000"/>
                </a:solidFill>
                <a:latin typeface="Tahoma"/>
              </a:rPr>
              <a:t>Exemplu</a:t>
            </a:r>
            <a:r>
              <a:rPr lang="en-US" sz="2000" b="0" strike="noStrike" spc="-1" dirty="0">
                <a:solidFill>
                  <a:srgbClr val="000000"/>
                </a:solidFill>
                <a:latin typeface="Tahoma"/>
              </a:rPr>
              <a:t>:  </a:t>
            </a:r>
            <a:r>
              <a:rPr lang="en-US" sz="1800" b="1" strike="noStrike" spc="-1" dirty="0">
                <a:solidFill>
                  <a:srgbClr val="000000"/>
                </a:solidFill>
                <a:latin typeface="Courier New"/>
              </a:rPr>
              <a:t>final double PI = 3.14; </a:t>
            </a:r>
            <a:endParaRPr lang="en-US" sz="18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05B9A22E-C69D-43CE-AA27-B95E6EAB3A1D}" type="slidenum">
              <a:rPr lang="en-US" sz="1400" b="0" strike="noStrike" spc="-1">
                <a:solidFill>
                  <a:srgbClr val="5E574E"/>
                </a:solidFill>
                <a:latin typeface="Arial"/>
              </a:rPr>
              <a:t>24</a:t>
            </a:fld>
            <a:endParaRPr lang="en-US" sz="1400" b="0" strike="noStrike" spc="-1">
              <a:latin typeface="Times New Roman"/>
            </a:endParaRPr>
          </a:p>
        </p:txBody>
      </p:sp>
      <p:sp>
        <p:nvSpPr>
          <p:cNvPr id="350"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51" name="TextShape 5"/>
          <p:cNvSpPr txBox="1"/>
          <p:nvPr/>
        </p:nvSpPr>
        <p:spPr>
          <a:xfrm>
            <a:off x="439560" y="1619460"/>
            <a:ext cx="8859600" cy="4838400"/>
          </a:xfrm>
          <a:prstGeom prst="rect">
            <a:avLst/>
          </a:prstGeom>
          <a:noFill/>
          <a:ln>
            <a:noFill/>
          </a:ln>
        </p:spPr>
        <p:txBody>
          <a:bodyPr>
            <a:noAutofit/>
          </a:bodyPr>
          <a:lstStyle/>
          <a:p>
            <a:pPr marL="343080" indent="-342720">
              <a:lnSpc>
                <a:spcPct val="90000"/>
              </a:lnSpc>
              <a:spcBef>
                <a:spcPts val="479"/>
              </a:spcBef>
              <a:buClr>
                <a:srgbClr val="FFCC00"/>
              </a:buClr>
              <a:buFont typeface="Monotype Sorts" charset="2"/>
              <a:buChar char=""/>
            </a:pP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funcţie</a:t>
            </a:r>
            <a:r>
              <a:rPr lang="en-US" sz="2400" b="0" strike="noStrike" spc="-1" dirty="0">
                <a:solidFill>
                  <a:srgbClr val="000000"/>
                </a:solidFill>
                <a:latin typeface="Tahoma"/>
              </a:rPr>
              <a:t> de </a:t>
            </a:r>
            <a:r>
              <a:rPr lang="en-US" sz="2400" b="0" strike="noStrike" spc="-1" dirty="0" err="1">
                <a:solidFill>
                  <a:srgbClr val="000000"/>
                </a:solidFill>
                <a:latin typeface="Tahoma"/>
              </a:rPr>
              <a:t>locul</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care </a:t>
            </a:r>
            <a:r>
              <a:rPr lang="en-US" sz="2400" b="0" strike="noStrike" spc="-1" dirty="0" err="1">
                <a:solidFill>
                  <a:srgbClr val="000000"/>
                </a:solidFill>
                <a:latin typeface="Tahoma"/>
              </a:rPr>
              <a:t>sunt</a:t>
            </a:r>
            <a:r>
              <a:rPr lang="en-US" sz="2400" b="0" strike="noStrike" spc="-1" dirty="0">
                <a:solidFill>
                  <a:srgbClr val="000000"/>
                </a:solidFill>
                <a:latin typeface="Tahoma"/>
              </a:rPr>
              <a:t> </a:t>
            </a:r>
            <a:r>
              <a:rPr lang="en-US" sz="2400" b="0" strike="noStrike" spc="-1" dirty="0" err="1">
                <a:solidFill>
                  <a:srgbClr val="000000"/>
                </a:solidFill>
                <a:latin typeface="Tahoma"/>
              </a:rPr>
              <a:t>declarate</a:t>
            </a:r>
            <a:r>
              <a:rPr lang="en-US" sz="2400" b="0" strike="noStrike" spc="-1" dirty="0">
                <a:solidFill>
                  <a:srgbClr val="000000"/>
                </a:solidFill>
                <a:latin typeface="Tahoma"/>
              </a:rPr>
              <a:t>, </a:t>
            </a:r>
            <a:r>
              <a:rPr lang="en-US" sz="2400" b="0" strike="noStrike" spc="-1" dirty="0" err="1">
                <a:solidFill>
                  <a:srgbClr val="000000"/>
                </a:solidFill>
                <a:latin typeface="Tahoma"/>
              </a:rPr>
              <a:t>variabilele</a:t>
            </a:r>
            <a:r>
              <a:rPr lang="en-US" sz="2400" b="0" strike="noStrike" spc="-1" dirty="0">
                <a:solidFill>
                  <a:srgbClr val="000000"/>
                </a:solidFill>
                <a:latin typeface="Tahoma"/>
              </a:rPr>
              <a:t> se </a:t>
            </a:r>
            <a:r>
              <a:rPr lang="en-US" sz="2400" b="0" strike="noStrike" spc="-1" dirty="0" err="1">
                <a:solidFill>
                  <a:srgbClr val="000000"/>
                </a:solidFill>
                <a:latin typeface="Tahoma"/>
              </a:rPr>
              <a:t>împart</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următoarele</a:t>
            </a:r>
            <a:r>
              <a:rPr lang="en-US" sz="2400" b="0" strike="noStrike" spc="-1" dirty="0">
                <a:solidFill>
                  <a:srgbClr val="000000"/>
                </a:solidFill>
                <a:latin typeface="Tahoma"/>
              </a:rPr>
              <a:t> </a:t>
            </a:r>
            <a:r>
              <a:rPr lang="en-US" sz="2400" b="0" strike="noStrike" spc="-1" dirty="0" err="1">
                <a:solidFill>
                  <a:srgbClr val="000000"/>
                </a:solidFill>
                <a:latin typeface="Tahoma"/>
              </a:rPr>
              <a:t>categorii</a:t>
            </a:r>
            <a:r>
              <a:rPr lang="en-US" sz="2400" b="0" strike="noStrike" spc="-1" dirty="0">
                <a:solidFill>
                  <a:srgbClr val="000000"/>
                </a:solidFill>
                <a:latin typeface="Tahoma"/>
              </a:rPr>
              <a:t>: </a:t>
            </a:r>
          </a:p>
          <a:p>
            <a:pPr marL="343080" indent="-342720">
              <a:lnSpc>
                <a:spcPct val="90000"/>
              </a:lnSpc>
              <a:spcBef>
                <a:spcPts val="479"/>
              </a:spcBef>
              <a:buClr>
                <a:srgbClr val="FFCC00"/>
              </a:buClr>
              <a:buFont typeface="Monotype Sorts" charset="2"/>
              <a:buChar char=""/>
            </a:pPr>
            <a:r>
              <a:rPr lang="en-US" sz="2400" b="1" strike="noStrike" spc="-1" dirty="0" err="1">
                <a:solidFill>
                  <a:srgbClr val="008000"/>
                </a:solidFill>
                <a:latin typeface="Tahoma"/>
              </a:rPr>
              <a:t>Variabile</a:t>
            </a:r>
            <a:r>
              <a:rPr lang="en-US" sz="2400" b="1" strike="noStrike" spc="-1" dirty="0">
                <a:solidFill>
                  <a:srgbClr val="008000"/>
                </a:solidFill>
                <a:latin typeface="Tahoma"/>
              </a:rPr>
              <a:t> </a:t>
            </a:r>
            <a:r>
              <a:rPr lang="en-US" sz="2400" b="1" strike="noStrike" spc="-1" dirty="0" err="1">
                <a:solidFill>
                  <a:srgbClr val="008000"/>
                </a:solidFill>
                <a:latin typeface="Tahoma"/>
              </a:rPr>
              <a:t>membru</a:t>
            </a:r>
            <a:r>
              <a:rPr lang="en-US" sz="2400" b="0" strike="noStrike" spc="-1" dirty="0">
                <a:solidFill>
                  <a:srgbClr val="000000"/>
                </a:solidFill>
                <a:latin typeface="Tahoma"/>
              </a:rPr>
              <a:t>, </a:t>
            </a:r>
            <a:r>
              <a:rPr lang="en-US" sz="2400" b="0" strike="noStrike" spc="-1" dirty="0" err="1">
                <a:solidFill>
                  <a:srgbClr val="000000"/>
                </a:solidFill>
                <a:latin typeface="Tahoma"/>
              </a:rPr>
              <a:t>declarate</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interiorul</a:t>
            </a:r>
            <a:r>
              <a:rPr lang="en-US" sz="2400" b="0" strike="noStrike" spc="-1" dirty="0">
                <a:solidFill>
                  <a:srgbClr val="000000"/>
                </a:solidFill>
                <a:latin typeface="Tahoma"/>
              </a:rPr>
              <a:t> </a:t>
            </a:r>
            <a:r>
              <a:rPr lang="en-US" sz="2400" b="0" strike="noStrike" spc="-1" dirty="0" err="1">
                <a:solidFill>
                  <a:srgbClr val="000000"/>
                </a:solidFill>
                <a:latin typeface="Tahoma"/>
              </a:rPr>
              <a:t>unei</a:t>
            </a:r>
            <a:r>
              <a:rPr lang="en-US" sz="2400" b="0" strike="noStrike" spc="-1" dirty="0">
                <a:solidFill>
                  <a:srgbClr val="000000"/>
                </a:solidFill>
                <a:latin typeface="Tahoma"/>
              </a:rPr>
              <a:t> </a:t>
            </a:r>
            <a:r>
              <a:rPr lang="en-US" sz="2400" b="0" strike="noStrike" spc="-1" dirty="0" err="1">
                <a:solidFill>
                  <a:srgbClr val="000000"/>
                </a:solidFill>
                <a:latin typeface="Tahoma"/>
              </a:rPr>
              <a:t>clase</a:t>
            </a:r>
            <a:r>
              <a:rPr lang="en-US" sz="2400" b="0" strike="noStrike" spc="-1" dirty="0">
                <a:solidFill>
                  <a:srgbClr val="000000"/>
                </a:solidFill>
                <a:latin typeface="Tahoma"/>
              </a:rPr>
              <a:t>, </a:t>
            </a:r>
            <a:r>
              <a:rPr lang="en-US" sz="2400" b="0" strike="noStrike" spc="-1" dirty="0" err="1">
                <a:solidFill>
                  <a:srgbClr val="000000"/>
                </a:solidFill>
                <a:latin typeface="Tahoma"/>
              </a:rPr>
              <a:t>vizibile</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t>
            </a:r>
            <a:r>
              <a:rPr lang="en-US" sz="2400" b="0" strike="noStrike" spc="-1" dirty="0" err="1">
                <a:solidFill>
                  <a:srgbClr val="000000"/>
                </a:solidFill>
                <a:latin typeface="Tahoma"/>
              </a:rPr>
              <a:t>toate</a:t>
            </a:r>
            <a:r>
              <a:rPr lang="en-US" sz="2400" b="0" strike="noStrike" spc="-1" dirty="0">
                <a:solidFill>
                  <a:srgbClr val="000000"/>
                </a:solidFill>
                <a:latin typeface="Tahoma"/>
              </a:rPr>
              <a:t> </a:t>
            </a:r>
            <a:r>
              <a:rPr lang="en-US" sz="2400" b="0" strike="noStrike" spc="-1" dirty="0" err="1">
                <a:solidFill>
                  <a:srgbClr val="000000"/>
                </a:solidFill>
                <a:latin typeface="Tahoma"/>
              </a:rPr>
              <a:t>metodele</a:t>
            </a:r>
            <a:r>
              <a:rPr lang="en-US" sz="2400" b="0" strike="noStrike" spc="-1" dirty="0">
                <a:solidFill>
                  <a:srgbClr val="000000"/>
                </a:solidFill>
                <a:latin typeface="Tahoma"/>
              </a:rPr>
              <a:t> </a:t>
            </a:r>
            <a:r>
              <a:rPr lang="en-US" sz="2400" b="0" strike="noStrike" spc="-1" dirty="0" err="1">
                <a:solidFill>
                  <a:srgbClr val="000000"/>
                </a:solidFill>
                <a:latin typeface="Tahoma"/>
              </a:rPr>
              <a:t>clasei</a:t>
            </a:r>
            <a:r>
              <a:rPr lang="en-US" sz="2400" b="0" strike="noStrike" spc="-1" dirty="0">
                <a:solidFill>
                  <a:srgbClr val="000000"/>
                </a:solidFill>
                <a:latin typeface="Tahoma"/>
              </a:rPr>
              <a:t> respective </a:t>
            </a:r>
            <a:r>
              <a:rPr lang="en-US" sz="2400" b="0" strike="noStrike" spc="-1" dirty="0" err="1">
                <a:solidFill>
                  <a:srgbClr val="000000"/>
                </a:solidFill>
                <a:latin typeface="Tahoma"/>
              </a:rPr>
              <a:t>şi</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t>
            </a:r>
            <a:r>
              <a:rPr lang="en-US" sz="2400" b="0" strike="noStrike" spc="-1" dirty="0" err="1">
                <a:solidFill>
                  <a:srgbClr val="000000"/>
                </a:solidFill>
                <a:latin typeface="Tahoma"/>
              </a:rPr>
              <a:t>alte</a:t>
            </a:r>
            <a:r>
              <a:rPr lang="en-US" sz="2400" b="0" strike="noStrike" spc="-1" dirty="0">
                <a:solidFill>
                  <a:srgbClr val="000000"/>
                </a:solidFill>
                <a:latin typeface="Tahoma"/>
              </a:rPr>
              <a:t> </a:t>
            </a:r>
            <a:r>
              <a:rPr lang="en-US" sz="2400" b="0" strike="noStrike" spc="-1" dirty="0" err="1">
                <a:solidFill>
                  <a:srgbClr val="000000"/>
                </a:solidFill>
                <a:latin typeface="Tahoma"/>
              </a:rPr>
              <a:t>clase</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funcţie</a:t>
            </a:r>
            <a:r>
              <a:rPr lang="en-US" sz="2400" b="0" strike="noStrike" spc="-1" dirty="0">
                <a:solidFill>
                  <a:srgbClr val="000000"/>
                </a:solidFill>
                <a:latin typeface="Tahoma"/>
              </a:rPr>
              <a:t> de </a:t>
            </a:r>
            <a:r>
              <a:rPr lang="en-US" sz="2400" b="0" strike="noStrike" spc="-1" dirty="0" err="1">
                <a:solidFill>
                  <a:srgbClr val="000000"/>
                </a:solidFill>
                <a:latin typeface="Tahoma"/>
              </a:rPr>
              <a:t>modificatorul</a:t>
            </a:r>
            <a:r>
              <a:rPr lang="en-US" sz="2400" b="0" strike="noStrike" spc="-1" dirty="0">
                <a:solidFill>
                  <a:srgbClr val="000000"/>
                </a:solidFill>
                <a:latin typeface="Tahoma"/>
              </a:rPr>
              <a:t> </a:t>
            </a:r>
            <a:r>
              <a:rPr lang="en-US" sz="2400" b="0" strike="noStrike" spc="-1" dirty="0" err="1">
                <a:solidFill>
                  <a:srgbClr val="000000"/>
                </a:solidFill>
                <a:latin typeface="Tahoma"/>
              </a:rPr>
              <a:t>lor</a:t>
            </a:r>
            <a:r>
              <a:rPr lang="en-US" sz="2400" b="0" strike="noStrike" spc="-1" dirty="0">
                <a:solidFill>
                  <a:srgbClr val="000000"/>
                </a:solidFill>
                <a:latin typeface="Tahoma"/>
              </a:rPr>
              <a:t> de </a:t>
            </a:r>
            <a:r>
              <a:rPr lang="en-US" sz="2400" b="0" strike="noStrike" spc="-1" dirty="0" err="1">
                <a:solidFill>
                  <a:srgbClr val="000000"/>
                </a:solidFill>
                <a:latin typeface="Tahoma"/>
              </a:rPr>
              <a:t>acces</a:t>
            </a:r>
            <a:r>
              <a:rPr lang="en-US" sz="2400" b="0" strike="noStrike" spc="-1" dirty="0">
                <a:solidFill>
                  <a:srgbClr val="000000"/>
                </a:solidFill>
                <a:latin typeface="Tahoma"/>
              </a:rPr>
              <a:t> </a:t>
            </a:r>
          </a:p>
          <a:p>
            <a:pPr marL="343080" indent="-342720">
              <a:lnSpc>
                <a:spcPct val="90000"/>
              </a:lnSpc>
              <a:spcBef>
                <a:spcPts val="479"/>
              </a:spcBef>
              <a:buClr>
                <a:srgbClr val="FFCC00"/>
              </a:buClr>
              <a:buFont typeface="Monotype Sorts" charset="2"/>
              <a:buChar char=""/>
            </a:pPr>
            <a:r>
              <a:rPr lang="en-US" sz="2400" b="1" strike="noStrike" spc="-1" dirty="0" err="1">
                <a:solidFill>
                  <a:srgbClr val="008000"/>
                </a:solidFill>
                <a:latin typeface="Tahoma"/>
              </a:rPr>
              <a:t>Variabile</a:t>
            </a:r>
            <a:r>
              <a:rPr lang="en-US" sz="2400" b="1" strike="noStrike" spc="-1" dirty="0">
                <a:solidFill>
                  <a:srgbClr val="008000"/>
                </a:solidFill>
                <a:latin typeface="Tahoma"/>
              </a:rPr>
              <a:t> locale</a:t>
            </a:r>
            <a:r>
              <a:rPr lang="en-US" sz="2400" b="0" strike="noStrike" spc="-1" dirty="0">
                <a:solidFill>
                  <a:srgbClr val="000000"/>
                </a:solidFill>
                <a:latin typeface="Tahoma"/>
              </a:rPr>
              <a:t>, </a:t>
            </a:r>
            <a:r>
              <a:rPr lang="en-US" sz="2400" b="0" strike="noStrike" spc="-1" dirty="0" err="1">
                <a:solidFill>
                  <a:srgbClr val="000000"/>
                </a:solidFill>
                <a:latin typeface="Tahoma"/>
              </a:rPr>
              <a:t>declarate</a:t>
            </a:r>
            <a:r>
              <a:rPr lang="en-US" sz="2400" b="0" strike="noStrike" spc="-1" dirty="0">
                <a:solidFill>
                  <a:srgbClr val="000000"/>
                </a:solidFill>
                <a:latin typeface="Tahoma"/>
              </a:rPr>
              <a:t> </a:t>
            </a:r>
            <a:r>
              <a:rPr lang="en-US" sz="2400" b="0" strike="noStrike" spc="-1" dirty="0" err="1">
                <a:solidFill>
                  <a:srgbClr val="000000"/>
                </a:solidFill>
                <a:latin typeface="Tahoma"/>
              </a:rPr>
              <a:t>într</a:t>
            </a:r>
            <a:r>
              <a:rPr lang="en-US" sz="2400" b="0" strike="noStrike" spc="-1" dirty="0">
                <a:solidFill>
                  <a:srgbClr val="000000"/>
                </a:solidFill>
                <a:latin typeface="Tahoma"/>
              </a:rPr>
              <a:t>-o </a:t>
            </a:r>
            <a:r>
              <a:rPr lang="en-US" sz="2400" b="0" strike="noStrike" spc="-1" dirty="0" err="1">
                <a:solidFill>
                  <a:srgbClr val="000000"/>
                </a:solidFill>
                <a:latin typeface="Tahoma"/>
              </a:rPr>
              <a:t>metodă</a:t>
            </a:r>
            <a:r>
              <a:rPr lang="en-US" sz="2400" b="0" strike="noStrike" spc="-1" dirty="0">
                <a:solidFill>
                  <a:srgbClr val="000000"/>
                </a:solidFill>
                <a:latin typeface="Tahoma"/>
              </a:rPr>
              <a:t> </a:t>
            </a:r>
            <a:r>
              <a:rPr lang="en-US" sz="2400" b="0" strike="noStrike" spc="-1" dirty="0" err="1">
                <a:solidFill>
                  <a:srgbClr val="000000"/>
                </a:solidFill>
                <a:latin typeface="Tahoma"/>
              </a:rPr>
              <a:t>sau</a:t>
            </a:r>
            <a:r>
              <a:rPr lang="en-US" sz="2400" b="0" strike="noStrike" spc="-1" dirty="0">
                <a:solidFill>
                  <a:srgbClr val="000000"/>
                </a:solidFill>
                <a:latin typeface="Tahoma"/>
              </a:rPr>
              <a:t> </a:t>
            </a:r>
            <a:r>
              <a:rPr lang="en-US" sz="2400" b="0" strike="noStrike" spc="-1" dirty="0" err="1">
                <a:solidFill>
                  <a:srgbClr val="000000"/>
                </a:solidFill>
                <a:latin typeface="Tahoma"/>
              </a:rPr>
              <a:t>într</a:t>
            </a:r>
            <a:r>
              <a:rPr lang="en-US" sz="2400" b="0" strike="noStrike" spc="-1" dirty="0">
                <a:solidFill>
                  <a:srgbClr val="000000"/>
                </a:solidFill>
                <a:latin typeface="Tahoma"/>
              </a:rPr>
              <a:t>-un bloc de cod, </a:t>
            </a:r>
            <a:r>
              <a:rPr lang="en-US" sz="2400" b="0" strike="noStrike" spc="-1" dirty="0" err="1">
                <a:solidFill>
                  <a:srgbClr val="000000"/>
                </a:solidFill>
                <a:latin typeface="Tahoma"/>
              </a:rPr>
              <a:t>vizibile</a:t>
            </a:r>
            <a:r>
              <a:rPr lang="en-US" sz="2400" b="0" strike="noStrike" spc="-1" dirty="0">
                <a:solidFill>
                  <a:srgbClr val="000000"/>
                </a:solidFill>
                <a:latin typeface="Tahoma"/>
              </a:rPr>
              <a:t> </a:t>
            </a:r>
            <a:r>
              <a:rPr lang="en-US" sz="2400" b="0" strike="noStrike" spc="-1" dirty="0" err="1">
                <a:solidFill>
                  <a:srgbClr val="000000"/>
                </a:solidFill>
                <a:latin typeface="Tahoma"/>
              </a:rPr>
              <a:t>doar</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metoda</a:t>
            </a:r>
            <a:r>
              <a:rPr lang="en-US" sz="2400" b="0" strike="noStrike" spc="-1" dirty="0">
                <a:solidFill>
                  <a:srgbClr val="000000"/>
                </a:solidFill>
                <a:latin typeface="Tahoma"/>
              </a:rPr>
              <a:t> / </a:t>
            </a:r>
            <a:r>
              <a:rPr lang="en-US" sz="2400" b="0" strike="noStrike" spc="-1" dirty="0" err="1">
                <a:solidFill>
                  <a:srgbClr val="000000"/>
                </a:solidFill>
                <a:latin typeface="Tahoma"/>
              </a:rPr>
              <a:t>blocul</a:t>
            </a:r>
            <a:r>
              <a:rPr lang="en-US" sz="2400" b="0" strike="noStrike" spc="-1" dirty="0">
                <a:solidFill>
                  <a:srgbClr val="000000"/>
                </a:solidFill>
                <a:latin typeface="Tahoma"/>
              </a:rPr>
              <a:t> </a:t>
            </a:r>
            <a:r>
              <a:rPr lang="en-US" sz="2400" b="0" strike="noStrike" spc="-1" dirty="0" err="1">
                <a:solidFill>
                  <a:srgbClr val="000000"/>
                </a:solidFill>
                <a:latin typeface="Tahoma"/>
              </a:rPr>
              <a:t>respectiv</a:t>
            </a:r>
            <a:r>
              <a:rPr lang="en-US" sz="2400" b="0" strike="noStrike" spc="-1" dirty="0">
                <a:solidFill>
                  <a:srgbClr val="000000"/>
                </a:solidFill>
                <a:latin typeface="Tahoma"/>
              </a:rPr>
              <a:t> </a:t>
            </a:r>
          </a:p>
          <a:p>
            <a:pPr marL="343080" indent="-342720">
              <a:lnSpc>
                <a:spcPct val="90000"/>
              </a:lnSpc>
              <a:spcBef>
                <a:spcPts val="479"/>
              </a:spcBef>
              <a:buClr>
                <a:srgbClr val="FFCC00"/>
              </a:buClr>
              <a:buFont typeface="Monotype Sorts" charset="2"/>
              <a:buChar char=""/>
            </a:pPr>
            <a:r>
              <a:rPr lang="en-US" sz="2400" b="1" strike="noStrike" spc="-1" dirty="0" err="1">
                <a:solidFill>
                  <a:srgbClr val="008000"/>
                </a:solidFill>
                <a:latin typeface="Tahoma"/>
              </a:rPr>
              <a:t>Parametrii</a:t>
            </a:r>
            <a:r>
              <a:rPr lang="en-US" sz="2400" b="1" strike="noStrike" spc="-1" dirty="0">
                <a:solidFill>
                  <a:srgbClr val="008000"/>
                </a:solidFill>
                <a:latin typeface="Tahoma"/>
              </a:rPr>
              <a:t> </a:t>
            </a:r>
            <a:r>
              <a:rPr lang="en-US" sz="2400" b="1" strike="noStrike" spc="-1" dirty="0" err="1">
                <a:solidFill>
                  <a:srgbClr val="008000"/>
                </a:solidFill>
                <a:latin typeface="Tahoma"/>
              </a:rPr>
              <a:t>metodelor</a:t>
            </a:r>
            <a:r>
              <a:rPr lang="en-US" sz="2400" b="0" strike="noStrike" spc="-1" dirty="0">
                <a:solidFill>
                  <a:srgbClr val="000000"/>
                </a:solidFill>
                <a:latin typeface="Tahoma"/>
              </a:rPr>
              <a:t>, </a:t>
            </a:r>
            <a:r>
              <a:rPr lang="en-US" sz="2400" b="0" strike="noStrike" spc="-1" dirty="0" err="1">
                <a:solidFill>
                  <a:srgbClr val="000000"/>
                </a:solidFill>
                <a:latin typeface="Tahoma"/>
              </a:rPr>
              <a:t>vizibili</a:t>
            </a:r>
            <a:r>
              <a:rPr lang="en-US" sz="2400" b="0" strike="noStrike" spc="-1" dirty="0">
                <a:solidFill>
                  <a:srgbClr val="000000"/>
                </a:solidFill>
                <a:latin typeface="Tahoma"/>
              </a:rPr>
              <a:t> </a:t>
            </a:r>
            <a:r>
              <a:rPr lang="en-US" sz="2400" b="0" strike="noStrike" spc="-1" dirty="0" err="1">
                <a:solidFill>
                  <a:srgbClr val="000000"/>
                </a:solidFill>
                <a:latin typeface="Tahoma"/>
              </a:rPr>
              <a:t>doar</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metoda</a:t>
            </a:r>
            <a:r>
              <a:rPr lang="en-US" sz="2400" b="0" strike="noStrike" spc="-1" dirty="0">
                <a:solidFill>
                  <a:srgbClr val="000000"/>
                </a:solidFill>
                <a:latin typeface="Tahoma"/>
              </a:rPr>
              <a:t> </a:t>
            </a:r>
            <a:r>
              <a:rPr lang="en-US" sz="2400" b="0" strike="noStrike" spc="-1" dirty="0" err="1">
                <a:solidFill>
                  <a:srgbClr val="000000"/>
                </a:solidFill>
                <a:latin typeface="Tahoma"/>
              </a:rPr>
              <a:t>respectivă</a:t>
            </a:r>
            <a:r>
              <a:rPr lang="en-US" sz="2400" b="0" strike="noStrike" spc="-1" dirty="0">
                <a:solidFill>
                  <a:srgbClr val="000000"/>
                </a:solidFill>
                <a:latin typeface="Tahoma"/>
              </a:rPr>
              <a:t> </a:t>
            </a:r>
          </a:p>
          <a:p>
            <a:pPr marL="343080" indent="-342720">
              <a:lnSpc>
                <a:spcPct val="90000"/>
              </a:lnSpc>
              <a:spcBef>
                <a:spcPts val="479"/>
              </a:spcBef>
              <a:buClr>
                <a:srgbClr val="FFCC00"/>
              </a:buClr>
              <a:buFont typeface="Monotype Sorts" charset="2"/>
              <a:buChar char=""/>
            </a:pPr>
            <a:r>
              <a:rPr lang="en-US" sz="2400" b="1" strike="noStrike" spc="-1" dirty="0" err="1">
                <a:solidFill>
                  <a:srgbClr val="008000"/>
                </a:solidFill>
                <a:latin typeface="Tahoma"/>
              </a:rPr>
              <a:t>Parametrii</a:t>
            </a:r>
            <a:r>
              <a:rPr lang="en-US" sz="2400" b="1" strike="noStrike" spc="-1" dirty="0">
                <a:solidFill>
                  <a:srgbClr val="008000"/>
                </a:solidFill>
                <a:latin typeface="Tahoma"/>
              </a:rPr>
              <a:t> de la </a:t>
            </a:r>
            <a:r>
              <a:rPr lang="en-US" sz="2400" b="1" strike="noStrike" spc="-1" dirty="0" err="1">
                <a:solidFill>
                  <a:srgbClr val="008000"/>
                </a:solidFill>
                <a:latin typeface="Tahoma"/>
              </a:rPr>
              <a:t>tratarea</a:t>
            </a:r>
            <a:r>
              <a:rPr lang="en-US" sz="2400" b="1" strike="noStrike" spc="-1" dirty="0">
                <a:solidFill>
                  <a:srgbClr val="008000"/>
                </a:solidFill>
                <a:latin typeface="Tahoma"/>
              </a:rPr>
              <a:t> </a:t>
            </a:r>
            <a:r>
              <a:rPr lang="en-US" sz="2400" b="1" strike="noStrike" spc="-1" dirty="0" err="1">
                <a:solidFill>
                  <a:srgbClr val="008000"/>
                </a:solidFill>
                <a:latin typeface="Tahoma"/>
              </a:rPr>
              <a:t>excepţiilor</a:t>
            </a:r>
            <a:r>
              <a:rPr lang="en-US" sz="2400" b="0" strike="noStrike" spc="-1" dirty="0">
                <a:solidFill>
                  <a:srgbClr val="000000"/>
                </a:solidFill>
                <a:latin typeface="Tahoma"/>
              </a:rPr>
              <a:t> </a:t>
            </a:r>
          </a:p>
          <a:p>
            <a:pPr marL="343080" indent="-342720">
              <a:lnSpc>
                <a:spcPct val="90000"/>
              </a:lnSpc>
              <a:spcBef>
                <a:spcPts val="479"/>
              </a:spcBef>
            </a:pPr>
            <a:r>
              <a:rPr lang="en-US" sz="2400" b="0" strike="noStrike" spc="-1" dirty="0">
                <a:solidFill>
                  <a:srgbClr val="000000"/>
                </a:solidFill>
                <a:latin typeface="Tahoma"/>
              </a:rPr>
              <a:t>	</a:t>
            </a:r>
            <a:r>
              <a:rPr lang="en-US" sz="2400" b="0" strike="noStrike" spc="-1" dirty="0" err="1">
                <a:solidFill>
                  <a:srgbClr val="000000"/>
                </a:solidFill>
                <a:latin typeface="Tahoma"/>
              </a:rPr>
              <a:t>Imaginea</a:t>
            </a:r>
            <a:r>
              <a:rPr lang="en-US" sz="2400" b="0" strike="noStrike" spc="-1" dirty="0">
                <a:solidFill>
                  <a:srgbClr val="000000"/>
                </a:solidFill>
                <a:latin typeface="Tahoma"/>
              </a:rPr>
              <a:t> </a:t>
            </a:r>
            <a:r>
              <a:rPr lang="en-US" sz="2400" b="0" strike="noStrike" spc="-1" dirty="0" err="1">
                <a:solidFill>
                  <a:srgbClr val="000000"/>
                </a:solidFill>
                <a:latin typeface="Tahoma"/>
              </a:rPr>
              <a:t>următoare</a:t>
            </a:r>
            <a:r>
              <a:rPr lang="en-US" sz="2400" b="0" strike="noStrike" spc="-1" dirty="0">
                <a:solidFill>
                  <a:srgbClr val="000000"/>
                </a:solidFill>
                <a:latin typeface="Tahoma"/>
              </a:rPr>
              <a:t> </a:t>
            </a:r>
            <a:r>
              <a:rPr lang="en-US" sz="2400" b="0" strike="noStrike" spc="-1" dirty="0" err="1">
                <a:solidFill>
                  <a:srgbClr val="000000"/>
                </a:solidFill>
                <a:latin typeface="Tahoma"/>
              </a:rPr>
              <a:t>ilustrează</a:t>
            </a:r>
            <a:r>
              <a:rPr lang="en-US" sz="2400" b="0" strike="noStrike" spc="-1" dirty="0">
                <a:solidFill>
                  <a:srgbClr val="000000"/>
                </a:solidFill>
                <a:latin typeface="Tahoma"/>
              </a:rPr>
              <a:t> </a:t>
            </a:r>
            <a:r>
              <a:rPr lang="en-US" sz="2400" b="0" strike="noStrike" spc="-1" dirty="0" err="1">
                <a:solidFill>
                  <a:srgbClr val="000000"/>
                </a:solidFill>
                <a:latin typeface="Tahoma"/>
              </a:rPr>
              <a:t>tipurile</a:t>
            </a:r>
            <a:r>
              <a:rPr lang="en-US" sz="2400" b="0" strike="noStrike" spc="-1" dirty="0">
                <a:solidFill>
                  <a:srgbClr val="000000"/>
                </a:solidFill>
                <a:latin typeface="Tahoma"/>
              </a:rPr>
              <a:t> de </a:t>
            </a:r>
            <a:r>
              <a:rPr lang="en-US" sz="2400" b="0" strike="noStrike" spc="-1" dirty="0" err="1">
                <a:solidFill>
                  <a:srgbClr val="000000"/>
                </a:solidFill>
                <a:latin typeface="Tahoma"/>
              </a:rPr>
              <a:t>variabile</a:t>
            </a:r>
            <a:r>
              <a:rPr lang="en-US" sz="2400" b="0" strike="noStrike" spc="-1" dirty="0">
                <a:solidFill>
                  <a:srgbClr val="000000"/>
                </a:solidFill>
                <a:latin typeface="Tahoma"/>
              </a:rPr>
              <a:t> </a:t>
            </a:r>
            <a:r>
              <a:rPr lang="en-US" sz="2400" b="0" strike="noStrike" spc="-1" dirty="0" err="1">
                <a:solidFill>
                  <a:srgbClr val="000000"/>
                </a:solidFill>
                <a:latin typeface="Tahoma"/>
              </a:rPr>
              <a:t>şi</a:t>
            </a:r>
            <a:r>
              <a:rPr lang="en-US" sz="2400" b="0" strike="noStrike" spc="-1" dirty="0">
                <a:solidFill>
                  <a:srgbClr val="000000"/>
                </a:solidFill>
                <a:latin typeface="Tahoma"/>
              </a:rPr>
              <a:t> </a:t>
            </a:r>
            <a:r>
              <a:rPr lang="en-US" sz="2400" b="0" strike="noStrike" spc="-1" dirty="0" err="1">
                <a:solidFill>
                  <a:srgbClr val="000000"/>
                </a:solidFill>
                <a:latin typeface="Tahoma"/>
              </a:rPr>
              <a:t>parametrii</a:t>
            </a:r>
            <a:r>
              <a:rPr lang="en-US" sz="2400" b="0" strike="noStrike" spc="-1" dirty="0">
                <a:solidFill>
                  <a:srgbClr val="000000"/>
                </a:solidFill>
                <a:latin typeface="Tahoma"/>
              </a:rPr>
              <a:t> </a:t>
            </a:r>
            <a:r>
              <a:rPr lang="en-US" sz="2400" b="0" strike="noStrike" spc="-1" dirty="0" err="1">
                <a:solidFill>
                  <a:srgbClr val="000000"/>
                </a:solidFill>
                <a:latin typeface="Tahoma"/>
              </a:rPr>
              <a:t>împreună</a:t>
            </a:r>
            <a:r>
              <a:rPr lang="en-US" sz="2400" b="0" strike="noStrike" spc="-1" dirty="0">
                <a:solidFill>
                  <a:srgbClr val="000000"/>
                </a:solidFill>
                <a:latin typeface="Tahoma"/>
              </a:rPr>
              <a:t> cu </a:t>
            </a:r>
            <a:r>
              <a:rPr lang="en-US" sz="2400" b="0" strike="noStrike" spc="-1" dirty="0" err="1">
                <a:solidFill>
                  <a:srgbClr val="000000"/>
                </a:solidFill>
                <a:latin typeface="Tahoma"/>
              </a:rPr>
              <a:t>domeniul</a:t>
            </a:r>
            <a:r>
              <a:rPr lang="en-US" sz="2400" b="0" strike="noStrike" spc="-1" dirty="0">
                <a:solidFill>
                  <a:srgbClr val="000000"/>
                </a:solidFill>
                <a:latin typeface="Tahoma"/>
              </a:rPr>
              <a:t> </a:t>
            </a:r>
            <a:r>
              <a:rPr lang="en-US" sz="2400" b="0" strike="noStrike" spc="-1" dirty="0" err="1">
                <a:solidFill>
                  <a:srgbClr val="000000"/>
                </a:solidFill>
                <a:latin typeface="Tahoma"/>
              </a:rPr>
              <a:t>lor</a:t>
            </a:r>
            <a:r>
              <a:rPr lang="en-US" sz="2400" b="0" strike="noStrike" spc="-1" dirty="0">
                <a:solidFill>
                  <a:srgbClr val="000000"/>
                </a:solidFill>
                <a:latin typeface="Tahoma"/>
              </a:rPr>
              <a:t> de </a:t>
            </a:r>
            <a:r>
              <a:rPr lang="en-US" sz="2400" b="0" strike="noStrike" spc="-1" dirty="0" err="1">
                <a:solidFill>
                  <a:srgbClr val="000000"/>
                </a:solidFill>
                <a:latin typeface="Tahoma"/>
              </a:rPr>
              <a:t>vizibilitate</a:t>
            </a:r>
            <a:r>
              <a:rPr lang="en-US" sz="2400" b="0" strike="noStrike" spc="-1" dirty="0">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94A5C7FE-3C4E-47BA-A890-284795CFEC86}" type="slidenum">
              <a:rPr lang="en-US" sz="1400" b="0" strike="noStrike" spc="-1">
                <a:solidFill>
                  <a:srgbClr val="5E574E"/>
                </a:solidFill>
                <a:latin typeface="Arial"/>
              </a:rPr>
              <a:t>25</a:t>
            </a:fld>
            <a:endParaRPr lang="en-US" sz="1400" b="0" strike="noStrike" spc="-1">
              <a:latin typeface="Times New Roman"/>
            </a:endParaRPr>
          </a:p>
        </p:txBody>
      </p:sp>
      <p:sp>
        <p:nvSpPr>
          <p:cNvPr id="355" name="TextShape 4"/>
          <p:cNvSpPr txBox="1"/>
          <p:nvPr/>
        </p:nvSpPr>
        <p:spPr>
          <a:xfrm>
            <a:off x="439560" y="228600"/>
            <a:ext cx="8419680" cy="685440"/>
          </a:xfrm>
          <a:prstGeom prst="rect">
            <a:avLst/>
          </a:prstGeom>
          <a:noFill/>
          <a:ln>
            <a:noFill/>
          </a:ln>
        </p:spPr>
        <p:txBody>
          <a:bodyPr anchor="b">
            <a:noAutofit/>
          </a:bodyPr>
          <a:lstStyle/>
          <a:p>
            <a:pPr>
              <a:lnSpc>
                <a:spcPct val="100000"/>
              </a:lnSpc>
            </a:pPr>
            <a:endParaRPr lang="en-US" sz="3600" b="0" strike="noStrike" spc="-1" dirty="0">
              <a:solidFill>
                <a:srgbClr val="000000"/>
              </a:solidFill>
              <a:latin typeface="Arial"/>
            </a:endParaRPr>
          </a:p>
        </p:txBody>
      </p:sp>
      <p:sp>
        <p:nvSpPr>
          <p:cNvPr id="356" name="TextShape 5"/>
          <p:cNvSpPr txBox="1"/>
          <p:nvPr/>
        </p:nvSpPr>
        <p:spPr>
          <a:xfrm>
            <a:off x="495360" y="1066680"/>
            <a:ext cx="8859600" cy="4990680"/>
          </a:xfrm>
          <a:prstGeom prst="rect">
            <a:avLst/>
          </a:prstGeom>
          <a:noFill/>
          <a:ln>
            <a:noFill/>
          </a:ln>
        </p:spPr>
        <p:txBody>
          <a:bodyPr>
            <a:noAutofit/>
          </a:bodyPr>
          <a:lstStyle/>
          <a:p>
            <a:pPr marL="343080" indent="-342720">
              <a:lnSpc>
                <a:spcPct val="100000"/>
              </a:lnSpc>
              <a:spcBef>
                <a:spcPts val="641"/>
              </a:spcBef>
              <a:buClr>
                <a:srgbClr val="FFCC00"/>
              </a:buClr>
              <a:buFont typeface="Monotype Sorts" charset="2"/>
              <a:buChar char=""/>
            </a:pPr>
            <a:r>
              <a:rPr lang="en-US" sz="1400" b="1" strike="noStrike" spc="-1">
                <a:solidFill>
                  <a:srgbClr val="000000"/>
                </a:solidFill>
                <a:latin typeface="Courier New"/>
              </a:rPr>
              <a:t>Imaginea următoare ilustrează tipurile de variabile şi parametrii împreună cu domeniul lor de vizibilitate</a:t>
            </a:r>
            <a:r>
              <a:rPr lang="en-US" sz="3200" b="0" strike="noStrike" spc="-1">
                <a:solidFill>
                  <a:srgbClr val="000000"/>
                </a:solidFill>
                <a:latin typeface="Tahoma"/>
              </a:rPr>
              <a:t> </a:t>
            </a:r>
          </a:p>
        </p:txBody>
      </p:sp>
      <p:grpSp>
        <p:nvGrpSpPr>
          <p:cNvPr id="357" name="Group 6"/>
          <p:cNvGrpSpPr/>
          <p:nvPr/>
        </p:nvGrpSpPr>
        <p:grpSpPr>
          <a:xfrm>
            <a:off x="4648319" y="1532709"/>
            <a:ext cx="3903497" cy="4588371"/>
            <a:chOff x="4648320" y="1905120"/>
            <a:chExt cx="3563640" cy="4215960"/>
          </a:xfrm>
        </p:grpSpPr>
        <p:grpSp>
          <p:nvGrpSpPr>
            <p:cNvPr id="358" name="Group 7"/>
            <p:cNvGrpSpPr/>
            <p:nvPr/>
          </p:nvGrpSpPr>
          <p:grpSpPr>
            <a:xfrm>
              <a:off x="4659480" y="2178720"/>
              <a:ext cx="3552480" cy="3942360"/>
              <a:chOff x="4659480" y="2178720"/>
              <a:chExt cx="3552480" cy="3942360"/>
            </a:xfrm>
          </p:grpSpPr>
          <p:sp>
            <p:nvSpPr>
              <p:cNvPr id="359" name="CustomShape 8"/>
              <p:cNvSpPr/>
              <p:nvPr/>
            </p:nvSpPr>
            <p:spPr>
              <a:xfrm>
                <a:off x="4669200" y="2178720"/>
                <a:ext cx="3542760" cy="3942360"/>
              </a:xfrm>
              <a:prstGeom prst="rect">
                <a:avLst/>
              </a:prstGeom>
              <a:solidFill>
                <a:srgbClr val="FDFEE6"/>
              </a:solidFill>
              <a:ln w="9360">
                <a:solidFill>
                  <a:srgbClr val="000000"/>
                </a:solidFill>
                <a:miter/>
              </a:ln>
            </p:spPr>
            <p:style>
              <a:lnRef idx="0">
                <a:scrgbClr r="0" g="0" b="0"/>
              </a:lnRef>
              <a:fillRef idx="0">
                <a:scrgbClr r="0" g="0" b="0"/>
              </a:fillRef>
              <a:effectRef idx="0">
                <a:scrgbClr r="0" g="0" b="0"/>
              </a:effectRef>
              <a:fontRef idx="minor"/>
            </p:style>
          </p:sp>
          <p:sp>
            <p:nvSpPr>
              <p:cNvPr id="360" name="CustomShape 9"/>
              <p:cNvSpPr/>
              <p:nvPr/>
            </p:nvSpPr>
            <p:spPr>
              <a:xfrm>
                <a:off x="4659480" y="2301840"/>
                <a:ext cx="3378960" cy="985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0" strike="noStrike" spc="-1">
                    <a:solidFill>
                      <a:srgbClr val="000000"/>
                    </a:solidFill>
                    <a:latin typeface="Arial"/>
                  </a:rPr>
                  <a:t>{</a:t>
                </a:r>
                <a:endParaRPr lang="en-US" sz="1200" b="0" strike="noStrike" spc="-1">
                  <a:latin typeface="Arial"/>
                </a:endParaRPr>
              </a:p>
              <a:p>
                <a:pPr>
                  <a:lnSpc>
                    <a:spcPct val="100000"/>
                  </a:lnSpc>
                </a:pPr>
                <a:r>
                  <a:rPr lang="en-US" sz="1200" b="0" strike="noStrike" spc="-1">
                    <a:solidFill>
                      <a:srgbClr val="000000"/>
                    </a:solidFill>
                    <a:latin typeface="Arial"/>
                  </a:rPr>
                  <a:t>   </a:t>
                </a:r>
                <a:r>
                  <a:rPr lang="en-US" sz="1200" b="1" strike="noStrike" spc="-1">
                    <a:solidFill>
                      <a:srgbClr val="000000"/>
                    </a:solidFill>
                    <a:latin typeface="Arial"/>
                  </a:rPr>
                  <a:t>declararea variabilelor membru</a:t>
                </a:r>
                <a:endParaRPr lang="en-US" sz="1200" b="0" strike="noStrike" spc="-1">
                  <a:latin typeface="Arial"/>
                </a:endParaRPr>
              </a:p>
              <a:p>
                <a:pPr>
                  <a:lnSpc>
                    <a:spcPct val="100000"/>
                  </a:lnSpc>
                </a:pPr>
                <a:r>
                  <a:rPr lang="en-US" sz="1200" b="1" strike="noStrike" spc="-1">
                    <a:solidFill>
                      <a:srgbClr val="000000"/>
                    </a:solidFill>
                    <a:latin typeface="Arial"/>
                  </a:rPr>
                  <a:t>   ...</a:t>
                </a:r>
                <a:endParaRPr lang="en-US" sz="1200" b="0" strike="noStrike" spc="-1">
                  <a:latin typeface="Arial"/>
                </a:endParaRPr>
              </a:p>
              <a:p>
                <a:pPr>
                  <a:lnSpc>
                    <a:spcPct val="100000"/>
                  </a:lnSpc>
                </a:pPr>
                <a:r>
                  <a:rPr lang="en-US" sz="1200" b="0" strike="noStrike" spc="-1">
                    <a:solidFill>
                      <a:srgbClr val="000000"/>
                    </a:solidFill>
                    <a:latin typeface="Arial"/>
                  </a:rPr>
                  <a:t>   public void Metoda (</a:t>
                </a:r>
                <a:r>
                  <a:rPr lang="en-US" sz="1200" b="1" strike="noStrike" spc="-1">
                    <a:solidFill>
                      <a:srgbClr val="000000"/>
                    </a:solidFill>
                    <a:latin typeface="Arial"/>
                  </a:rPr>
                  <a:t>parametrii metodei</a:t>
                </a:r>
                <a:r>
                  <a:rPr lang="en-US" sz="1200" b="0" strike="noStrike" spc="-1">
                    <a:solidFill>
                      <a:srgbClr val="000000"/>
                    </a:solidFill>
                    <a:latin typeface="Arial"/>
                  </a:rPr>
                  <a:t>) </a:t>
                </a:r>
                <a:endParaRPr lang="en-US" sz="1200" b="0" strike="noStrike" spc="-1">
                  <a:latin typeface="Arial"/>
                </a:endParaRPr>
              </a:p>
              <a:p>
                <a:pPr>
                  <a:lnSpc>
                    <a:spcPct val="100000"/>
                  </a:lnSpc>
                </a:pPr>
                <a:endParaRPr lang="en-US" sz="1200" b="0" strike="noStrike" spc="-1">
                  <a:latin typeface="Arial"/>
                </a:endParaRPr>
              </a:p>
            </p:txBody>
          </p:sp>
          <p:sp>
            <p:nvSpPr>
              <p:cNvPr id="361" name="CustomShape 10"/>
              <p:cNvSpPr/>
              <p:nvPr/>
            </p:nvSpPr>
            <p:spPr>
              <a:xfrm>
                <a:off x="4783320" y="3164400"/>
                <a:ext cx="3199680" cy="2463840"/>
              </a:xfrm>
              <a:prstGeom prst="rect">
                <a:avLst/>
              </a:prstGeom>
              <a:solidFill>
                <a:srgbClr val="CCFFCC"/>
              </a:solidFill>
              <a:ln w="9360">
                <a:solidFill>
                  <a:srgbClr val="000000"/>
                </a:solidFill>
                <a:miter/>
              </a:ln>
            </p:spPr>
            <p:style>
              <a:lnRef idx="0">
                <a:scrgbClr r="0" g="0" b="0"/>
              </a:lnRef>
              <a:fillRef idx="0">
                <a:scrgbClr r="0" g="0" b="0"/>
              </a:fillRef>
              <a:effectRef idx="0">
                <a:scrgbClr r="0" g="0" b="0"/>
              </a:effectRef>
              <a:fontRef idx="minor"/>
            </p:style>
          </p:sp>
          <p:sp>
            <p:nvSpPr>
              <p:cNvPr id="362" name="CustomShape 11"/>
              <p:cNvSpPr/>
              <p:nvPr/>
            </p:nvSpPr>
            <p:spPr>
              <a:xfrm>
                <a:off x="4783320" y="3168000"/>
                <a:ext cx="2513880" cy="492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0" strike="noStrike" spc="-1">
                    <a:solidFill>
                      <a:srgbClr val="000000"/>
                    </a:solidFill>
                    <a:latin typeface="Arial"/>
                  </a:rPr>
                  <a:t>{</a:t>
                </a:r>
                <a:endParaRPr lang="en-US" sz="1200" b="0" strike="noStrike" spc="-1">
                  <a:latin typeface="Arial"/>
                </a:endParaRPr>
              </a:p>
            </p:txBody>
          </p:sp>
          <p:sp>
            <p:nvSpPr>
              <p:cNvPr id="363" name="CustomShape 12"/>
              <p:cNvSpPr/>
              <p:nvPr/>
            </p:nvSpPr>
            <p:spPr>
              <a:xfrm>
                <a:off x="4793040" y="5139000"/>
                <a:ext cx="2513880" cy="492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1" strike="noStrike" spc="-1">
                    <a:solidFill>
                      <a:srgbClr val="000000"/>
                    </a:solidFill>
                    <a:latin typeface="Arial"/>
                  </a:rPr>
                  <a:t>   …</a:t>
                </a:r>
                <a:endParaRPr lang="en-US" sz="1200" b="0" strike="noStrike" spc="-1">
                  <a:latin typeface="Arial"/>
                </a:endParaRPr>
              </a:p>
              <a:p>
                <a:pPr>
                  <a:lnSpc>
                    <a:spcPct val="100000"/>
                  </a:lnSpc>
                </a:pPr>
                <a:r>
                  <a:rPr lang="en-US" sz="1200" b="0" strike="noStrike" spc="-1">
                    <a:solidFill>
                      <a:srgbClr val="000000"/>
                    </a:solidFill>
                    <a:latin typeface="Arial"/>
                  </a:rPr>
                  <a:t>}</a:t>
                </a:r>
                <a:endParaRPr lang="en-US" sz="1200" b="0" strike="noStrike" spc="-1">
                  <a:latin typeface="Arial"/>
                </a:endParaRPr>
              </a:p>
            </p:txBody>
          </p:sp>
          <p:sp>
            <p:nvSpPr>
              <p:cNvPr id="364" name="CustomShape 13"/>
              <p:cNvSpPr/>
              <p:nvPr/>
            </p:nvSpPr>
            <p:spPr>
              <a:xfrm>
                <a:off x="4897800" y="3681360"/>
                <a:ext cx="3023280" cy="1454040"/>
              </a:xfrm>
              <a:prstGeom prst="rect">
                <a:avLst/>
              </a:prstGeom>
              <a:solidFill>
                <a:srgbClr val="FFFF99"/>
              </a:solidFill>
              <a:ln w="9360">
                <a:solidFill>
                  <a:srgbClr val="000000"/>
                </a:solidFill>
                <a:miter/>
              </a:ln>
            </p:spPr>
            <p:style>
              <a:lnRef idx="0">
                <a:scrgbClr r="0" g="0" b="0"/>
              </a:lnRef>
              <a:fillRef idx="0">
                <a:scrgbClr r="0" g="0" b="0"/>
              </a:fillRef>
              <a:effectRef idx="0">
                <a:scrgbClr r="0" g="0" b="0"/>
              </a:effectRef>
              <a:fontRef idx="minor"/>
            </p:style>
          </p:sp>
          <p:sp>
            <p:nvSpPr>
              <p:cNvPr id="365" name="CustomShape 14"/>
              <p:cNvSpPr/>
              <p:nvPr/>
            </p:nvSpPr>
            <p:spPr>
              <a:xfrm>
                <a:off x="4897800" y="3681360"/>
                <a:ext cx="3137400" cy="615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1" strike="noStrike" spc="-1">
                    <a:solidFill>
                      <a:srgbClr val="000000"/>
                    </a:solidFill>
                    <a:latin typeface="Arial"/>
                  </a:rPr>
                  <a:t>declararea variabilelor locale</a:t>
                </a:r>
                <a:endParaRPr lang="en-US" sz="1200" b="0" strike="noStrike" spc="-1">
                  <a:latin typeface="Arial"/>
                </a:endParaRPr>
              </a:p>
              <a:p>
                <a:pPr>
                  <a:lnSpc>
                    <a:spcPct val="100000"/>
                  </a:lnSpc>
                </a:pPr>
                <a:r>
                  <a:rPr lang="en-US" sz="1200" b="1" strike="noStrike" spc="-1">
                    <a:solidFill>
                      <a:srgbClr val="000000"/>
                    </a:solidFill>
                    <a:latin typeface="Arial"/>
                  </a:rPr>
                  <a:t>…</a:t>
                </a:r>
                <a:endParaRPr lang="en-US" sz="1200" b="0" strike="noStrike" spc="-1">
                  <a:latin typeface="Arial"/>
                </a:endParaRPr>
              </a:p>
              <a:p>
                <a:pPr>
                  <a:lnSpc>
                    <a:spcPct val="100000"/>
                  </a:lnSpc>
                </a:pPr>
                <a:r>
                  <a:rPr lang="en-US" sz="1200" b="0" strike="noStrike" spc="-1">
                    <a:solidFill>
                      <a:srgbClr val="000000"/>
                    </a:solidFill>
                    <a:latin typeface="Arial"/>
                  </a:rPr>
                  <a:t>catch (</a:t>
                </a:r>
                <a:r>
                  <a:rPr lang="en-US" sz="1200" b="1" strike="noStrike" spc="-1">
                    <a:solidFill>
                      <a:srgbClr val="000000"/>
                    </a:solidFill>
                    <a:latin typeface="Arial"/>
                  </a:rPr>
                  <a:t>parametrii de la tratarea excepţiilor</a:t>
                </a:r>
                <a:r>
                  <a:rPr lang="en-US" sz="1200" b="0" strike="noStrike" spc="-1">
                    <a:solidFill>
                      <a:srgbClr val="000000"/>
                    </a:solidFill>
                    <a:latin typeface="Arial"/>
                  </a:rPr>
                  <a:t>)</a:t>
                </a:r>
                <a:endParaRPr lang="en-US" sz="1200" b="0" strike="noStrike" spc="-1">
                  <a:latin typeface="Arial"/>
                </a:endParaRPr>
              </a:p>
            </p:txBody>
          </p:sp>
          <p:sp>
            <p:nvSpPr>
              <p:cNvPr id="366" name="CustomShape 15"/>
              <p:cNvSpPr/>
              <p:nvPr/>
            </p:nvSpPr>
            <p:spPr>
              <a:xfrm>
                <a:off x="5011920" y="4297320"/>
                <a:ext cx="2513880" cy="714960"/>
              </a:xfrm>
              <a:prstGeom prst="rect">
                <a:avLst/>
              </a:prstGeom>
              <a:solidFill>
                <a:srgbClr val="FFCC00"/>
              </a:solidFill>
              <a:ln w="9360">
                <a:solidFill>
                  <a:srgbClr val="000000"/>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0" strike="noStrike" spc="-1">
                    <a:solidFill>
                      <a:srgbClr val="000000"/>
                    </a:solidFill>
                    <a:latin typeface="Arial"/>
                  </a:rPr>
                  <a:t>{</a:t>
                </a:r>
                <a:endParaRPr lang="en-US" sz="1200" b="0" strike="noStrike" spc="-1">
                  <a:latin typeface="Arial"/>
                </a:endParaRPr>
              </a:p>
              <a:p>
                <a:pPr>
                  <a:lnSpc>
                    <a:spcPct val="100000"/>
                  </a:lnSpc>
                </a:pPr>
                <a:r>
                  <a:rPr lang="en-US" sz="1200" b="1" strike="noStrike" spc="-1">
                    <a:solidFill>
                      <a:srgbClr val="000000"/>
                    </a:solidFill>
                    <a:latin typeface="Arial"/>
                  </a:rPr>
                  <a:t>   …</a:t>
                </a:r>
                <a:endParaRPr lang="en-US" sz="1200" b="0" strike="noStrike" spc="-1">
                  <a:latin typeface="Arial"/>
                </a:endParaRPr>
              </a:p>
              <a:p>
                <a:pPr algn="just">
                  <a:lnSpc>
                    <a:spcPct val="100000"/>
                  </a:lnSpc>
                </a:pPr>
                <a:r>
                  <a:rPr lang="en-US" sz="1100" b="0" strike="noStrike" spc="-1">
                    <a:solidFill>
                      <a:srgbClr val="000000"/>
                    </a:solidFill>
                    <a:latin typeface="Times New Roman"/>
                  </a:rPr>
                  <a:t>}</a:t>
                </a:r>
                <a:endParaRPr lang="en-US" sz="1100" b="0" strike="noStrike" spc="-1">
                  <a:latin typeface="Arial"/>
                </a:endParaRPr>
              </a:p>
            </p:txBody>
          </p:sp>
          <p:sp>
            <p:nvSpPr>
              <p:cNvPr id="367" name="CustomShape 16"/>
              <p:cNvSpPr/>
              <p:nvPr/>
            </p:nvSpPr>
            <p:spPr>
              <a:xfrm>
                <a:off x="4669200" y="5601240"/>
                <a:ext cx="2513880" cy="492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1" strike="noStrike" spc="-1">
                    <a:solidFill>
                      <a:srgbClr val="000000"/>
                    </a:solidFill>
                    <a:latin typeface="Arial"/>
                  </a:rPr>
                  <a:t>   …</a:t>
                </a:r>
                <a:endParaRPr lang="en-US" sz="1200" b="0" strike="noStrike" spc="-1">
                  <a:latin typeface="Arial"/>
                </a:endParaRPr>
              </a:p>
              <a:p>
                <a:pPr>
                  <a:lnSpc>
                    <a:spcPct val="100000"/>
                  </a:lnSpc>
                </a:pPr>
                <a:r>
                  <a:rPr lang="en-US" sz="1200" b="0" strike="noStrike" spc="-1">
                    <a:solidFill>
                      <a:srgbClr val="000000"/>
                    </a:solidFill>
                    <a:latin typeface="Arial"/>
                  </a:rPr>
                  <a:t>}</a:t>
                </a:r>
                <a:endParaRPr lang="en-US" sz="1200" b="0" strike="noStrike" spc="-1">
                  <a:latin typeface="Arial"/>
                </a:endParaRPr>
              </a:p>
            </p:txBody>
          </p:sp>
        </p:grpSp>
        <p:sp>
          <p:nvSpPr>
            <p:cNvPr id="368" name="CustomShape 17"/>
            <p:cNvSpPr/>
            <p:nvPr/>
          </p:nvSpPr>
          <p:spPr>
            <a:xfrm>
              <a:off x="4648320" y="1905120"/>
              <a:ext cx="3428280" cy="369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0" strike="noStrike" spc="-1">
                  <a:solidFill>
                    <a:srgbClr val="000000"/>
                  </a:solidFill>
                  <a:latin typeface="Arial"/>
                </a:rPr>
                <a:t>public class Nume_Clasa</a:t>
              </a:r>
              <a:endParaRPr lang="en-US" sz="1200" b="0" strike="noStrike" spc="-1">
                <a:latin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FEE9075A-2E0A-455C-B24C-72C787ABE1E2}" type="slidenum">
              <a:rPr lang="en-US" sz="1400" b="0" strike="noStrike" spc="-1">
                <a:solidFill>
                  <a:srgbClr val="5E574E"/>
                </a:solidFill>
                <a:latin typeface="Arial"/>
              </a:rPr>
              <a:t>26</a:t>
            </a:fld>
            <a:endParaRPr lang="en-US" sz="1400" b="0" strike="noStrike" spc="-1">
              <a:latin typeface="Times New Roman"/>
            </a:endParaRPr>
          </a:p>
        </p:txBody>
      </p:sp>
      <p:sp>
        <p:nvSpPr>
          <p:cNvPr id="372"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73" name="TextShape 5"/>
          <p:cNvSpPr txBox="1"/>
          <p:nvPr/>
        </p:nvSpPr>
        <p:spPr>
          <a:xfrm>
            <a:off x="582445" y="1847880"/>
            <a:ext cx="8859600" cy="4838400"/>
          </a:xfrm>
          <a:prstGeom prst="rect">
            <a:avLst/>
          </a:prstGeom>
          <a:noFill/>
          <a:ln>
            <a:noFill/>
          </a:ln>
        </p:spPr>
        <p:txBody>
          <a:bodyPr>
            <a:noAutofit/>
          </a:bodyPr>
          <a:lstStyle/>
          <a:p>
            <a:pPr marL="990720" indent="-533160">
              <a:lnSpc>
                <a:spcPct val="80000"/>
              </a:lnSpc>
              <a:spcBef>
                <a:spcPts val="400"/>
              </a:spcBef>
            </a:pPr>
            <a:r>
              <a:rPr lang="en-US" sz="2000" b="1" strike="noStrike" spc="-1" dirty="0" err="1">
                <a:solidFill>
                  <a:srgbClr val="008000"/>
                </a:solidFill>
                <a:latin typeface="Tahoma"/>
              </a:rPr>
              <a:t>Tablouri</a:t>
            </a:r>
            <a:r>
              <a:rPr lang="en-US" sz="2000" b="1" strike="noStrike" spc="-1" dirty="0">
                <a:solidFill>
                  <a:srgbClr val="000000"/>
                </a:solidFill>
                <a:latin typeface="Tahoma"/>
              </a:rPr>
              <a:t> (</a:t>
            </a:r>
            <a:r>
              <a:rPr lang="en-US" sz="2000" b="1" strike="noStrike" spc="-1" dirty="0" err="1">
                <a:solidFill>
                  <a:srgbClr val="008000"/>
                </a:solidFill>
                <a:latin typeface="Tahoma"/>
              </a:rPr>
              <a:t>vectori</a:t>
            </a:r>
            <a:r>
              <a:rPr lang="en-US" sz="2000" b="1" strike="noStrike" spc="-1" dirty="0">
                <a:solidFill>
                  <a:srgbClr val="000000"/>
                </a:solidFill>
                <a:latin typeface="Tahoma"/>
              </a:rPr>
              <a:t>)</a:t>
            </a:r>
            <a:endParaRPr lang="en-US" sz="2000" b="0" strike="noStrike" spc="-1" dirty="0">
              <a:solidFill>
                <a:srgbClr val="000000"/>
              </a:solidFill>
              <a:latin typeface="Tahoma"/>
            </a:endParaRPr>
          </a:p>
          <a:p>
            <a:pPr marL="1371600" indent="-456840">
              <a:lnSpc>
                <a:spcPct val="80000"/>
              </a:lnSpc>
              <a:spcBef>
                <a:spcPts val="400"/>
              </a:spcBef>
            </a:pPr>
            <a:r>
              <a:rPr lang="en-US" sz="2000" b="1" strike="noStrike" spc="-1" dirty="0" err="1">
                <a:solidFill>
                  <a:srgbClr val="008000"/>
                </a:solidFill>
                <a:latin typeface="Tahoma"/>
              </a:rPr>
              <a:t>Tablouri</a:t>
            </a:r>
            <a:r>
              <a:rPr lang="en-US" sz="2000" b="1" strike="noStrike" spc="-1" dirty="0">
                <a:solidFill>
                  <a:srgbClr val="000000"/>
                </a:solidFill>
                <a:latin typeface="Tahoma"/>
              </a:rPr>
              <a:t> </a:t>
            </a:r>
            <a:r>
              <a:rPr lang="en-US" sz="2000" b="1" strike="noStrike" spc="-1" dirty="0" err="1">
                <a:solidFill>
                  <a:srgbClr val="008000"/>
                </a:solidFill>
                <a:latin typeface="Tahoma"/>
              </a:rPr>
              <a:t>unidimensionale</a:t>
            </a:r>
            <a:endParaRPr lang="en-US" sz="2000" b="0" strike="noStrike" spc="-1" dirty="0">
              <a:solidFill>
                <a:srgbClr val="000000"/>
              </a:solidFill>
              <a:latin typeface="Tahoma"/>
            </a:endParaRPr>
          </a:p>
          <a:p>
            <a:pPr marL="609480" indent="-609120">
              <a:lnSpc>
                <a:spcPct val="80000"/>
              </a:lnSpc>
              <a:spcBef>
                <a:spcPts val="561"/>
              </a:spcBef>
              <a:buClr>
                <a:srgbClr val="FFCC00"/>
              </a:buClr>
              <a:buFont typeface="Monotype Sorts" charset="2"/>
              <a:buChar char=""/>
            </a:pPr>
            <a:r>
              <a:rPr lang="en-US" sz="2400" b="1" strike="noStrike" spc="-1" dirty="0" err="1">
                <a:solidFill>
                  <a:srgbClr val="008000"/>
                </a:solidFill>
                <a:latin typeface="Tahoma"/>
              </a:rPr>
              <a:t>Declararea</a:t>
            </a:r>
            <a:r>
              <a:rPr lang="en-US" sz="2800" b="0" strike="noStrike" spc="-1" dirty="0">
                <a:solidFill>
                  <a:srgbClr val="000000"/>
                </a:solidFill>
                <a:latin typeface="Tahoma"/>
              </a:rPr>
              <a:t> </a:t>
            </a:r>
            <a:r>
              <a:rPr lang="en-US" sz="2800" b="0" strike="noStrike" spc="-1" dirty="0" err="1">
                <a:solidFill>
                  <a:srgbClr val="000000"/>
                </a:solidFill>
                <a:latin typeface="Tahoma"/>
              </a:rPr>
              <a:t>unui</a:t>
            </a:r>
            <a:r>
              <a:rPr lang="en-US" sz="2800" b="0" strike="noStrike" spc="-1" dirty="0">
                <a:solidFill>
                  <a:srgbClr val="000000"/>
                </a:solidFill>
                <a:latin typeface="Tahoma"/>
              </a:rPr>
              <a:t> </a:t>
            </a:r>
            <a:r>
              <a:rPr lang="en-US" sz="2800" b="0" strike="noStrike" spc="-1" dirty="0" err="1">
                <a:solidFill>
                  <a:srgbClr val="000000"/>
                </a:solidFill>
                <a:latin typeface="Tahoma"/>
              </a:rPr>
              <a:t>tablou</a:t>
            </a:r>
            <a:r>
              <a:rPr lang="en-US" sz="2800" b="0" strike="noStrike" spc="-1" dirty="0">
                <a:solidFill>
                  <a:srgbClr val="000000"/>
                </a:solidFill>
                <a:latin typeface="Tahoma"/>
              </a:rPr>
              <a:t> se face </a:t>
            </a:r>
            <a:r>
              <a:rPr lang="en-US" sz="2800" b="0" strike="noStrike" spc="-1" dirty="0" err="1">
                <a:solidFill>
                  <a:srgbClr val="000000"/>
                </a:solidFill>
                <a:latin typeface="Tahoma"/>
              </a:rPr>
              <a:t>prin</a:t>
            </a:r>
            <a:endParaRPr lang="en-US" sz="2800" b="0" strike="noStrike" spc="-1" dirty="0">
              <a:solidFill>
                <a:srgbClr val="000000"/>
              </a:solidFill>
              <a:latin typeface="Tahoma"/>
            </a:endParaRPr>
          </a:p>
          <a:p>
            <a:pPr marL="609480" indent="-609120">
              <a:lnSpc>
                <a:spcPct val="80000"/>
              </a:lnSpc>
              <a:spcBef>
                <a:spcPts val="561"/>
              </a:spcBef>
            </a:pPr>
            <a:r>
              <a:rPr lang="en-US" sz="2800" b="1" strike="noStrike" spc="-1" dirty="0">
                <a:solidFill>
                  <a:srgbClr val="000000"/>
                </a:solidFill>
                <a:latin typeface="Tahoma"/>
              </a:rPr>
              <a:t>		</a:t>
            </a:r>
            <a:r>
              <a:rPr lang="en-US" sz="1800" b="1" strike="noStrike" spc="-1" dirty="0" err="1">
                <a:solidFill>
                  <a:srgbClr val="000000"/>
                </a:solidFill>
                <a:latin typeface="Courier New"/>
              </a:rPr>
              <a:t>TipElement</a:t>
            </a:r>
            <a:r>
              <a:rPr lang="en-US" sz="1800" b="1" strike="noStrike" spc="-1" dirty="0">
                <a:solidFill>
                  <a:srgbClr val="000000"/>
                </a:solidFill>
                <a:latin typeface="Courier New"/>
              </a:rPr>
              <a:t>[] </a:t>
            </a:r>
            <a:r>
              <a:rPr lang="en-US" sz="1800" b="1" strike="noStrike" spc="-1" dirty="0" err="1">
                <a:solidFill>
                  <a:srgbClr val="000000"/>
                </a:solidFill>
                <a:latin typeface="Courier New"/>
              </a:rPr>
              <a:t>numeTablou</a:t>
            </a:r>
            <a:r>
              <a:rPr lang="en-US" sz="1800" b="1" strike="noStrike" spc="-1" dirty="0">
                <a:solidFill>
                  <a:srgbClr val="000000"/>
                </a:solidFill>
                <a:latin typeface="Courier New"/>
              </a:rPr>
              <a:t>;</a:t>
            </a:r>
            <a:r>
              <a:rPr lang="en-US" sz="2800" b="1" strike="noStrike" spc="-1" dirty="0">
                <a:solidFill>
                  <a:srgbClr val="000000"/>
                </a:solidFill>
                <a:latin typeface="Tahoma"/>
              </a:rPr>
              <a:t>  </a:t>
            </a:r>
            <a:r>
              <a:rPr lang="en-US" sz="2800" b="0" strike="noStrike" spc="-1" dirty="0" err="1">
                <a:solidFill>
                  <a:srgbClr val="000000"/>
                </a:solidFill>
                <a:latin typeface="Tahoma"/>
              </a:rPr>
              <a:t>sau</a:t>
            </a:r>
            <a:r>
              <a:rPr lang="en-US" sz="2800" b="1" strike="noStrike" spc="-1" dirty="0">
                <a:solidFill>
                  <a:srgbClr val="000000"/>
                </a:solidFill>
                <a:latin typeface="Tahoma"/>
              </a:rPr>
              <a:t> </a:t>
            </a:r>
            <a:endParaRPr lang="en-US" sz="2800" b="0" strike="noStrike" spc="-1" dirty="0">
              <a:solidFill>
                <a:srgbClr val="000000"/>
              </a:solidFill>
              <a:latin typeface="Tahoma"/>
            </a:endParaRPr>
          </a:p>
          <a:p>
            <a:pPr marL="609480" indent="-609120">
              <a:lnSpc>
                <a:spcPct val="80000"/>
              </a:lnSpc>
              <a:spcBef>
                <a:spcPts val="561"/>
              </a:spcBef>
            </a:pPr>
            <a:r>
              <a:rPr lang="en-US" sz="2800" b="1" strike="noStrike" spc="-1" dirty="0">
                <a:solidFill>
                  <a:srgbClr val="000000"/>
                </a:solidFill>
                <a:latin typeface="Tahoma"/>
              </a:rPr>
              <a:t>	 	</a:t>
            </a:r>
            <a:r>
              <a:rPr lang="en-US" sz="1800" b="1" strike="noStrike" spc="-1" dirty="0" err="1">
                <a:solidFill>
                  <a:srgbClr val="000000"/>
                </a:solidFill>
                <a:latin typeface="Courier New"/>
              </a:rPr>
              <a:t>TipElement</a:t>
            </a:r>
            <a:r>
              <a:rPr lang="en-US" sz="1800" b="1" strike="noStrike" spc="-1" dirty="0">
                <a:solidFill>
                  <a:srgbClr val="000000"/>
                </a:solidFill>
                <a:latin typeface="Courier New"/>
              </a:rPr>
              <a:t> </a:t>
            </a:r>
            <a:r>
              <a:rPr lang="en-US" sz="1800" b="1" strike="noStrike" spc="-1" dirty="0" err="1">
                <a:solidFill>
                  <a:srgbClr val="000000"/>
                </a:solidFill>
                <a:latin typeface="Courier New"/>
              </a:rPr>
              <a:t>numeTablou</a:t>
            </a:r>
            <a:r>
              <a:rPr lang="en-US" sz="1800" b="1" strike="noStrike" spc="-1" dirty="0">
                <a:solidFill>
                  <a:srgbClr val="000000"/>
                </a:solidFill>
                <a:latin typeface="Courier New"/>
              </a:rPr>
              <a:t>[];</a:t>
            </a:r>
            <a:r>
              <a:rPr lang="en-US" sz="2800" b="0" strike="noStrike" spc="-1" dirty="0">
                <a:solidFill>
                  <a:srgbClr val="000000"/>
                </a:solidFill>
                <a:latin typeface="Tahoma"/>
              </a:rPr>
              <a:t> </a:t>
            </a:r>
          </a:p>
          <a:p>
            <a:pPr marL="609480" indent="-609120">
              <a:lnSpc>
                <a:spcPct val="80000"/>
              </a:lnSpc>
              <a:spcBef>
                <a:spcPts val="561"/>
              </a:spcBef>
            </a:pPr>
            <a:endParaRPr lang="en-US" sz="2800" b="0" strike="noStrike" spc="-1" dirty="0">
              <a:solidFill>
                <a:srgbClr val="000000"/>
              </a:solidFill>
              <a:latin typeface="Tahoma"/>
            </a:endParaRPr>
          </a:p>
          <a:p>
            <a:pPr marL="609480" indent="-609120">
              <a:lnSpc>
                <a:spcPct val="80000"/>
              </a:lnSpc>
              <a:spcBef>
                <a:spcPts val="561"/>
              </a:spcBef>
            </a:pPr>
            <a:r>
              <a:rPr lang="en-US" sz="2800" b="0" strike="noStrike" spc="-1" dirty="0">
                <a:solidFill>
                  <a:srgbClr val="000000"/>
                </a:solidFill>
                <a:latin typeface="Tahoma"/>
              </a:rPr>
              <a:t>	</a:t>
            </a:r>
            <a:r>
              <a:rPr lang="en-US" sz="1800" b="0" strike="noStrike" spc="-1" dirty="0" err="1">
                <a:solidFill>
                  <a:srgbClr val="000000"/>
                </a:solidFill>
                <a:latin typeface="Tahoma"/>
              </a:rPr>
              <a:t>unde</a:t>
            </a:r>
            <a:r>
              <a:rPr lang="en-US" sz="1800" b="0" strike="noStrike" spc="-1" dirty="0">
                <a:solidFill>
                  <a:srgbClr val="000000"/>
                </a:solidFill>
                <a:latin typeface="Tahoma"/>
              </a:rPr>
              <a:t> </a:t>
            </a:r>
            <a:r>
              <a:rPr lang="en-US" sz="1800" b="1" strike="noStrike" spc="-1" dirty="0" err="1">
                <a:solidFill>
                  <a:srgbClr val="008000"/>
                </a:solidFill>
                <a:latin typeface="Tahoma"/>
              </a:rPr>
              <a:t>TipElement</a:t>
            </a:r>
            <a:r>
              <a:rPr lang="en-US" sz="1800" b="0" strike="noStrike" spc="-1" dirty="0">
                <a:solidFill>
                  <a:srgbClr val="000000"/>
                </a:solidFill>
                <a:latin typeface="Tahoma"/>
              </a:rPr>
              <a:t> </a:t>
            </a:r>
            <a:r>
              <a:rPr lang="en-US" sz="1800" b="0" strike="noStrike" spc="-1" dirty="0" err="1">
                <a:solidFill>
                  <a:srgbClr val="000000"/>
                </a:solidFill>
                <a:latin typeface="Tahoma"/>
              </a:rPr>
              <a:t>reprezintă</a:t>
            </a:r>
            <a:r>
              <a:rPr lang="en-US" sz="1800" b="0" strike="noStrike" spc="-1" dirty="0">
                <a:solidFill>
                  <a:srgbClr val="000000"/>
                </a:solidFill>
                <a:latin typeface="Tahoma"/>
              </a:rPr>
              <a:t> </a:t>
            </a:r>
            <a:r>
              <a:rPr lang="en-US" sz="1800" b="0" strike="noStrike" spc="-1" dirty="0" err="1">
                <a:solidFill>
                  <a:srgbClr val="000000"/>
                </a:solidFill>
                <a:latin typeface="Tahoma"/>
              </a:rPr>
              <a:t>tipul</a:t>
            </a:r>
            <a:r>
              <a:rPr lang="en-US" sz="1800" b="0" strike="noStrike" spc="-1" dirty="0">
                <a:solidFill>
                  <a:srgbClr val="000000"/>
                </a:solidFill>
                <a:latin typeface="Tahoma"/>
              </a:rPr>
              <a:t> </a:t>
            </a:r>
            <a:r>
              <a:rPr lang="en-US" sz="1800" b="0" strike="noStrike" spc="-1" dirty="0" err="1">
                <a:solidFill>
                  <a:srgbClr val="000000"/>
                </a:solidFill>
                <a:latin typeface="Tahoma"/>
              </a:rPr>
              <a:t>elementelor</a:t>
            </a:r>
            <a:r>
              <a:rPr lang="en-US" sz="1800" b="0" strike="noStrike" spc="-1" dirty="0">
                <a:solidFill>
                  <a:srgbClr val="000000"/>
                </a:solidFill>
                <a:latin typeface="Tahoma"/>
              </a:rPr>
              <a:t> </a:t>
            </a:r>
            <a:r>
              <a:rPr lang="en-US" sz="1800" b="0" strike="noStrike" spc="-1" dirty="0" err="1">
                <a:solidFill>
                  <a:srgbClr val="000000"/>
                </a:solidFill>
                <a:latin typeface="Tahoma"/>
              </a:rPr>
              <a:t>vectorului</a:t>
            </a:r>
            <a:r>
              <a:rPr lang="en-US" sz="1800" b="0" strike="noStrike" spc="-1" dirty="0">
                <a:solidFill>
                  <a:srgbClr val="000000"/>
                </a:solidFill>
                <a:latin typeface="Tahoma"/>
              </a:rPr>
              <a:t>, </a:t>
            </a:r>
            <a:r>
              <a:rPr lang="en-US" sz="1800" b="0" strike="noStrike" spc="-1" dirty="0" err="1">
                <a:solidFill>
                  <a:srgbClr val="000000"/>
                </a:solidFill>
                <a:latin typeface="Tahoma"/>
              </a:rPr>
              <a:t>iar</a:t>
            </a:r>
            <a:r>
              <a:rPr lang="en-US" sz="1800" b="0" strike="noStrike" spc="-1" dirty="0">
                <a:solidFill>
                  <a:srgbClr val="000000"/>
                </a:solidFill>
                <a:latin typeface="Tahoma"/>
              </a:rPr>
              <a:t> </a:t>
            </a:r>
            <a:r>
              <a:rPr lang="en-US" sz="1800" b="0" strike="noStrike" spc="-1" dirty="0" err="1">
                <a:solidFill>
                  <a:srgbClr val="000000"/>
                </a:solidFill>
                <a:latin typeface="Tahoma"/>
              </a:rPr>
              <a:t>parantezele</a:t>
            </a:r>
            <a:r>
              <a:rPr lang="en-US" sz="1800" b="0" strike="noStrike" spc="-1" dirty="0">
                <a:solidFill>
                  <a:srgbClr val="000000"/>
                </a:solidFill>
                <a:latin typeface="Tahoma"/>
              </a:rPr>
              <a:t> [] </a:t>
            </a:r>
            <a:r>
              <a:rPr lang="en-US" sz="1800" b="0" strike="noStrike" spc="-1" dirty="0" err="1">
                <a:solidFill>
                  <a:srgbClr val="000000"/>
                </a:solidFill>
                <a:latin typeface="Tahoma"/>
              </a:rPr>
              <a:t>aşezate</a:t>
            </a:r>
            <a:r>
              <a:rPr lang="en-US" sz="1800" b="0" strike="noStrike" spc="-1" dirty="0">
                <a:solidFill>
                  <a:srgbClr val="000000"/>
                </a:solidFill>
                <a:latin typeface="Tahoma"/>
              </a:rPr>
              <a:t> fie </a:t>
            </a:r>
            <a:r>
              <a:rPr lang="en-US" sz="1800" b="0" strike="noStrike" spc="-1" dirty="0" err="1">
                <a:solidFill>
                  <a:srgbClr val="000000"/>
                </a:solidFill>
                <a:latin typeface="Tahoma"/>
              </a:rPr>
              <a:t>înaintea</a:t>
            </a:r>
            <a:r>
              <a:rPr lang="en-US" sz="1800" b="0" strike="noStrike" spc="-1" dirty="0">
                <a:solidFill>
                  <a:srgbClr val="000000"/>
                </a:solidFill>
                <a:latin typeface="Tahoma"/>
              </a:rPr>
              <a:t> fie </a:t>
            </a:r>
            <a:r>
              <a:rPr lang="en-US" sz="1800" b="0" strike="noStrike" spc="-1" dirty="0" err="1">
                <a:solidFill>
                  <a:srgbClr val="000000"/>
                </a:solidFill>
                <a:latin typeface="Tahoma"/>
              </a:rPr>
              <a:t>după</a:t>
            </a:r>
            <a:r>
              <a:rPr lang="en-US" sz="1800" b="0" strike="noStrike" spc="-1" dirty="0">
                <a:solidFill>
                  <a:srgbClr val="000000"/>
                </a:solidFill>
                <a:latin typeface="Tahoma"/>
              </a:rPr>
              <a:t> </a:t>
            </a:r>
            <a:r>
              <a:rPr lang="en-US" sz="1800" b="0" strike="noStrike" spc="-1" dirty="0" err="1">
                <a:solidFill>
                  <a:srgbClr val="000000"/>
                </a:solidFill>
                <a:latin typeface="Tahoma"/>
              </a:rPr>
              <a:t>numele</a:t>
            </a:r>
            <a:r>
              <a:rPr lang="en-US" sz="1800" b="0" strike="noStrike" spc="-1" dirty="0">
                <a:solidFill>
                  <a:srgbClr val="000000"/>
                </a:solidFill>
                <a:latin typeface="Tahoma"/>
              </a:rPr>
              <a:t> </a:t>
            </a:r>
            <a:r>
              <a:rPr lang="en-US" sz="1800" b="0" strike="noStrike" spc="-1" dirty="0" err="1">
                <a:solidFill>
                  <a:srgbClr val="000000"/>
                </a:solidFill>
                <a:latin typeface="Tahoma"/>
              </a:rPr>
              <a:t>vectorului</a:t>
            </a:r>
            <a:r>
              <a:rPr lang="en-US" sz="1800" b="0" strike="noStrike" spc="-1" dirty="0">
                <a:solidFill>
                  <a:srgbClr val="000000"/>
                </a:solidFill>
                <a:latin typeface="Tahoma"/>
              </a:rPr>
              <a:t> </a:t>
            </a:r>
            <a:r>
              <a:rPr lang="en-US" sz="1800" b="0" strike="noStrike" spc="-1" dirty="0" err="1">
                <a:solidFill>
                  <a:srgbClr val="000000"/>
                </a:solidFill>
                <a:latin typeface="Tahoma"/>
              </a:rPr>
              <a:t>arată</a:t>
            </a:r>
            <a:r>
              <a:rPr lang="en-US" sz="1800" b="0" strike="noStrike" spc="-1" dirty="0">
                <a:solidFill>
                  <a:srgbClr val="000000"/>
                </a:solidFill>
                <a:latin typeface="Tahoma"/>
              </a:rPr>
              <a:t> </a:t>
            </a:r>
            <a:r>
              <a:rPr lang="en-US" sz="1800" b="0" strike="noStrike" spc="-1" dirty="0" err="1">
                <a:solidFill>
                  <a:srgbClr val="000000"/>
                </a:solidFill>
                <a:latin typeface="Tahoma"/>
              </a:rPr>
              <a:t>că</a:t>
            </a:r>
            <a:r>
              <a:rPr lang="en-US" sz="1800" b="0" strike="noStrike" spc="-1" dirty="0">
                <a:solidFill>
                  <a:srgbClr val="000000"/>
                </a:solidFill>
                <a:latin typeface="Tahoma"/>
              </a:rPr>
              <a:t> </a:t>
            </a:r>
            <a:r>
              <a:rPr lang="en-US" sz="1800" b="0" strike="noStrike" spc="-1" dirty="0" err="1">
                <a:solidFill>
                  <a:srgbClr val="000000"/>
                </a:solidFill>
                <a:latin typeface="Tahoma"/>
              </a:rPr>
              <a:t>este</a:t>
            </a:r>
            <a:r>
              <a:rPr lang="en-US" sz="1800" b="0" strike="noStrike" spc="-1" dirty="0">
                <a:solidFill>
                  <a:srgbClr val="000000"/>
                </a:solidFill>
                <a:latin typeface="Tahoma"/>
              </a:rPr>
              <a:t> </a:t>
            </a:r>
            <a:r>
              <a:rPr lang="en-US" sz="1800" b="0" strike="noStrike" spc="-1" dirty="0" err="1">
                <a:solidFill>
                  <a:srgbClr val="000000"/>
                </a:solidFill>
                <a:latin typeface="Tahoma"/>
              </a:rPr>
              <a:t>vorba</a:t>
            </a:r>
            <a:r>
              <a:rPr lang="en-US" sz="1800" b="0" strike="noStrike" spc="-1" dirty="0">
                <a:solidFill>
                  <a:srgbClr val="000000"/>
                </a:solidFill>
                <a:latin typeface="Tahoma"/>
              </a:rPr>
              <a:t> </a:t>
            </a:r>
            <a:r>
              <a:rPr lang="en-US" sz="1800" b="0" strike="noStrike" spc="-1" dirty="0" err="1">
                <a:solidFill>
                  <a:srgbClr val="000000"/>
                </a:solidFill>
                <a:latin typeface="Tahoma"/>
              </a:rPr>
              <a:t>despre</a:t>
            </a:r>
            <a:r>
              <a:rPr lang="en-US" sz="1800" b="0" strike="noStrike" spc="-1" dirty="0">
                <a:solidFill>
                  <a:srgbClr val="000000"/>
                </a:solidFill>
                <a:latin typeface="Tahoma"/>
              </a:rPr>
              <a:t> un vector.</a:t>
            </a:r>
          </a:p>
          <a:p>
            <a:pPr marL="609480" indent="-609120">
              <a:lnSpc>
                <a:spcPct val="80000"/>
              </a:lnSpc>
              <a:spcBef>
                <a:spcPts val="360"/>
              </a:spcBef>
            </a:pPr>
            <a:endParaRPr lang="en-US" sz="1800" b="0" strike="noStrike" spc="-1" dirty="0">
              <a:solidFill>
                <a:srgbClr val="000000"/>
              </a:solidFill>
              <a:latin typeface="Tahoma"/>
            </a:endParaRPr>
          </a:p>
          <a:p>
            <a:pPr marL="609480" indent="-609120">
              <a:lnSpc>
                <a:spcPct val="80000"/>
              </a:lnSpc>
              <a:spcBef>
                <a:spcPts val="561"/>
              </a:spcBef>
              <a:buClr>
                <a:srgbClr val="FFCC00"/>
              </a:buClr>
              <a:buFont typeface="Monotype Sorts" charset="2"/>
              <a:buChar char=""/>
            </a:pPr>
            <a:r>
              <a:rPr lang="en-US" sz="2800" b="0" i="1" strike="noStrike" spc="-1" dirty="0" err="1">
                <a:solidFill>
                  <a:srgbClr val="008000"/>
                </a:solidFill>
                <a:latin typeface="Tahoma"/>
              </a:rPr>
              <a:t>Exemple</a:t>
            </a:r>
            <a:r>
              <a:rPr lang="en-US" sz="2800" b="0" i="1" strike="noStrike" spc="-1" dirty="0">
                <a:solidFill>
                  <a:srgbClr val="000000"/>
                </a:solidFill>
                <a:latin typeface="Tahoma"/>
              </a:rPr>
              <a:t>:</a:t>
            </a:r>
            <a:r>
              <a:rPr lang="en-US" sz="2800" b="0" strike="noStrike" spc="-1" dirty="0">
                <a:solidFill>
                  <a:srgbClr val="000000"/>
                </a:solidFill>
                <a:latin typeface="Tahoma"/>
              </a:rPr>
              <a:t> 	</a:t>
            </a:r>
          </a:p>
          <a:p>
            <a:pPr marL="609480" indent="-609120">
              <a:lnSpc>
                <a:spcPct val="80000"/>
              </a:lnSpc>
              <a:spcBef>
                <a:spcPts val="561"/>
              </a:spcBef>
            </a:pPr>
            <a:r>
              <a:rPr lang="en-US" sz="2800" b="0" strike="noStrike" spc="-1" dirty="0">
                <a:solidFill>
                  <a:srgbClr val="000000"/>
                </a:solidFill>
                <a:latin typeface="Tahoma"/>
              </a:rPr>
              <a:t>		</a:t>
            </a:r>
            <a:r>
              <a:rPr lang="en-US" sz="1800" b="1" strike="noStrike" spc="-1" dirty="0" err="1">
                <a:solidFill>
                  <a:srgbClr val="000000"/>
                </a:solidFill>
                <a:latin typeface="Courier New"/>
              </a:rPr>
              <a:t>int</a:t>
            </a:r>
            <a:r>
              <a:rPr lang="en-US" sz="1800" b="1" strike="noStrike" spc="-1" dirty="0">
                <a:solidFill>
                  <a:srgbClr val="000000"/>
                </a:solidFill>
                <a:latin typeface="Courier New"/>
              </a:rPr>
              <a:t>[] v;</a:t>
            </a:r>
            <a:endParaRPr lang="en-US" sz="1800" b="0" strike="noStrike" spc="-1" dirty="0">
              <a:solidFill>
                <a:srgbClr val="000000"/>
              </a:solidFill>
              <a:latin typeface="Tahoma"/>
            </a:endParaRPr>
          </a:p>
          <a:p>
            <a:pPr marL="609480" indent="-609120">
              <a:lnSpc>
                <a:spcPct val="80000"/>
              </a:lnSpc>
              <a:spcBef>
                <a:spcPts val="360"/>
              </a:spcBef>
            </a:pPr>
            <a:r>
              <a:rPr lang="en-US" sz="1800" b="1" strike="noStrike" spc="-1" dirty="0">
                <a:solidFill>
                  <a:srgbClr val="000000"/>
                </a:solidFill>
                <a:latin typeface="Courier New"/>
              </a:rPr>
              <a:t>		String </a:t>
            </a:r>
            <a:r>
              <a:rPr lang="en-US" sz="1800" b="1" strike="noStrike" spc="-1" dirty="0" err="1">
                <a:solidFill>
                  <a:srgbClr val="000000"/>
                </a:solidFill>
                <a:latin typeface="Courier New"/>
              </a:rPr>
              <a:t>adrese</a:t>
            </a:r>
            <a:r>
              <a:rPr lang="en-US" sz="1800" b="1" strike="noStrike" spc="-1" dirty="0">
                <a:solidFill>
                  <a:srgbClr val="000000"/>
                </a:solidFill>
                <a:latin typeface="Courier New"/>
              </a:rPr>
              <a:t>[];</a:t>
            </a:r>
            <a:endParaRPr lang="en-US" sz="18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C4BA07AD-6264-4E7B-9E77-A96CFD825600}" type="slidenum">
              <a:rPr lang="en-US" sz="1400" b="0" strike="noStrike" spc="-1">
                <a:solidFill>
                  <a:srgbClr val="5E574E"/>
                </a:solidFill>
                <a:latin typeface="Arial"/>
              </a:rPr>
              <a:t>27</a:t>
            </a:fld>
            <a:endParaRPr lang="en-US" sz="1400" b="0" strike="noStrike" spc="-1">
              <a:latin typeface="Times New Roman"/>
            </a:endParaRPr>
          </a:p>
        </p:txBody>
      </p:sp>
      <p:sp>
        <p:nvSpPr>
          <p:cNvPr id="377" name="TextShape 4"/>
          <p:cNvSpPr txBox="1"/>
          <p:nvPr/>
        </p:nvSpPr>
        <p:spPr>
          <a:xfrm>
            <a:off x="439560" y="228600"/>
            <a:ext cx="8419680" cy="114264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78" name="TextShape 5"/>
          <p:cNvSpPr txBox="1"/>
          <p:nvPr/>
        </p:nvSpPr>
        <p:spPr>
          <a:xfrm>
            <a:off x="495360" y="1886040"/>
            <a:ext cx="8859600" cy="4171680"/>
          </a:xfrm>
          <a:prstGeom prst="rect">
            <a:avLst/>
          </a:prstGeom>
          <a:noFill/>
          <a:ln>
            <a:noFill/>
          </a:ln>
        </p:spPr>
        <p:txBody>
          <a:bodyPr>
            <a:noAutofit/>
          </a:bodyPr>
          <a:lstStyle/>
          <a:p>
            <a:pPr marL="343080" indent="-342720">
              <a:lnSpc>
                <a:spcPct val="80000"/>
              </a:lnSpc>
              <a:spcBef>
                <a:spcPts val="400"/>
              </a:spcBef>
              <a:buClr>
                <a:srgbClr val="FFCC00"/>
              </a:buClr>
              <a:buFont typeface="Monotype Sorts" charset="2"/>
              <a:buChar char=""/>
            </a:pPr>
            <a:r>
              <a:rPr lang="en-US" sz="2000" b="1" strike="noStrike" spc="-1" dirty="0" err="1">
                <a:solidFill>
                  <a:srgbClr val="008000"/>
                </a:solidFill>
                <a:latin typeface="Tahoma"/>
              </a:rPr>
              <a:t>Instanţierea</a:t>
            </a:r>
            <a:r>
              <a:rPr lang="en-US" sz="2000" b="0" strike="noStrike" spc="-1" dirty="0">
                <a:solidFill>
                  <a:srgbClr val="000000"/>
                </a:solidFill>
                <a:latin typeface="Tahoma"/>
              </a:rPr>
              <a:t> </a:t>
            </a:r>
            <a:r>
              <a:rPr lang="en-US" sz="2000" b="0" strike="noStrike" spc="-1" dirty="0" err="1">
                <a:solidFill>
                  <a:srgbClr val="000000"/>
                </a:solidFill>
                <a:latin typeface="Tahoma"/>
              </a:rPr>
              <a:t>unui</a:t>
            </a:r>
            <a:r>
              <a:rPr lang="en-US" sz="2000" b="0" strike="noStrike" spc="-1" dirty="0">
                <a:solidFill>
                  <a:srgbClr val="000000"/>
                </a:solidFill>
                <a:latin typeface="Tahoma"/>
              </a:rPr>
              <a:t> vector se </a:t>
            </a:r>
            <a:r>
              <a:rPr lang="en-US" sz="2000" b="0" strike="noStrike" spc="-1" dirty="0" err="1">
                <a:solidFill>
                  <a:srgbClr val="000000"/>
                </a:solidFill>
                <a:latin typeface="Tahoma"/>
              </a:rPr>
              <a:t>realizează</a:t>
            </a:r>
            <a:r>
              <a:rPr lang="en-US" sz="2000" b="0" strike="noStrike" spc="-1" dirty="0">
                <a:solidFill>
                  <a:srgbClr val="000000"/>
                </a:solidFill>
                <a:latin typeface="Tahoma"/>
              </a:rPr>
              <a:t> cu </a:t>
            </a:r>
            <a:r>
              <a:rPr lang="en-US" sz="2000" b="0" strike="noStrike" spc="-1" dirty="0" err="1">
                <a:solidFill>
                  <a:srgbClr val="000000"/>
                </a:solidFill>
                <a:latin typeface="Tahoma"/>
              </a:rPr>
              <a:t>operatorul</a:t>
            </a:r>
            <a:r>
              <a:rPr lang="en-US" sz="2000" b="0" strike="noStrike" spc="-1" dirty="0">
                <a:solidFill>
                  <a:srgbClr val="000000"/>
                </a:solidFill>
                <a:latin typeface="Tahoma"/>
              </a:rPr>
              <a:t> </a:t>
            </a:r>
            <a:r>
              <a:rPr lang="en-US" sz="2000" b="1" strike="noStrike" spc="-1" dirty="0">
                <a:solidFill>
                  <a:srgbClr val="008000"/>
                </a:solidFill>
                <a:latin typeface="Tahoma"/>
              </a:rPr>
              <a:t>new</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are ca </a:t>
            </a:r>
            <a:r>
              <a:rPr lang="en-US" sz="2000" b="0" strike="noStrike" spc="-1" dirty="0" err="1">
                <a:solidFill>
                  <a:srgbClr val="000000"/>
                </a:solidFill>
                <a:latin typeface="Tahoma"/>
              </a:rPr>
              <a:t>efect</a:t>
            </a:r>
            <a:r>
              <a:rPr lang="en-US" sz="2000" b="0" strike="noStrike" spc="-1" dirty="0">
                <a:solidFill>
                  <a:srgbClr val="000000"/>
                </a:solidFill>
                <a:latin typeface="Tahoma"/>
              </a:rPr>
              <a:t> </a:t>
            </a:r>
            <a:r>
              <a:rPr lang="en-US" sz="2000" b="0" strike="noStrike" spc="-1" dirty="0" err="1">
                <a:solidFill>
                  <a:srgbClr val="000000"/>
                </a:solidFill>
                <a:latin typeface="Tahoma"/>
              </a:rPr>
              <a:t>alocarea</a:t>
            </a:r>
            <a:r>
              <a:rPr lang="en-US" sz="2000" b="0" strike="noStrike" spc="-1" dirty="0">
                <a:solidFill>
                  <a:srgbClr val="000000"/>
                </a:solidFill>
                <a:latin typeface="Tahoma"/>
              </a:rPr>
              <a:t> </a:t>
            </a:r>
            <a:r>
              <a:rPr lang="en-US" sz="2000" b="0" strike="noStrike" spc="-1" dirty="0" err="1">
                <a:solidFill>
                  <a:srgbClr val="000000"/>
                </a:solidFill>
                <a:latin typeface="Tahoma"/>
              </a:rPr>
              <a:t>memoriei</a:t>
            </a:r>
            <a:r>
              <a:rPr lang="en-US" sz="2000" b="0" strike="noStrike" spc="-1" dirty="0">
                <a:solidFill>
                  <a:srgbClr val="000000"/>
                </a:solidFill>
                <a:latin typeface="Tahoma"/>
              </a:rPr>
              <a:t> </a:t>
            </a:r>
            <a:r>
              <a:rPr lang="en-US" sz="2000" b="0" strike="noStrike" spc="-1" dirty="0" err="1">
                <a:solidFill>
                  <a:srgbClr val="000000"/>
                </a:solidFill>
                <a:latin typeface="Tahoma"/>
              </a:rPr>
              <a:t>necesare</a:t>
            </a:r>
            <a:r>
              <a:rPr lang="en-US" sz="2000" b="0" strike="noStrike" spc="-1" dirty="0">
                <a:solidFill>
                  <a:srgbClr val="000000"/>
                </a:solidFill>
                <a:latin typeface="Tahoma"/>
              </a:rPr>
              <a:t> </a:t>
            </a:r>
            <a:r>
              <a:rPr lang="en-US" sz="2000" b="0" strike="noStrike" spc="-1" dirty="0" err="1">
                <a:solidFill>
                  <a:srgbClr val="000000"/>
                </a:solidFill>
                <a:latin typeface="Tahoma"/>
              </a:rPr>
              <a:t>pentru</a:t>
            </a:r>
            <a:r>
              <a:rPr lang="en-US" sz="2000" b="0" strike="noStrike" spc="-1" dirty="0">
                <a:solidFill>
                  <a:srgbClr val="000000"/>
                </a:solidFill>
                <a:latin typeface="Tahoma"/>
              </a:rPr>
              <a:t> </a:t>
            </a:r>
            <a:r>
              <a:rPr lang="en-US" sz="2000" b="0" strike="noStrike" spc="-1" dirty="0" err="1">
                <a:solidFill>
                  <a:srgbClr val="000000"/>
                </a:solidFill>
                <a:latin typeface="Tahoma"/>
              </a:rPr>
              <a:t>memorarea</a:t>
            </a:r>
            <a:r>
              <a:rPr lang="en-US" sz="2000" b="0" strike="noStrike" spc="-1" dirty="0">
                <a:solidFill>
                  <a:srgbClr val="000000"/>
                </a:solidFill>
                <a:latin typeface="Tahoma"/>
              </a:rPr>
              <a:t> </a:t>
            </a:r>
            <a:r>
              <a:rPr lang="en-US" sz="2000" b="0" strike="noStrike" spc="-1" dirty="0" err="1">
                <a:solidFill>
                  <a:srgbClr val="000000"/>
                </a:solidFill>
                <a:latin typeface="Tahoma"/>
              </a:rPr>
              <a:t>elementelor</a:t>
            </a:r>
            <a:r>
              <a:rPr lang="en-US" sz="2000" b="0" strike="noStrike" spc="-1" dirty="0">
                <a:solidFill>
                  <a:srgbClr val="000000"/>
                </a:solidFill>
                <a:latin typeface="Tahoma"/>
              </a:rPr>
              <a:t> </a:t>
            </a:r>
            <a:r>
              <a:rPr lang="en-US" sz="2000" b="0" strike="noStrike" spc="-1" dirty="0" err="1">
                <a:solidFill>
                  <a:srgbClr val="000000"/>
                </a:solidFill>
                <a:latin typeface="Tahoma"/>
              </a:rPr>
              <a:t>vectorului</a:t>
            </a:r>
            <a:r>
              <a:rPr lang="en-US" sz="2000" b="0" strike="noStrike" spc="-1" dirty="0">
                <a:solidFill>
                  <a:srgbClr val="000000"/>
                </a:solidFill>
                <a:latin typeface="Tahoma"/>
              </a:rPr>
              <a:t>, </a:t>
            </a:r>
            <a:r>
              <a:rPr lang="en-US" sz="2000" b="0" strike="noStrike" spc="-1" dirty="0" err="1">
                <a:solidFill>
                  <a:srgbClr val="000000"/>
                </a:solidFill>
                <a:latin typeface="Tahoma"/>
              </a:rPr>
              <a:t>mai</a:t>
            </a:r>
            <a:r>
              <a:rPr lang="en-US" sz="2000" b="0" strike="noStrike" spc="-1" dirty="0">
                <a:solidFill>
                  <a:srgbClr val="000000"/>
                </a:solidFill>
                <a:latin typeface="Tahoma"/>
              </a:rPr>
              <a:t> precis </a:t>
            </a:r>
            <a:r>
              <a:rPr lang="en-US" sz="2000" b="0" strike="noStrike" spc="-1" dirty="0" err="1">
                <a:solidFill>
                  <a:srgbClr val="000000"/>
                </a:solidFill>
                <a:latin typeface="Tahoma"/>
              </a:rPr>
              <a:t>specificarea</a:t>
            </a:r>
            <a:r>
              <a:rPr lang="en-US" sz="2000" b="0" strike="noStrike" spc="-1" dirty="0">
                <a:solidFill>
                  <a:srgbClr val="000000"/>
                </a:solidFill>
                <a:latin typeface="Tahoma"/>
              </a:rPr>
              <a:t> </a:t>
            </a:r>
            <a:r>
              <a:rPr lang="en-US" sz="2000" b="0" strike="noStrike" spc="-1" dirty="0" err="1">
                <a:solidFill>
                  <a:srgbClr val="000000"/>
                </a:solidFill>
                <a:latin typeface="Tahoma"/>
              </a:rPr>
              <a:t>numărului</a:t>
            </a:r>
            <a:r>
              <a:rPr lang="en-US" sz="2000" b="0" strike="noStrike" spc="-1" dirty="0">
                <a:solidFill>
                  <a:srgbClr val="000000"/>
                </a:solidFill>
                <a:latin typeface="Tahoma"/>
              </a:rPr>
              <a:t> maxim de </a:t>
            </a:r>
            <a:r>
              <a:rPr lang="en-US" sz="2000" b="0" strike="noStrike" spc="-1" dirty="0" err="1">
                <a:solidFill>
                  <a:srgbClr val="000000"/>
                </a:solidFill>
                <a:latin typeface="Tahoma"/>
              </a:rPr>
              <a:t>elemente</a:t>
            </a:r>
            <a:r>
              <a:rPr lang="en-US" sz="2000" b="0" strike="noStrike" spc="-1" dirty="0">
                <a:solidFill>
                  <a:srgbClr val="000000"/>
                </a:solidFill>
                <a:latin typeface="Tahoma"/>
              </a:rPr>
              <a:t> </a:t>
            </a:r>
            <a:r>
              <a:rPr lang="en-US" sz="2000" b="0" strike="noStrike" spc="-1" dirty="0" err="1">
                <a:solidFill>
                  <a:srgbClr val="000000"/>
                </a:solidFill>
                <a:latin typeface="Tahoma"/>
              </a:rPr>
              <a:t>pe</a:t>
            </a:r>
            <a:r>
              <a:rPr lang="en-US" sz="2000" b="0" strike="noStrike" spc="-1" dirty="0">
                <a:solidFill>
                  <a:srgbClr val="000000"/>
                </a:solidFill>
                <a:latin typeface="Tahoma"/>
              </a:rPr>
              <a:t> care </a:t>
            </a:r>
            <a:r>
              <a:rPr lang="en-US" sz="2000" b="0" strike="noStrike" spc="-1" dirty="0" err="1">
                <a:solidFill>
                  <a:srgbClr val="000000"/>
                </a:solidFill>
                <a:latin typeface="Tahoma"/>
              </a:rPr>
              <a:t>îl</a:t>
            </a:r>
            <a:r>
              <a:rPr lang="en-US" sz="2000" b="0" strike="noStrike" spc="-1" dirty="0">
                <a:solidFill>
                  <a:srgbClr val="000000"/>
                </a:solidFill>
                <a:latin typeface="Tahoma"/>
              </a:rPr>
              <a:t> </a:t>
            </a:r>
            <a:r>
              <a:rPr lang="en-US" sz="2000" b="0" strike="noStrike" spc="-1" dirty="0" err="1">
                <a:solidFill>
                  <a:srgbClr val="000000"/>
                </a:solidFill>
                <a:latin typeface="Tahoma"/>
              </a:rPr>
              <a:t>va</a:t>
            </a:r>
            <a:r>
              <a:rPr lang="en-US" sz="2000" b="0" strike="noStrike" spc="-1" dirty="0">
                <a:solidFill>
                  <a:srgbClr val="000000"/>
                </a:solidFill>
                <a:latin typeface="Tahoma"/>
              </a:rPr>
              <a:t> </a:t>
            </a:r>
            <a:r>
              <a:rPr lang="en-US" sz="2000" b="0" strike="noStrike" spc="-1" dirty="0" err="1">
                <a:solidFill>
                  <a:srgbClr val="000000"/>
                </a:solidFill>
                <a:latin typeface="Tahoma"/>
              </a:rPr>
              <a:t>avea</a:t>
            </a:r>
            <a:r>
              <a:rPr lang="en-US" sz="2000" b="0" strike="noStrike" spc="-1" dirty="0">
                <a:solidFill>
                  <a:srgbClr val="000000"/>
                </a:solidFill>
                <a:latin typeface="Tahoma"/>
              </a:rPr>
              <a:t> </a:t>
            </a:r>
            <a:r>
              <a:rPr lang="en-US" sz="2000" b="0" strike="noStrike" spc="-1" dirty="0" err="1">
                <a:solidFill>
                  <a:srgbClr val="000000"/>
                </a:solidFill>
                <a:latin typeface="Tahoma"/>
              </a:rPr>
              <a:t>vectorul</a:t>
            </a:r>
            <a:r>
              <a:rPr lang="en-US" sz="2000" b="0" strike="noStrike" spc="-1" dirty="0">
                <a:solidFill>
                  <a:srgbClr val="000000"/>
                </a:solidFill>
                <a:latin typeface="Tahoma"/>
              </a:rPr>
              <a:t>. </a:t>
            </a:r>
            <a:r>
              <a:rPr lang="en-US" sz="2000" b="0" strike="noStrike" spc="-1" dirty="0" err="1">
                <a:solidFill>
                  <a:srgbClr val="000000"/>
                </a:solidFill>
                <a:latin typeface="Tahoma"/>
              </a:rPr>
              <a:t>Instanţierea</a:t>
            </a:r>
            <a:r>
              <a:rPr lang="en-US" sz="2000" b="0" strike="noStrike" spc="-1" dirty="0">
                <a:solidFill>
                  <a:srgbClr val="000000"/>
                </a:solidFill>
                <a:latin typeface="Tahoma"/>
              </a:rPr>
              <a:t> </a:t>
            </a:r>
            <a:r>
              <a:rPr lang="en-US" sz="2000" b="0" strike="noStrike" spc="-1" dirty="0" err="1">
                <a:solidFill>
                  <a:srgbClr val="000000"/>
                </a:solidFill>
                <a:latin typeface="Tahoma"/>
              </a:rPr>
              <a:t>unui</a:t>
            </a:r>
            <a:r>
              <a:rPr lang="en-US" sz="2000" b="0" strike="noStrike" spc="-1" dirty="0">
                <a:solidFill>
                  <a:srgbClr val="000000"/>
                </a:solidFill>
                <a:latin typeface="Tahoma"/>
              </a:rPr>
              <a:t> vector se face </a:t>
            </a:r>
            <a:r>
              <a:rPr lang="en-US" sz="2000" b="0" strike="noStrike" spc="-1" dirty="0" err="1">
                <a:solidFill>
                  <a:srgbClr val="000000"/>
                </a:solidFill>
                <a:latin typeface="Tahoma"/>
              </a:rPr>
              <a:t>astfel</a:t>
            </a:r>
            <a:r>
              <a:rPr lang="en-US" sz="2000" b="0" strike="noStrike" spc="-1" dirty="0">
                <a:solidFill>
                  <a:srgbClr val="000000"/>
                </a:solidFill>
                <a:latin typeface="Tahoma"/>
              </a:rPr>
              <a:t>:</a:t>
            </a:r>
          </a:p>
          <a:p>
            <a:pPr marL="343080" indent="-342720">
              <a:lnSpc>
                <a:spcPct val="80000"/>
              </a:lnSpc>
              <a:spcBef>
                <a:spcPts val="400"/>
              </a:spcBef>
            </a:pPr>
            <a:r>
              <a:rPr lang="en-US" sz="2000" b="1" strike="noStrike" spc="-1" dirty="0">
                <a:solidFill>
                  <a:srgbClr val="000000"/>
                </a:solidFill>
                <a:latin typeface="Tahoma"/>
              </a:rPr>
              <a:t>	</a:t>
            </a:r>
            <a:r>
              <a:rPr lang="en-US" sz="1600" b="1" strike="noStrike" spc="-1" dirty="0" err="1">
                <a:solidFill>
                  <a:srgbClr val="000000"/>
                </a:solidFill>
                <a:latin typeface="Courier New"/>
              </a:rPr>
              <a:t>numeVector</a:t>
            </a:r>
            <a:r>
              <a:rPr lang="en-US" sz="1600" b="1" strike="noStrike" spc="-1" dirty="0">
                <a:solidFill>
                  <a:srgbClr val="000000"/>
                </a:solidFill>
                <a:latin typeface="Courier New"/>
              </a:rPr>
              <a:t> = new </a:t>
            </a:r>
            <a:r>
              <a:rPr lang="en-US" sz="1600" b="1" strike="noStrike" spc="-1" dirty="0" err="1">
                <a:solidFill>
                  <a:srgbClr val="000000"/>
                </a:solidFill>
                <a:latin typeface="Courier New"/>
              </a:rPr>
              <a:t>TipElement</a:t>
            </a:r>
            <a:r>
              <a:rPr lang="en-US" sz="1600" b="1" strike="noStrike" spc="-1" dirty="0">
                <a:solidFill>
                  <a:srgbClr val="000000"/>
                </a:solidFill>
                <a:latin typeface="Courier New"/>
              </a:rPr>
              <a:t>[</a:t>
            </a:r>
            <a:r>
              <a:rPr lang="en-US" sz="1600" b="1" strike="noStrike" spc="-1" dirty="0" err="1">
                <a:solidFill>
                  <a:srgbClr val="000000"/>
                </a:solidFill>
                <a:latin typeface="Courier New"/>
              </a:rPr>
              <a:t>dimensiune</a:t>
            </a:r>
            <a:r>
              <a:rPr lang="en-US" sz="1600" b="1" strike="noStrike" spc="-1" dirty="0">
                <a:solidFill>
                  <a:srgbClr val="000000"/>
                </a:solidFill>
                <a:latin typeface="Courier New"/>
              </a:rPr>
              <a:t>];</a:t>
            </a:r>
            <a:endParaRPr lang="en-US" sz="1600" b="0" strike="noStrike" spc="-1" dirty="0">
              <a:solidFill>
                <a:srgbClr val="000000"/>
              </a:solidFill>
              <a:latin typeface="Tahoma"/>
            </a:endParaRPr>
          </a:p>
          <a:p>
            <a:pPr marL="343080" indent="-342720">
              <a:lnSpc>
                <a:spcPct val="80000"/>
              </a:lnSpc>
              <a:spcBef>
                <a:spcPts val="320"/>
              </a:spcBef>
            </a:pPr>
            <a:endParaRPr lang="en-US" sz="16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i="1" strike="noStrike" spc="-1" dirty="0" err="1">
                <a:solidFill>
                  <a:srgbClr val="008000"/>
                </a:solidFill>
                <a:latin typeface="Tahoma"/>
              </a:rPr>
              <a:t>Exemple</a:t>
            </a:r>
            <a:r>
              <a:rPr lang="en-US" sz="2000" b="0" i="1" strike="noStrike" spc="-1" dirty="0">
                <a:solidFill>
                  <a:srgbClr val="000000"/>
                </a:solidFill>
                <a:latin typeface="Tahoma"/>
              </a:rPr>
              <a:t>:</a:t>
            </a:r>
            <a:r>
              <a:rPr lang="en-US" sz="2000" b="0" strike="noStrike" spc="-1" dirty="0">
                <a:solidFill>
                  <a:srgbClr val="000000"/>
                </a:solidFill>
                <a:latin typeface="Tahoma"/>
              </a:rPr>
              <a:t> 	</a:t>
            </a:r>
          </a:p>
          <a:p>
            <a:pPr marL="343080" indent="-342720">
              <a:lnSpc>
                <a:spcPct val="80000"/>
              </a:lnSpc>
              <a:spcBef>
                <a:spcPts val="400"/>
              </a:spcBef>
            </a:pPr>
            <a:r>
              <a:rPr lang="en-US" sz="2000" b="0" strike="noStrike" spc="-1" dirty="0">
                <a:solidFill>
                  <a:srgbClr val="000000"/>
                </a:solidFill>
                <a:latin typeface="Tahoma"/>
              </a:rPr>
              <a:t>	</a:t>
            </a:r>
            <a:r>
              <a:rPr lang="en-US" sz="1600" b="1" strike="noStrike" spc="-1" dirty="0">
                <a:solidFill>
                  <a:srgbClr val="000000"/>
                </a:solidFill>
                <a:latin typeface="Courier New"/>
              </a:rPr>
              <a:t>v = new </a:t>
            </a:r>
            <a:r>
              <a:rPr lang="en-US" sz="1600" b="1" strike="noStrike" spc="-1" dirty="0" err="1">
                <a:solidFill>
                  <a:srgbClr val="000000"/>
                </a:solidFill>
                <a:latin typeface="Courier New"/>
              </a:rPr>
              <a:t>int</a:t>
            </a:r>
            <a:r>
              <a:rPr lang="en-US" sz="1600" b="1" strike="noStrike" spc="-1" dirty="0">
                <a:solidFill>
                  <a:srgbClr val="000000"/>
                </a:solidFill>
                <a:latin typeface="Courier New"/>
              </a:rPr>
              <a:t>[10];</a:t>
            </a:r>
            <a:r>
              <a:rPr lang="en-US" sz="1600" b="0" strike="noStrike" spc="-1" dirty="0">
                <a:solidFill>
                  <a:srgbClr val="000000"/>
                </a:solidFill>
                <a:latin typeface="Courier New"/>
              </a:rPr>
              <a:t>	      //se </a:t>
            </a:r>
            <a:r>
              <a:rPr lang="en-US" sz="1600" b="0" strike="noStrike" spc="-1" dirty="0" err="1">
                <a:solidFill>
                  <a:srgbClr val="000000"/>
                </a:solidFill>
                <a:latin typeface="Courier New"/>
              </a:rPr>
              <a:t>alocă</a:t>
            </a:r>
            <a:r>
              <a:rPr lang="en-US" sz="1600" b="0" strike="noStrike" spc="-1" dirty="0">
                <a:solidFill>
                  <a:srgbClr val="000000"/>
                </a:solidFill>
                <a:latin typeface="Courier New"/>
              </a:rPr>
              <a:t> </a:t>
            </a:r>
            <a:r>
              <a:rPr lang="en-US" sz="1600" b="0" strike="noStrike" spc="-1" dirty="0" err="1">
                <a:solidFill>
                  <a:srgbClr val="000000"/>
                </a:solidFill>
                <a:latin typeface="Courier New"/>
              </a:rPr>
              <a:t>spaţiu</a:t>
            </a:r>
            <a:r>
              <a:rPr lang="en-US" sz="1600" b="0" strike="noStrike" spc="-1" dirty="0">
                <a:solidFill>
                  <a:srgbClr val="000000"/>
                </a:solidFill>
                <a:latin typeface="Courier New"/>
              </a:rPr>
              <a:t> </a:t>
            </a:r>
            <a:r>
              <a:rPr lang="en-US" sz="1600" b="0" strike="noStrike" spc="-1" dirty="0" err="1">
                <a:solidFill>
                  <a:srgbClr val="000000"/>
                </a:solidFill>
                <a:latin typeface="Courier New"/>
              </a:rPr>
              <a:t>pentru</a:t>
            </a:r>
            <a:r>
              <a:rPr lang="en-US" sz="1600" b="0" strike="noStrike" spc="-1" dirty="0">
                <a:solidFill>
                  <a:srgbClr val="000000"/>
                </a:solidFill>
                <a:latin typeface="Courier New"/>
              </a:rPr>
              <a:t> 10 </a:t>
            </a:r>
            <a:r>
              <a:rPr lang="en-US" sz="1600" b="0" strike="noStrike" spc="-1" dirty="0" err="1">
                <a:solidFill>
                  <a:srgbClr val="000000"/>
                </a:solidFill>
                <a:latin typeface="Courier New"/>
              </a:rPr>
              <a:t>întregi</a:t>
            </a:r>
            <a:endParaRPr lang="en-US" sz="1600" b="0" strike="noStrike" spc="-1" dirty="0">
              <a:solidFill>
                <a:srgbClr val="000000"/>
              </a:solidFill>
              <a:latin typeface="Tahoma"/>
            </a:endParaRPr>
          </a:p>
          <a:p>
            <a:pPr marL="343080" indent="-342720">
              <a:lnSpc>
                <a:spcPct val="80000"/>
              </a:lnSpc>
              <a:spcBef>
                <a:spcPts val="320"/>
              </a:spcBef>
            </a:pPr>
            <a:r>
              <a:rPr lang="en-US" sz="1600" b="0" strike="noStrike" spc="-1" dirty="0">
                <a:solidFill>
                  <a:srgbClr val="000000"/>
                </a:solidFill>
                <a:latin typeface="Courier New"/>
              </a:rPr>
              <a:t>	</a:t>
            </a:r>
            <a:r>
              <a:rPr lang="en-US" sz="1600" b="1" strike="noStrike" spc="-1" dirty="0" err="1">
                <a:solidFill>
                  <a:srgbClr val="000000"/>
                </a:solidFill>
                <a:latin typeface="Courier New"/>
              </a:rPr>
              <a:t>adrese</a:t>
            </a:r>
            <a:r>
              <a:rPr lang="en-US" sz="1600" b="1" strike="noStrike" spc="-1" dirty="0">
                <a:solidFill>
                  <a:srgbClr val="000000"/>
                </a:solidFill>
                <a:latin typeface="Courier New"/>
              </a:rPr>
              <a:t> = new String[100];</a:t>
            </a:r>
            <a:r>
              <a:rPr lang="en-US" sz="1600" b="0" strike="noStrike" spc="-1" dirty="0">
                <a:solidFill>
                  <a:srgbClr val="000000"/>
                </a:solidFill>
                <a:latin typeface="Courier New"/>
              </a:rPr>
              <a:t> //se </a:t>
            </a:r>
            <a:r>
              <a:rPr lang="en-US" sz="1600" b="0" strike="noStrike" spc="-1" dirty="0" err="1">
                <a:solidFill>
                  <a:srgbClr val="000000"/>
                </a:solidFill>
                <a:latin typeface="Courier New"/>
              </a:rPr>
              <a:t>alocă</a:t>
            </a:r>
            <a:r>
              <a:rPr lang="en-US" sz="1600" b="0" strike="noStrike" spc="-1" dirty="0">
                <a:solidFill>
                  <a:srgbClr val="000000"/>
                </a:solidFill>
                <a:latin typeface="Courier New"/>
              </a:rPr>
              <a:t> </a:t>
            </a:r>
            <a:r>
              <a:rPr lang="en-US" sz="1600" b="0" strike="noStrike" spc="-1" dirty="0" err="1">
                <a:solidFill>
                  <a:srgbClr val="000000"/>
                </a:solidFill>
                <a:latin typeface="Courier New"/>
              </a:rPr>
              <a:t>spaţiu</a:t>
            </a:r>
            <a:r>
              <a:rPr lang="en-US" sz="1600" b="0" strike="noStrike" spc="-1" dirty="0">
                <a:solidFill>
                  <a:srgbClr val="000000"/>
                </a:solidFill>
                <a:latin typeface="Courier New"/>
              </a:rPr>
              <a:t> </a:t>
            </a:r>
            <a:r>
              <a:rPr lang="en-US" sz="1600" b="0" strike="noStrike" spc="-1" dirty="0" err="1">
                <a:solidFill>
                  <a:srgbClr val="000000"/>
                </a:solidFill>
                <a:latin typeface="Courier New"/>
              </a:rPr>
              <a:t>pentru</a:t>
            </a:r>
            <a:r>
              <a:rPr lang="en-US" sz="1600" b="0" strike="noStrike" spc="-1" dirty="0">
                <a:solidFill>
                  <a:srgbClr val="000000"/>
                </a:solidFill>
                <a:latin typeface="Courier New"/>
              </a:rPr>
              <a:t> 100 de String-</a:t>
            </a:r>
            <a:r>
              <a:rPr lang="en-US" sz="1600" b="0" strike="noStrike" spc="-1" dirty="0" err="1">
                <a:solidFill>
                  <a:srgbClr val="000000"/>
                </a:solidFill>
                <a:latin typeface="Courier New"/>
              </a:rPr>
              <a:t>uri</a:t>
            </a:r>
            <a:endParaRPr lang="en-US" sz="1600" b="0" strike="noStrike" spc="-1" dirty="0">
              <a:solidFill>
                <a:srgbClr val="000000"/>
              </a:solidFill>
              <a:latin typeface="Tahoma"/>
            </a:endParaRPr>
          </a:p>
          <a:p>
            <a:pPr marL="343080" indent="-342720">
              <a:lnSpc>
                <a:spcPct val="80000"/>
              </a:lnSpc>
              <a:spcBef>
                <a:spcPts val="320"/>
              </a:spcBef>
            </a:pPr>
            <a:endParaRPr lang="en-US" sz="16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Declararea</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a:t>
            </a:r>
            <a:r>
              <a:rPr lang="en-US" sz="2000" b="0" strike="noStrike" spc="-1" dirty="0" err="1">
                <a:solidFill>
                  <a:srgbClr val="000000"/>
                </a:solidFill>
                <a:latin typeface="Tahoma"/>
              </a:rPr>
              <a:t>instanţierea</a:t>
            </a:r>
            <a:r>
              <a:rPr lang="en-US" sz="2000" b="0" strike="noStrike" spc="-1" dirty="0">
                <a:solidFill>
                  <a:srgbClr val="000000"/>
                </a:solidFill>
                <a:latin typeface="Tahoma"/>
              </a:rPr>
              <a:t> </a:t>
            </a:r>
            <a:r>
              <a:rPr lang="en-US" sz="2000" b="0" strike="noStrike" spc="-1" dirty="0" err="1">
                <a:solidFill>
                  <a:srgbClr val="000000"/>
                </a:solidFill>
                <a:latin typeface="Tahoma"/>
              </a:rPr>
              <a:t>unui</a:t>
            </a:r>
            <a:r>
              <a:rPr lang="en-US" sz="2000" b="0" strike="noStrike" spc="-1" dirty="0">
                <a:solidFill>
                  <a:srgbClr val="000000"/>
                </a:solidFill>
                <a:latin typeface="Tahoma"/>
              </a:rPr>
              <a:t> vector pot fi </a:t>
            </a:r>
            <a:r>
              <a:rPr lang="en-US" sz="2000" b="0" strike="noStrike" spc="-1" dirty="0" err="1">
                <a:solidFill>
                  <a:srgbClr val="000000"/>
                </a:solidFill>
                <a:latin typeface="Tahoma"/>
              </a:rPr>
              <a:t>făcute</a:t>
            </a:r>
            <a:r>
              <a:rPr lang="en-US" sz="2000" b="0" strike="noStrike" spc="-1" dirty="0">
                <a:solidFill>
                  <a:srgbClr val="000000"/>
                </a:solidFill>
                <a:latin typeface="Tahoma"/>
              </a:rPr>
              <a:t> </a:t>
            </a:r>
            <a:r>
              <a:rPr lang="en-US" sz="2000" b="0" strike="noStrike" spc="-1" dirty="0" err="1">
                <a:solidFill>
                  <a:srgbClr val="000000"/>
                </a:solidFill>
                <a:latin typeface="Tahoma"/>
              </a:rPr>
              <a:t>simultan</a:t>
            </a:r>
            <a:r>
              <a:rPr lang="en-US" sz="2000" b="0" strike="noStrike" spc="-1" dirty="0">
                <a:solidFill>
                  <a:srgbClr val="000000"/>
                </a:solidFill>
                <a:latin typeface="Tahoma"/>
              </a:rPr>
              <a:t> </a:t>
            </a:r>
            <a:r>
              <a:rPr lang="en-US" sz="2000" b="0" strike="noStrike" spc="-1" dirty="0" err="1">
                <a:solidFill>
                  <a:srgbClr val="000000"/>
                </a:solidFill>
                <a:latin typeface="Tahoma"/>
              </a:rPr>
              <a:t>astfel</a:t>
            </a:r>
            <a:r>
              <a:rPr lang="en-US" sz="2000" b="0" strike="noStrike" spc="-1" dirty="0">
                <a:solidFill>
                  <a:srgbClr val="000000"/>
                </a:solidFill>
                <a:latin typeface="Tahoma"/>
              </a:rPr>
              <a:t>: </a:t>
            </a:r>
          </a:p>
          <a:p>
            <a:pPr marL="343080" indent="-342720">
              <a:lnSpc>
                <a:spcPct val="80000"/>
              </a:lnSpc>
              <a:spcBef>
                <a:spcPts val="400"/>
              </a:spcBef>
            </a:pPr>
            <a:r>
              <a:rPr lang="en-US" sz="2000" b="1" strike="noStrike" spc="-1" dirty="0">
                <a:solidFill>
                  <a:srgbClr val="000000"/>
                </a:solidFill>
                <a:latin typeface="Tahoma"/>
              </a:rPr>
              <a:t>	</a:t>
            </a:r>
            <a:r>
              <a:rPr lang="en-US" sz="1600" b="1" strike="noStrike" spc="-1" dirty="0" err="1">
                <a:solidFill>
                  <a:srgbClr val="000000"/>
                </a:solidFill>
                <a:latin typeface="Courier New"/>
              </a:rPr>
              <a:t>TipElement</a:t>
            </a:r>
            <a:r>
              <a:rPr lang="en-US" sz="1600" b="1" strike="noStrike" spc="-1" dirty="0">
                <a:solidFill>
                  <a:srgbClr val="000000"/>
                </a:solidFill>
                <a:latin typeface="Courier New"/>
              </a:rPr>
              <a:t>[] </a:t>
            </a:r>
            <a:r>
              <a:rPr lang="en-US" sz="1600" b="1" strike="noStrike" spc="-1" dirty="0" err="1">
                <a:solidFill>
                  <a:srgbClr val="000000"/>
                </a:solidFill>
                <a:latin typeface="Courier New"/>
              </a:rPr>
              <a:t>numeVector</a:t>
            </a:r>
            <a:r>
              <a:rPr lang="en-US" sz="1600" b="1" strike="noStrike" spc="-1" dirty="0">
                <a:solidFill>
                  <a:srgbClr val="000000"/>
                </a:solidFill>
                <a:latin typeface="Courier New"/>
              </a:rPr>
              <a:t> = new </a:t>
            </a:r>
            <a:r>
              <a:rPr lang="en-US" sz="1600" b="1" strike="noStrike" spc="-1" dirty="0" err="1">
                <a:solidFill>
                  <a:srgbClr val="000000"/>
                </a:solidFill>
                <a:latin typeface="Courier New"/>
              </a:rPr>
              <a:t>TipElement</a:t>
            </a:r>
            <a:r>
              <a:rPr lang="en-US" sz="1600" b="1" strike="noStrike" spc="-1" dirty="0">
                <a:solidFill>
                  <a:srgbClr val="000000"/>
                </a:solidFill>
                <a:latin typeface="Courier New"/>
              </a:rPr>
              <a:t>[</a:t>
            </a:r>
            <a:r>
              <a:rPr lang="en-US" sz="1600" b="1" strike="noStrike" spc="-1" dirty="0" err="1">
                <a:solidFill>
                  <a:srgbClr val="000000"/>
                </a:solidFill>
                <a:latin typeface="Courier New"/>
              </a:rPr>
              <a:t>dimensiune</a:t>
            </a:r>
            <a:r>
              <a:rPr lang="en-US" sz="1600" b="1" strike="noStrike" spc="-1" dirty="0">
                <a:solidFill>
                  <a:srgbClr val="000000"/>
                </a:solidFill>
                <a:latin typeface="Courier New"/>
              </a:rPr>
              <a:t>];</a:t>
            </a:r>
            <a:endParaRPr lang="en-US" sz="16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i="1" strike="noStrike" spc="-1" dirty="0" err="1">
                <a:solidFill>
                  <a:srgbClr val="008000"/>
                </a:solidFill>
                <a:latin typeface="Tahoma"/>
              </a:rPr>
              <a:t>Exemple</a:t>
            </a:r>
            <a:r>
              <a:rPr lang="en-US" sz="2000" b="0" strike="noStrike" spc="-1" dirty="0">
                <a:solidFill>
                  <a:srgbClr val="000000"/>
                </a:solidFill>
                <a:latin typeface="Tahoma"/>
              </a:rPr>
              <a:t>:</a:t>
            </a:r>
          </a:p>
          <a:p>
            <a:pPr marL="343080" indent="-342720">
              <a:lnSpc>
                <a:spcPct val="80000"/>
              </a:lnSpc>
              <a:spcBef>
                <a:spcPts val="400"/>
              </a:spcBef>
            </a:pPr>
            <a:r>
              <a:rPr lang="en-US" sz="2000" b="0" strike="noStrike" spc="-1" dirty="0">
                <a:solidFill>
                  <a:srgbClr val="000000"/>
                </a:solidFill>
                <a:latin typeface="Tahoma"/>
              </a:rPr>
              <a:t>	</a:t>
            </a:r>
            <a:r>
              <a:rPr lang="en-US" sz="1600" b="1" strike="noStrike" spc="-1" dirty="0" err="1">
                <a:solidFill>
                  <a:srgbClr val="000000"/>
                </a:solidFill>
                <a:latin typeface="Courier New"/>
              </a:rPr>
              <a:t>int</a:t>
            </a:r>
            <a:r>
              <a:rPr lang="en-US" sz="1600" b="1" strike="noStrike" spc="-1" dirty="0">
                <a:solidFill>
                  <a:srgbClr val="000000"/>
                </a:solidFill>
                <a:latin typeface="Courier New"/>
              </a:rPr>
              <a:t> [] v = new </a:t>
            </a:r>
            <a:r>
              <a:rPr lang="en-US" sz="1600" b="1" strike="noStrike" spc="-1" dirty="0" err="1">
                <a:solidFill>
                  <a:srgbClr val="000000"/>
                </a:solidFill>
                <a:latin typeface="Courier New"/>
              </a:rPr>
              <a:t>int</a:t>
            </a:r>
            <a:r>
              <a:rPr lang="en-US" sz="1600" b="1" strike="noStrike" spc="-1" dirty="0">
                <a:solidFill>
                  <a:srgbClr val="000000"/>
                </a:solidFill>
                <a:latin typeface="Courier New"/>
              </a:rPr>
              <a:t>[10];	// </a:t>
            </a:r>
            <a:r>
              <a:rPr lang="en-US" sz="1600" b="1" strike="noStrike" spc="-1" dirty="0" err="1">
                <a:solidFill>
                  <a:srgbClr val="000000"/>
                </a:solidFill>
                <a:latin typeface="Courier New"/>
              </a:rPr>
              <a:t>asta</a:t>
            </a:r>
            <a:r>
              <a:rPr lang="en-US" sz="1600" b="1" strike="noStrike" spc="-1" dirty="0">
                <a:solidFill>
                  <a:srgbClr val="000000"/>
                </a:solidFill>
                <a:latin typeface="Courier New"/>
              </a:rPr>
              <a:t> </a:t>
            </a:r>
            <a:r>
              <a:rPr lang="en-US" sz="1600" b="1" strike="noStrike" spc="-1" dirty="0" err="1">
                <a:solidFill>
                  <a:srgbClr val="000000"/>
                </a:solidFill>
                <a:latin typeface="Courier New"/>
              </a:rPr>
              <a:t>va</a:t>
            </a:r>
            <a:r>
              <a:rPr lang="en-US" sz="1600" b="1" strike="noStrike" spc="-1" dirty="0">
                <a:solidFill>
                  <a:srgbClr val="000000"/>
                </a:solidFill>
                <a:latin typeface="Courier New"/>
              </a:rPr>
              <a:t> </a:t>
            </a:r>
            <a:r>
              <a:rPr lang="en-US" sz="1600" b="1" strike="noStrike" spc="-1" dirty="0" err="1">
                <a:solidFill>
                  <a:srgbClr val="000000"/>
                </a:solidFill>
                <a:latin typeface="Courier New"/>
              </a:rPr>
              <a:t>recomand</a:t>
            </a:r>
            <a:endParaRPr lang="en-US" sz="16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6E402B85-4D4B-4046-B6A3-D7B08E0AF417}" type="slidenum">
              <a:rPr lang="en-US" sz="1400" b="0" strike="noStrike" spc="-1">
                <a:solidFill>
                  <a:srgbClr val="5E574E"/>
                </a:solidFill>
                <a:latin typeface="Arial"/>
              </a:rPr>
              <a:t>28</a:t>
            </a:fld>
            <a:endParaRPr lang="en-US" sz="1400" b="0" strike="noStrike" spc="-1">
              <a:latin typeface="Times New Roman"/>
            </a:endParaRPr>
          </a:p>
        </p:txBody>
      </p:sp>
      <p:sp>
        <p:nvSpPr>
          <p:cNvPr id="382" name="TextShape 4"/>
          <p:cNvSpPr txBox="1"/>
          <p:nvPr/>
        </p:nvSpPr>
        <p:spPr>
          <a:xfrm>
            <a:off x="439560" y="228600"/>
            <a:ext cx="8419680" cy="114264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83" name="TextShape 5"/>
          <p:cNvSpPr txBox="1"/>
          <p:nvPr/>
        </p:nvSpPr>
        <p:spPr>
          <a:xfrm>
            <a:off x="495360" y="1886040"/>
            <a:ext cx="8859600" cy="4171680"/>
          </a:xfrm>
          <a:prstGeom prst="rect">
            <a:avLst/>
          </a:prstGeom>
          <a:noFill/>
          <a:ln>
            <a:noFill/>
          </a:ln>
        </p:spPr>
        <p:txBody>
          <a:bodyPr>
            <a:noAutofit/>
          </a:bodyPr>
          <a:lstStyle/>
          <a:p>
            <a:pPr marL="343080" indent="-342720">
              <a:lnSpc>
                <a:spcPct val="80000"/>
              </a:lnSpc>
              <a:spcBef>
                <a:spcPts val="320"/>
              </a:spcBef>
              <a:buClr>
                <a:srgbClr val="FFCC00"/>
              </a:buClr>
              <a:buFont typeface="Monotype Sorts" charset="2"/>
              <a:buChar char=""/>
            </a:pPr>
            <a:r>
              <a:rPr lang="en-US" sz="1600" b="0" strike="noStrike" spc="-1">
                <a:solidFill>
                  <a:srgbClr val="000000"/>
                </a:solidFill>
                <a:latin typeface="Tahoma"/>
              </a:rPr>
              <a:t>După </a:t>
            </a:r>
            <a:r>
              <a:rPr lang="en-US" sz="1600" b="1" strike="noStrike" spc="-1">
                <a:solidFill>
                  <a:srgbClr val="008000"/>
                </a:solidFill>
                <a:latin typeface="Tahoma"/>
              </a:rPr>
              <a:t>declararea</a:t>
            </a:r>
            <a:r>
              <a:rPr lang="en-US" sz="1600" b="0" strike="noStrike" spc="-1">
                <a:solidFill>
                  <a:srgbClr val="000000"/>
                </a:solidFill>
                <a:latin typeface="Tahoma"/>
              </a:rPr>
              <a:t> unui vector, acesta poate fi </a:t>
            </a:r>
            <a:r>
              <a:rPr lang="en-US" sz="1600" b="1" strike="noStrike" spc="-1">
                <a:solidFill>
                  <a:srgbClr val="008000"/>
                </a:solidFill>
                <a:latin typeface="Tahoma"/>
              </a:rPr>
              <a:t>iniţializat</a:t>
            </a:r>
            <a:r>
              <a:rPr lang="en-US" sz="1600" b="0" strike="noStrike" spc="-1">
                <a:solidFill>
                  <a:srgbClr val="000000"/>
                </a:solidFill>
                <a:latin typeface="Tahoma"/>
              </a:rPr>
              <a:t>, adică elementele sale pot primi valori. În acest caz </a:t>
            </a:r>
            <a:r>
              <a:rPr lang="en-US" sz="1600" b="1" strike="noStrike" spc="-1">
                <a:solidFill>
                  <a:srgbClr val="008000"/>
                </a:solidFill>
                <a:latin typeface="Tahoma"/>
              </a:rPr>
              <a:t>instanţierea lipseşte</a:t>
            </a:r>
            <a:r>
              <a:rPr lang="en-US" sz="1600" b="0" strike="noStrike" spc="-1">
                <a:solidFill>
                  <a:srgbClr val="000000"/>
                </a:solidFill>
                <a:latin typeface="Tahoma"/>
              </a:rPr>
              <a:t>, alocarea memoriei făcându-se automat în funcţie de numărul de elemente cu care se iniţializează vectorul. </a:t>
            </a:r>
          </a:p>
          <a:p>
            <a:pPr marL="343080" indent="-342720">
              <a:lnSpc>
                <a:spcPct val="80000"/>
              </a:lnSpc>
              <a:spcBef>
                <a:spcPts val="320"/>
              </a:spcBef>
              <a:buClr>
                <a:srgbClr val="FFCC00"/>
              </a:buClr>
              <a:buFont typeface="Monotype Sorts" charset="2"/>
              <a:buChar char=""/>
            </a:pPr>
            <a:r>
              <a:rPr lang="en-US" sz="1600" b="1" i="1" strike="noStrike" spc="-1">
                <a:solidFill>
                  <a:srgbClr val="008000"/>
                </a:solidFill>
                <a:latin typeface="Tahoma"/>
              </a:rPr>
              <a:t>Exemple</a:t>
            </a:r>
            <a:r>
              <a:rPr lang="en-US" sz="1600" b="0" i="1" strike="noStrike" spc="-1">
                <a:solidFill>
                  <a:srgbClr val="000000"/>
                </a:solidFill>
                <a:latin typeface="Tahoma"/>
              </a:rPr>
              <a:t>:</a:t>
            </a:r>
            <a:endParaRPr lang="en-US" sz="1600" b="0" strike="noStrike" spc="-1">
              <a:solidFill>
                <a:srgbClr val="000000"/>
              </a:solidFill>
              <a:latin typeface="Tahoma"/>
            </a:endParaRPr>
          </a:p>
          <a:p>
            <a:pPr marL="343080" indent="-342720">
              <a:lnSpc>
                <a:spcPct val="80000"/>
              </a:lnSpc>
              <a:spcBef>
                <a:spcPts val="320"/>
              </a:spcBef>
            </a:pPr>
            <a:r>
              <a:rPr lang="en-US" sz="1600" b="0" strike="noStrike" spc="-1">
                <a:solidFill>
                  <a:srgbClr val="000000"/>
                </a:solidFill>
                <a:latin typeface="Tahoma"/>
              </a:rPr>
              <a:t>		String culori[] = {"Rosu", "Galben", "Verde"};</a:t>
            </a:r>
          </a:p>
          <a:p>
            <a:pPr marL="343080" indent="-342720">
              <a:lnSpc>
                <a:spcPct val="80000"/>
              </a:lnSpc>
              <a:spcBef>
                <a:spcPts val="320"/>
              </a:spcBef>
            </a:pPr>
            <a:r>
              <a:rPr lang="en-US" sz="1600" b="0" strike="noStrike" spc="-1">
                <a:solidFill>
                  <a:srgbClr val="000000"/>
                </a:solidFill>
                <a:latin typeface="Tahoma"/>
              </a:rPr>
              <a:t>		int []v = {2, 4, 6, 8, 10, 12};</a:t>
            </a:r>
          </a:p>
          <a:p>
            <a:pPr marL="343080" indent="-342720">
              <a:lnSpc>
                <a:spcPct val="80000"/>
              </a:lnSpc>
              <a:spcBef>
                <a:spcPts val="320"/>
              </a:spcBef>
              <a:buClr>
                <a:srgbClr val="FFCC00"/>
              </a:buClr>
              <a:buFont typeface="Monotype Sorts" charset="2"/>
              <a:buChar char=""/>
            </a:pPr>
            <a:r>
              <a:rPr lang="en-US" sz="1600" b="0" i="1" strike="noStrike" spc="-1">
                <a:solidFill>
                  <a:srgbClr val="000000"/>
                </a:solidFill>
                <a:latin typeface="Tahoma"/>
              </a:rPr>
              <a:t>Observaţii:</a:t>
            </a:r>
            <a:r>
              <a:rPr lang="en-US" sz="1600" b="0" strike="noStrike" spc="-1">
                <a:solidFill>
                  <a:srgbClr val="000000"/>
                </a:solidFill>
                <a:latin typeface="Tahoma"/>
              </a:rPr>
              <a:t> </a:t>
            </a:r>
          </a:p>
          <a:p>
            <a:pPr marL="343080" indent="-342720">
              <a:lnSpc>
                <a:spcPct val="80000"/>
              </a:lnSpc>
              <a:spcBef>
                <a:spcPts val="320"/>
              </a:spcBef>
            </a:pPr>
            <a:r>
              <a:rPr lang="en-US" sz="1600" b="0" strike="noStrike" spc="-1">
                <a:solidFill>
                  <a:srgbClr val="000000"/>
                </a:solidFill>
                <a:latin typeface="Tahoma"/>
              </a:rPr>
              <a:t>	- Primul indice al unui vector este 0, deci poziţiile unui vector cu n elemente vor fi cuprinse </a:t>
            </a:r>
          </a:p>
          <a:p>
            <a:pPr marL="343080" indent="-342720">
              <a:lnSpc>
                <a:spcPct val="80000"/>
              </a:lnSpc>
              <a:spcBef>
                <a:spcPts val="320"/>
              </a:spcBef>
            </a:pPr>
            <a:r>
              <a:rPr lang="en-US" sz="1600" b="0" strike="noStrike" spc="-1">
                <a:solidFill>
                  <a:srgbClr val="000000"/>
                </a:solidFill>
                <a:latin typeface="Tahoma"/>
              </a:rPr>
              <a:t>        între 0 şi n-1. </a:t>
            </a:r>
          </a:p>
          <a:p>
            <a:pPr marL="343080" indent="-342720">
              <a:lnSpc>
                <a:spcPct val="80000"/>
              </a:lnSpc>
              <a:spcBef>
                <a:spcPts val="320"/>
              </a:spcBef>
            </a:pPr>
            <a:r>
              <a:rPr lang="en-US" sz="1600" b="0" strike="noStrike" spc="-1">
                <a:solidFill>
                  <a:srgbClr val="000000"/>
                </a:solidFill>
                <a:latin typeface="Tahoma"/>
              </a:rPr>
              <a:t>	- Nu sunt permise construcţii de genul: </a:t>
            </a:r>
            <a:r>
              <a:rPr lang="en-US" sz="1600" b="1" strike="noStrike" spc="-1">
                <a:solidFill>
                  <a:srgbClr val="000000"/>
                </a:solidFill>
                <a:latin typeface="Courier New"/>
              </a:rPr>
              <a:t>TipElement numeVector[dimensiune]</a:t>
            </a:r>
            <a:r>
              <a:rPr lang="en-US" sz="1600" b="0" strike="noStrike" spc="-1">
                <a:solidFill>
                  <a:srgbClr val="000000"/>
                </a:solidFill>
                <a:latin typeface="Courier New"/>
              </a:rPr>
              <a:t>;</a:t>
            </a:r>
            <a:endParaRPr lang="en-US" sz="1600" b="0" strike="noStrike" spc="-1">
              <a:solidFill>
                <a:srgbClr val="000000"/>
              </a:solidFill>
              <a:latin typeface="Tahoma"/>
            </a:endParaRPr>
          </a:p>
          <a:p>
            <a:pPr marL="343080" indent="-342720">
              <a:lnSpc>
                <a:spcPct val="80000"/>
              </a:lnSpc>
              <a:spcBef>
                <a:spcPts val="320"/>
              </a:spcBef>
            </a:pPr>
            <a:r>
              <a:rPr lang="en-US" sz="1600" b="0" strike="noStrike" spc="-1">
                <a:solidFill>
                  <a:srgbClr val="000000"/>
                </a:solidFill>
                <a:latin typeface="Tahoma"/>
              </a:rPr>
              <a:t>	 alocarea memoriei făcându-se doar prin intermediul operatorului </a:t>
            </a:r>
            <a:r>
              <a:rPr lang="en-US" sz="1600" b="1" strike="noStrike" spc="-1">
                <a:solidFill>
                  <a:srgbClr val="008000"/>
                </a:solidFill>
                <a:latin typeface="Tahoma"/>
              </a:rPr>
              <a:t>new</a:t>
            </a:r>
            <a:r>
              <a:rPr lang="en-US" sz="1600" b="0" strike="noStrike" spc="-1">
                <a:solidFill>
                  <a:srgbClr val="000000"/>
                </a:solidFill>
                <a:latin typeface="Tahoma"/>
              </a:rPr>
              <a:t> sau prin </a:t>
            </a:r>
            <a:r>
              <a:rPr lang="en-US" sz="1600" b="1" strike="noStrike" spc="-1">
                <a:solidFill>
                  <a:srgbClr val="008000"/>
                </a:solidFill>
                <a:latin typeface="Tahoma"/>
              </a:rPr>
              <a:t>iniţializare</a:t>
            </a:r>
            <a:r>
              <a:rPr lang="en-US" sz="1600" b="0" strike="noStrike" spc="-1">
                <a:solidFill>
                  <a:srgbClr val="000000"/>
                </a:solidFill>
                <a:latin typeface="Tahoma"/>
              </a:rPr>
              <a:t>. </a:t>
            </a:r>
          </a:p>
          <a:p>
            <a:pPr marL="343080" indent="-342720">
              <a:lnSpc>
                <a:spcPct val="80000"/>
              </a:lnSpc>
              <a:spcBef>
                <a:spcPts val="320"/>
              </a:spcBef>
            </a:pPr>
            <a:endParaRPr lang="en-US" sz="1600" b="0" strike="noStrike" spc="-1">
              <a:solidFill>
                <a:srgbClr val="000000"/>
              </a:solidFill>
              <a:latin typeface="Tahoma"/>
            </a:endParaRPr>
          </a:p>
          <a:p>
            <a:pPr marL="343080" indent="-342720">
              <a:lnSpc>
                <a:spcPct val="80000"/>
              </a:lnSpc>
              <a:spcBef>
                <a:spcPts val="320"/>
              </a:spcBef>
              <a:buClr>
                <a:srgbClr val="FFCC00"/>
              </a:buClr>
              <a:buFont typeface="Monotype Sorts" charset="2"/>
              <a:buChar char=""/>
            </a:pPr>
            <a:r>
              <a:rPr lang="en-US" sz="1600" b="1" i="1" strike="noStrike" spc="-1">
                <a:solidFill>
                  <a:srgbClr val="008000"/>
                </a:solidFill>
                <a:latin typeface="Tahoma"/>
              </a:rPr>
              <a:t>Exemple</a:t>
            </a:r>
            <a:r>
              <a:rPr lang="en-US" sz="1600" b="0" i="1" strike="noStrike" spc="-1">
                <a:solidFill>
                  <a:srgbClr val="000000"/>
                </a:solidFill>
                <a:latin typeface="Tahoma"/>
              </a:rPr>
              <a:t>:</a:t>
            </a:r>
            <a:r>
              <a:rPr lang="en-US" sz="1600" b="0" strike="noStrike" spc="-1">
                <a:solidFill>
                  <a:srgbClr val="000000"/>
                </a:solidFill>
                <a:latin typeface="Tahoma"/>
              </a:rPr>
              <a:t> 	</a:t>
            </a:r>
          </a:p>
          <a:p>
            <a:pPr marL="343080" indent="-342720">
              <a:lnSpc>
                <a:spcPct val="80000"/>
              </a:lnSpc>
              <a:spcBef>
                <a:spcPts val="320"/>
              </a:spcBef>
            </a:pPr>
            <a:r>
              <a:rPr lang="en-US" sz="1600" b="0" strike="noStrike" spc="-1">
                <a:solidFill>
                  <a:srgbClr val="000000"/>
                </a:solidFill>
                <a:latin typeface="Tahoma"/>
              </a:rPr>
              <a:t>		</a:t>
            </a:r>
            <a:r>
              <a:rPr lang="en-US" sz="1600" b="1" strike="noStrike" spc="-1">
                <a:solidFill>
                  <a:srgbClr val="000000"/>
                </a:solidFill>
                <a:latin typeface="Courier New"/>
              </a:rPr>
              <a:t>int v[10];		//incorect</a:t>
            </a:r>
            <a:endParaRPr lang="en-US" sz="1600" b="0" strike="noStrike" spc="-1">
              <a:solidFill>
                <a:srgbClr val="000000"/>
              </a:solidFill>
              <a:latin typeface="Tahoma"/>
            </a:endParaRPr>
          </a:p>
          <a:p>
            <a:pPr marL="343080" indent="-342720">
              <a:lnSpc>
                <a:spcPct val="80000"/>
              </a:lnSpc>
              <a:spcBef>
                <a:spcPts val="320"/>
              </a:spcBef>
            </a:pPr>
            <a:r>
              <a:rPr lang="en-US" sz="1600" b="1" strike="noStrike" spc="-1">
                <a:solidFill>
                  <a:srgbClr val="000000"/>
                </a:solidFill>
                <a:latin typeface="Courier New"/>
              </a:rPr>
              <a:t>		int v[] = new int[10];	//corect</a:t>
            </a:r>
            <a:endParaRPr lang="en-US" sz="1600" b="0" strike="noStrike" spc="-1">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AB239DEA-ACF3-4EBB-B8DC-C47F780D6B89}" type="slidenum">
              <a:rPr lang="en-US" sz="1400" b="0" strike="noStrike" spc="-1">
                <a:solidFill>
                  <a:srgbClr val="5E574E"/>
                </a:solidFill>
                <a:latin typeface="Arial"/>
              </a:rPr>
              <a:t>29</a:t>
            </a:fld>
            <a:endParaRPr lang="en-US" sz="1400" b="0" strike="noStrike" spc="-1">
              <a:latin typeface="Times New Roman"/>
            </a:endParaRPr>
          </a:p>
        </p:txBody>
      </p:sp>
      <p:sp>
        <p:nvSpPr>
          <p:cNvPr id="387"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88" name="TextShape 5"/>
          <p:cNvSpPr txBox="1"/>
          <p:nvPr/>
        </p:nvSpPr>
        <p:spPr>
          <a:xfrm>
            <a:off x="495360" y="1371600"/>
            <a:ext cx="8859600" cy="4686120"/>
          </a:xfrm>
          <a:prstGeom prst="rect">
            <a:avLst/>
          </a:prstGeom>
          <a:noFill/>
          <a:ln>
            <a:noFill/>
          </a:ln>
        </p:spPr>
        <p:txBody>
          <a:bodyPr>
            <a:noAutofit/>
          </a:bodyPr>
          <a:lstStyle/>
          <a:p>
            <a:pPr marL="343080" indent="-342720">
              <a:lnSpc>
                <a:spcPct val="90000"/>
              </a:lnSpc>
              <a:spcBef>
                <a:spcPts val="561"/>
              </a:spcBef>
              <a:buClr>
                <a:srgbClr val="FFCC00"/>
              </a:buClr>
              <a:buFont typeface="Monotype Sorts" charset="2"/>
              <a:buChar char=""/>
            </a:pPr>
            <a:r>
              <a:rPr lang="en-US" sz="2800" b="1" strike="noStrike" spc="-1">
                <a:solidFill>
                  <a:srgbClr val="008000"/>
                </a:solidFill>
                <a:latin typeface="Tahoma"/>
              </a:rPr>
              <a:t>Accesul</a:t>
            </a:r>
            <a:r>
              <a:rPr lang="en-US" sz="2800" b="0" strike="noStrike" spc="-1">
                <a:solidFill>
                  <a:srgbClr val="000000"/>
                </a:solidFill>
                <a:latin typeface="Tahoma"/>
              </a:rPr>
              <a:t> la elementul unui vector se face prin:</a:t>
            </a:r>
          </a:p>
          <a:p>
            <a:pPr marL="343080" indent="-342720">
              <a:lnSpc>
                <a:spcPct val="90000"/>
              </a:lnSpc>
              <a:spcBef>
                <a:spcPts val="561"/>
              </a:spcBef>
            </a:pPr>
            <a:r>
              <a:rPr lang="en-US" sz="2800" b="1" strike="noStrike" spc="-1">
                <a:solidFill>
                  <a:srgbClr val="000000"/>
                </a:solidFill>
                <a:latin typeface="Tahoma"/>
              </a:rPr>
              <a:t>		</a:t>
            </a:r>
            <a:r>
              <a:rPr lang="en-US" sz="2000" b="1" strike="noStrike" spc="-1">
                <a:solidFill>
                  <a:srgbClr val="000000"/>
                </a:solidFill>
                <a:latin typeface="Courier New"/>
              </a:rPr>
              <a:t>numeVector[indice]</a:t>
            </a:r>
            <a:endParaRPr lang="en-US" sz="2000" b="0" strike="noStrike" spc="-1">
              <a:solidFill>
                <a:srgbClr val="000000"/>
              </a:solidFill>
              <a:latin typeface="Tahoma"/>
            </a:endParaRPr>
          </a:p>
          <a:p>
            <a:pPr marL="343080" indent="-342720">
              <a:lnSpc>
                <a:spcPct val="90000"/>
              </a:lnSpc>
              <a:spcBef>
                <a:spcPts val="561"/>
              </a:spcBef>
              <a:buClr>
                <a:srgbClr val="FFCC00"/>
              </a:buClr>
              <a:buFont typeface="Monotype Sorts" charset="2"/>
              <a:buChar char=""/>
            </a:pPr>
            <a:r>
              <a:rPr lang="en-US" sz="2800" b="0" i="1" strike="noStrike" spc="-1">
                <a:solidFill>
                  <a:srgbClr val="008000"/>
                </a:solidFill>
                <a:latin typeface="Tahoma"/>
              </a:rPr>
              <a:t>Exemplu 1</a:t>
            </a:r>
            <a:r>
              <a:rPr lang="en-US" sz="2800" b="0" i="1" strike="noStrike" spc="-1">
                <a:solidFill>
                  <a:srgbClr val="000000"/>
                </a:solidFill>
                <a:latin typeface="Tahoma"/>
              </a:rPr>
              <a:t>:</a:t>
            </a:r>
            <a:endParaRPr lang="en-US" sz="2800" b="0" strike="noStrike" spc="-1">
              <a:solidFill>
                <a:srgbClr val="000000"/>
              </a:solidFill>
              <a:latin typeface="Tahoma"/>
            </a:endParaRPr>
          </a:p>
          <a:p>
            <a:pPr marL="343080" indent="-342720">
              <a:lnSpc>
                <a:spcPct val="90000"/>
              </a:lnSpc>
              <a:spcBef>
                <a:spcPts val="561"/>
              </a:spcBef>
            </a:pPr>
            <a:r>
              <a:rPr lang="en-US" sz="2800" b="0" strike="noStrike" spc="-1">
                <a:solidFill>
                  <a:srgbClr val="000000"/>
                </a:solidFill>
                <a:latin typeface="Tahoma"/>
              </a:rPr>
              <a:t>		</a:t>
            </a:r>
            <a:r>
              <a:rPr lang="en-US" sz="1800" b="1" strike="noStrike" spc="-1">
                <a:solidFill>
                  <a:srgbClr val="000000"/>
                </a:solidFill>
                <a:latin typeface="Courier New"/>
              </a:rPr>
              <a:t>int v[]=new int[10];	</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for(i=0; i&lt;10; i++)</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v[i]=i;</a:t>
            </a:r>
            <a:endParaRPr lang="en-US" sz="1800" b="0" strike="noStrike" spc="-1">
              <a:solidFill>
                <a:srgbClr val="000000"/>
              </a:solidFill>
              <a:latin typeface="Tahoma"/>
            </a:endParaRPr>
          </a:p>
          <a:p>
            <a:pPr marL="343080" indent="-342720">
              <a:lnSpc>
                <a:spcPct val="90000"/>
              </a:lnSpc>
              <a:spcBef>
                <a:spcPts val="561"/>
              </a:spcBef>
              <a:buClr>
                <a:srgbClr val="FFCC00"/>
              </a:buClr>
              <a:buFont typeface="Monotype Sorts" charset="2"/>
              <a:buChar char=""/>
            </a:pPr>
            <a:r>
              <a:rPr lang="en-US" sz="2800" b="0" i="1" strike="noStrike" spc="-1">
                <a:solidFill>
                  <a:srgbClr val="008000"/>
                </a:solidFill>
                <a:latin typeface="Tahoma"/>
              </a:rPr>
              <a:t>Exemplu 2</a:t>
            </a:r>
            <a:r>
              <a:rPr lang="en-US" sz="2800" b="0" i="1" strike="noStrike" spc="-1">
                <a:solidFill>
                  <a:srgbClr val="000000"/>
                </a:solidFill>
                <a:latin typeface="Tahoma"/>
              </a:rPr>
              <a:t>:</a:t>
            </a:r>
            <a:endParaRPr lang="en-US" sz="2800" b="0" strike="noStrike" spc="-1">
              <a:solidFill>
                <a:srgbClr val="000000"/>
              </a:solidFill>
              <a:latin typeface="Tahoma"/>
            </a:endParaRPr>
          </a:p>
          <a:p>
            <a:pPr marL="343080" indent="-342720">
              <a:lnSpc>
                <a:spcPct val="90000"/>
              </a:lnSpc>
              <a:spcBef>
                <a:spcPts val="561"/>
              </a:spcBef>
            </a:pPr>
            <a:r>
              <a:rPr lang="en-US" sz="2800" b="0" strike="noStrike" spc="-1">
                <a:solidFill>
                  <a:srgbClr val="000000"/>
                </a:solidFill>
                <a:latin typeface="Tahoma"/>
              </a:rPr>
              <a:t>		</a:t>
            </a:r>
            <a:r>
              <a:rPr lang="en-US" sz="1600" b="1" strike="noStrike" spc="-1">
                <a:solidFill>
                  <a:srgbClr val="000000"/>
                </a:solidFill>
                <a:latin typeface="Courier New"/>
              </a:rPr>
              <a:t>int v[]={1,2,3,4,5};	//corect!! este initializare</a:t>
            </a:r>
            <a:endParaRPr lang="en-US" sz="1600" b="0" strike="noStrike" spc="-1">
              <a:solidFill>
                <a:srgbClr val="000000"/>
              </a:solidFill>
              <a:latin typeface="Tahoma"/>
            </a:endParaRPr>
          </a:p>
          <a:p>
            <a:pPr marL="343080" indent="-342720">
              <a:lnSpc>
                <a:spcPct val="90000"/>
              </a:lnSpc>
              <a:spcBef>
                <a:spcPts val="320"/>
              </a:spcBef>
            </a:pPr>
            <a:r>
              <a:rPr lang="en-US" sz="1600" b="1" strike="noStrike" spc="-1">
                <a:solidFill>
                  <a:srgbClr val="000000"/>
                </a:solidFill>
                <a:latin typeface="Courier New"/>
              </a:rPr>
              <a:t>		for(i=0; i&lt;5; i++)</a:t>
            </a:r>
            <a:endParaRPr lang="en-US" sz="1600" b="0" strike="noStrike" spc="-1">
              <a:solidFill>
                <a:srgbClr val="000000"/>
              </a:solidFill>
              <a:latin typeface="Tahoma"/>
            </a:endParaRPr>
          </a:p>
          <a:p>
            <a:pPr marL="343080" indent="-342720">
              <a:lnSpc>
                <a:spcPct val="90000"/>
              </a:lnSpc>
              <a:spcBef>
                <a:spcPts val="320"/>
              </a:spcBef>
            </a:pPr>
            <a:r>
              <a:rPr lang="en-US" sz="1600" b="1" strike="noStrike" spc="-1">
                <a:solidFill>
                  <a:srgbClr val="000000"/>
                </a:solidFill>
                <a:latin typeface="Courier New"/>
              </a:rPr>
              <a:t>			System.out.println(v[i]+” *“);</a:t>
            </a:r>
            <a:endParaRPr lang="en-US" sz="1600" b="0" strike="noStrike" spc="-1">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5E67DA06-5F18-4749-B260-520EBC79C071}" type="slidenum">
              <a:rPr lang="en-US" sz="1400" b="0" strike="noStrike" spc="-1">
                <a:solidFill>
                  <a:srgbClr val="5E574E"/>
                </a:solidFill>
                <a:latin typeface="Arial"/>
              </a:rPr>
              <a:t>30</a:t>
            </a:fld>
            <a:endParaRPr lang="en-US" sz="1400" b="0" strike="noStrike" spc="-1">
              <a:latin typeface="Times New Roman"/>
            </a:endParaRPr>
          </a:p>
        </p:txBody>
      </p:sp>
      <p:sp>
        <p:nvSpPr>
          <p:cNvPr id="392"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93" name="TextShape 5"/>
          <p:cNvSpPr txBox="1"/>
          <p:nvPr/>
        </p:nvSpPr>
        <p:spPr>
          <a:xfrm>
            <a:off x="495360" y="1371600"/>
            <a:ext cx="8859600" cy="4686120"/>
          </a:xfrm>
          <a:prstGeom prst="rect">
            <a:avLst/>
          </a:prstGeom>
          <a:noFill/>
          <a:ln>
            <a:noFill/>
          </a:ln>
        </p:spPr>
        <p:txBody>
          <a:bodyPr>
            <a:noAutofit/>
          </a:bodyPr>
          <a:lstStyle/>
          <a:p>
            <a:pPr marL="1371600" indent="-456840">
              <a:lnSpc>
                <a:spcPct val="80000"/>
              </a:lnSpc>
              <a:spcBef>
                <a:spcPts val="479"/>
              </a:spcBef>
            </a:pPr>
            <a:r>
              <a:rPr lang="en-US" sz="2400" b="1" strike="noStrike" spc="-1">
                <a:solidFill>
                  <a:srgbClr val="000000"/>
                </a:solidFill>
                <a:latin typeface="Tahoma"/>
              </a:rPr>
              <a:t>Tablouri cu mai multe dimensiuni</a:t>
            </a:r>
            <a:endParaRPr lang="en-US" sz="2400" b="0" strike="noStrike" spc="-1">
              <a:solidFill>
                <a:srgbClr val="000000"/>
              </a:solidFill>
              <a:latin typeface="Tahoma"/>
            </a:endParaRPr>
          </a:p>
          <a:p>
            <a:pPr marL="1371600" indent="-456840">
              <a:lnSpc>
                <a:spcPct val="80000"/>
              </a:lnSpc>
              <a:spcBef>
                <a:spcPts val="479"/>
              </a:spcBef>
            </a:pPr>
            <a:endParaRPr lang="en-US" sz="2400" b="0" strike="noStrike" spc="-1">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a:solidFill>
                  <a:srgbClr val="000000"/>
                </a:solidFill>
                <a:latin typeface="Tahoma"/>
              </a:rPr>
              <a:t>În Java tablourile cu mai multe dimensiuni sunt de fapt tablouri  de tablouri. Prin urmare,  declararea, instanţierea şi iniţializarea se fac la fel ca în cazul tablourilor unidimensionale.</a:t>
            </a:r>
          </a:p>
          <a:p>
            <a:pPr marL="609480" indent="-609120">
              <a:lnSpc>
                <a:spcPct val="80000"/>
              </a:lnSpc>
              <a:spcBef>
                <a:spcPts val="400"/>
              </a:spcBef>
            </a:pPr>
            <a:r>
              <a:rPr lang="en-US" sz="2000" b="1" strike="noStrike" spc="-1">
                <a:solidFill>
                  <a:srgbClr val="000000"/>
                </a:solidFill>
                <a:latin typeface="Tahoma"/>
              </a:rPr>
              <a:t>		</a:t>
            </a:r>
            <a:r>
              <a:rPr lang="en-US" sz="1600" b="1" strike="noStrike" spc="-1">
                <a:solidFill>
                  <a:srgbClr val="000000"/>
                </a:solidFill>
                <a:latin typeface="Courier New"/>
              </a:rPr>
              <a:t>TipElement numeTablou[][]… = new TipElement[dim1][dim2]…</a:t>
            </a:r>
            <a:endParaRPr lang="en-US" sz="1600" b="0" strike="noStrike" spc="-1">
              <a:solidFill>
                <a:srgbClr val="000000"/>
              </a:solidFill>
              <a:latin typeface="Tahoma"/>
            </a:endParaRPr>
          </a:p>
          <a:p>
            <a:pPr marL="609480" indent="-609120">
              <a:lnSpc>
                <a:spcPct val="80000"/>
              </a:lnSpc>
              <a:spcBef>
                <a:spcPts val="400"/>
              </a:spcBef>
            </a:pPr>
            <a:r>
              <a:rPr lang="en-US" sz="2000" b="0" strike="noStrike" spc="-1">
                <a:solidFill>
                  <a:srgbClr val="000000"/>
                </a:solidFill>
                <a:latin typeface="Tahoma"/>
              </a:rPr>
              <a:t>	sau</a:t>
            </a:r>
            <a:r>
              <a:rPr lang="en-US" sz="2000" b="1" strike="noStrike" spc="-1">
                <a:solidFill>
                  <a:srgbClr val="000000"/>
                </a:solidFill>
                <a:latin typeface="Tahoma"/>
              </a:rPr>
              <a:t>   </a:t>
            </a:r>
            <a:endParaRPr lang="en-US" sz="2000" b="0" strike="noStrike" spc="-1">
              <a:solidFill>
                <a:srgbClr val="000000"/>
              </a:solidFill>
              <a:latin typeface="Tahoma"/>
            </a:endParaRPr>
          </a:p>
          <a:p>
            <a:pPr marL="990720" indent="-533160">
              <a:lnSpc>
                <a:spcPct val="80000"/>
              </a:lnSpc>
              <a:spcBef>
                <a:spcPts val="360"/>
              </a:spcBef>
            </a:pPr>
            <a:r>
              <a:rPr lang="en-US" sz="1800" b="1" strike="noStrike" spc="-1">
                <a:solidFill>
                  <a:srgbClr val="000000"/>
                </a:solidFill>
                <a:latin typeface="Tahoma"/>
              </a:rPr>
              <a:t>      </a:t>
            </a:r>
            <a:r>
              <a:rPr lang="en-US" sz="1600" b="1" strike="noStrike" spc="-1">
                <a:solidFill>
                  <a:srgbClr val="000000"/>
                </a:solidFill>
                <a:latin typeface="Courier New"/>
              </a:rPr>
              <a:t>TipElement[][]… numeTablou = new[dim1][dim2]… TipElement</a:t>
            </a:r>
            <a:endParaRPr lang="en-US" sz="1600" b="0" strike="noStrike" spc="-1">
              <a:solidFill>
                <a:srgbClr val="000000"/>
              </a:solidFill>
              <a:latin typeface="Tahoma"/>
            </a:endParaRPr>
          </a:p>
          <a:p>
            <a:pPr marL="609480" indent="-609120">
              <a:lnSpc>
                <a:spcPct val="80000"/>
              </a:lnSpc>
              <a:spcBef>
                <a:spcPts val="400"/>
              </a:spcBef>
            </a:pPr>
            <a:r>
              <a:rPr lang="en-US" sz="2000" b="0" strike="noStrike" spc="-1">
                <a:solidFill>
                  <a:srgbClr val="000000"/>
                </a:solidFill>
                <a:latin typeface="Tahoma"/>
              </a:rPr>
              <a:t>			</a:t>
            </a:r>
            <a:r>
              <a:rPr lang="en-US" sz="1600" b="0" strike="noStrike" spc="-1">
                <a:solidFill>
                  <a:srgbClr val="000000"/>
                </a:solidFill>
                <a:latin typeface="Tahoma"/>
              </a:rPr>
              <a:t>(parantezele pot fi de o parte şi de alta a lui  </a:t>
            </a:r>
            <a:r>
              <a:rPr lang="en-US" sz="1600" b="1" strike="noStrike" spc="-1">
                <a:solidFill>
                  <a:srgbClr val="000000"/>
                </a:solidFill>
                <a:latin typeface="Courier New"/>
              </a:rPr>
              <a:t>numeTablou</a:t>
            </a:r>
            <a:r>
              <a:rPr lang="en-US" sz="1600" b="0" strike="noStrike" spc="-1">
                <a:solidFill>
                  <a:srgbClr val="000000"/>
                </a:solidFill>
                <a:latin typeface="Tahoma"/>
              </a:rPr>
              <a:t>)</a:t>
            </a:r>
          </a:p>
          <a:p>
            <a:pPr marL="609480" indent="-609120">
              <a:lnSpc>
                <a:spcPct val="80000"/>
              </a:lnSpc>
              <a:spcBef>
                <a:spcPts val="320"/>
              </a:spcBef>
            </a:pPr>
            <a:endParaRPr lang="en-US" sz="1600" b="0" strike="noStrike" spc="-1">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i="1" strike="noStrike" spc="-1">
                <a:solidFill>
                  <a:srgbClr val="008000"/>
                </a:solidFill>
                <a:latin typeface="Tahoma"/>
              </a:rPr>
              <a:t>Exemplu</a:t>
            </a:r>
            <a:r>
              <a:rPr lang="en-US" sz="2000" b="0" i="1" strike="noStrike" spc="-1">
                <a:solidFill>
                  <a:srgbClr val="000000"/>
                </a:solidFill>
                <a:latin typeface="Tahoma"/>
              </a:rPr>
              <a:t>:</a:t>
            </a:r>
            <a:r>
              <a:rPr lang="en-US" sz="2000" b="0" strike="noStrike" spc="-1">
                <a:solidFill>
                  <a:srgbClr val="000000"/>
                </a:solidFill>
                <a:latin typeface="Tahoma"/>
              </a:rPr>
              <a:t> 		</a:t>
            </a:r>
          </a:p>
          <a:p>
            <a:pPr marL="609480" indent="-609120">
              <a:lnSpc>
                <a:spcPct val="80000"/>
              </a:lnSpc>
              <a:spcBef>
                <a:spcPts val="400"/>
              </a:spcBef>
            </a:pPr>
            <a:r>
              <a:rPr lang="en-US" sz="2000" b="0" strike="noStrike" spc="-1">
                <a:solidFill>
                  <a:srgbClr val="000000"/>
                </a:solidFill>
                <a:latin typeface="Tahoma"/>
              </a:rPr>
              <a:t>		</a:t>
            </a:r>
            <a:r>
              <a:rPr lang="en-US" sz="1800" b="1" strike="noStrike" spc="-1">
                <a:solidFill>
                  <a:srgbClr val="000000"/>
                </a:solidFill>
                <a:latin typeface="Courier New"/>
              </a:rPr>
              <a:t>int m[][];		//declararea unei matrice	</a:t>
            </a:r>
            <a:endParaRPr lang="en-US" sz="1800" b="0" strike="noStrike" spc="-1">
              <a:solidFill>
                <a:srgbClr val="000000"/>
              </a:solidFill>
              <a:latin typeface="Tahoma"/>
            </a:endParaRPr>
          </a:p>
          <a:p>
            <a:pPr marL="609480" indent="-609120">
              <a:lnSpc>
                <a:spcPct val="80000"/>
              </a:lnSpc>
              <a:spcBef>
                <a:spcPts val="360"/>
              </a:spcBef>
            </a:pPr>
            <a:r>
              <a:rPr lang="en-US" sz="1800" b="1" strike="noStrike" spc="-1">
                <a:solidFill>
                  <a:srgbClr val="000000"/>
                </a:solidFill>
                <a:latin typeface="Courier New"/>
              </a:rPr>
              <a:t>		m = new int[5][10];	//cu 5 linii, 10 coloane  </a:t>
            </a:r>
            <a:endParaRPr lang="en-US" sz="1800" b="0" strike="noStrike" spc="-1">
              <a:solidFill>
                <a:srgbClr val="000000"/>
              </a:solidFill>
              <a:latin typeface="Tahoma"/>
            </a:endParaRPr>
          </a:p>
          <a:p>
            <a:pPr marL="609480" indent="-609120">
              <a:lnSpc>
                <a:spcPct val="80000"/>
              </a:lnSpc>
              <a:spcBef>
                <a:spcPts val="400"/>
              </a:spcBef>
            </a:pPr>
            <a:r>
              <a:rPr lang="en-US" sz="2000" b="0" i="1" strike="noStrike" spc="-1">
                <a:solidFill>
                  <a:srgbClr val="000000"/>
                </a:solidFill>
                <a:latin typeface="Tahoma"/>
              </a:rPr>
              <a:t>        Observaţie: </a:t>
            </a:r>
            <a:endParaRPr lang="en-US" sz="2000" b="0" strike="noStrike" spc="-1">
              <a:solidFill>
                <a:srgbClr val="000000"/>
              </a:solidFill>
              <a:latin typeface="Tahoma"/>
            </a:endParaRPr>
          </a:p>
          <a:p>
            <a:pPr marL="990720" indent="-533160">
              <a:lnSpc>
                <a:spcPct val="80000"/>
              </a:lnSpc>
              <a:spcBef>
                <a:spcPts val="360"/>
              </a:spcBef>
            </a:pPr>
            <a:r>
              <a:rPr lang="en-US" sz="1800" b="0" strike="noStrike" spc="-1">
                <a:solidFill>
                  <a:srgbClr val="000000"/>
                </a:solidFill>
                <a:latin typeface="Tahoma"/>
              </a:rPr>
              <a:t>	</a:t>
            </a:r>
            <a:r>
              <a:rPr lang="en-US" sz="1800" b="1" strike="noStrike" spc="-1">
                <a:solidFill>
                  <a:srgbClr val="000000"/>
                </a:solidFill>
                <a:latin typeface="Courier New"/>
              </a:rPr>
              <a:t>m[0], m[1], ..., m[4]</a:t>
            </a:r>
            <a:r>
              <a:rPr lang="en-US" sz="1800" b="0" strike="noStrike" spc="-1">
                <a:solidFill>
                  <a:srgbClr val="000000"/>
                </a:solidFill>
                <a:latin typeface="Tahoma"/>
              </a:rPr>
              <a:t> sunt tablouri de întregi cu 10 elemente</a:t>
            </a:r>
            <a:r>
              <a:rPr lang="en-US" sz="1400" b="0" strike="noStrike" spc="-1">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4394293F-C23F-4E8D-99EC-EFE24D2BBB1E}" type="slidenum">
              <a:rPr lang="en-US" sz="1400" b="0" strike="noStrike" spc="-1">
                <a:solidFill>
                  <a:srgbClr val="5E574E"/>
                </a:solidFill>
                <a:latin typeface="Arial"/>
              </a:rPr>
              <a:t>31</a:t>
            </a:fld>
            <a:endParaRPr lang="en-US" sz="1400" b="0" strike="noStrike" spc="-1">
              <a:latin typeface="Times New Roman"/>
            </a:endParaRPr>
          </a:p>
        </p:txBody>
      </p:sp>
      <p:sp>
        <p:nvSpPr>
          <p:cNvPr id="397"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398" name="TextShape 5"/>
          <p:cNvSpPr txBox="1"/>
          <p:nvPr/>
        </p:nvSpPr>
        <p:spPr>
          <a:xfrm>
            <a:off x="457200" y="1219320"/>
            <a:ext cx="8859600" cy="4857480"/>
          </a:xfrm>
          <a:prstGeom prst="rect">
            <a:avLst/>
          </a:prstGeom>
          <a:noFill/>
          <a:ln>
            <a:noFill/>
          </a:ln>
        </p:spPr>
        <p:txBody>
          <a:bodyPr>
            <a:noAutofit/>
          </a:bodyPr>
          <a:lstStyle/>
          <a:p>
            <a:pPr marL="2209680" indent="-380520">
              <a:lnSpc>
                <a:spcPct val="80000"/>
              </a:lnSpc>
              <a:spcBef>
                <a:spcPts val="479"/>
              </a:spcBef>
            </a:pPr>
            <a:r>
              <a:rPr lang="en-US" sz="2400" b="1" strike="noStrike" spc="-1">
                <a:solidFill>
                  <a:srgbClr val="008000"/>
                </a:solidFill>
                <a:latin typeface="Tahoma"/>
              </a:rPr>
              <a:t>Dimensiunea unui tablou</a:t>
            </a:r>
            <a:r>
              <a:rPr lang="en-US" sz="1200" b="1" strike="noStrike" spc="-1">
                <a:solidFill>
                  <a:srgbClr val="000000"/>
                </a:solidFill>
                <a:latin typeface="Tahoma"/>
              </a:rPr>
              <a:t> </a:t>
            </a:r>
            <a:endParaRPr lang="en-US" sz="1200" b="0" strike="noStrike" spc="-1">
              <a:solidFill>
                <a:srgbClr val="000000"/>
              </a:solidFill>
              <a:latin typeface="Tahoma"/>
            </a:endParaRPr>
          </a:p>
          <a:p>
            <a:pPr marL="2209680" indent="-380520">
              <a:lnSpc>
                <a:spcPct val="80000"/>
              </a:lnSpc>
              <a:spcBef>
                <a:spcPts val="241"/>
              </a:spcBef>
            </a:pPr>
            <a:endParaRPr lang="en-US" sz="1200" b="0" strike="noStrike" spc="-1">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strike="noStrike" spc="-1">
                <a:solidFill>
                  <a:srgbClr val="000000"/>
                </a:solidFill>
                <a:latin typeface="Tahoma"/>
              </a:rPr>
              <a:t>Cu ajutorul cuvântului cheie </a:t>
            </a:r>
            <a:r>
              <a:rPr lang="en-US" sz="1800" b="1" strike="noStrike" spc="-1">
                <a:solidFill>
                  <a:srgbClr val="008000"/>
                </a:solidFill>
                <a:latin typeface="Tahoma"/>
              </a:rPr>
              <a:t>length</a:t>
            </a:r>
            <a:r>
              <a:rPr lang="en-US" sz="1800" b="0" strike="noStrike" spc="-1">
                <a:solidFill>
                  <a:srgbClr val="000000"/>
                </a:solidFill>
                <a:latin typeface="Tahoma"/>
              </a:rPr>
              <a:t> se poate afla dimensiunea unui tablou. </a:t>
            </a:r>
          </a:p>
          <a:p>
            <a:pPr marL="609480" indent="-609120">
              <a:lnSpc>
                <a:spcPct val="80000"/>
              </a:lnSpc>
              <a:spcBef>
                <a:spcPts val="360"/>
              </a:spcBef>
            </a:pPr>
            <a:endParaRPr lang="en-US" sz="1800" b="0" strike="noStrike" spc="-1">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i="1" strike="noStrike" spc="-1">
                <a:solidFill>
                  <a:srgbClr val="008000"/>
                </a:solidFill>
                <a:latin typeface="Tahoma"/>
              </a:rPr>
              <a:t>Exemple</a:t>
            </a:r>
            <a:r>
              <a:rPr lang="en-US" sz="1800" b="0" i="1" strike="noStrike" spc="-1">
                <a:solidFill>
                  <a:srgbClr val="000000"/>
                </a:solidFill>
                <a:latin typeface="Tahoma"/>
              </a:rPr>
              <a:t>:</a:t>
            </a:r>
            <a:r>
              <a:rPr lang="en-US" sz="1800" b="0" strike="noStrike" spc="-1">
                <a:solidFill>
                  <a:srgbClr val="000000"/>
                </a:solidFill>
                <a:latin typeface="Tahoma"/>
              </a:rPr>
              <a:t> </a:t>
            </a:r>
          </a:p>
          <a:p>
            <a:pPr marL="609480" indent="-609120">
              <a:lnSpc>
                <a:spcPct val="80000"/>
              </a:lnSpc>
              <a:spcBef>
                <a:spcPts val="360"/>
              </a:spcBef>
            </a:pPr>
            <a:r>
              <a:rPr lang="en-US" sz="1800" b="0" strike="noStrike" spc="-1">
                <a:solidFill>
                  <a:srgbClr val="000000"/>
                </a:solidFill>
                <a:latin typeface="Tahoma"/>
              </a:rPr>
              <a:t>	Fie  vectorul</a:t>
            </a:r>
          </a:p>
          <a:p>
            <a:pPr marL="609480" indent="-609120">
              <a:lnSpc>
                <a:spcPct val="80000"/>
              </a:lnSpc>
              <a:spcBef>
                <a:spcPts val="360"/>
              </a:spcBef>
            </a:pPr>
            <a:r>
              <a:rPr lang="en-US" sz="1800" b="0" strike="noStrike" spc="-1">
                <a:solidFill>
                  <a:srgbClr val="000000"/>
                </a:solidFill>
                <a:latin typeface="Tahoma"/>
              </a:rPr>
              <a:t>			</a:t>
            </a:r>
            <a:r>
              <a:rPr lang="en-US" sz="1600" b="1" strike="noStrike" spc="-1">
                <a:solidFill>
                  <a:srgbClr val="000000"/>
                </a:solidFill>
                <a:latin typeface="Courier New"/>
              </a:rPr>
              <a:t>int []a = new int[5];</a:t>
            </a:r>
            <a:endParaRPr lang="en-US" sz="1600" b="0" strike="noStrike" spc="-1">
              <a:solidFill>
                <a:srgbClr val="000000"/>
              </a:solidFill>
              <a:latin typeface="Tahoma"/>
            </a:endParaRPr>
          </a:p>
          <a:p>
            <a:pPr marL="609480" indent="-609120">
              <a:lnSpc>
                <a:spcPct val="80000"/>
              </a:lnSpc>
              <a:spcBef>
                <a:spcPts val="360"/>
              </a:spcBef>
            </a:pPr>
            <a:r>
              <a:rPr lang="en-US" sz="1800" b="0" strike="noStrike" spc="-1">
                <a:solidFill>
                  <a:srgbClr val="000000"/>
                </a:solidFill>
                <a:latin typeface="Tahoma"/>
              </a:rPr>
              <a:t>	atunci 	</a:t>
            </a:r>
            <a:r>
              <a:rPr lang="en-US" sz="1600" b="1" strike="noStrike" spc="-1">
                <a:solidFill>
                  <a:srgbClr val="000000"/>
                </a:solidFill>
                <a:latin typeface="Courier New"/>
              </a:rPr>
              <a:t>a.length</a:t>
            </a:r>
            <a:r>
              <a:rPr lang="en-US" sz="1800" b="0" strike="noStrike" spc="-1">
                <a:solidFill>
                  <a:srgbClr val="000000"/>
                </a:solidFill>
                <a:latin typeface="Tahoma"/>
              </a:rPr>
              <a:t> are valoarea 5.</a:t>
            </a:r>
          </a:p>
          <a:p>
            <a:pPr marL="609480" indent="-609120">
              <a:lnSpc>
                <a:spcPct val="80000"/>
              </a:lnSpc>
              <a:spcBef>
                <a:spcPts val="360"/>
              </a:spcBef>
            </a:pPr>
            <a:endParaRPr lang="en-US" sz="1800" b="0" strike="noStrike" spc="-1">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strike="noStrike" spc="-1">
                <a:solidFill>
                  <a:srgbClr val="000000"/>
                </a:solidFill>
                <a:latin typeface="Tahoma"/>
              </a:rPr>
              <a:t>Fie  matricea</a:t>
            </a:r>
          </a:p>
          <a:p>
            <a:pPr marL="609480" indent="-609120">
              <a:lnSpc>
                <a:spcPct val="80000"/>
              </a:lnSpc>
              <a:spcBef>
                <a:spcPts val="360"/>
              </a:spcBef>
            </a:pPr>
            <a:r>
              <a:rPr lang="en-US" sz="1800" b="0" strike="noStrike" spc="-1">
                <a:solidFill>
                  <a:srgbClr val="000000"/>
                </a:solidFill>
                <a:latin typeface="Tahoma"/>
              </a:rPr>
              <a:t>			</a:t>
            </a:r>
            <a:r>
              <a:rPr lang="en-US" sz="1600" b="1" strike="noStrike" spc="-1">
                <a:solidFill>
                  <a:srgbClr val="000000"/>
                </a:solidFill>
                <a:latin typeface="Courier New"/>
              </a:rPr>
              <a:t>int m[][] = new int[5][10];</a:t>
            </a:r>
            <a:endParaRPr lang="en-US" sz="1600" b="0" strike="noStrike" spc="-1">
              <a:solidFill>
                <a:srgbClr val="000000"/>
              </a:solidFill>
              <a:latin typeface="Tahoma"/>
            </a:endParaRPr>
          </a:p>
          <a:p>
            <a:pPr marL="609480" indent="-609120">
              <a:lnSpc>
                <a:spcPct val="80000"/>
              </a:lnSpc>
              <a:spcBef>
                <a:spcPts val="360"/>
              </a:spcBef>
            </a:pPr>
            <a:r>
              <a:rPr lang="en-US" sz="1800" b="0" strike="noStrike" spc="-1">
                <a:solidFill>
                  <a:srgbClr val="000000"/>
                </a:solidFill>
                <a:latin typeface="Tahoma"/>
              </a:rPr>
              <a:t>	atunci:</a:t>
            </a:r>
          </a:p>
          <a:p>
            <a:pPr marL="609480" indent="-609120">
              <a:lnSpc>
                <a:spcPct val="80000"/>
              </a:lnSpc>
              <a:spcBef>
                <a:spcPts val="360"/>
              </a:spcBef>
            </a:pPr>
            <a:r>
              <a:rPr lang="en-US" sz="1800" b="0" strike="noStrike" spc="-1">
                <a:solidFill>
                  <a:srgbClr val="000000"/>
                </a:solidFill>
                <a:latin typeface="Tahoma"/>
              </a:rPr>
              <a:t>	</a:t>
            </a:r>
            <a:r>
              <a:rPr lang="en-US" sz="1600" b="1" strike="noStrike" spc="-1">
                <a:solidFill>
                  <a:srgbClr val="000000"/>
                </a:solidFill>
                <a:latin typeface="Courier New"/>
              </a:rPr>
              <a:t>m.length</a:t>
            </a:r>
            <a:r>
              <a:rPr lang="en-US" sz="1800" b="0" strike="noStrike" spc="-1">
                <a:solidFill>
                  <a:srgbClr val="000000"/>
                </a:solidFill>
                <a:latin typeface="Tahoma"/>
              </a:rPr>
              <a:t> 		are valoarea 5 şi reprezintă numărul de linii al matricei</a:t>
            </a:r>
          </a:p>
          <a:p>
            <a:pPr marL="609480" indent="-609120">
              <a:lnSpc>
                <a:spcPct val="80000"/>
              </a:lnSpc>
              <a:spcBef>
                <a:spcPts val="360"/>
              </a:spcBef>
            </a:pPr>
            <a:r>
              <a:rPr lang="en-US" sz="1600" b="1" strike="noStrike" spc="-1">
                <a:solidFill>
                  <a:srgbClr val="000000"/>
                </a:solidFill>
                <a:latin typeface="Courier New"/>
              </a:rPr>
              <a:t>	m[0].length</a:t>
            </a:r>
            <a:r>
              <a:rPr lang="en-US" sz="1800" b="0" strike="noStrike" spc="-1">
                <a:solidFill>
                  <a:srgbClr val="000000"/>
                </a:solidFill>
                <a:latin typeface="Tahoma"/>
              </a:rPr>
              <a:t> 	are valoarea 10 şi reprezintă numărul de elemente al </a:t>
            </a:r>
          </a:p>
          <a:p>
            <a:pPr marL="609480" indent="-609120">
              <a:lnSpc>
                <a:spcPct val="80000"/>
              </a:lnSpc>
              <a:spcBef>
                <a:spcPts val="360"/>
              </a:spcBef>
            </a:pPr>
            <a:r>
              <a:rPr lang="en-US" sz="1800" b="0" strike="noStrike" spc="-1">
                <a:solidFill>
                  <a:srgbClr val="000000"/>
                </a:solidFill>
                <a:latin typeface="Tahoma"/>
              </a:rPr>
              <a:t>				primei linii a matricei,</a:t>
            </a:r>
          </a:p>
          <a:p>
            <a:pPr marL="609480" indent="-609120">
              <a:lnSpc>
                <a:spcPct val="80000"/>
              </a:lnSpc>
              <a:spcBef>
                <a:spcPts val="360"/>
              </a:spcBef>
            </a:pPr>
            <a:r>
              <a:rPr lang="en-US" sz="1800" b="0" strike="noStrike" spc="-1">
                <a:solidFill>
                  <a:srgbClr val="000000"/>
                </a:solidFill>
                <a:latin typeface="Tahoma"/>
              </a:rPr>
              <a:t>	</a:t>
            </a:r>
            <a:r>
              <a:rPr lang="en-US" sz="1600" b="1" strike="noStrike" spc="-1">
                <a:solidFill>
                  <a:srgbClr val="000000"/>
                </a:solidFill>
                <a:latin typeface="Courier New"/>
              </a:rPr>
              <a:t>m[1].length</a:t>
            </a:r>
            <a:r>
              <a:rPr lang="en-US" sz="1800" b="0" strike="noStrike" spc="-1">
                <a:solidFill>
                  <a:srgbClr val="000000"/>
                </a:solidFill>
                <a:latin typeface="Tahoma"/>
              </a:rPr>
              <a:t> 	are valoarea 10 şi reprezintă numărul de elemente al celei</a:t>
            </a:r>
          </a:p>
          <a:p>
            <a:pPr marL="609480" indent="-609120">
              <a:lnSpc>
                <a:spcPct val="80000"/>
              </a:lnSpc>
              <a:spcBef>
                <a:spcPts val="360"/>
              </a:spcBef>
            </a:pPr>
            <a:r>
              <a:rPr lang="en-US" sz="1800" b="0" strike="noStrike" spc="-1">
                <a:solidFill>
                  <a:srgbClr val="000000"/>
                </a:solidFill>
                <a:latin typeface="Tahoma"/>
              </a:rPr>
              <a:t>				de-a doua linii a matricei, etc.</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05BF6E35-C1FE-40C4-8DBC-687A53CF6E53}" type="slidenum">
              <a:rPr lang="en-US" sz="1400" b="0" strike="noStrike" spc="-1">
                <a:solidFill>
                  <a:srgbClr val="5E574E"/>
                </a:solidFill>
                <a:latin typeface="Arial"/>
              </a:rPr>
              <a:t>32</a:t>
            </a:fld>
            <a:endParaRPr lang="en-US" sz="1400" b="0" strike="noStrike" spc="-1">
              <a:latin typeface="Times New Roman"/>
            </a:endParaRPr>
          </a:p>
        </p:txBody>
      </p:sp>
      <p:sp>
        <p:nvSpPr>
          <p:cNvPr id="402"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403" name="TextShape 5"/>
          <p:cNvSpPr txBox="1"/>
          <p:nvPr/>
        </p:nvSpPr>
        <p:spPr>
          <a:xfrm>
            <a:off x="495360" y="1447920"/>
            <a:ext cx="8859600" cy="4609800"/>
          </a:xfrm>
          <a:prstGeom prst="rect">
            <a:avLst/>
          </a:prstGeom>
          <a:noFill/>
          <a:ln>
            <a:noFill/>
          </a:ln>
        </p:spPr>
        <p:txBody>
          <a:bodyPr>
            <a:noAutofit/>
          </a:bodyPr>
          <a:lstStyle/>
          <a:p>
            <a:pPr marL="343080" indent="-342720">
              <a:lnSpc>
                <a:spcPct val="90000"/>
              </a:lnSpc>
              <a:spcBef>
                <a:spcPts val="799"/>
              </a:spcBef>
              <a:buClr>
                <a:srgbClr val="FFCC00"/>
              </a:buClr>
              <a:buFont typeface="Monotype Sorts" charset="2"/>
              <a:buChar char=""/>
            </a:pPr>
            <a:r>
              <a:rPr lang="en-US" sz="4000" b="0" i="1" strike="noStrike" spc="-1" dirty="0" err="1">
                <a:solidFill>
                  <a:srgbClr val="008000"/>
                </a:solidFill>
                <a:latin typeface="Tahoma"/>
              </a:rPr>
              <a:t>Exemplu</a:t>
            </a:r>
            <a:r>
              <a:rPr lang="en-US" sz="4000" b="0" i="1" strike="noStrike" spc="-1" dirty="0">
                <a:solidFill>
                  <a:srgbClr val="000000"/>
                </a:solidFill>
                <a:latin typeface="Tahoma"/>
              </a:rPr>
              <a:t>: </a:t>
            </a:r>
            <a:r>
              <a:rPr lang="en-US" sz="4000" b="0" strike="noStrike" spc="-1" dirty="0" err="1">
                <a:solidFill>
                  <a:srgbClr val="000000"/>
                </a:solidFill>
                <a:latin typeface="Tahoma"/>
              </a:rPr>
              <a:t>Să</a:t>
            </a:r>
            <a:r>
              <a:rPr lang="en-US" sz="4000" b="0" strike="noStrike" spc="-1" dirty="0">
                <a:solidFill>
                  <a:srgbClr val="000000"/>
                </a:solidFill>
                <a:latin typeface="Tahoma"/>
              </a:rPr>
              <a:t> se </a:t>
            </a:r>
            <a:r>
              <a:rPr lang="en-US" sz="4000" b="0" strike="noStrike" spc="-1" dirty="0" err="1">
                <a:solidFill>
                  <a:srgbClr val="000000"/>
                </a:solidFill>
                <a:latin typeface="Tahoma"/>
              </a:rPr>
              <a:t>calculeze</a:t>
            </a:r>
            <a:r>
              <a:rPr lang="en-US" sz="4000" b="0" strike="noStrike" spc="-1" dirty="0">
                <a:solidFill>
                  <a:srgbClr val="000000"/>
                </a:solidFill>
                <a:latin typeface="Tahoma"/>
              </a:rPr>
              <a:t> </a:t>
            </a:r>
            <a:r>
              <a:rPr lang="en-US" sz="4000" b="0" strike="noStrike" spc="-1" dirty="0" err="1">
                <a:solidFill>
                  <a:srgbClr val="000000"/>
                </a:solidFill>
                <a:latin typeface="Tahoma"/>
              </a:rPr>
              <a:t>minimul</a:t>
            </a:r>
            <a:r>
              <a:rPr lang="en-US" sz="4000" b="0" strike="noStrike" spc="-1" dirty="0">
                <a:solidFill>
                  <a:srgbClr val="000000"/>
                </a:solidFill>
                <a:latin typeface="Tahoma"/>
              </a:rPr>
              <a:t> </a:t>
            </a:r>
            <a:r>
              <a:rPr lang="en-US" sz="4000" b="0" strike="noStrike" spc="-1" dirty="0" err="1">
                <a:solidFill>
                  <a:srgbClr val="000000"/>
                </a:solidFill>
                <a:latin typeface="Tahoma"/>
              </a:rPr>
              <a:t>elementelor</a:t>
            </a:r>
            <a:r>
              <a:rPr lang="en-US" sz="4000" b="0" strike="noStrike" spc="-1" dirty="0">
                <a:solidFill>
                  <a:srgbClr val="000000"/>
                </a:solidFill>
                <a:latin typeface="Tahoma"/>
              </a:rPr>
              <a:t> </a:t>
            </a:r>
            <a:r>
              <a:rPr lang="en-US" sz="4000" b="0" strike="noStrike" spc="-1" dirty="0" err="1">
                <a:solidFill>
                  <a:srgbClr val="000000"/>
                </a:solidFill>
                <a:latin typeface="Tahoma"/>
              </a:rPr>
              <a:t>unui</a:t>
            </a:r>
            <a:r>
              <a:rPr lang="en-US" sz="4000" b="0" strike="noStrike" spc="-1" dirty="0">
                <a:solidFill>
                  <a:srgbClr val="000000"/>
                </a:solidFill>
                <a:latin typeface="Tahoma"/>
              </a:rPr>
              <a:t> </a:t>
            </a:r>
            <a:r>
              <a:rPr lang="en-US" sz="4000" b="0" strike="noStrike" spc="-1" dirty="0" err="1">
                <a:solidFill>
                  <a:srgbClr val="000000"/>
                </a:solidFill>
                <a:latin typeface="Tahoma"/>
              </a:rPr>
              <a:t>tablou</a:t>
            </a:r>
            <a:r>
              <a:rPr lang="en-US" sz="4000" b="0" strike="noStrike" spc="-1" dirty="0">
                <a:solidFill>
                  <a:srgbClr val="000000"/>
                </a:solidFill>
                <a:latin typeface="Tahoma"/>
              </a:rPr>
              <a:t>.</a:t>
            </a:r>
          </a:p>
          <a:p>
            <a:pPr marL="343080" indent="-342720">
              <a:lnSpc>
                <a:spcPct val="90000"/>
              </a:lnSpc>
              <a:spcBef>
                <a:spcPts val="799"/>
              </a:spcBef>
            </a:pPr>
            <a:r>
              <a:rPr lang="en-US" sz="4000" b="0" strike="noStrike" spc="-1" dirty="0">
                <a:solidFill>
                  <a:srgbClr val="000000"/>
                </a:solidFill>
                <a:latin typeface="Tahoma"/>
              </a:rPr>
              <a:t>		</a:t>
            </a:r>
            <a:r>
              <a:rPr lang="en-US" sz="2000" b="1" strike="noStrike" spc="-1" dirty="0">
                <a:solidFill>
                  <a:srgbClr val="000000"/>
                </a:solidFill>
                <a:latin typeface="Courier New"/>
              </a:rPr>
              <a:t>public class </a:t>
            </a:r>
            <a:r>
              <a:rPr lang="en-US" sz="2000" b="1" strike="noStrike" spc="-1" dirty="0" err="1">
                <a:solidFill>
                  <a:srgbClr val="000000"/>
                </a:solidFill>
                <a:latin typeface="Courier New"/>
              </a:rPr>
              <a:t>MinVect</a:t>
            </a:r>
            <a:r>
              <a:rPr lang="en-US" sz="2000" b="1" strike="noStrike" spc="-1" dirty="0">
                <a:solidFill>
                  <a:srgbClr val="000000"/>
                </a:solidFill>
                <a:latin typeface="Courier New"/>
              </a:rPr>
              <a:t>{</a:t>
            </a:r>
            <a:endParaRPr lang="en-US" sz="2000" b="0" strike="noStrike" spc="-1" dirty="0">
              <a:solidFill>
                <a:srgbClr val="000000"/>
              </a:solidFill>
              <a:latin typeface="Tahoma"/>
            </a:endParaRPr>
          </a:p>
          <a:p>
            <a:pPr marL="343080" indent="-342720">
              <a:lnSpc>
                <a:spcPct val="90000"/>
              </a:lnSpc>
              <a:spcBef>
                <a:spcPts val="400"/>
              </a:spcBef>
            </a:pPr>
            <a:r>
              <a:rPr lang="en-US" sz="2000" b="1" strike="noStrike" spc="-1" dirty="0">
                <a:solidFill>
                  <a:srgbClr val="000000"/>
                </a:solidFill>
                <a:latin typeface="Courier New"/>
              </a:rPr>
              <a:t>		  public static void main(String </a:t>
            </a:r>
            <a:r>
              <a:rPr lang="en-US" sz="2000" b="1" strike="noStrike" spc="-1" dirty="0" err="1">
                <a:solidFill>
                  <a:srgbClr val="000000"/>
                </a:solidFill>
                <a:latin typeface="Courier New"/>
              </a:rPr>
              <a:t>args</a:t>
            </a:r>
            <a:r>
              <a:rPr lang="en-US" sz="2000" b="1" strike="noStrike" spc="-1" dirty="0">
                <a:solidFill>
                  <a:srgbClr val="000000"/>
                </a:solidFill>
                <a:latin typeface="Courier New"/>
              </a:rPr>
              <a:t>[]){</a:t>
            </a:r>
            <a:endParaRPr lang="en-US" sz="2000" b="0" strike="noStrike" spc="-1" dirty="0">
              <a:solidFill>
                <a:srgbClr val="000000"/>
              </a:solidFill>
              <a:latin typeface="Tahoma"/>
            </a:endParaRPr>
          </a:p>
          <a:p>
            <a:pPr marL="343080" indent="-342720">
              <a:lnSpc>
                <a:spcPct val="90000"/>
              </a:lnSpc>
              <a:spcBef>
                <a:spcPts val="400"/>
              </a:spcBef>
            </a:pPr>
            <a:r>
              <a:rPr lang="en-US" sz="2000" b="1" strike="noStrike" spc="-1" dirty="0">
                <a:solidFill>
                  <a:srgbClr val="000000"/>
                </a:solidFill>
                <a:latin typeface="Courier New"/>
              </a:rPr>
              <a:t>			</a:t>
            </a:r>
            <a:r>
              <a:rPr lang="en-US" sz="2000" b="1" strike="noStrike" spc="-1" dirty="0" err="1">
                <a:solidFill>
                  <a:srgbClr val="000000"/>
                </a:solidFill>
                <a:latin typeface="Courier New"/>
              </a:rPr>
              <a:t>int</a:t>
            </a:r>
            <a:r>
              <a:rPr lang="en-US" sz="2000" b="1" strike="noStrike" spc="-1" dirty="0">
                <a:solidFill>
                  <a:srgbClr val="000000"/>
                </a:solidFill>
                <a:latin typeface="Courier New"/>
              </a:rPr>
              <a:t> t[]={2,1,4,7,3};</a:t>
            </a:r>
            <a:endParaRPr lang="en-US" sz="2000" b="0" strike="noStrike" spc="-1" dirty="0">
              <a:solidFill>
                <a:srgbClr val="000000"/>
              </a:solidFill>
              <a:latin typeface="Tahoma"/>
            </a:endParaRPr>
          </a:p>
          <a:p>
            <a:pPr marL="343080" indent="-342720">
              <a:lnSpc>
                <a:spcPct val="90000"/>
              </a:lnSpc>
              <a:spcBef>
                <a:spcPts val="400"/>
              </a:spcBef>
            </a:pPr>
            <a:r>
              <a:rPr lang="en-US" sz="2000" b="1" strike="noStrike" spc="-1" dirty="0">
                <a:solidFill>
                  <a:srgbClr val="000000"/>
                </a:solidFill>
                <a:latin typeface="Courier New"/>
              </a:rPr>
              <a:t>			</a:t>
            </a:r>
            <a:r>
              <a:rPr lang="en-US" sz="2000" b="1" strike="noStrike" spc="-1" dirty="0" err="1">
                <a:solidFill>
                  <a:srgbClr val="000000"/>
                </a:solidFill>
                <a:latin typeface="Courier New"/>
              </a:rPr>
              <a:t>int</a:t>
            </a:r>
            <a:r>
              <a:rPr lang="en-US" sz="2000" b="1" strike="noStrike" spc="-1" dirty="0">
                <a:solidFill>
                  <a:srgbClr val="000000"/>
                </a:solidFill>
                <a:latin typeface="Courier New"/>
              </a:rPr>
              <a:t> min=t[0];</a:t>
            </a:r>
            <a:endParaRPr lang="en-US" sz="2000" b="0" strike="noStrike" spc="-1" dirty="0">
              <a:solidFill>
                <a:srgbClr val="000000"/>
              </a:solidFill>
              <a:latin typeface="Tahoma"/>
            </a:endParaRPr>
          </a:p>
          <a:p>
            <a:pPr marL="343080" indent="-342720">
              <a:lnSpc>
                <a:spcPct val="90000"/>
              </a:lnSpc>
              <a:spcBef>
                <a:spcPts val="400"/>
              </a:spcBef>
            </a:pPr>
            <a:r>
              <a:rPr lang="en-US" sz="2000" b="1" strike="noStrike" spc="-1" dirty="0">
                <a:solidFill>
                  <a:srgbClr val="000000"/>
                </a:solidFill>
                <a:latin typeface="Courier New"/>
              </a:rPr>
              <a:t>			for(</a:t>
            </a:r>
            <a:r>
              <a:rPr lang="en-US" sz="2000" b="1" strike="noStrike" spc="-1" dirty="0" err="1">
                <a:solidFill>
                  <a:srgbClr val="000000"/>
                </a:solidFill>
                <a:latin typeface="Courier New"/>
              </a:rPr>
              <a:t>int</a:t>
            </a:r>
            <a:r>
              <a:rPr lang="en-US" sz="2000" b="1" strike="noStrike" spc="-1" dirty="0">
                <a:solidFill>
                  <a:srgbClr val="000000"/>
                </a:solidFill>
                <a:latin typeface="Courier New"/>
              </a:rPr>
              <a:t> </a:t>
            </a:r>
            <a:r>
              <a:rPr lang="en-US" sz="2000" b="1" strike="noStrike" spc="-1" dirty="0" err="1">
                <a:solidFill>
                  <a:srgbClr val="000000"/>
                </a:solidFill>
                <a:latin typeface="Courier New"/>
              </a:rPr>
              <a:t>i</a:t>
            </a:r>
            <a:r>
              <a:rPr lang="en-US" sz="2000" b="1" strike="noStrike" spc="-1" dirty="0">
                <a:solidFill>
                  <a:srgbClr val="000000"/>
                </a:solidFill>
                <a:latin typeface="Courier New"/>
              </a:rPr>
              <a:t>=1; </a:t>
            </a:r>
            <a:r>
              <a:rPr lang="en-US" sz="2000" b="1" strike="noStrike" spc="-1" dirty="0" err="1">
                <a:solidFill>
                  <a:srgbClr val="000000"/>
                </a:solidFill>
                <a:latin typeface="Courier New"/>
              </a:rPr>
              <a:t>i</a:t>
            </a:r>
            <a:r>
              <a:rPr lang="en-US" sz="2000" b="1" strike="noStrike" spc="-1" dirty="0">
                <a:solidFill>
                  <a:srgbClr val="000000"/>
                </a:solidFill>
                <a:latin typeface="Courier New"/>
              </a:rPr>
              <a:t>&lt;</a:t>
            </a:r>
            <a:r>
              <a:rPr lang="en-US" sz="2000" b="1" strike="noStrike" spc="-1" dirty="0" err="1">
                <a:solidFill>
                  <a:srgbClr val="000000"/>
                </a:solidFill>
                <a:latin typeface="Courier New"/>
              </a:rPr>
              <a:t>t.length</a:t>
            </a:r>
            <a:r>
              <a:rPr lang="en-US" sz="2000" b="1" strike="noStrike" spc="-1" dirty="0">
                <a:solidFill>
                  <a:srgbClr val="000000"/>
                </a:solidFill>
                <a:latin typeface="Courier New"/>
              </a:rPr>
              <a:t>; </a:t>
            </a:r>
            <a:r>
              <a:rPr lang="en-US" sz="2000" b="1" strike="noStrike" spc="-1" dirty="0" err="1">
                <a:solidFill>
                  <a:srgbClr val="000000"/>
                </a:solidFill>
                <a:latin typeface="Courier New"/>
              </a:rPr>
              <a:t>i</a:t>
            </a:r>
            <a:r>
              <a:rPr lang="en-US" sz="2000" b="1" strike="noStrike" spc="-1" dirty="0">
                <a:solidFill>
                  <a:srgbClr val="000000"/>
                </a:solidFill>
                <a:latin typeface="Courier New"/>
              </a:rPr>
              <a:t>++)</a:t>
            </a:r>
            <a:endParaRPr lang="en-US" sz="2000" b="0" strike="noStrike" spc="-1" dirty="0">
              <a:solidFill>
                <a:srgbClr val="000000"/>
              </a:solidFill>
              <a:latin typeface="Tahoma"/>
            </a:endParaRPr>
          </a:p>
          <a:p>
            <a:pPr marL="343080" indent="-342720">
              <a:lnSpc>
                <a:spcPct val="90000"/>
              </a:lnSpc>
              <a:spcBef>
                <a:spcPts val="400"/>
              </a:spcBef>
            </a:pPr>
            <a:r>
              <a:rPr lang="en-US" sz="2000" b="1" strike="noStrike" spc="-1" dirty="0">
                <a:solidFill>
                  <a:srgbClr val="000000"/>
                </a:solidFill>
                <a:latin typeface="Courier New"/>
              </a:rPr>
              <a:t>				if (t[</a:t>
            </a:r>
            <a:r>
              <a:rPr lang="en-US" sz="2000" b="1" strike="noStrike" spc="-1" dirty="0" err="1">
                <a:solidFill>
                  <a:srgbClr val="000000"/>
                </a:solidFill>
                <a:latin typeface="Courier New"/>
              </a:rPr>
              <a:t>i</a:t>
            </a:r>
            <a:r>
              <a:rPr lang="en-US" sz="2000" b="1" strike="noStrike" spc="-1" dirty="0">
                <a:solidFill>
                  <a:srgbClr val="000000"/>
                </a:solidFill>
                <a:latin typeface="Courier New"/>
              </a:rPr>
              <a:t>]&lt;min) min=t[</a:t>
            </a:r>
            <a:r>
              <a:rPr lang="en-US" sz="2000" b="1" strike="noStrike" spc="-1" dirty="0" err="1">
                <a:solidFill>
                  <a:srgbClr val="000000"/>
                </a:solidFill>
                <a:latin typeface="Courier New"/>
              </a:rPr>
              <a:t>i</a:t>
            </a:r>
            <a:r>
              <a:rPr lang="en-US" sz="2000" b="1" strike="noStrike" spc="-1" dirty="0">
                <a:solidFill>
                  <a:srgbClr val="000000"/>
                </a:solidFill>
                <a:latin typeface="Courier New"/>
              </a:rPr>
              <a:t>];</a:t>
            </a:r>
            <a:endParaRPr lang="en-US" sz="2000" b="0" strike="noStrike" spc="-1" dirty="0">
              <a:solidFill>
                <a:srgbClr val="000000"/>
              </a:solidFill>
              <a:latin typeface="Tahoma"/>
            </a:endParaRPr>
          </a:p>
          <a:p>
            <a:pPr marL="343080" indent="-342720">
              <a:lnSpc>
                <a:spcPct val="90000"/>
              </a:lnSpc>
              <a:spcBef>
                <a:spcPts val="400"/>
              </a:spcBef>
            </a:pPr>
            <a:r>
              <a:rPr lang="en-US" sz="2000" b="1" strike="noStrike" spc="-1" dirty="0">
                <a:solidFill>
                  <a:srgbClr val="000000"/>
                </a:solidFill>
                <a:latin typeface="Courier New"/>
              </a:rPr>
              <a:t>			</a:t>
            </a:r>
            <a:r>
              <a:rPr lang="en-US" sz="2000" b="1" strike="noStrike" spc="-1" dirty="0" err="1">
                <a:solidFill>
                  <a:srgbClr val="000000"/>
                </a:solidFill>
                <a:latin typeface="Courier New"/>
              </a:rPr>
              <a:t>System.out.println</a:t>
            </a:r>
            <a:r>
              <a:rPr lang="en-US" sz="2000" b="1" strike="noStrike" spc="-1" dirty="0">
                <a:solidFill>
                  <a:srgbClr val="000000"/>
                </a:solidFill>
                <a:latin typeface="Courier New"/>
              </a:rPr>
              <a:t>("</a:t>
            </a:r>
            <a:r>
              <a:rPr lang="en-US" sz="2000" b="1" strike="noStrike" spc="-1" dirty="0" err="1">
                <a:solidFill>
                  <a:srgbClr val="000000"/>
                </a:solidFill>
                <a:latin typeface="Courier New"/>
              </a:rPr>
              <a:t>Minimul</a:t>
            </a:r>
            <a:r>
              <a:rPr lang="en-US" sz="2000" b="1" strike="noStrike" spc="-1" dirty="0">
                <a:solidFill>
                  <a:srgbClr val="000000"/>
                </a:solidFill>
                <a:latin typeface="Courier New"/>
              </a:rPr>
              <a:t> </a:t>
            </a:r>
            <a:r>
              <a:rPr lang="en-US" sz="2000" b="1" strike="noStrike" spc="-1" dirty="0" err="1">
                <a:solidFill>
                  <a:srgbClr val="000000"/>
                </a:solidFill>
                <a:latin typeface="Courier New"/>
              </a:rPr>
              <a:t>este</a:t>
            </a:r>
            <a:r>
              <a:rPr lang="en-US" sz="2000" b="1" strike="noStrike" spc="-1" dirty="0">
                <a:solidFill>
                  <a:srgbClr val="000000"/>
                </a:solidFill>
                <a:latin typeface="Courier New"/>
              </a:rPr>
              <a:t> "+min);  	  }</a:t>
            </a:r>
            <a:endParaRPr lang="en-US" sz="2000" b="0" strike="noStrike" spc="-1" dirty="0">
              <a:solidFill>
                <a:srgbClr val="000000"/>
              </a:solidFill>
              <a:latin typeface="Tahoma"/>
            </a:endParaRPr>
          </a:p>
          <a:p>
            <a:pPr marL="343080" indent="-342720">
              <a:lnSpc>
                <a:spcPct val="90000"/>
              </a:lnSpc>
              <a:spcBef>
                <a:spcPts val="400"/>
              </a:spcBef>
            </a:pPr>
            <a:r>
              <a:rPr lang="en-US" sz="2000" b="1" strike="noStrike" spc="-1" dirty="0">
                <a:solidFill>
                  <a:srgbClr val="000000"/>
                </a:solidFill>
                <a:latin typeface="Courier New"/>
              </a:rPr>
              <a:t>		}</a:t>
            </a:r>
            <a:endParaRPr lang="en-US" sz="20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B5453934-4A0C-4826-8679-4D585ED46BD3}" type="slidenum">
              <a:rPr lang="en-US" sz="1400" b="0" strike="noStrike" spc="-1">
                <a:solidFill>
                  <a:srgbClr val="5E574E"/>
                </a:solidFill>
                <a:latin typeface="Arial"/>
              </a:rPr>
              <a:t>33</a:t>
            </a:fld>
            <a:endParaRPr lang="en-US" sz="1400" b="0" strike="noStrike" spc="-1">
              <a:latin typeface="Times New Roman"/>
            </a:endParaRPr>
          </a:p>
        </p:txBody>
      </p:sp>
      <p:sp>
        <p:nvSpPr>
          <p:cNvPr id="407"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408" name="TextShape 5"/>
          <p:cNvSpPr txBox="1"/>
          <p:nvPr/>
        </p:nvSpPr>
        <p:spPr>
          <a:xfrm>
            <a:off x="495360" y="1314720"/>
            <a:ext cx="8859600" cy="4914720"/>
          </a:xfrm>
          <a:prstGeom prst="rect">
            <a:avLst/>
          </a:prstGeom>
          <a:noFill/>
          <a:ln>
            <a:noFill/>
          </a:ln>
        </p:spPr>
        <p:txBody>
          <a:bodyPr>
            <a:noAutofit/>
          </a:bodyPr>
          <a:lstStyle/>
          <a:p>
            <a:pPr marL="343080" indent="-342720">
              <a:lnSpc>
                <a:spcPct val="80000"/>
              </a:lnSpc>
              <a:spcBef>
                <a:spcPts val="320"/>
              </a:spcBef>
              <a:buClr>
                <a:srgbClr val="FFCC00"/>
              </a:buClr>
              <a:buFont typeface="Monotype Sorts" charset="2"/>
              <a:buChar char=""/>
            </a:pPr>
            <a:r>
              <a:rPr lang="en-US" b="0" strike="noStrike" spc="-1" dirty="0">
                <a:solidFill>
                  <a:srgbClr val="000000"/>
                </a:solidFill>
                <a:latin typeface="Tahoma"/>
              </a:rPr>
              <a:t>Java </a:t>
            </a:r>
            <a:r>
              <a:rPr lang="en-US" b="0" strike="noStrike" spc="-1" dirty="0" err="1">
                <a:solidFill>
                  <a:srgbClr val="000000"/>
                </a:solidFill>
                <a:latin typeface="Tahoma"/>
              </a:rPr>
              <a:t>permite</a:t>
            </a:r>
            <a:r>
              <a:rPr lang="en-US" b="0" strike="noStrike" spc="-1" dirty="0">
                <a:solidFill>
                  <a:srgbClr val="000000"/>
                </a:solidFill>
                <a:latin typeface="Tahoma"/>
              </a:rPr>
              <a:t> </a:t>
            </a:r>
            <a:r>
              <a:rPr lang="en-US" b="0" strike="noStrike" spc="-1" dirty="0" err="1">
                <a:solidFill>
                  <a:srgbClr val="000000"/>
                </a:solidFill>
                <a:latin typeface="Tahoma"/>
              </a:rPr>
              <a:t>folosirea</a:t>
            </a:r>
            <a:r>
              <a:rPr lang="en-US" b="0" strike="noStrike" spc="-1" dirty="0">
                <a:solidFill>
                  <a:srgbClr val="000000"/>
                </a:solidFill>
                <a:latin typeface="Tahoma"/>
              </a:rPr>
              <a:t> </a:t>
            </a:r>
            <a:r>
              <a:rPr lang="en-US" b="0" strike="noStrike" spc="-1" dirty="0" err="1">
                <a:solidFill>
                  <a:srgbClr val="000000"/>
                </a:solidFill>
                <a:latin typeface="Tahoma"/>
              </a:rPr>
              <a:t>tablourilor</a:t>
            </a:r>
            <a:r>
              <a:rPr lang="en-US" b="0" strike="noStrike" spc="-1" dirty="0">
                <a:solidFill>
                  <a:srgbClr val="000000"/>
                </a:solidFill>
                <a:latin typeface="Tahoma"/>
              </a:rPr>
              <a:t> cu </a:t>
            </a:r>
            <a:r>
              <a:rPr lang="en-US" b="0" strike="noStrike" spc="-1" dirty="0" err="1">
                <a:solidFill>
                  <a:srgbClr val="000000"/>
                </a:solidFill>
                <a:latin typeface="Tahoma"/>
              </a:rPr>
              <a:t>dimensiuni</a:t>
            </a:r>
            <a:r>
              <a:rPr lang="en-US" b="0" strike="noStrike" spc="-1" dirty="0">
                <a:solidFill>
                  <a:srgbClr val="000000"/>
                </a:solidFill>
                <a:latin typeface="Tahoma"/>
              </a:rPr>
              <a:t> </a:t>
            </a:r>
            <a:r>
              <a:rPr lang="en-US" b="0" strike="noStrike" spc="-1" dirty="0" err="1">
                <a:solidFill>
                  <a:srgbClr val="000000"/>
                </a:solidFill>
                <a:latin typeface="Tahoma"/>
              </a:rPr>
              <a:t>variabile</a:t>
            </a:r>
            <a:r>
              <a:rPr lang="en-US" b="0" strike="noStrike" spc="-1" dirty="0">
                <a:solidFill>
                  <a:srgbClr val="000000"/>
                </a:solidFill>
                <a:latin typeface="Tahoma"/>
              </a:rPr>
              <a:t> </a:t>
            </a:r>
            <a:r>
              <a:rPr lang="en-US" b="0" strike="noStrike" spc="-1" dirty="0" err="1">
                <a:solidFill>
                  <a:srgbClr val="000000"/>
                </a:solidFill>
                <a:latin typeface="Tahoma"/>
              </a:rPr>
              <a:t>adică</a:t>
            </a:r>
            <a:r>
              <a:rPr lang="en-US" b="0" strike="noStrike" spc="-1" dirty="0">
                <a:solidFill>
                  <a:srgbClr val="000000"/>
                </a:solidFill>
                <a:latin typeface="Tahoma"/>
              </a:rPr>
              <a:t>, a </a:t>
            </a:r>
            <a:r>
              <a:rPr lang="en-US" b="0" strike="noStrike" spc="-1" dirty="0" err="1">
                <a:solidFill>
                  <a:srgbClr val="000000"/>
                </a:solidFill>
                <a:latin typeface="Tahoma"/>
              </a:rPr>
              <a:t>tablourilor</a:t>
            </a:r>
            <a:r>
              <a:rPr lang="en-US" b="0" strike="noStrike" spc="-1" dirty="0">
                <a:solidFill>
                  <a:srgbClr val="000000"/>
                </a:solidFill>
                <a:latin typeface="Tahoma"/>
              </a:rPr>
              <a:t> de </a:t>
            </a:r>
            <a:r>
              <a:rPr lang="en-US" b="0" strike="noStrike" spc="-1" dirty="0" err="1">
                <a:solidFill>
                  <a:srgbClr val="000000"/>
                </a:solidFill>
                <a:latin typeface="Tahoma"/>
              </a:rPr>
              <a:t>tablouri</a:t>
            </a:r>
            <a:r>
              <a:rPr lang="en-US" b="0" strike="noStrike" spc="-1" dirty="0">
                <a:solidFill>
                  <a:srgbClr val="000000"/>
                </a:solidFill>
                <a:latin typeface="Tahoma"/>
              </a:rPr>
              <a:t> cu </a:t>
            </a:r>
            <a:r>
              <a:rPr lang="en-US" b="0" strike="noStrike" spc="-1" dirty="0" err="1">
                <a:solidFill>
                  <a:srgbClr val="000000"/>
                </a:solidFill>
                <a:latin typeface="Tahoma"/>
              </a:rPr>
              <a:t>dimensiuni</a:t>
            </a:r>
            <a:r>
              <a:rPr lang="en-US" b="0" strike="noStrike" spc="-1" dirty="0">
                <a:solidFill>
                  <a:srgbClr val="000000"/>
                </a:solidFill>
                <a:latin typeface="Tahoma"/>
              </a:rPr>
              <a:t> </a:t>
            </a:r>
            <a:r>
              <a:rPr lang="en-US" b="0" strike="noStrike" spc="-1" dirty="0" err="1">
                <a:solidFill>
                  <a:srgbClr val="000000"/>
                </a:solidFill>
                <a:latin typeface="Tahoma"/>
              </a:rPr>
              <a:t>variabile</a:t>
            </a:r>
            <a:r>
              <a:rPr lang="en-US" b="0" strike="noStrike" spc="-1" dirty="0">
                <a:solidFill>
                  <a:srgbClr val="000000"/>
                </a:solidFill>
                <a:latin typeface="Tahoma"/>
              </a:rPr>
              <a:t>.</a:t>
            </a:r>
          </a:p>
          <a:p>
            <a:pPr marL="343080" indent="-342720">
              <a:lnSpc>
                <a:spcPct val="80000"/>
              </a:lnSpc>
              <a:spcBef>
                <a:spcPts val="320"/>
              </a:spcBef>
              <a:buClr>
                <a:srgbClr val="FFCC00"/>
              </a:buClr>
              <a:buFont typeface="Monotype Sorts" charset="2"/>
              <a:buChar char=""/>
            </a:pPr>
            <a:r>
              <a:rPr lang="en-US" b="0" i="1" strike="noStrike" spc="-1" dirty="0" err="1">
                <a:solidFill>
                  <a:srgbClr val="008000"/>
                </a:solidFill>
                <a:latin typeface="Tahoma"/>
              </a:rPr>
              <a:t>Exemplu</a:t>
            </a:r>
            <a:r>
              <a:rPr lang="en-US" b="0" i="1" strike="noStrike" spc="-1" dirty="0">
                <a:solidFill>
                  <a:srgbClr val="000000"/>
                </a:solidFill>
                <a:latin typeface="Tahoma"/>
              </a:rPr>
              <a:t>: </a:t>
            </a:r>
            <a:r>
              <a:rPr lang="en-US" b="0" strike="noStrike" spc="-1" dirty="0" err="1">
                <a:solidFill>
                  <a:srgbClr val="000000"/>
                </a:solidFill>
                <a:latin typeface="Tahoma"/>
              </a:rPr>
              <a:t>Să</a:t>
            </a:r>
            <a:r>
              <a:rPr lang="en-US" b="0" strike="noStrike" spc="-1" dirty="0">
                <a:solidFill>
                  <a:srgbClr val="000000"/>
                </a:solidFill>
                <a:latin typeface="Tahoma"/>
              </a:rPr>
              <a:t> se </a:t>
            </a:r>
            <a:r>
              <a:rPr lang="en-US" b="0" strike="noStrike" spc="-1" dirty="0" err="1">
                <a:solidFill>
                  <a:srgbClr val="000000"/>
                </a:solidFill>
                <a:latin typeface="Tahoma"/>
              </a:rPr>
              <a:t>genereze</a:t>
            </a:r>
            <a:r>
              <a:rPr lang="en-US" b="0" strike="noStrike" spc="-1" dirty="0">
                <a:solidFill>
                  <a:srgbClr val="000000"/>
                </a:solidFill>
                <a:latin typeface="Tahoma"/>
              </a:rPr>
              <a:t> </a:t>
            </a:r>
            <a:r>
              <a:rPr lang="en-US" b="0" strike="noStrike" spc="-1" dirty="0" err="1">
                <a:solidFill>
                  <a:srgbClr val="000000"/>
                </a:solidFill>
                <a:latin typeface="Tahoma"/>
              </a:rPr>
              <a:t>şi</a:t>
            </a:r>
            <a:r>
              <a:rPr lang="en-US" b="0" strike="noStrike" spc="-1" dirty="0">
                <a:solidFill>
                  <a:srgbClr val="000000"/>
                </a:solidFill>
                <a:latin typeface="Tahoma"/>
              </a:rPr>
              <a:t> </a:t>
            </a:r>
            <a:r>
              <a:rPr lang="en-US" b="0" strike="noStrike" spc="-1" dirty="0" err="1">
                <a:solidFill>
                  <a:srgbClr val="000000"/>
                </a:solidFill>
                <a:latin typeface="Tahoma"/>
              </a:rPr>
              <a:t>să</a:t>
            </a:r>
            <a:r>
              <a:rPr lang="en-US" b="0" strike="noStrike" spc="-1" dirty="0">
                <a:solidFill>
                  <a:srgbClr val="000000"/>
                </a:solidFill>
                <a:latin typeface="Tahoma"/>
              </a:rPr>
              <a:t> se </a:t>
            </a:r>
            <a:r>
              <a:rPr lang="en-US" b="0" strike="noStrike" spc="-1" dirty="0" err="1">
                <a:solidFill>
                  <a:srgbClr val="000000"/>
                </a:solidFill>
                <a:latin typeface="Tahoma"/>
              </a:rPr>
              <a:t>afişeze</a:t>
            </a:r>
            <a:r>
              <a:rPr lang="en-US" b="0" strike="noStrike" spc="-1" dirty="0">
                <a:solidFill>
                  <a:srgbClr val="000000"/>
                </a:solidFill>
                <a:latin typeface="Tahoma"/>
              </a:rPr>
              <a:t> </a:t>
            </a:r>
            <a:r>
              <a:rPr lang="en-US" b="0" strike="noStrike" spc="-1" dirty="0" err="1">
                <a:solidFill>
                  <a:srgbClr val="000000"/>
                </a:solidFill>
                <a:latin typeface="Tahoma"/>
              </a:rPr>
              <a:t>triunghiul</a:t>
            </a:r>
            <a:r>
              <a:rPr lang="en-US" b="0" strike="noStrike" spc="-1" dirty="0">
                <a:solidFill>
                  <a:srgbClr val="000000"/>
                </a:solidFill>
                <a:latin typeface="Tahoma"/>
              </a:rPr>
              <a:t> </a:t>
            </a:r>
            <a:r>
              <a:rPr lang="en-US" b="0" strike="noStrike" spc="-1" dirty="0" err="1">
                <a:solidFill>
                  <a:srgbClr val="000000"/>
                </a:solidFill>
                <a:latin typeface="Tahoma"/>
              </a:rPr>
              <a:t>lui</a:t>
            </a:r>
            <a:r>
              <a:rPr lang="en-US" b="0" strike="noStrike" spc="-1" dirty="0">
                <a:solidFill>
                  <a:srgbClr val="000000"/>
                </a:solidFill>
                <a:latin typeface="Tahoma"/>
              </a:rPr>
              <a:t> Pascal.</a:t>
            </a:r>
          </a:p>
          <a:p>
            <a:pPr marL="343080" indent="-342720">
              <a:lnSpc>
                <a:spcPct val="80000"/>
              </a:lnSpc>
              <a:spcBef>
                <a:spcPts val="241"/>
              </a:spcBef>
            </a:pPr>
            <a:r>
              <a:rPr lang="en-US" sz="1400" b="1" strike="noStrike" spc="-1" dirty="0">
                <a:solidFill>
                  <a:srgbClr val="000000"/>
                </a:solidFill>
                <a:latin typeface="Courier New"/>
              </a:rPr>
              <a:t>	public class </a:t>
            </a:r>
            <a:r>
              <a:rPr lang="en-US" sz="1400" b="1" strike="noStrike" spc="-1" dirty="0" err="1">
                <a:solidFill>
                  <a:srgbClr val="000000"/>
                </a:solidFill>
                <a:latin typeface="Courier New"/>
              </a:rPr>
              <a:t>TrPascal</a:t>
            </a:r>
            <a:r>
              <a:rPr lang="en-US" sz="1400" b="1" strike="noStrike" spc="-1" dirty="0">
                <a:solidFill>
                  <a:srgbClr val="000000"/>
                </a:solidFill>
                <a:latin typeface="Courier New"/>
              </a:rPr>
              <a:t>{</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public static void main(String </a:t>
            </a:r>
            <a:r>
              <a:rPr lang="en-US" sz="1400" b="1" strike="noStrike" spc="-1" dirty="0" err="1">
                <a:solidFill>
                  <a:srgbClr val="000000"/>
                </a:solidFill>
                <a:latin typeface="Courier New"/>
              </a:rPr>
              <a:t>args</a:t>
            </a:r>
            <a:r>
              <a:rPr lang="en-US" sz="1400" b="1" strike="noStrike" spc="-1" dirty="0">
                <a:solidFill>
                  <a:srgbClr val="000000"/>
                </a:solidFill>
                <a:latin typeface="Courier New"/>
              </a:rPr>
              <a:t>[]){</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a:t>
            </a:r>
            <a:r>
              <a:rPr lang="en-US" sz="1400" b="1" strike="noStrike" spc="-1" dirty="0" err="1">
                <a:solidFill>
                  <a:srgbClr val="000000"/>
                </a:solidFill>
                <a:latin typeface="Courier New"/>
              </a:rPr>
              <a:t>int</a:t>
            </a:r>
            <a:r>
              <a:rPr lang="en-US" sz="1400" b="1" strike="noStrike" spc="-1" dirty="0">
                <a:solidFill>
                  <a:srgbClr val="000000"/>
                </a:solidFill>
                <a:latin typeface="Courier New"/>
              </a:rPr>
              <a:t> []t[] =new </a:t>
            </a:r>
            <a:r>
              <a:rPr lang="en-US" sz="1400" b="1" strike="noStrike" spc="-1" dirty="0" err="1">
                <a:solidFill>
                  <a:srgbClr val="000000"/>
                </a:solidFill>
                <a:latin typeface="Courier New"/>
              </a:rPr>
              <a:t>int</a:t>
            </a:r>
            <a:r>
              <a:rPr lang="en-US" sz="1400" b="1" strike="noStrike" spc="-1" dirty="0">
                <a:solidFill>
                  <a:srgbClr val="000000"/>
                </a:solidFill>
                <a:latin typeface="Courier New"/>
              </a:rPr>
              <a:t>[10][];		//</a:t>
            </a:r>
            <a:r>
              <a:rPr lang="en-US" sz="1050" b="0" strike="noStrike" spc="-1" dirty="0" err="1">
                <a:solidFill>
                  <a:srgbClr val="000000"/>
                </a:solidFill>
                <a:latin typeface="Courier New"/>
              </a:rPr>
              <a:t>declarare</a:t>
            </a:r>
            <a:r>
              <a:rPr lang="en-US" sz="1050" b="0" strike="noStrike" spc="-1" dirty="0">
                <a:solidFill>
                  <a:srgbClr val="000000"/>
                </a:solidFill>
                <a:latin typeface="Courier New"/>
              </a:rPr>
              <a:t> </a:t>
            </a:r>
            <a:r>
              <a:rPr lang="en-US" sz="1050" b="0" strike="noStrike" spc="-1" dirty="0" err="1">
                <a:solidFill>
                  <a:srgbClr val="000000"/>
                </a:solidFill>
                <a:latin typeface="Courier New"/>
              </a:rPr>
              <a:t>matrice</a:t>
            </a:r>
            <a:r>
              <a:rPr lang="en-US" sz="1050" b="0" strike="noStrike" spc="-1" dirty="0">
                <a:solidFill>
                  <a:srgbClr val="000000"/>
                </a:solidFill>
                <a:latin typeface="Courier New"/>
              </a:rPr>
              <a:t> </a:t>
            </a:r>
            <a:r>
              <a:rPr lang="en-US" sz="1050" b="0" strike="noStrike" spc="-1" dirty="0" err="1">
                <a:solidFill>
                  <a:srgbClr val="000000"/>
                </a:solidFill>
                <a:latin typeface="Courier New"/>
              </a:rPr>
              <a:t>variabila</a:t>
            </a:r>
            <a:endParaRPr lang="en-US" sz="105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t[0]   	=new </a:t>
            </a:r>
            <a:r>
              <a:rPr lang="en-US" sz="1400" b="1" strike="noStrike" spc="-1" dirty="0" err="1">
                <a:solidFill>
                  <a:srgbClr val="000000"/>
                </a:solidFill>
                <a:latin typeface="Courier New"/>
              </a:rPr>
              <a:t>int</a:t>
            </a:r>
            <a:r>
              <a:rPr lang="en-US" sz="1400" b="1" strike="noStrike" spc="-1" dirty="0">
                <a:solidFill>
                  <a:srgbClr val="000000"/>
                </a:solidFill>
                <a:latin typeface="Courier New"/>
              </a:rPr>
              <a:t>[1];		//</a:t>
            </a:r>
            <a:r>
              <a:rPr lang="en-US" sz="1050" b="0" strike="noStrike" spc="-1" dirty="0" err="1">
                <a:solidFill>
                  <a:srgbClr val="000000"/>
                </a:solidFill>
                <a:latin typeface="Courier New"/>
              </a:rPr>
              <a:t>initializare</a:t>
            </a:r>
            <a:r>
              <a:rPr lang="en-US" sz="1050" b="0" strike="noStrike" spc="-1" dirty="0">
                <a:solidFill>
                  <a:srgbClr val="000000"/>
                </a:solidFill>
                <a:latin typeface="Courier New"/>
              </a:rPr>
              <a:t> </a:t>
            </a:r>
            <a:r>
              <a:rPr lang="en-US" sz="1050" b="0" strike="noStrike" spc="-1" dirty="0" err="1">
                <a:solidFill>
                  <a:srgbClr val="000000"/>
                </a:solidFill>
                <a:latin typeface="Courier New"/>
              </a:rPr>
              <a:t>primele</a:t>
            </a:r>
            <a:r>
              <a:rPr lang="en-US" sz="1050" b="0" strike="noStrike" spc="-1" dirty="0">
                <a:solidFill>
                  <a:srgbClr val="000000"/>
                </a:solidFill>
                <a:latin typeface="Courier New"/>
              </a:rPr>
              <a:t> 2 </a:t>
            </a:r>
            <a:r>
              <a:rPr lang="en-US" sz="1050" b="0" strike="noStrike" spc="-1" dirty="0" err="1">
                <a:solidFill>
                  <a:srgbClr val="000000"/>
                </a:solidFill>
                <a:latin typeface="Courier New"/>
              </a:rPr>
              <a:t>linii</a:t>
            </a:r>
            <a:endParaRPr lang="en-US" sz="105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t[1]   	=new </a:t>
            </a:r>
            <a:r>
              <a:rPr lang="en-US" sz="1400" b="1" strike="noStrike" spc="-1" dirty="0" err="1">
                <a:solidFill>
                  <a:srgbClr val="000000"/>
                </a:solidFill>
                <a:latin typeface="Courier New"/>
              </a:rPr>
              <a:t>int</a:t>
            </a:r>
            <a:r>
              <a:rPr lang="en-US" sz="1400" b="1" strike="noStrike" spc="-1" dirty="0">
                <a:solidFill>
                  <a:srgbClr val="000000"/>
                </a:solidFill>
                <a:latin typeface="Courier New"/>
              </a:rPr>
              <a:t>[2];</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t[0][0]	=t[1][0]=t[1][1]=1;		</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for(</a:t>
            </a:r>
            <a:r>
              <a:rPr lang="en-US" sz="1400" b="1" strike="noStrike" spc="-1" dirty="0" err="1">
                <a:solidFill>
                  <a:srgbClr val="000000"/>
                </a:solidFill>
                <a:latin typeface="Courier New"/>
              </a:rPr>
              <a:t>int</a:t>
            </a:r>
            <a:r>
              <a:rPr lang="en-US" sz="1400" b="1" strike="noStrike" spc="-1" dirty="0">
                <a:solidFill>
                  <a:srgbClr val="000000"/>
                </a:solidFill>
                <a:latin typeface="Courier New"/>
              </a:rPr>
              <a:t> </a:t>
            </a:r>
            <a:r>
              <a:rPr lang="en-US" sz="1400" b="1" strike="noStrike" spc="-1" dirty="0" err="1">
                <a:solidFill>
                  <a:srgbClr val="000000"/>
                </a:solidFill>
                <a:latin typeface="Courier New"/>
              </a:rPr>
              <a:t>i</a:t>
            </a:r>
            <a:r>
              <a:rPr lang="en-US" sz="1400" b="1" strike="noStrike" spc="-1" dirty="0">
                <a:solidFill>
                  <a:srgbClr val="000000"/>
                </a:solidFill>
                <a:latin typeface="Courier New"/>
              </a:rPr>
              <a:t>=2; </a:t>
            </a:r>
            <a:r>
              <a:rPr lang="en-US" sz="1400" b="1" strike="noStrike" spc="-1" dirty="0" err="1">
                <a:solidFill>
                  <a:srgbClr val="000000"/>
                </a:solidFill>
                <a:latin typeface="Courier New"/>
              </a:rPr>
              <a:t>i</a:t>
            </a:r>
            <a:r>
              <a:rPr lang="en-US" sz="1400" b="1" strike="noStrike" spc="-1" dirty="0">
                <a:solidFill>
                  <a:srgbClr val="000000"/>
                </a:solidFill>
                <a:latin typeface="Courier New"/>
              </a:rPr>
              <a:t>&lt;</a:t>
            </a:r>
            <a:r>
              <a:rPr lang="en-US" sz="1400" b="1" strike="noStrike" spc="-1" dirty="0" err="1">
                <a:solidFill>
                  <a:srgbClr val="000000"/>
                </a:solidFill>
                <a:latin typeface="Courier New"/>
              </a:rPr>
              <a:t>t.length</a:t>
            </a:r>
            <a:r>
              <a:rPr lang="en-US" sz="1400" b="1" strike="noStrike" spc="-1" dirty="0">
                <a:solidFill>
                  <a:srgbClr val="000000"/>
                </a:solidFill>
                <a:latin typeface="Courier New"/>
              </a:rPr>
              <a:t>; </a:t>
            </a:r>
            <a:r>
              <a:rPr lang="en-US" sz="1400" b="1" strike="noStrike" spc="-1" dirty="0" err="1">
                <a:solidFill>
                  <a:srgbClr val="000000"/>
                </a:solidFill>
                <a:latin typeface="Courier New"/>
              </a:rPr>
              <a:t>i</a:t>
            </a:r>
            <a:r>
              <a:rPr lang="en-US" sz="1400" b="1" strike="noStrike" spc="-1" dirty="0">
                <a:solidFill>
                  <a:srgbClr val="000000"/>
                </a:solidFill>
                <a:latin typeface="Courier New"/>
              </a:rPr>
              <a:t>++){		//</a:t>
            </a:r>
            <a:r>
              <a:rPr lang="en-US" sz="1050" b="0" strike="noStrike" spc="-1" dirty="0" err="1">
                <a:solidFill>
                  <a:srgbClr val="000000"/>
                </a:solidFill>
                <a:latin typeface="Courier New"/>
              </a:rPr>
              <a:t>generare</a:t>
            </a:r>
            <a:r>
              <a:rPr lang="en-US" sz="1050" b="0" strike="noStrike" spc="-1" dirty="0">
                <a:solidFill>
                  <a:srgbClr val="000000"/>
                </a:solidFill>
                <a:latin typeface="Courier New"/>
              </a:rPr>
              <a:t> </a:t>
            </a:r>
            <a:r>
              <a:rPr lang="en-US" sz="1050" b="0" strike="noStrike" spc="-1" dirty="0" err="1">
                <a:solidFill>
                  <a:srgbClr val="000000"/>
                </a:solidFill>
                <a:latin typeface="Courier New"/>
              </a:rPr>
              <a:t>triunghi</a:t>
            </a:r>
            <a:endParaRPr lang="en-US" sz="105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t[</a:t>
            </a:r>
            <a:r>
              <a:rPr lang="en-US" sz="1400" b="1" strike="noStrike" spc="-1" dirty="0" err="1">
                <a:solidFill>
                  <a:srgbClr val="000000"/>
                </a:solidFill>
                <a:latin typeface="Courier New"/>
              </a:rPr>
              <a:t>i</a:t>
            </a:r>
            <a:r>
              <a:rPr lang="en-US" sz="1400" b="1" strike="noStrike" spc="-1" dirty="0">
                <a:solidFill>
                  <a:srgbClr val="000000"/>
                </a:solidFill>
                <a:latin typeface="Courier New"/>
              </a:rPr>
              <a:t>]=new </a:t>
            </a:r>
            <a:r>
              <a:rPr lang="en-US" sz="1400" b="1" strike="noStrike" spc="-1" dirty="0" err="1">
                <a:solidFill>
                  <a:srgbClr val="000000"/>
                </a:solidFill>
                <a:latin typeface="Courier New"/>
              </a:rPr>
              <a:t>int</a:t>
            </a:r>
            <a:r>
              <a:rPr lang="en-US" sz="1400" b="1" strike="noStrike" spc="-1" dirty="0">
                <a:solidFill>
                  <a:srgbClr val="000000"/>
                </a:solidFill>
                <a:latin typeface="Courier New"/>
              </a:rPr>
              <a:t>[i+1];</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t[</a:t>
            </a:r>
            <a:r>
              <a:rPr lang="en-US" sz="1400" b="1" strike="noStrike" spc="-1" dirty="0" err="1">
                <a:solidFill>
                  <a:srgbClr val="000000"/>
                </a:solidFill>
                <a:latin typeface="Courier New"/>
              </a:rPr>
              <a:t>i</a:t>
            </a:r>
            <a:r>
              <a:rPr lang="en-US" sz="1400" b="1" strike="noStrike" spc="-1" dirty="0">
                <a:solidFill>
                  <a:srgbClr val="000000"/>
                </a:solidFill>
                <a:latin typeface="Courier New"/>
              </a:rPr>
              <a:t>][0]=t[</a:t>
            </a:r>
            <a:r>
              <a:rPr lang="en-US" sz="1400" b="1" strike="noStrike" spc="-1" dirty="0" err="1">
                <a:solidFill>
                  <a:srgbClr val="000000"/>
                </a:solidFill>
                <a:latin typeface="Courier New"/>
              </a:rPr>
              <a:t>i</a:t>
            </a:r>
            <a:r>
              <a:rPr lang="en-US" sz="1400" b="1" strike="noStrike" spc="-1" dirty="0">
                <a:solidFill>
                  <a:srgbClr val="000000"/>
                </a:solidFill>
                <a:latin typeface="Courier New"/>
              </a:rPr>
              <a:t>][</a:t>
            </a:r>
            <a:r>
              <a:rPr lang="en-US" sz="1400" b="1" strike="noStrike" spc="-1" dirty="0" err="1">
                <a:solidFill>
                  <a:srgbClr val="000000"/>
                </a:solidFill>
                <a:latin typeface="Courier New"/>
              </a:rPr>
              <a:t>i</a:t>
            </a:r>
            <a:r>
              <a:rPr lang="en-US" sz="1400" b="1" strike="noStrike" spc="-1" dirty="0">
                <a:solidFill>
                  <a:srgbClr val="000000"/>
                </a:solidFill>
                <a:latin typeface="Courier New"/>
              </a:rPr>
              <a:t>]=1;</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for(</a:t>
            </a:r>
            <a:r>
              <a:rPr lang="en-US" sz="1400" b="1" strike="noStrike" spc="-1" dirty="0" err="1">
                <a:solidFill>
                  <a:srgbClr val="000000"/>
                </a:solidFill>
                <a:latin typeface="Courier New"/>
              </a:rPr>
              <a:t>int</a:t>
            </a:r>
            <a:r>
              <a:rPr lang="en-US" sz="1400" b="1" strike="noStrike" spc="-1" dirty="0">
                <a:solidFill>
                  <a:srgbClr val="000000"/>
                </a:solidFill>
                <a:latin typeface="Courier New"/>
              </a:rPr>
              <a:t> j=1; j&lt;t[</a:t>
            </a:r>
            <a:r>
              <a:rPr lang="en-US" sz="1400" b="1" strike="noStrike" spc="-1" dirty="0" err="1">
                <a:solidFill>
                  <a:srgbClr val="000000"/>
                </a:solidFill>
                <a:latin typeface="Courier New"/>
              </a:rPr>
              <a:t>i</a:t>
            </a:r>
            <a:r>
              <a:rPr lang="en-US" sz="1400" b="1" strike="noStrike" spc="-1" dirty="0">
                <a:solidFill>
                  <a:srgbClr val="000000"/>
                </a:solidFill>
                <a:latin typeface="Courier New"/>
              </a:rPr>
              <a:t>].length-1; </a:t>
            </a:r>
            <a:r>
              <a:rPr lang="en-US" sz="1400" b="1" strike="noStrike" spc="-1" dirty="0" err="1">
                <a:solidFill>
                  <a:srgbClr val="000000"/>
                </a:solidFill>
                <a:latin typeface="Courier New"/>
              </a:rPr>
              <a:t>j++</a:t>
            </a:r>
            <a:r>
              <a:rPr lang="en-US" sz="1400" b="1" strike="noStrike" spc="-1" dirty="0">
                <a:solidFill>
                  <a:srgbClr val="000000"/>
                </a:solidFill>
                <a:latin typeface="Courier New"/>
              </a:rPr>
              <a:t>)</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t[</a:t>
            </a:r>
            <a:r>
              <a:rPr lang="en-US" sz="1400" b="1" strike="noStrike" spc="-1" dirty="0" err="1">
                <a:solidFill>
                  <a:srgbClr val="000000"/>
                </a:solidFill>
                <a:latin typeface="Courier New"/>
              </a:rPr>
              <a:t>i</a:t>
            </a:r>
            <a:r>
              <a:rPr lang="en-US" sz="1400" b="1" strike="noStrike" spc="-1" dirty="0">
                <a:solidFill>
                  <a:srgbClr val="000000"/>
                </a:solidFill>
                <a:latin typeface="Courier New"/>
              </a:rPr>
              <a:t>][j]=t[i-1][j-1]+t[i-1][j];</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for(</a:t>
            </a:r>
            <a:r>
              <a:rPr lang="en-US" sz="1400" b="1" strike="noStrike" spc="-1" dirty="0" err="1">
                <a:solidFill>
                  <a:srgbClr val="000000"/>
                </a:solidFill>
                <a:latin typeface="Courier New"/>
              </a:rPr>
              <a:t>int</a:t>
            </a:r>
            <a:r>
              <a:rPr lang="en-US" sz="1400" b="1" strike="noStrike" spc="-1" dirty="0">
                <a:solidFill>
                  <a:srgbClr val="000000"/>
                </a:solidFill>
                <a:latin typeface="Courier New"/>
              </a:rPr>
              <a:t> </a:t>
            </a:r>
            <a:r>
              <a:rPr lang="en-US" sz="1400" b="1" strike="noStrike" spc="-1" dirty="0" err="1">
                <a:solidFill>
                  <a:srgbClr val="000000"/>
                </a:solidFill>
                <a:latin typeface="Courier New"/>
              </a:rPr>
              <a:t>i</a:t>
            </a:r>
            <a:r>
              <a:rPr lang="en-US" sz="1400" b="1" strike="noStrike" spc="-1" dirty="0">
                <a:solidFill>
                  <a:srgbClr val="000000"/>
                </a:solidFill>
                <a:latin typeface="Courier New"/>
              </a:rPr>
              <a:t>=0; </a:t>
            </a:r>
            <a:r>
              <a:rPr lang="en-US" sz="1400" b="1" strike="noStrike" spc="-1" dirty="0" err="1">
                <a:solidFill>
                  <a:srgbClr val="000000"/>
                </a:solidFill>
                <a:latin typeface="Courier New"/>
              </a:rPr>
              <a:t>i</a:t>
            </a:r>
            <a:r>
              <a:rPr lang="en-US" sz="1400" b="1" strike="noStrike" spc="-1" dirty="0">
                <a:solidFill>
                  <a:srgbClr val="000000"/>
                </a:solidFill>
                <a:latin typeface="Courier New"/>
              </a:rPr>
              <a:t>&lt;</a:t>
            </a:r>
            <a:r>
              <a:rPr lang="en-US" sz="1400" b="1" strike="noStrike" spc="-1" dirty="0" err="1">
                <a:solidFill>
                  <a:srgbClr val="000000"/>
                </a:solidFill>
                <a:latin typeface="Courier New"/>
              </a:rPr>
              <a:t>t.length</a:t>
            </a:r>
            <a:r>
              <a:rPr lang="en-US" sz="1400" b="1" strike="noStrike" spc="-1" dirty="0">
                <a:solidFill>
                  <a:srgbClr val="000000"/>
                </a:solidFill>
                <a:latin typeface="Courier New"/>
              </a:rPr>
              <a:t>; </a:t>
            </a:r>
            <a:r>
              <a:rPr lang="en-US" sz="1400" b="1" strike="noStrike" spc="-1" dirty="0" err="1">
                <a:solidFill>
                  <a:srgbClr val="000000"/>
                </a:solidFill>
                <a:latin typeface="Courier New"/>
              </a:rPr>
              <a:t>i</a:t>
            </a:r>
            <a:r>
              <a:rPr lang="en-US" sz="1400" b="1" strike="noStrike" spc="-1" dirty="0">
                <a:solidFill>
                  <a:srgbClr val="000000"/>
                </a:solidFill>
                <a:latin typeface="Courier New"/>
              </a:rPr>
              <a:t>++){		//</a:t>
            </a:r>
            <a:r>
              <a:rPr lang="en-US" sz="1050" b="0" strike="noStrike" spc="-1" dirty="0" err="1">
                <a:solidFill>
                  <a:srgbClr val="000000"/>
                </a:solidFill>
                <a:latin typeface="Courier New"/>
              </a:rPr>
              <a:t>afisare</a:t>
            </a:r>
            <a:r>
              <a:rPr lang="en-US" sz="1050" b="0" strike="noStrike" spc="-1" dirty="0">
                <a:solidFill>
                  <a:srgbClr val="000000"/>
                </a:solidFill>
                <a:latin typeface="Courier New"/>
              </a:rPr>
              <a:t> </a:t>
            </a:r>
            <a:r>
              <a:rPr lang="en-US" sz="1050" b="0" strike="noStrike" spc="-1" dirty="0" err="1">
                <a:solidFill>
                  <a:srgbClr val="000000"/>
                </a:solidFill>
                <a:latin typeface="Courier New"/>
              </a:rPr>
              <a:t>triunghi</a:t>
            </a:r>
            <a:endParaRPr lang="en-US" sz="105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for(</a:t>
            </a:r>
            <a:r>
              <a:rPr lang="en-US" sz="1400" b="1" strike="noStrike" spc="-1" dirty="0" err="1">
                <a:solidFill>
                  <a:srgbClr val="000000"/>
                </a:solidFill>
                <a:latin typeface="Courier New"/>
              </a:rPr>
              <a:t>int</a:t>
            </a:r>
            <a:r>
              <a:rPr lang="en-US" sz="1400" b="1" strike="noStrike" spc="-1" dirty="0">
                <a:solidFill>
                  <a:srgbClr val="000000"/>
                </a:solidFill>
                <a:latin typeface="Courier New"/>
              </a:rPr>
              <a:t> j=0; j&lt;t[</a:t>
            </a:r>
            <a:r>
              <a:rPr lang="en-US" sz="1400" b="1" strike="noStrike" spc="-1" dirty="0" err="1">
                <a:solidFill>
                  <a:srgbClr val="000000"/>
                </a:solidFill>
                <a:latin typeface="Courier New"/>
              </a:rPr>
              <a:t>i</a:t>
            </a:r>
            <a:r>
              <a:rPr lang="en-US" sz="1400" b="1" strike="noStrike" spc="-1" dirty="0">
                <a:solidFill>
                  <a:srgbClr val="000000"/>
                </a:solidFill>
                <a:latin typeface="Courier New"/>
              </a:rPr>
              <a:t>].length; </a:t>
            </a:r>
            <a:r>
              <a:rPr lang="en-US" sz="1400" b="1" strike="noStrike" spc="-1" dirty="0" err="1">
                <a:solidFill>
                  <a:srgbClr val="000000"/>
                </a:solidFill>
                <a:latin typeface="Courier New"/>
              </a:rPr>
              <a:t>j++</a:t>
            </a:r>
            <a:r>
              <a:rPr lang="en-US" sz="1400" b="1" strike="noStrike" spc="-1" dirty="0">
                <a:solidFill>
                  <a:srgbClr val="000000"/>
                </a:solidFill>
                <a:latin typeface="Courier New"/>
              </a:rPr>
              <a:t>)</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a:t>
            </a:r>
            <a:r>
              <a:rPr lang="en-US" sz="1400" b="1" strike="noStrike" spc="-1" dirty="0" err="1">
                <a:solidFill>
                  <a:srgbClr val="000000"/>
                </a:solidFill>
                <a:latin typeface="Courier New"/>
              </a:rPr>
              <a:t>System.out.print</a:t>
            </a:r>
            <a:r>
              <a:rPr lang="en-US" sz="1400" b="1" strike="noStrike" spc="-1" dirty="0">
                <a:solidFill>
                  <a:srgbClr val="000000"/>
                </a:solidFill>
                <a:latin typeface="Courier New"/>
              </a:rPr>
              <a:t>(t[</a:t>
            </a:r>
            <a:r>
              <a:rPr lang="en-US" sz="1400" b="1" strike="noStrike" spc="-1" dirty="0" err="1">
                <a:solidFill>
                  <a:srgbClr val="000000"/>
                </a:solidFill>
                <a:latin typeface="Courier New"/>
              </a:rPr>
              <a:t>i</a:t>
            </a:r>
            <a:r>
              <a:rPr lang="en-US" sz="1400" b="1" strike="noStrike" spc="-1" dirty="0">
                <a:solidFill>
                  <a:srgbClr val="000000"/>
                </a:solidFill>
                <a:latin typeface="Courier New"/>
              </a:rPr>
              <a:t>][j]+" ");</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a:t>
            </a:r>
            <a:r>
              <a:rPr lang="en-US" sz="1400" b="1" strike="noStrike" spc="-1" dirty="0" err="1">
                <a:solidFill>
                  <a:srgbClr val="000000"/>
                </a:solidFill>
                <a:latin typeface="Courier New"/>
              </a:rPr>
              <a:t>System.out.println</a:t>
            </a:r>
            <a:r>
              <a:rPr lang="en-US" sz="1400" b="1" strike="noStrike" spc="-1" dirty="0">
                <a:solidFill>
                  <a:srgbClr val="000000"/>
                </a:solidFill>
                <a:latin typeface="Courier New"/>
              </a:rPr>
              <a:t>("");</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  </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a:t>
            </a:r>
            <a:endParaRPr lang="en-US" sz="1400" b="0" strike="noStrike" spc="-1" dirty="0">
              <a:solidFill>
                <a:srgbClr val="000000"/>
              </a:solidFill>
              <a:latin typeface="Tahoma"/>
            </a:endParaRPr>
          </a:p>
          <a:p>
            <a:pPr marL="343080" indent="-342720">
              <a:lnSpc>
                <a:spcPct val="80000"/>
              </a:lnSpc>
              <a:spcBef>
                <a:spcPts val="241"/>
              </a:spcBef>
            </a:pPr>
            <a:r>
              <a:rPr lang="en-US" sz="1400" b="1" strike="noStrike" spc="-1" dirty="0">
                <a:solidFill>
                  <a:srgbClr val="000000"/>
                </a:solidFill>
                <a:latin typeface="Courier New"/>
              </a:rPr>
              <a:t>	}</a:t>
            </a:r>
            <a:endParaRPr lang="en-US" sz="14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E9D617D1-8DA5-4D9C-8743-F8FF15653FBA}" type="slidenum">
              <a:rPr lang="en-US" sz="1400" b="0" strike="noStrike" spc="-1">
                <a:solidFill>
                  <a:srgbClr val="5E574E"/>
                </a:solidFill>
                <a:latin typeface="Arial"/>
              </a:rPr>
              <a:t>34</a:t>
            </a:fld>
            <a:endParaRPr lang="en-US" sz="1400" b="0" strike="noStrike" spc="-1">
              <a:latin typeface="Times New Roman"/>
            </a:endParaRPr>
          </a:p>
        </p:txBody>
      </p:sp>
      <p:sp>
        <p:nvSpPr>
          <p:cNvPr id="412" name="TextShape 4"/>
          <p:cNvSpPr txBox="1"/>
          <p:nvPr/>
        </p:nvSpPr>
        <p:spPr>
          <a:xfrm>
            <a:off x="439560" y="22860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413" name="TextShape 5"/>
          <p:cNvSpPr txBox="1"/>
          <p:nvPr/>
        </p:nvSpPr>
        <p:spPr>
          <a:xfrm>
            <a:off x="495360" y="990720"/>
            <a:ext cx="8859600" cy="5067000"/>
          </a:xfrm>
          <a:prstGeom prst="rect">
            <a:avLst/>
          </a:prstGeom>
          <a:noFill/>
          <a:ln>
            <a:noFill/>
          </a:ln>
        </p:spPr>
        <p:txBody>
          <a:bodyPr>
            <a:noAutofit/>
          </a:bodyPr>
          <a:lstStyle/>
          <a:p>
            <a:pPr marL="990720" indent="-533160">
              <a:lnSpc>
                <a:spcPct val="80000"/>
              </a:lnSpc>
              <a:spcBef>
                <a:spcPts val="400"/>
              </a:spcBef>
            </a:pPr>
            <a:r>
              <a:rPr lang="en-US" sz="2000" b="1" strike="noStrike" spc="-1" dirty="0" err="1">
                <a:solidFill>
                  <a:srgbClr val="008000"/>
                </a:solidFill>
                <a:latin typeface="Tahoma"/>
              </a:rPr>
              <a:t>Şiruri</a:t>
            </a:r>
            <a:r>
              <a:rPr lang="en-US" sz="2000" b="1" strike="noStrike" spc="-1" dirty="0">
                <a:solidFill>
                  <a:srgbClr val="008000"/>
                </a:solidFill>
                <a:latin typeface="Tahoma"/>
              </a:rPr>
              <a:t> de </a:t>
            </a:r>
            <a:r>
              <a:rPr lang="en-US" sz="2000" b="1" strike="noStrike" spc="-1" dirty="0" err="1">
                <a:solidFill>
                  <a:srgbClr val="008000"/>
                </a:solidFill>
                <a:latin typeface="Tahoma"/>
              </a:rPr>
              <a:t>caractere</a:t>
            </a:r>
            <a:endParaRPr lang="en-US" sz="2000" b="0" strike="noStrike" spc="-1" dirty="0">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strike="noStrike" spc="-1" dirty="0" err="1">
                <a:solidFill>
                  <a:srgbClr val="000000"/>
                </a:solidFill>
                <a:latin typeface="Tahoma"/>
              </a:rPr>
              <a:t>În</a:t>
            </a:r>
            <a:r>
              <a:rPr lang="en-US" sz="1800" b="0" strike="noStrike" spc="-1" dirty="0">
                <a:solidFill>
                  <a:srgbClr val="000000"/>
                </a:solidFill>
                <a:latin typeface="Tahoma"/>
              </a:rPr>
              <a:t> Java, un </a:t>
            </a:r>
            <a:r>
              <a:rPr lang="en-US" sz="1800" b="0" strike="noStrike" spc="-1" dirty="0" err="1">
                <a:solidFill>
                  <a:srgbClr val="000000"/>
                </a:solidFill>
                <a:latin typeface="Tahoma"/>
              </a:rPr>
              <a:t>şir</a:t>
            </a:r>
            <a:r>
              <a:rPr lang="en-US" sz="1800" b="0" strike="noStrike" spc="-1" dirty="0">
                <a:solidFill>
                  <a:srgbClr val="000000"/>
                </a:solidFill>
                <a:latin typeface="Tahoma"/>
              </a:rPr>
              <a:t> de </a:t>
            </a:r>
            <a:r>
              <a:rPr lang="en-US" sz="1800" b="0" strike="noStrike" spc="-1" dirty="0" err="1">
                <a:solidFill>
                  <a:srgbClr val="000000"/>
                </a:solidFill>
                <a:latin typeface="Tahoma"/>
              </a:rPr>
              <a:t>caractere</a:t>
            </a:r>
            <a:r>
              <a:rPr lang="en-US" sz="1800" b="0" strike="noStrike" spc="-1" dirty="0">
                <a:solidFill>
                  <a:srgbClr val="000000"/>
                </a:solidFill>
                <a:latin typeface="Tahoma"/>
              </a:rPr>
              <a:t> </a:t>
            </a:r>
            <a:r>
              <a:rPr lang="en-US" sz="1800" b="0" strike="noStrike" spc="-1" dirty="0" err="1">
                <a:solidFill>
                  <a:srgbClr val="000000"/>
                </a:solidFill>
                <a:latin typeface="Tahoma"/>
              </a:rPr>
              <a:t>poate</a:t>
            </a:r>
            <a:r>
              <a:rPr lang="en-US" sz="1800" b="0" strike="noStrike" spc="-1" dirty="0">
                <a:solidFill>
                  <a:srgbClr val="000000"/>
                </a:solidFill>
                <a:latin typeface="Tahoma"/>
              </a:rPr>
              <a:t> fi </a:t>
            </a:r>
            <a:r>
              <a:rPr lang="en-US" sz="1800" b="0" strike="noStrike" spc="-1" dirty="0" err="1">
                <a:solidFill>
                  <a:srgbClr val="000000"/>
                </a:solidFill>
                <a:latin typeface="Tahoma"/>
              </a:rPr>
              <a:t>reprezentat</a:t>
            </a:r>
            <a:r>
              <a:rPr lang="en-US" sz="1800" b="0" strike="noStrike" spc="-1" dirty="0">
                <a:solidFill>
                  <a:srgbClr val="000000"/>
                </a:solidFill>
                <a:latin typeface="Tahoma"/>
              </a:rPr>
              <a:t> </a:t>
            </a:r>
            <a:r>
              <a:rPr lang="en-US" sz="1800" b="0" strike="noStrike" spc="-1" dirty="0" err="1">
                <a:solidFill>
                  <a:srgbClr val="000000"/>
                </a:solidFill>
                <a:latin typeface="Tahoma"/>
              </a:rPr>
              <a:t>printr</a:t>
            </a:r>
            <a:r>
              <a:rPr lang="en-US" sz="1800" b="0" strike="noStrike" spc="-1" dirty="0">
                <a:solidFill>
                  <a:srgbClr val="000000"/>
                </a:solidFill>
                <a:latin typeface="Tahoma"/>
              </a:rPr>
              <a:t>-un </a:t>
            </a:r>
            <a:r>
              <a:rPr lang="en-US" sz="1800" b="0" strike="noStrike" spc="-1" dirty="0" err="1">
                <a:solidFill>
                  <a:srgbClr val="008000"/>
                </a:solidFill>
                <a:latin typeface="Tahoma"/>
              </a:rPr>
              <a:t>tablou</a:t>
            </a:r>
            <a:r>
              <a:rPr lang="en-US" sz="1800" b="0" strike="noStrike" spc="-1" dirty="0">
                <a:solidFill>
                  <a:srgbClr val="000000"/>
                </a:solidFill>
                <a:latin typeface="Tahoma"/>
              </a:rPr>
              <a:t> format din </a:t>
            </a:r>
            <a:r>
              <a:rPr lang="en-US" sz="1800" b="0" strike="noStrike" spc="-1" dirty="0" err="1">
                <a:solidFill>
                  <a:srgbClr val="000000"/>
                </a:solidFill>
                <a:latin typeface="Tahoma"/>
              </a:rPr>
              <a:t>elemente</a:t>
            </a:r>
            <a:r>
              <a:rPr lang="en-US" sz="1800" b="0" strike="noStrike" spc="-1" dirty="0">
                <a:solidFill>
                  <a:srgbClr val="000000"/>
                </a:solidFill>
                <a:latin typeface="Tahoma"/>
              </a:rPr>
              <a:t> de tip </a:t>
            </a:r>
            <a:r>
              <a:rPr lang="en-US" sz="1800" b="0" strike="noStrike" spc="-1" dirty="0">
                <a:solidFill>
                  <a:srgbClr val="008000"/>
                </a:solidFill>
                <a:latin typeface="Tahoma"/>
              </a:rPr>
              <a:t>char</a:t>
            </a:r>
            <a:r>
              <a:rPr lang="en-US" sz="1800" b="0" strike="noStrike" spc="-1" dirty="0">
                <a:solidFill>
                  <a:srgbClr val="000000"/>
                </a:solidFill>
                <a:latin typeface="Tahoma"/>
              </a:rPr>
              <a:t>, un </a:t>
            </a:r>
            <a:r>
              <a:rPr lang="en-US" sz="1800" b="0" strike="noStrike" spc="-1" dirty="0" err="1">
                <a:solidFill>
                  <a:srgbClr val="000000"/>
                </a:solidFill>
                <a:latin typeface="Tahoma"/>
              </a:rPr>
              <a:t>obiect</a:t>
            </a:r>
            <a:r>
              <a:rPr lang="en-US" sz="1800" b="0" strike="noStrike" spc="-1" dirty="0">
                <a:solidFill>
                  <a:srgbClr val="000000"/>
                </a:solidFill>
                <a:latin typeface="Tahoma"/>
              </a:rPr>
              <a:t> de tip </a:t>
            </a:r>
            <a:r>
              <a:rPr lang="en-US" sz="1800" b="0" strike="noStrike" spc="-1" dirty="0">
                <a:solidFill>
                  <a:srgbClr val="008000"/>
                </a:solidFill>
                <a:latin typeface="Tahoma"/>
              </a:rPr>
              <a:t>String</a:t>
            </a:r>
            <a:r>
              <a:rPr lang="en-US" sz="1800" b="0" strike="noStrike" spc="-1" dirty="0">
                <a:solidFill>
                  <a:srgbClr val="000000"/>
                </a:solidFill>
                <a:latin typeface="Tahoma"/>
              </a:rPr>
              <a:t> </a:t>
            </a:r>
            <a:r>
              <a:rPr lang="en-US" sz="1800" b="0" strike="noStrike" spc="-1" dirty="0" err="1">
                <a:solidFill>
                  <a:srgbClr val="000000"/>
                </a:solidFill>
                <a:latin typeface="Tahoma"/>
              </a:rPr>
              <a:t>sau</a:t>
            </a:r>
            <a:r>
              <a:rPr lang="en-US" sz="1800" b="0" strike="noStrike" spc="-1" dirty="0">
                <a:solidFill>
                  <a:srgbClr val="000000"/>
                </a:solidFill>
                <a:latin typeface="Tahoma"/>
              </a:rPr>
              <a:t> un </a:t>
            </a:r>
            <a:r>
              <a:rPr lang="en-US" sz="1800" b="0" strike="noStrike" spc="-1" dirty="0" err="1">
                <a:solidFill>
                  <a:srgbClr val="000000"/>
                </a:solidFill>
                <a:latin typeface="Tahoma"/>
              </a:rPr>
              <a:t>obiect</a:t>
            </a:r>
            <a:r>
              <a:rPr lang="en-US" sz="1800" b="0" strike="noStrike" spc="-1" dirty="0">
                <a:solidFill>
                  <a:srgbClr val="000000"/>
                </a:solidFill>
                <a:latin typeface="Tahoma"/>
              </a:rPr>
              <a:t> de tip </a:t>
            </a:r>
            <a:r>
              <a:rPr lang="en-US" sz="1800" b="0" strike="noStrike" spc="-1" dirty="0" err="1">
                <a:solidFill>
                  <a:srgbClr val="008000"/>
                </a:solidFill>
                <a:latin typeface="Tahoma"/>
              </a:rPr>
              <a:t>StringBuffer</a:t>
            </a:r>
            <a:r>
              <a:rPr lang="en-US" sz="1800" b="0" strike="noStrike" spc="-1" dirty="0">
                <a:solidFill>
                  <a:srgbClr val="000000"/>
                </a:solidFill>
                <a:latin typeface="Tahoma"/>
              </a:rPr>
              <a:t>. </a:t>
            </a:r>
          </a:p>
          <a:p>
            <a:pPr marL="609480" indent="-609120">
              <a:lnSpc>
                <a:spcPct val="80000"/>
              </a:lnSpc>
              <a:spcBef>
                <a:spcPts val="360"/>
              </a:spcBef>
              <a:buClr>
                <a:srgbClr val="FFCC00"/>
              </a:buClr>
              <a:buFont typeface="Monotype Sorts" charset="2"/>
              <a:buChar char=""/>
            </a:pPr>
            <a:r>
              <a:rPr lang="en-US" sz="1800" b="0" i="1" strike="noStrike" spc="-1" dirty="0" err="1">
                <a:solidFill>
                  <a:srgbClr val="008000"/>
                </a:solidFill>
                <a:latin typeface="Tahoma"/>
              </a:rPr>
              <a:t>Exemple</a:t>
            </a:r>
            <a:r>
              <a:rPr lang="en-US" sz="1800" b="0" strike="noStrike" spc="-1" dirty="0">
                <a:solidFill>
                  <a:srgbClr val="000000"/>
                </a:solidFill>
                <a:latin typeface="Tahoma"/>
              </a:rPr>
              <a:t> </a:t>
            </a:r>
            <a:r>
              <a:rPr lang="en-US" sz="1800" b="0" strike="noStrike" spc="-1" dirty="0" err="1">
                <a:solidFill>
                  <a:srgbClr val="000000"/>
                </a:solidFill>
                <a:latin typeface="Tahoma"/>
              </a:rPr>
              <a:t>echivalente</a:t>
            </a:r>
            <a:r>
              <a:rPr lang="en-US" sz="1800" b="0" strike="noStrike" spc="-1" dirty="0">
                <a:solidFill>
                  <a:srgbClr val="000000"/>
                </a:solidFill>
                <a:latin typeface="Tahoma"/>
              </a:rPr>
              <a:t> de </a:t>
            </a:r>
            <a:r>
              <a:rPr lang="en-US" sz="1800" b="0" strike="noStrike" spc="-1" dirty="0" err="1">
                <a:solidFill>
                  <a:srgbClr val="000000"/>
                </a:solidFill>
                <a:latin typeface="Tahoma"/>
              </a:rPr>
              <a:t>declarare</a:t>
            </a:r>
            <a:r>
              <a:rPr lang="en-US" sz="1800" b="0" strike="noStrike" spc="-1" dirty="0">
                <a:solidFill>
                  <a:srgbClr val="000000"/>
                </a:solidFill>
                <a:latin typeface="Tahoma"/>
              </a:rPr>
              <a:t> a </a:t>
            </a:r>
            <a:r>
              <a:rPr lang="en-US" sz="1800" b="0" strike="noStrike" spc="-1" dirty="0" err="1">
                <a:solidFill>
                  <a:srgbClr val="000000"/>
                </a:solidFill>
                <a:latin typeface="Tahoma"/>
              </a:rPr>
              <a:t>unui</a:t>
            </a:r>
            <a:r>
              <a:rPr lang="en-US" sz="1800" b="0" strike="noStrike" spc="-1" dirty="0">
                <a:solidFill>
                  <a:srgbClr val="000000"/>
                </a:solidFill>
                <a:latin typeface="Tahoma"/>
              </a:rPr>
              <a:t> </a:t>
            </a:r>
            <a:r>
              <a:rPr lang="en-US" sz="1800" b="0" strike="noStrike" spc="-1" dirty="0" err="1">
                <a:solidFill>
                  <a:srgbClr val="000000"/>
                </a:solidFill>
                <a:latin typeface="Tahoma"/>
              </a:rPr>
              <a:t>şir</a:t>
            </a:r>
            <a:r>
              <a:rPr lang="en-US" sz="1800" b="0" strike="noStrike" spc="-1" dirty="0">
                <a:solidFill>
                  <a:srgbClr val="000000"/>
                </a:solidFill>
                <a:latin typeface="Tahoma"/>
              </a:rPr>
              <a:t>: </a:t>
            </a:r>
          </a:p>
          <a:p>
            <a:pPr marL="609480" indent="-609120">
              <a:lnSpc>
                <a:spcPct val="80000"/>
              </a:lnSpc>
              <a:spcBef>
                <a:spcPts val="360"/>
              </a:spcBef>
            </a:pPr>
            <a:r>
              <a:rPr lang="en-US" sz="1800" b="0" strike="noStrike" spc="-1" dirty="0">
                <a:solidFill>
                  <a:srgbClr val="000000"/>
                </a:solidFill>
                <a:latin typeface="Tahoma"/>
              </a:rPr>
              <a:t>		</a:t>
            </a:r>
            <a:r>
              <a:rPr lang="en-US" sz="1600" b="1" strike="noStrike" spc="-1" dirty="0">
                <a:solidFill>
                  <a:srgbClr val="000000"/>
                </a:solidFill>
                <a:latin typeface="Courier New"/>
              </a:rPr>
              <a:t>String </a:t>
            </a:r>
            <a:r>
              <a:rPr lang="en-US" sz="1600" b="1" strike="noStrike" spc="-1" dirty="0" err="1">
                <a:solidFill>
                  <a:srgbClr val="000000"/>
                </a:solidFill>
                <a:latin typeface="Courier New"/>
              </a:rPr>
              <a:t>str</a:t>
            </a:r>
            <a:r>
              <a:rPr lang="en-US" sz="1600" b="1" strike="noStrike" spc="-1" dirty="0">
                <a:solidFill>
                  <a:srgbClr val="000000"/>
                </a:solidFill>
                <a:latin typeface="Courier New"/>
              </a:rPr>
              <a:t> = "</a:t>
            </a:r>
            <a:r>
              <a:rPr lang="en-US" sz="1600" b="1" strike="noStrike" spc="-1" dirty="0" err="1">
                <a:solidFill>
                  <a:srgbClr val="000000"/>
                </a:solidFill>
                <a:latin typeface="Courier New"/>
              </a:rPr>
              <a:t>abc</a:t>
            </a:r>
            <a:r>
              <a:rPr lang="en-US" sz="1600" b="1" strike="noStrike" spc="-1" dirty="0">
                <a:solidFill>
                  <a:srgbClr val="000000"/>
                </a:solidFill>
                <a:latin typeface="Courier New"/>
              </a:rPr>
              <a:t>";</a:t>
            </a:r>
            <a:endParaRPr lang="en-US" sz="1600" b="0" strike="noStrike" spc="-1" dirty="0">
              <a:solidFill>
                <a:srgbClr val="000000"/>
              </a:solidFill>
              <a:latin typeface="Tahoma"/>
            </a:endParaRPr>
          </a:p>
          <a:p>
            <a:pPr marL="609480" indent="-609120">
              <a:lnSpc>
                <a:spcPct val="80000"/>
              </a:lnSpc>
              <a:spcBef>
                <a:spcPts val="320"/>
              </a:spcBef>
            </a:pPr>
            <a:r>
              <a:rPr lang="en-US" sz="1600" b="1" strike="noStrike" spc="-1" dirty="0">
                <a:solidFill>
                  <a:srgbClr val="000000"/>
                </a:solidFill>
                <a:latin typeface="Courier New"/>
              </a:rPr>
              <a:t>		char data[] = {'a', 'b', 'c'};</a:t>
            </a:r>
            <a:endParaRPr lang="en-US" sz="1600" b="0" strike="noStrike" spc="-1" dirty="0">
              <a:solidFill>
                <a:srgbClr val="000000"/>
              </a:solidFill>
              <a:latin typeface="Tahoma"/>
            </a:endParaRPr>
          </a:p>
          <a:p>
            <a:pPr marL="609480" indent="-609120">
              <a:lnSpc>
                <a:spcPct val="80000"/>
              </a:lnSpc>
              <a:spcBef>
                <a:spcPts val="320"/>
              </a:spcBef>
            </a:pPr>
            <a:r>
              <a:rPr lang="en-US" sz="1600" b="1" strike="noStrike" spc="-1" dirty="0">
                <a:solidFill>
                  <a:srgbClr val="000000"/>
                </a:solidFill>
                <a:latin typeface="Courier New"/>
              </a:rPr>
              <a:t>		String </a:t>
            </a:r>
            <a:r>
              <a:rPr lang="en-US" sz="1600" b="1" strike="noStrike" spc="-1" dirty="0" err="1">
                <a:solidFill>
                  <a:srgbClr val="000000"/>
                </a:solidFill>
                <a:latin typeface="Courier New"/>
              </a:rPr>
              <a:t>str</a:t>
            </a:r>
            <a:r>
              <a:rPr lang="en-US" sz="1600" b="1" strike="noStrike" spc="-1" dirty="0">
                <a:solidFill>
                  <a:srgbClr val="000000"/>
                </a:solidFill>
                <a:latin typeface="Courier New"/>
              </a:rPr>
              <a:t> = new String(data);</a:t>
            </a:r>
            <a:endParaRPr lang="en-US" sz="1600" b="0" strike="noStrike" spc="-1" dirty="0">
              <a:solidFill>
                <a:srgbClr val="000000"/>
              </a:solidFill>
              <a:latin typeface="Tahoma"/>
            </a:endParaRPr>
          </a:p>
          <a:p>
            <a:pPr marL="609480" indent="-609120">
              <a:lnSpc>
                <a:spcPct val="80000"/>
              </a:lnSpc>
              <a:spcBef>
                <a:spcPts val="320"/>
              </a:spcBef>
            </a:pPr>
            <a:r>
              <a:rPr lang="en-US" sz="1600" b="1" strike="noStrike" spc="-1" dirty="0">
                <a:solidFill>
                  <a:srgbClr val="000000"/>
                </a:solidFill>
                <a:latin typeface="Courier New"/>
              </a:rPr>
              <a:t>		String </a:t>
            </a:r>
            <a:r>
              <a:rPr lang="en-US" sz="1600" b="1" strike="noStrike" spc="-1" dirty="0" err="1">
                <a:solidFill>
                  <a:srgbClr val="000000"/>
                </a:solidFill>
                <a:latin typeface="Courier New"/>
              </a:rPr>
              <a:t>str</a:t>
            </a:r>
            <a:r>
              <a:rPr lang="en-US" sz="1600" b="1" strike="noStrike" spc="-1" dirty="0">
                <a:solidFill>
                  <a:srgbClr val="000000"/>
                </a:solidFill>
                <a:latin typeface="Courier New"/>
              </a:rPr>
              <a:t> = new String("</a:t>
            </a:r>
            <a:r>
              <a:rPr lang="en-US" sz="1600" b="1" strike="noStrike" spc="-1" dirty="0" err="1">
                <a:solidFill>
                  <a:srgbClr val="000000"/>
                </a:solidFill>
                <a:latin typeface="Courier New"/>
              </a:rPr>
              <a:t>abc</a:t>
            </a:r>
            <a:r>
              <a:rPr lang="en-US" sz="1600" b="1" strike="noStrike" spc="-1" dirty="0">
                <a:solidFill>
                  <a:srgbClr val="000000"/>
                </a:solidFill>
                <a:latin typeface="Courier New"/>
              </a:rPr>
              <a:t>");</a:t>
            </a:r>
            <a:endParaRPr lang="en-US" sz="1600" b="0" strike="noStrike" spc="-1" dirty="0">
              <a:solidFill>
                <a:srgbClr val="000000"/>
              </a:solidFill>
              <a:latin typeface="Tahoma"/>
            </a:endParaRPr>
          </a:p>
          <a:p>
            <a:pPr marL="609480" indent="-609120">
              <a:lnSpc>
                <a:spcPct val="80000"/>
              </a:lnSpc>
              <a:spcBef>
                <a:spcPts val="320"/>
              </a:spcBef>
            </a:pPr>
            <a:endParaRPr lang="en-US" sz="1600" b="0" strike="noStrike" spc="-1" dirty="0">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strike="noStrike" spc="-1" dirty="0">
                <a:solidFill>
                  <a:srgbClr val="000000"/>
                </a:solidFill>
                <a:latin typeface="Tahoma"/>
              </a:rPr>
              <a:t> </a:t>
            </a:r>
            <a:r>
              <a:rPr lang="en-US" sz="1800" b="1" strike="noStrike" spc="-1" dirty="0" err="1">
                <a:solidFill>
                  <a:srgbClr val="008000"/>
                </a:solidFill>
                <a:latin typeface="Tahoma"/>
              </a:rPr>
              <a:t>Concatenarea</a:t>
            </a:r>
            <a:r>
              <a:rPr lang="en-US" sz="1800" b="1" strike="noStrike" spc="-1" dirty="0">
                <a:solidFill>
                  <a:srgbClr val="008000"/>
                </a:solidFill>
                <a:latin typeface="Tahoma"/>
              </a:rPr>
              <a:t> </a:t>
            </a:r>
            <a:r>
              <a:rPr lang="en-US" sz="1800" b="1" strike="noStrike" spc="-1" dirty="0" err="1">
                <a:solidFill>
                  <a:srgbClr val="008000"/>
                </a:solidFill>
                <a:latin typeface="Tahoma"/>
              </a:rPr>
              <a:t>şirurilor</a:t>
            </a:r>
            <a:r>
              <a:rPr lang="en-US" sz="1800" b="0" strike="noStrike" spc="-1" dirty="0">
                <a:solidFill>
                  <a:srgbClr val="000000"/>
                </a:solidFill>
                <a:latin typeface="Tahoma"/>
              </a:rPr>
              <a:t> de </a:t>
            </a:r>
            <a:r>
              <a:rPr lang="en-US" sz="1800" b="0" strike="noStrike" spc="-1" dirty="0" err="1">
                <a:solidFill>
                  <a:srgbClr val="000000"/>
                </a:solidFill>
                <a:latin typeface="Tahoma"/>
              </a:rPr>
              <a:t>caractere</a:t>
            </a:r>
            <a:r>
              <a:rPr lang="en-US" sz="1800" b="0" strike="noStrike" spc="-1" dirty="0">
                <a:solidFill>
                  <a:srgbClr val="000000"/>
                </a:solidFill>
                <a:latin typeface="Tahoma"/>
              </a:rPr>
              <a:t> se face </a:t>
            </a:r>
            <a:r>
              <a:rPr lang="en-US" sz="1800" b="0" strike="noStrike" spc="-1" dirty="0" err="1">
                <a:solidFill>
                  <a:srgbClr val="000000"/>
                </a:solidFill>
                <a:latin typeface="Tahoma"/>
              </a:rPr>
              <a:t>prin</a:t>
            </a:r>
            <a:r>
              <a:rPr lang="en-US" sz="1800" b="0" strike="noStrike" spc="-1" dirty="0">
                <a:solidFill>
                  <a:srgbClr val="000000"/>
                </a:solidFill>
                <a:latin typeface="Tahoma"/>
              </a:rPr>
              <a:t> </a:t>
            </a:r>
            <a:r>
              <a:rPr lang="en-US" sz="1800" b="0" strike="noStrike" spc="-1" dirty="0" err="1">
                <a:solidFill>
                  <a:srgbClr val="000000"/>
                </a:solidFill>
                <a:latin typeface="Tahoma"/>
              </a:rPr>
              <a:t>intermediul</a:t>
            </a:r>
            <a:r>
              <a:rPr lang="en-US" sz="1800" b="0" strike="noStrike" spc="-1" dirty="0">
                <a:solidFill>
                  <a:srgbClr val="000000"/>
                </a:solidFill>
                <a:latin typeface="Tahoma"/>
              </a:rPr>
              <a:t> </a:t>
            </a:r>
            <a:r>
              <a:rPr lang="en-US" sz="1800" b="0" strike="noStrike" spc="-1" dirty="0" err="1">
                <a:solidFill>
                  <a:srgbClr val="000000"/>
                </a:solidFill>
                <a:latin typeface="Tahoma"/>
              </a:rPr>
              <a:t>operatorului</a:t>
            </a:r>
            <a:r>
              <a:rPr lang="en-US" sz="1800" b="0" strike="noStrike" spc="-1" dirty="0">
                <a:solidFill>
                  <a:srgbClr val="000000"/>
                </a:solidFill>
                <a:latin typeface="Tahoma"/>
              </a:rPr>
              <a:t> </a:t>
            </a:r>
            <a:r>
              <a:rPr lang="en-US" sz="1800" b="1" strike="noStrike" spc="-1" dirty="0">
                <a:solidFill>
                  <a:srgbClr val="000000"/>
                </a:solidFill>
                <a:latin typeface="Tahoma"/>
              </a:rPr>
              <a:t>+</a:t>
            </a:r>
            <a:r>
              <a:rPr lang="en-US" sz="1800" b="0" strike="noStrike" spc="-1" dirty="0">
                <a:solidFill>
                  <a:srgbClr val="000000"/>
                </a:solidFill>
                <a:latin typeface="Tahoma"/>
              </a:rPr>
              <a:t>. </a:t>
            </a:r>
          </a:p>
          <a:p>
            <a:pPr marL="609480" indent="-609120">
              <a:lnSpc>
                <a:spcPct val="80000"/>
              </a:lnSpc>
              <a:spcBef>
                <a:spcPts val="360"/>
              </a:spcBef>
            </a:pPr>
            <a:r>
              <a:rPr lang="en-US" sz="1800" b="0" strike="noStrike" spc="-1" dirty="0">
                <a:solidFill>
                  <a:srgbClr val="000000"/>
                </a:solidFill>
                <a:latin typeface="Tahoma"/>
              </a:rPr>
              <a:t>		</a:t>
            </a:r>
            <a:r>
              <a:rPr lang="en-US" sz="1600" b="1" strike="noStrike" spc="-1" dirty="0">
                <a:solidFill>
                  <a:srgbClr val="000000"/>
                </a:solidFill>
                <a:latin typeface="Courier New"/>
              </a:rPr>
              <a:t>String str1 = "</a:t>
            </a:r>
            <a:r>
              <a:rPr lang="en-US" sz="1600" b="1" strike="noStrike" spc="-1" dirty="0" err="1">
                <a:solidFill>
                  <a:srgbClr val="000000"/>
                </a:solidFill>
                <a:latin typeface="Courier New"/>
              </a:rPr>
              <a:t>abc</a:t>
            </a:r>
            <a:r>
              <a:rPr lang="en-US" sz="1600" b="1" strike="noStrike" spc="-1" dirty="0">
                <a:solidFill>
                  <a:srgbClr val="000000"/>
                </a:solidFill>
                <a:latin typeface="Courier New"/>
              </a:rPr>
              <a:t>" + "xyz";</a:t>
            </a:r>
            <a:endParaRPr lang="en-US" sz="1600" b="0" strike="noStrike" spc="-1" dirty="0">
              <a:solidFill>
                <a:srgbClr val="000000"/>
              </a:solidFill>
              <a:latin typeface="Tahoma"/>
            </a:endParaRPr>
          </a:p>
          <a:p>
            <a:pPr marL="609480" indent="-609120">
              <a:lnSpc>
                <a:spcPct val="80000"/>
              </a:lnSpc>
              <a:spcBef>
                <a:spcPts val="320"/>
              </a:spcBef>
            </a:pPr>
            <a:r>
              <a:rPr lang="en-US" sz="1600" b="1" strike="noStrike" spc="-1" dirty="0">
                <a:solidFill>
                  <a:srgbClr val="000000"/>
                </a:solidFill>
                <a:latin typeface="Courier New"/>
              </a:rPr>
              <a:t>		String str2 = "123";</a:t>
            </a:r>
            <a:endParaRPr lang="en-US" sz="1600" b="0" strike="noStrike" spc="-1" dirty="0">
              <a:solidFill>
                <a:srgbClr val="000000"/>
              </a:solidFill>
              <a:latin typeface="Tahoma"/>
            </a:endParaRPr>
          </a:p>
          <a:p>
            <a:pPr marL="609480" indent="-609120">
              <a:lnSpc>
                <a:spcPct val="80000"/>
              </a:lnSpc>
              <a:spcBef>
                <a:spcPts val="360"/>
              </a:spcBef>
            </a:pPr>
            <a:r>
              <a:rPr lang="en-US" sz="1600" b="1" strike="noStrike" spc="-1" dirty="0">
                <a:solidFill>
                  <a:srgbClr val="000000"/>
                </a:solidFill>
                <a:latin typeface="Courier New"/>
              </a:rPr>
              <a:t>		String str3 = str1 + str2;</a:t>
            </a:r>
            <a:r>
              <a:rPr lang="en-US" sz="1800" b="0" strike="noStrike" spc="-1" dirty="0">
                <a:solidFill>
                  <a:srgbClr val="000000"/>
                </a:solidFill>
                <a:latin typeface="Tahoma"/>
              </a:rPr>
              <a:t> </a:t>
            </a:r>
          </a:p>
          <a:p>
            <a:pPr marL="609480" indent="-609120">
              <a:lnSpc>
                <a:spcPct val="80000"/>
              </a:lnSpc>
              <a:spcBef>
                <a:spcPts val="360"/>
              </a:spcBef>
            </a:pPr>
            <a:endParaRPr lang="en-US" sz="1800" b="0" strike="noStrike" spc="-1" dirty="0">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strike="noStrike" spc="-1" dirty="0" err="1">
                <a:solidFill>
                  <a:srgbClr val="000000"/>
                </a:solidFill>
                <a:latin typeface="Tahoma"/>
              </a:rPr>
              <a:t>În</a:t>
            </a:r>
            <a:r>
              <a:rPr lang="en-US" sz="1800" b="0" strike="noStrike" spc="-1" dirty="0">
                <a:solidFill>
                  <a:srgbClr val="000000"/>
                </a:solidFill>
                <a:latin typeface="Tahoma"/>
              </a:rPr>
              <a:t> Java, </a:t>
            </a:r>
            <a:r>
              <a:rPr lang="en-US" sz="1800" b="0" strike="noStrike" spc="-1" dirty="0" err="1">
                <a:solidFill>
                  <a:srgbClr val="000000"/>
                </a:solidFill>
                <a:latin typeface="Tahoma"/>
              </a:rPr>
              <a:t>operatorul</a:t>
            </a:r>
            <a:r>
              <a:rPr lang="en-US" sz="1800" b="0" strike="noStrike" spc="-1" dirty="0">
                <a:solidFill>
                  <a:srgbClr val="000000"/>
                </a:solidFill>
                <a:latin typeface="Tahoma"/>
              </a:rPr>
              <a:t> de </a:t>
            </a:r>
            <a:r>
              <a:rPr lang="en-US" sz="1800" b="0" strike="noStrike" spc="-1" dirty="0" err="1">
                <a:solidFill>
                  <a:srgbClr val="000000"/>
                </a:solidFill>
                <a:latin typeface="Tahoma"/>
              </a:rPr>
              <a:t>concatenare</a:t>
            </a:r>
            <a:r>
              <a:rPr lang="en-US" sz="1800" b="0" strike="noStrike" spc="-1" dirty="0">
                <a:solidFill>
                  <a:srgbClr val="000000"/>
                </a:solidFill>
                <a:latin typeface="Tahoma"/>
              </a:rPr>
              <a:t> </a:t>
            </a:r>
            <a:r>
              <a:rPr lang="en-US" sz="1800" b="1" strike="noStrike" spc="-1" dirty="0">
                <a:solidFill>
                  <a:srgbClr val="000000"/>
                </a:solidFill>
                <a:latin typeface="Tahoma"/>
              </a:rPr>
              <a:t>+</a:t>
            </a:r>
            <a:r>
              <a:rPr lang="en-US" sz="1800" b="0" strike="noStrike" spc="-1" dirty="0">
                <a:solidFill>
                  <a:srgbClr val="000000"/>
                </a:solidFill>
                <a:latin typeface="Tahoma"/>
              </a:rPr>
              <a:t> </a:t>
            </a:r>
            <a:r>
              <a:rPr lang="en-US" sz="1800" b="0" strike="noStrike" spc="-1" dirty="0" err="1">
                <a:solidFill>
                  <a:srgbClr val="000000"/>
                </a:solidFill>
                <a:latin typeface="Tahoma"/>
              </a:rPr>
              <a:t>este</a:t>
            </a:r>
            <a:r>
              <a:rPr lang="en-US" sz="1800" b="0" strike="noStrike" spc="-1" dirty="0">
                <a:solidFill>
                  <a:srgbClr val="000000"/>
                </a:solidFill>
                <a:latin typeface="Tahoma"/>
              </a:rPr>
              <a:t> </a:t>
            </a:r>
            <a:r>
              <a:rPr lang="en-US" sz="1800" b="0" strike="noStrike" spc="-1" dirty="0" err="1">
                <a:solidFill>
                  <a:srgbClr val="000000"/>
                </a:solidFill>
                <a:latin typeface="Tahoma"/>
              </a:rPr>
              <a:t>extrem</a:t>
            </a:r>
            <a:r>
              <a:rPr lang="en-US" sz="1800" b="0" strike="noStrike" spc="-1" dirty="0">
                <a:solidFill>
                  <a:srgbClr val="000000"/>
                </a:solidFill>
                <a:latin typeface="Tahoma"/>
              </a:rPr>
              <a:t> de </a:t>
            </a:r>
            <a:r>
              <a:rPr lang="en-US" sz="1800" b="0" strike="noStrike" spc="-1" dirty="0" err="1">
                <a:solidFill>
                  <a:srgbClr val="000000"/>
                </a:solidFill>
                <a:latin typeface="Tahoma"/>
              </a:rPr>
              <a:t>flexibil</a:t>
            </a:r>
            <a:r>
              <a:rPr lang="en-US" sz="1800" b="0" strike="noStrike" spc="-1" dirty="0">
                <a:solidFill>
                  <a:srgbClr val="000000"/>
                </a:solidFill>
                <a:latin typeface="Tahoma"/>
              </a:rPr>
              <a:t> </a:t>
            </a:r>
            <a:r>
              <a:rPr lang="en-US" sz="1800" b="0" strike="noStrike" spc="-1" dirty="0" err="1">
                <a:solidFill>
                  <a:srgbClr val="000000"/>
                </a:solidFill>
                <a:latin typeface="Tahoma"/>
              </a:rPr>
              <a:t>în</a:t>
            </a:r>
            <a:r>
              <a:rPr lang="en-US" sz="1800" b="0" strike="noStrike" spc="-1" dirty="0">
                <a:solidFill>
                  <a:srgbClr val="000000"/>
                </a:solidFill>
                <a:latin typeface="Tahoma"/>
              </a:rPr>
              <a:t> </a:t>
            </a:r>
            <a:r>
              <a:rPr lang="en-US" sz="1800" b="0" strike="noStrike" spc="-1" dirty="0" err="1">
                <a:solidFill>
                  <a:srgbClr val="000000"/>
                </a:solidFill>
                <a:latin typeface="Tahoma"/>
              </a:rPr>
              <a:t>sensul</a:t>
            </a:r>
            <a:r>
              <a:rPr lang="en-US" sz="1800" b="0" strike="noStrike" spc="-1" dirty="0">
                <a:solidFill>
                  <a:srgbClr val="000000"/>
                </a:solidFill>
                <a:latin typeface="Tahoma"/>
              </a:rPr>
              <a:t> </a:t>
            </a:r>
            <a:r>
              <a:rPr lang="en-US" sz="1800" b="0" strike="noStrike" spc="-1" dirty="0" err="1">
                <a:solidFill>
                  <a:srgbClr val="000000"/>
                </a:solidFill>
                <a:latin typeface="Tahoma"/>
              </a:rPr>
              <a:t>că</a:t>
            </a:r>
            <a:r>
              <a:rPr lang="en-US" sz="1800" b="0" strike="noStrike" spc="-1" dirty="0">
                <a:solidFill>
                  <a:srgbClr val="000000"/>
                </a:solidFill>
                <a:latin typeface="Tahoma"/>
              </a:rPr>
              <a:t> </a:t>
            </a:r>
            <a:r>
              <a:rPr lang="en-US" sz="1800" b="0" strike="noStrike" spc="-1" dirty="0" err="1">
                <a:solidFill>
                  <a:srgbClr val="000000"/>
                </a:solidFill>
                <a:latin typeface="Tahoma"/>
              </a:rPr>
              <a:t>permite</a:t>
            </a:r>
            <a:r>
              <a:rPr lang="en-US" sz="1800" b="0" strike="noStrike" spc="-1" dirty="0">
                <a:solidFill>
                  <a:srgbClr val="000000"/>
                </a:solidFill>
                <a:latin typeface="Tahoma"/>
              </a:rPr>
              <a:t> </a:t>
            </a:r>
            <a:r>
              <a:rPr lang="en-US" sz="1800" b="0" strike="noStrike" spc="-1" dirty="0" err="1">
                <a:solidFill>
                  <a:srgbClr val="000000"/>
                </a:solidFill>
                <a:latin typeface="Tahoma"/>
              </a:rPr>
              <a:t>concatenarea</a:t>
            </a:r>
            <a:r>
              <a:rPr lang="en-US" sz="1800" b="0" strike="noStrike" spc="-1" dirty="0">
                <a:solidFill>
                  <a:srgbClr val="000000"/>
                </a:solidFill>
                <a:latin typeface="Tahoma"/>
              </a:rPr>
              <a:t> </a:t>
            </a:r>
            <a:r>
              <a:rPr lang="en-US" sz="1800" b="0" strike="noStrike" spc="-1" dirty="0" err="1">
                <a:solidFill>
                  <a:srgbClr val="000000"/>
                </a:solidFill>
                <a:latin typeface="Tahoma"/>
              </a:rPr>
              <a:t>şirurilor</a:t>
            </a:r>
            <a:r>
              <a:rPr lang="en-US" sz="1800" b="0" strike="noStrike" spc="-1" dirty="0">
                <a:solidFill>
                  <a:srgbClr val="000000"/>
                </a:solidFill>
                <a:latin typeface="Tahoma"/>
              </a:rPr>
              <a:t> cu </a:t>
            </a:r>
            <a:r>
              <a:rPr lang="en-US" sz="1800" b="0" strike="noStrike" spc="-1" dirty="0" err="1">
                <a:solidFill>
                  <a:srgbClr val="000000"/>
                </a:solidFill>
                <a:latin typeface="Tahoma"/>
              </a:rPr>
              <a:t>obiecte</a:t>
            </a:r>
            <a:r>
              <a:rPr lang="en-US" sz="1800" b="0" strike="noStrike" spc="-1" dirty="0">
                <a:solidFill>
                  <a:srgbClr val="000000"/>
                </a:solidFill>
                <a:latin typeface="Tahoma"/>
              </a:rPr>
              <a:t> de </a:t>
            </a:r>
            <a:r>
              <a:rPr lang="en-US" sz="1800" b="0" strike="noStrike" spc="-1" dirty="0" err="1">
                <a:solidFill>
                  <a:srgbClr val="000000"/>
                </a:solidFill>
                <a:latin typeface="Tahoma"/>
              </a:rPr>
              <a:t>orice</a:t>
            </a:r>
            <a:r>
              <a:rPr lang="en-US" sz="1800" b="0" strike="noStrike" spc="-1" dirty="0">
                <a:solidFill>
                  <a:srgbClr val="000000"/>
                </a:solidFill>
                <a:latin typeface="Tahoma"/>
              </a:rPr>
              <a:t> tip care au o </a:t>
            </a:r>
            <a:r>
              <a:rPr lang="en-US" sz="1800" b="0" strike="noStrike" spc="-1" dirty="0" err="1">
                <a:solidFill>
                  <a:srgbClr val="000000"/>
                </a:solidFill>
                <a:latin typeface="Tahoma"/>
              </a:rPr>
              <a:t>reprezentare</a:t>
            </a:r>
            <a:r>
              <a:rPr lang="en-US" sz="1800" b="0" strike="noStrike" spc="-1" dirty="0">
                <a:solidFill>
                  <a:srgbClr val="000000"/>
                </a:solidFill>
                <a:latin typeface="Tahoma"/>
              </a:rPr>
              <a:t> de tip </a:t>
            </a:r>
            <a:r>
              <a:rPr lang="en-US" sz="1800" b="0" strike="noStrike" spc="-1" dirty="0" err="1">
                <a:solidFill>
                  <a:srgbClr val="000000"/>
                </a:solidFill>
                <a:latin typeface="Tahoma"/>
              </a:rPr>
              <a:t>şir</a:t>
            </a:r>
            <a:r>
              <a:rPr lang="en-US" sz="1800" b="0" strike="noStrike" spc="-1" dirty="0">
                <a:solidFill>
                  <a:srgbClr val="000000"/>
                </a:solidFill>
                <a:latin typeface="Tahoma"/>
              </a:rPr>
              <a:t> de </a:t>
            </a:r>
            <a:r>
              <a:rPr lang="en-US" sz="1800" b="0" strike="noStrike" spc="-1" dirty="0" err="1">
                <a:solidFill>
                  <a:srgbClr val="000000"/>
                </a:solidFill>
                <a:latin typeface="Tahoma"/>
              </a:rPr>
              <a:t>caractere</a:t>
            </a:r>
            <a:r>
              <a:rPr lang="en-US" sz="1800" b="0" strike="noStrike" spc="-1" dirty="0">
                <a:solidFill>
                  <a:srgbClr val="000000"/>
                </a:solidFill>
                <a:latin typeface="Tahoma"/>
              </a:rPr>
              <a:t>. </a:t>
            </a:r>
          </a:p>
          <a:p>
            <a:pPr marL="609480" indent="-609120">
              <a:lnSpc>
                <a:spcPct val="80000"/>
              </a:lnSpc>
              <a:spcBef>
                <a:spcPts val="360"/>
              </a:spcBef>
              <a:buClr>
                <a:srgbClr val="FFCC00"/>
              </a:buClr>
              <a:buFont typeface="Monotype Sorts" charset="2"/>
              <a:buChar char=""/>
            </a:pPr>
            <a:r>
              <a:rPr lang="en-US" sz="1800" b="0" i="1" strike="noStrike" spc="-1" dirty="0" err="1">
                <a:solidFill>
                  <a:srgbClr val="008000"/>
                </a:solidFill>
                <a:latin typeface="Tahoma"/>
              </a:rPr>
              <a:t>Exemplu</a:t>
            </a:r>
            <a:r>
              <a:rPr lang="en-US" sz="1800" b="0" i="1" strike="noStrike" spc="-1" dirty="0">
                <a:solidFill>
                  <a:srgbClr val="000000"/>
                </a:solidFill>
                <a:latin typeface="Tahoma"/>
              </a:rPr>
              <a:t>:</a:t>
            </a:r>
            <a:endParaRPr lang="en-US" sz="1800" b="0" strike="noStrike" spc="-1" dirty="0">
              <a:solidFill>
                <a:srgbClr val="000000"/>
              </a:solidFill>
              <a:latin typeface="Tahoma"/>
            </a:endParaRPr>
          </a:p>
          <a:p>
            <a:pPr marL="609480" indent="-609120">
              <a:lnSpc>
                <a:spcPct val="80000"/>
              </a:lnSpc>
              <a:spcBef>
                <a:spcPts val="360"/>
              </a:spcBef>
            </a:pPr>
            <a:r>
              <a:rPr lang="en-US" sz="1800" b="0" strike="noStrike" spc="-1" dirty="0">
                <a:solidFill>
                  <a:srgbClr val="000000"/>
                </a:solidFill>
                <a:latin typeface="Tahoma"/>
              </a:rPr>
              <a:t>	</a:t>
            </a:r>
            <a:r>
              <a:rPr lang="en-US" sz="1600" b="1" strike="noStrike" spc="-1" dirty="0" err="1">
                <a:solidFill>
                  <a:srgbClr val="000000"/>
                </a:solidFill>
                <a:latin typeface="Courier New"/>
              </a:rPr>
              <a:t>System.out.print</a:t>
            </a:r>
            <a:r>
              <a:rPr lang="en-US" sz="1600" b="1" strike="noStrike" spc="-1" dirty="0">
                <a:solidFill>
                  <a:srgbClr val="000000"/>
                </a:solidFill>
                <a:latin typeface="Courier New"/>
              </a:rPr>
              <a:t>(“</a:t>
            </a:r>
            <a:r>
              <a:rPr lang="en-US" sz="1600" b="1" strike="noStrike" spc="-1" dirty="0" err="1">
                <a:solidFill>
                  <a:srgbClr val="000000"/>
                </a:solidFill>
                <a:latin typeface="Courier New"/>
              </a:rPr>
              <a:t>Tabloul</a:t>
            </a:r>
            <a:r>
              <a:rPr lang="en-US" sz="1600" b="1" strike="noStrike" spc="-1" dirty="0">
                <a:solidFill>
                  <a:srgbClr val="000000"/>
                </a:solidFill>
                <a:latin typeface="Courier New"/>
              </a:rPr>
              <a:t> t are" + </a:t>
            </a:r>
            <a:r>
              <a:rPr lang="en-US" sz="1600" b="1" strike="noStrike" spc="-1" dirty="0" err="1">
                <a:solidFill>
                  <a:srgbClr val="000000"/>
                </a:solidFill>
                <a:latin typeface="Courier New"/>
              </a:rPr>
              <a:t>t.length</a:t>
            </a:r>
            <a:r>
              <a:rPr lang="en-US" sz="1600" b="1" strike="noStrike" spc="-1" dirty="0">
                <a:solidFill>
                  <a:srgbClr val="000000"/>
                </a:solidFill>
                <a:latin typeface="Courier New"/>
              </a:rPr>
              <a:t> + " </a:t>
            </a:r>
            <a:r>
              <a:rPr lang="en-US" sz="1600" b="1" strike="noStrike" spc="-1" dirty="0" err="1">
                <a:solidFill>
                  <a:srgbClr val="000000"/>
                </a:solidFill>
                <a:latin typeface="Courier New"/>
              </a:rPr>
              <a:t>elemente</a:t>
            </a:r>
            <a:r>
              <a:rPr lang="en-US" sz="1600" b="1" strike="noStrike" spc="-1" dirty="0">
                <a:solidFill>
                  <a:srgbClr val="000000"/>
                </a:solidFill>
                <a:latin typeface="Courier New"/>
              </a:rPr>
              <a:t>"); </a:t>
            </a:r>
            <a:endParaRPr lang="en-US" sz="16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0203F69F-9D9E-4E42-A0FB-1316C1E0DA24}" type="slidenum">
              <a:rPr lang="en-US" sz="1400" b="0" strike="noStrike" spc="-1">
                <a:solidFill>
                  <a:srgbClr val="5E574E"/>
                </a:solidFill>
                <a:latin typeface="Arial"/>
              </a:rPr>
              <a:t>35</a:t>
            </a:fld>
            <a:endParaRPr lang="en-US" sz="1400" b="0" strike="noStrike" spc="-1">
              <a:latin typeface="Times New Roman"/>
            </a:endParaRPr>
          </a:p>
        </p:txBody>
      </p:sp>
      <p:sp>
        <p:nvSpPr>
          <p:cNvPr id="417"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418" name="TextShape 5"/>
          <p:cNvSpPr txBox="1"/>
          <p:nvPr/>
        </p:nvSpPr>
        <p:spPr>
          <a:xfrm>
            <a:off x="495360" y="1371600"/>
            <a:ext cx="8859600" cy="4686120"/>
          </a:xfrm>
          <a:prstGeom prst="rect">
            <a:avLst/>
          </a:prstGeom>
          <a:noFill/>
          <a:ln>
            <a:noFill/>
          </a:ln>
        </p:spPr>
        <p:txBody>
          <a:bodyPr>
            <a:noAutofit/>
          </a:bodyPr>
          <a:lstStyle/>
          <a:p>
            <a:pPr marL="609480" indent="-609120">
              <a:lnSpc>
                <a:spcPct val="80000"/>
              </a:lnSpc>
              <a:spcBef>
                <a:spcPts val="479"/>
              </a:spcBef>
            </a:pPr>
            <a:r>
              <a:rPr lang="en-US" sz="2400" b="1" strike="noStrike" spc="-1">
                <a:solidFill>
                  <a:srgbClr val="008000"/>
                </a:solidFill>
                <a:latin typeface="Tahoma"/>
              </a:rPr>
              <a:t>Clase şi obiecte în Java</a:t>
            </a:r>
            <a:endParaRPr lang="en-US" sz="2400" b="0" strike="noStrike" spc="-1">
              <a:solidFill>
                <a:srgbClr val="000000"/>
              </a:solidFill>
              <a:latin typeface="Tahoma"/>
            </a:endParaRPr>
          </a:p>
          <a:p>
            <a:pPr marL="609480" indent="-609120">
              <a:lnSpc>
                <a:spcPct val="80000"/>
              </a:lnSpc>
              <a:spcBef>
                <a:spcPts val="479"/>
              </a:spcBef>
            </a:pPr>
            <a:endParaRPr lang="en-US" sz="2400" b="0" strike="noStrike" spc="-1">
              <a:solidFill>
                <a:srgbClr val="000000"/>
              </a:solidFill>
              <a:latin typeface="Tahoma"/>
            </a:endParaRPr>
          </a:p>
          <a:p>
            <a:pPr marL="990720" indent="-533160">
              <a:lnSpc>
                <a:spcPct val="80000"/>
              </a:lnSpc>
              <a:spcBef>
                <a:spcPts val="400"/>
              </a:spcBef>
            </a:pPr>
            <a:r>
              <a:rPr lang="en-US" sz="2000" b="1" strike="noStrike" spc="-1">
                <a:solidFill>
                  <a:srgbClr val="008000"/>
                </a:solidFill>
                <a:latin typeface="Tahoma"/>
              </a:rPr>
              <a:t>Referinţe</a:t>
            </a:r>
            <a:endParaRPr lang="en-US" sz="2000" b="0" strike="noStrike" spc="-1">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a:solidFill>
                  <a:srgbClr val="000000"/>
                </a:solidFill>
                <a:latin typeface="Tahoma"/>
              </a:rPr>
              <a:t>După cum am arătat, </a:t>
            </a:r>
            <a:r>
              <a:rPr lang="en-US" sz="2000" b="1" strike="noStrike" spc="-1">
                <a:solidFill>
                  <a:srgbClr val="008000"/>
                </a:solidFill>
                <a:latin typeface="Tahoma"/>
              </a:rPr>
              <a:t>o clasă</a:t>
            </a:r>
            <a:r>
              <a:rPr lang="en-US" sz="2000" b="0" strike="noStrike" spc="-1">
                <a:solidFill>
                  <a:srgbClr val="000000"/>
                </a:solidFill>
                <a:latin typeface="Tahoma"/>
              </a:rPr>
              <a:t> este un şablon pentru mai multe obiecte cu caracteristici asemănătoare. Un obiect este o colecţie de variabile (atribute) şi metode asociate descrise în clasă. </a:t>
            </a:r>
          </a:p>
          <a:p>
            <a:pPr marL="609480" indent="-609120">
              <a:lnSpc>
                <a:spcPct val="80000"/>
              </a:lnSpc>
              <a:spcBef>
                <a:spcPts val="400"/>
              </a:spcBef>
            </a:pPr>
            <a:endParaRPr lang="en-US" sz="2000" b="0" strike="noStrike" spc="-1">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a:solidFill>
                  <a:srgbClr val="000000"/>
                </a:solidFill>
                <a:latin typeface="Tahoma"/>
              </a:rPr>
              <a:t>Clasa poate fi asemănată cu un tip de date iar obiectul cu o variabilă. Dacă se declară o variabilă folosind numele unei clase ca şi tip, această variabilă conţine o </a:t>
            </a:r>
            <a:r>
              <a:rPr lang="en-US" sz="2000" b="1" strike="noStrike" spc="-1">
                <a:solidFill>
                  <a:srgbClr val="008000"/>
                </a:solidFill>
                <a:latin typeface="Tahoma"/>
              </a:rPr>
              <a:t>referinţă</a:t>
            </a:r>
            <a:r>
              <a:rPr lang="en-US" sz="2000" b="0" strike="noStrike" spc="-1">
                <a:solidFill>
                  <a:srgbClr val="000000"/>
                </a:solidFill>
                <a:latin typeface="Tahoma"/>
              </a:rPr>
              <a:t> către un obiect al clasei respective. Cu alte cuvinte, variabila nu va conţine obiectul actual ci o referinţă către un obiect / o instanţă a clasei. Deoarece folosind numele unei clase ca şi tip se declară o referinţă către un obiect, aceste tipuri poartă numele de </a:t>
            </a:r>
            <a:r>
              <a:rPr lang="en-US" sz="2000" b="1" strike="noStrike" spc="-1">
                <a:solidFill>
                  <a:srgbClr val="008000"/>
                </a:solidFill>
                <a:latin typeface="Tahoma"/>
              </a:rPr>
              <a:t>tipuri referinţă</a:t>
            </a:r>
            <a:r>
              <a:rPr lang="en-US" sz="2000" b="0" strike="noStrike" spc="-1">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179D5073-7D09-4EF1-913D-0D980DE51EDA}" type="slidenum">
              <a:rPr lang="en-US" sz="1400" b="0" strike="noStrike" spc="-1">
                <a:solidFill>
                  <a:srgbClr val="5E574E"/>
                </a:solidFill>
                <a:latin typeface="Arial"/>
              </a:rPr>
              <a:t>36</a:t>
            </a:fld>
            <a:endParaRPr lang="en-US" sz="1400" b="0" strike="noStrike" spc="-1">
              <a:latin typeface="Times New Roman"/>
            </a:endParaRPr>
          </a:p>
        </p:txBody>
      </p:sp>
      <p:sp>
        <p:nvSpPr>
          <p:cNvPr id="422" name="TextShape 4"/>
          <p:cNvSpPr txBox="1"/>
          <p:nvPr/>
        </p:nvSpPr>
        <p:spPr>
          <a:xfrm>
            <a:off x="439560" y="228600"/>
            <a:ext cx="8419680" cy="609120"/>
          </a:xfrm>
          <a:prstGeom prst="rect">
            <a:avLst/>
          </a:prstGeom>
          <a:noFill/>
          <a:ln>
            <a:noFill/>
          </a:ln>
        </p:spPr>
        <p:txBody>
          <a:bodyPr anchor="b">
            <a:noAutofit/>
          </a:bodyPr>
          <a:lstStyle/>
          <a:p>
            <a:pPr>
              <a:lnSpc>
                <a:spcPct val="100000"/>
              </a:lnSpc>
            </a:pPr>
            <a:endParaRPr lang="en-US" sz="3600" b="0" strike="noStrike" spc="-1" dirty="0">
              <a:solidFill>
                <a:srgbClr val="000000"/>
              </a:solidFill>
              <a:latin typeface="Arial"/>
            </a:endParaRPr>
          </a:p>
        </p:txBody>
      </p:sp>
      <p:sp>
        <p:nvSpPr>
          <p:cNvPr id="423" name="TextShape 5"/>
          <p:cNvSpPr txBox="1"/>
          <p:nvPr/>
        </p:nvSpPr>
        <p:spPr>
          <a:xfrm>
            <a:off x="495360" y="990720"/>
            <a:ext cx="8859600" cy="5067000"/>
          </a:xfrm>
          <a:prstGeom prst="rect">
            <a:avLst/>
          </a:prstGeom>
          <a:noFill/>
          <a:ln>
            <a:noFill/>
          </a:ln>
        </p:spPr>
        <p:txBody>
          <a:bodyPr>
            <a:noAutofit/>
          </a:bodyPr>
          <a:lstStyle/>
          <a:p>
            <a:pPr marL="343080" indent="-342720">
              <a:lnSpc>
                <a:spcPct val="80000"/>
              </a:lnSpc>
              <a:spcBef>
                <a:spcPts val="400"/>
              </a:spcBef>
              <a:buClr>
                <a:srgbClr val="FFCC00"/>
              </a:buClr>
              <a:buFont typeface="Monotype Sorts" charset="2"/>
              <a:buChar char=""/>
            </a:pPr>
            <a:r>
              <a:rPr lang="en-US" sz="2000" b="0" strike="noStrike" spc="-1">
                <a:solidFill>
                  <a:srgbClr val="000000"/>
                </a:solidFill>
                <a:latin typeface="Tahoma"/>
              </a:rPr>
              <a:t>Se disting două caracteristici principale ale obiectelor în Java:</a:t>
            </a:r>
          </a:p>
          <a:p>
            <a:pPr marL="343080" indent="-342720">
              <a:lnSpc>
                <a:spcPct val="80000"/>
              </a:lnSpc>
              <a:spcBef>
                <a:spcPts val="400"/>
              </a:spcBef>
            </a:pPr>
            <a:endParaRPr lang="en-US" sz="2000" b="0" strike="noStrike" spc="-1">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strike="noStrike" spc="-1">
                <a:solidFill>
                  <a:srgbClr val="000000"/>
                </a:solidFill>
                <a:latin typeface="Tahoma"/>
              </a:rPr>
              <a:t>obiectele sunt întotdeauna alocate dinamic. Durata de viaţă a unui obiect este determinată de logica programului. Ea începe atunci când obiectul este creat şi se termină în momentul în care obiectul nu mai este folosit, el fiind distrus de un mecanism de curăţenie oferit de limbajul Java – </a:t>
            </a:r>
            <a:r>
              <a:rPr lang="en-US" sz="2000" b="1" i="1" strike="noStrike" spc="-1">
                <a:solidFill>
                  <a:srgbClr val="008000"/>
                </a:solidFill>
                <a:latin typeface="Tahoma"/>
              </a:rPr>
              <a:t>garbage collector</a:t>
            </a:r>
            <a:r>
              <a:rPr lang="en-US" sz="2000" b="0" strike="noStrike" spc="-1">
                <a:solidFill>
                  <a:srgbClr val="000000"/>
                </a:solidFill>
                <a:latin typeface="Tahoma"/>
              </a:rPr>
              <a:t> (colectorul de gunoaie). </a:t>
            </a:r>
          </a:p>
          <a:p>
            <a:pPr marL="343080" indent="-342720">
              <a:lnSpc>
                <a:spcPct val="80000"/>
              </a:lnSpc>
              <a:spcBef>
                <a:spcPts val="400"/>
              </a:spcBef>
              <a:buClr>
                <a:srgbClr val="FFCC00"/>
              </a:buClr>
              <a:buFont typeface="Monotype Sorts" charset="2"/>
              <a:buChar char=""/>
            </a:pPr>
            <a:r>
              <a:rPr lang="en-US" sz="2000" b="0" strike="noStrike" spc="-1">
                <a:solidFill>
                  <a:srgbClr val="000000"/>
                </a:solidFill>
                <a:latin typeface="Tahoma"/>
              </a:rPr>
              <a:t>obiectele nu sunt conţinute de către variabile. O variabilă păstrează o referinţă către un obiect. O referinţă este similară cu ceea ce se numeşte </a:t>
            </a:r>
            <a:r>
              <a:rPr lang="en-US" sz="2000" b="1" i="1" strike="noStrike" spc="-1">
                <a:solidFill>
                  <a:srgbClr val="008000"/>
                </a:solidFill>
                <a:latin typeface="Tahoma"/>
              </a:rPr>
              <a:t>pointer</a:t>
            </a:r>
            <a:r>
              <a:rPr lang="en-US" sz="2000" b="0" strike="noStrike" spc="-1">
                <a:solidFill>
                  <a:srgbClr val="000000"/>
                </a:solidFill>
                <a:latin typeface="Tahoma"/>
              </a:rPr>
              <a:t> în alte limbaje de programare cum ar fi C++. Dacă există două variabile de acelaşi tip referinţă şi o variabilă este atribuită celeilalte, ambele vor referi acelaşi obiect. Dacă informaţia din obiect se modifică, schimbarea este vizibilă în ambele variabile.</a:t>
            </a:r>
          </a:p>
          <a:p>
            <a:pPr marL="343080" indent="-342720">
              <a:lnSpc>
                <a:spcPct val="80000"/>
              </a:lnSpc>
              <a:spcBef>
                <a:spcPts val="400"/>
              </a:spcBef>
            </a:pPr>
            <a:endParaRPr lang="en-US" sz="2000" b="0" strike="noStrike" spc="-1">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strike="noStrike" spc="-1">
                <a:solidFill>
                  <a:srgbClr val="000000"/>
                </a:solidFill>
                <a:latin typeface="Tahoma"/>
              </a:rPr>
              <a:t>O variabilă referinţă poate conţine şi o referinţă către nimic. Valoarea unei asemenea variabile referinţă este </a:t>
            </a:r>
            <a:r>
              <a:rPr lang="en-US" sz="2000" b="1" strike="noStrike" spc="-1">
                <a:solidFill>
                  <a:srgbClr val="008000"/>
                </a:solidFill>
                <a:latin typeface="Tahoma"/>
              </a:rPr>
              <a:t>null</a:t>
            </a:r>
            <a:r>
              <a:rPr lang="en-US" sz="2000" b="1" strike="noStrike" spc="-1">
                <a:solidFill>
                  <a:srgbClr val="000000"/>
                </a:solidFill>
                <a:latin typeface="Tahoma"/>
              </a:rPr>
              <a:t>.</a:t>
            </a:r>
            <a:endParaRPr lang="en-US" sz="2000" b="0" strike="noStrike" spc="-1">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strike="noStrike" spc="-1">
                <a:solidFill>
                  <a:srgbClr val="000000"/>
                </a:solidFill>
                <a:latin typeface="Tahoma"/>
              </a:rPr>
              <a:t>În Java </a:t>
            </a:r>
            <a:r>
              <a:rPr lang="en-US" sz="2000" b="1" strike="noStrike" spc="-1">
                <a:solidFill>
                  <a:srgbClr val="008000"/>
                </a:solidFill>
                <a:latin typeface="Tahoma"/>
              </a:rPr>
              <a:t>nu se permite</a:t>
            </a:r>
            <a:r>
              <a:rPr lang="en-US" sz="2000" b="1" strike="noStrike" spc="-1">
                <a:solidFill>
                  <a:srgbClr val="000000"/>
                </a:solidFill>
                <a:latin typeface="Tahoma"/>
              </a:rPr>
              <a:t> </a:t>
            </a:r>
            <a:r>
              <a:rPr lang="en-US" sz="2000" b="0" strike="noStrike" spc="-1">
                <a:solidFill>
                  <a:srgbClr val="000000"/>
                </a:solidFill>
                <a:latin typeface="Tahoma"/>
              </a:rPr>
              <a:t>tipurilor referinţă să fie convertite către tipuri primitive sau invers.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63588331-4CB6-41F2-AA05-3AC35551E38D}" type="slidenum">
              <a:rPr lang="en-US" sz="1400" b="0" strike="noStrike" spc="-1">
                <a:solidFill>
                  <a:srgbClr val="5E574E"/>
                </a:solidFill>
                <a:latin typeface="Arial"/>
              </a:rPr>
              <a:t>37</a:t>
            </a:fld>
            <a:endParaRPr lang="en-US" sz="1400" b="0" strike="noStrike" spc="-1">
              <a:latin typeface="Times New Roman"/>
            </a:endParaRPr>
          </a:p>
        </p:txBody>
      </p:sp>
      <p:sp>
        <p:nvSpPr>
          <p:cNvPr id="427" name="TextShape 4"/>
          <p:cNvSpPr txBox="1"/>
          <p:nvPr/>
        </p:nvSpPr>
        <p:spPr>
          <a:xfrm>
            <a:off x="439560" y="228600"/>
            <a:ext cx="8419680" cy="609120"/>
          </a:xfrm>
          <a:prstGeom prst="rect">
            <a:avLst/>
          </a:prstGeom>
          <a:noFill/>
          <a:ln>
            <a:noFill/>
          </a:ln>
        </p:spPr>
        <p:txBody>
          <a:bodyPr anchor="b">
            <a:noAutofit/>
          </a:bodyPr>
          <a:lstStyle/>
          <a:p>
            <a:pPr>
              <a:lnSpc>
                <a:spcPct val="100000"/>
              </a:lnSpc>
            </a:pPr>
            <a:endParaRPr lang="en-US" sz="3600" b="0" strike="noStrike" spc="-1" dirty="0">
              <a:solidFill>
                <a:srgbClr val="000000"/>
              </a:solidFill>
              <a:latin typeface="Arial"/>
            </a:endParaRPr>
          </a:p>
        </p:txBody>
      </p:sp>
      <p:sp>
        <p:nvSpPr>
          <p:cNvPr id="428" name="TextShape 5"/>
          <p:cNvSpPr txBox="1"/>
          <p:nvPr/>
        </p:nvSpPr>
        <p:spPr>
          <a:xfrm>
            <a:off x="495360" y="1066680"/>
            <a:ext cx="8859600" cy="4990680"/>
          </a:xfrm>
          <a:prstGeom prst="rect">
            <a:avLst/>
          </a:prstGeom>
          <a:noFill/>
          <a:ln>
            <a:noFill/>
          </a:ln>
        </p:spPr>
        <p:txBody>
          <a:bodyPr>
            <a:noAutofit/>
          </a:bodyPr>
          <a:lstStyle/>
          <a:p>
            <a:pPr marL="990720" indent="-533160">
              <a:lnSpc>
                <a:spcPct val="80000"/>
              </a:lnSpc>
              <a:spcBef>
                <a:spcPts val="479"/>
              </a:spcBef>
            </a:pPr>
            <a:r>
              <a:rPr lang="en-US" sz="2400" b="1" strike="noStrike" spc="-1">
                <a:solidFill>
                  <a:srgbClr val="008000"/>
                </a:solidFill>
                <a:latin typeface="Tahoma"/>
              </a:rPr>
              <a:t>Obiecte. Noţiuni generale</a:t>
            </a:r>
            <a:endParaRPr lang="en-US" sz="2400" b="0" strike="noStrike" spc="-1">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strike="noStrike" spc="-1">
                <a:solidFill>
                  <a:srgbClr val="000000"/>
                </a:solidFill>
                <a:latin typeface="Tahoma"/>
              </a:rPr>
              <a:t>În Java obiectele sunt create prin instanţierea unei clase, cu alte cuvinte prin crearea unei instanţe a unei clase. </a:t>
            </a:r>
          </a:p>
          <a:p>
            <a:pPr marL="609480" indent="-609120">
              <a:lnSpc>
                <a:spcPct val="80000"/>
              </a:lnSpc>
              <a:spcBef>
                <a:spcPts val="360"/>
              </a:spcBef>
              <a:buClr>
                <a:srgbClr val="FFCC00"/>
              </a:buClr>
              <a:buFont typeface="Monotype Sorts" charset="2"/>
              <a:buChar char=""/>
            </a:pPr>
            <a:r>
              <a:rPr lang="en-US" sz="1800" b="1" strike="noStrike" spc="-1">
                <a:solidFill>
                  <a:srgbClr val="008000"/>
                </a:solidFill>
                <a:latin typeface="Tahoma"/>
              </a:rPr>
              <a:t>Declararea obiectului</a:t>
            </a:r>
            <a:r>
              <a:rPr lang="en-US" sz="1800" b="0" strike="noStrike" spc="-1">
                <a:solidFill>
                  <a:srgbClr val="000000"/>
                </a:solidFill>
                <a:latin typeface="Tahoma"/>
              </a:rPr>
              <a:t>  se face prin:</a:t>
            </a:r>
          </a:p>
          <a:p>
            <a:pPr marL="609480" indent="-609120">
              <a:lnSpc>
                <a:spcPct val="80000"/>
              </a:lnSpc>
              <a:spcBef>
                <a:spcPts val="360"/>
              </a:spcBef>
            </a:pPr>
            <a:r>
              <a:rPr lang="en-US" sz="1800" b="0" strike="noStrike" spc="-1">
                <a:solidFill>
                  <a:srgbClr val="000000"/>
                </a:solidFill>
                <a:latin typeface="Tahoma"/>
              </a:rPr>
              <a:t>			</a:t>
            </a:r>
            <a:r>
              <a:rPr lang="en-US" sz="1600" b="1" strike="noStrike" spc="-1">
                <a:solidFill>
                  <a:srgbClr val="000000"/>
                </a:solidFill>
                <a:latin typeface="Courier New"/>
              </a:rPr>
              <a:t>NumeClasa numeObiect;</a:t>
            </a:r>
            <a:endParaRPr lang="en-US" sz="1600" b="0" strike="noStrike" spc="-1">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i="1" strike="noStrike" spc="-1">
                <a:solidFill>
                  <a:srgbClr val="008000"/>
                </a:solidFill>
                <a:latin typeface="Tahoma"/>
              </a:rPr>
              <a:t>Exemplu</a:t>
            </a:r>
            <a:r>
              <a:rPr lang="en-US" sz="1800" b="0" strike="noStrike" spc="-1">
                <a:solidFill>
                  <a:srgbClr val="000000"/>
                </a:solidFill>
                <a:latin typeface="Tahoma"/>
              </a:rPr>
              <a:t>: </a:t>
            </a:r>
          </a:p>
          <a:p>
            <a:pPr marL="609480" indent="-609120">
              <a:lnSpc>
                <a:spcPct val="80000"/>
              </a:lnSpc>
              <a:spcBef>
                <a:spcPts val="360"/>
              </a:spcBef>
            </a:pPr>
            <a:r>
              <a:rPr lang="en-US" sz="1800" b="0" strike="noStrike" spc="-1">
                <a:solidFill>
                  <a:srgbClr val="000000"/>
                </a:solidFill>
                <a:latin typeface="Tahoma"/>
              </a:rPr>
              <a:t>		</a:t>
            </a:r>
            <a:r>
              <a:rPr lang="en-US" sz="1600" b="1" strike="noStrike" spc="-1">
                <a:solidFill>
                  <a:srgbClr val="000000"/>
                </a:solidFill>
                <a:latin typeface="Courier New"/>
              </a:rPr>
              <a:t>String s;</a:t>
            </a:r>
            <a:endParaRPr lang="en-US" sz="1600" b="0" strike="noStrike" spc="-1">
              <a:solidFill>
                <a:srgbClr val="000000"/>
              </a:solidFill>
              <a:latin typeface="Tahoma"/>
            </a:endParaRPr>
          </a:p>
          <a:p>
            <a:pPr marL="609480" indent="-609120">
              <a:lnSpc>
                <a:spcPct val="80000"/>
              </a:lnSpc>
              <a:spcBef>
                <a:spcPts val="320"/>
              </a:spcBef>
            </a:pPr>
            <a:r>
              <a:rPr lang="en-US" sz="1600" b="1" strike="noStrike" spc="-1">
                <a:solidFill>
                  <a:srgbClr val="000000"/>
                </a:solidFill>
                <a:latin typeface="Courier New"/>
              </a:rPr>
              <a:t>		Complex c;</a:t>
            </a:r>
            <a:endParaRPr lang="en-US" sz="1600" b="0" strike="noStrike" spc="-1">
              <a:solidFill>
                <a:srgbClr val="000000"/>
              </a:solidFill>
              <a:latin typeface="Tahoma"/>
            </a:endParaRPr>
          </a:p>
          <a:p>
            <a:pPr marL="609480" indent="-609120">
              <a:lnSpc>
                <a:spcPct val="80000"/>
              </a:lnSpc>
              <a:spcBef>
                <a:spcPts val="360"/>
              </a:spcBef>
            </a:pPr>
            <a:r>
              <a:rPr lang="en-US" sz="1800" b="0" strike="noStrike" spc="-1">
                <a:solidFill>
                  <a:srgbClr val="000000"/>
                </a:solidFill>
                <a:latin typeface="Tahoma"/>
              </a:rPr>
              <a:t>	În urma declarării, variabila este iniţializată cu null.</a:t>
            </a:r>
          </a:p>
          <a:p>
            <a:pPr marL="609480" indent="-609120">
              <a:lnSpc>
                <a:spcPct val="80000"/>
              </a:lnSpc>
              <a:spcBef>
                <a:spcPts val="360"/>
              </a:spcBef>
            </a:pPr>
            <a:endParaRPr lang="en-US" sz="1800" b="0" strike="noStrike" spc="-1">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1" strike="noStrike" spc="-1">
                <a:solidFill>
                  <a:srgbClr val="008000"/>
                </a:solidFill>
                <a:latin typeface="Tahoma"/>
              </a:rPr>
              <a:t>Crearea obiectului</a:t>
            </a:r>
            <a:r>
              <a:rPr lang="en-US" sz="1800" b="1" strike="noStrike" spc="-1">
                <a:solidFill>
                  <a:srgbClr val="000000"/>
                </a:solidFill>
                <a:latin typeface="Tahoma"/>
              </a:rPr>
              <a:t> </a:t>
            </a:r>
            <a:r>
              <a:rPr lang="en-US" sz="1800" b="0" strike="noStrike" spc="-1">
                <a:solidFill>
                  <a:srgbClr val="000000"/>
                </a:solidFill>
                <a:latin typeface="Tahoma"/>
              </a:rPr>
              <a:t>echivalentă cu instanţierea clasei se realizează prin intermediul operatorului </a:t>
            </a:r>
            <a:r>
              <a:rPr lang="en-US" sz="1800" b="1" strike="noStrike" spc="-1">
                <a:solidFill>
                  <a:srgbClr val="008000"/>
                </a:solidFill>
                <a:latin typeface="Tahoma"/>
              </a:rPr>
              <a:t>new</a:t>
            </a:r>
            <a:r>
              <a:rPr lang="en-US" sz="1800" b="0" strike="noStrike" spc="-1">
                <a:solidFill>
                  <a:srgbClr val="000000"/>
                </a:solidFill>
                <a:latin typeface="Tahoma"/>
              </a:rPr>
              <a:t> şi presupune alocarea spaţiului de memorie necesar păstrării obiectului. Adresa (referinţa) către obiectul respectiv o să fie memorată în variabila numeObiect. </a:t>
            </a:r>
          </a:p>
          <a:p>
            <a:pPr marL="609480" indent="-609120">
              <a:lnSpc>
                <a:spcPct val="80000"/>
              </a:lnSpc>
              <a:spcBef>
                <a:spcPts val="360"/>
              </a:spcBef>
            </a:pPr>
            <a:r>
              <a:rPr lang="en-US" sz="1800" b="0" strike="noStrike" spc="-1">
                <a:solidFill>
                  <a:srgbClr val="000000"/>
                </a:solidFill>
                <a:latin typeface="Tahoma"/>
              </a:rPr>
              <a:t>		</a:t>
            </a:r>
            <a:r>
              <a:rPr lang="en-US" sz="1600" b="1" strike="noStrike" spc="-1">
                <a:solidFill>
                  <a:srgbClr val="000000"/>
                </a:solidFill>
                <a:latin typeface="Courier New"/>
              </a:rPr>
              <a:t>numeObiect = new NumeClasa();</a:t>
            </a:r>
            <a:endParaRPr lang="en-US" sz="1600" b="0" strike="noStrike" spc="-1">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0" i="1" strike="noStrike" spc="-1">
                <a:solidFill>
                  <a:srgbClr val="008000"/>
                </a:solidFill>
                <a:latin typeface="Tahoma"/>
              </a:rPr>
              <a:t>Exemplu</a:t>
            </a:r>
            <a:r>
              <a:rPr lang="en-US" sz="1800" b="0" strike="noStrike" spc="-1">
                <a:solidFill>
                  <a:srgbClr val="000000"/>
                </a:solidFill>
                <a:latin typeface="Tahoma"/>
              </a:rPr>
              <a:t>: </a:t>
            </a:r>
          </a:p>
          <a:p>
            <a:pPr marL="609480" indent="-609120">
              <a:lnSpc>
                <a:spcPct val="80000"/>
              </a:lnSpc>
              <a:spcBef>
                <a:spcPts val="360"/>
              </a:spcBef>
            </a:pPr>
            <a:r>
              <a:rPr lang="en-US" sz="1800" b="0" strike="noStrike" spc="-1">
                <a:solidFill>
                  <a:srgbClr val="000000"/>
                </a:solidFill>
                <a:latin typeface="Tahoma"/>
              </a:rPr>
              <a:t>		</a:t>
            </a:r>
            <a:r>
              <a:rPr lang="en-US" sz="1600" b="1" strike="noStrike" spc="-1">
                <a:solidFill>
                  <a:srgbClr val="000000"/>
                </a:solidFill>
                <a:latin typeface="Courier New"/>
              </a:rPr>
              <a:t>s        =new String() ;</a:t>
            </a:r>
            <a:endParaRPr lang="en-US" sz="1600" b="0" strike="noStrike" spc="-1">
              <a:solidFill>
                <a:srgbClr val="000000"/>
              </a:solidFill>
              <a:latin typeface="Tahoma"/>
            </a:endParaRPr>
          </a:p>
          <a:p>
            <a:pPr marL="609480" indent="-609120">
              <a:lnSpc>
                <a:spcPct val="80000"/>
              </a:lnSpc>
              <a:spcBef>
                <a:spcPts val="320"/>
              </a:spcBef>
            </a:pPr>
            <a:r>
              <a:rPr lang="en-US" sz="1600" b="1" strike="noStrike" spc="-1">
                <a:solidFill>
                  <a:srgbClr val="000000"/>
                </a:solidFill>
                <a:latin typeface="Courier New"/>
              </a:rPr>
              <a:t>		Complex c=new Complex(2,3);</a:t>
            </a:r>
            <a:endParaRPr lang="en-US" sz="1600" b="0" strike="noStrike" spc="-1">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3C2FB35B-6761-49AF-A140-1125FB6F141A}" type="slidenum">
              <a:rPr lang="en-US" sz="1400" b="0" strike="noStrike" spc="-1">
                <a:solidFill>
                  <a:srgbClr val="5E574E"/>
                </a:solidFill>
                <a:latin typeface="Arial"/>
              </a:rPr>
              <a:t>38</a:t>
            </a:fld>
            <a:endParaRPr lang="en-US" sz="1400" b="0" strike="noStrike" spc="-1">
              <a:latin typeface="Times New Roman"/>
            </a:endParaRPr>
          </a:p>
        </p:txBody>
      </p:sp>
      <p:sp>
        <p:nvSpPr>
          <p:cNvPr id="432" name="TextShape 4"/>
          <p:cNvSpPr txBox="1"/>
          <p:nvPr/>
        </p:nvSpPr>
        <p:spPr>
          <a:xfrm>
            <a:off x="439560" y="228600"/>
            <a:ext cx="8419680" cy="76176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433" name="TextShape 5"/>
          <p:cNvSpPr txBox="1"/>
          <p:nvPr/>
        </p:nvSpPr>
        <p:spPr>
          <a:xfrm>
            <a:off x="495360" y="1219320"/>
            <a:ext cx="8859600" cy="4838400"/>
          </a:xfrm>
          <a:prstGeom prst="rect">
            <a:avLst/>
          </a:prstGeom>
          <a:noFill/>
          <a:ln>
            <a:noFill/>
          </a:ln>
        </p:spPr>
        <p:txBody>
          <a:bodyPr>
            <a:noAutofit/>
          </a:bodyPr>
          <a:lstStyle/>
          <a:p>
            <a:pPr marL="343080" indent="-3427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Declararea</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a:t>
            </a:r>
            <a:r>
              <a:rPr lang="en-US" sz="2000" b="0" strike="noStrike" spc="-1" dirty="0" err="1">
                <a:solidFill>
                  <a:srgbClr val="000000"/>
                </a:solidFill>
                <a:latin typeface="Tahoma"/>
              </a:rPr>
              <a:t>crearea</a:t>
            </a:r>
            <a:r>
              <a:rPr lang="en-US" sz="2000" b="0" strike="noStrike" spc="-1" dirty="0">
                <a:solidFill>
                  <a:srgbClr val="000000"/>
                </a:solidFill>
                <a:latin typeface="Tahoma"/>
              </a:rPr>
              <a:t> </a:t>
            </a:r>
            <a:r>
              <a:rPr lang="en-US" sz="2000" b="0" strike="noStrike" spc="-1" dirty="0" err="1">
                <a:solidFill>
                  <a:srgbClr val="000000"/>
                </a:solidFill>
                <a:latin typeface="Tahoma"/>
              </a:rPr>
              <a:t>obiectului</a:t>
            </a:r>
            <a:r>
              <a:rPr lang="en-US" sz="2000" b="0" strike="noStrike" spc="-1" dirty="0">
                <a:solidFill>
                  <a:srgbClr val="000000"/>
                </a:solidFill>
                <a:latin typeface="Tahoma"/>
              </a:rPr>
              <a:t> pot fi </a:t>
            </a:r>
            <a:r>
              <a:rPr lang="en-US" sz="2000" b="0" strike="noStrike" spc="-1" dirty="0" err="1">
                <a:solidFill>
                  <a:srgbClr val="000000"/>
                </a:solidFill>
                <a:latin typeface="Tahoma"/>
              </a:rPr>
              <a:t>făcute</a:t>
            </a:r>
            <a:r>
              <a:rPr lang="en-US" sz="2000" b="0" strike="noStrike" spc="-1" dirty="0">
                <a:solidFill>
                  <a:srgbClr val="000000"/>
                </a:solidFill>
                <a:latin typeface="Tahoma"/>
              </a:rPr>
              <a:t> </a:t>
            </a:r>
            <a:r>
              <a:rPr lang="en-US" sz="2000" b="0" strike="noStrike" spc="-1" dirty="0" err="1">
                <a:solidFill>
                  <a:srgbClr val="000000"/>
                </a:solidFill>
                <a:latin typeface="Tahoma"/>
              </a:rPr>
              <a:t>pe</a:t>
            </a:r>
            <a:r>
              <a:rPr lang="en-US" sz="2000" b="0" strike="noStrike" spc="-1" dirty="0">
                <a:solidFill>
                  <a:srgbClr val="000000"/>
                </a:solidFill>
                <a:latin typeface="Tahoma"/>
              </a:rPr>
              <a:t> </a:t>
            </a:r>
            <a:r>
              <a:rPr lang="en-US" sz="2000" b="0" strike="noStrike" spc="-1" dirty="0" err="1">
                <a:solidFill>
                  <a:srgbClr val="000000"/>
                </a:solidFill>
                <a:latin typeface="Tahoma"/>
              </a:rPr>
              <a:t>aceeaşi</a:t>
            </a:r>
            <a:r>
              <a:rPr lang="en-US" sz="2000" b="0" strike="noStrike" spc="-1" dirty="0">
                <a:solidFill>
                  <a:srgbClr val="000000"/>
                </a:solidFill>
                <a:latin typeface="Tahoma"/>
              </a:rPr>
              <a:t> </a:t>
            </a:r>
            <a:r>
              <a:rPr lang="en-US" sz="2000" b="0" strike="noStrike" spc="-1" dirty="0" err="1">
                <a:solidFill>
                  <a:srgbClr val="000000"/>
                </a:solidFill>
                <a:latin typeface="Tahoma"/>
              </a:rPr>
              <a:t>linie</a:t>
            </a:r>
            <a:r>
              <a:rPr lang="en-US" sz="2000" b="0" strike="noStrike" spc="-1" dirty="0">
                <a:solidFill>
                  <a:srgbClr val="000000"/>
                </a:solidFill>
                <a:latin typeface="Tahoma"/>
              </a:rPr>
              <a:t>.</a:t>
            </a:r>
          </a:p>
          <a:p>
            <a:pPr marL="343080" indent="-342720">
              <a:lnSpc>
                <a:spcPct val="80000"/>
              </a:lnSpc>
              <a:spcBef>
                <a:spcPts val="400"/>
              </a:spcBef>
            </a:pPr>
            <a:r>
              <a:rPr lang="en-US" sz="2000" b="0" strike="noStrike" spc="-1" dirty="0">
                <a:solidFill>
                  <a:srgbClr val="000000"/>
                </a:solidFill>
                <a:latin typeface="Tahoma"/>
              </a:rPr>
              <a:t>	</a:t>
            </a:r>
            <a:r>
              <a:rPr lang="en-US" sz="2000" b="0" i="1" strike="noStrike" spc="-1" dirty="0" err="1">
                <a:solidFill>
                  <a:srgbClr val="008000"/>
                </a:solidFill>
                <a:latin typeface="Tahoma"/>
              </a:rPr>
              <a:t>Exemplu</a:t>
            </a:r>
            <a:r>
              <a:rPr lang="en-US" sz="2000" b="0" strike="noStrike" spc="-1" dirty="0">
                <a:solidFill>
                  <a:srgbClr val="000000"/>
                </a:solidFill>
                <a:latin typeface="Tahoma"/>
              </a:rPr>
              <a:t>: </a:t>
            </a:r>
          </a:p>
          <a:p>
            <a:pPr marL="343080" indent="-342720">
              <a:lnSpc>
                <a:spcPct val="80000"/>
              </a:lnSpc>
              <a:spcBef>
                <a:spcPts val="400"/>
              </a:spcBef>
            </a:pPr>
            <a:r>
              <a:rPr lang="en-US" sz="2000" b="0" strike="noStrike" spc="-1" dirty="0">
                <a:solidFill>
                  <a:srgbClr val="000000"/>
                </a:solidFill>
                <a:latin typeface="Tahoma"/>
              </a:rPr>
              <a:t>		</a:t>
            </a:r>
            <a:r>
              <a:rPr lang="en-US" sz="1600" b="1" strike="noStrike" spc="-1" dirty="0">
                <a:solidFill>
                  <a:srgbClr val="000000"/>
                </a:solidFill>
                <a:latin typeface="Courier New"/>
              </a:rPr>
              <a:t>String  s=new String() ;</a:t>
            </a:r>
            <a:endParaRPr lang="en-US" sz="1600" b="0" strike="noStrike" spc="-1" dirty="0">
              <a:solidFill>
                <a:srgbClr val="000000"/>
              </a:solidFill>
              <a:latin typeface="Tahoma"/>
            </a:endParaRPr>
          </a:p>
          <a:p>
            <a:pPr marL="343080" indent="-342720">
              <a:lnSpc>
                <a:spcPct val="80000"/>
              </a:lnSpc>
              <a:spcBef>
                <a:spcPts val="320"/>
              </a:spcBef>
            </a:pPr>
            <a:r>
              <a:rPr lang="en-US" sz="1600" b="1" strike="noStrike" spc="-1" dirty="0">
                <a:solidFill>
                  <a:srgbClr val="000000"/>
                </a:solidFill>
                <a:latin typeface="Courier New"/>
              </a:rPr>
              <a:t>		Complex c=new Complex(2,3);</a:t>
            </a:r>
            <a:endParaRPr lang="en-US" sz="1600" b="0" strike="noStrike" spc="-1" dirty="0">
              <a:solidFill>
                <a:srgbClr val="000000"/>
              </a:solidFill>
              <a:latin typeface="Tahoma"/>
            </a:endParaRPr>
          </a:p>
          <a:p>
            <a:pPr marL="343080" indent="-342720">
              <a:lnSpc>
                <a:spcPct val="80000"/>
              </a:lnSpc>
              <a:spcBef>
                <a:spcPts val="320"/>
              </a:spcBef>
            </a:pPr>
            <a:endParaRPr lang="en-US" sz="16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În</a:t>
            </a:r>
            <a:r>
              <a:rPr lang="en-US" sz="2000" b="0" strike="noStrike" spc="-1" dirty="0">
                <a:solidFill>
                  <a:srgbClr val="000000"/>
                </a:solidFill>
                <a:latin typeface="Tahoma"/>
              </a:rPr>
              <a:t> </a:t>
            </a:r>
            <a:r>
              <a:rPr lang="en-US" sz="2000" b="0" strike="noStrike" spc="-1" dirty="0" err="1">
                <a:solidFill>
                  <a:srgbClr val="000000"/>
                </a:solidFill>
                <a:latin typeface="Tahoma"/>
              </a:rPr>
              <a:t>momentul</a:t>
            </a:r>
            <a:r>
              <a:rPr lang="en-US" sz="2000" b="0" strike="noStrike" spc="-1" dirty="0">
                <a:solidFill>
                  <a:srgbClr val="000000"/>
                </a:solidFill>
                <a:latin typeface="Tahoma"/>
              </a:rPr>
              <a:t> </a:t>
            </a:r>
            <a:r>
              <a:rPr lang="en-US" sz="2000" b="0" strike="noStrike" spc="-1" dirty="0" err="1">
                <a:solidFill>
                  <a:srgbClr val="000000"/>
                </a:solidFill>
                <a:latin typeface="Tahoma"/>
              </a:rPr>
              <a:t>în</a:t>
            </a:r>
            <a:r>
              <a:rPr lang="en-US" sz="2000" b="0" strike="noStrike" spc="-1" dirty="0">
                <a:solidFill>
                  <a:srgbClr val="000000"/>
                </a:solidFill>
                <a:latin typeface="Tahoma"/>
              </a:rPr>
              <a:t> care se </a:t>
            </a:r>
            <a:r>
              <a:rPr lang="en-US" sz="2000" b="0" strike="noStrike" spc="-1" dirty="0" err="1">
                <a:solidFill>
                  <a:srgbClr val="000000"/>
                </a:solidFill>
                <a:latin typeface="Tahoma"/>
              </a:rPr>
              <a:t>realizează</a:t>
            </a:r>
            <a:r>
              <a:rPr lang="en-US" sz="2000" b="0" strike="noStrike" spc="-1" dirty="0">
                <a:solidFill>
                  <a:srgbClr val="000000"/>
                </a:solidFill>
                <a:latin typeface="Tahoma"/>
              </a:rPr>
              <a:t> </a:t>
            </a:r>
            <a:r>
              <a:rPr lang="en-US" sz="2000" b="0" strike="noStrike" spc="-1" dirty="0" err="1">
                <a:solidFill>
                  <a:srgbClr val="000000"/>
                </a:solidFill>
                <a:latin typeface="Tahoma"/>
              </a:rPr>
              <a:t>crearea</a:t>
            </a:r>
            <a:r>
              <a:rPr lang="en-US" sz="2000" b="0" strike="noStrike" spc="-1" dirty="0">
                <a:solidFill>
                  <a:srgbClr val="000000"/>
                </a:solidFill>
                <a:latin typeface="Tahoma"/>
              </a:rPr>
              <a:t> </a:t>
            </a:r>
            <a:r>
              <a:rPr lang="en-US" sz="2000" b="0" strike="noStrike" spc="-1" dirty="0" err="1">
                <a:solidFill>
                  <a:srgbClr val="000000"/>
                </a:solidFill>
                <a:latin typeface="Tahoma"/>
              </a:rPr>
              <a:t>obiectului</a:t>
            </a:r>
            <a:r>
              <a:rPr lang="en-US" sz="2000" b="0" strike="noStrike" spc="-1" dirty="0">
                <a:solidFill>
                  <a:srgbClr val="000000"/>
                </a:solidFill>
                <a:latin typeface="Tahoma"/>
              </a:rPr>
              <a:t> are </a:t>
            </a:r>
            <a:r>
              <a:rPr lang="en-US" sz="2000" b="0" strike="noStrike" spc="-1" dirty="0" err="1">
                <a:solidFill>
                  <a:srgbClr val="000000"/>
                </a:solidFill>
                <a:latin typeface="Tahoma"/>
              </a:rPr>
              <a:t>loc</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a:t>
            </a:r>
            <a:r>
              <a:rPr lang="en-US" sz="2000" b="0" strike="noStrike" spc="-1" dirty="0" err="1">
                <a:solidFill>
                  <a:srgbClr val="000000"/>
                </a:solidFill>
                <a:latin typeface="Tahoma"/>
              </a:rPr>
              <a:t>iniţializarea</a:t>
            </a:r>
            <a:r>
              <a:rPr lang="en-US" sz="2000" b="0" strike="noStrike" spc="-1" dirty="0">
                <a:solidFill>
                  <a:srgbClr val="000000"/>
                </a:solidFill>
                <a:latin typeface="Tahoma"/>
              </a:rPr>
              <a:t> </a:t>
            </a:r>
            <a:r>
              <a:rPr lang="en-US" sz="2000" b="0" strike="noStrike" spc="-1" dirty="0" err="1">
                <a:solidFill>
                  <a:srgbClr val="000000"/>
                </a:solidFill>
                <a:latin typeface="Tahoma"/>
              </a:rPr>
              <a:t>lui</a:t>
            </a:r>
            <a:r>
              <a:rPr lang="en-US" sz="2000" b="0" strike="noStrike" spc="-1" dirty="0">
                <a:solidFill>
                  <a:srgbClr val="000000"/>
                </a:solidFill>
                <a:latin typeface="Tahoma"/>
              </a:rPr>
              <a:t>. </a:t>
            </a:r>
            <a:r>
              <a:rPr dirty="0"/>
              <a:t/>
            </a:r>
            <a:br>
              <a:rPr dirty="0"/>
            </a:br>
            <a:r>
              <a:rPr lang="en-US" sz="2000" b="0" strike="noStrike" spc="-1" dirty="0">
                <a:solidFill>
                  <a:srgbClr val="000000"/>
                </a:solidFill>
                <a:latin typeface="Tahoma"/>
              </a:rPr>
              <a:t> </a:t>
            </a:r>
            <a:r>
              <a:rPr lang="en-US" sz="2000" b="1" strike="noStrike" spc="-1" dirty="0" err="1">
                <a:solidFill>
                  <a:srgbClr val="FF6600"/>
                </a:solidFill>
                <a:latin typeface="Tahoma"/>
              </a:rPr>
              <a:t>Atenţie</a:t>
            </a:r>
            <a:r>
              <a:rPr lang="en-US" sz="2000" b="0" strike="noStrike" spc="-1" dirty="0">
                <a:solidFill>
                  <a:srgbClr val="000000"/>
                </a:solidFill>
                <a:latin typeface="Tahoma"/>
              </a:rPr>
              <a:t> </a:t>
            </a:r>
          </a:p>
          <a:p>
            <a:pPr marL="343080" indent="-342720">
              <a:lnSpc>
                <a:spcPct val="80000"/>
              </a:lnSpc>
              <a:spcBef>
                <a:spcPts val="400"/>
              </a:spcBef>
            </a:pPr>
            <a:r>
              <a:rPr lang="en-US" sz="2000" b="0" strike="noStrike" spc="-1" dirty="0">
                <a:solidFill>
                  <a:srgbClr val="000000"/>
                </a:solidFill>
                <a:latin typeface="Tahoma"/>
              </a:rPr>
              <a:t>	</a:t>
            </a:r>
            <a:r>
              <a:rPr lang="en-US" sz="2000" b="0" strike="noStrike" spc="-1" dirty="0" err="1">
                <a:solidFill>
                  <a:srgbClr val="000000"/>
                </a:solidFill>
                <a:latin typeface="Tahoma"/>
              </a:rPr>
              <a:t>Spaţiul</a:t>
            </a:r>
            <a:r>
              <a:rPr lang="en-US" sz="2000" b="0" strike="noStrike" spc="-1" dirty="0">
                <a:solidFill>
                  <a:srgbClr val="000000"/>
                </a:solidFill>
                <a:latin typeface="Tahoma"/>
              </a:rPr>
              <a:t> de </a:t>
            </a:r>
            <a:r>
              <a:rPr lang="en-US" sz="2000" b="0" strike="noStrike" spc="-1" dirty="0" err="1">
                <a:solidFill>
                  <a:srgbClr val="000000"/>
                </a:solidFill>
                <a:latin typeface="Tahoma"/>
              </a:rPr>
              <a:t>memorie</a:t>
            </a:r>
            <a:r>
              <a:rPr lang="en-US" sz="2000" b="0" strike="noStrike" spc="-1" dirty="0">
                <a:solidFill>
                  <a:srgbClr val="000000"/>
                </a:solidFill>
                <a:latin typeface="Tahoma"/>
              </a:rPr>
              <a:t> nu </a:t>
            </a:r>
            <a:r>
              <a:rPr lang="en-US" sz="2000" b="0" strike="noStrike" spc="-1" dirty="0" err="1">
                <a:solidFill>
                  <a:srgbClr val="000000"/>
                </a:solidFill>
                <a:latin typeface="Tahoma"/>
              </a:rPr>
              <a:t>este</a:t>
            </a:r>
            <a:r>
              <a:rPr lang="en-US" sz="2000" b="0" strike="noStrike" spc="-1" dirty="0">
                <a:solidFill>
                  <a:srgbClr val="000000"/>
                </a:solidFill>
                <a:latin typeface="Tahoma"/>
              </a:rPr>
              <a:t> </a:t>
            </a:r>
            <a:r>
              <a:rPr lang="en-US" sz="2000" b="0" strike="noStrike" spc="-1" dirty="0" err="1">
                <a:solidFill>
                  <a:srgbClr val="000000"/>
                </a:solidFill>
                <a:latin typeface="Tahoma"/>
              </a:rPr>
              <a:t>alocat</a:t>
            </a:r>
            <a:r>
              <a:rPr lang="en-US" sz="2000" b="0" strike="noStrike" spc="-1" dirty="0">
                <a:solidFill>
                  <a:srgbClr val="000000"/>
                </a:solidFill>
                <a:latin typeface="Tahoma"/>
              </a:rPr>
              <a:t> </a:t>
            </a:r>
            <a:r>
              <a:rPr lang="en-US" sz="2000" b="0" strike="noStrike" spc="-1" dirty="0" err="1">
                <a:solidFill>
                  <a:srgbClr val="000000"/>
                </a:solidFill>
                <a:latin typeface="Tahoma"/>
              </a:rPr>
              <a:t>în</a:t>
            </a:r>
            <a:r>
              <a:rPr lang="en-US" sz="2000" b="0" strike="noStrike" spc="-1" dirty="0">
                <a:solidFill>
                  <a:srgbClr val="000000"/>
                </a:solidFill>
                <a:latin typeface="Tahoma"/>
              </a:rPr>
              <a:t> </a:t>
            </a:r>
            <a:r>
              <a:rPr lang="en-US" sz="2000" b="0" strike="noStrike" spc="-1" dirty="0" err="1">
                <a:solidFill>
                  <a:srgbClr val="000000"/>
                </a:solidFill>
                <a:latin typeface="Tahoma"/>
              </a:rPr>
              <a:t>momentul</a:t>
            </a:r>
            <a:r>
              <a:rPr lang="en-US" sz="2000" b="0" strike="noStrike" spc="-1" dirty="0">
                <a:solidFill>
                  <a:srgbClr val="000000"/>
                </a:solidFill>
                <a:latin typeface="Tahoma"/>
              </a:rPr>
              <a:t> </a:t>
            </a:r>
            <a:r>
              <a:rPr lang="en-US" sz="2000" b="0" strike="noStrike" spc="-1" dirty="0" err="1">
                <a:solidFill>
                  <a:srgbClr val="000000"/>
                </a:solidFill>
                <a:latin typeface="Tahoma"/>
              </a:rPr>
              <a:t>declarării</a:t>
            </a:r>
            <a:r>
              <a:rPr lang="en-US" sz="2000" b="0" strike="noStrike" spc="-1" dirty="0">
                <a:solidFill>
                  <a:srgbClr val="000000"/>
                </a:solidFill>
                <a:latin typeface="Tahoma"/>
              </a:rPr>
              <a:t> </a:t>
            </a:r>
            <a:r>
              <a:rPr lang="en-US" sz="2000" b="0" strike="noStrike" spc="-1" dirty="0" err="1">
                <a:solidFill>
                  <a:srgbClr val="000000"/>
                </a:solidFill>
                <a:latin typeface="Tahoma"/>
              </a:rPr>
              <a:t>obiectului</a:t>
            </a:r>
            <a:r>
              <a:rPr lang="en-US" sz="2000" b="0" strike="noStrike" spc="-1" dirty="0">
                <a:solidFill>
                  <a:srgbClr val="000000"/>
                </a:solidFill>
                <a:latin typeface="Tahoma"/>
              </a:rPr>
              <a:t>.</a:t>
            </a:r>
          </a:p>
          <a:p>
            <a:pPr marL="343080" indent="-342720">
              <a:lnSpc>
                <a:spcPct val="80000"/>
              </a:lnSpc>
              <a:spcBef>
                <a:spcPts val="400"/>
              </a:spcBef>
            </a:pPr>
            <a:endParaRPr lang="en-US" sz="20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i="1" strike="noStrike" spc="-1" dirty="0" err="1">
                <a:solidFill>
                  <a:srgbClr val="008000"/>
                </a:solidFill>
                <a:latin typeface="Tahoma"/>
              </a:rPr>
              <a:t>Exemplu</a:t>
            </a:r>
            <a:r>
              <a:rPr lang="en-US" sz="2000" b="0" i="1" strike="noStrike" spc="-1" dirty="0">
                <a:solidFill>
                  <a:srgbClr val="000000"/>
                </a:solidFill>
                <a:latin typeface="Tahoma"/>
              </a:rPr>
              <a:t>:</a:t>
            </a:r>
            <a:endParaRPr lang="en-US" sz="2000" b="0" strike="noStrike" spc="-1" dirty="0">
              <a:solidFill>
                <a:srgbClr val="000000"/>
              </a:solidFill>
              <a:latin typeface="Tahoma"/>
            </a:endParaRPr>
          </a:p>
          <a:p>
            <a:pPr marL="343080" indent="-342720">
              <a:lnSpc>
                <a:spcPct val="80000"/>
              </a:lnSpc>
              <a:spcBef>
                <a:spcPts val="400"/>
              </a:spcBef>
            </a:pPr>
            <a:r>
              <a:rPr lang="en-US" sz="2000" b="0" strike="noStrike" spc="-1" dirty="0">
                <a:solidFill>
                  <a:srgbClr val="000000"/>
                </a:solidFill>
                <a:latin typeface="Tahoma"/>
              </a:rPr>
              <a:t>	</a:t>
            </a:r>
            <a:r>
              <a:rPr lang="en-US" sz="1600" b="1" strike="noStrike" spc="-1" dirty="0">
                <a:solidFill>
                  <a:srgbClr val="000000"/>
                </a:solidFill>
                <a:latin typeface="Courier New"/>
              </a:rPr>
              <a:t>Complex </a:t>
            </a:r>
            <a:r>
              <a:rPr lang="en-US" sz="1600" b="1" strike="noStrike" spc="-1" dirty="0" err="1">
                <a:solidFill>
                  <a:srgbClr val="000000"/>
                </a:solidFill>
                <a:latin typeface="Courier New"/>
              </a:rPr>
              <a:t>c;c.re</a:t>
            </a:r>
            <a:r>
              <a:rPr lang="en-US" sz="1600" b="1" strike="noStrike" spc="-1" dirty="0">
                <a:solidFill>
                  <a:srgbClr val="000000"/>
                </a:solidFill>
                <a:latin typeface="Courier New"/>
              </a:rPr>
              <a:t> = 10;	//EROARE! </a:t>
            </a:r>
            <a:r>
              <a:rPr lang="en-US" sz="1600" b="1" strike="noStrike" spc="-1" dirty="0" err="1">
                <a:solidFill>
                  <a:srgbClr val="000000"/>
                </a:solidFill>
                <a:latin typeface="Courier New"/>
              </a:rPr>
              <a:t>Alocarea</a:t>
            </a:r>
            <a:r>
              <a:rPr lang="en-US" sz="1600" b="1" strike="noStrike" spc="-1" dirty="0">
                <a:solidFill>
                  <a:srgbClr val="000000"/>
                </a:solidFill>
                <a:latin typeface="Courier New"/>
              </a:rPr>
              <a:t> </a:t>
            </a:r>
            <a:r>
              <a:rPr lang="en-US" sz="1600" b="1" strike="noStrike" spc="-1" dirty="0" err="1">
                <a:solidFill>
                  <a:srgbClr val="000000"/>
                </a:solidFill>
                <a:latin typeface="Courier New"/>
              </a:rPr>
              <a:t>memoriei</a:t>
            </a:r>
            <a:r>
              <a:rPr lang="en-US" sz="1600" b="1" strike="noStrike" spc="-1" dirty="0">
                <a:solidFill>
                  <a:srgbClr val="000000"/>
                </a:solidFill>
                <a:latin typeface="Courier New"/>
              </a:rPr>
              <a:t> se face </a:t>
            </a:r>
            <a:r>
              <a:rPr lang="en-US" sz="1600" b="1" strike="noStrike" spc="-1" dirty="0" err="1">
                <a:solidFill>
                  <a:srgbClr val="000000"/>
                </a:solidFill>
                <a:latin typeface="Courier New"/>
              </a:rPr>
              <a:t>doar</a:t>
            </a:r>
            <a:endParaRPr lang="en-US" sz="1600" b="0" strike="noStrike" spc="-1" dirty="0">
              <a:solidFill>
                <a:srgbClr val="000000"/>
              </a:solidFill>
              <a:latin typeface="Tahoma"/>
            </a:endParaRPr>
          </a:p>
          <a:p>
            <a:pPr marL="343080" indent="-342720">
              <a:lnSpc>
                <a:spcPct val="80000"/>
              </a:lnSpc>
              <a:spcBef>
                <a:spcPts val="320"/>
              </a:spcBef>
            </a:pPr>
            <a:r>
              <a:rPr lang="en-US" sz="1600" b="1" strike="noStrike" spc="-1" dirty="0">
                <a:solidFill>
                  <a:srgbClr val="000000"/>
                </a:solidFill>
                <a:latin typeface="Courier New"/>
              </a:rPr>
              <a:t>					//la </a:t>
            </a:r>
            <a:r>
              <a:rPr lang="en-US" sz="1600" b="1" strike="noStrike" spc="-1" dirty="0" err="1">
                <a:solidFill>
                  <a:srgbClr val="000000"/>
                </a:solidFill>
                <a:latin typeface="Courier New"/>
              </a:rPr>
              <a:t>apelul</a:t>
            </a:r>
            <a:r>
              <a:rPr lang="en-US" sz="1600" b="1" strike="noStrike" spc="-1" dirty="0">
                <a:solidFill>
                  <a:srgbClr val="000000"/>
                </a:solidFill>
                <a:latin typeface="Courier New"/>
              </a:rPr>
              <a:t> </a:t>
            </a:r>
            <a:r>
              <a:rPr lang="en-US" sz="1600" b="1" strike="noStrike" spc="-1" dirty="0" err="1">
                <a:solidFill>
                  <a:srgbClr val="000000"/>
                </a:solidFill>
                <a:latin typeface="Courier New"/>
              </a:rPr>
              <a:t>instrucţiunii</a:t>
            </a:r>
            <a:r>
              <a:rPr lang="en-US" sz="1600" b="1" strike="noStrike" spc="-1" dirty="0">
                <a:solidFill>
                  <a:srgbClr val="000000"/>
                </a:solidFill>
                <a:latin typeface="Courier New"/>
              </a:rPr>
              <a:t> new !</a:t>
            </a:r>
            <a:endParaRPr lang="en-US" sz="1600" b="0" strike="noStrike" spc="-1" dirty="0">
              <a:solidFill>
                <a:srgbClr val="000000"/>
              </a:solidFill>
              <a:latin typeface="Tahoma"/>
            </a:endParaRPr>
          </a:p>
          <a:p>
            <a:pPr marL="343080" indent="-342720">
              <a:lnSpc>
                <a:spcPct val="80000"/>
              </a:lnSpc>
              <a:spcBef>
                <a:spcPts val="320"/>
              </a:spcBef>
            </a:pPr>
            <a:r>
              <a:rPr lang="en-US" sz="1600" b="1" strike="noStrike" spc="-1" dirty="0">
                <a:solidFill>
                  <a:srgbClr val="000000"/>
                </a:solidFill>
                <a:latin typeface="Courier New"/>
              </a:rPr>
              <a:t> </a:t>
            </a:r>
            <a:endParaRPr lang="en-US" sz="16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1" strike="noStrike" spc="-1" dirty="0" err="1">
                <a:solidFill>
                  <a:srgbClr val="008000"/>
                </a:solidFill>
                <a:latin typeface="Tahoma"/>
              </a:rPr>
              <a:t>Referirea</a:t>
            </a:r>
            <a:r>
              <a:rPr lang="en-US" sz="2000" b="1" strike="noStrike" spc="-1" dirty="0">
                <a:solidFill>
                  <a:srgbClr val="008000"/>
                </a:solidFill>
                <a:latin typeface="Tahoma"/>
              </a:rPr>
              <a:t> </a:t>
            </a:r>
            <a:r>
              <a:rPr lang="en-US" sz="2000" b="1" strike="noStrike" spc="-1" dirty="0" err="1">
                <a:solidFill>
                  <a:srgbClr val="008000"/>
                </a:solidFill>
                <a:latin typeface="Tahoma"/>
              </a:rPr>
              <a:t>valorii</a:t>
            </a:r>
            <a:r>
              <a:rPr lang="en-US" sz="2000" b="1" strike="noStrike" spc="-1" dirty="0">
                <a:solidFill>
                  <a:srgbClr val="008000"/>
                </a:solidFill>
                <a:latin typeface="Tahoma"/>
              </a:rPr>
              <a:t> </a:t>
            </a:r>
            <a:r>
              <a:rPr lang="en-US" sz="2000" b="1" strike="noStrike" spc="-1" dirty="0" err="1">
                <a:solidFill>
                  <a:srgbClr val="008000"/>
                </a:solidFill>
                <a:latin typeface="Tahoma"/>
              </a:rPr>
              <a:t>unei</a:t>
            </a:r>
            <a:r>
              <a:rPr lang="en-US" sz="2000" b="1" strike="noStrike" spc="-1" dirty="0">
                <a:solidFill>
                  <a:srgbClr val="008000"/>
                </a:solidFill>
                <a:latin typeface="Tahoma"/>
              </a:rPr>
              <a:t> </a:t>
            </a:r>
            <a:r>
              <a:rPr lang="en-US" sz="2000" b="1" strike="noStrike" spc="-1" dirty="0" err="1">
                <a:solidFill>
                  <a:srgbClr val="008000"/>
                </a:solidFill>
                <a:latin typeface="Tahoma"/>
              </a:rPr>
              <a:t>variabile</a:t>
            </a:r>
            <a:r>
              <a:rPr lang="en-US" sz="2000" b="0" strike="noStrike" spc="-1" dirty="0">
                <a:solidFill>
                  <a:srgbClr val="000000"/>
                </a:solidFill>
                <a:latin typeface="Tahoma"/>
              </a:rPr>
              <a:t> se face </a:t>
            </a:r>
            <a:r>
              <a:rPr lang="en-US" sz="2000" b="0" strike="noStrike" spc="-1" dirty="0" err="1">
                <a:solidFill>
                  <a:srgbClr val="000000"/>
                </a:solidFill>
                <a:latin typeface="Tahoma"/>
              </a:rPr>
              <a:t>prin</a:t>
            </a:r>
            <a:r>
              <a:rPr lang="en-US" sz="2000" b="0" strike="noStrike" spc="-1" dirty="0">
                <a:solidFill>
                  <a:srgbClr val="000000"/>
                </a:solidFill>
                <a:latin typeface="Tahoma"/>
              </a:rPr>
              <a:t> </a:t>
            </a:r>
          </a:p>
          <a:p>
            <a:pPr marL="343080" indent="-342720">
              <a:lnSpc>
                <a:spcPct val="80000"/>
              </a:lnSpc>
              <a:spcBef>
                <a:spcPts val="400"/>
              </a:spcBef>
            </a:pPr>
            <a:r>
              <a:rPr lang="en-US" sz="2000" b="1" strike="noStrike" spc="-1" dirty="0">
                <a:solidFill>
                  <a:srgbClr val="000000"/>
                </a:solidFill>
                <a:latin typeface="Tahoma"/>
              </a:rPr>
              <a:t>			</a:t>
            </a:r>
            <a:r>
              <a:rPr lang="en-US" sz="1800" b="1" strike="noStrike" spc="-1" dirty="0" err="1">
                <a:solidFill>
                  <a:srgbClr val="000000"/>
                </a:solidFill>
                <a:latin typeface="Courier New"/>
              </a:rPr>
              <a:t>obiect.variabila</a:t>
            </a:r>
            <a:r>
              <a:rPr lang="en-US" sz="1800" b="0" strike="noStrike" spc="-1" dirty="0">
                <a:solidFill>
                  <a:srgbClr val="000000"/>
                </a:solidFill>
                <a:latin typeface="Courier New"/>
              </a:rPr>
              <a:t> </a:t>
            </a:r>
            <a:endParaRPr lang="en-US" sz="18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2F3A2901-E60F-4B6D-901B-D78EEF62ABFC}" type="slidenum">
              <a:rPr lang="en-US" sz="1400" b="0" strike="noStrike" spc="-1">
                <a:solidFill>
                  <a:srgbClr val="5E574E"/>
                </a:solidFill>
                <a:latin typeface="Arial"/>
              </a:rPr>
              <a:t>39</a:t>
            </a:fld>
            <a:endParaRPr lang="en-US" sz="1400" b="0" strike="noStrike" spc="-1">
              <a:latin typeface="Times New Roman"/>
            </a:endParaRPr>
          </a:p>
        </p:txBody>
      </p:sp>
      <p:sp>
        <p:nvSpPr>
          <p:cNvPr id="437" name="TextShape 4"/>
          <p:cNvSpPr txBox="1"/>
          <p:nvPr/>
        </p:nvSpPr>
        <p:spPr>
          <a:xfrm>
            <a:off x="439560" y="228600"/>
            <a:ext cx="8419680" cy="837720"/>
          </a:xfrm>
          <a:prstGeom prst="rect">
            <a:avLst/>
          </a:prstGeom>
          <a:noFill/>
          <a:ln>
            <a:noFill/>
          </a:ln>
        </p:spPr>
        <p:txBody>
          <a:bodyPr anchor="b">
            <a:noAutofit/>
          </a:bodyPr>
          <a:lstStyle/>
          <a:p>
            <a:pPr>
              <a:lnSpc>
                <a:spcPct val="100000"/>
              </a:lnSpc>
            </a:pPr>
            <a:endParaRPr lang="en-US" sz="4000" b="0" strike="noStrike" spc="-1" dirty="0">
              <a:solidFill>
                <a:srgbClr val="000000"/>
              </a:solidFill>
              <a:latin typeface="Arial"/>
            </a:endParaRPr>
          </a:p>
        </p:txBody>
      </p:sp>
      <p:sp>
        <p:nvSpPr>
          <p:cNvPr id="438" name="TextShape 5"/>
          <p:cNvSpPr txBox="1"/>
          <p:nvPr/>
        </p:nvSpPr>
        <p:spPr>
          <a:xfrm>
            <a:off x="495360" y="1371600"/>
            <a:ext cx="8859600" cy="4686120"/>
          </a:xfrm>
          <a:prstGeom prst="rect">
            <a:avLst/>
          </a:prstGeom>
          <a:noFill/>
          <a:ln>
            <a:noFill/>
          </a:ln>
        </p:spPr>
        <p:txBody>
          <a:bodyPr>
            <a:noAutofit/>
          </a:bodyPr>
          <a:lstStyle/>
          <a:p>
            <a:pPr marL="343080" indent="-342720">
              <a:lnSpc>
                <a:spcPct val="80000"/>
              </a:lnSpc>
              <a:spcBef>
                <a:spcPts val="400"/>
              </a:spcBef>
              <a:buClr>
                <a:srgbClr val="FFCC00"/>
              </a:buClr>
              <a:buFont typeface="Monotype Sorts" charset="2"/>
              <a:buChar char=""/>
            </a:pPr>
            <a:r>
              <a:rPr lang="en-US" sz="2000" b="0" i="1" strike="noStrike" spc="-1" dirty="0" err="1">
                <a:solidFill>
                  <a:srgbClr val="008000"/>
                </a:solidFill>
                <a:latin typeface="Tahoma"/>
              </a:rPr>
              <a:t>Exemplu</a:t>
            </a:r>
            <a:r>
              <a:rPr lang="en-US" sz="2000" b="0" i="1" strike="noStrike" spc="-1" dirty="0">
                <a:solidFill>
                  <a:srgbClr val="000000"/>
                </a:solidFill>
                <a:latin typeface="Tahoma"/>
              </a:rPr>
              <a:t>:</a:t>
            </a:r>
            <a:endParaRPr lang="en-US" sz="2000" b="0" strike="noStrike" spc="-1" dirty="0">
              <a:solidFill>
                <a:srgbClr val="000000"/>
              </a:solidFill>
              <a:latin typeface="Tahoma"/>
            </a:endParaRPr>
          </a:p>
          <a:p>
            <a:pPr marL="343080" indent="-342720">
              <a:lnSpc>
                <a:spcPct val="80000"/>
              </a:lnSpc>
              <a:spcBef>
                <a:spcPts val="400"/>
              </a:spcBef>
            </a:pPr>
            <a:r>
              <a:rPr lang="en-US" sz="2000" b="0" strike="noStrike" spc="-1" dirty="0">
                <a:solidFill>
                  <a:srgbClr val="000000"/>
                </a:solidFill>
                <a:latin typeface="Tahoma"/>
              </a:rPr>
              <a:t>		</a:t>
            </a:r>
            <a:r>
              <a:rPr lang="en-US" sz="1600" b="1" strike="noStrike" spc="-1" dirty="0">
                <a:solidFill>
                  <a:srgbClr val="000000"/>
                </a:solidFill>
                <a:latin typeface="Courier New"/>
              </a:rPr>
              <a:t>Complex c = new Complex();</a:t>
            </a:r>
            <a:endParaRPr lang="en-US" sz="1600" b="0" strike="noStrike" spc="-1" dirty="0">
              <a:solidFill>
                <a:srgbClr val="000000"/>
              </a:solidFill>
              <a:latin typeface="Tahoma"/>
            </a:endParaRPr>
          </a:p>
          <a:p>
            <a:pPr marL="343080" indent="-342720">
              <a:lnSpc>
                <a:spcPct val="80000"/>
              </a:lnSpc>
              <a:spcBef>
                <a:spcPts val="320"/>
              </a:spcBef>
            </a:pPr>
            <a:r>
              <a:rPr lang="en-US" sz="1600" b="1" strike="noStrike" spc="-1" dirty="0">
                <a:solidFill>
                  <a:srgbClr val="000000"/>
                </a:solidFill>
                <a:latin typeface="Courier New"/>
              </a:rPr>
              <a:t>		c.re      = 2; </a:t>
            </a:r>
            <a:endParaRPr lang="en-US" sz="1600" b="0" strike="noStrike" spc="-1" dirty="0">
              <a:solidFill>
                <a:srgbClr val="000000"/>
              </a:solidFill>
              <a:latin typeface="Tahoma"/>
            </a:endParaRPr>
          </a:p>
          <a:p>
            <a:pPr marL="343080" indent="-342720">
              <a:lnSpc>
                <a:spcPct val="80000"/>
              </a:lnSpc>
              <a:spcBef>
                <a:spcPts val="320"/>
              </a:spcBef>
            </a:pPr>
            <a:r>
              <a:rPr lang="en-US" sz="1600" b="1" strike="noStrike" spc="-1" dirty="0">
                <a:solidFill>
                  <a:srgbClr val="000000"/>
                </a:solidFill>
                <a:latin typeface="Courier New"/>
              </a:rPr>
              <a:t>		c.im      = 3;</a:t>
            </a:r>
            <a:endParaRPr lang="en-US" sz="1600" b="0" strike="noStrike" spc="-1" dirty="0">
              <a:solidFill>
                <a:srgbClr val="000000"/>
              </a:solidFill>
              <a:latin typeface="Tahoma"/>
            </a:endParaRPr>
          </a:p>
          <a:p>
            <a:pPr marL="343080" indent="-342720">
              <a:lnSpc>
                <a:spcPct val="80000"/>
              </a:lnSpc>
              <a:spcBef>
                <a:spcPts val="320"/>
              </a:spcBef>
            </a:pPr>
            <a:r>
              <a:rPr lang="en-US" sz="1600" b="1" strike="noStrike" spc="-1" dirty="0">
                <a:solidFill>
                  <a:srgbClr val="000000"/>
                </a:solidFill>
                <a:latin typeface="Courier New"/>
              </a:rPr>
              <a:t>		</a:t>
            </a:r>
            <a:r>
              <a:rPr lang="en-US" sz="1600" b="1" strike="noStrike" spc="-1" dirty="0" err="1">
                <a:solidFill>
                  <a:srgbClr val="000000"/>
                </a:solidFill>
                <a:latin typeface="Courier New"/>
              </a:rPr>
              <a:t>System.out.println</a:t>
            </a:r>
            <a:r>
              <a:rPr lang="en-US" sz="1600" b="1" strike="noStrike" spc="-1" dirty="0">
                <a:solidFill>
                  <a:srgbClr val="000000"/>
                </a:solidFill>
                <a:latin typeface="Courier New"/>
              </a:rPr>
              <a:t>("Re=" +c.re+ "  </a:t>
            </a:r>
            <a:r>
              <a:rPr lang="en-US" sz="1600" b="1" strike="noStrike" spc="-1" dirty="0" err="1">
                <a:solidFill>
                  <a:srgbClr val="000000"/>
                </a:solidFill>
                <a:latin typeface="Courier New"/>
              </a:rPr>
              <a:t>Im</a:t>
            </a:r>
            <a:r>
              <a:rPr lang="en-US" sz="1600" b="1" strike="noStrike" spc="-1" dirty="0">
                <a:solidFill>
                  <a:srgbClr val="000000"/>
                </a:solidFill>
                <a:latin typeface="Courier New"/>
              </a:rPr>
              <a:t>="+c.im);</a:t>
            </a:r>
            <a:endParaRPr lang="en-US" sz="1600" b="0" strike="noStrike" spc="-1" dirty="0">
              <a:solidFill>
                <a:srgbClr val="000000"/>
              </a:solidFill>
              <a:latin typeface="Tahoma"/>
            </a:endParaRPr>
          </a:p>
          <a:p>
            <a:pPr marL="343080" indent="-342720">
              <a:lnSpc>
                <a:spcPct val="80000"/>
              </a:lnSpc>
              <a:spcBef>
                <a:spcPts val="320"/>
              </a:spcBef>
            </a:pPr>
            <a:endParaRPr lang="en-US" sz="16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i="1" strike="noStrike" spc="-1" dirty="0" err="1">
                <a:solidFill>
                  <a:srgbClr val="008000"/>
                </a:solidFill>
                <a:latin typeface="Tahoma"/>
              </a:rPr>
              <a:t>Observaţie</a:t>
            </a:r>
            <a:r>
              <a:rPr lang="en-US" sz="2000" b="0" strike="noStrike" spc="-1" dirty="0">
                <a:solidFill>
                  <a:srgbClr val="000000"/>
                </a:solidFill>
                <a:latin typeface="Tahoma"/>
              </a:rPr>
              <a:t>: </a:t>
            </a:r>
            <a:r>
              <a:rPr lang="en-US" sz="2000" b="0" strike="noStrike" spc="-1" dirty="0" err="1">
                <a:solidFill>
                  <a:srgbClr val="000000"/>
                </a:solidFill>
                <a:latin typeface="Tahoma"/>
              </a:rPr>
              <a:t>Accesul</a:t>
            </a:r>
            <a:r>
              <a:rPr lang="en-US" sz="2000" b="0" strike="noStrike" spc="-1" dirty="0">
                <a:solidFill>
                  <a:srgbClr val="000000"/>
                </a:solidFill>
                <a:latin typeface="Tahoma"/>
              </a:rPr>
              <a:t> la </a:t>
            </a:r>
            <a:r>
              <a:rPr lang="en-US" sz="2000" b="0" strike="noStrike" spc="-1" dirty="0" err="1">
                <a:solidFill>
                  <a:srgbClr val="000000"/>
                </a:solidFill>
                <a:latin typeface="Tahoma"/>
              </a:rPr>
              <a:t>variabilele</a:t>
            </a:r>
            <a:r>
              <a:rPr lang="en-US" sz="2000" b="0" strike="noStrike" spc="-1" dirty="0">
                <a:solidFill>
                  <a:srgbClr val="000000"/>
                </a:solidFill>
                <a:latin typeface="Tahoma"/>
              </a:rPr>
              <a:t> </a:t>
            </a:r>
            <a:r>
              <a:rPr lang="en-US" sz="2000" b="0" strike="noStrike" spc="-1" dirty="0" err="1">
                <a:solidFill>
                  <a:srgbClr val="000000"/>
                </a:solidFill>
                <a:latin typeface="Tahoma"/>
              </a:rPr>
              <a:t>unui</a:t>
            </a:r>
            <a:r>
              <a:rPr lang="en-US" sz="2000" b="0" strike="noStrike" spc="-1" dirty="0">
                <a:solidFill>
                  <a:srgbClr val="000000"/>
                </a:solidFill>
                <a:latin typeface="Tahoma"/>
              </a:rPr>
              <a:t> </a:t>
            </a:r>
            <a:r>
              <a:rPr lang="en-US" sz="2000" b="0" strike="noStrike" spc="-1" dirty="0" err="1">
                <a:solidFill>
                  <a:srgbClr val="000000"/>
                </a:solidFill>
                <a:latin typeface="Tahoma"/>
              </a:rPr>
              <a:t>obiect</a:t>
            </a:r>
            <a:r>
              <a:rPr lang="en-US" sz="2000" b="0" strike="noStrike" spc="-1" dirty="0">
                <a:solidFill>
                  <a:srgbClr val="000000"/>
                </a:solidFill>
                <a:latin typeface="Tahoma"/>
              </a:rPr>
              <a:t> se face </a:t>
            </a:r>
            <a:r>
              <a:rPr lang="en-US" sz="2000" b="0" strike="noStrike" spc="-1" dirty="0" err="1">
                <a:solidFill>
                  <a:srgbClr val="000000"/>
                </a:solidFill>
                <a:latin typeface="Tahoma"/>
              </a:rPr>
              <a:t>în</a:t>
            </a:r>
            <a:r>
              <a:rPr lang="en-US" sz="2000" b="0" strike="noStrike" spc="-1" dirty="0">
                <a:solidFill>
                  <a:srgbClr val="000000"/>
                </a:solidFill>
                <a:latin typeface="Tahoma"/>
              </a:rPr>
              <a:t> </a:t>
            </a:r>
            <a:r>
              <a:rPr lang="en-US" sz="2000" b="0" strike="noStrike" spc="-1" dirty="0" err="1">
                <a:solidFill>
                  <a:srgbClr val="000000"/>
                </a:solidFill>
                <a:latin typeface="Tahoma"/>
              </a:rPr>
              <a:t>conformitate</a:t>
            </a:r>
            <a:r>
              <a:rPr lang="en-US" sz="2000" b="0" strike="noStrike" spc="-1" dirty="0">
                <a:solidFill>
                  <a:srgbClr val="000000"/>
                </a:solidFill>
                <a:latin typeface="Tahoma"/>
              </a:rPr>
              <a:t> cu </a:t>
            </a:r>
            <a:r>
              <a:rPr lang="en-US" sz="2000" b="0" strike="noStrike" spc="-1" dirty="0" err="1">
                <a:solidFill>
                  <a:srgbClr val="000000"/>
                </a:solidFill>
                <a:latin typeface="Tahoma"/>
              </a:rPr>
              <a:t>drepturile</a:t>
            </a:r>
            <a:r>
              <a:rPr lang="en-US" sz="2000" b="0" strike="noStrike" spc="-1" dirty="0">
                <a:solidFill>
                  <a:srgbClr val="000000"/>
                </a:solidFill>
                <a:latin typeface="Tahoma"/>
              </a:rPr>
              <a:t> de </a:t>
            </a:r>
            <a:r>
              <a:rPr lang="en-US" sz="2000" b="0" strike="noStrike" spc="-1" dirty="0" err="1">
                <a:solidFill>
                  <a:srgbClr val="000000"/>
                </a:solidFill>
                <a:latin typeface="Tahoma"/>
              </a:rPr>
              <a:t>acces</a:t>
            </a:r>
            <a:r>
              <a:rPr lang="en-US" sz="2000" b="0" strike="noStrike" spc="-1" dirty="0">
                <a:solidFill>
                  <a:srgbClr val="000000"/>
                </a:solidFill>
                <a:latin typeface="Tahoma"/>
              </a:rPr>
              <a:t> </a:t>
            </a:r>
            <a:r>
              <a:rPr lang="en-US" sz="2000" b="0" strike="noStrike" spc="-1" dirty="0" err="1">
                <a:solidFill>
                  <a:srgbClr val="000000"/>
                </a:solidFill>
                <a:latin typeface="Tahoma"/>
              </a:rPr>
              <a:t>pe</a:t>
            </a:r>
            <a:r>
              <a:rPr lang="en-US" sz="2000" b="0" strike="noStrike" spc="-1" dirty="0">
                <a:solidFill>
                  <a:srgbClr val="000000"/>
                </a:solidFill>
                <a:latin typeface="Tahoma"/>
              </a:rPr>
              <a:t> care le </a:t>
            </a:r>
            <a:r>
              <a:rPr lang="en-US" sz="2000" b="0" strike="noStrike" spc="-1" dirty="0" err="1">
                <a:solidFill>
                  <a:srgbClr val="000000"/>
                </a:solidFill>
                <a:latin typeface="Tahoma"/>
              </a:rPr>
              <a:t>oferă</a:t>
            </a:r>
            <a:r>
              <a:rPr lang="en-US" sz="2000" b="0" strike="noStrike" spc="-1" dirty="0">
                <a:solidFill>
                  <a:srgbClr val="000000"/>
                </a:solidFill>
                <a:latin typeface="Tahoma"/>
              </a:rPr>
              <a:t> </a:t>
            </a:r>
            <a:r>
              <a:rPr lang="en-US" sz="2000" b="0" strike="noStrike" spc="-1" dirty="0" err="1">
                <a:solidFill>
                  <a:srgbClr val="000000"/>
                </a:solidFill>
                <a:latin typeface="Tahoma"/>
              </a:rPr>
              <a:t>variabilele</a:t>
            </a:r>
            <a:r>
              <a:rPr lang="en-US" sz="2000" b="0" strike="noStrike" spc="-1" dirty="0">
                <a:solidFill>
                  <a:srgbClr val="000000"/>
                </a:solidFill>
                <a:latin typeface="Tahoma"/>
              </a:rPr>
              <a:t> respective </a:t>
            </a:r>
            <a:r>
              <a:rPr lang="en-US" sz="2000" b="0" strike="noStrike" spc="-1" dirty="0" err="1">
                <a:solidFill>
                  <a:srgbClr val="000000"/>
                </a:solidFill>
                <a:latin typeface="Tahoma"/>
              </a:rPr>
              <a:t>celorlalte</a:t>
            </a:r>
            <a:r>
              <a:rPr lang="en-US" sz="2000" b="0" strike="noStrike" spc="-1" dirty="0">
                <a:solidFill>
                  <a:srgbClr val="000000"/>
                </a:solidFill>
                <a:latin typeface="Tahoma"/>
              </a:rPr>
              <a:t> </a:t>
            </a:r>
            <a:r>
              <a:rPr lang="en-US" sz="2000" b="0" strike="noStrike" spc="-1" dirty="0" err="1">
                <a:solidFill>
                  <a:srgbClr val="000000"/>
                </a:solidFill>
                <a:latin typeface="Tahoma"/>
              </a:rPr>
              <a:t>clase</a:t>
            </a:r>
            <a:r>
              <a:rPr lang="en-US" sz="2000" b="0" strike="noStrike" spc="-1" dirty="0">
                <a:solidFill>
                  <a:srgbClr val="000000"/>
                </a:solidFill>
                <a:latin typeface="Tahoma"/>
              </a:rPr>
              <a:t>.</a:t>
            </a:r>
          </a:p>
          <a:p>
            <a:pPr marL="343080" indent="-342720">
              <a:lnSpc>
                <a:spcPct val="80000"/>
              </a:lnSpc>
              <a:spcBef>
                <a:spcPts val="400"/>
              </a:spcBef>
            </a:pPr>
            <a:endParaRPr lang="en-US" sz="20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1" strike="noStrike" spc="-1" dirty="0" err="1">
                <a:solidFill>
                  <a:srgbClr val="008000"/>
                </a:solidFill>
                <a:latin typeface="Tahoma"/>
              </a:rPr>
              <a:t>Apelul</a:t>
            </a:r>
            <a:r>
              <a:rPr lang="en-US" sz="2000" b="1" strike="noStrike" spc="-1" dirty="0">
                <a:solidFill>
                  <a:srgbClr val="008000"/>
                </a:solidFill>
                <a:latin typeface="Tahoma"/>
              </a:rPr>
              <a:t> </a:t>
            </a:r>
            <a:r>
              <a:rPr lang="en-US" sz="2000" b="1" strike="noStrike" spc="-1" dirty="0" err="1">
                <a:solidFill>
                  <a:srgbClr val="008000"/>
                </a:solidFill>
                <a:latin typeface="Tahoma"/>
              </a:rPr>
              <a:t>unei</a:t>
            </a:r>
            <a:r>
              <a:rPr lang="en-US" sz="2000" b="1" strike="noStrike" spc="-1" dirty="0">
                <a:solidFill>
                  <a:srgbClr val="008000"/>
                </a:solidFill>
                <a:latin typeface="Tahoma"/>
              </a:rPr>
              <a:t> </a:t>
            </a:r>
            <a:r>
              <a:rPr lang="en-US" sz="2000" b="1" strike="noStrike" spc="-1" dirty="0" err="1">
                <a:solidFill>
                  <a:srgbClr val="008000"/>
                </a:solidFill>
                <a:latin typeface="Tahoma"/>
              </a:rPr>
              <a:t>metode</a:t>
            </a:r>
            <a:r>
              <a:rPr lang="en-US" sz="2000" b="0" strike="noStrike" spc="-1" dirty="0">
                <a:solidFill>
                  <a:srgbClr val="000000"/>
                </a:solidFill>
                <a:latin typeface="Tahoma"/>
              </a:rPr>
              <a:t> se face </a:t>
            </a:r>
            <a:r>
              <a:rPr lang="en-US" sz="2000" b="0" strike="noStrike" spc="-1" dirty="0" err="1">
                <a:solidFill>
                  <a:srgbClr val="000000"/>
                </a:solidFill>
                <a:latin typeface="Tahoma"/>
              </a:rPr>
              <a:t>prin</a:t>
            </a:r>
            <a:endParaRPr lang="en-US" sz="2000" b="0" strike="noStrike" spc="-1" dirty="0">
              <a:solidFill>
                <a:srgbClr val="000000"/>
              </a:solidFill>
              <a:latin typeface="Tahoma"/>
            </a:endParaRPr>
          </a:p>
          <a:p>
            <a:pPr marL="343080" indent="-342720">
              <a:lnSpc>
                <a:spcPct val="80000"/>
              </a:lnSpc>
              <a:spcBef>
                <a:spcPts val="400"/>
              </a:spcBef>
            </a:pPr>
            <a:r>
              <a:rPr lang="en-US" sz="2000" b="1" strike="noStrike" spc="-1" dirty="0">
                <a:solidFill>
                  <a:srgbClr val="000000"/>
                </a:solidFill>
                <a:latin typeface="Tahoma"/>
              </a:rPr>
              <a:t>			</a:t>
            </a:r>
            <a:r>
              <a:rPr lang="en-US" sz="1800" b="1" strike="noStrike" spc="-1" dirty="0" err="1">
                <a:solidFill>
                  <a:srgbClr val="000000"/>
                </a:solidFill>
                <a:latin typeface="Courier New"/>
              </a:rPr>
              <a:t>obiect.metoda</a:t>
            </a:r>
            <a:r>
              <a:rPr lang="en-US" sz="1800" b="1" strike="noStrike" spc="-1" dirty="0">
                <a:solidFill>
                  <a:srgbClr val="000000"/>
                </a:solidFill>
                <a:latin typeface="Courier New"/>
              </a:rPr>
              <a:t>(</a:t>
            </a:r>
            <a:r>
              <a:rPr lang="en-US" sz="1800" b="1" strike="noStrike" spc="-1" dirty="0">
                <a:solidFill>
                  <a:srgbClr val="FF9900"/>
                </a:solidFill>
                <a:latin typeface="Courier New"/>
              </a:rPr>
              <a:t>[</a:t>
            </a:r>
            <a:r>
              <a:rPr lang="en-US" sz="1800" b="1" strike="noStrike" spc="-1" dirty="0" err="1">
                <a:solidFill>
                  <a:srgbClr val="FF9900"/>
                </a:solidFill>
                <a:latin typeface="Courier New"/>
              </a:rPr>
              <a:t>parametri</a:t>
            </a:r>
            <a:r>
              <a:rPr lang="en-US" sz="1800" b="1" strike="noStrike" spc="-1" dirty="0">
                <a:solidFill>
                  <a:srgbClr val="FF9900"/>
                </a:solidFill>
                <a:latin typeface="Courier New"/>
              </a:rPr>
              <a:t>]</a:t>
            </a:r>
            <a:r>
              <a:rPr lang="en-US" sz="1800" b="1" strike="noStrike" spc="-1" dirty="0">
                <a:solidFill>
                  <a:srgbClr val="000000"/>
                </a:solidFill>
                <a:latin typeface="Courier New"/>
              </a:rPr>
              <a:t>) </a:t>
            </a:r>
            <a:endParaRPr lang="en-US" sz="18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i="1" strike="noStrike" spc="-1" dirty="0" err="1">
                <a:solidFill>
                  <a:srgbClr val="008000"/>
                </a:solidFill>
                <a:latin typeface="Tahoma"/>
              </a:rPr>
              <a:t>Exemplu</a:t>
            </a:r>
            <a:r>
              <a:rPr lang="en-US" sz="2000" b="0" i="1" strike="noStrike" spc="-1" dirty="0">
                <a:solidFill>
                  <a:srgbClr val="000000"/>
                </a:solidFill>
                <a:latin typeface="Tahoma"/>
              </a:rPr>
              <a:t>:</a:t>
            </a:r>
            <a:endParaRPr lang="en-US" sz="2000" b="0" strike="noStrike" spc="-1" dirty="0">
              <a:solidFill>
                <a:srgbClr val="000000"/>
              </a:solidFill>
              <a:latin typeface="Tahoma"/>
            </a:endParaRPr>
          </a:p>
          <a:p>
            <a:pPr marL="343080" indent="-342720">
              <a:lnSpc>
                <a:spcPct val="80000"/>
              </a:lnSpc>
              <a:spcBef>
                <a:spcPts val="400"/>
              </a:spcBef>
            </a:pPr>
            <a:r>
              <a:rPr lang="en-US" sz="2000" b="0" strike="noStrike" spc="-1" dirty="0">
                <a:solidFill>
                  <a:srgbClr val="000000"/>
                </a:solidFill>
                <a:latin typeface="Tahoma"/>
              </a:rPr>
              <a:t>		</a:t>
            </a:r>
            <a:r>
              <a:rPr lang="en-US" sz="1800" b="1" strike="noStrike" spc="-1" dirty="0">
                <a:solidFill>
                  <a:srgbClr val="000000"/>
                </a:solidFill>
                <a:latin typeface="Courier New"/>
              </a:rPr>
              <a:t>Complex c = new Complex();</a:t>
            </a:r>
            <a:endParaRPr lang="en-US" sz="1800" b="0" strike="noStrike" spc="-1" dirty="0">
              <a:solidFill>
                <a:srgbClr val="000000"/>
              </a:solidFill>
              <a:latin typeface="Tahoma"/>
            </a:endParaRPr>
          </a:p>
          <a:p>
            <a:pPr marL="343080" indent="-342720">
              <a:lnSpc>
                <a:spcPct val="80000"/>
              </a:lnSpc>
              <a:spcBef>
                <a:spcPts val="360"/>
              </a:spcBef>
            </a:pPr>
            <a:r>
              <a:rPr lang="en-US" sz="1800" b="1" strike="noStrike" spc="-1" dirty="0">
                <a:solidFill>
                  <a:srgbClr val="000000"/>
                </a:solidFill>
                <a:latin typeface="Courier New"/>
              </a:rPr>
              <a:t>		</a:t>
            </a:r>
            <a:r>
              <a:rPr lang="en-US" sz="1800" b="1" strike="noStrike" spc="-1" dirty="0" err="1">
                <a:solidFill>
                  <a:srgbClr val="000000"/>
                </a:solidFill>
                <a:latin typeface="Courier New"/>
              </a:rPr>
              <a:t>c.setRe</a:t>
            </a:r>
            <a:r>
              <a:rPr lang="en-US" sz="1800" b="1" strike="noStrike" spc="-1" dirty="0">
                <a:solidFill>
                  <a:srgbClr val="000000"/>
                </a:solidFill>
                <a:latin typeface="Courier New"/>
              </a:rPr>
              <a:t>(2); </a:t>
            </a:r>
            <a:endParaRPr lang="en-US" sz="1800" b="0" strike="noStrike" spc="-1" dirty="0">
              <a:solidFill>
                <a:srgbClr val="000000"/>
              </a:solidFill>
              <a:latin typeface="Tahoma"/>
            </a:endParaRPr>
          </a:p>
          <a:p>
            <a:pPr marL="343080" indent="-342720">
              <a:lnSpc>
                <a:spcPct val="80000"/>
              </a:lnSpc>
              <a:spcBef>
                <a:spcPts val="360"/>
              </a:spcBef>
            </a:pPr>
            <a:r>
              <a:rPr lang="en-US" sz="1800" b="1" strike="noStrike" spc="-1" dirty="0">
                <a:solidFill>
                  <a:srgbClr val="000000"/>
                </a:solidFill>
                <a:latin typeface="Courier New"/>
              </a:rPr>
              <a:t>		</a:t>
            </a:r>
            <a:r>
              <a:rPr lang="en-US" sz="1800" b="1" strike="noStrike" spc="-1" dirty="0" err="1">
                <a:solidFill>
                  <a:srgbClr val="000000"/>
                </a:solidFill>
                <a:latin typeface="Courier New"/>
              </a:rPr>
              <a:t>c.setIm</a:t>
            </a:r>
            <a:r>
              <a:rPr lang="en-US" sz="1800" b="1" strike="noStrike" spc="-1" dirty="0">
                <a:solidFill>
                  <a:srgbClr val="000000"/>
                </a:solidFill>
                <a:latin typeface="Courier New"/>
              </a:rPr>
              <a:t>(3);</a:t>
            </a:r>
            <a:endParaRPr lang="en-US" sz="18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31FCC72A-0497-4061-ABFA-68AD56342175}" type="slidenum">
              <a:rPr lang="en-US" sz="1400" b="0" strike="noStrike" spc="-1">
                <a:solidFill>
                  <a:srgbClr val="5E574E"/>
                </a:solidFill>
                <a:latin typeface="Arial"/>
              </a:rPr>
              <a:t>40</a:t>
            </a:fld>
            <a:endParaRPr lang="en-US" sz="1400" b="0" strike="noStrike" spc="-1">
              <a:latin typeface="Times New Roman"/>
            </a:endParaRPr>
          </a:p>
        </p:txBody>
      </p:sp>
      <p:sp>
        <p:nvSpPr>
          <p:cNvPr id="443" name="TextShape 5"/>
          <p:cNvSpPr txBox="1"/>
          <p:nvPr/>
        </p:nvSpPr>
        <p:spPr>
          <a:xfrm>
            <a:off x="129600" y="1606611"/>
            <a:ext cx="8859600" cy="4990680"/>
          </a:xfrm>
          <a:prstGeom prst="rect">
            <a:avLst/>
          </a:prstGeom>
          <a:noFill/>
          <a:ln>
            <a:noFill/>
          </a:ln>
        </p:spPr>
        <p:txBody>
          <a:bodyPr>
            <a:noAutofit/>
          </a:bodyPr>
          <a:lstStyle/>
          <a:p>
            <a:pPr marL="1371600" indent="-456840">
              <a:lnSpc>
                <a:spcPct val="80000"/>
              </a:lnSpc>
              <a:spcBef>
                <a:spcPts val="320"/>
              </a:spcBef>
            </a:pPr>
            <a:r>
              <a:rPr lang="en-US" sz="1600" b="1" strike="noStrike" spc="-1" dirty="0" err="1">
                <a:solidFill>
                  <a:srgbClr val="008000"/>
                </a:solidFill>
                <a:latin typeface="Tahoma"/>
              </a:rPr>
              <a:t>Operatorul</a:t>
            </a:r>
            <a:r>
              <a:rPr lang="en-US" sz="1600" b="1" strike="noStrike" spc="-1" dirty="0">
                <a:solidFill>
                  <a:srgbClr val="008000"/>
                </a:solidFill>
                <a:latin typeface="Tahoma"/>
              </a:rPr>
              <a:t> de </a:t>
            </a:r>
            <a:r>
              <a:rPr lang="en-US" sz="1600" b="1" strike="noStrike" spc="-1" dirty="0" err="1">
                <a:solidFill>
                  <a:srgbClr val="008000"/>
                </a:solidFill>
                <a:latin typeface="Tahoma"/>
              </a:rPr>
              <a:t>atribuire</a:t>
            </a:r>
            <a:r>
              <a:rPr lang="en-US" sz="1600" b="1" strike="noStrike" spc="-1" dirty="0">
                <a:solidFill>
                  <a:srgbClr val="008000"/>
                </a:solidFill>
                <a:latin typeface="Tahoma"/>
              </a:rPr>
              <a:t> =</a:t>
            </a:r>
            <a:endParaRPr lang="en-US" sz="1600" b="0" strike="noStrike" spc="-1" dirty="0">
              <a:solidFill>
                <a:srgbClr val="000000"/>
              </a:solidFill>
              <a:latin typeface="Tahoma"/>
            </a:endParaRPr>
          </a:p>
          <a:p>
            <a:pPr marL="1371600" indent="-456840">
              <a:lnSpc>
                <a:spcPct val="80000"/>
              </a:lnSpc>
              <a:spcBef>
                <a:spcPts val="320"/>
              </a:spcBef>
            </a:pPr>
            <a:endParaRPr lang="en-US" sz="1600" b="0" strike="noStrike" spc="-1" dirty="0">
              <a:solidFill>
                <a:srgbClr val="000000"/>
              </a:solidFill>
              <a:latin typeface="Tahoma"/>
            </a:endParaRPr>
          </a:p>
          <a:p>
            <a:pPr marL="609480" indent="-609120">
              <a:lnSpc>
                <a:spcPct val="80000"/>
              </a:lnSpc>
              <a:spcBef>
                <a:spcPts val="281"/>
              </a:spcBef>
              <a:buClr>
                <a:srgbClr val="FFCC00"/>
              </a:buClr>
              <a:buFont typeface="Monotype Sorts" charset="2"/>
              <a:buChar char=""/>
            </a:pPr>
            <a:r>
              <a:rPr lang="en-US" sz="1400" b="0" strike="noStrike" spc="-1" dirty="0" err="1">
                <a:solidFill>
                  <a:srgbClr val="000000"/>
                </a:solidFill>
                <a:latin typeface="Tahoma"/>
              </a:rPr>
              <a:t>În</a:t>
            </a:r>
            <a:r>
              <a:rPr lang="en-US" sz="1400" b="0" strike="noStrike" spc="-1" dirty="0">
                <a:solidFill>
                  <a:srgbClr val="000000"/>
                </a:solidFill>
                <a:latin typeface="Tahoma"/>
              </a:rPr>
              <a:t> </a:t>
            </a:r>
            <a:r>
              <a:rPr lang="en-US" sz="1400" b="0" strike="noStrike" spc="-1" dirty="0" err="1">
                <a:solidFill>
                  <a:srgbClr val="000000"/>
                </a:solidFill>
                <a:latin typeface="Tahoma"/>
              </a:rPr>
              <a:t>cazul</a:t>
            </a:r>
            <a:r>
              <a:rPr lang="en-US" sz="1400" b="0" strike="noStrike" spc="-1" dirty="0">
                <a:solidFill>
                  <a:srgbClr val="000000"/>
                </a:solidFill>
                <a:latin typeface="Tahoma"/>
              </a:rPr>
              <a:t> </a:t>
            </a:r>
            <a:r>
              <a:rPr lang="en-US" sz="1400" b="0" strike="noStrike" spc="-1" dirty="0" err="1">
                <a:solidFill>
                  <a:srgbClr val="000000"/>
                </a:solidFill>
                <a:latin typeface="Tahoma"/>
              </a:rPr>
              <a:t>în</a:t>
            </a:r>
            <a:r>
              <a:rPr lang="en-US" sz="1400" b="0" strike="noStrike" spc="-1" dirty="0">
                <a:solidFill>
                  <a:srgbClr val="000000"/>
                </a:solidFill>
                <a:latin typeface="Tahoma"/>
              </a:rPr>
              <a:t> care </a:t>
            </a:r>
            <a:r>
              <a:rPr lang="en-US" sz="1400" b="0" strike="noStrike" spc="-1" dirty="0" err="1">
                <a:solidFill>
                  <a:srgbClr val="000000"/>
                </a:solidFill>
                <a:latin typeface="Tahoma"/>
              </a:rPr>
              <a:t>operatorul</a:t>
            </a:r>
            <a:r>
              <a:rPr lang="en-US" sz="1400" b="0" strike="noStrike" spc="-1" dirty="0">
                <a:solidFill>
                  <a:srgbClr val="000000"/>
                </a:solidFill>
                <a:latin typeface="Tahoma"/>
              </a:rPr>
              <a:t> = </a:t>
            </a:r>
            <a:r>
              <a:rPr lang="en-US" sz="1400" b="0" strike="noStrike" spc="-1" dirty="0" err="1">
                <a:solidFill>
                  <a:srgbClr val="000000"/>
                </a:solidFill>
                <a:latin typeface="Tahoma"/>
              </a:rPr>
              <a:t>este</a:t>
            </a:r>
            <a:r>
              <a:rPr lang="en-US" sz="1400" b="0" strike="noStrike" spc="-1" dirty="0">
                <a:solidFill>
                  <a:srgbClr val="000000"/>
                </a:solidFill>
                <a:latin typeface="Tahoma"/>
              </a:rPr>
              <a:t> </a:t>
            </a:r>
            <a:r>
              <a:rPr lang="en-US" sz="1400" b="0" strike="noStrike" spc="-1" dirty="0" err="1">
                <a:solidFill>
                  <a:srgbClr val="000000"/>
                </a:solidFill>
                <a:latin typeface="Tahoma"/>
              </a:rPr>
              <a:t>folosit</a:t>
            </a:r>
            <a:r>
              <a:rPr lang="en-US" sz="1400" b="0" strike="noStrike" spc="-1" dirty="0">
                <a:solidFill>
                  <a:srgbClr val="000000"/>
                </a:solidFill>
                <a:latin typeface="Tahoma"/>
              </a:rPr>
              <a:t> </a:t>
            </a:r>
            <a:r>
              <a:rPr lang="en-US" sz="1400" b="0" strike="noStrike" spc="-1" dirty="0" err="1">
                <a:solidFill>
                  <a:srgbClr val="000000"/>
                </a:solidFill>
                <a:latin typeface="Tahoma"/>
              </a:rPr>
              <a:t>împreună</a:t>
            </a:r>
            <a:r>
              <a:rPr lang="en-US" sz="1400" b="0" strike="noStrike" spc="-1" dirty="0">
                <a:solidFill>
                  <a:srgbClr val="000000"/>
                </a:solidFill>
                <a:latin typeface="Tahoma"/>
              </a:rPr>
              <a:t> cu date de tip </a:t>
            </a:r>
            <a:r>
              <a:rPr lang="en-US" sz="1400" b="0" strike="noStrike" spc="-1" dirty="0" err="1">
                <a:solidFill>
                  <a:srgbClr val="000000"/>
                </a:solidFill>
                <a:latin typeface="Tahoma"/>
              </a:rPr>
              <a:t>primitiv</a:t>
            </a:r>
            <a:r>
              <a:rPr lang="en-US" sz="1400" b="0" strike="noStrike" spc="-1" dirty="0">
                <a:solidFill>
                  <a:srgbClr val="000000"/>
                </a:solidFill>
                <a:latin typeface="Tahoma"/>
              </a:rPr>
              <a:t>, are </a:t>
            </a:r>
            <a:r>
              <a:rPr lang="en-US" sz="1400" b="0" strike="noStrike" spc="-1" dirty="0" err="1">
                <a:solidFill>
                  <a:srgbClr val="000000"/>
                </a:solidFill>
                <a:latin typeface="Tahoma"/>
              </a:rPr>
              <a:t>loc</a:t>
            </a:r>
            <a:r>
              <a:rPr lang="en-US" sz="1400" b="0" strike="noStrike" spc="-1" dirty="0">
                <a:solidFill>
                  <a:srgbClr val="000000"/>
                </a:solidFill>
                <a:latin typeface="Tahoma"/>
              </a:rPr>
              <a:t> o </a:t>
            </a:r>
            <a:r>
              <a:rPr lang="en-US" sz="1400" b="0" strike="noStrike" spc="-1" dirty="0" err="1">
                <a:solidFill>
                  <a:srgbClr val="000000"/>
                </a:solidFill>
                <a:latin typeface="Tahoma"/>
              </a:rPr>
              <a:t>atribuire</a:t>
            </a:r>
            <a:r>
              <a:rPr lang="en-US" sz="1400" b="0" strike="noStrike" spc="-1" dirty="0">
                <a:solidFill>
                  <a:srgbClr val="000000"/>
                </a:solidFill>
                <a:latin typeface="Tahoma"/>
              </a:rPr>
              <a:t> de </a:t>
            </a:r>
            <a:r>
              <a:rPr lang="en-US" sz="1400" b="0" strike="noStrike" spc="-1" dirty="0" err="1">
                <a:solidFill>
                  <a:srgbClr val="000000"/>
                </a:solidFill>
                <a:latin typeface="Tahoma"/>
              </a:rPr>
              <a:t>valori</a:t>
            </a:r>
            <a:r>
              <a:rPr lang="en-US" sz="1400" b="0" strike="noStrike" spc="-1" dirty="0">
                <a:solidFill>
                  <a:srgbClr val="000000"/>
                </a:solidFill>
                <a:latin typeface="Tahoma"/>
              </a:rPr>
              <a:t>.</a:t>
            </a:r>
          </a:p>
          <a:p>
            <a:pPr marL="609480" indent="-609120">
              <a:lnSpc>
                <a:spcPct val="80000"/>
              </a:lnSpc>
              <a:spcBef>
                <a:spcPts val="281"/>
              </a:spcBef>
            </a:pPr>
            <a:r>
              <a:rPr lang="en-US" sz="1400" b="0" i="1" strike="noStrike" spc="-1" dirty="0">
                <a:solidFill>
                  <a:srgbClr val="000000"/>
                </a:solidFill>
                <a:latin typeface="Tahoma"/>
              </a:rPr>
              <a:t>	</a:t>
            </a:r>
            <a:r>
              <a:rPr lang="en-US" sz="1400" b="0" i="1" strike="noStrike" spc="-1" dirty="0" err="1">
                <a:solidFill>
                  <a:srgbClr val="008000"/>
                </a:solidFill>
                <a:latin typeface="Tahoma"/>
              </a:rPr>
              <a:t>Exemplu</a:t>
            </a:r>
            <a:r>
              <a:rPr lang="en-US" sz="1400" b="0" i="1" strike="noStrike" spc="-1" dirty="0">
                <a:solidFill>
                  <a:srgbClr val="000000"/>
                </a:solidFill>
                <a:latin typeface="Tahoma"/>
              </a:rPr>
              <a:t>:</a:t>
            </a:r>
            <a:endParaRPr lang="en-US" sz="1400" b="0" strike="noStrike" spc="-1" dirty="0">
              <a:solidFill>
                <a:srgbClr val="000000"/>
              </a:solidFill>
              <a:latin typeface="Tahoma"/>
            </a:endParaRPr>
          </a:p>
          <a:p>
            <a:pPr marL="609480" indent="-609120">
              <a:lnSpc>
                <a:spcPct val="80000"/>
              </a:lnSpc>
              <a:spcBef>
                <a:spcPts val="281"/>
              </a:spcBef>
            </a:pPr>
            <a:r>
              <a:rPr lang="en-US" sz="1000" b="0" strike="noStrike" spc="-1" dirty="0">
                <a:solidFill>
                  <a:srgbClr val="000000"/>
                </a:solidFill>
                <a:latin typeface="Tahoma"/>
              </a:rPr>
              <a:t>		</a:t>
            </a:r>
            <a:r>
              <a:rPr lang="en-US" sz="1400" b="1" strike="noStrike" spc="-1" dirty="0" err="1">
                <a:solidFill>
                  <a:srgbClr val="000000"/>
                </a:solidFill>
                <a:latin typeface="Courier New"/>
              </a:rPr>
              <a:t>int</a:t>
            </a:r>
            <a:r>
              <a:rPr lang="en-US" sz="1400" b="1" strike="noStrike" spc="-1" dirty="0">
                <a:solidFill>
                  <a:srgbClr val="000000"/>
                </a:solidFill>
                <a:latin typeface="Courier New"/>
              </a:rPr>
              <a:t> x = 12, y = 10;</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x = y;  		//</a:t>
            </a:r>
            <a:r>
              <a:rPr lang="en-US" sz="1400" b="1" strike="noStrike" spc="-1" dirty="0" err="1">
                <a:solidFill>
                  <a:srgbClr val="000000"/>
                </a:solidFill>
                <a:latin typeface="Courier New"/>
              </a:rPr>
              <a:t>Valoarea</a:t>
            </a:r>
            <a:r>
              <a:rPr lang="en-US" sz="1400" b="1" strike="noStrike" spc="-1" dirty="0">
                <a:solidFill>
                  <a:srgbClr val="000000"/>
                </a:solidFill>
                <a:latin typeface="Courier New"/>
              </a:rPr>
              <a:t> </a:t>
            </a:r>
            <a:r>
              <a:rPr lang="en-US" sz="1400" b="1" strike="noStrike" spc="-1" dirty="0" err="1">
                <a:solidFill>
                  <a:srgbClr val="000000"/>
                </a:solidFill>
                <a:latin typeface="Courier New"/>
              </a:rPr>
              <a:t>lui</a:t>
            </a:r>
            <a:r>
              <a:rPr lang="en-US" sz="1400" b="1" strike="noStrike" spc="-1" dirty="0">
                <a:solidFill>
                  <a:srgbClr val="000000"/>
                </a:solidFill>
                <a:latin typeface="Courier New"/>
              </a:rPr>
              <a:t> x se </a:t>
            </a:r>
            <a:r>
              <a:rPr lang="en-US" sz="1400" b="1" strike="noStrike" spc="-1" dirty="0" err="1">
                <a:solidFill>
                  <a:srgbClr val="000000"/>
                </a:solidFill>
                <a:latin typeface="Courier New"/>
              </a:rPr>
              <a:t>schimbă</a:t>
            </a:r>
            <a:r>
              <a:rPr lang="en-US" sz="1400" b="1" strike="noStrike" spc="-1" dirty="0">
                <a:solidFill>
                  <a:srgbClr val="000000"/>
                </a:solidFill>
                <a:latin typeface="Courier New"/>
              </a:rPr>
              <a:t>, </a:t>
            </a:r>
            <a:r>
              <a:rPr lang="en-US" sz="1400" b="1" strike="noStrike" spc="-1" dirty="0" err="1">
                <a:solidFill>
                  <a:srgbClr val="000000"/>
                </a:solidFill>
                <a:latin typeface="Courier New"/>
              </a:rPr>
              <a:t>primind</a:t>
            </a:r>
            <a:r>
              <a:rPr lang="en-US" sz="1400" b="1" strike="noStrike" spc="-1" dirty="0">
                <a:solidFill>
                  <a:srgbClr val="000000"/>
                </a:solidFill>
                <a:latin typeface="Courier New"/>
              </a:rPr>
              <a:t> </a:t>
            </a:r>
            <a:r>
              <a:rPr lang="en-US" sz="1400" b="1" strike="noStrike" spc="-1" dirty="0" err="1">
                <a:solidFill>
                  <a:srgbClr val="000000"/>
                </a:solidFill>
                <a:latin typeface="Courier New"/>
              </a:rPr>
              <a:t>valoarea</a:t>
            </a:r>
            <a:r>
              <a:rPr lang="en-US" sz="1400" b="1" strike="noStrike" spc="-1" dirty="0">
                <a:solidFill>
                  <a:srgbClr val="000000"/>
                </a:solidFill>
                <a:latin typeface="Courier New"/>
              </a:rPr>
              <a:t> </a:t>
            </a:r>
            <a:r>
              <a:rPr lang="en-US" sz="1400" b="1" strike="noStrike" spc="-1" dirty="0" err="1">
                <a:solidFill>
                  <a:srgbClr val="000000"/>
                </a:solidFill>
                <a:latin typeface="Courier New"/>
              </a:rPr>
              <a:t>lui</a:t>
            </a:r>
            <a:r>
              <a:rPr lang="en-US" sz="1400" b="1" strike="noStrike" spc="-1" dirty="0">
                <a:solidFill>
                  <a:srgbClr val="000000"/>
                </a:solidFill>
                <a:latin typeface="Courier New"/>
              </a:rPr>
              <a:t> y.</a:t>
            </a:r>
            <a:r>
              <a:rPr lang="en-US" sz="1400" b="0" strike="noStrike" spc="-1" dirty="0">
                <a:solidFill>
                  <a:srgbClr val="000000"/>
                </a:solidFill>
                <a:latin typeface="Courier New"/>
              </a:rPr>
              <a:t> </a:t>
            </a:r>
            <a:endParaRPr lang="en-US" sz="1400" b="0" strike="noStrike" spc="-1" dirty="0">
              <a:solidFill>
                <a:srgbClr val="000000"/>
              </a:solidFill>
              <a:latin typeface="Tahoma"/>
            </a:endParaRPr>
          </a:p>
          <a:p>
            <a:pPr marL="609480" indent="-609120">
              <a:lnSpc>
                <a:spcPct val="80000"/>
              </a:lnSpc>
              <a:spcBef>
                <a:spcPts val="281"/>
              </a:spcBef>
              <a:buClr>
                <a:srgbClr val="FFCC00"/>
              </a:buClr>
              <a:buFont typeface="Monotype Sorts" charset="2"/>
              <a:buChar char=""/>
            </a:pPr>
            <a:r>
              <a:rPr lang="en-US" sz="1400" b="0" strike="noStrike" spc="-1" dirty="0" err="1">
                <a:solidFill>
                  <a:srgbClr val="000000"/>
                </a:solidFill>
                <a:latin typeface="Tahoma"/>
              </a:rPr>
              <a:t>În</a:t>
            </a:r>
            <a:r>
              <a:rPr lang="en-US" sz="1400" b="0" strike="noStrike" spc="-1" dirty="0">
                <a:solidFill>
                  <a:srgbClr val="000000"/>
                </a:solidFill>
                <a:latin typeface="Tahoma"/>
              </a:rPr>
              <a:t> </a:t>
            </a:r>
            <a:r>
              <a:rPr lang="en-US" sz="1400" b="0" strike="noStrike" spc="-1" dirty="0" err="1">
                <a:solidFill>
                  <a:srgbClr val="000000"/>
                </a:solidFill>
                <a:latin typeface="Tahoma"/>
              </a:rPr>
              <a:t>cazul</a:t>
            </a:r>
            <a:r>
              <a:rPr lang="en-US" sz="1400" b="0" strike="noStrike" spc="-1" dirty="0">
                <a:solidFill>
                  <a:srgbClr val="000000"/>
                </a:solidFill>
                <a:latin typeface="Tahoma"/>
              </a:rPr>
              <a:t> </a:t>
            </a:r>
            <a:r>
              <a:rPr lang="en-US" sz="1400" b="0" strike="noStrike" spc="-1" dirty="0" err="1">
                <a:solidFill>
                  <a:srgbClr val="000000"/>
                </a:solidFill>
                <a:latin typeface="Tahoma"/>
              </a:rPr>
              <a:t>în</a:t>
            </a:r>
            <a:r>
              <a:rPr lang="en-US" sz="1400" b="0" strike="noStrike" spc="-1" dirty="0">
                <a:solidFill>
                  <a:srgbClr val="000000"/>
                </a:solidFill>
                <a:latin typeface="Tahoma"/>
              </a:rPr>
              <a:t> care </a:t>
            </a:r>
            <a:r>
              <a:rPr lang="en-US" sz="1400" b="0" strike="noStrike" spc="-1" dirty="0" err="1">
                <a:solidFill>
                  <a:srgbClr val="000000"/>
                </a:solidFill>
                <a:latin typeface="Tahoma"/>
              </a:rPr>
              <a:t>operatorul</a:t>
            </a:r>
            <a:r>
              <a:rPr lang="en-US" sz="1400" b="0" strike="noStrike" spc="-1" dirty="0">
                <a:solidFill>
                  <a:srgbClr val="000000"/>
                </a:solidFill>
                <a:latin typeface="Tahoma"/>
              </a:rPr>
              <a:t> = </a:t>
            </a:r>
            <a:r>
              <a:rPr lang="en-US" sz="1400" b="0" strike="noStrike" spc="-1" dirty="0" err="1">
                <a:solidFill>
                  <a:srgbClr val="000000"/>
                </a:solidFill>
                <a:latin typeface="Tahoma"/>
              </a:rPr>
              <a:t>este</a:t>
            </a:r>
            <a:r>
              <a:rPr lang="en-US" sz="1400" b="0" strike="noStrike" spc="-1" dirty="0">
                <a:solidFill>
                  <a:srgbClr val="000000"/>
                </a:solidFill>
                <a:latin typeface="Tahoma"/>
              </a:rPr>
              <a:t> </a:t>
            </a:r>
            <a:r>
              <a:rPr lang="en-US" sz="1400" b="0" strike="noStrike" spc="-1" dirty="0" err="1">
                <a:solidFill>
                  <a:srgbClr val="000000"/>
                </a:solidFill>
                <a:latin typeface="Tahoma"/>
              </a:rPr>
              <a:t>folosit</a:t>
            </a:r>
            <a:r>
              <a:rPr lang="en-US" sz="1400" b="0" strike="noStrike" spc="-1" dirty="0">
                <a:solidFill>
                  <a:srgbClr val="000000"/>
                </a:solidFill>
                <a:latin typeface="Tahoma"/>
              </a:rPr>
              <a:t> </a:t>
            </a:r>
            <a:r>
              <a:rPr lang="en-US" sz="1400" b="0" strike="noStrike" spc="-1" dirty="0" err="1">
                <a:solidFill>
                  <a:srgbClr val="000000"/>
                </a:solidFill>
                <a:latin typeface="Tahoma"/>
              </a:rPr>
              <a:t>împreună</a:t>
            </a:r>
            <a:r>
              <a:rPr lang="en-US" sz="1400" b="0" strike="noStrike" spc="-1" dirty="0">
                <a:solidFill>
                  <a:srgbClr val="000000"/>
                </a:solidFill>
                <a:latin typeface="Tahoma"/>
              </a:rPr>
              <a:t> cu date de tip </a:t>
            </a:r>
            <a:r>
              <a:rPr lang="en-US" sz="1400" b="0" strike="noStrike" spc="-1" dirty="0" err="1">
                <a:solidFill>
                  <a:srgbClr val="000000"/>
                </a:solidFill>
                <a:latin typeface="Tahoma"/>
              </a:rPr>
              <a:t>referinţă</a:t>
            </a:r>
            <a:r>
              <a:rPr lang="en-US" sz="1400" b="0" strike="noStrike" spc="-1" dirty="0">
                <a:solidFill>
                  <a:srgbClr val="000000"/>
                </a:solidFill>
                <a:latin typeface="Tahoma"/>
              </a:rPr>
              <a:t>, are </a:t>
            </a:r>
            <a:r>
              <a:rPr lang="en-US" sz="1400" b="0" strike="noStrike" spc="-1" dirty="0" err="1">
                <a:solidFill>
                  <a:srgbClr val="000000"/>
                </a:solidFill>
                <a:latin typeface="Tahoma"/>
              </a:rPr>
              <a:t>loc</a:t>
            </a:r>
            <a:r>
              <a:rPr lang="en-US" sz="1400" b="0" strike="noStrike" spc="-1" dirty="0">
                <a:solidFill>
                  <a:srgbClr val="000000"/>
                </a:solidFill>
                <a:latin typeface="Tahoma"/>
              </a:rPr>
              <a:t> tot o </a:t>
            </a:r>
            <a:r>
              <a:rPr lang="en-US" sz="1400" b="0" strike="noStrike" spc="-1" dirty="0" err="1">
                <a:solidFill>
                  <a:srgbClr val="000000"/>
                </a:solidFill>
                <a:latin typeface="Tahoma"/>
              </a:rPr>
              <a:t>atribuire</a:t>
            </a:r>
            <a:r>
              <a:rPr lang="en-US" sz="1400" b="0" strike="noStrike" spc="-1" dirty="0">
                <a:solidFill>
                  <a:srgbClr val="000000"/>
                </a:solidFill>
                <a:latin typeface="Tahoma"/>
              </a:rPr>
              <a:t> de </a:t>
            </a:r>
            <a:r>
              <a:rPr lang="en-US" sz="1400" b="0" strike="noStrike" spc="-1" dirty="0" err="1">
                <a:solidFill>
                  <a:srgbClr val="000000"/>
                </a:solidFill>
                <a:latin typeface="Tahoma"/>
              </a:rPr>
              <a:t>valori</a:t>
            </a:r>
            <a:r>
              <a:rPr lang="en-US" sz="1400" b="0" strike="noStrike" spc="-1" dirty="0">
                <a:solidFill>
                  <a:srgbClr val="000000"/>
                </a:solidFill>
                <a:latin typeface="Tahoma"/>
              </a:rPr>
              <a:t>. </a:t>
            </a:r>
            <a:r>
              <a:rPr lang="en-US" sz="1400" b="0" strike="noStrike" spc="-1" dirty="0" err="1">
                <a:solidFill>
                  <a:srgbClr val="000000"/>
                </a:solidFill>
                <a:latin typeface="Tahoma"/>
              </a:rPr>
              <a:t>Atâta</a:t>
            </a:r>
            <a:r>
              <a:rPr lang="en-US" sz="1400" b="0" strike="noStrike" spc="-1" dirty="0">
                <a:solidFill>
                  <a:srgbClr val="000000"/>
                </a:solidFill>
                <a:latin typeface="Tahoma"/>
              </a:rPr>
              <a:t> </a:t>
            </a:r>
            <a:r>
              <a:rPr lang="en-US" sz="1400" b="0" strike="noStrike" spc="-1" dirty="0" err="1">
                <a:solidFill>
                  <a:srgbClr val="000000"/>
                </a:solidFill>
                <a:latin typeface="Tahoma"/>
              </a:rPr>
              <a:t>doar</a:t>
            </a:r>
            <a:r>
              <a:rPr lang="en-US" sz="1400" b="0" strike="noStrike" spc="-1" dirty="0">
                <a:solidFill>
                  <a:srgbClr val="000000"/>
                </a:solidFill>
                <a:latin typeface="Tahoma"/>
              </a:rPr>
              <a:t> </a:t>
            </a:r>
            <a:r>
              <a:rPr lang="en-US" sz="1400" b="0" strike="noStrike" spc="-1" dirty="0" err="1">
                <a:solidFill>
                  <a:srgbClr val="000000"/>
                </a:solidFill>
                <a:latin typeface="Tahoma"/>
              </a:rPr>
              <a:t>că</a:t>
            </a:r>
            <a:r>
              <a:rPr lang="en-US" sz="1400" b="0" strike="noStrike" spc="-1" dirty="0">
                <a:solidFill>
                  <a:srgbClr val="000000"/>
                </a:solidFill>
                <a:latin typeface="Tahoma"/>
              </a:rPr>
              <a:t> </a:t>
            </a:r>
            <a:r>
              <a:rPr lang="en-US" sz="1400" b="0" strike="noStrike" spc="-1" dirty="0" err="1">
                <a:solidFill>
                  <a:srgbClr val="000000"/>
                </a:solidFill>
                <a:latin typeface="Tahoma"/>
              </a:rPr>
              <a:t>valorile</a:t>
            </a:r>
            <a:r>
              <a:rPr lang="en-US" sz="1400" b="0" strike="noStrike" spc="-1" dirty="0">
                <a:solidFill>
                  <a:srgbClr val="000000"/>
                </a:solidFill>
                <a:latin typeface="Tahoma"/>
              </a:rPr>
              <a:t> </a:t>
            </a:r>
            <a:r>
              <a:rPr lang="en-US" sz="1400" b="0" strike="noStrike" spc="-1" dirty="0" err="1">
                <a:solidFill>
                  <a:srgbClr val="000000"/>
                </a:solidFill>
                <a:latin typeface="Tahoma"/>
              </a:rPr>
              <a:t>sunt</a:t>
            </a:r>
            <a:r>
              <a:rPr lang="en-US" sz="1400" b="0" strike="noStrike" spc="-1" dirty="0">
                <a:solidFill>
                  <a:srgbClr val="000000"/>
                </a:solidFill>
                <a:latin typeface="Tahoma"/>
              </a:rPr>
              <a:t> </a:t>
            </a:r>
            <a:r>
              <a:rPr lang="en-US" sz="1400" b="0" strike="noStrike" spc="-1" dirty="0" err="1">
                <a:solidFill>
                  <a:srgbClr val="000000"/>
                </a:solidFill>
                <a:latin typeface="Tahoma"/>
              </a:rPr>
              <a:t>în</a:t>
            </a:r>
            <a:r>
              <a:rPr lang="en-US" sz="1400" b="0" strike="noStrike" spc="-1" dirty="0">
                <a:solidFill>
                  <a:srgbClr val="000000"/>
                </a:solidFill>
                <a:latin typeface="Tahoma"/>
              </a:rPr>
              <a:t> </a:t>
            </a:r>
            <a:r>
              <a:rPr lang="en-US" sz="1400" b="0" strike="noStrike" spc="-1" dirty="0" err="1">
                <a:solidFill>
                  <a:srgbClr val="000000"/>
                </a:solidFill>
                <a:latin typeface="Tahoma"/>
              </a:rPr>
              <a:t>acest</a:t>
            </a:r>
            <a:r>
              <a:rPr lang="en-US" sz="1400" b="0" strike="noStrike" spc="-1" dirty="0">
                <a:solidFill>
                  <a:srgbClr val="000000"/>
                </a:solidFill>
                <a:latin typeface="Tahoma"/>
              </a:rPr>
              <a:t> </a:t>
            </a:r>
            <a:r>
              <a:rPr lang="en-US" sz="1400" b="0" strike="noStrike" spc="-1" dirty="0" err="1">
                <a:solidFill>
                  <a:srgbClr val="000000"/>
                </a:solidFill>
                <a:latin typeface="Tahoma"/>
              </a:rPr>
              <a:t>caz</a:t>
            </a:r>
            <a:r>
              <a:rPr lang="en-US" sz="1400" b="0" strike="noStrike" spc="-1" dirty="0">
                <a:solidFill>
                  <a:srgbClr val="000000"/>
                </a:solidFill>
                <a:latin typeface="Tahoma"/>
              </a:rPr>
              <a:t> </a:t>
            </a:r>
            <a:r>
              <a:rPr lang="en-US" sz="1400" b="0" strike="noStrike" spc="-1" dirty="0" err="1">
                <a:solidFill>
                  <a:srgbClr val="000000"/>
                </a:solidFill>
                <a:latin typeface="Tahoma"/>
              </a:rPr>
              <a:t>adrese</a:t>
            </a:r>
            <a:r>
              <a:rPr lang="en-US" sz="1400" b="0" strike="noStrike" spc="-1" dirty="0">
                <a:solidFill>
                  <a:srgbClr val="000000"/>
                </a:solidFill>
                <a:latin typeface="Tahoma"/>
              </a:rPr>
              <a:t>.</a:t>
            </a:r>
          </a:p>
          <a:p>
            <a:pPr marL="609480" indent="-609120">
              <a:lnSpc>
                <a:spcPct val="80000"/>
              </a:lnSpc>
              <a:spcBef>
                <a:spcPts val="201"/>
              </a:spcBef>
            </a:pPr>
            <a:r>
              <a:rPr lang="en-US" sz="1000" b="0" strike="noStrike" spc="-1" dirty="0">
                <a:solidFill>
                  <a:srgbClr val="000000"/>
                </a:solidFill>
                <a:latin typeface="Tahoma"/>
              </a:rPr>
              <a:t> </a:t>
            </a:r>
          </a:p>
          <a:p>
            <a:pPr marL="609480" indent="-609120">
              <a:lnSpc>
                <a:spcPct val="80000"/>
              </a:lnSpc>
              <a:spcBef>
                <a:spcPts val="281"/>
              </a:spcBef>
              <a:buClr>
                <a:srgbClr val="FFCC00"/>
              </a:buClr>
              <a:buFont typeface="Monotype Sorts" charset="2"/>
              <a:buChar char=""/>
            </a:pPr>
            <a:r>
              <a:rPr lang="en-US" sz="1400" b="0" i="1" strike="noStrike" spc="-1" dirty="0" err="1">
                <a:solidFill>
                  <a:srgbClr val="008000"/>
                </a:solidFill>
                <a:latin typeface="Tahoma"/>
              </a:rPr>
              <a:t>Exemplu</a:t>
            </a:r>
            <a:r>
              <a:rPr lang="en-US" sz="1400" b="0" i="1" strike="noStrike" spc="-1" dirty="0">
                <a:solidFill>
                  <a:srgbClr val="000000"/>
                </a:solidFill>
                <a:latin typeface="Tahoma"/>
              </a:rPr>
              <a:t>:</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class </a:t>
            </a:r>
            <a:r>
              <a:rPr lang="en-US" sz="1400" b="1" strike="noStrike" spc="-1" dirty="0" err="1">
                <a:solidFill>
                  <a:srgbClr val="000000"/>
                </a:solidFill>
                <a:latin typeface="Courier New"/>
              </a:rPr>
              <a:t>Nimic</a:t>
            </a:r>
            <a:r>
              <a:rPr lang="en-US" sz="1400" b="1" strike="noStrike" spc="-1" dirty="0">
                <a:solidFill>
                  <a:srgbClr val="000000"/>
                </a:solidFill>
                <a:latin typeface="Courier New"/>
              </a:rPr>
              <a:t>{</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a:t>
            </a:r>
            <a:r>
              <a:rPr lang="en-US" sz="1400" b="1" strike="noStrike" spc="-1" dirty="0" err="1">
                <a:solidFill>
                  <a:srgbClr val="000000"/>
                </a:solidFill>
                <a:latin typeface="Courier New"/>
              </a:rPr>
              <a:t>int</a:t>
            </a:r>
            <a:r>
              <a:rPr lang="en-US" sz="1400" b="1" strike="noStrike" spc="-1" dirty="0">
                <a:solidFill>
                  <a:srgbClr val="000000"/>
                </a:solidFill>
                <a:latin typeface="Courier New"/>
              </a:rPr>
              <a:t> x;</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  </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public class Test{</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public static void main(String </a:t>
            </a:r>
            <a:r>
              <a:rPr lang="en-US" sz="1400" b="1" strike="noStrike" spc="-1" dirty="0" err="1">
                <a:solidFill>
                  <a:srgbClr val="000000"/>
                </a:solidFill>
                <a:latin typeface="Courier New"/>
              </a:rPr>
              <a:t>args</a:t>
            </a:r>
            <a:r>
              <a:rPr lang="en-US" sz="1400" b="1" strike="noStrike" spc="-1" dirty="0">
                <a:solidFill>
                  <a:srgbClr val="000000"/>
                </a:solidFill>
                <a:latin typeface="Courier New"/>
              </a:rPr>
              <a:t>[]){</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a:t>
            </a:r>
            <a:r>
              <a:rPr lang="en-US" sz="1400" b="1" strike="noStrike" spc="-1" dirty="0" err="1">
                <a:solidFill>
                  <a:srgbClr val="000000"/>
                </a:solidFill>
                <a:latin typeface="Courier New"/>
              </a:rPr>
              <a:t>Nimic</a:t>
            </a:r>
            <a:r>
              <a:rPr lang="en-US" sz="1400" b="1" strike="noStrike" spc="-1" dirty="0">
                <a:solidFill>
                  <a:srgbClr val="000000"/>
                </a:solidFill>
                <a:latin typeface="Courier New"/>
              </a:rPr>
              <a:t> a1=new </a:t>
            </a:r>
            <a:r>
              <a:rPr lang="en-US" sz="1400" b="1" strike="noStrike" spc="-1" dirty="0" err="1">
                <a:solidFill>
                  <a:srgbClr val="000000"/>
                </a:solidFill>
                <a:latin typeface="Courier New"/>
              </a:rPr>
              <a:t>Nimic</a:t>
            </a:r>
            <a:r>
              <a:rPr lang="en-US" sz="1400" b="1" strike="noStrike" spc="-1" dirty="0">
                <a:solidFill>
                  <a:srgbClr val="000000"/>
                </a:solidFill>
                <a:latin typeface="Courier New"/>
              </a:rPr>
              <a:t>(),a2;</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a1.x=10;</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a2=a1; </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a:t>
            </a:r>
            <a:r>
              <a:rPr lang="en-US" sz="1400" b="1" strike="noStrike" spc="-1" dirty="0" err="1">
                <a:solidFill>
                  <a:srgbClr val="000000"/>
                </a:solidFill>
                <a:latin typeface="Courier New"/>
              </a:rPr>
              <a:t>System.out.println</a:t>
            </a:r>
            <a:r>
              <a:rPr lang="en-US" sz="1400" b="1" strike="noStrike" spc="-1" dirty="0">
                <a:solidFill>
                  <a:srgbClr val="000000"/>
                </a:solidFill>
                <a:latin typeface="Courier New"/>
              </a:rPr>
              <a:t>(a1.x+" "+a2.x);</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a1.x=5;</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a:t>
            </a:r>
            <a:r>
              <a:rPr lang="en-US" sz="1400" b="1" strike="noStrike" spc="-1" dirty="0" err="1">
                <a:solidFill>
                  <a:srgbClr val="000000"/>
                </a:solidFill>
                <a:latin typeface="Courier New"/>
              </a:rPr>
              <a:t>System.out.println</a:t>
            </a:r>
            <a:r>
              <a:rPr lang="en-US" sz="1400" b="1" strike="noStrike" spc="-1" dirty="0">
                <a:solidFill>
                  <a:srgbClr val="000000"/>
                </a:solidFill>
                <a:latin typeface="Courier New"/>
              </a:rPr>
              <a:t>(a1.x+" "+a2.x);  </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a:t>
            </a:r>
            <a:endParaRPr lang="en-US" sz="1400" b="0" strike="noStrike" spc="-1" dirty="0">
              <a:solidFill>
                <a:srgbClr val="000000"/>
              </a:solidFill>
              <a:latin typeface="Tahoma"/>
            </a:endParaRPr>
          </a:p>
          <a:p>
            <a:pPr marL="609480" indent="-609120">
              <a:lnSpc>
                <a:spcPct val="80000"/>
              </a:lnSpc>
              <a:spcBef>
                <a:spcPts val="281"/>
              </a:spcBef>
            </a:pPr>
            <a:r>
              <a:rPr lang="en-US" sz="1400" b="1" strike="noStrike" spc="-1" dirty="0">
                <a:solidFill>
                  <a:srgbClr val="000000"/>
                </a:solidFill>
                <a:latin typeface="Courier New"/>
              </a:rPr>
              <a:t>	} </a:t>
            </a:r>
            <a:endParaRPr lang="en-US" sz="14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9B0C423E-8CE1-4FC5-9B0C-2C32D467D9F4}" type="slidenum">
              <a:rPr lang="en-US" sz="1400" b="0" strike="noStrike" spc="-1">
                <a:solidFill>
                  <a:srgbClr val="5E574E"/>
                </a:solidFill>
                <a:latin typeface="Arial"/>
              </a:rPr>
              <a:t>41</a:t>
            </a:fld>
            <a:endParaRPr lang="en-US" sz="1400" b="0" strike="noStrike" spc="-1">
              <a:latin typeface="Times New Roman"/>
            </a:endParaRPr>
          </a:p>
        </p:txBody>
      </p:sp>
      <p:sp>
        <p:nvSpPr>
          <p:cNvPr id="448" name="TextShape 5"/>
          <p:cNvSpPr txBox="1"/>
          <p:nvPr/>
        </p:nvSpPr>
        <p:spPr>
          <a:xfrm>
            <a:off x="495360" y="1295280"/>
            <a:ext cx="8859600" cy="4762080"/>
          </a:xfrm>
          <a:prstGeom prst="rect">
            <a:avLst/>
          </a:prstGeom>
          <a:noFill/>
          <a:ln>
            <a:noFill/>
          </a:ln>
        </p:spPr>
        <p:txBody>
          <a:bodyPr>
            <a:noAutofit/>
          </a:bodyPr>
          <a:lstStyle/>
          <a:p>
            <a:pPr marL="990720" indent="-533160">
              <a:lnSpc>
                <a:spcPct val="80000"/>
              </a:lnSpc>
              <a:spcBef>
                <a:spcPts val="400"/>
              </a:spcBef>
            </a:pPr>
            <a:r>
              <a:rPr lang="en-US" sz="2000" b="1" strike="noStrike" spc="-1" dirty="0" err="1">
                <a:solidFill>
                  <a:srgbClr val="008000"/>
                </a:solidFill>
                <a:latin typeface="Tahoma"/>
              </a:rPr>
              <a:t>Clase</a:t>
            </a:r>
            <a:endParaRPr lang="en-US" sz="2000" b="0" strike="noStrike" spc="-1" dirty="0">
              <a:solidFill>
                <a:srgbClr val="000000"/>
              </a:solidFill>
              <a:latin typeface="Tahoma"/>
            </a:endParaRPr>
          </a:p>
          <a:p>
            <a:pPr marL="1371600" indent="-456840">
              <a:lnSpc>
                <a:spcPct val="80000"/>
              </a:lnSpc>
              <a:spcBef>
                <a:spcPts val="400"/>
              </a:spcBef>
            </a:pPr>
            <a:r>
              <a:rPr lang="en-US" sz="2000" b="1" strike="noStrike" spc="-1" dirty="0" err="1">
                <a:solidFill>
                  <a:srgbClr val="008000"/>
                </a:solidFill>
                <a:latin typeface="Tahoma"/>
              </a:rPr>
              <a:t>Definirea</a:t>
            </a:r>
            <a:r>
              <a:rPr lang="en-US" sz="2000" b="1" strike="noStrike" spc="-1" dirty="0">
                <a:solidFill>
                  <a:srgbClr val="008000"/>
                </a:solidFill>
                <a:latin typeface="Tahoma"/>
              </a:rPr>
              <a:t> </a:t>
            </a:r>
            <a:r>
              <a:rPr lang="en-US" sz="2000" b="1" strike="noStrike" spc="-1" dirty="0" err="1">
                <a:solidFill>
                  <a:srgbClr val="008000"/>
                </a:solidFill>
                <a:latin typeface="Tahoma"/>
              </a:rPr>
              <a:t>claselor</a:t>
            </a:r>
            <a:endParaRPr lang="en-US" sz="2000" b="0" strike="noStrike" spc="-1" dirty="0">
              <a:solidFill>
                <a:srgbClr val="000000"/>
              </a:solidFill>
              <a:latin typeface="Tahoma"/>
            </a:endParaRPr>
          </a:p>
          <a:p>
            <a:pPr marL="609480" indent="-609120">
              <a:lnSpc>
                <a:spcPct val="80000"/>
              </a:lnSpc>
              <a:spcBef>
                <a:spcPts val="360"/>
              </a:spcBef>
              <a:buClr>
                <a:srgbClr val="FFCC00"/>
              </a:buClr>
              <a:buFont typeface="Monotype Sorts" charset="2"/>
              <a:buChar char=""/>
            </a:pPr>
            <a:r>
              <a:rPr lang="en-US" sz="1800" b="1" strike="noStrike" spc="-1" dirty="0">
                <a:solidFill>
                  <a:srgbClr val="FF9900"/>
                </a:solidFill>
                <a:latin typeface="Courier New"/>
              </a:rPr>
              <a:t>[public][abstract][final]</a:t>
            </a:r>
            <a:r>
              <a:rPr lang="en-US" sz="1800" b="1" strike="noStrike" spc="-1" dirty="0">
                <a:solidFill>
                  <a:srgbClr val="000000"/>
                </a:solidFill>
                <a:latin typeface="Courier New"/>
              </a:rPr>
              <a:t> class </a:t>
            </a:r>
            <a:r>
              <a:rPr lang="en-US" sz="1800" b="1" strike="noStrike" spc="-1" dirty="0" err="1">
                <a:solidFill>
                  <a:srgbClr val="000000"/>
                </a:solidFill>
                <a:latin typeface="Courier New"/>
              </a:rPr>
              <a:t>NumeClasa</a:t>
            </a:r>
            <a:r>
              <a:rPr lang="en-US" sz="1800" b="1" strike="noStrike" spc="-1" dirty="0">
                <a:solidFill>
                  <a:srgbClr val="000000"/>
                </a:solidFill>
                <a:latin typeface="Courier New"/>
              </a:rPr>
              <a:t>	</a:t>
            </a:r>
            <a:endParaRPr lang="en-US" sz="1800" b="0" strike="noStrike" spc="-1" dirty="0">
              <a:solidFill>
                <a:srgbClr val="000000"/>
              </a:solidFill>
              <a:latin typeface="Tahoma"/>
            </a:endParaRPr>
          </a:p>
          <a:p>
            <a:pPr marL="609480" indent="-609120">
              <a:lnSpc>
                <a:spcPct val="80000"/>
              </a:lnSpc>
              <a:spcBef>
                <a:spcPts val="360"/>
              </a:spcBef>
            </a:pPr>
            <a:r>
              <a:rPr lang="en-US" sz="1800" b="1" strike="noStrike" spc="-1" dirty="0">
                <a:solidFill>
                  <a:srgbClr val="000000"/>
                </a:solidFill>
                <a:latin typeface="Courier New"/>
              </a:rPr>
              <a:t>	       </a:t>
            </a:r>
            <a:r>
              <a:rPr lang="en-US" sz="1800" b="1" strike="noStrike" spc="-1" dirty="0">
                <a:solidFill>
                  <a:srgbClr val="FF9900"/>
                </a:solidFill>
                <a:latin typeface="Courier New"/>
              </a:rPr>
              <a:t>[extends </a:t>
            </a:r>
            <a:r>
              <a:rPr lang="en-US" sz="1800" b="1" strike="noStrike" spc="-1" dirty="0" err="1">
                <a:solidFill>
                  <a:srgbClr val="FF9900"/>
                </a:solidFill>
                <a:latin typeface="Courier New"/>
              </a:rPr>
              <a:t>NumeSuperclasa</a:t>
            </a:r>
            <a:r>
              <a:rPr lang="en-US" sz="1800" b="1" strike="noStrike" spc="-1" dirty="0">
                <a:solidFill>
                  <a:srgbClr val="FF9900"/>
                </a:solidFill>
                <a:latin typeface="Courier New"/>
              </a:rPr>
              <a:t>]</a:t>
            </a:r>
            <a:endParaRPr lang="en-US" sz="1800" b="0" strike="noStrike" spc="-1" dirty="0">
              <a:solidFill>
                <a:srgbClr val="000000"/>
              </a:solidFill>
              <a:latin typeface="Tahoma"/>
            </a:endParaRPr>
          </a:p>
          <a:p>
            <a:pPr marL="609480" indent="-609120">
              <a:lnSpc>
                <a:spcPct val="80000"/>
              </a:lnSpc>
              <a:spcBef>
                <a:spcPts val="360"/>
              </a:spcBef>
            </a:pPr>
            <a:r>
              <a:rPr lang="en-US" sz="1800" b="1" strike="noStrike" spc="-1" dirty="0">
                <a:solidFill>
                  <a:srgbClr val="000000"/>
                </a:solidFill>
                <a:latin typeface="Courier New"/>
              </a:rPr>
              <a:t>			</a:t>
            </a:r>
            <a:r>
              <a:rPr lang="en-US" sz="1800" b="1" strike="noStrike" spc="-1" dirty="0">
                <a:solidFill>
                  <a:srgbClr val="FF9900"/>
                </a:solidFill>
                <a:latin typeface="Courier New"/>
              </a:rPr>
              <a:t>[implements Interfata1 [, Interfata2 ... ]]</a:t>
            </a:r>
            <a:endParaRPr lang="en-US" sz="1800" b="0" strike="noStrike" spc="-1" dirty="0">
              <a:solidFill>
                <a:srgbClr val="000000"/>
              </a:solidFill>
              <a:latin typeface="Tahoma"/>
            </a:endParaRPr>
          </a:p>
          <a:p>
            <a:pPr marL="609480" indent="-609120">
              <a:lnSpc>
                <a:spcPct val="80000"/>
              </a:lnSpc>
              <a:spcBef>
                <a:spcPts val="360"/>
              </a:spcBef>
            </a:pPr>
            <a:r>
              <a:rPr lang="en-US" sz="1800" b="1" strike="noStrike" spc="-1" dirty="0">
                <a:solidFill>
                  <a:srgbClr val="000000"/>
                </a:solidFill>
                <a:latin typeface="Courier New"/>
              </a:rPr>
              <a:t>		{</a:t>
            </a:r>
            <a:endParaRPr lang="en-US" sz="1800" b="0" strike="noStrike" spc="-1" dirty="0">
              <a:solidFill>
                <a:srgbClr val="000000"/>
              </a:solidFill>
              <a:latin typeface="Tahoma"/>
            </a:endParaRPr>
          </a:p>
          <a:p>
            <a:pPr marL="609480" indent="-609120">
              <a:lnSpc>
                <a:spcPct val="80000"/>
              </a:lnSpc>
              <a:spcBef>
                <a:spcPts val="360"/>
              </a:spcBef>
            </a:pPr>
            <a:r>
              <a:rPr lang="en-US" sz="1800" b="1" strike="noStrike" spc="-1" dirty="0">
                <a:solidFill>
                  <a:srgbClr val="000000"/>
                </a:solidFill>
                <a:latin typeface="Courier New"/>
              </a:rPr>
              <a:t>			//</a:t>
            </a:r>
            <a:r>
              <a:rPr lang="en-US" sz="1800" b="1" strike="noStrike" spc="-1" dirty="0" err="1">
                <a:solidFill>
                  <a:srgbClr val="000000"/>
                </a:solidFill>
                <a:latin typeface="Courier New"/>
              </a:rPr>
              <a:t>corpul</a:t>
            </a:r>
            <a:r>
              <a:rPr lang="en-US" sz="1800" b="1" strike="noStrike" spc="-1" dirty="0">
                <a:solidFill>
                  <a:srgbClr val="000000"/>
                </a:solidFill>
                <a:latin typeface="Courier New"/>
              </a:rPr>
              <a:t> </a:t>
            </a:r>
            <a:r>
              <a:rPr lang="en-US" sz="1800" b="1" strike="noStrike" spc="-1" dirty="0" err="1">
                <a:solidFill>
                  <a:srgbClr val="000000"/>
                </a:solidFill>
                <a:latin typeface="Courier New"/>
              </a:rPr>
              <a:t>clasei</a:t>
            </a:r>
            <a:endParaRPr lang="en-US" sz="1800" b="0" strike="noStrike" spc="-1" dirty="0">
              <a:solidFill>
                <a:srgbClr val="000000"/>
              </a:solidFill>
              <a:latin typeface="Tahoma"/>
            </a:endParaRPr>
          </a:p>
          <a:p>
            <a:pPr marL="609480" indent="-609120">
              <a:lnSpc>
                <a:spcPct val="80000"/>
              </a:lnSpc>
              <a:spcBef>
                <a:spcPts val="360"/>
              </a:spcBef>
            </a:pPr>
            <a:r>
              <a:rPr lang="en-US" sz="1800" b="1" strike="noStrike" spc="-1" dirty="0">
                <a:solidFill>
                  <a:srgbClr val="000000"/>
                </a:solidFill>
                <a:latin typeface="Courier New"/>
              </a:rPr>
              <a:t>		}</a:t>
            </a:r>
            <a:endParaRPr lang="en-US" sz="18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1" strike="noStrike" spc="-1" dirty="0" err="1">
                <a:solidFill>
                  <a:srgbClr val="008000"/>
                </a:solidFill>
                <a:latin typeface="Tahoma"/>
              </a:rPr>
              <a:t>Antetul</a:t>
            </a:r>
            <a:r>
              <a:rPr lang="en-US" sz="2000" b="1" strike="noStrike" spc="-1" dirty="0">
                <a:solidFill>
                  <a:srgbClr val="008000"/>
                </a:solidFill>
                <a:latin typeface="Tahoma"/>
              </a:rPr>
              <a:t> </a:t>
            </a:r>
            <a:r>
              <a:rPr lang="en-US" sz="2000" b="1" strike="noStrike" spc="-1" dirty="0" err="1">
                <a:solidFill>
                  <a:srgbClr val="008000"/>
                </a:solidFill>
                <a:latin typeface="Tahoma"/>
              </a:rPr>
              <a:t>clasei</a:t>
            </a:r>
            <a:r>
              <a:rPr lang="en-US" sz="2000" b="0" strike="noStrike" spc="-1" dirty="0">
                <a:solidFill>
                  <a:srgbClr val="000000"/>
                </a:solidFill>
                <a:latin typeface="Tahoma"/>
              </a:rPr>
              <a:t>: </a:t>
            </a:r>
          </a:p>
          <a:p>
            <a:pPr marL="609480" indent="-609120">
              <a:lnSpc>
                <a:spcPct val="80000"/>
              </a:lnSpc>
              <a:spcBef>
                <a:spcPts val="400"/>
              </a:spcBef>
            </a:pPr>
            <a:r>
              <a:rPr lang="en-US" sz="2000" b="0" strike="noStrike" spc="-1" dirty="0">
                <a:solidFill>
                  <a:srgbClr val="000000"/>
                </a:solidFill>
                <a:latin typeface="Tahoma"/>
              </a:rPr>
              <a:t>		</a:t>
            </a:r>
            <a:r>
              <a:rPr lang="en-US" sz="1600" b="1" strike="noStrike" spc="-1" dirty="0">
                <a:solidFill>
                  <a:srgbClr val="FF9900"/>
                </a:solidFill>
                <a:latin typeface="Courier New"/>
              </a:rPr>
              <a:t>[public][abstract][final]</a:t>
            </a:r>
            <a:r>
              <a:rPr lang="en-US" sz="1600" b="1" strike="noStrike" spc="-1" dirty="0">
                <a:solidFill>
                  <a:srgbClr val="000000"/>
                </a:solidFill>
                <a:latin typeface="Courier New"/>
              </a:rPr>
              <a:t> class </a:t>
            </a:r>
            <a:r>
              <a:rPr lang="en-US" sz="1600" b="1" strike="noStrike" spc="-1" dirty="0" err="1">
                <a:solidFill>
                  <a:srgbClr val="000000"/>
                </a:solidFill>
                <a:latin typeface="Courier New"/>
              </a:rPr>
              <a:t>NumeClasa</a:t>
            </a:r>
            <a:endParaRPr lang="en-US" sz="1600" b="0" strike="noStrike" spc="-1" dirty="0">
              <a:solidFill>
                <a:srgbClr val="000000"/>
              </a:solidFill>
              <a:latin typeface="Tahoma"/>
            </a:endParaRPr>
          </a:p>
          <a:p>
            <a:pPr marL="609480" indent="-609120">
              <a:lnSpc>
                <a:spcPct val="80000"/>
              </a:lnSpc>
              <a:spcBef>
                <a:spcPts val="320"/>
              </a:spcBef>
            </a:pPr>
            <a:r>
              <a:rPr lang="en-US" sz="1600" b="1" strike="noStrike" spc="-1" dirty="0">
                <a:solidFill>
                  <a:srgbClr val="000000"/>
                </a:solidFill>
                <a:latin typeface="Courier New"/>
              </a:rPr>
              <a:t>	</a:t>
            </a:r>
            <a:endParaRPr lang="en-US" sz="16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este</a:t>
            </a:r>
            <a:r>
              <a:rPr lang="en-US" sz="2000" b="0" strike="noStrike" spc="-1" dirty="0">
                <a:solidFill>
                  <a:srgbClr val="000000"/>
                </a:solidFill>
                <a:latin typeface="Tahoma"/>
              </a:rPr>
              <a:t> format din </a:t>
            </a:r>
            <a:r>
              <a:rPr lang="en-US" sz="2000" b="1" strike="noStrike" spc="-1" dirty="0" err="1">
                <a:solidFill>
                  <a:srgbClr val="008000"/>
                </a:solidFill>
                <a:latin typeface="Tahoma"/>
              </a:rPr>
              <a:t>modificatorii</a:t>
            </a:r>
            <a:r>
              <a:rPr lang="en-US" sz="2000" b="1" strike="noStrike" spc="-1" dirty="0">
                <a:solidFill>
                  <a:srgbClr val="008000"/>
                </a:solidFill>
                <a:latin typeface="Tahoma"/>
              </a:rPr>
              <a:t> </a:t>
            </a:r>
            <a:r>
              <a:rPr lang="en-US" sz="2000" b="1" strike="noStrike" spc="-1" dirty="0" err="1">
                <a:solidFill>
                  <a:srgbClr val="008000"/>
                </a:solidFill>
                <a:latin typeface="Tahoma"/>
              </a:rPr>
              <a:t>clasei</a:t>
            </a:r>
            <a:r>
              <a:rPr lang="en-US" sz="2000" b="0" strike="noStrike" spc="-1" dirty="0">
                <a:solidFill>
                  <a:srgbClr val="000000"/>
                </a:solidFill>
                <a:latin typeface="Tahoma"/>
              </a:rPr>
              <a:t>, </a:t>
            </a:r>
            <a:r>
              <a:rPr lang="en-US" sz="2000" b="0" strike="noStrike" spc="-1" dirty="0" err="1">
                <a:solidFill>
                  <a:srgbClr val="000000"/>
                </a:solidFill>
                <a:latin typeface="Tahoma"/>
              </a:rPr>
              <a:t>cuvântul</a:t>
            </a:r>
            <a:r>
              <a:rPr lang="en-US" sz="2000" b="0" strike="noStrike" spc="-1" dirty="0">
                <a:solidFill>
                  <a:srgbClr val="000000"/>
                </a:solidFill>
                <a:latin typeface="Tahoma"/>
              </a:rPr>
              <a:t> </a:t>
            </a:r>
            <a:r>
              <a:rPr lang="en-US" sz="2000" b="0" strike="noStrike" spc="-1" dirty="0" err="1">
                <a:solidFill>
                  <a:srgbClr val="000000"/>
                </a:solidFill>
                <a:latin typeface="Tahoma"/>
              </a:rPr>
              <a:t>rezervat</a:t>
            </a:r>
            <a:r>
              <a:rPr lang="en-US" sz="2000" b="0" strike="noStrike" spc="-1" dirty="0">
                <a:solidFill>
                  <a:srgbClr val="000000"/>
                </a:solidFill>
                <a:latin typeface="Tahoma"/>
              </a:rPr>
              <a:t> </a:t>
            </a:r>
            <a:r>
              <a:rPr lang="en-US" sz="2000" b="1" strike="noStrike" spc="-1" dirty="0">
                <a:solidFill>
                  <a:srgbClr val="008000"/>
                </a:solidFill>
                <a:latin typeface="Tahoma"/>
              </a:rPr>
              <a:t>class</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a:t>
            </a:r>
            <a:r>
              <a:rPr lang="en-US" sz="2000" b="0" strike="noStrike" spc="-1" dirty="0" err="1">
                <a:solidFill>
                  <a:srgbClr val="000000"/>
                </a:solidFill>
                <a:latin typeface="Tahoma"/>
              </a:rPr>
              <a:t>numele</a:t>
            </a:r>
            <a:r>
              <a:rPr lang="en-US" sz="2000" b="0" strike="noStrike" spc="-1" dirty="0">
                <a:solidFill>
                  <a:srgbClr val="000000"/>
                </a:solidFill>
                <a:latin typeface="Tahoma"/>
              </a:rPr>
              <a:t> </a:t>
            </a:r>
            <a:r>
              <a:rPr lang="en-US" sz="2000" b="0" strike="noStrike" spc="-1" dirty="0" err="1">
                <a:solidFill>
                  <a:srgbClr val="000000"/>
                </a:solidFill>
                <a:latin typeface="Tahoma"/>
              </a:rPr>
              <a:t>clasei</a:t>
            </a:r>
            <a:r>
              <a:rPr lang="en-US" sz="2000" b="0" strike="noStrike" spc="-1" dirty="0">
                <a:solidFill>
                  <a:srgbClr val="000000"/>
                </a:solidFill>
                <a:latin typeface="Tahoma"/>
              </a:rPr>
              <a:t> </a:t>
            </a:r>
            <a:r>
              <a:rPr lang="en-US" sz="2000" b="1" strike="noStrike" spc="-1" dirty="0" err="1">
                <a:solidFill>
                  <a:srgbClr val="000000"/>
                </a:solidFill>
                <a:latin typeface="Courier New"/>
              </a:rPr>
              <a:t>NumeClasa</a:t>
            </a:r>
            <a:r>
              <a:rPr lang="en-US" sz="2000" b="0" strike="noStrike" spc="-1" dirty="0">
                <a:solidFill>
                  <a:srgbClr val="000000"/>
                </a:solidFill>
                <a:latin typeface="Tahoma"/>
              </a:rPr>
              <a:t>. </a:t>
            </a:r>
          </a:p>
          <a:p>
            <a:pPr marL="609480" indent="-6091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Prezenţa</a:t>
            </a:r>
            <a:r>
              <a:rPr lang="en-US" sz="2000" b="0" strike="noStrike" spc="-1" dirty="0">
                <a:solidFill>
                  <a:srgbClr val="000000"/>
                </a:solidFill>
                <a:latin typeface="Tahoma"/>
              </a:rPr>
              <a:t> </a:t>
            </a:r>
            <a:r>
              <a:rPr lang="en-US" sz="2000" b="0" strike="noStrike" spc="-1" dirty="0" err="1">
                <a:solidFill>
                  <a:srgbClr val="000000"/>
                </a:solidFill>
                <a:latin typeface="Tahoma"/>
              </a:rPr>
              <a:t>parantezelor</a:t>
            </a:r>
            <a:r>
              <a:rPr lang="en-US" sz="2000" b="0" strike="noStrike" spc="-1" dirty="0">
                <a:solidFill>
                  <a:srgbClr val="000000"/>
                </a:solidFill>
                <a:latin typeface="Tahoma"/>
              </a:rPr>
              <a:t> </a:t>
            </a:r>
            <a:r>
              <a:rPr lang="en-US" sz="2000" b="0" strike="noStrike" spc="-1" dirty="0">
                <a:solidFill>
                  <a:srgbClr val="FF9900"/>
                </a:solidFill>
                <a:latin typeface="Tahoma"/>
              </a:rPr>
              <a:t>[]</a:t>
            </a:r>
            <a:r>
              <a:rPr lang="en-US" sz="2000" b="0" strike="noStrike" spc="-1" dirty="0">
                <a:solidFill>
                  <a:srgbClr val="000000"/>
                </a:solidFill>
                <a:latin typeface="Tahoma"/>
              </a:rPr>
              <a:t> </a:t>
            </a:r>
            <a:r>
              <a:rPr lang="en-US" sz="2000" b="0" strike="noStrike" spc="-1" dirty="0" err="1">
                <a:solidFill>
                  <a:srgbClr val="000000"/>
                </a:solidFill>
                <a:latin typeface="Tahoma"/>
              </a:rPr>
              <a:t>indică</a:t>
            </a:r>
            <a:r>
              <a:rPr lang="en-US" sz="2000" b="0" strike="noStrike" spc="-1" dirty="0">
                <a:solidFill>
                  <a:srgbClr val="000000"/>
                </a:solidFill>
                <a:latin typeface="Tahoma"/>
              </a:rPr>
              <a:t> </a:t>
            </a:r>
            <a:r>
              <a:rPr lang="en-US" sz="2000" b="0" strike="noStrike" spc="-1" dirty="0" err="1">
                <a:solidFill>
                  <a:srgbClr val="000000"/>
                </a:solidFill>
                <a:latin typeface="Tahoma"/>
              </a:rPr>
              <a:t>faptul</a:t>
            </a:r>
            <a:r>
              <a:rPr lang="en-US" sz="2000" b="0" strike="noStrike" spc="-1" dirty="0">
                <a:solidFill>
                  <a:srgbClr val="000000"/>
                </a:solidFill>
                <a:latin typeface="Tahoma"/>
              </a:rPr>
              <a:t> </a:t>
            </a:r>
            <a:r>
              <a:rPr lang="en-US" sz="2000" b="0" strike="noStrike" spc="-1" dirty="0" err="1">
                <a:solidFill>
                  <a:srgbClr val="000000"/>
                </a:solidFill>
                <a:latin typeface="Tahoma"/>
              </a:rPr>
              <a:t>că</a:t>
            </a:r>
            <a:r>
              <a:rPr lang="en-US" sz="2000" b="0" strike="noStrike" spc="-1" dirty="0">
                <a:solidFill>
                  <a:srgbClr val="000000"/>
                </a:solidFill>
                <a:latin typeface="Tahoma"/>
              </a:rPr>
              <a:t> </a:t>
            </a:r>
            <a:r>
              <a:rPr lang="en-US" sz="2000" b="0" strike="noStrike" spc="-1" dirty="0" err="1">
                <a:solidFill>
                  <a:srgbClr val="000000"/>
                </a:solidFill>
                <a:latin typeface="Tahoma"/>
              </a:rPr>
              <a:t>ceea</a:t>
            </a:r>
            <a:r>
              <a:rPr lang="en-US" sz="2000" b="0" strike="noStrike" spc="-1" dirty="0">
                <a:solidFill>
                  <a:srgbClr val="000000"/>
                </a:solidFill>
                <a:latin typeface="Tahoma"/>
              </a:rPr>
              <a:t> </a:t>
            </a:r>
            <a:r>
              <a:rPr lang="en-US" sz="2000" b="0" strike="noStrike" spc="-1" dirty="0" err="1">
                <a:solidFill>
                  <a:srgbClr val="000000"/>
                </a:solidFill>
                <a:latin typeface="Tahoma"/>
              </a:rPr>
              <a:t>ce</a:t>
            </a:r>
            <a:r>
              <a:rPr lang="en-US" sz="2000" b="0" strike="noStrike" spc="-1" dirty="0">
                <a:solidFill>
                  <a:srgbClr val="000000"/>
                </a:solidFill>
                <a:latin typeface="Tahoma"/>
              </a:rPr>
              <a:t> </a:t>
            </a:r>
            <a:r>
              <a:rPr lang="en-US" sz="2000" b="0" strike="noStrike" spc="-1" dirty="0" err="1">
                <a:solidFill>
                  <a:srgbClr val="000000"/>
                </a:solidFill>
                <a:latin typeface="Tahoma"/>
              </a:rPr>
              <a:t>este</a:t>
            </a:r>
            <a:r>
              <a:rPr lang="en-US" sz="2000" b="0" strike="noStrike" spc="-1" dirty="0">
                <a:solidFill>
                  <a:srgbClr val="000000"/>
                </a:solidFill>
                <a:latin typeface="Tahoma"/>
              </a:rPr>
              <a:t> </a:t>
            </a:r>
            <a:r>
              <a:rPr lang="en-US" sz="2000" b="0" strike="noStrike" spc="-1" dirty="0" err="1">
                <a:solidFill>
                  <a:srgbClr val="000000"/>
                </a:solidFill>
                <a:latin typeface="Tahoma"/>
              </a:rPr>
              <a:t>cuprins</a:t>
            </a:r>
            <a:r>
              <a:rPr lang="en-US" sz="2000" b="0" strike="noStrike" spc="-1" dirty="0">
                <a:solidFill>
                  <a:srgbClr val="000000"/>
                </a:solidFill>
                <a:latin typeface="Tahoma"/>
              </a:rPr>
              <a:t> </a:t>
            </a:r>
            <a:r>
              <a:rPr lang="en-US" sz="2000" b="0" strike="noStrike" spc="-1" dirty="0" err="1">
                <a:solidFill>
                  <a:srgbClr val="000000"/>
                </a:solidFill>
                <a:latin typeface="Tahoma"/>
              </a:rPr>
              <a:t>între</a:t>
            </a:r>
            <a:r>
              <a:rPr lang="en-US" sz="2000" b="0" strike="noStrike" spc="-1" dirty="0">
                <a:solidFill>
                  <a:srgbClr val="000000"/>
                </a:solidFill>
                <a:latin typeface="Tahoma"/>
              </a:rPr>
              <a:t> </a:t>
            </a:r>
            <a:r>
              <a:rPr lang="en-US" sz="2000" b="0" strike="noStrike" spc="-1" dirty="0" err="1">
                <a:solidFill>
                  <a:srgbClr val="000000"/>
                </a:solidFill>
                <a:latin typeface="Tahoma"/>
              </a:rPr>
              <a:t>ele</a:t>
            </a:r>
            <a:r>
              <a:rPr lang="en-US" sz="2000" b="0" strike="noStrike" spc="-1" dirty="0">
                <a:solidFill>
                  <a:srgbClr val="000000"/>
                </a:solidFill>
                <a:latin typeface="Tahoma"/>
              </a:rPr>
              <a:t> </a:t>
            </a:r>
            <a:r>
              <a:rPr lang="en-US" sz="2000" b="0" strike="noStrike" spc="-1" dirty="0" err="1">
                <a:solidFill>
                  <a:srgbClr val="000000"/>
                </a:solidFill>
                <a:latin typeface="Tahoma"/>
              </a:rPr>
              <a:t>este</a:t>
            </a:r>
            <a:r>
              <a:rPr lang="en-US" sz="2000" b="0" strike="noStrike" spc="-1" dirty="0">
                <a:solidFill>
                  <a:srgbClr val="000000"/>
                </a:solidFill>
                <a:latin typeface="Tahoma"/>
              </a:rPr>
              <a:t> </a:t>
            </a:r>
            <a:r>
              <a:rPr lang="en-US" sz="2000" b="0" strike="noStrike" spc="-1" dirty="0" err="1">
                <a:solidFill>
                  <a:srgbClr val="000000"/>
                </a:solidFill>
                <a:latin typeface="Tahoma"/>
              </a:rPr>
              <a:t>opţional</a:t>
            </a:r>
            <a:r>
              <a:rPr lang="en-US" sz="2000" b="0" strike="noStrike" spc="-1" dirty="0">
                <a:solidFill>
                  <a:srgbClr val="000000"/>
                </a:solidFill>
                <a:latin typeface="Tahoma"/>
              </a:rPr>
              <a:t>.</a:t>
            </a:r>
            <a:r>
              <a:rPr lang="en-US" sz="1800" b="0" strike="noStrike" spc="-1" dirty="0">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D68D715D-3D9D-4654-9BEE-848A6885F670}" type="slidenum">
              <a:rPr lang="en-US" sz="1400" b="0" strike="noStrike" spc="-1">
                <a:solidFill>
                  <a:srgbClr val="5E574E"/>
                </a:solidFill>
                <a:latin typeface="Arial"/>
              </a:rPr>
              <a:t>42</a:t>
            </a:fld>
            <a:endParaRPr lang="en-US" sz="1400" b="0" strike="noStrike" spc="-1">
              <a:latin typeface="Times New Roman"/>
            </a:endParaRPr>
          </a:p>
        </p:txBody>
      </p:sp>
      <p:sp>
        <p:nvSpPr>
          <p:cNvPr id="453" name="TextShape 5"/>
          <p:cNvSpPr txBox="1"/>
          <p:nvPr/>
        </p:nvSpPr>
        <p:spPr>
          <a:xfrm>
            <a:off x="495360" y="1143000"/>
            <a:ext cx="8859600" cy="4914720"/>
          </a:xfrm>
          <a:prstGeom prst="rect">
            <a:avLst/>
          </a:prstGeom>
          <a:noFill/>
          <a:ln>
            <a:noFill/>
          </a:ln>
        </p:spPr>
        <p:txBody>
          <a:bodyPr>
            <a:noAutofit/>
          </a:bodyPr>
          <a:lstStyle/>
          <a:p>
            <a:pPr marL="343080" indent="-342720">
              <a:lnSpc>
                <a:spcPct val="80000"/>
              </a:lnSpc>
              <a:spcBef>
                <a:spcPts val="400"/>
              </a:spcBef>
              <a:buClr>
                <a:srgbClr val="FFCC00"/>
              </a:buClr>
              <a:buFont typeface="Monotype Sorts" charset="2"/>
              <a:buChar char=""/>
            </a:pPr>
            <a:r>
              <a:rPr lang="en-US" sz="2000" b="1" strike="noStrike" spc="-1">
                <a:solidFill>
                  <a:srgbClr val="008000"/>
                </a:solidFill>
                <a:latin typeface="Tahoma"/>
              </a:rPr>
              <a:t>Modificatorii clasei</a:t>
            </a:r>
            <a:r>
              <a:rPr lang="en-US" sz="2000" b="0" strike="noStrike" spc="-1">
                <a:solidFill>
                  <a:srgbClr val="000000"/>
                </a:solidFill>
                <a:latin typeface="Tahoma"/>
              </a:rPr>
              <a:t> sunt:</a:t>
            </a:r>
          </a:p>
          <a:p>
            <a:pPr marL="343080" indent="-342720">
              <a:lnSpc>
                <a:spcPct val="80000"/>
              </a:lnSpc>
              <a:spcBef>
                <a:spcPts val="400"/>
              </a:spcBef>
              <a:buClr>
                <a:srgbClr val="FFCC00"/>
              </a:buClr>
              <a:buFont typeface="Monotype Sorts" charset="2"/>
              <a:buChar char=""/>
            </a:pPr>
            <a:r>
              <a:rPr lang="en-US" sz="2000" b="1" strike="noStrike" spc="-1">
                <a:solidFill>
                  <a:srgbClr val="008000"/>
                </a:solidFill>
                <a:latin typeface="Tahoma"/>
              </a:rPr>
              <a:t>public</a:t>
            </a:r>
            <a:r>
              <a:rPr lang="en-US" sz="2000" b="1" strike="noStrike" spc="-1">
                <a:solidFill>
                  <a:srgbClr val="000000"/>
                </a:solidFill>
                <a:latin typeface="Tahoma"/>
              </a:rPr>
              <a:t>: </a:t>
            </a:r>
            <a:r>
              <a:rPr lang="en-US" sz="2000" b="0" strike="noStrike" spc="-1">
                <a:solidFill>
                  <a:srgbClr val="000000"/>
                </a:solidFill>
                <a:latin typeface="Tahoma"/>
              </a:rPr>
              <a:t>dacă o clasă este declarată public, ea este accesibilă oricărei alte clase. Dacă modificatorul public nu apare, clasa poate fi accesată doar de către clasele din pachetul căruia aparţine clasa (dacă nu se specifică un anume pachet, toate clasele din directorul curent sunt considerate a fi în acelaşi pachet). Spaţiul de căutare este definit de variabila sistem </a:t>
            </a:r>
            <a:r>
              <a:rPr lang="en-US" sz="2000" b="1" strike="noStrike" spc="-1">
                <a:solidFill>
                  <a:srgbClr val="000000"/>
                </a:solidFill>
                <a:latin typeface="Courier New"/>
              </a:rPr>
              <a:t>CLASSPATH</a:t>
            </a:r>
            <a:r>
              <a:rPr lang="en-US" sz="2000" b="0" strike="noStrike" spc="-1">
                <a:solidFill>
                  <a:srgbClr val="000000"/>
                </a:solidFill>
                <a:latin typeface="Tahoma"/>
              </a:rPr>
              <a:t>. </a:t>
            </a:r>
          </a:p>
          <a:p>
            <a:pPr marL="343080" indent="-342720">
              <a:lnSpc>
                <a:spcPct val="80000"/>
              </a:lnSpc>
              <a:spcBef>
                <a:spcPts val="400"/>
              </a:spcBef>
              <a:buClr>
                <a:srgbClr val="FFCC00"/>
              </a:buClr>
              <a:buFont typeface="Monotype Sorts" charset="2"/>
              <a:buChar char=""/>
            </a:pPr>
            <a:r>
              <a:rPr lang="en-US" sz="2000" b="1" strike="noStrike" spc="-1">
                <a:solidFill>
                  <a:srgbClr val="008000"/>
                </a:solidFill>
                <a:latin typeface="Tahoma"/>
              </a:rPr>
              <a:t>abstract</a:t>
            </a:r>
            <a:r>
              <a:rPr lang="en-US" sz="2000" b="1" strike="noStrike" spc="-1">
                <a:solidFill>
                  <a:srgbClr val="000000"/>
                </a:solidFill>
                <a:latin typeface="Tahoma"/>
              </a:rPr>
              <a:t>: </a:t>
            </a:r>
            <a:r>
              <a:rPr lang="en-US" sz="2000" b="0" strike="noStrike" spc="-1">
                <a:solidFill>
                  <a:srgbClr val="000000"/>
                </a:solidFill>
                <a:latin typeface="Tahoma"/>
              </a:rPr>
              <a:t>o clasă declarată abstractă este o clasă şablon adică ea este folosită doar pentru a crea un model comun pentru o serie de subclase. O clasă trebuie declarată abstractă daca ea este incomplet implementată adică nu toate metodele ei sunt definite. O astfel de clasă </a:t>
            </a:r>
            <a:r>
              <a:rPr lang="en-US" sz="2000" b="1" strike="noStrike" spc="-1">
                <a:solidFill>
                  <a:srgbClr val="008000"/>
                </a:solidFill>
                <a:latin typeface="Tahoma"/>
              </a:rPr>
              <a:t>nu poate fi instanţiată</a:t>
            </a:r>
            <a:r>
              <a:rPr lang="en-US" sz="2000" b="0" strike="noStrike" spc="-1">
                <a:solidFill>
                  <a:srgbClr val="000000"/>
                </a:solidFill>
                <a:latin typeface="Tahoma"/>
              </a:rPr>
              <a:t>, dar poate fi extinsă de alte clase care să implementeze metodele nedefinite. Doar clasele abstracte pot să conţină metode abstracte (metode declarate dar nu implementate). </a:t>
            </a:r>
          </a:p>
          <a:p>
            <a:pPr marL="343080" indent="-342720">
              <a:lnSpc>
                <a:spcPct val="80000"/>
              </a:lnSpc>
              <a:spcBef>
                <a:spcPts val="400"/>
              </a:spcBef>
              <a:buClr>
                <a:srgbClr val="FFCC00"/>
              </a:buClr>
              <a:buFont typeface="Monotype Sorts" charset="2"/>
              <a:buChar char=""/>
            </a:pPr>
            <a:r>
              <a:rPr lang="en-US" sz="2000" b="1" strike="noStrike" spc="-1">
                <a:solidFill>
                  <a:srgbClr val="008000"/>
                </a:solidFill>
                <a:latin typeface="Tahoma"/>
              </a:rPr>
              <a:t>final</a:t>
            </a:r>
            <a:r>
              <a:rPr lang="en-US" sz="2000" b="1" strike="noStrike" spc="-1">
                <a:solidFill>
                  <a:srgbClr val="000000"/>
                </a:solidFill>
                <a:latin typeface="Tahoma"/>
              </a:rPr>
              <a:t> </a:t>
            </a:r>
            <a:r>
              <a:rPr lang="en-US" sz="2000" b="0" strike="noStrike" spc="-1">
                <a:solidFill>
                  <a:srgbClr val="000000"/>
                </a:solidFill>
                <a:latin typeface="Tahoma"/>
              </a:rPr>
              <a:t>o clasă poate fi declarată finală dacă a fost complet definită şi nu se doreşte să fie extinsă (să aibă subclase); cu alte cuvinte ea nu poate apare în clauza </a:t>
            </a:r>
            <a:r>
              <a:rPr lang="en-US" sz="2000" b="1" strike="noStrike" spc="-1">
                <a:solidFill>
                  <a:srgbClr val="008000"/>
                </a:solidFill>
                <a:latin typeface="Tahoma"/>
              </a:rPr>
              <a:t>extends</a:t>
            </a:r>
            <a:r>
              <a:rPr lang="en-US" sz="2000" b="0" strike="noStrike" spc="-1">
                <a:solidFill>
                  <a:srgbClr val="000000"/>
                </a:solidFill>
                <a:latin typeface="Tahoma"/>
              </a:rPr>
              <a:t> a altei clase.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B7F3A416-2D97-4FAB-882E-12909E30630F}" type="slidenum">
              <a:rPr lang="en-US" sz="1400" b="0" strike="noStrike" spc="-1">
                <a:solidFill>
                  <a:srgbClr val="5E574E"/>
                </a:solidFill>
                <a:latin typeface="Arial"/>
              </a:rPr>
              <a:t>43</a:t>
            </a:fld>
            <a:endParaRPr lang="en-US" sz="1400" b="0" strike="noStrike" spc="-1">
              <a:latin typeface="Times New Roman"/>
            </a:endParaRPr>
          </a:p>
        </p:txBody>
      </p:sp>
      <p:sp>
        <p:nvSpPr>
          <p:cNvPr id="458" name="TextShape 5"/>
          <p:cNvSpPr txBox="1"/>
          <p:nvPr/>
        </p:nvSpPr>
        <p:spPr>
          <a:xfrm>
            <a:off x="495360" y="1066680"/>
            <a:ext cx="8859600" cy="4990680"/>
          </a:xfrm>
          <a:prstGeom prst="rect">
            <a:avLst/>
          </a:prstGeom>
          <a:noFill/>
          <a:ln>
            <a:noFill/>
          </a:ln>
        </p:spPr>
        <p:txBody>
          <a:bodyPr>
            <a:noAutofit/>
          </a:bodyPr>
          <a:lstStyle/>
          <a:p>
            <a:pPr marL="1371600" indent="-456840">
              <a:lnSpc>
                <a:spcPct val="80000"/>
              </a:lnSpc>
              <a:spcBef>
                <a:spcPts val="479"/>
              </a:spcBef>
            </a:pPr>
            <a:r>
              <a:rPr lang="en-US" sz="2400" b="1" strike="noStrike" spc="-1" dirty="0" err="1">
                <a:solidFill>
                  <a:srgbClr val="008000"/>
                </a:solidFill>
                <a:latin typeface="Tahoma"/>
              </a:rPr>
              <a:t>Variabile</a:t>
            </a:r>
            <a:r>
              <a:rPr lang="en-US" sz="2400" b="1" strike="noStrike" spc="-1" dirty="0">
                <a:solidFill>
                  <a:srgbClr val="008000"/>
                </a:solidFill>
                <a:latin typeface="Tahoma"/>
              </a:rPr>
              <a:t> </a:t>
            </a:r>
            <a:r>
              <a:rPr lang="en-US" sz="2400" b="1" strike="noStrike" spc="-1" dirty="0" err="1">
                <a:solidFill>
                  <a:srgbClr val="008000"/>
                </a:solidFill>
                <a:latin typeface="Tahoma"/>
              </a:rPr>
              <a:t>membru</a:t>
            </a:r>
            <a:endParaRPr lang="en-US" sz="24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Variabilele</a:t>
            </a:r>
            <a:r>
              <a:rPr lang="en-US" sz="2000" b="0" strike="noStrike" spc="-1" dirty="0">
                <a:solidFill>
                  <a:srgbClr val="000000"/>
                </a:solidFill>
                <a:latin typeface="Tahoma"/>
              </a:rPr>
              <a:t> se </a:t>
            </a:r>
            <a:r>
              <a:rPr lang="en-US" sz="2000" b="0" strike="noStrike" spc="-1" dirty="0" err="1">
                <a:solidFill>
                  <a:srgbClr val="000000"/>
                </a:solidFill>
                <a:latin typeface="Tahoma"/>
              </a:rPr>
              <a:t>declară</a:t>
            </a:r>
            <a:r>
              <a:rPr lang="en-US" sz="2000" b="0" strike="noStrike" spc="-1" dirty="0">
                <a:solidFill>
                  <a:srgbClr val="000000"/>
                </a:solidFill>
                <a:latin typeface="Tahoma"/>
              </a:rPr>
              <a:t> de </a:t>
            </a:r>
            <a:r>
              <a:rPr lang="en-US" sz="2000" b="0" strike="noStrike" spc="-1" dirty="0" err="1">
                <a:solidFill>
                  <a:srgbClr val="000000"/>
                </a:solidFill>
                <a:latin typeface="Tahoma"/>
              </a:rPr>
              <a:t>obicei</a:t>
            </a:r>
            <a:r>
              <a:rPr lang="en-US" sz="2000" b="0" strike="noStrike" spc="-1" dirty="0">
                <a:solidFill>
                  <a:srgbClr val="000000"/>
                </a:solidFill>
                <a:latin typeface="Tahoma"/>
              </a:rPr>
              <a:t> </a:t>
            </a:r>
            <a:r>
              <a:rPr lang="en-US" sz="2000" b="0" strike="noStrike" spc="-1" dirty="0" err="1">
                <a:solidFill>
                  <a:srgbClr val="000000"/>
                </a:solidFill>
                <a:latin typeface="Tahoma"/>
              </a:rPr>
              <a:t>înaintea</a:t>
            </a:r>
            <a:r>
              <a:rPr lang="en-US" sz="2000" b="0" strike="noStrike" spc="-1" dirty="0">
                <a:solidFill>
                  <a:srgbClr val="000000"/>
                </a:solidFill>
                <a:latin typeface="Tahoma"/>
              </a:rPr>
              <a:t> </a:t>
            </a:r>
            <a:r>
              <a:rPr lang="en-US" sz="2000" b="0" strike="noStrike" spc="-1" dirty="0" err="1">
                <a:solidFill>
                  <a:srgbClr val="000000"/>
                </a:solidFill>
                <a:latin typeface="Tahoma"/>
              </a:rPr>
              <a:t>metodelor</a:t>
            </a:r>
            <a:r>
              <a:rPr lang="en-US" sz="2000" b="0" strike="noStrike" spc="-1" dirty="0">
                <a:solidFill>
                  <a:srgbClr val="000000"/>
                </a:solidFill>
                <a:latin typeface="Tahoma"/>
              </a:rPr>
              <a:t>, </a:t>
            </a:r>
            <a:r>
              <a:rPr lang="en-US" sz="2000" b="0" strike="noStrike" spc="-1" dirty="0" err="1">
                <a:solidFill>
                  <a:srgbClr val="000000"/>
                </a:solidFill>
                <a:latin typeface="Tahoma"/>
              </a:rPr>
              <a:t>deşi</a:t>
            </a:r>
            <a:r>
              <a:rPr lang="en-US" sz="2000" b="0" strike="noStrike" spc="-1" dirty="0">
                <a:solidFill>
                  <a:srgbClr val="000000"/>
                </a:solidFill>
                <a:latin typeface="Tahoma"/>
              </a:rPr>
              <a:t> </a:t>
            </a:r>
            <a:r>
              <a:rPr lang="en-US" sz="2000" b="0" strike="noStrike" spc="-1" dirty="0" err="1">
                <a:solidFill>
                  <a:srgbClr val="000000"/>
                </a:solidFill>
                <a:latin typeface="Tahoma"/>
              </a:rPr>
              <a:t>acest</a:t>
            </a:r>
            <a:r>
              <a:rPr lang="en-US" sz="2000" b="0" strike="noStrike" spc="-1" dirty="0">
                <a:solidFill>
                  <a:srgbClr val="000000"/>
                </a:solidFill>
                <a:latin typeface="Tahoma"/>
              </a:rPr>
              <a:t> </a:t>
            </a:r>
            <a:r>
              <a:rPr lang="en-US" sz="2000" b="0" strike="noStrike" spc="-1" dirty="0" err="1">
                <a:solidFill>
                  <a:srgbClr val="000000"/>
                </a:solidFill>
                <a:latin typeface="Tahoma"/>
              </a:rPr>
              <a:t>lucru</a:t>
            </a:r>
            <a:r>
              <a:rPr lang="en-US" sz="2000" b="0" strike="noStrike" spc="-1" dirty="0">
                <a:solidFill>
                  <a:srgbClr val="000000"/>
                </a:solidFill>
                <a:latin typeface="Tahoma"/>
              </a:rPr>
              <a:t> nu </a:t>
            </a:r>
            <a:r>
              <a:rPr lang="en-US" sz="2000" b="0" strike="noStrike" spc="-1" dirty="0" err="1">
                <a:solidFill>
                  <a:srgbClr val="000000"/>
                </a:solidFill>
                <a:latin typeface="Tahoma"/>
              </a:rPr>
              <a:t>este</a:t>
            </a:r>
            <a:r>
              <a:rPr lang="en-US" sz="2000" b="0" strike="noStrike" spc="-1" dirty="0">
                <a:solidFill>
                  <a:srgbClr val="000000"/>
                </a:solidFill>
                <a:latin typeface="Tahoma"/>
              </a:rPr>
              <a:t> </a:t>
            </a:r>
            <a:r>
              <a:rPr lang="en-US" sz="2000" b="0" strike="noStrike" spc="-1" dirty="0" err="1">
                <a:solidFill>
                  <a:srgbClr val="000000"/>
                </a:solidFill>
                <a:latin typeface="Tahoma"/>
              </a:rPr>
              <a:t>impus</a:t>
            </a:r>
            <a:r>
              <a:rPr lang="en-US" sz="2000" b="0" strike="noStrike" spc="-1" dirty="0">
                <a:solidFill>
                  <a:srgbClr val="000000"/>
                </a:solidFill>
                <a:latin typeface="Tahoma"/>
              </a:rPr>
              <a:t> de </a:t>
            </a:r>
            <a:r>
              <a:rPr lang="en-US" sz="2000" b="0" strike="noStrike" spc="-1" dirty="0" err="1">
                <a:solidFill>
                  <a:srgbClr val="000000"/>
                </a:solidFill>
                <a:latin typeface="Tahoma"/>
              </a:rPr>
              <a:t>compilator</a:t>
            </a:r>
            <a:r>
              <a:rPr lang="en-US" sz="2000" b="0" strike="noStrike" spc="-1" dirty="0">
                <a:solidFill>
                  <a:srgbClr val="000000"/>
                </a:solidFill>
                <a:latin typeface="Tahoma"/>
              </a:rPr>
              <a:t>. </a:t>
            </a:r>
          </a:p>
          <a:p>
            <a:pPr marL="609480" indent="-609120">
              <a:lnSpc>
                <a:spcPct val="80000"/>
              </a:lnSpc>
              <a:spcBef>
                <a:spcPts val="400"/>
              </a:spcBef>
            </a:pPr>
            <a:r>
              <a:rPr lang="en-US" sz="2000" b="0" strike="noStrike" spc="-1" dirty="0">
                <a:solidFill>
                  <a:srgbClr val="000000"/>
                </a:solidFill>
                <a:latin typeface="Tahoma"/>
              </a:rPr>
              <a:t>		</a:t>
            </a:r>
            <a:r>
              <a:rPr lang="en-US" sz="2000" b="1" strike="noStrike" spc="-1" dirty="0">
                <a:solidFill>
                  <a:srgbClr val="000000"/>
                </a:solidFill>
                <a:latin typeface="Courier New"/>
              </a:rPr>
              <a:t>class </a:t>
            </a:r>
            <a:r>
              <a:rPr lang="en-US" sz="2000" b="1" strike="noStrike" spc="-1" dirty="0" err="1">
                <a:solidFill>
                  <a:srgbClr val="000000"/>
                </a:solidFill>
                <a:latin typeface="Courier New"/>
              </a:rPr>
              <a:t>NumeClasa</a:t>
            </a:r>
            <a:r>
              <a:rPr lang="en-US" sz="2000" b="1" strike="noStrike" spc="-1" dirty="0">
                <a:solidFill>
                  <a:srgbClr val="000000"/>
                </a:solidFill>
                <a:latin typeface="Courier New"/>
              </a:rPr>
              <a:t> {</a:t>
            </a:r>
            <a:endParaRPr lang="en-US" sz="2000" b="0" strike="noStrike" spc="-1" dirty="0">
              <a:solidFill>
                <a:srgbClr val="000000"/>
              </a:solidFill>
              <a:latin typeface="Tahoma"/>
            </a:endParaRPr>
          </a:p>
          <a:p>
            <a:pPr marL="609480" indent="-609120">
              <a:lnSpc>
                <a:spcPct val="80000"/>
              </a:lnSpc>
              <a:spcBef>
                <a:spcPts val="400"/>
              </a:spcBef>
            </a:pPr>
            <a:r>
              <a:rPr lang="en-US" sz="2000" b="1" strike="noStrike" spc="-1" dirty="0">
                <a:solidFill>
                  <a:srgbClr val="000000"/>
                </a:solidFill>
                <a:latin typeface="Courier New"/>
              </a:rPr>
              <a:t>			//</a:t>
            </a:r>
            <a:r>
              <a:rPr lang="en-US" sz="2000" b="1" strike="noStrike" spc="-1" dirty="0" err="1">
                <a:solidFill>
                  <a:srgbClr val="000000"/>
                </a:solidFill>
                <a:latin typeface="Courier New"/>
              </a:rPr>
              <a:t>declararea</a:t>
            </a:r>
            <a:r>
              <a:rPr lang="en-US" sz="2000" b="1" strike="noStrike" spc="-1" dirty="0">
                <a:solidFill>
                  <a:srgbClr val="000000"/>
                </a:solidFill>
                <a:latin typeface="Courier New"/>
              </a:rPr>
              <a:t> </a:t>
            </a:r>
            <a:r>
              <a:rPr lang="en-US" sz="2000" b="1" strike="noStrike" spc="-1" dirty="0" err="1">
                <a:solidFill>
                  <a:srgbClr val="000000"/>
                </a:solidFill>
                <a:latin typeface="Courier New"/>
              </a:rPr>
              <a:t>variabilelor</a:t>
            </a:r>
            <a:endParaRPr lang="en-US" sz="2000" b="0" strike="noStrike" spc="-1" dirty="0">
              <a:solidFill>
                <a:srgbClr val="000000"/>
              </a:solidFill>
              <a:latin typeface="Tahoma"/>
            </a:endParaRPr>
          </a:p>
          <a:p>
            <a:pPr marL="609480" indent="-609120">
              <a:lnSpc>
                <a:spcPct val="80000"/>
              </a:lnSpc>
              <a:spcBef>
                <a:spcPts val="400"/>
              </a:spcBef>
            </a:pPr>
            <a:r>
              <a:rPr lang="en-US" sz="2000" b="1" strike="noStrike" spc="-1" dirty="0">
                <a:solidFill>
                  <a:srgbClr val="000000"/>
                </a:solidFill>
                <a:latin typeface="Courier New"/>
              </a:rPr>
              <a:t>			//</a:t>
            </a:r>
            <a:r>
              <a:rPr lang="en-US" sz="2000" b="1" strike="noStrike" spc="-1" dirty="0" err="1">
                <a:solidFill>
                  <a:srgbClr val="000000"/>
                </a:solidFill>
                <a:latin typeface="Courier New"/>
              </a:rPr>
              <a:t>declararea</a:t>
            </a:r>
            <a:r>
              <a:rPr lang="en-US" sz="2000" b="1" strike="noStrike" spc="-1" dirty="0">
                <a:solidFill>
                  <a:srgbClr val="000000"/>
                </a:solidFill>
                <a:latin typeface="Courier New"/>
              </a:rPr>
              <a:t> </a:t>
            </a:r>
            <a:r>
              <a:rPr lang="en-US" sz="2000" b="1" strike="noStrike" spc="-1" dirty="0" err="1">
                <a:solidFill>
                  <a:srgbClr val="000000"/>
                </a:solidFill>
                <a:latin typeface="Courier New"/>
              </a:rPr>
              <a:t>metodelor</a:t>
            </a:r>
            <a:r>
              <a:rPr lang="en-US" sz="2000" b="1" strike="noStrike" spc="-1" dirty="0">
                <a:solidFill>
                  <a:srgbClr val="000000"/>
                </a:solidFill>
                <a:latin typeface="Courier New"/>
              </a:rPr>
              <a:t>	</a:t>
            </a:r>
            <a:endParaRPr lang="en-US" sz="2000" b="0" strike="noStrike" spc="-1" dirty="0">
              <a:solidFill>
                <a:srgbClr val="000000"/>
              </a:solidFill>
              <a:latin typeface="Tahoma"/>
            </a:endParaRPr>
          </a:p>
          <a:p>
            <a:pPr marL="609480" indent="-609120">
              <a:lnSpc>
                <a:spcPct val="80000"/>
              </a:lnSpc>
              <a:spcBef>
                <a:spcPts val="400"/>
              </a:spcBef>
            </a:pPr>
            <a:r>
              <a:rPr lang="en-US" sz="2000" b="1" strike="noStrike" spc="-1" dirty="0">
                <a:solidFill>
                  <a:srgbClr val="000000"/>
                </a:solidFill>
                <a:latin typeface="Courier New"/>
              </a:rPr>
              <a:t>		} </a:t>
            </a:r>
            <a:endParaRPr lang="en-US" sz="20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Variabilele</a:t>
            </a:r>
            <a:r>
              <a:rPr lang="en-US" sz="2000" b="0" strike="noStrike" spc="-1" dirty="0">
                <a:solidFill>
                  <a:srgbClr val="000000"/>
                </a:solidFill>
                <a:latin typeface="Tahoma"/>
              </a:rPr>
              <a:t> </a:t>
            </a:r>
            <a:r>
              <a:rPr lang="en-US" sz="2000" b="0" strike="noStrike" spc="-1" dirty="0" err="1">
                <a:solidFill>
                  <a:srgbClr val="000000"/>
                </a:solidFill>
                <a:latin typeface="Tahoma"/>
              </a:rPr>
              <a:t>unei</a:t>
            </a:r>
            <a:r>
              <a:rPr lang="en-US" sz="2000" b="0" strike="noStrike" spc="-1" dirty="0">
                <a:solidFill>
                  <a:srgbClr val="000000"/>
                </a:solidFill>
                <a:latin typeface="Tahoma"/>
              </a:rPr>
              <a:t> </a:t>
            </a:r>
            <a:r>
              <a:rPr lang="en-US" sz="2000" b="0" strike="noStrike" spc="-1" dirty="0" err="1">
                <a:solidFill>
                  <a:srgbClr val="000000"/>
                </a:solidFill>
                <a:latin typeface="Tahoma"/>
              </a:rPr>
              <a:t>clase</a:t>
            </a:r>
            <a:r>
              <a:rPr lang="en-US" sz="2000" b="0" strike="noStrike" spc="-1" dirty="0">
                <a:solidFill>
                  <a:srgbClr val="000000"/>
                </a:solidFill>
                <a:latin typeface="Tahoma"/>
              </a:rPr>
              <a:t> </a:t>
            </a:r>
            <a:r>
              <a:rPr lang="en-US" sz="2000" b="0" strike="noStrike" spc="-1" dirty="0" err="1">
                <a:solidFill>
                  <a:srgbClr val="000000"/>
                </a:solidFill>
                <a:latin typeface="Tahoma"/>
              </a:rPr>
              <a:t>sunt</a:t>
            </a:r>
            <a:r>
              <a:rPr lang="en-US" sz="2000" b="0" strike="noStrike" spc="-1" dirty="0">
                <a:solidFill>
                  <a:srgbClr val="000000"/>
                </a:solidFill>
                <a:latin typeface="Tahoma"/>
              </a:rPr>
              <a:t> </a:t>
            </a:r>
            <a:r>
              <a:rPr lang="en-US" sz="2000" b="0" strike="noStrike" spc="-1" dirty="0" err="1">
                <a:solidFill>
                  <a:srgbClr val="000000"/>
                </a:solidFill>
                <a:latin typeface="Tahoma"/>
              </a:rPr>
              <a:t>doar</a:t>
            </a:r>
            <a:r>
              <a:rPr lang="en-US" sz="2000" b="0" strike="noStrike" spc="-1" dirty="0">
                <a:solidFill>
                  <a:srgbClr val="000000"/>
                </a:solidFill>
                <a:latin typeface="Tahoma"/>
              </a:rPr>
              <a:t> </a:t>
            </a:r>
            <a:r>
              <a:rPr lang="en-US" sz="2000" b="0" strike="noStrike" spc="-1" dirty="0" err="1">
                <a:solidFill>
                  <a:srgbClr val="000000"/>
                </a:solidFill>
                <a:latin typeface="Tahoma"/>
              </a:rPr>
              <a:t>cele</a:t>
            </a:r>
            <a:r>
              <a:rPr lang="en-US" sz="2000" b="0" strike="noStrike" spc="-1" dirty="0">
                <a:solidFill>
                  <a:srgbClr val="000000"/>
                </a:solidFill>
                <a:latin typeface="Tahoma"/>
              </a:rPr>
              <a:t> care </a:t>
            </a:r>
            <a:r>
              <a:rPr lang="en-US" sz="2000" b="0" strike="noStrike" spc="-1" dirty="0" err="1">
                <a:solidFill>
                  <a:srgbClr val="000000"/>
                </a:solidFill>
                <a:latin typeface="Tahoma"/>
              </a:rPr>
              <a:t>sunt</a:t>
            </a:r>
            <a:r>
              <a:rPr lang="en-US" sz="2000" b="0" strike="noStrike" spc="-1" dirty="0">
                <a:solidFill>
                  <a:srgbClr val="000000"/>
                </a:solidFill>
                <a:latin typeface="Tahoma"/>
              </a:rPr>
              <a:t> </a:t>
            </a:r>
            <a:r>
              <a:rPr lang="en-US" sz="2000" b="0" strike="noStrike" spc="-1" dirty="0" err="1">
                <a:solidFill>
                  <a:srgbClr val="000000"/>
                </a:solidFill>
                <a:latin typeface="Tahoma"/>
              </a:rPr>
              <a:t>declarate</a:t>
            </a:r>
            <a:r>
              <a:rPr lang="en-US" sz="2000" b="0" strike="noStrike" spc="-1" dirty="0">
                <a:solidFill>
                  <a:srgbClr val="000000"/>
                </a:solidFill>
                <a:latin typeface="Tahoma"/>
              </a:rPr>
              <a:t> </a:t>
            </a:r>
            <a:r>
              <a:rPr lang="en-US" sz="2000" b="0" strike="noStrike" spc="-1" dirty="0" err="1">
                <a:solidFill>
                  <a:srgbClr val="000000"/>
                </a:solidFill>
                <a:latin typeface="Tahoma"/>
              </a:rPr>
              <a:t>în</a:t>
            </a:r>
            <a:r>
              <a:rPr lang="en-US" sz="2000" b="0" strike="noStrike" spc="-1" dirty="0">
                <a:solidFill>
                  <a:srgbClr val="000000"/>
                </a:solidFill>
                <a:latin typeface="Tahoma"/>
              </a:rPr>
              <a:t> </a:t>
            </a:r>
            <a:r>
              <a:rPr lang="en-US" sz="2000" b="0" strike="noStrike" spc="-1" dirty="0" err="1">
                <a:solidFill>
                  <a:srgbClr val="000000"/>
                </a:solidFill>
                <a:latin typeface="Tahoma"/>
              </a:rPr>
              <a:t>corpul</a:t>
            </a:r>
            <a:r>
              <a:rPr lang="en-US" sz="2000" b="0" strike="noStrike" spc="-1" dirty="0">
                <a:solidFill>
                  <a:srgbClr val="000000"/>
                </a:solidFill>
                <a:latin typeface="Tahoma"/>
              </a:rPr>
              <a:t> </a:t>
            </a:r>
            <a:r>
              <a:rPr lang="en-US" sz="2000" b="0" strike="noStrike" spc="-1" dirty="0" err="1">
                <a:solidFill>
                  <a:srgbClr val="000000"/>
                </a:solidFill>
                <a:latin typeface="Tahoma"/>
              </a:rPr>
              <a:t>clasei</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nu </a:t>
            </a:r>
            <a:r>
              <a:rPr lang="en-US" sz="2000" b="0" strike="noStrike" spc="-1" dirty="0" err="1">
                <a:solidFill>
                  <a:srgbClr val="000000"/>
                </a:solidFill>
                <a:latin typeface="Tahoma"/>
              </a:rPr>
              <a:t>în</a:t>
            </a:r>
            <a:r>
              <a:rPr lang="en-US" sz="2000" b="0" strike="noStrike" spc="-1" dirty="0">
                <a:solidFill>
                  <a:srgbClr val="000000"/>
                </a:solidFill>
                <a:latin typeface="Tahoma"/>
              </a:rPr>
              <a:t> </a:t>
            </a:r>
            <a:r>
              <a:rPr lang="en-US" sz="2000" b="0" strike="noStrike" spc="-1" dirty="0" err="1">
                <a:solidFill>
                  <a:srgbClr val="000000"/>
                </a:solidFill>
                <a:latin typeface="Tahoma"/>
              </a:rPr>
              <a:t>corpul</a:t>
            </a:r>
            <a:r>
              <a:rPr lang="en-US" sz="2000" b="0" strike="noStrike" spc="-1" dirty="0">
                <a:solidFill>
                  <a:srgbClr val="000000"/>
                </a:solidFill>
                <a:latin typeface="Tahoma"/>
              </a:rPr>
              <a:t> </a:t>
            </a:r>
            <a:r>
              <a:rPr lang="en-US" sz="2000" b="0" strike="noStrike" spc="-1" dirty="0" err="1">
                <a:solidFill>
                  <a:srgbClr val="000000"/>
                </a:solidFill>
                <a:latin typeface="Tahoma"/>
              </a:rPr>
              <a:t>unei</a:t>
            </a:r>
            <a:r>
              <a:rPr lang="en-US" sz="2000" b="0" strike="noStrike" spc="-1" dirty="0">
                <a:solidFill>
                  <a:srgbClr val="000000"/>
                </a:solidFill>
                <a:latin typeface="Tahoma"/>
              </a:rPr>
              <a:t> </a:t>
            </a:r>
            <a:r>
              <a:rPr lang="en-US" sz="2000" b="0" strike="noStrike" spc="-1" dirty="0" err="1">
                <a:solidFill>
                  <a:srgbClr val="000000"/>
                </a:solidFill>
                <a:latin typeface="Tahoma"/>
              </a:rPr>
              <a:t>metode</a:t>
            </a:r>
            <a:r>
              <a:rPr lang="en-US" sz="2000" b="0" strike="noStrike" spc="-1" dirty="0">
                <a:solidFill>
                  <a:srgbClr val="000000"/>
                </a:solidFill>
                <a:latin typeface="Tahoma"/>
              </a:rPr>
              <a:t>. </a:t>
            </a:r>
            <a:r>
              <a:rPr lang="en-US" sz="2000" b="0" strike="noStrike" spc="-1" dirty="0" err="1">
                <a:solidFill>
                  <a:srgbClr val="000000"/>
                </a:solidFill>
                <a:latin typeface="Tahoma"/>
              </a:rPr>
              <a:t>Variabilele</a:t>
            </a:r>
            <a:r>
              <a:rPr lang="en-US" sz="2000" b="0" strike="noStrike" spc="-1" dirty="0">
                <a:solidFill>
                  <a:srgbClr val="000000"/>
                </a:solidFill>
                <a:latin typeface="Tahoma"/>
              </a:rPr>
              <a:t> </a:t>
            </a:r>
            <a:r>
              <a:rPr lang="en-US" sz="2000" b="0" strike="noStrike" spc="-1" dirty="0" err="1">
                <a:solidFill>
                  <a:srgbClr val="000000"/>
                </a:solidFill>
                <a:latin typeface="Tahoma"/>
              </a:rPr>
              <a:t>declarate</a:t>
            </a:r>
            <a:r>
              <a:rPr lang="en-US" sz="2000" b="0" strike="noStrike" spc="-1" dirty="0">
                <a:solidFill>
                  <a:srgbClr val="000000"/>
                </a:solidFill>
                <a:latin typeface="Tahoma"/>
              </a:rPr>
              <a:t> </a:t>
            </a:r>
            <a:r>
              <a:rPr lang="en-US" sz="2000" b="0" strike="noStrike" spc="-1" dirty="0" err="1">
                <a:solidFill>
                  <a:srgbClr val="000000"/>
                </a:solidFill>
                <a:latin typeface="Tahoma"/>
              </a:rPr>
              <a:t>în</a:t>
            </a:r>
            <a:r>
              <a:rPr lang="en-US" sz="2000" b="0" strike="noStrike" spc="-1" dirty="0">
                <a:solidFill>
                  <a:srgbClr val="000000"/>
                </a:solidFill>
                <a:latin typeface="Tahoma"/>
              </a:rPr>
              <a:t> </a:t>
            </a:r>
            <a:r>
              <a:rPr lang="en-US" sz="2000" b="0" strike="noStrike" spc="-1" dirty="0" err="1">
                <a:solidFill>
                  <a:srgbClr val="000000"/>
                </a:solidFill>
                <a:latin typeface="Tahoma"/>
              </a:rPr>
              <a:t>cadrul</a:t>
            </a:r>
            <a:r>
              <a:rPr lang="en-US" sz="2000" b="0" strike="noStrike" spc="-1" dirty="0">
                <a:solidFill>
                  <a:srgbClr val="000000"/>
                </a:solidFill>
                <a:latin typeface="Tahoma"/>
              </a:rPr>
              <a:t> </a:t>
            </a:r>
            <a:r>
              <a:rPr lang="en-US" sz="2000" b="0" strike="noStrike" spc="-1" dirty="0" err="1">
                <a:solidFill>
                  <a:srgbClr val="000000"/>
                </a:solidFill>
                <a:latin typeface="Tahoma"/>
              </a:rPr>
              <a:t>unei</a:t>
            </a:r>
            <a:r>
              <a:rPr lang="en-US" sz="2000" b="0" strike="noStrike" spc="-1" dirty="0">
                <a:solidFill>
                  <a:srgbClr val="000000"/>
                </a:solidFill>
                <a:latin typeface="Tahoma"/>
              </a:rPr>
              <a:t> </a:t>
            </a:r>
            <a:r>
              <a:rPr lang="en-US" sz="2000" b="0" strike="noStrike" spc="-1" dirty="0" err="1">
                <a:solidFill>
                  <a:srgbClr val="000000"/>
                </a:solidFill>
                <a:latin typeface="Tahoma"/>
              </a:rPr>
              <a:t>metode</a:t>
            </a:r>
            <a:r>
              <a:rPr lang="en-US" sz="2000" b="0" strike="noStrike" spc="-1" dirty="0">
                <a:solidFill>
                  <a:srgbClr val="000000"/>
                </a:solidFill>
                <a:latin typeface="Tahoma"/>
              </a:rPr>
              <a:t> </a:t>
            </a:r>
            <a:r>
              <a:rPr lang="en-US" sz="2000" b="0" strike="noStrike" spc="-1" dirty="0" err="1">
                <a:solidFill>
                  <a:srgbClr val="000000"/>
                </a:solidFill>
                <a:latin typeface="Tahoma"/>
              </a:rPr>
              <a:t>sunt</a:t>
            </a:r>
            <a:r>
              <a:rPr lang="en-US" sz="2000" b="0" strike="noStrike" spc="-1" dirty="0">
                <a:solidFill>
                  <a:srgbClr val="000000"/>
                </a:solidFill>
                <a:latin typeface="Tahoma"/>
              </a:rPr>
              <a:t> locale </a:t>
            </a:r>
            <a:r>
              <a:rPr lang="en-US" sz="2000" b="0" strike="noStrike" spc="-1" dirty="0" err="1">
                <a:solidFill>
                  <a:srgbClr val="000000"/>
                </a:solidFill>
                <a:latin typeface="Tahoma"/>
              </a:rPr>
              <a:t>metodei</a:t>
            </a:r>
            <a:r>
              <a:rPr lang="en-US" sz="2000" b="0" strike="noStrike" spc="-1" dirty="0">
                <a:solidFill>
                  <a:srgbClr val="000000"/>
                </a:solidFill>
                <a:latin typeface="Tahoma"/>
              </a:rPr>
              <a:t> respective. </a:t>
            </a:r>
          </a:p>
          <a:p>
            <a:pPr marL="609480" indent="-6091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Declararea</a:t>
            </a:r>
            <a:r>
              <a:rPr lang="en-US" sz="2000" b="0" strike="noStrike" spc="-1" dirty="0">
                <a:solidFill>
                  <a:srgbClr val="000000"/>
                </a:solidFill>
                <a:latin typeface="Tahoma"/>
              </a:rPr>
              <a:t> </a:t>
            </a:r>
            <a:r>
              <a:rPr lang="en-US" sz="2000" b="0" strike="noStrike" spc="-1" dirty="0" err="1">
                <a:solidFill>
                  <a:srgbClr val="000000"/>
                </a:solidFill>
                <a:latin typeface="Tahoma"/>
              </a:rPr>
              <a:t>unei</a:t>
            </a:r>
            <a:r>
              <a:rPr lang="en-US" sz="2000" b="0" strike="noStrike" spc="-1" dirty="0">
                <a:solidFill>
                  <a:srgbClr val="000000"/>
                </a:solidFill>
                <a:latin typeface="Tahoma"/>
              </a:rPr>
              <a:t> </a:t>
            </a:r>
            <a:r>
              <a:rPr lang="en-US" sz="2000" b="0" strike="noStrike" spc="-1" dirty="0" err="1">
                <a:solidFill>
                  <a:srgbClr val="000000"/>
                </a:solidFill>
                <a:latin typeface="Tahoma"/>
              </a:rPr>
              <a:t>variabile</a:t>
            </a:r>
            <a:r>
              <a:rPr lang="en-US" sz="2000" b="0" strike="noStrike" spc="-1" dirty="0">
                <a:solidFill>
                  <a:srgbClr val="000000"/>
                </a:solidFill>
                <a:latin typeface="Tahoma"/>
              </a:rPr>
              <a:t> </a:t>
            </a:r>
            <a:r>
              <a:rPr lang="en-US" sz="2000" b="0" strike="noStrike" spc="-1" dirty="0" err="1">
                <a:solidFill>
                  <a:srgbClr val="000000"/>
                </a:solidFill>
                <a:latin typeface="Tahoma"/>
              </a:rPr>
              <a:t>presupune</a:t>
            </a:r>
            <a:r>
              <a:rPr lang="en-US" sz="2000" b="0" strike="noStrike" spc="-1" dirty="0">
                <a:solidFill>
                  <a:srgbClr val="000000"/>
                </a:solidFill>
                <a:latin typeface="Tahoma"/>
              </a:rPr>
              <a:t> </a:t>
            </a:r>
            <a:r>
              <a:rPr lang="en-US" sz="2000" b="0" strike="noStrike" spc="-1" dirty="0" err="1">
                <a:solidFill>
                  <a:srgbClr val="000000"/>
                </a:solidFill>
                <a:latin typeface="Tahoma"/>
              </a:rPr>
              <a:t>specificarea</a:t>
            </a:r>
            <a:r>
              <a:rPr lang="en-US" sz="2000" b="0" strike="noStrike" spc="-1" dirty="0">
                <a:solidFill>
                  <a:srgbClr val="000000"/>
                </a:solidFill>
                <a:latin typeface="Tahoma"/>
              </a:rPr>
              <a:t> </a:t>
            </a:r>
            <a:r>
              <a:rPr lang="en-US" sz="2000" b="0" strike="noStrike" spc="-1" dirty="0" err="1">
                <a:solidFill>
                  <a:srgbClr val="000000"/>
                </a:solidFill>
                <a:latin typeface="Tahoma"/>
              </a:rPr>
              <a:t>următoarelor</a:t>
            </a:r>
            <a:r>
              <a:rPr lang="en-US" sz="2000" b="0" strike="noStrike" spc="-1" dirty="0">
                <a:solidFill>
                  <a:srgbClr val="000000"/>
                </a:solidFill>
                <a:latin typeface="Tahoma"/>
              </a:rPr>
              <a:t> </a:t>
            </a:r>
            <a:r>
              <a:rPr lang="en-US" sz="2000" b="0" strike="noStrike" spc="-1" dirty="0" err="1">
                <a:solidFill>
                  <a:srgbClr val="000000"/>
                </a:solidFill>
                <a:latin typeface="Tahoma"/>
              </a:rPr>
              <a:t>lucruri</a:t>
            </a:r>
            <a:r>
              <a:rPr lang="en-US" sz="2000" b="0" strike="noStrike" spc="-1" dirty="0">
                <a:solidFill>
                  <a:srgbClr val="000000"/>
                </a:solidFill>
                <a:latin typeface="Tahoma"/>
              </a:rPr>
              <a:t>: </a:t>
            </a:r>
          </a:p>
          <a:p>
            <a:pPr marL="609480" indent="-609120">
              <a:lnSpc>
                <a:spcPct val="80000"/>
              </a:lnSpc>
              <a:spcBef>
                <a:spcPts val="400"/>
              </a:spcBef>
            </a:pPr>
            <a:r>
              <a:rPr lang="en-US" sz="2000" b="0" strike="noStrike" spc="-1" dirty="0">
                <a:solidFill>
                  <a:srgbClr val="000000"/>
                </a:solidFill>
                <a:latin typeface="Tahoma"/>
              </a:rPr>
              <a:t>	-</a:t>
            </a:r>
            <a:r>
              <a:rPr lang="en-US" sz="2000" b="0" strike="noStrike" spc="-1" dirty="0" err="1">
                <a:solidFill>
                  <a:srgbClr val="000000"/>
                </a:solidFill>
                <a:latin typeface="Tahoma"/>
              </a:rPr>
              <a:t>numele</a:t>
            </a:r>
            <a:r>
              <a:rPr lang="en-US" sz="2000" b="0" strike="noStrike" spc="-1" dirty="0">
                <a:solidFill>
                  <a:srgbClr val="000000"/>
                </a:solidFill>
                <a:latin typeface="Tahoma"/>
              </a:rPr>
              <a:t> </a:t>
            </a:r>
            <a:r>
              <a:rPr lang="en-US" sz="2000" b="0" strike="noStrike" spc="-1" dirty="0" err="1">
                <a:solidFill>
                  <a:srgbClr val="000000"/>
                </a:solidFill>
                <a:latin typeface="Tahoma"/>
              </a:rPr>
              <a:t>variabilei</a:t>
            </a:r>
            <a:r>
              <a:rPr lang="en-US" sz="2000" b="0" strike="noStrike" spc="-1" dirty="0">
                <a:solidFill>
                  <a:srgbClr val="000000"/>
                </a:solidFill>
                <a:latin typeface="Tahoma"/>
              </a:rPr>
              <a:t>;</a:t>
            </a:r>
          </a:p>
          <a:p>
            <a:pPr marL="609480" indent="-609120">
              <a:lnSpc>
                <a:spcPct val="80000"/>
              </a:lnSpc>
              <a:spcBef>
                <a:spcPts val="400"/>
              </a:spcBef>
            </a:pPr>
            <a:r>
              <a:rPr lang="en-US" sz="2000" b="0" strike="noStrike" spc="-1" dirty="0">
                <a:solidFill>
                  <a:srgbClr val="000000"/>
                </a:solidFill>
                <a:latin typeface="Tahoma"/>
              </a:rPr>
              <a:t>	-</a:t>
            </a:r>
            <a:r>
              <a:rPr lang="en-US" sz="2000" b="0" strike="noStrike" spc="-1" dirty="0" err="1">
                <a:solidFill>
                  <a:srgbClr val="000000"/>
                </a:solidFill>
                <a:latin typeface="Tahoma"/>
              </a:rPr>
              <a:t>tipul</a:t>
            </a:r>
            <a:r>
              <a:rPr lang="en-US" sz="2000" b="0" strike="noStrike" spc="-1" dirty="0">
                <a:solidFill>
                  <a:srgbClr val="000000"/>
                </a:solidFill>
                <a:latin typeface="Tahoma"/>
              </a:rPr>
              <a:t> de date; </a:t>
            </a:r>
          </a:p>
          <a:p>
            <a:pPr marL="609480" indent="-609120">
              <a:lnSpc>
                <a:spcPct val="80000"/>
              </a:lnSpc>
              <a:spcBef>
                <a:spcPts val="400"/>
              </a:spcBef>
            </a:pPr>
            <a:r>
              <a:rPr lang="en-US" sz="2000" b="0" strike="noStrike" spc="-1" dirty="0">
                <a:solidFill>
                  <a:srgbClr val="000000"/>
                </a:solidFill>
                <a:latin typeface="Tahoma"/>
              </a:rPr>
              <a:t>	-</a:t>
            </a:r>
            <a:r>
              <a:rPr lang="en-US" sz="2000" b="0" strike="noStrike" spc="-1" dirty="0" err="1">
                <a:solidFill>
                  <a:srgbClr val="000000"/>
                </a:solidFill>
                <a:latin typeface="Tahoma"/>
              </a:rPr>
              <a:t>nivelul</a:t>
            </a:r>
            <a:r>
              <a:rPr lang="en-US" sz="2000" b="0" strike="noStrike" spc="-1" dirty="0">
                <a:solidFill>
                  <a:srgbClr val="000000"/>
                </a:solidFill>
                <a:latin typeface="Tahoma"/>
              </a:rPr>
              <a:t> de </a:t>
            </a:r>
            <a:r>
              <a:rPr lang="en-US" sz="2000" b="0" strike="noStrike" spc="-1" dirty="0" err="1">
                <a:solidFill>
                  <a:srgbClr val="000000"/>
                </a:solidFill>
                <a:latin typeface="Tahoma"/>
              </a:rPr>
              <a:t>acces</a:t>
            </a:r>
            <a:r>
              <a:rPr lang="en-US" sz="2000" b="0" strike="noStrike" spc="-1" dirty="0">
                <a:solidFill>
                  <a:srgbClr val="000000"/>
                </a:solidFill>
                <a:latin typeface="Tahoma"/>
              </a:rPr>
              <a:t> la </a:t>
            </a:r>
            <a:r>
              <a:rPr lang="en-US" sz="2000" b="0" strike="noStrike" spc="-1" dirty="0" err="1">
                <a:solidFill>
                  <a:srgbClr val="000000"/>
                </a:solidFill>
                <a:latin typeface="Tahoma"/>
              </a:rPr>
              <a:t>acea</a:t>
            </a:r>
            <a:r>
              <a:rPr lang="en-US" sz="2000" b="0" strike="noStrike" spc="-1" dirty="0">
                <a:solidFill>
                  <a:srgbClr val="000000"/>
                </a:solidFill>
                <a:latin typeface="Tahoma"/>
              </a:rPr>
              <a:t> </a:t>
            </a:r>
            <a:r>
              <a:rPr lang="en-US" sz="2000" b="0" strike="noStrike" spc="-1" dirty="0" err="1">
                <a:solidFill>
                  <a:srgbClr val="000000"/>
                </a:solidFill>
                <a:latin typeface="Tahoma"/>
              </a:rPr>
              <a:t>variabilă</a:t>
            </a:r>
            <a:r>
              <a:rPr lang="en-US" sz="2000" b="0" strike="noStrike" spc="-1" dirty="0">
                <a:solidFill>
                  <a:srgbClr val="000000"/>
                </a:solidFill>
                <a:latin typeface="Tahoma"/>
              </a:rPr>
              <a:t> de </a:t>
            </a:r>
            <a:r>
              <a:rPr lang="en-US" sz="2000" b="0" strike="noStrike" spc="-1" dirty="0" err="1">
                <a:solidFill>
                  <a:srgbClr val="000000"/>
                </a:solidFill>
                <a:latin typeface="Tahoma"/>
              </a:rPr>
              <a:t>către</a:t>
            </a:r>
            <a:r>
              <a:rPr lang="en-US" sz="2000" b="0" strike="noStrike" spc="-1" dirty="0">
                <a:solidFill>
                  <a:srgbClr val="000000"/>
                </a:solidFill>
                <a:latin typeface="Tahoma"/>
              </a:rPr>
              <a:t> </a:t>
            </a:r>
            <a:r>
              <a:rPr lang="en-US" sz="2000" b="0" strike="noStrike" spc="-1" dirty="0" err="1">
                <a:solidFill>
                  <a:srgbClr val="000000"/>
                </a:solidFill>
                <a:latin typeface="Tahoma"/>
              </a:rPr>
              <a:t>alte</a:t>
            </a:r>
            <a:r>
              <a:rPr lang="en-US" sz="2000" b="0" strike="noStrike" spc="-1" dirty="0">
                <a:solidFill>
                  <a:srgbClr val="000000"/>
                </a:solidFill>
                <a:latin typeface="Tahoma"/>
              </a:rPr>
              <a:t> </a:t>
            </a:r>
            <a:r>
              <a:rPr lang="en-US" sz="2000" b="0" strike="noStrike" spc="-1" dirty="0" err="1">
                <a:solidFill>
                  <a:srgbClr val="000000"/>
                </a:solidFill>
                <a:latin typeface="Tahoma"/>
              </a:rPr>
              <a:t>clase</a:t>
            </a:r>
            <a:r>
              <a:rPr lang="en-US" sz="2000" b="0" strike="noStrike" spc="-1" dirty="0">
                <a:solidFill>
                  <a:srgbClr val="000000"/>
                </a:solidFill>
                <a:latin typeface="Tahoma"/>
              </a:rPr>
              <a:t>; </a:t>
            </a:r>
          </a:p>
          <a:p>
            <a:pPr marL="609480" indent="-609120">
              <a:lnSpc>
                <a:spcPct val="80000"/>
              </a:lnSpc>
              <a:spcBef>
                <a:spcPts val="400"/>
              </a:spcBef>
            </a:pPr>
            <a:r>
              <a:rPr lang="en-US" sz="2000" b="0" strike="noStrike" spc="-1" dirty="0">
                <a:solidFill>
                  <a:srgbClr val="000000"/>
                </a:solidFill>
                <a:latin typeface="Tahoma"/>
              </a:rPr>
              <a:t>	-</a:t>
            </a:r>
            <a:r>
              <a:rPr lang="en-US" sz="2000" b="0" strike="noStrike" spc="-1" dirty="0" err="1">
                <a:solidFill>
                  <a:srgbClr val="000000"/>
                </a:solidFill>
                <a:latin typeface="Tahoma"/>
              </a:rPr>
              <a:t>dacă</a:t>
            </a:r>
            <a:r>
              <a:rPr lang="en-US" sz="2000" b="0" strike="noStrike" spc="-1" dirty="0">
                <a:solidFill>
                  <a:srgbClr val="000000"/>
                </a:solidFill>
                <a:latin typeface="Tahoma"/>
              </a:rPr>
              <a:t> </a:t>
            </a:r>
            <a:r>
              <a:rPr lang="en-US" sz="2000" b="0" strike="noStrike" spc="-1" dirty="0" err="1">
                <a:solidFill>
                  <a:srgbClr val="000000"/>
                </a:solidFill>
                <a:latin typeface="Tahoma"/>
              </a:rPr>
              <a:t>este</a:t>
            </a:r>
            <a:r>
              <a:rPr lang="en-US" sz="2000" b="0" strike="noStrike" spc="-1" dirty="0">
                <a:solidFill>
                  <a:srgbClr val="000000"/>
                </a:solidFill>
                <a:latin typeface="Tahoma"/>
              </a:rPr>
              <a:t> </a:t>
            </a:r>
            <a:r>
              <a:rPr lang="en-US" sz="2000" b="0" strike="noStrike" spc="-1" dirty="0" err="1">
                <a:solidFill>
                  <a:srgbClr val="000000"/>
                </a:solidFill>
                <a:latin typeface="Tahoma"/>
              </a:rPr>
              <a:t>constantă</a:t>
            </a:r>
            <a:r>
              <a:rPr lang="en-US" sz="2000" b="0" strike="noStrike" spc="-1" dirty="0">
                <a:solidFill>
                  <a:srgbClr val="000000"/>
                </a:solidFill>
                <a:latin typeface="Tahoma"/>
              </a:rPr>
              <a:t> </a:t>
            </a:r>
            <a:r>
              <a:rPr lang="en-US" sz="2000" b="0" strike="noStrike" spc="-1" dirty="0" err="1">
                <a:solidFill>
                  <a:srgbClr val="000000"/>
                </a:solidFill>
                <a:latin typeface="Tahoma"/>
              </a:rPr>
              <a:t>sau</a:t>
            </a:r>
            <a:r>
              <a:rPr lang="en-US" sz="2000" b="0" strike="noStrike" spc="-1" dirty="0">
                <a:solidFill>
                  <a:srgbClr val="000000"/>
                </a:solidFill>
                <a:latin typeface="Tahoma"/>
              </a:rPr>
              <a:t> nu; </a:t>
            </a:r>
          </a:p>
          <a:p>
            <a:pPr marL="609480" indent="-609120">
              <a:lnSpc>
                <a:spcPct val="80000"/>
              </a:lnSpc>
              <a:spcBef>
                <a:spcPts val="400"/>
              </a:spcBef>
            </a:pPr>
            <a:r>
              <a:rPr lang="en-US" sz="2000" b="0" strike="noStrike" spc="-1" dirty="0">
                <a:solidFill>
                  <a:srgbClr val="000000"/>
                </a:solidFill>
                <a:latin typeface="Tahoma"/>
              </a:rPr>
              <a:t>	-</a:t>
            </a:r>
            <a:r>
              <a:rPr lang="en-US" sz="2000" b="0" strike="noStrike" spc="-1" dirty="0" err="1">
                <a:solidFill>
                  <a:srgbClr val="000000"/>
                </a:solidFill>
                <a:latin typeface="Tahoma"/>
              </a:rPr>
              <a:t>tipul</a:t>
            </a:r>
            <a:r>
              <a:rPr lang="en-US" sz="2000" b="0" strike="noStrike" spc="-1" dirty="0">
                <a:solidFill>
                  <a:srgbClr val="000000"/>
                </a:solidFill>
                <a:latin typeface="Tahoma"/>
              </a:rPr>
              <a:t> </a:t>
            </a:r>
            <a:r>
              <a:rPr lang="en-US" sz="2000" b="0" strike="noStrike" spc="-1" dirty="0" err="1">
                <a:solidFill>
                  <a:srgbClr val="000000"/>
                </a:solidFill>
                <a:latin typeface="Tahoma"/>
              </a:rPr>
              <a:t>variabilei</a:t>
            </a:r>
            <a:r>
              <a:rPr lang="en-US" sz="2000" b="0" strike="noStrike" spc="-1" dirty="0">
                <a:solidFill>
                  <a:srgbClr val="000000"/>
                </a:solidFill>
                <a:latin typeface="Tahoma"/>
              </a:rPr>
              <a:t>: </a:t>
            </a:r>
            <a:r>
              <a:rPr lang="en-US" sz="2000" b="0" strike="noStrike" spc="-1" dirty="0" err="1">
                <a:solidFill>
                  <a:srgbClr val="000000"/>
                </a:solidFill>
                <a:latin typeface="Tahoma"/>
              </a:rPr>
              <a:t>instanţă</a:t>
            </a:r>
            <a:r>
              <a:rPr lang="en-US" sz="2000" b="0" strike="noStrike" spc="-1" dirty="0">
                <a:solidFill>
                  <a:srgbClr val="000000"/>
                </a:solidFill>
                <a:latin typeface="Tahoma"/>
              </a:rPr>
              <a:t> </a:t>
            </a:r>
            <a:r>
              <a:rPr lang="en-US" sz="2000" b="0" strike="noStrike" spc="-1" dirty="0" err="1">
                <a:solidFill>
                  <a:srgbClr val="000000"/>
                </a:solidFill>
                <a:latin typeface="Tahoma"/>
              </a:rPr>
              <a:t>sau</a:t>
            </a:r>
            <a:r>
              <a:rPr lang="en-US" sz="2000" b="0" strike="noStrike" spc="-1" dirty="0">
                <a:solidFill>
                  <a:srgbClr val="000000"/>
                </a:solidFill>
                <a:latin typeface="Tahoma"/>
              </a:rPr>
              <a:t> </a:t>
            </a:r>
            <a:r>
              <a:rPr lang="en-US" sz="2000" b="0" strike="noStrike" spc="-1" dirty="0" err="1">
                <a:solidFill>
                  <a:srgbClr val="000000"/>
                </a:solidFill>
                <a:latin typeface="Tahoma"/>
              </a:rPr>
              <a:t>clasă</a:t>
            </a:r>
            <a:r>
              <a:rPr lang="en-US" sz="1600" b="0" strike="noStrike" spc="-1" dirty="0">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6D138BAD-3676-428E-88AA-B4D199803DD6}" type="slidenum">
              <a:rPr lang="en-US" sz="1400" b="0" strike="noStrike" spc="-1">
                <a:solidFill>
                  <a:srgbClr val="5E574E"/>
                </a:solidFill>
                <a:latin typeface="Arial"/>
              </a:rPr>
              <a:t>44</a:t>
            </a:fld>
            <a:endParaRPr lang="en-US" sz="1400" b="0" strike="noStrike" spc="-1">
              <a:latin typeface="Times New Roman"/>
            </a:endParaRPr>
          </a:p>
        </p:txBody>
      </p:sp>
      <p:sp>
        <p:nvSpPr>
          <p:cNvPr id="463" name="TextShape 5"/>
          <p:cNvSpPr txBox="1"/>
          <p:nvPr/>
        </p:nvSpPr>
        <p:spPr>
          <a:xfrm>
            <a:off x="416983" y="1695780"/>
            <a:ext cx="8859600" cy="4762080"/>
          </a:xfrm>
          <a:prstGeom prst="rect">
            <a:avLst/>
          </a:prstGeom>
          <a:noFill/>
          <a:ln>
            <a:noFill/>
          </a:ln>
        </p:spPr>
        <p:txBody>
          <a:bodyPr>
            <a:noAutofit/>
          </a:bodyPr>
          <a:lstStyle/>
          <a:p>
            <a:pPr marL="343080" indent="-342720">
              <a:lnSpc>
                <a:spcPct val="80000"/>
              </a:lnSpc>
              <a:spcBef>
                <a:spcPts val="561"/>
              </a:spcBef>
              <a:buClr>
                <a:srgbClr val="FFCC00"/>
              </a:buClr>
              <a:buFont typeface="Monotype Sorts" charset="2"/>
              <a:buChar char=""/>
            </a:pPr>
            <a:r>
              <a:rPr lang="en-US" sz="2800" b="0" strike="noStrike" spc="-1" dirty="0" err="1">
                <a:solidFill>
                  <a:srgbClr val="000000"/>
                </a:solidFill>
                <a:latin typeface="Tahoma"/>
              </a:rPr>
              <a:t>Tiparul</a:t>
            </a:r>
            <a:r>
              <a:rPr lang="en-US" sz="2800" b="0" strike="noStrike" spc="-1" dirty="0">
                <a:solidFill>
                  <a:srgbClr val="000000"/>
                </a:solidFill>
                <a:latin typeface="Tahoma"/>
              </a:rPr>
              <a:t> </a:t>
            </a:r>
            <a:r>
              <a:rPr lang="en-US" sz="2800" b="0" strike="noStrike" spc="-1" dirty="0" err="1">
                <a:solidFill>
                  <a:srgbClr val="000000"/>
                </a:solidFill>
                <a:latin typeface="Tahoma"/>
              </a:rPr>
              <a:t>declarării</a:t>
            </a:r>
            <a:r>
              <a:rPr lang="en-US" sz="2800" b="0" strike="noStrike" spc="-1" dirty="0">
                <a:solidFill>
                  <a:srgbClr val="000000"/>
                </a:solidFill>
                <a:latin typeface="Tahoma"/>
              </a:rPr>
              <a:t> </a:t>
            </a:r>
            <a:r>
              <a:rPr lang="en-US" sz="2800" b="0" strike="noStrike" spc="-1" dirty="0" err="1">
                <a:solidFill>
                  <a:srgbClr val="000000"/>
                </a:solidFill>
                <a:latin typeface="Tahoma"/>
              </a:rPr>
              <a:t>unei</a:t>
            </a:r>
            <a:r>
              <a:rPr lang="en-US" sz="2800" b="0" strike="noStrike" spc="-1" dirty="0">
                <a:solidFill>
                  <a:srgbClr val="000000"/>
                </a:solidFill>
                <a:latin typeface="Tahoma"/>
              </a:rPr>
              <a:t> </a:t>
            </a:r>
            <a:r>
              <a:rPr lang="en-US" sz="2800" b="0" strike="noStrike" spc="-1" dirty="0" err="1">
                <a:solidFill>
                  <a:srgbClr val="000000"/>
                </a:solidFill>
                <a:latin typeface="Tahoma"/>
              </a:rPr>
              <a:t>variabile</a:t>
            </a:r>
            <a:r>
              <a:rPr lang="en-US" sz="2800" b="0" strike="noStrike" spc="-1" dirty="0">
                <a:solidFill>
                  <a:srgbClr val="000000"/>
                </a:solidFill>
                <a:latin typeface="Tahoma"/>
              </a:rPr>
              <a:t> </a:t>
            </a:r>
            <a:r>
              <a:rPr lang="en-US" sz="2800" b="0" strike="noStrike" spc="-1" dirty="0" err="1">
                <a:solidFill>
                  <a:srgbClr val="000000"/>
                </a:solidFill>
                <a:latin typeface="Tahoma"/>
              </a:rPr>
              <a:t>este</a:t>
            </a:r>
            <a:r>
              <a:rPr lang="en-US" sz="2800" b="0" strike="noStrike" spc="-1" dirty="0">
                <a:solidFill>
                  <a:srgbClr val="000000"/>
                </a:solidFill>
                <a:latin typeface="Tahoma"/>
              </a:rPr>
              <a:t>: </a:t>
            </a:r>
          </a:p>
          <a:p>
            <a:pPr marL="343080" indent="-342720">
              <a:lnSpc>
                <a:spcPct val="80000"/>
              </a:lnSpc>
              <a:spcBef>
                <a:spcPts val="320"/>
              </a:spcBef>
            </a:pPr>
            <a:r>
              <a:rPr lang="en-US" sz="1600" b="1" strike="noStrike" spc="-1" dirty="0">
                <a:solidFill>
                  <a:srgbClr val="000000"/>
                </a:solidFill>
                <a:latin typeface="Courier New"/>
              </a:rPr>
              <a:t>	[</a:t>
            </a:r>
            <a:r>
              <a:rPr lang="en-US" sz="1600" b="1" strike="noStrike" spc="-1" dirty="0" err="1">
                <a:solidFill>
                  <a:srgbClr val="000000"/>
                </a:solidFill>
                <a:latin typeface="Courier New"/>
              </a:rPr>
              <a:t>modificatori</a:t>
            </a:r>
            <a:r>
              <a:rPr lang="en-US" sz="1600" b="1" strike="noStrike" spc="-1" dirty="0">
                <a:solidFill>
                  <a:srgbClr val="000000"/>
                </a:solidFill>
                <a:latin typeface="Courier New"/>
              </a:rPr>
              <a:t>] </a:t>
            </a:r>
            <a:r>
              <a:rPr lang="en-US" sz="1600" b="1" strike="noStrike" spc="-1" dirty="0" err="1">
                <a:solidFill>
                  <a:srgbClr val="000000"/>
                </a:solidFill>
                <a:latin typeface="Courier New"/>
              </a:rPr>
              <a:t>TipDeDate</a:t>
            </a:r>
            <a:r>
              <a:rPr lang="en-US" sz="1600" b="1" strike="noStrike" spc="-1" dirty="0">
                <a:solidFill>
                  <a:srgbClr val="000000"/>
                </a:solidFill>
                <a:latin typeface="Courier New"/>
              </a:rPr>
              <a:t> </a:t>
            </a:r>
            <a:r>
              <a:rPr lang="en-US" sz="1600" b="1" strike="noStrike" spc="-1" dirty="0" err="1">
                <a:solidFill>
                  <a:srgbClr val="000000"/>
                </a:solidFill>
                <a:latin typeface="Courier New"/>
              </a:rPr>
              <a:t>numeVariabila</a:t>
            </a:r>
            <a:r>
              <a:rPr lang="en-US" sz="1600" b="1" strike="noStrike" spc="-1" dirty="0">
                <a:solidFill>
                  <a:srgbClr val="000000"/>
                </a:solidFill>
                <a:latin typeface="Courier New"/>
              </a:rPr>
              <a:t> [= </a:t>
            </a:r>
            <a:r>
              <a:rPr lang="en-US" sz="1600" b="1" strike="noStrike" spc="-1" dirty="0" err="1">
                <a:solidFill>
                  <a:srgbClr val="000000"/>
                </a:solidFill>
                <a:latin typeface="Courier New"/>
              </a:rPr>
              <a:t>valoareInitiala</a:t>
            </a:r>
            <a:r>
              <a:rPr lang="en-US" sz="1600" b="1" strike="noStrike" spc="-1" dirty="0">
                <a:solidFill>
                  <a:srgbClr val="000000"/>
                </a:solidFill>
                <a:latin typeface="Courier New"/>
              </a:rPr>
              <a:t>];</a:t>
            </a:r>
            <a:endParaRPr lang="en-US" sz="1600" b="0" strike="noStrike" spc="-1" dirty="0">
              <a:solidFill>
                <a:srgbClr val="000000"/>
              </a:solidFill>
              <a:latin typeface="Tahoma"/>
            </a:endParaRPr>
          </a:p>
          <a:p>
            <a:pPr marL="343080" indent="-342720">
              <a:lnSpc>
                <a:spcPct val="80000"/>
              </a:lnSpc>
              <a:spcBef>
                <a:spcPts val="561"/>
              </a:spcBef>
              <a:buClr>
                <a:srgbClr val="FFCC00"/>
              </a:buClr>
              <a:buFont typeface="Monotype Sorts" charset="2"/>
              <a:buChar char=""/>
            </a:pPr>
            <a:r>
              <a:rPr lang="en-US" sz="2800" b="0" strike="noStrike" spc="-1" dirty="0" err="1">
                <a:solidFill>
                  <a:srgbClr val="000000"/>
                </a:solidFill>
                <a:latin typeface="Tahoma"/>
              </a:rPr>
              <a:t>unde</a:t>
            </a:r>
            <a:r>
              <a:rPr lang="en-US" sz="2800" b="0" strike="noStrike" spc="-1" dirty="0">
                <a:solidFill>
                  <a:srgbClr val="000000"/>
                </a:solidFill>
                <a:latin typeface="Tahoma"/>
              </a:rPr>
              <a:t> un </a:t>
            </a:r>
            <a:r>
              <a:rPr lang="en-US" sz="2800" b="0" strike="noStrike" spc="-1" dirty="0" err="1">
                <a:solidFill>
                  <a:srgbClr val="000000"/>
                </a:solidFill>
                <a:latin typeface="Tahoma"/>
              </a:rPr>
              <a:t>modificator</a:t>
            </a:r>
            <a:r>
              <a:rPr lang="en-US" sz="2800" b="0" strike="noStrike" spc="-1" dirty="0">
                <a:solidFill>
                  <a:srgbClr val="000000"/>
                </a:solidFill>
                <a:latin typeface="Tahoma"/>
              </a:rPr>
              <a:t> </a:t>
            </a:r>
            <a:r>
              <a:rPr lang="en-US" sz="2800" b="0" strike="noStrike" spc="-1" dirty="0" err="1">
                <a:solidFill>
                  <a:srgbClr val="000000"/>
                </a:solidFill>
                <a:latin typeface="Tahoma"/>
              </a:rPr>
              <a:t>poate</a:t>
            </a:r>
            <a:r>
              <a:rPr lang="en-US" sz="2800" b="0" strike="noStrike" spc="-1" dirty="0">
                <a:solidFill>
                  <a:srgbClr val="000000"/>
                </a:solidFill>
                <a:latin typeface="Tahoma"/>
              </a:rPr>
              <a:t> fi : </a:t>
            </a:r>
          </a:p>
          <a:p>
            <a:pPr marL="743040" lvl="1" indent="-285480">
              <a:lnSpc>
                <a:spcPct val="80000"/>
              </a:lnSpc>
              <a:spcBef>
                <a:spcPts val="479"/>
              </a:spcBef>
              <a:buClr>
                <a:srgbClr val="FFCC00"/>
              </a:buClr>
              <a:buFont typeface="Monotype Sorts" charset="2"/>
              <a:buChar char=""/>
            </a:pPr>
            <a:r>
              <a:rPr lang="en-US" sz="2400" b="0" strike="noStrike" spc="-1" dirty="0">
                <a:solidFill>
                  <a:srgbClr val="000000"/>
                </a:solidFill>
                <a:latin typeface="Tahoma"/>
              </a:rPr>
              <a:t>un </a:t>
            </a:r>
            <a:r>
              <a:rPr lang="en-US" sz="2400" b="0" strike="noStrike" spc="-1" dirty="0" err="1">
                <a:solidFill>
                  <a:srgbClr val="000000"/>
                </a:solidFill>
                <a:latin typeface="Tahoma"/>
              </a:rPr>
              <a:t>specificator</a:t>
            </a:r>
            <a:r>
              <a:rPr lang="en-US" sz="2400" b="0" strike="noStrike" spc="-1" dirty="0">
                <a:solidFill>
                  <a:srgbClr val="000000"/>
                </a:solidFill>
                <a:latin typeface="Tahoma"/>
              </a:rPr>
              <a:t> de </a:t>
            </a:r>
            <a:r>
              <a:rPr lang="en-US" sz="2400" b="0" strike="noStrike" spc="-1" dirty="0" err="1">
                <a:solidFill>
                  <a:srgbClr val="000000"/>
                </a:solidFill>
                <a:latin typeface="Tahoma"/>
              </a:rPr>
              <a:t>acces</a:t>
            </a:r>
            <a:r>
              <a:rPr lang="en-US" sz="2400" b="0" strike="noStrike" spc="-1" dirty="0">
                <a:solidFill>
                  <a:srgbClr val="000000"/>
                </a:solidFill>
                <a:latin typeface="Tahoma"/>
              </a:rPr>
              <a:t>: </a:t>
            </a:r>
            <a:r>
              <a:rPr lang="en-US" sz="2400" b="1" strike="noStrike" spc="-1" dirty="0">
                <a:solidFill>
                  <a:srgbClr val="008000"/>
                </a:solidFill>
                <a:latin typeface="Tahoma"/>
              </a:rPr>
              <a:t>public</a:t>
            </a:r>
            <a:r>
              <a:rPr lang="en-US" sz="2400" b="0" strike="noStrike" spc="-1" dirty="0">
                <a:solidFill>
                  <a:srgbClr val="000000"/>
                </a:solidFill>
                <a:latin typeface="Tahoma"/>
              </a:rPr>
              <a:t>, </a:t>
            </a:r>
            <a:r>
              <a:rPr lang="en-US" sz="2400" b="1" strike="noStrike" spc="-1" dirty="0">
                <a:solidFill>
                  <a:srgbClr val="008000"/>
                </a:solidFill>
                <a:latin typeface="Tahoma"/>
              </a:rPr>
              <a:t>protected</a:t>
            </a:r>
            <a:r>
              <a:rPr lang="en-US" sz="2400" b="0" strike="noStrike" spc="-1" dirty="0">
                <a:solidFill>
                  <a:srgbClr val="000000"/>
                </a:solidFill>
                <a:latin typeface="Tahoma"/>
              </a:rPr>
              <a:t>, </a:t>
            </a:r>
            <a:r>
              <a:rPr lang="en-US" sz="2400" b="1" strike="noStrike" spc="-1" dirty="0">
                <a:solidFill>
                  <a:srgbClr val="008000"/>
                </a:solidFill>
                <a:latin typeface="Tahoma"/>
              </a:rPr>
              <a:t>private</a:t>
            </a:r>
            <a:r>
              <a:rPr lang="en-US" sz="2400" b="0" strike="noStrike" spc="-1" dirty="0">
                <a:solidFill>
                  <a:srgbClr val="000000"/>
                </a:solidFill>
                <a:latin typeface="Tahoma"/>
              </a:rPr>
              <a:t>;  </a:t>
            </a:r>
          </a:p>
          <a:p>
            <a:pPr marL="743040" lvl="1" indent="-285480">
              <a:lnSpc>
                <a:spcPct val="80000"/>
              </a:lnSpc>
              <a:spcBef>
                <a:spcPts val="479"/>
              </a:spcBef>
              <a:buClr>
                <a:srgbClr val="FFCC00"/>
              </a:buClr>
              <a:buFont typeface="Monotype Sorts" charset="2"/>
              <a:buChar char=""/>
            </a:pPr>
            <a:r>
              <a:rPr lang="en-US" sz="2400" b="0" strike="noStrike" spc="-1" dirty="0" err="1">
                <a:solidFill>
                  <a:srgbClr val="000000"/>
                </a:solidFill>
                <a:latin typeface="Tahoma"/>
              </a:rPr>
              <a:t>unul</a:t>
            </a:r>
            <a:r>
              <a:rPr lang="en-US" sz="2400" b="0" strike="noStrike" spc="-1" dirty="0">
                <a:solidFill>
                  <a:srgbClr val="000000"/>
                </a:solidFill>
                <a:latin typeface="Tahoma"/>
              </a:rPr>
              <a:t> din </a:t>
            </a:r>
            <a:r>
              <a:rPr lang="en-US" sz="2400" b="0" strike="noStrike" spc="-1" dirty="0" err="1">
                <a:solidFill>
                  <a:srgbClr val="000000"/>
                </a:solidFill>
                <a:latin typeface="Tahoma"/>
              </a:rPr>
              <a:t>cuvintele</a:t>
            </a:r>
            <a:r>
              <a:rPr lang="en-US" sz="2400" b="0" strike="noStrike" spc="-1" dirty="0">
                <a:solidFill>
                  <a:srgbClr val="000000"/>
                </a:solidFill>
                <a:latin typeface="Tahoma"/>
              </a:rPr>
              <a:t> </a:t>
            </a:r>
            <a:r>
              <a:rPr lang="en-US" sz="2400" b="0" strike="noStrike" spc="-1" dirty="0" err="1">
                <a:solidFill>
                  <a:srgbClr val="000000"/>
                </a:solidFill>
                <a:latin typeface="Tahoma"/>
              </a:rPr>
              <a:t>rezervate</a:t>
            </a:r>
            <a:r>
              <a:rPr lang="en-US" sz="2400" b="0" strike="noStrike" spc="-1" dirty="0">
                <a:solidFill>
                  <a:srgbClr val="000000"/>
                </a:solidFill>
                <a:latin typeface="Tahoma"/>
              </a:rPr>
              <a:t>: </a:t>
            </a:r>
            <a:r>
              <a:rPr lang="en-US" sz="2400" b="1" strike="noStrike" spc="-1" dirty="0">
                <a:solidFill>
                  <a:srgbClr val="008000"/>
                </a:solidFill>
                <a:latin typeface="Tahoma"/>
              </a:rPr>
              <a:t>static</a:t>
            </a:r>
            <a:r>
              <a:rPr lang="en-US" sz="2400" b="1" strike="noStrike" spc="-1" dirty="0">
                <a:solidFill>
                  <a:srgbClr val="000000"/>
                </a:solidFill>
                <a:latin typeface="Tahoma"/>
              </a:rPr>
              <a:t>, </a:t>
            </a:r>
            <a:r>
              <a:rPr lang="en-US" sz="2400" b="1" strike="noStrike" spc="-1" dirty="0">
                <a:solidFill>
                  <a:srgbClr val="008000"/>
                </a:solidFill>
                <a:latin typeface="Tahoma"/>
              </a:rPr>
              <a:t>final</a:t>
            </a:r>
            <a:r>
              <a:rPr lang="en-US" sz="2400" b="1" strike="noStrike" spc="-1" dirty="0">
                <a:solidFill>
                  <a:srgbClr val="000000"/>
                </a:solidFill>
                <a:latin typeface="Tahoma"/>
              </a:rPr>
              <a:t>, </a:t>
            </a:r>
            <a:r>
              <a:rPr lang="en-US" sz="2400" b="1" strike="noStrike" spc="-1" dirty="0">
                <a:solidFill>
                  <a:srgbClr val="008000"/>
                </a:solidFill>
                <a:latin typeface="Tahoma"/>
              </a:rPr>
              <a:t>transient</a:t>
            </a:r>
            <a:r>
              <a:rPr lang="en-US" sz="2400" b="1" strike="noStrike" spc="-1" dirty="0">
                <a:solidFill>
                  <a:srgbClr val="000000"/>
                </a:solidFill>
                <a:latin typeface="Tahoma"/>
              </a:rPr>
              <a:t>, </a:t>
            </a:r>
            <a:r>
              <a:rPr lang="en-US" sz="2400" b="1" strike="noStrike" spc="-1" dirty="0">
                <a:solidFill>
                  <a:srgbClr val="008000"/>
                </a:solidFill>
                <a:latin typeface="Tahoma"/>
              </a:rPr>
              <a:t>volatile</a:t>
            </a:r>
            <a:r>
              <a:rPr lang="en-US" sz="2400" b="0" strike="noStrike" spc="-1" dirty="0">
                <a:solidFill>
                  <a:srgbClr val="000000"/>
                </a:solidFill>
                <a:latin typeface="Tahoma"/>
              </a:rPr>
              <a:t>. </a:t>
            </a:r>
          </a:p>
          <a:p>
            <a:pPr marL="343080" indent="-342720">
              <a:lnSpc>
                <a:spcPct val="80000"/>
              </a:lnSpc>
              <a:spcBef>
                <a:spcPts val="561"/>
              </a:spcBef>
              <a:buClr>
                <a:srgbClr val="FFCC00"/>
              </a:buClr>
              <a:buFont typeface="Monotype Sorts" charset="2"/>
              <a:buChar char=""/>
            </a:pPr>
            <a:r>
              <a:rPr lang="en-US" sz="2800" b="0" i="1" strike="noStrike" spc="-1" dirty="0" err="1">
                <a:solidFill>
                  <a:srgbClr val="008000"/>
                </a:solidFill>
                <a:latin typeface="Tahoma"/>
              </a:rPr>
              <a:t>Exemple</a:t>
            </a:r>
            <a:r>
              <a:rPr lang="en-US" sz="2800" b="0" i="1" strike="noStrike" spc="-1" dirty="0">
                <a:solidFill>
                  <a:srgbClr val="000000"/>
                </a:solidFill>
                <a:latin typeface="Tahoma"/>
              </a:rPr>
              <a:t>:	</a:t>
            </a:r>
            <a:endParaRPr lang="en-US" sz="2800" b="0" strike="noStrike" spc="-1" dirty="0">
              <a:solidFill>
                <a:srgbClr val="000000"/>
              </a:solidFill>
              <a:latin typeface="Tahoma"/>
            </a:endParaRPr>
          </a:p>
          <a:p>
            <a:pPr marL="743040" lvl="1" indent="-285480">
              <a:lnSpc>
                <a:spcPct val="80000"/>
              </a:lnSpc>
              <a:spcBef>
                <a:spcPts val="479"/>
              </a:spcBef>
              <a:buClr>
                <a:srgbClr val="FFCC00"/>
              </a:buClr>
              <a:buFont typeface="Monotype Sorts" charset="2"/>
              <a:buChar char=""/>
            </a:pPr>
            <a:r>
              <a:rPr lang="en-US" sz="2400" b="1" strike="noStrike" spc="-1" dirty="0">
                <a:solidFill>
                  <a:srgbClr val="000000"/>
                </a:solidFill>
                <a:latin typeface="Courier New"/>
              </a:rPr>
              <a:t>double x;</a:t>
            </a:r>
            <a:endParaRPr lang="en-US" sz="2400" b="0" strike="noStrike" spc="-1" dirty="0">
              <a:solidFill>
                <a:srgbClr val="000000"/>
              </a:solidFill>
              <a:latin typeface="Tahoma"/>
            </a:endParaRPr>
          </a:p>
          <a:p>
            <a:pPr marL="743040" lvl="1" indent="-285480">
              <a:lnSpc>
                <a:spcPct val="80000"/>
              </a:lnSpc>
              <a:spcBef>
                <a:spcPts val="479"/>
              </a:spcBef>
              <a:buClr>
                <a:srgbClr val="FFCC00"/>
              </a:buClr>
              <a:buFont typeface="Monotype Sorts" charset="2"/>
              <a:buChar char=""/>
            </a:pPr>
            <a:r>
              <a:rPr lang="en-US" sz="2400" b="1" strike="noStrike" spc="-1" dirty="0">
                <a:solidFill>
                  <a:srgbClr val="000000"/>
                </a:solidFill>
                <a:latin typeface="Courier New"/>
              </a:rPr>
              <a:t>protected static </a:t>
            </a:r>
            <a:r>
              <a:rPr lang="en-US" sz="2400" b="1" strike="noStrike" spc="-1" dirty="0" err="1">
                <a:solidFill>
                  <a:srgbClr val="000000"/>
                </a:solidFill>
                <a:latin typeface="Courier New"/>
              </a:rPr>
              <a:t>int</a:t>
            </a:r>
            <a:r>
              <a:rPr lang="en-US" sz="2400" b="1" strike="noStrike" spc="-1" dirty="0">
                <a:solidFill>
                  <a:srgbClr val="000000"/>
                </a:solidFill>
                <a:latin typeface="Courier New"/>
              </a:rPr>
              <a:t> n;</a:t>
            </a:r>
            <a:endParaRPr lang="en-US" sz="2400" b="0" strike="noStrike" spc="-1" dirty="0">
              <a:solidFill>
                <a:srgbClr val="000000"/>
              </a:solidFill>
              <a:latin typeface="Tahoma"/>
            </a:endParaRPr>
          </a:p>
          <a:p>
            <a:pPr marL="743040" lvl="1" indent="-285480">
              <a:lnSpc>
                <a:spcPct val="80000"/>
              </a:lnSpc>
              <a:spcBef>
                <a:spcPts val="479"/>
              </a:spcBef>
              <a:buClr>
                <a:srgbClr val="FFCC00"/>
              </a:buClr>
              <a:buFont typeface="Monotype Sorts" charset="2"/>
              <a:buChar char=""/>
            </a:pPr>
            <a:r>
              <a:rPr lang="en-US" sz="2400" b="1" strike="noStrike" spc="-1" dirty="0">
                <a:solidFill>
                  <a:srgbClr val="000000"/>
                </a:solidFill>
                <a:latin typeface="Courier New"/>
              </a:rPr>
              <a:t>public String s = "</a:t>
            </a:r>
            <a:r>
              <a:rPr lang="en-US" sz="2400" b="1" strike="noStrike" spc="-1" dirty="0" err="1">
                <a:solidFill>
                  <a:srgbClr val="000000"/>
                </a:solidFill>
                <a:latin typeface="Courier New"/>
              </a:rPr>
              <a:t>abcd</a:t>
            </a:r>
            <a:r>
              <a:rPr lang="en-US" sz="2400" b="1" strike="noStrike" spc="-1" dirty="0">
                <a:solidFill>
                  <a:srgbClr val="000000"/>
                </a:solidFill>
                <a:latin typeface="Courier New"/>
              </a:rPr>
              <a:t>";</a:t>
            </a:r>
            <a:endParaRPr lang="en-US" sz="2400" b="0" strike="noStrike" spc="-1" dirty="0">
              <a:solidFill>
                <a:srgbClr val="000000"/>
              </a:solidFill>
              <a:latin typeface="Tahoma"/>
            </a:endParaRPr>
          </a:p>
          <a:p>
            <a:pPr marL="743040" lvl="1" indent="-285480">
              <a:lnSpc>
                <a:spcPct val="80000"/>
              </a:lnSpc>
              <a:spcBef>
                <a:spcPts val="479"/>
              </a:spcBef>
              <a:buClr>
                <a:srgbClr val="FFCC00"/>
              </a:buClr>
              <a:buFont typeface="Monotype Sorts" charset="2"/>
              <a:buChar char=""/>
            </a:pPr>
            <a:r>
              <a:rPr lang="en-US" sz="2400" b="1" strike="noStrike" spc="-1" dirty="0">
                <a:solidFill>
                  <a:srgbClr val="000000"/>
                </a:solidFill>
                <a:latin typeface="Courier New"/>
              </a:rPr>
              <a:t>private Point p = new Point(10, 10);</a:t>
            </a:r>
            <a:endParaRPr lang="en-US" sz="2400" b="0" strike="noStrike" spc="-1" dirty="0">
              <a:solidFill>
                <a:srgbClr val="000000"/>
              </a:solidFill>
              <a:latin typeface="Tahoma"/>
            </a:endParaRPr>
          </a:p>
          <a:p>
            <a:pPr marL="743040" lvl="1" indent="-285480">
              <a:lnSpc>
                <a:spcPct val="80000"/>
              </a:lnSpc>
              <a:spcBef>
                <a:spcPts val="479"/>
              </a:spcBef>
              <a:buClr>
                <a:srgbClr val="FFCC00"/>
              </a:buClr>
              <a:buFont typeface="Monotype Sorts" charset="2"/>
              <a:buChar char=""/>
            </a:pPr>
            <a:r>
              <a:rPr lang="en-US" sz="2400" b="1" strike="noStrike" spc="-1" dirty="0">
                <a:solidFill>
                  <a:srgbClr val="000000"/>
                </a:solidFill>
                <a:latin typeface="Courier New"/>
              </a:rPr>
              <a:t>final long MAX = 100000L;</a:t>
            </a:r>
            <a:endParaRPr lang="en-US" sz="24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DF602D4F-99E2-42B5-8E73-808049A671DA}" type="slidenum">
              <a:rPr lang="en-US" sz="1400" b="0" strike="noStrike" spc="-1">
                <a:solidFill>
                  <a:srgbClr val="5E574E"/>
                </a:solidFill>
                <a:latin typeface="Arial"/>
              </a:rPr>
              <a:t>45</a:t>
            </a:fld>
            <a:endParaRPr lang="en-US" sz="1400" b="0" strike="noStrike" spc="-1">
              <a:latin typeface="Times New Roman"/>
            </a:endParaRPr>
          </a:p>
        </p:txBody>
      </p:sp>
      <p:sp>
        <p:nvSpPr>
          <p:cNvPr id="468" name="TextShape 5"/>
          <p:cNvSpPr txBox="1"/>
          <p:nvPr/>
        </p:nvSpPr>
        <p:spPr>
          <a:xfrm>
            <a:off x="329897" y="1619460"/>
            <a:ext cx="8859600" cy="4838400"/>
          </a:xfrm>
          <a:prstGeom prst="rect">
            <a:avLst/>
          </a:prstGeom>
          <a:noFill/>
          <a:ln>
            <a:noFill/>
          </a:ln>
        </p:spPr>
        <p:txBody>
          <a:bodyPr>
            <a:noAutofit/>
          </a:bodyPr>
          <a:lstStyle/>
          <a:p>
            <a:pPr marL="343080" indent="-3427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Cuvintele</a:t>
            </a:r>
            <a:r>
              <a:rPr lang="en-US" sz="2000" b="0" strike="noStrike" spc="-1" dirty="0">
                <a:solidFill>
                  <a:srgbClr val="000000"/>
                </a:solidFill>
                <a:latin typeface="Tahoma"/>
              </a:rPr>
              <a:t> </a:t>
            </a:r>
            <a:r>
              <a:rPr lang="en-US" sz="2000" b="0" strike="noStrike" spc="-1" dirty="0" err="1">
                <a:solidFill>
                  <a:srgbClr val="000000"/>
                </a:solidFill>
                <a:latin typeface="Tahoma"/>
              </a:rPr>
              <a:t>rezervate</a:t>
            </a:r>
            <a:r>
              <a:rPr lang="en-US" sz="2000" b="0" strike="noStrike" spc="-1" dirty="0">
                <a:solidFill>
                  <a:srgbClr val="000000"/>
                </a:solidFill>
                <a:latin typeface="Tahoma"/>
              </a:rPr>
              <a:t>: </a:t>
            </a:r>
            <a:r>
              <a:rPr lang="en-US" sz="2000" b="1" strike="noStrike" spc="-1" dirty="0">
                <a:solidFill>
                  <a:srgbClr val="008000"/>
                </a:solidFill>
                <a:latin typeface="Tahoma"/>
              </a:rPr>
              <a:t>static</a:t>
            </a:r>
            <a:r>
              <a:rPr lang="en-US" sz="2000" b="1" strike="noStrike" spc="-1" dirty="0">
                <a:solidFill>
                  <a:srgbClr val="000000"/>
                </a:solidFill>
                <a:latin typeface="Tahoma"/>
              </a:rPr>
              <a:t>, </a:t>
            </a:r>
            <a:r>
              <a:rPr lang="en-US" sz="2000" b="1" strike="noStrike" spc="-1" dirty="0">
                <a:solidFill>
                  <a:srgbClr val="008000"/>
                </a:solidFill>
                <a:latin typeface="Tahoma"/>
              </a:rPr>
              <a:t>final</a:t>
            </a:r>
            <a:r>
              <a:rPr lang="en-US" sz="2000" b="1" strike="noStrike" spc="-1" dirty="0">
                <a:solidFill>
                  <a:srgbClr val="000000"/>
                </a:solidFill>
                <a:latin typeface="Tahoma"/>
              </a:rPr>
              <a:t>, </a:t>
            </a:r>
            <a:r>
              <a:rPr lang="en-US" sz="2000" b="1" strike="noStrike" spc="-1" dirty="0">
                <a:solidFill>
                  <a:srgbClr val="008000"/>
                </a:solidFill>
                <a:latin typeface="Tahoma"/>
              </a:rPr>
              <a:t>transient</a:t>
            </a:r>
            <a:r>
              <a:rPr lang="en-US" sz="2000" b="1" strike="noStrike" spc="-1" dirty="0">
                <a:solidFill>
                  <a:srgbClr val="000000"/>
                </a:solidFill>
                <a:latin typeface="Tahoma"/>
              </a:rPr>
              <a:t>, </a:t>
            </a:r>
            <a:r>
              <a:rPr lang="en-US" sz="2000" b="1" strike="noStrike" spc="-1" dirty="0">
                <a:solidFill>
                  <a:srgbClr val="008000"/>
                </a:solidFill>
                <a:latin typeface="Tahoma"/>
              </a:rPr>
              <a:t>volatile</a:t>
            </a:r>
            <a:r>
              <a:rPr lang="en-US" sz="2000" b="0" strike="noStrike" spc="-1" dirty="0">
                <a:solidFill>
                  <a:srgbClr val="000000"/>
                </a:solidFill>
                <a:latin typeface="Tahoma"/>
              </a:rPr>
              <a:t> au </a:t>
            </a:r>
            <a:r>
              <a:rPr lang="en-US" sz="2000" b="0" strike="noStrike" spc="-1" dirty="0" err="1">
                <a:solidFill>
                  <a:srgbClr val="000000"/>
                </a:solidFill>
                <a:latin typeface="Tahoma"/>
              </a:rPr>
              <a:t>următoarele</a:t>
            </a:r>
            <a:r>
              <a:rPr lang="en-US" sz="2000" b="0" strike="noStrike" spc="-1" dirty="0">
                <a:solidFill>
                  <a:srgbClr val="000000"/>
                </a:solidFill>
                <a:latin typeface="Tahoma"/>
              </a:rPr>
              <a:t> </a:t>
            </a:r>
            <a:r>
              <a:rPr lang="en-US" sz="2000" b="0" strike="noStrike" spc="-1" dirty="0" err="1">
                <a:solidFill>
                  <a:srgbClr val="000000"/>
                </a:solidFill>
                <a:latin typeface="Tahoma"/>
              </a:rPr>
              <a:t>roluri</a:t>
            </a:r>
            <a:r>
              <a:rPr lang="en-US" sz="2000" b="0" strike="noStrike" spc="-1" dirty="0">
                <a:solidFill>
                  <a:srgbClr val="000000"/>
                </a:solidFill>
                <a:latin typeface="Tahoma"/>
              </a:rPr>
              <a:t>:</a:t>
            </a:r>
          </a:p>
          <a:p>
            <a:pPr marL="343080" indent="-342720">
              <a:lnSpc>
                <a:spcPct val="80000"/>
              </a:lnSpc>
              <a:spcBef>
                <a:spcPts val="400"/>
              </a:spcBef>
              <a:buClr>
                <a:srgbClr val="FFCC00"/>
              </a:buClr>
              <a:buFont typeface="Monotype Sorts" charset="2"/>
              <a:buChar char=""/>
            </a:pPr>
            <a:r>
              <a:rPr lang="en-US" sz="2000" b="1" strike="noStrike" spc="-1" dirty="0">
                <a:solidFill>
                  <a:srgbClr val="008000"/>
                </a:solidFill>
                <a:latin typeface="Tahoma"/>
              </a:rPr>
              <a:t>static</a:t>
            </a:r>
            <a:r>
              <a:rPr lang="en-US" sz="2000" b="0" strike="noStrike" spc="-1" dirty="0">
                <a:solidFill>
                  <a:srgbClr val="000000"/>
                </a:solidFill>
                <a:latin typeface="Tahoma"/>
              </a:rPr>
              <a:t> </a:t>
            </a:r>
            <a:r>
              <a:rPr lang="en-US" sz="2000" b="0" strike="noStrike" spc="-1" dirty="0" err="1">
                <a:solidFill>
                  <a:srgbClr val="000000"/>
                </a:solidFill>
                <a:latin typeface="Tahoma"/>
              </a:rPr>
              <a:t>este</a:t>
            </a:r>
            <a:r>
              <a:rPr lang="en-US" sz="2000" b="0" strike="noStrike" spc="-1" dirty="0">
                <a:solidFill>
                  <a:srgbClr val="000000"/>
                </a:solidFill>
                <a:latin typeface="Tahoma"/>
              </a:rPr>
              <a:t> </a:t>
            </a:r>
            <a:r>
              <a:rPr lang="en-US" sz="2000" b="0" strike="noStrike" spc="-1" dirty="0" err="1">
                <a:solidFill>
                  <a:srgbClr val="000000"/>
                </a:solidFill>
                <a:latin typeface="Tahoma"/>
              </a:rPr>
              <a:t>folosit</a:t>
            </a:r>
            <a:r>
              <a:rPr lang="en-US" sz="2000" b="0" strike="noStrike" spc="-1" dirty="0">
                <a:solidFill>
                  <a:srgbClr val="000000"/>
                </a:solidFill>
                <a:latin typeface="Tahoma"/>
              </a:rPr>
              <a:t> </a:t>
            </a:r>
            <a:r>
              <a:rPr lang="en-US" sz="2000" b="0" strike="noStrike" spc="-1" dirty="0" err="1">
                <a:solidFill>
                  <a:srgbClr val="000000"/>
                </a:solidFill>
                <a:latin typeface="Tahoma"/>
              </a:rPr>
              <a:t>pentru</a:t>
            </a:r>
            <a:r>
              <a:rPr lang="en-US" sz="2000" b="0" strike="noStrike" spc="-1" dirty="0">
                <a:solidFill>
                  <a:srgbClr val="000000"/>
                </a:solidFill>
                <a:latin typeface="Tahoma"/>
              </a:rPr>
              <a:t> </a:t>
            </a:r>
            <a:r>
              <a:rPr lang="en-US" sz="2000" b="0" strike="noStrike" spc="-1" dirty="0" err="1">
                <a:solidFill>
                  <a:srgbClr val="000000"/>
                </a:solidFill>
                <a:latin typeface="Tahoma"/>
              </a:rPr>
              <a:t>declararea</a:t>
            </a:r>
            <a:r>
              <a:rPr lang="en-US" sz="2000" b="0" strike="noStrike" spc="-1" dirty="0">
                <a:solidFill>
                  <a:srgbClr val="000000"/>
                </a:solidFill>
                <a:latin typeface="Tahoma"/>
              </a:rPr>
              <a:t> </a:t>
            </a:r>
            <a:r>
              <a:rPr lang="en-US" sz="2000" b="0" strike="noStrike" spc="-1" dirty="0" err="1">
                <a:solidFill>
                  <a:srgbClr val="000000"/>
                </a:solidFill>
                <a:latin typeface="Tahoma"/>
              </a:rPr>
              <a:t>variabilelor</a:t>
            </a:r>
            <a:r>
              <a:rPr lang="en-US" sz="2000" b="0" strike="noStrike" spc="-1" dirty="0">
                <a:solidFill>
                  <a:srgbClr val="000000"/>
                </a:solidFill>
                <a:latin typeface="Tahoma"/>
              </a:rPr>
              <a:t> </a:t>
            </a:r>
            <a:r>
              <a:rPr lang="en-US" sz="2000" b="0" strike="noStrike" spc="-1" dirty="0" err="1">
                <a:solidFill>
                  <a:srgbClr val="000000"/>
                </a:solidFill>
                <a:latin typeface="Tahoma"/>
              </a:rPr>
              <a:t>clasă</a:t>
            </a:r>
            <a:r>
              <a:rPr lang="en-US" sz="2000" b="0" strike="noStrike" spc="-1" dirty="0">
                <a:solidFill>
                  <a:srgbClr val="000000"/>
                </a:solidFill>
                <a:latin typeface="Tahoma"/>
              </a:rPr>
              <a:t>.</a:t>
            </a:r>
          </a:p>
          <a:p>
            <a:pPr marL="343080" indent="-342720">
              <a:lnSpc>
                <a:spcPct val="80000"/>
              </a:lnSpc>
              <a:spcBef>
                <a:spcPts val="400"/>
              </a:spcBef>
            </a:pPr>
            <a:r>
              <a:rPr lang="en-US" sz="2000" b="0" i="1" strike="noStrike" spc="-1" dirty="0">
                <a:solidFill>
                  <a:srgbClr val="008000"/>
                </a:solidFill>
                <a:latin typeface="Tahoma"/>
              </a:rPr>
              <a:t>	</a:t>
            </a:r>
            <a:r>
              <a:rPr lang="en-US" sz="2000" b="0" i="1" strike="noStrike" spc="-1" dirty="0" err="1">
                <a:solidFill>
                  <a:srgbClr val="008000"/>
                </a:solidFill>
                <a:latin typeface="Tahoma"/>
              </a:rPr>
              <a:t>Exemplu</a:t>
            </a:r>
            <a:r>
              <a:rPr lang="en-US" sz="2000" b="0" i="1" strike="noStrike" spc="-1" dirty="0">
                <a:solidFill>
                  <a:srgbClr val="000000"/>
                </a:solidFill>
                <a:latin typeface="Tahoma"/>
              </a:rPr>
              <a:t>:</a:t>
            </a:r>
            <a:endParaRPr lang="en-US" sz="2000" b="0" strike="noStrike" spc="-1" dirty="0">
              <a:solidFill>
                <a:srgbClr val="000000"/>
              </a:solidFill>
              <a:latin typeface="Tahoma"/>
            </a:endParaRPr>
          </a:p>
          <a:p>
            <a:pPr marL="743040" lvl="1" indent="-285480">
              <a:lnSpc>
                <a:spcPct val="80000"/>
              </a:lnSpc>
              <a:spcBef>
                <a:spcPts val="360"/>
              </a:spcBef>
              <a:buClr>
                <a:srgbClr val="FFCC00"/>
              </a:buClr>
              <a:buFont typeface="Monotype Sorts" charset="2"/>
              <a:buChar char=""/>
            </a:pPr>
            <a:r>
              <a:rPr lang="en-US" sz="1800" b="0" strike="noStrike" spc="-1" dirty="0" err="1">
                <a:solidFill>
                  <a:srgbClr val="000000"/>
                </a:solidFill>
                <a:latin typeface="Tahoma"/>
              </a:rPr>
              <a:t>int</a:t>
            </a:r>
            <a:r>
              <a:rPr lang="en-US" sz="1800" b="0" strike="noStrike" spc="-1" dirty="0">
                <a:solidFill>
                  <a:srgbClr val="000000"/>
                </a:solidFill>
                <a:latin typeface="Tahoma"/>
              </a:rPr>
              <a:t> x ; //</a:t>
            </a:r>
            <a:r>
              <a:rPr lang="en-US" sz="1800" b="0" strike="noStrike" spc="-1" dirty="0" err="1">
                <a:solidFill>
                  <a:srgbClr val="000000"/>
                </a:solidFill>
                <a:latin typeface="Tahoma"/>
              </a:rPr>
              <a:t>variabilă</a:t>
            </a:r>
            <a:r>
              <a:rPr lang="en-US" sz="1800" b="0" strike="noStrike" spc="-1" dirty="0">
                <a:solidFill>
                  <a:srgbClr val="000000"/>
                </a:solidFill>
                <a:latin typeface="Tahoma"/>
              </a:rPr>
              <a:t> </a:t>
            </a:r>
            <a:r>
              <a:rPr lang="en-US" sz="1800" b="0" strike="noStrike" spc="-1" dirty="0" err="1">
                <a:solidFill>
                  <a:srgbClr val="000000"/>
                </a:solidFill>
                <a:latin typeface="Tahoma"/>
              </a:rPr>
              <a:t>instanţă</a:t>
            </a:r>
            <a:endParaRPr lang="en-US" sz="1800" b="0" strike="noStrike" spc="-1" dirty="0">
              <a:solidFill>
                <a:srgbClr val="000000"/>
              </a:solidFill>
              <a:latin typeface="Tahoma"/>
            </a:endParaRPr>
          </a:p>
          <a:p>
            <a:pPr marL="743040" lvl="1" indent="-285480">
              <a:lnSpc>
                <a:spcPct val="80000"/>
              </a:lnSpc>
              <a:spcBef>
                <a:spcPts val="360"/>
              </a:spcBef>
              <a:buClr>
                <a:srgbClr val="FFCC00"/>
              </a:buClr>
              <a:buFont typeface="Monotype Sorts" charset="2"/>
              <a:buChar char=""/>
            </a:pPr>
            <a:r>
              <a:rPr lang="en-US" sz="1800" b="0" strike="noStrike" spc="-1" dirty="0">
                <a:solidFill>
                  <a:srgbClr val="000000"/>
                </a:solidFill>
                <a:latin typeface="Tahoma"/>
              </a:rPr>
              <a:t>static </a:t>
            </a:r>
            <a:r>
              <a:rPr lang="en-US" sz="1800" b="0" strike="noStrike" spc="-1" dirty="0" err="1">
                <a:solidFill>
                  <a:srgbClr val="000000"/>
                </a:solidFill>
                <a:latin typeface="Tahoma"/>
              </a:rPr>
              <a:t>int</a:t>
            </a:r>
            <a:r>
              <a:rPr lang="en-US" sz="1800" b="0" strike="noStrike" spc="-1" dirty="0">
                <a:solidFill>
                  <a:srgbClr val="000000"/>
                </a:solidFill>
                <a:latin typeface="Tahoma"/>
              </a:rPr>
              <a:t> </a:t>
            </a:r>
            <a:r>
              <a:rPr lang="en-US" sz="1800" b="0" strike="noStrike" spc="-1" dirty="0" err="1">
                <a:solidFill>
                  <a:srgbClr val="000000"/>
                </a:solidFill>
                <a:latin typeface="Tahoma"/>
              </a:rPr>
              <a:t>nrDeObiecteCreate</a:t>
            </a:r>
            <a:r>
              <a:rPr lang="en-US" sz="1800" b="0" strike="noStrike" spc="-1" dirty="0">
                <a:solidFill>
                  <a:srgbClr val="000000"/>
                </a:solidFill>
                <a:latin typeface="Tahoma"/>
              </a:rPr>
              <a:t>; //</a:t>
            </a:r>
            <a:r>
              <a:rPr lang="en-US" sz="1800" b="0" strike="noStrike" spc="-1" dirty="0" err="1">
                <a:solidFill>
                  <a:srgbClr val="000000"/>
                </a:solidFill>
                <a:latin typeface="Tahoma"/>
              </a:rPr>
              <a:t>variabilă</a:t>
            </a:r>
            <a:r>
              <a:rPr lang="en-US" sz="1800" b="0" strike="noStrike" spc="-1" dirty="0">
                <a:solidFill>
                  <a:srgbClr val="000000"/>
                </a:solidFill>
                <a:latin typeface="Tahoma"/>
              </a:rPr>
              <a:t> </a:t>
            </a:r>
            <a:r>
              <a:rPr lang="en-US" sz="1800" b="0" strike="noStrike" spc="-1" dirty="0" err="1">
                <a:solidFill>
                  <a:srgbClr val="000000"/>
                </a:solidFill>
                <a:latin typeface="Tahoma"/>
              </a:rPr>
              <a:t>clasă</a:t>
            </a:r>
            <a:endParaRPr lang="en-US" sz="18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1" strike="noStrike" spc="-1" dirty="0">
                <a:solidFill>
                  <a:srgbClr val="008000"/>
                </a:solidFill>
                <a:latin typeface="Tahoma"/>
              </a:rPr>
              <a:t>final</a:t>
            </a:r>
            <a:r>
              <a:rPr lang="en-US" sz="2000" b="0" strike="noStrike" spc="-1" dirty="0">
                <a:solidFill>
                  <a:srgbClr val="000000"/>
                </a:solidFill>
                <a:latin typeface="Tahoma"/>
              </a:rPr>
              <a:t> </a:t>
            </a:r>
            <a:r>
              <a:rPr lang="en-US" sz="2000" b="0" strike="noStrike" spc="-1" dirty="0" err="1">
                <a:solidFill>
                  <a:srgbClr val="000000"/>
                </a:solidFill>
                <a:latin typeface="Tahoma"/>
              </a:rPr>
              <a:t>este</a:t>
            </a:r>
            <a:r>
              <a:rPr lang="en-US" sz="2000" b="0" strike="noStrike" spc="-1" dirty="0">
                <a:solidFill>
                  <a:srgbClr val="000000"/>
                </a:solidFill>
                <a:latin typeface="Tahoma"/>
              </a:rPr>
              <a:t> </a:t>
            </a:r>
            <a:r>
              <a:rPr lang="en-US" sz="2000" b="0" strike="noStrike" spc="-1" dirty="0" err="1">
                <a:solidFill>
                  <a:srgbClr val="000000"/>
                </a:solidFill>
                <a:latin typeface="Tahoma"/>
              </a:rPr>
              <a:t>folosit</a:t>
            </a:r>
            <a:r>
              <a:rPr lang="en-US" sz="2000" b="0" strike="noStrike" spc="-1" dirty="0">
                <a:solidFill>
                  <a:srgbClr val="000000"/>
                </a:solidFill>
                <a:latin typeface="Tahoma"/>
              </a:rPr>
              <a:t> </a:t>
            </a:r>
            <a:r>
              <a:rPr lang="en-US" sz="2000" b="0" strike="noStrike" spc="-1" dirty="0" err="1">
                <a:solidFill>
                  <a:srgbClr val="000000"/>
                </a:solidFill>
                <a:latin typeface="Tahoma"/>
              </a:rPr>
              <a:t>pentru</a:t>
            </a:r>
            <a:r>
              <a:rPr lang="en-US" sz="2000" b="0" strike="noStrike" spc="-1" dirty="0">
                <a:solidFill>
                  <a:srgbClr val="000000"/>
                </a:solidFill>
                <a:latin typeface="Tahoma"/>
              </a:rPr>
              <a:t> </a:t>
            </a:r>
            <a:r>
              <a:rPr lang="en-US" sz="2000" b="0" strike="noStrike" spc="-1" dirty="0" err="1">
                <a:solidFill>
                  <a:srgbClr val="000000"/>
                </a:solidFill>
                <a:latin typeface="Tahoma"/>
              </a:rPr>
              <a:t>declararea</a:t>
            </a:r>
            <a:r>
              <a:rPr lang="en-US" sz="2000" b="0" strike="noStrike" spc="-1" dirty="0">
                <a:solidFill>
                  <a:srgbClr val="000000"/>
                </a:solidFill>
                <a:latin typeface="Tahoma"/>
              </a:rPr>
              <a:t> </a:t>
            </a:r>
            <a:r>
              <a:rPr lang="en-US" sz="2000" b="0" strike="noStrike" spc="-1" dirty="0" err="1">
                <a:solidFill>
                  <a:srgbClr val="000000"/>
                </a:solidFill>
                <a:latin typeface="Tahoma"/>
              </a:rPr>
              <a:t>constantelor</a:t>
            </a:r>
            <a:r>
              <a:rPr lang="en-US" sz="2000" b="0" strike="noStrike" spc="-1" dirty="0">
                <a:solidFill>
                  <a:srgbClr val="000000"/>
                </a:solidFill>
                <a:latin typeface="Tahoma"/>
              </a:rPr>
              <a:t>. O </a:t>
            </a:r>
            <a:r>
              <a:rPr lang="en-US" sz="2000" b="0" strike="noStrike" spc="-1" dirty="0" err="1">
                <a:solidFill>
                  <a:srgbClr val="000000"/>
                </a:solidFill>
                <a:latin typeface="Tahoma"/>
              </a:rPr>
              <a:t>constantă</a:t>
            </a:r>
            <a:r>
              <a:rPr lang="en-US" sz="2000" b="0" strike="noStrike" spc="-1" dirty="0">
                <a:solidFill>
                  <a:srgbClr val="000000"/>
                </a:solidFill>
                <a:latin typeface="Tahoma"/>
              </a:rPr>
              <a:t> </a:t>
            </a:r>
            <a:r>
              <a:rPr lang="en-US" sz="2000" b="0" strike="noStrike" spc="-1" dirty="0" err="1">
                <a:solidFill>
                  <a:srgbClr val="000000"/>
                </a:solidFill>
                <a:latin typeface="Tahoma"/>
              </a:rPr>
              <a:t>este</a:t>
            </a:r>
            <a:r>
              <a:rPr lang="en-US" sz="2000" b="0" strike="noStrike" spc="-1" dirty="0">
                <a:solidFill>
                  <a:srgbClr val="000000"/>
                </a:solidFill>
                <a:latin typeface="Tahoma"/>
              </a:rPr>
              <a:t> o </a:t>
            </a:r>
            <a:r>
              <a:rPr lang="en-US" sz="2000" b="0" strike="noStrike" spc="-1" dirty="0" err="1">
                <a:solidFill>
                  <a:srgbClr val="000000"/>
                </a:solidFill>
                <a:latin typeface="Tahoma"/>
              </a:rPr>
              <a:t>variabilă</a:t>
            </a:r>
            <a:r>
              <a:rPr lang="en-US" sz="2000" b="0" strike="noStrike" spc="-1" dirty="0">
                <a:solidFill>
                  <a:srgbClr val="000000"/>
                </a:solidFill>
                <a:latin typeface="Tahoma"/>
              </a:rPr>
              <a:t> a </a:t>
            </a:r>
            <a:r>
              <a:rPr lang="en-US" sz="2000" b="0" strike="noStrike" spc="-1" dirty="0" err="1">
                <a:solidFill>
                  <a:srgbClr val="000000"/>
                </a:solidFill>
                <a:latin typeface="Tahoma"/>
              </a:rPr>
              <a:t>cărei</a:t>
            </a:r>
            <a:r>
              <a:rPr lang="en-US" sz="2000" b="0" strike="noStrike" spc="-1" dirty="0">
                <a:solidFill>
                  <a:srgbClr val="000000"/>
                </a:solidFill>
                <a:latin typeface="Tahoma"/>
              </a:rPr>
              <a:t> </a:t>
            </a:r>
            <a:r>
              <a:rPr lang="en-US" sz="2000" b="0" strike="noStrike" spc="-1" dirty="0" err="1">
                <a:solidFill>
                  <a:srgbClr val="000000"/>
                </a:solidFill>
                <a:latin typeface="Tahoma"/>
              </a:rPr>
              <a:t>valoare</a:t>
            </a:r>
            <a:r>
              <a:rPr lang="en-US" sz="2000" b="0" strike="noStrike" spc="-1" dirty="0">
                <a:solidFill>
                  <a:srgbClr val="000000"/>
                </a:solidFill>
                <a:latin typeface="Tahoma"/>
              </a:rPr>
              <a:t> nu </a:t>
            </a:r>
            <a:r>
              <a:rPr lang="en-US" sz="2000" b="0" strike="noStrike" spc="-1" dirty="0" err="1">
                <a:solidFill>
                  <a:srgbClr val="000000"/>
                </a:solidFill>
                <a:latin typeface="Tahoma"/>
              </a:rPr>
              <a:t>mai</a:t>
            </a:r>
            <a:r>
              <a:rPr lang="en-US" sz="2000" b="0" strike="noStrike" spc="-1" dirty="0">
                <a:solidFill>
                  <a:srgbClr val="000000"/>
                </a:solidFill>
                <a:latin typeface="Tahoma"/>
              </a:rPr>
              <a:t> </a:t>
            </a:r>
            <a:r>
              <a:rPr lang="en-US" sz="2000" b="0" strike="noStrike" spc="-1" dirty="0" err="1">
                <a:solidFill>
                  <a:srgbClr val="000000"/>
                </a:solidFill>
                <a:latin typeface="Tahoma"/>
              </a:rPr>
              <a:t>poate</a:t>
            </a:r>
            <a:r>
              <a:rPr lang="en-US" sz="2000" b="0" strike="noStrike" spc="-1" dirty="0">
                <a:solidFill>
                  <a:srgbClr val="000000"/>
                </a:solidFill>
                <a:latin typeface="Tahoma"/>
              </a:rPr>
              <a:t> fi </a:t>
            </a:r>
            <a:r>
              <a:rPr lang="en-US" sz="2000" b="0" strike="noStrike" spc="-1" dirty="0" err="1">
                <a:solidFill>
                  <a:srgbClr val="000000"/>
                </a:solidFill>
                <a:latin typeface="Tahoma"/>
              </a:rPr>
              <a:t>schimbată</a:t>
            </a:r>
            <a:r>
              <a:rPr lang="en-US" sz="2000" b="0" strike="noStrike" spc="-1" dirty="0">
                <a:solidFill>
                  <a:srgbClr val="000000"/>
                </a:solidFill>
                <a:latin typeface="Tahoma"/>
              </a:rPr>
              <a:t>. </a:t>
            </a:r>
            <a:r>
              <a:rPr lang="en-US" sz="2000" b="0" strike="noStrike" spc="-1" dirty="0" err="1">
                <a:solidFill>
                  <a:srgbClr val="000000"/>
                </a:solidFill>
                <a:latin typeface="Tahoma"/>
              </a:rPr>
              <a:t>Valoarea</a:t>
            </a:r>
            <a:r>
              <a:rPr lang="en-US" sz="2000" b="0" strike="noStrike" spc="-1" dirty="0">
                <a:solidFill>
                  <a:srgbClr val="000000"/>
                </a:solidFill>
                <a:latin typeface="Tahoma"/>
              </a:rPr>
              <a:t> </a:t>
            </a:r>
            <a:r>
              <a:rPr lang="en-US" sz="2000" b="0" strike="noStrike" spc="-1" dirty="0" err="1">
                <a:solidFill>
                  <a:srgbClr val="000000"/>
                </a:solidFill>
                <a:latin typeface="Tahoma"/>
              </a:rPr>
              <a:t>unei</a:t>
            </a:r>
            <a:r>
              <a:rPr lang="en-US" sz="2000" b="0" strike="noStrike" spc="-1" dirty="0">
                <a:solidFill>
                  <a:srgbClr val="000000"/>
                </a:solidFill>
                <a:latin typeface="Tahoma"/>
              </a:rPr>
              <a:t> </a:t>
            </a:r>
            <a:r>
              <a:rPr lang="en-US" sz="2000" b="0" strike="noStrike" spc="-1" dirty="0" err="1">
                <a:solidFill>
                  <a:srgbClr val="000000"/>
                </a:solidFill>
                <a:latin typeface="Tahoma"/>
              </a:rPr>
              <a:t>variabile</a:t>
            </a:r>
            <a:r>
              <a:rPr lang="en-US" sz="2000" b="0" strike="noStrike" spc="-1" dirty="0">
                <a:solidFill>
                  <a:srgbClr val="000000"/>
                </a:solidFill>
                <a:latin typeface="Tahoma"/>
              </a:rPr>
              <a:t> finale nu </a:t>
            </a:r>
            <a:r>
              <a:rPr lang="en-US" sz="2000" b="0" strike="noStrike" spc="-1" dirty="0" err="1">
                <a:solidFill>
                  <a:srgbClr val="000000"/>
                </a:solidFill>
                <a:latin typeface="Tahoma"/>
              </a:rPr>
              <a:t>trebuie</a:t>
            </a:r>
            <a:r>
              <a:rPr lang="en-US" sz="2000" b="0" strike="noStrike" spc="-1" dirty="0">
                <a:solidFill>
                  <a:srgbClr val="000000"/>
                </a:solidFill>
                <a:latin typeface="Tahoma"/>
              </a:rPr>
              <a:t> </a:t>
            </a:r>
            <a:r>
              <a:rPr lang="en-US" sz="2000" b="0" strike="noStrike" spc="-1" dirty="0" err="1">
                <a:solidFill>
                  <a:srgbClr val="000000"/>
                </a:solidFill>
                <a:latin typeface="Tahoma"/>
              </a:rPr>
              <a:t>specificată</a:t>
            </a:r>
            <a:r>
              <a:rPr lang="en-US" sz="2000" b="0" strike="noStrike" spc="-1" dirty="0">
                <a:solidFill>
                  <a:srgbClr val="000000"/>
                </a:solidFill>
                <a:latin typeface="Tahoma"/>
              </a:rPr>
              <a:t> </a:t>
            </a:r>
            <a:r>
              <a:rPr lang="en-US" sz="2000" b="0" strike="noStrike" spc="-1" dirty="0" err="1">
                <a:solidFill>
                  <a:srgbClr val="000000"/>
                </a:solidFill>
                <a:latin typeface="Tahoma"/>
              </a:rPr>
              <a:t>neapărat</a:t>
            </a:r>
            <a:r>
              <a:rPr lang="en-US" sz="2000" b="0" strike="noStrike" spc="-1" dirty="0">
                <a:solidFill>
                  <a:srgbClr val="000000"/>
                </a:solidFill>
                <a:latin typeface="Tahoma"/>
              </a:rPr>
              <a:t> la </a:t>
            </a:r>
            <a:r>
              <a:rPr lang="en-US" sz="2000" b="0" strike="noStrike" spc="-1" dirty="0" err="1">
                <a:solidFill>
                  <a:srgbClr val="000000"/>
                </a:solidFill>
                <a:latin typeface="Tahoma"/>
              </a:rPr>
              <a:t>declararea</a:t>
            </a:r>
            <a:r>
              <a:rPr lang="en-US" sz="2000" b="0" strike="noStrike" spc="-1" dirty="0">
                <a:solidFill>
                  <a:srgbClr val="000000"/>
                </a:solidFill>
                <a:latin typeface="Tahoma"/>
              </a:rPr>
              <a:t> </a:t>
            </a:r>
            <a:r>
              <a:rPr lang="en-US" sz="2000" b="0" strike="noStrike" spc="-1" dirty="0" err="1">
                <a:solidFill>
                  <a:srgbClr val="000000"/>
                </a:solidFill>
                <a:latin typeface="Tahoma"/>
              </a:rPr>
              <a:t>ei</a:t>
            </a:r>
            <a:r>
              <a:rPr lang="en-US" sz="2000" b="0" strike="noStrike" spc="-1" dirty="0">
                <a:solidFill>
                  <a:srgbClr val="000000"/>
                </a:solidFill>
                <a:latin typeface="Tahoma"/>
              </a:rPr>
              <a:t>, ci </a:t>
            </a:r>
            <a:r>
              <a:rPr lang="en-US" sz="2000" b="0" strike="noStrike" spc="-1" dirty="0" err="1">
                <a:solidFill>
                  <a:srgbClr val="000000"/>
                </a:solidFill>
                <a:latin typeface="Tahoma"/>
              </a:rPr>
              <a:t>poate</a:t>
            </a:r>
            <a:r>
              <a:rPr lang="en-US" sz="2000" b="0" strike="noStrike" spc="-1" dirty="0">
                <a:solidFill>
                  <a:srgbClr val="000000"/>
                </a:solidFill>
                <a:latin typeface="Tahoma"/>
              </a:rPr>
              <a:t> fi </a:t>
            </a:r>
            <a:r>
              <a:rPr lang="en-US" sz="2000" b="0" strike="noStrike" spc="-1" dirty="0" err="1">
                <a:solidFill>
                  <a:srgbClr val="000000"/>
                </a:solidFill>
                <a:latin typeface="Tahoma"/>
              </a:rPr>
              <a:t>specificată</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ulterior, </a:t>
            </a:r>
            <a:r>
              <a:rPr lang="en-US" sz="2000" b="0" strike="noStrike" spc="-1" dirty="0" err="1">
                <a:solidFill>
                  <a:srgbClr val="000000"/>
                </a:solidFill>
                <a:latin typeface="Tahoma"/>
              </a:rPr>
              <a:t>după</a:t>
            </a:r>
            <a:r>
              <a:rPr lang="en-US" sz="2000" b="0" strike="noStrike" spc="-1" dirty="0">
                <a:solidFill>
                  <a:srgbClr val="000000"/>
                </a:solidFill>
                <a:latin typeface="Tahoma"/>
              </a:rPr>
              <a:t> care </a:t>
            </a:r>
            <a:r>
              <a:rPr lang="en-US" sz="2000" b="0" strike="noStrike" spc="-1" dirty="0" err="1">
                <a:solidFill>
                  <a:srgbClr val="000000"/>
                </a:solidFill>
                <a:latin typeface="Tahoma"/>
              </a:rPr>
              <a:t>ea</a:t>
            </a:r>
            <a:r>
              <a:rPr lang="en-US" sz="2000" b="0" strike="noStrike" spc="-1" dirty="0">
                <a:solidFill>
                  <a:srgbClr val="000000"/>
                </a:solidFill>
                <a:latin typeface="Tahoma"/>
              </a:rPr>
              <a:t> nu </a:t>
            </a:r>
            <a:r>
              <a:rPr lang="en-US" sz="2000" b="0" strike="noStrike" spc="-1" dirty="0" err="1">
                <a:solidFill>
                  <a:srgbClr val="000000"/>
                </a:solidFill>
                <a:latin typeface="Tahoma"/>
              </a:rPr>
              <a:t>va</a:t>
            </a:r>
            <a:r>
              <a:rPr lang="en-US" sz="2000" b="0" strike="noStrike" spc="-1" dirty="0">
                <a:solidFill>
                  <a:srgbClr val="000000"/>
                </a:solidFill>
                <a:latin typeface="Tahoma"/>
              </a:rPr>
              <a:t> </a:t>
            </a:r>
            <a:r>
              <a:rPr lang="en-US" sz="2000" b="0" strike="noStrike" spc="-1" dirty="0" err="1">
                <a:solidFill>
                  <a:srgbClr val="000000"/>
                </a:solidFill>
                <a:latin typeface="Tahoma"/>
              </a:rPr>
              <a:t>mai</a:t>
            </a:r>
            <a:r>
              <a:rPr lang="en-US" sz="2000" b="0" strike="noStrike" spc="-1" dirty="0">
                <a:solidFill>
                  <a:srgbClr val="000000"/>
                </a:solidFill>
                <a:latin typeface="Tahoma"/>
              </a:rPr>
              <a:t> </a:t>
            </a:r>
            <a:r>
              <a:rPr lang="en-US" sz="2000" b="0" strike="noStrike" spc="-1" dirty="0" err="1">
                <a:solidFill>
                  <a:srgbClr val="000000"/>
                </a:solidFill>
                <a:latin typeface="Tahoma"/>
              </a:rPr>
              <a:t>putea</a:t>
            </a:r>
            <a:r>
              <a:rPr lang="en-US" sz="2000" b="0" strike="noStrike" spc="-1" dirty="0">
                <a:solidFill>
                  <a:srgbClr val="000000"/>
                </a:solidFill>
                <a:latin typeface="Tahoma"/>
              </a:rPr>
              <a:t> fi </a:t>
            </a:r>
            <a:r>
              <a:rPr lang="en-US" sz="2000" b="0" strike="noStrike" spc="-1" dirty="0" err="1">
                <a:solidFill>
                  <a:srgbClr val="000000"/>
                </a:solidFill>
                <a:latin typeface="Tahoma"/>
              </a:rPr>
              <a:t>modificată</a:t>
            </a:r>
            <a:r>
              <a:rPr lang="en-US" sz="2000" b="0" strike="noStrike" spc="-1" dirty="0">
                <a:solidFill>
                  <a:srgbClr val="000000"/>
                </a:solidFill>
                <a:latin typeface="Tahoma"/>
              </a:rPr>
              <a:t>. </a:t>
            </a:r>
          </a:p>
          <a:p>
            <a:pPr marL="343080" indent="-342720">
              <a:lnSpc>
                <a:spcPct val="80000"/>
              </a:lnSpc>
              <a:spcBef>
                <a:spcPts val="400"/>
              </a:spcBef>
            </a:pPr>
            <a:endParaRPr lang="en-US" sz="2000" b="0" strike="noStrike" spc="-1" dirty="0">
              <a:solidFill>
                <a:srgbClr val="000000"/>
              </a:solidFill>
              <a:latin typeface="Tahoma"/>
            </a:endParaRPr>
          </a:p>
          <a:p>
            <a:pPr marL="343080" indent="-342720">
              <a:lnSpc>
                <a:spcPct val="80000"/>
              </a:lnSpc>
              <a:spcBef>
                <a:spcPts val="400"/>
              </a:spcBef>
              <a:buClr>
                <a:srgbClr val="FFCC00"/>
              </a:buClr>
              <a:buFont typeface="Monotype Sorts" charset="2"/>
              <a:buChar char=""/>
            </a:pPr>
            <a:r>
              <a:rPr lang="en-US" sz="2000" b="0" i="1" strike="noStrike" spc="-1" dirty="0" err="1">
                <a:solidFill>
                  <a:srgbClr val="008000"/>
                </a:solidFill>
                <a:latin typeface="Tahoma"/>
              </a:rPr>
              <a:t>Exemplu</a:t>
            </a:r>
            <a:r>
              <a:rPr lang="en-US" sz="2000" b="0" i="1" strike="noStrike" spc="-1" dirty="0">
                <a:solidFill>
                  <a:srgbClr val="000000"/>
                </a:solidFill>
                <a:latin typeface="Tahoma"/>
              </a:rPr>
              <a:t>:</a:t>
            </a:r>
            <a:r>
              <a:rPr lang="en-US" sz="2000" b="0" strike="noStrike" spc="-1" dirty="0">
                <a:solidFill>
                  <a:srgbClr val="000000"/>
                </a:solidFill>
                <a:latin typeface="Tahoma"/>
              </a:rPr>
              <a:t> se </a:t>
            </a:r>
            <a:r>
              <a:rPr lang="en-US" sz="2000" b="0" strike="noStrike" spc="-1" dirty="0" err="1">
                <a:solidFill>
                  <a:srgbClr val="000000"/>
                </a:solidFill>
                <a:latin typeface="Tahoma"/>
              </a:rPr>
              <a:t>declară</a:t>
            </a:r>
            <a:r>
              <a:rPr lang="en-US" sz="2000" b="0" strike="noStrike" spc="-1" dirty="0">
                <a:solidFill>
                  <a:srgbClr val="000000"/>
                </a:solidFill>
                <a:latin typeface="Tahoma"/>
              </a:rPr>
              <a:t> </a:t>
            </a:r>
            <a:r>
              <a:rPr lang="en-US" sz="2000" b="0" strike="noStrike" spc="-1" dirty="0" err="1">
                <a:solidFill>
                  <a:srgbClr val="000000"/>
                </a:solidFill>
                <a:latin typeface="Tahoma"/>
              </a:rPr>
              <a:t>şi</a:t>
            </a:r>
            <a:r>
              <a:rPr lang="en-US" sz="2000" b="0" strike="noStrike" spc="-1" dirty="0">
                <a:solidFill>
                  <a:srgbClr val="000000"/>
                </a:solidFill>
                <a:latin typeface="Tahoma"/>
              </a:rPr>
              <a:t> se </a:t>
            </a:r>
            <a:r>
              <a:rPr lang="en-US" sz="2000" b="0" strike="noStrike" spc="-1" dirty="0" err="1">
                <a:solidFill>
                  <a:srgbClr val="000000"/>
                </a:solidFill>
                <a:latin typeface="Tahoma"/>
              </a:rPr>
              <a:t>iniţializează</a:t>
            </a:r>
            <a:r>
              <a:rPr lang="en-US" sz="2000" b="0" strike="noStrike" spc="-1" dirty="0">
                <a:solidFill>
                  <a:srgbClr val="000000"/>
                </a:solidFill>
                <a:latin typeface="Tahoma"/>
              </a:rPr>
              <a:t> o </a:t>
            </a:r>
            <a:r>
              <a:rPr lang="en-US" sz="2000" b="0" strike="noStrike" spc="-1" dirty="0" err="1">
                <a:solidFill>
                  <a:srgbClr val="000000"/>
                </a:solidFill>
                <a:latin typeface="Tahoma"/>
              </a:rPr>
              <a:t>variabilă</a:t>
            </a:r>
            <a:r>
              <a:rPr lang="en-US" sz="2000" b="0" strike="noStrike" spc="-1" dirty="0">
                <a:solidFill>
                  <a:srgbClr val="000000"/>
                </a:solidFill>
                <a:latin typeface="Tahoma"/>
              </a:rPr>
              <a:t> </a:t>
            </a:r>
            <a:r>
              <a:rPr lang="en-US" sz="2000" b="0" strike="noStrike" spc="-1" dirty="0" err="1">
                <a:solidFill>
                  <a:srgbClr val="000000"/>
                </a:solidFill>
                <a:latin typeface="Tahoma"/>
              </a:rPr>
              <a:t>finală</a:t>
            </a:r>
            <a:r>
              <a:rPr lang="en-US" sz="2000" b="0" strike="noStrike" spc="-1" dirty="0">
                <a:solidFill>
                  <a:srgbClr val="000000"/>
                </a:solidFill>
                <a:latin typeface="Tahoma"/>
              </a:rPr>
              <a:t> (</a:t>
            </a:r>
            <a:r>
              <a:rPr lang="en-US" sz="2000" b="0" strike="noStrike" spc="-1" dirty="0" err="1">
                <a:solidFill>
                  <a:srgbClr val="000000"/>
                </a:solidFill>
                <a:latin typeface="Tahoma"/>
              </a:rPr>
              <a:t>linia</a:t>
            </a:r>
            <a:r>
              <a:rPr lang="en-US" sz="2000" b="0" strike="noStrike" spc="-1" dirty="0">
                <a:solidFill>
                  <a:srgbClr val="000000"/>
                </a:solidFill>
                <a:latin typeface="Tahoma"/>
              </a:rPr>
              <a:t> 1). </a:t>
            </a:r>
            <a:r>
              <a:rPr lang="en-US" sz="2000" b="0" strike="noStrike" spc="-1" dirty="0" err="1">
                <a:solidFill>
                  <a:srgbClr val="000000"/>
                </a:solidFill>
                <a:latin typeface="Tahoma"/>
              </a:rPr>
              <a:t>Valoarea</a:t>
            </a:r>
            <a:r>
              <a:rPr lang="en-US" sz="2000" b="0" strike="noStrike" spc="-1" dirty="0">
                <a:solidFill>
                  <a:srgbClr val="000000"/>
                </a:solidFill>
                <a:latin typeface="Tahoma"/>
              </a:rPr>
              <a:t> </a:t>
            </a:r>
            <a:r>
              <a:rPr lang="en-US" sz="2000" b="0" strike="noStrike" spc="-1" dirty="0" err="1">
                <a:solidFill>
                  <a:srgbClr val="000000"/>
                </a:solidFill>
                <a:latin typeface="Tahoma"/>
              </a:rPr>
              <a:t>ei</a:t>
            </a:r>
            <a:r>
              <a:rPr lang="en-US" sz="2000" b="0" strike="noStrike" spc="-1" dirty="0">
                <a:solidFill>
                  <a:srgbClr val="000000"/>
                </a:solidFill>
                <a:latin typeface="Tahoma"/>
              </a:rPr>
              <a:t> nu </a:t>
            </a:r>
            <a:r>
              <a:rPr lang="en-US" sz="2000" b="0" strike="noStrike" spc="-1" dirty="0" err="1">
                <a:solidFill>
                  <a:srgbClr val="000000"/>
                </a:solidFill>
                <a:latin typeface="Tahoma"/>
              </a:rPr>
              <a:t>mai</a:t>
            </a:r>
            <a:r>
              <a:rPr lang="en-US" sz="2000" b="0" strike="noStrike" spc="-1" dirty="0">
                <a:solidFill>
                  <a:srgbClr val="000000"/>
                </a:solidFill>
                <a:latin typeface="Tahoma"/>
              </a:rPr>
              <a:t> </a:t>
            </a:r>
            <a:r>
              <a:rPr lang="en-US" sz="2000" b="0" strike="noStrike" spc="-1" dirty="0" err="1">
                <a:solidFill>
                  <a:srgbClr val="000000"/>
                </a:solidFill>
                <a:latin typeface="Tahoma"/>
              </a:rPr>
              <a:t>poate</a:t>
            </a:r>
            <a:r>
              <a:rPr lang="en-US" sz="2000" b="0" strike="noStrike" spc="-1" dirty="0">
                <a:solidFill>
                  <a:srgbClr val="000000"/>
                </a:solidFill>
                <a:latin typeface="Tahoma"/>
              </a:rPr>
              <a:t> fi </a:t>
            </a:r>
            <a:r>
              <a:rPr lang="en-US" sz="2000" b="0" strike="noStrike" spc="-1" dirty="0" err="1">
                <a:solidFill>
                  <a:srgbClr val="000000"/>
                </a:solidFill>
                <a:latin typeface="Tahoma"/>
              </a:rPr>
              <a:t>modificată</a:t>
            </a:r>
            <a:r>
              <a:rPr lang="en-US" sz="2000" b="0" strike="noStrike" spc="-1" dirty="0">
                <a:solidFill>
                  <a:srgbClr val="000000"/>
                </a:solidFill>
                <a:latin typeface="Tahoma"/>
              </a:rPr>
              <a:t> (</a:t>
            </a:r>
            <a:r>
              <a:rPr lang="en-US" sz="2000" b="0" strike="noStrike" spc="-1" dirty="0" err="1">
                <a:solidFill>
                  <a:srgbClr val="000000"/>
                </a:solidFill>
                <a:latin typeface="Tahoma"/>
              </a:rPr>
              <a:t>linia</a:t>
            </a:r>
            <a:r>
              <a:rPr lang="en-US" sz="2000" b="0" strike="noStrike" spc="-1" dirty="0">
                <a:solidFill>
                  <a:srgbClr val="000000"/>
                </a:solidFill>
                <a:latin typeface="Tahoma"/>
              </a:rPr>
              <a:t> 3).</a:t>
            </a:r>
          </a:p>
          <a:p>
            <a:pPr marL="743040" lvl="1" indent="-285480">
              <a:lnSpc>
                <a:spcPct val="80000"/>
              </a:lnSpc>
              <a:spcBef>
                <a:spcPts val="360"/>
              </a:spcBef>
              <a:buClr>
                <a:srgbClr val="FFCC00"/>
              </a:buClr>
              <a:buFont typeface="Monotype Sorts" charset="2"/>
              <a:buChar char=""/>
            </a:pPr>
            <a:r>
              <a:rPr lang="en-US" sz="1800" b="1" strike="noStrike" spc="-1" dirty="0">
                <a:solidFill>
                  <a:srgbClr val="000000"/>
                </a:solidFill>
                <a:latin typeface="Courier New"/>
              </a:rPr>
              <a:t>final double PI = 3.14 ;</a:t>
            </a:r>
            <a:endParaRPr lang="en-US" sz="1800" b="0" strike="noStrike" spc="-1" dirty="0">
              <a:solidFill>
                <a:srgbClr val="000000"/>
              </a:solidFill>
              <a:latin typeface="Tahoma"/>
            </a:endParaRPr>
          </a:p>
          <a:p>
            <a:pPr marL="743040" lvl="1" indent="-285480">
              <a:lnSpc>
                <a:spcPct val="80000"/>
              </a:lnSpc>
              <a:spcBef>
                <a:spcPts val="360"/>
              </a:spcBef>
              <a:buClr>
                <a:srgbClr val="FFCC00"/>
              </a:buClr>
              <a:buFont typeface="Monotype Sorts" charset="2"/>
              <a:buChar char=""/>
            </a:pPr>
            <a:r>
              <a:rPr lang="en-US" sz="1800" b="1" strike="noStrike" spc="-1" dirty="0">
                <a:solidFill>
                  <a:srgbClr val="000000"/>
                </a:solidFill>
                <a:latin typeface="Courier New"/>
              </a:rPr>
              <a:t>...</a:t>
            </a:r>
            <a:endParaRPr lang="en-US" sz="1800" b="0" strike="noStrike" spc="-1" dirty="0">
              <a:solidFill>
                <a:srgbClr val="000000"/>
              </a:solidFill>
              <a:latin typeface="Tahoma"/>
            </a:endParaRPr>
          </a:p>
          <a:p>
            <a:pPr marL="743040" lvl="1" indent="-285480">
              <a:lnSpc>
                <a:spcPct val="80000"/>
              </a:lnSpc>
              <a:spcBef>
                <a:spcPts val="360"/>
              </a:spcBef>
              <a:buClr>
                <a:srgbClr val="FFCC00"/>
              </a:buClr>
              <a:buFont typeface="Monotype Sorts" charset="2"/>
              <a:buChar char=""/>
            </a:pPr>
            <a:r>
              <a:rPr lang="en-US" sz="1800" b="1" strike="noStrike" spc="-1" dirty="0">
                <a:solidFill>
                  <a:srgbClr val="000000"/>
                </a:solidFill>
                <a:latin typeface="Courier New"/>
              </a:rPr>
              <a:t>PI = 3.141 // </a:t>
            </a:r>
            <a:r>
              <a:rPr lang="en-US" sz="1800" b="1" strike="noStrike" spc="-1" dirty="0" err="1">
                <a:solidFill>
                  <a:srgbClr val="000000"/>
                </a:solidFill>
                <a:latin typeface="Courier New"/>
              </a:rPr>
              <a:t>eroare</a:t>
            </a:r>
            <a:r>
              <a:rPr lang="en-US" sz="1800" b="1" strike="noStrike" spc="-1" dirty="0">
                <a:solidFill>
                  <a:srgbClr val="000000"/>
                </a:solidFill>
                <a:latin typeface="Courier New"/>
              </a:rPr>
              <a:t> la </a:t>
            </a:r>
            <a:r>
              <a:rPr lang="en-US" sz="1800" b="1" strike="noStrike" spc="-1" dirty="0" err="1">
                <a:solidFill>
                  <a:srgbClr val="000000"/>
                </a:solidFill>
                <a:latin typeface="Courier New"/>
              </a:rPr>
              <a:t>compilare</a:t>
            </a:r>
            <a:endParaRPr lang="en-US" sz="18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1437C7E6-4C56-439A-AA5D-444F71122A96}" type="slidenum">
              <a:rPr lang="en-US" sz="1400" b="0" strike="noStrike" spc="-1">
                <a:solidFill>
                  <a:srgbClr val="5E574E"/>
                </a:solidFill>
                <a:latin typeface="Arial"/>
              </a:rPr>
              <a:t>46</a:t>
            </a:fld>
            <a:endParaRPr lang="en-US" sz="1400" b="0" strike="noStrike" spc="-1">
              <a:latin typeface="Times New Roman"/>
            </a:endParaRPr>
          </a:p>
        </p:txBody>
      </p:sp>
      <p:sp>
        <p:nvSpPr>
          <p:cNvPr id="473" name="TextShape 5"/>
          <p:cNvSpPr txBox="1"/>
          <p:nvPr/>
        </p:nvSpPr>
        <p:spPr>
          <a:xfrm>
            <a:off x="495360" y="1219320"/>
            <a:ext cx="8859600" cy="4838400"/>
          </a:xfrm>
          <a:prstGeom prst="rect">
            <a:avLst/>
          </a:prstGeom>
          <a:noFill/>
          <a:ln>
            <a:noFill/>
          </a:ln>
        </p:spPr>
        <p:txBody>
          <a:bodyPr>
            <a:noAutofit/>
          </a:bodyPr>
          <a:lstStyle/>
          <a:p>
            <a:pPr marL="343080" indent="-342720">
              <a:lnSpc>
                <a:spcPct val="90000"/>
              </a:lnSpc>
              <a:spcBef>
                <a:spcPts val="479"/>
              </a:spcBef>
              <a:buClr>
                <a:srgbClr val="FFCC00"/>
              </a:buClr>
              <a:buFont typeface="Monotype Sorts" charset="2"/>
              <a:buChar char=""/>
            </a:pPr>
            <a:r>
              <a:rPr lang="en-US" sz="2400" b="0" i="1" strike="noStrike" spc="-1" dirty="0" err="1">
                <a:solidFill>
                  <a:srgbClr val="008000"/>
                </a:solidFill>
                <a:latin typeface="Tahoma"/>
              </a:rPr>
              <a:t>Exemplu</a:t>
            </a:r>
            <a:r>
              <a:rPr lang="en-US" sz="2400" b="0" i="1" strike="noStrike" spc="-1" dirty="0">
                <a:solidFill>
                  <a:srgbClr val="000000"/>
                </a:solidFill>
                <a:latin typeface="Tahoma"/>
              </a:rPr>
              <a:t>:</a:t>
            </a:r>
            <a:r>
              <a:rPr lang="en-US" sz="2400" b="0" strike="noStrike" spc="-1" dirty="0">
                <a:solidFill>
                  <a:srgbClr val="000000"/>
                </a:solidFill>
                <a:latin typeface="Tahoma"/>
              </a:rPr>
              <a:t> se </a:t>
            </a:r>
            <a:r>
              <a:rPr lang="en-US" sz="2400" b="0" strike="noStrike" spc="-1" dirty="0" err="1">
                <a:solidFill>
                  <a:srgbClr val="000000"/>
                </a:solidFill>
                <a:latin typeface="Tahoma"/>
              </a:rPr>
              <a:t>declară</a:t>
            </a:r>
            <a:r>
              <a:rPr lang="en-US" sz="2400" b="0" strike="noStrike" spc="-1" dirty="0">
                <a:solidFill>
                  <a:srgbClr val="000000"/>
                </a:solidFill>
                <a:latin typeface="Tahoma"/>
              </a:rPr>
              <a:t> o </a:t>
            </a:r>
            <a:r>
              <a:rPr lang="en-US" sz="2400" b="0" strike="noStrike" spc="-1" dirty="0" err="1">
                <a:solidFill>
                  <a:srgbClr val="000000"/>
                </a:solidFill>
                <a:latin typeface="Tahoma"/>
              </a:rPr>
              <a:t>variabilă</a:t>
            </a:r>
            <a:r>
              <a:rPr lang="en-US" sz="2400" b="0" strike="noStrike" spc="-1" dirty="0">
                <a:solidFill>
                  <a:srgbClr val="000000"/>
                </a:solidFill>
                <a:latin typeface="Tahoma"/>
              </a:rPr>
              <a:t> </a:t>
            </a:r>
            <a:r>
              <a:rPr lang="en-US" sz="2400" b="0" strike="noStrike" spc="-1" dirty="0" err="1">
                <a:solidFill>
                  <a:srgbClr val="000000"/>
                </a:solidFill>
                <a:latin typeface="Tahoma"/>
              </a:rPr>
              <a:t>finală</a:t>
            </a:r>
            <a:r>
              <a:rPr lang="en-US" sz="2400" b="0" strike="noStrike" spc="-1" dirty="0">
                <a:solidFill>
                  <a:srgbClr val="000000"/>
                </a:solidFill>
                <a:latin typeface="Tahoma"/>
              </a:rPr>
              <a:t> (</a:t>
            </a:r>
            <a:r>
              <a:rPr lang="en-US" sz="2400" b="0" strike="noStrike" spc="-1" dirty="0" err="1">
                <a:solidFill>
                  <a:srgbClr val="000000"/>
                </a:solidFill>
                <a:latin typeface="Tahoma"/>
              </a:rPr>
              <a:t>linia</a:t>
            </a:r>
            <a:r>
              <a:rPr lang="en-US" sz="2400" b="0" strike="noStrike" spc="-1" dirty="0">
                <a:solidFill>
                  <a:srgbClr val="000000"/>
                </a:solidFill>
                <a:latin typeface="Tahoma"/>
              </a:rPr>
              <a:t> 2).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linia</a:t>
            </a:r>
            <a:r>
              <a:rPr lang="en-US" sz="2400" b="0" strike="noStrike" spc="-1" dirty="0">
                <a:solidFill>
                  <a:srgbClr val="000000"/>
                </a:solidFill>
                <a:latin typeface="Tahoma"/>
              </a:rPr>
              <a:t> 4 se </a:t>
            </a:r>
            <a:r>
              <a:rPr lang="en-US" sz="2400" b="0" strike="noStrike" spc="-1" dirty="0" err="1">
                <a:solidFill>
                  <a:srgbClr val="000000"/>
                </a:solidFill>
                <a:latin typeface="Tahoma"/>
              </a:rPr>
              <a:t>iniţializează</a:t>
            </a:r>
            <a:r>
              <a:rPr lang="en-US" sz="2400" b="0" strike="noStrike" spc="-1" dirty="0">
                <a:solidFill>
                  <a:srgbClr val="000000"/>
                </a:solidFill>
                <a:latin typeface="Tahoma"/>
              </a:rPr>
              <a:t> </a:t>
            </a:r>
            <a:r>
              <a:rPr lang="en-US" sz="2400" b="0" strike="noStrike" spc="-1" dirty="0" err="1">
                <a:solidFill>
                  <a:srgbClr val="000000"/>
                </a:solidFill>
                <a:latin typeface="Tahoma"/>
              </a:rPr>
              <a:t>iar</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linia</a:t>
            </a:r>
            <a:r>
              <a:rPr lang="en-US" sz="2400" b="0" strike="noStrike" spc="-1" dirty="0">
                <a:solidFill>
                  <a:srgbClr val="000000"/>
                </a:solidFill>
                <a:latin typeface="Tahoma"/>
              </a:rPr>
              <a:t> 5 se </a:t>
            </a:r>
            <a:r>
              <a:rPr lang="en-US" sz="2400" b="0" strike="noStrike" spc="-1" dirty="0" err="1">
                <a:solidFill>
                  <a:srgbClr val="000000"/>
                </a:solidFill>
                <a:latin typeface="Tahoma"/>
              </a:rPr>
              <a:t>doreşte</a:t>
            </a:r>
            <a:r>
              <a:rPr lang="en-US" sz="2400" b="0" strike="noStrike" spc="-1" dirty="0">
                <a:solidFill>
                  <a:srgbClr val="000000"/>
                </a:solidFill>
                <a:latin typeface="Tahoma"/>
              </a:rPr>
              <a:t> </a:t>
            </a:r>
            <a:r>
              <a:rPr lang="en-US" sz="2400" b="0" strike="noStrike" spc="-1" dirty="0" err="1">
                <a:solidFill>
                  <a:srgbClr val="000000"/>
                </a:solidFill>
                <a:latin typeface="Tahoma"/>
              </a:rPr>
              <a:t>modificarea</a:t>
            </a:r>
            <a:r>
              <a:rPr lang="en-US" sz="2400" b="0" strike="noStrike" spc="-1" dirty="0">
                <a:solidFill>
                  <a:srgbClr val="000000"/>
                </a:solidFill>
                <a:latin typeface="Tahoma"/>
              </a:rPr>
              <a:t> </a:t>
            </a:r>
            <a:r>
              <a:rPr lang="en-US" sz="2400" b="0" strike="noStrike" spc="-1" dirty="0" err="1">
                <a:solidFill>
                  <a:srgbClr val="000000"/>
                </a:solidFill>
                <a:latin typeface="Tahoma"/>
              </a:rPr>
              <a:t>valorii</a:t>
            </a:r>
            <a:r>
              <a:rPr lang="en-US" sz="2400" b="0" strike="noStrike" spc="-1" dirty="0">
                <a:solidFill>
                  <a:srgbClr val="000000"/>
                </a:solidFill>
                <a:latin typeface="Tahoma"/>
              </a:rPr>
              <a:t> </a:t>
            </a:r>
            <a:r>
              <a:rPr lang="en-US" sz="2400" b="0" strike="noStrike" spc="-1" dirty="0" err="1">
                <a:solidFill>
                  <a:srgbClr val="000000"/>
                </a:solidFill>
                <a:latin typeface="Tahoma"/>
              </a:rPr>
              <a:t>ei</a:t>
            </a:r>
            <a:r>
              <a:rPr lang="en-US" sz="2400" b="0" strike="noStrike" spc="-1" dirty="0">
                <a:solidFill>
                  <a:srgbClr val="000000"/>
                </a:solidFill>
                <a:latin typeface="Tahoma"/>
              </a:rPr>
              <a:t>.</a:t>
            </a:r>
          </a:p>
          <a:p>
            <a:pPr marL="743040" indent="-285480">
              <a:lnSpc>
                <a:spcPct val="90000"/>
              </a:lnSpc>
              <a:spcBef>
                <a:spcPts val="400"/>
              </a:spcBef>
            </a:pPr>
            <a:r>
              <a:rPr lang="en-US" sz="2000" b="0" strike="noStrike" spc="-1" dirty="0">
                <a:solidFill>
                  <a:srgbClr val="000000"/>
                </a:solidFill>
                <a:latin typeface="Tahoma"/>
              </a:rPr>
              <a:t>	</a:t>
            </a:r>
            <a:r>
              <a:rPr lang="en-US" sz="1600" b="1" strike="noStrike" spc="-1" dirty="0">
                <a:solidFill>
                  <a:srgbClr val="000000"/>
                </a:solidFill>
                <a:latin typeface="Courier New"/>
              </a:rPr>
              <a:t>class Test {</a:t>
            </a:r>
            <a:endParaRPr lang="en-US" sz="1600" b="0" strike="noStrike" spc="-1" dirty="0">
              <a:solidFill>
                <a:srgbClr val="000000"/>
              </a:solidFill>
              <a:latin typeface="Tahoma"/>
            </a:endParaRPr>
          </a:p>
          <a:p>
            <a:pPr marL="743040" indent="-285480">
              <a:lnSpc>
                <a:spcPct val="90000"/>
              </a:lnSpc>
              <a:spcBef>
                <a:spcPts val="320"/>
              </a:spcBef>
            </a:pPr>
            <a:r>
              <a:rPr lang="en-US" sz="1600" b="1" strike="noStrike" spc="-1" dirty="0">
                <a:solidFill>
                  <a:srgbClr val="000000"/>
                </a:solidFill>
                <a:latin typeface="Courier New"/>
              </a:rPr>
              <a:t>	  final </a:t>
            </a:r>
            <a:r>
              <a:rPr lang="en-US" sz="1600" b="1" strike="noStrike" spc="-1" dirty="0" err="1">
                <a:solidFill>
                  <a:srgbClr val="000000"/>
                </a:solidFill>
                <a:latin typeface="Courier New"/>
              </a:rPr>
              <a:t>int</a:t>
            </a:r>
            <a:r>
              <a:rPr lang="en-US" sz="1600" b="1" strike="noStrike" spc="-1" dirty="0">
                <a:solidFill>
                  <a:srgbClr val="000000"/>
                </a:solidFill>
                <a:latin typeface="Courier New"/>
              </a:rPr>
              <a:t> MAX;</a:t>
            </a:r>
            <a:endParaRPr lang="en-US" sz="1600" b="0" strike="noStrike" spc="-1" dirty="0">
              <a:solidFill>
                <a:srgbClr val="000000"/>
              </a:solidFill>
              <a:latin typeface="Tahoma"/>
            </a:endParaRPr>
          </a:p>
          <a:p>
            <a:pPr marL="743040" indent="-285480">
              <a:lnSpc>
                <a:spcPct val="90000"/>
              </a:lnSpc>
              <a:spcBef>
                <a:spcPts val="320"/>
              </a:spcBef>
            </a:pPr>
            <a:r>
              <a:rPr lang="en-US" sz="1600" b="1" strike="noStrike" spc="-1" dirty="0">
                <a:solidFill>
                  <a:srgbClr val="000000"/>
                </a:solidFill>
                <a:latin typeface="Courier New"/>
              </a:rPr>
              <a:t>	  Test() {</a:t>
            </a:r>
            <a:endParaRPr lang="en-US" sz="1600" b="0" strike="noStrike" spc="-1" dirty="0">
              <a:solidFill>
                <a:srgbClr val="000000"/>
              </a:solidFill>
              <a:latin typeface="Tahoma"/>
            </a:endParaRPr>
          </a:p>
          <a:p>
            <a:pPr marL="743040" indent="-285480">
              <a:lnSpc>
                <a:spcPct val="90000"/>
              </a:lnSpc>
              <a:spcBef>
                <a:spcPts val="320"/>
              </a:spcBef>
            </a:pPr>
            <a:r>
              <a:rPr lang="en-US" sz="1600" b="1" strike="noStrike" spc="-1" dirty="0">
                <a:solidFill>
                  <a:srgbClr val="000000"/>
                </a:solidFill>
                <a:latin typeface="Courier New"/>
              </a:rPr>
              <a:t>	    MAX = 100;	// legal</a:t>
            </a:r>
            <a:endParaRPr lang="en-US" sz="1600" b="0" strike="noStrike" spc="-1" dirty="0">
              <a:solidFill>
                <a:srgbClr val="000000"/>
              </a:solidFill>
              <a:latin typeface="Tahoma"/>
            </a:endParaRPr>
          </a:p>
          <a:p>
            <a:pPr marL="743040" indent="-285480">
              <a:lnSpc>
                <a:spcPct val="90000"/>
              </a:lnSpc>
              <a:spcBef>
                <a:spcPts val="320"/>
              </a:spcBef>
            </a:pPr>
            <a:r>
              <a:rPr lang="en-US" sz="1600" b="1" strike="noStrike" spc="-1" dirty="0">
                <a:solidFill>
                  <a:srgbClr val="000000"/>
                </a:solidFill>
                <a:latin typeface="Courier New"/>
              </a:rPr>
              <a:t>	    MAX = 200;	// </a:t>
            </a:r>
            <a:r>
              <a:rPr lang="en-US" sz="1600" b="1" strike="noStrike" spc="-1" dirty="0" err="1">
                <a:solidFill>
                  <a:srgbClr val="000000"/>
                </a:solidFill>
                <a:latin typeface="Courier New"/>
              </a:rPr>
              <a:t>ilegal</a:t>
            </a:r>
            <a:r>
              <a:rPr lang="en-US" sz="1600" b="1" strike="noStrike" spc="-1" dirty="0">
                <a:solidFill>
                  <a:srgbClr val="000000"/>
                </a:solidFill>
                <a:latin typeface="Courier New"/>
              </a:rPr>
              <a:t> -&gt; </a:t>
            </a:r>
            <a:r>
              <a:rPr lang="en-US" sz="1600" b="1" strike="noStrike" spc="-1" dirty="0" err="1">
                <a:solidFill>
                  <a:srgbClr val="000000"/>
                </a:solidFill>
                <a:latin typeface="Courier New"/>
              </a:rPr>
              <a:t>eroare</a:t>
            </a:r>
            <a:r>
              <a:rPr lang="en-US" sz="1600" b="1" strike="noStrike" spc="-1" dirty="0">
                <a:solidFill>
                  <a:srgbClr val="000000"/>
                </a:solidFill>
                <a:latin typeface="Courier New"/>
              </a:rPr>
              <a:t> la </a:t>
            </a:r>
            <a:r>
              <a:rPr lang="en-US" sz="1600" b="1" strike="noStrike" spc="-1" dirty="0" err="1">
                <a:solidFill>
                  <a:srgbClr val="000000"/>
                </a:solidFill>
                <a:latin typeface="Courier New"/>
              </a:rPr>
              <a:t>compilare</a:t>
            </a:r>
            <a:endParaRPr lang="en-US" sz="1600" b="0" strike="noStrike" spc="-1" dirty="0">
              <a:solidFill>
                <a:srgbClr val="000000"/>
              </a:solidFill>
              <a:latin typeface="Tahoma"/>
            </a:endParaRPr>
          </a:p>
          <a:p>
            <a:pPr marL="743040" indent="-285480">
              <a:lnSpc>
                <a:spcPct val="90000"/>
              </a:lnSpc>
              <a:spcBef>
                <a:spcPts val="320"/>
              </a:spcBef>
            </a:pPr>
            <a:r>
              <a:rPr lang="en-US" sz="1600" b="1" strike="noStrike" spc="-1" dirty="0">
                <a:solidFill>
                  <a:srgbClr val="000000"/>
                </a:solidFill>
                <a:latin typeface="Courier New"/>
              </a:rPr>
              <a:t>	  }</a:t>
            </a:r>
            <a:endParaRPr lang="en-US" sz="1600" b="0" strike="noStrike" spc="-1" dirty="0">
              <a:solidFill>
                <a:srgbClr val="000000"/>
              </a:solidFill>
              <a:latin typeface="Tahoma"/>
            </a:endParaRPr>
          </a:p>
          <a:p>
            <a:pPr marL="743040" indent="-285480">
              <a:lnSpc>
                <a:spcPct val="90000"/>
              </a:lnSpc>
              <a:spcBef>
                <a:spcPts val="320"/>
              </a:spcBef>
            </a:pPr>
            <a:r>
              <a:rPr lang="en-US" sz="1600" b="1" strike="noStrike" spc="-1" dirty="0">
                <a:solidFill>
                  <a:srgbClr val="000000"/>
                </a:solidFill>
                <a:latin typeface="Courier New"/>
              </a:rPr>
              <a:t>	}</a:t>
            </a:r>
            <a:endParaRPr lang="en-US" sz="1600" b="0" strike="noStrike" spc="-1" dirty="0">
              <a:solidFill>
                <a:srgbClr val="000000"/>
              </a:solidFill>
              <a:latin typeface="Tahoma"/>
            </a:endParaRPr>
          </a:p>
          <a:p>
            <a:pPr marL="343080" indent="-342720">
              <a:lnSpc>
                <a:spcPct val="90000"/>
              </a:lnSpc>
              <a:spcBef>
                <a:spcPts val="479"/>
              </a:spcBef>
              <a:buClr>
                <a:srgbClr val="FFCC00"/>
              </a:buClr>
              <a:buFont typeface="Monotype Sorts" charset="2"/>
              <a:buChar char=""/>
            </a:pPr>
            <a:r>
              <a:rPr lang="en-US" sz="2400" b="1" strike="noStrike" spc="-1" dirty="0">
                <a:solidFill>
                  <a:srgbClr val="008000"/>
                </a:solidFill>
                <a:latin typeface="Tahoma"/>
              </a:rPr>
              <a:t>transient</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folosit</a:t>
            </a:r>
            <a:r>
              <a:rPr lang="en-US" sz="2400" b="0" strike="noStrike" spc="-1" dirty="0">
                <a:solidFill>
                  <a:srgbClr val="000000"/>
                </a:solidFill>
                <a:latin typeface="Tahoma"/>
              </a:rPr>
              <a:t> la </a:t>
            </a:r>
            <a:r>
              <a:rPr lang="en-US" sz="2400" b="0" strike="noStrike" spc="-1" dirty="0" err="1">
                <a:solidFill>
                  <a:srgbClr val="000000"/>
                </a:solidFill>
                <a:latin typeface="Tahoma"/>
              </a:rPr>
              <a:t>serializarea</a:t>
            </a:r>
            <a:r>
              <a:rPr lang="en-US" sz="2400" b="0" strike="noStrike" spc="-1" dirty="0">
                <a:solidFill>
                  <a:srgbClr val="000000"/>
                </a:solidFill>
                <a:latin typeface="Tahoma"/>
              </a:rPr>
              <a:t> </a:t>
            </a:r>
            <a:r>
              <a:rPr lang="en-US" sz="2400" b="0" strike="noStrike" spc="-1" dirty="0" err="1">
                <a:solidFill>
                  <a:srgbClr val="000000"/>
                </a:solidFill>
                <a:latin typeface="Tahoma"/>
              </a:rPr>
              <a:t>obiectelor</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 </a:t>
            </a:r>
            <a:r>
              <a:rPr lang="en-US" sz="2400" b="0" strike="noStrike" spc="-1" dirty="0" err="1">
                <a:solidFill>
                  <a:srgbClr val="000000"/>
                </a:solidFill>
                <a:latin typeface="Tahoma"/>
              </a:rPr>
              <a:t>specifica</a:t>
            </a:r>
            <a:r>
              <a:rPr lang="en-US" sz="2400" b="0" strike="noStrike" spc="-1" dirty="0">
                <a:solidFill>
                  <a:srgbClr val="000000"/>
                </a:solidFill>
                <a:latin typeface="Tahoma"/>
              </a:rPr>
              <a:t> </a:t>
            </a:r>
            <a:r>
              <a:rPr lang="en-US" sz="2400" b="0" strike="noStrike" spc="-1" dirty="0" err="1">
                <a:solidFill>
                  <a:srgbClr val="000000"/>
                </a:solidFill>
                <a:latin typeface="Tahoma"/>
              </a:rPr>
              <a:t>ce</a:t>
            </a:r>
            <a:r>
              <a:rPr lang="en-US" sz="2400" b="0" strike="noStrike" spc="-1" dirty="0">
                <a:solidFill>
                  <a:srgbClr val="000000"/>
                </a:solidFill>
                <a:latin typeface="Tahoma"/>
              </a:rPr>
              <a:t> </a:t>
            </a:r>
            <a:r>
              <a:rPr lang="en-US" sz="2400" b="0" strike="noStrike" spc="-1" dirty="0" err="1">
                <a:solidFill>
                  <a:srgbClr val="000000"/>
                </a:solidFill>
                <a:latin typeface="Tahoma"/>
              </a:rPr>
              <a:t>variabile</a:t>
            </a:r>
            <a:r>
              <a:rPr lang="en-US" sz="2400" b="0" strike="noStrike" spc="-1" dirty="0">
                <a:solidFill>
                  <a:srgbClr val="000000"/>
                </a:solidFill>
                <a:latin typeface="Tahoma"/>
              </a:rPr>
              <a:t> </a:t>
            </a:r>
            <a:r>
              <a:rPr lang="en-US" sz="2400" b="0" strike="noStrike" spc="-1" dirty="0" err="1">
                <a:solidFill>
                  <a:srgbClr val="000000"/>
                </a:solidFill>
                <a:latin typeface="Tahoma"/>
              </a:rPr>
              <a:t>membru</a:t>
            </a:r>
            <a:r>
              <a:rPr lang="en-US" sz="2400" b="0" strike="noStrike" spc="-1" dirty="0">
                <a:solidFill>
                  <a:srgbClr val="000000"/>
                </a:solidFill>
                <a:latin typeface="Tahoma"/>
              </a:rPr>
              <a:t> ale </a:t>
            </a:r>
            <a:r>
              <a:rPr lang="en-US" sz="2400" b="0" strike="noStrike" spc="-1" dirty="0" err="1">
                <a:solidFill>
                  <a:srgbClr val="000000"/>
                </a:solidFill>
                <a:latin typeface="Tahoma"/>
              </a:rPr>
              <a:t>unui</a:t>
            </a:r>
            <a:r>
              <a:rPr lang="en-US" sz="2400" b="0" strike="noStrike" spc="-1" dirty="0">
                <a:solidFill>
                  <a:srgbClr val="000000"/>
                </a:solidFill>
                <a:latin typeface="Tahoma"/>
              </a:rPr>
              <a:t> </a:t>
            </a:r>
            <a:r>
              <a:rPr lang="en-US" sz="2400" b="0" strike="noStrike" spc="-1" dirty="0" err="1">
                <a:solidFill>
                  <a:srgbClr val="000000"/>
                </a:solidFill>
                <a:latin typeface="Tahoma"/>
              </a:rPr>
              <a:t>obiect</a:t>
            </a:r>
            <a:r>
              <a:rPr lang="en-US" sz="2400" b="0" strike="noStrike" spc="-1" dirty="0">
                <a:solidFill>
                  <a:srgbClr val="000000"/>
                </a:solidFill>
                <a:latin typeface="Tahoma"/>
              </a:rPr>
              <a:t> nu </a:t>
            </a:r>
            <a:r>
              <a:rPr lang="en-US" sz="2400" b="0" strike="noStrike" spc="-1" dirty="0" err="1">
                <a:solidFill>
                  <a:srgbClr val="000000"/>
                </a:solidFill>
                <a:latin typeface="Tahoma"/>
              </a:rPr>
              <a:t>participa</a:t>
            </a:r>
            <a:r>
              <a:rPr lang="en-US" sz="2400" b="0" strike="noStrike" spc="-1" dirty="0">
                <a:solidFill>
                  <a:srgbClr val="000000"/>
                </a:solidFill>
                <a:latin typeface="Tahoma"/>
              </a:rPr>
              <a:t> la </a:t>
            </a:r>
            <a:r>
              <a:rPr lang="en-US" sz="2400" b="0" strike="noStrike" spc="-1" dirty="0" err="1">
                <a:solidFill>
                  <a:srgbClr val="000000"/>
                </a:solidFill>
                <a:latin typeface="Tahoma"/>
              </a:rPr>
              <a:t>serializare</a:t>
            </a:r>
            <a:r>
              <a:rPr lang="en-US" sz="2400" b="0" strike="noStrike" spc="-1" dirty="0">
                <a:solidFill>
                  <a:srgbClr val="000000"/>
                </a:solidFill>
                <a:latin typeface="Tahoma"/>
              </a:rPr>
              <a:t>. </a:t>
            </a:r>
          </a:p>
          <a:p>
            <a:pPr marL="343080" indent="-342720">
              <a:lnSpc>
                <a:spcPct val="90000"/>
              </a:lnSpc>
              <a:spcBef>
                <a:spcPts val="479"/>
              </a:spcBef>
              <a:buClr>
                <a:srgbClr val="FFCC00"/>
              </a:buClr>
              <a:buFont typeface="Monotype Sorts" charset="2"/>
              <a:buChar char=""/>
            </a:pPr>
            <a:r>
              <a:rPr lang="en-US" sz="2400" b="1" strike="noStrike" spc="-1" dirty="0">
                <a:solidFill>
                  <a:srgbClr val="008000"/>
                </a:solidFill>
                <a:latin typeface="Tahoma"/>
              </a:rPr>
              <a:t>volatile</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folosit</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 </a:t>
            </a:r>
            <a:r>
              <a:rPr lang="en-US" sz="2400" b="0" strike="noStrike" spc="-1" dirty="0" err="1">
                <a:solidFill>
                  <a:srgbClr val="000000"/>
                </a:solidFill>
                <a:latin typeface="Tahoma"/>
              </a:rPr>
              <a:t>semnala</a:t>
            </a:r>
            <a:r>
              <a:rPr lang="en-US" sz="2400" b="0" strike="noStrike" spc="-1" dirty="0">
                <a:solidFill>
                  <a:srgbClr val="000000"/>
                </a:solidFill>
                <a:latin typeface="Tahoma"/>
              </a:rPr>
              <a:t> </a:t>
            </a:r>
            <a:r>
              <a:rPr lang="en-US" sz="2400" b="0" strike="noStrike" spc="-1" dirty="0" err="1">
                <a:solidFill>
                  <a:srgbClr val="000000"/>
                </a:solidFill>
                <a:latin typeface="Tahoma"/>
              </a:rPr>
              <a:t>compilatorului</a:t>
            </a:r>
            <a:r>
              <a:rPr lang="en-US" sz="2400" b="0" strike="noStrike" spc="-1" dirty="0">
                <a:solidFill>
                  <a:srgbClr val="000000"/>
                </a:solidFill>
                <a:latin typeface="Tahoma"/>
              </a:rPr>
              <a:t> </a:t>
            </a:r>
            <a:r>
              <a:rPr lang="en-US" sz="2400" b="0" strike="noStrike" spc="-1" dirty="0" err="1">
                <a:solidFill>
                  <a:srgbClr val="000000"/>
                </a:solidFill>
                <a:latin typeface="Tahoma"/>
              </a:rPr>
              <a:t>să</a:t>
            </a:r>
            <a:r>
              <a:rPr lang="en-US" sz="2400" b="0" strike="noStrike" spc="-1" dirty="0">
                <a:solidFill>
                  <a:srgbClr val="000000"/>
                </a:solidFill>
                <a:latin typeface="Tahoma"/>
              </a:rPr>
              <a:t> nu execute </a:t>
            </a:r>
            <a:r>
              <a:rPr lang="en-US" sz="2400" b="0" strike="noStrike" spc="-1" dirty="0" err="1">
                <a:solidFill>
                  <a:srgbClr val="000000"/>
                </a:solidFill>
                <a:latin typeface="Tahoma"/>
              </a:rPr>
              <a:t>anumite</a:t>
            </a:r>
            <a:r>
              <a:rPr lang="en-US" sz="2400" b="0" strike="noStrike" spc="-1" dirty="0">
                <a:solidFill>
                  <a:srgbClr val="000000"/>
                </a:solidFill>
                <a:latin typeface="Tahoma"/>
              </a:rPr>
              <a:t> </a:t>
            </a:r>
            <a:r>
              <a:rPr lang="en-US" sz="2400" b="0" strike="noStrike" spc="-1" dirty="0" err="1">
                <a:solidFill>
                  <a:srgbClr val="000000"/>
                </a:solidFill>
                <a:latin typeface="Tahoma"/>
              </a:rPr>
              <a:t>optimizări</a:t>
            </a:r>
            <a:r>
              <a:rPr lang="en-US" sz="2400" b="0" strike="noStrike" spc="-1" dirty="0">
                <a:solidFill>
                  <a:srgbClr val="000000"/>
                </a:solidFill>
                <a:latin typeface="Tahoma"/>
              </a:rPr>
              <a:t> </a:t>
            </a:r>
            <a:r>
              <a:rPr lang="en-US" sz="2400" b="0" strike="noStrike" spc="-1" dirty="0" err="1">
                <a:solidFill>
                  <a:srgbClr val="000000"/>
                </a:solidFill>
                <a:latin typeface="Tahoma"/>
              </a:rPr>
              <a:t>asupra</a:t>
            </a:r>
            <a:r>
              <a:rPr lang="en-US" sz="2400" b="0" strike="noStrike" spc="-1" dirty="0">
                <a:solidFill>
                  <a:srgbClr val="000000"/>
                </a:solidFill>
                <a:latin typeface="Tahoma"/>
              </a:rPr>
              <a:t> </a:t>
            </a:r>
            <a:r>
              <a:rPr lang="en-US" sz="2400" b="0" strike="noStrike" spc="-1" dirty="0" err="1">
                <a:solidFill>
                  <a:srgbClr val="000000"/>
                </a:solidFill>
                <a:latin typeface="Tahoma"/>
              </a:rPr>
              <a:t>membrilor</a:t>
            </a:r>
            <a:r>
              <a:rPr lang="en-US" sz="2400" b="0" strike="noStrike" spc="-1" dirty="0">
                <a:solidFill>
                  <a:srgbClr val="000000"/>
                </a:solidFill>
                <a:latin typeface="Tahoma"/>
              </a:rPr>
              <a:t> </a:t>
            </a:r>
            <a:r>
              <a:rPr lang="en-US" sz="2400" b="0" strike="noStrike" spc="-1" dirty="0" err="1">
                <a:solidFill>
                  <a:srgbClr val="000000"/>
                </a:solidFill>
                <a:latin typeface="Tahoma"/>
              </a:rPr>
              <a:t>unei</a:t>
            </a:r>
            <a:r>
              <a:rPr lang="en-US" sz="2400" b="0" strike="noStrike" spc="-1" dirty="0">
                <a:solidFill>
                  <a:srgbClr val="000000"/>
                </a:solidFill>
                <a:latin typeface="Tahoma"/>
              </a:rPr>
              <a:t> </a:t>
            </a:r>
            <a:r>
              <a:rPr lang="en-US" sz="2400" b="0" strike="noStrike" spc="-1" dirty="0" err="1">
                <a:solidFill>
                  <a:srgbClr val="000000"/>
                </a:solidFill>
                <a:latin typeface="Tahoma"/>
              </a:rPr>
              <a:t>clase</a:t>
            </a:r>
            <a:r>
              <a:rPr lang="en-US" sz="2400" b="0" strike="noStrike" spc="-1" dirty="0">
                <a:solidFill>
                  <a:srgbClr val="000000"/>
                </a:solidFill>
                <a:latin typeface="Tahoma"/>
              </a:rPr>
              <a:t>. Este o facilitate </a:t>
            </a:r>
            <a:r>
              <a:rPr lang="en-US" sz="2400" b="0" strike="noStrike" spc="-1" dirty="0" err="1">
                <a:solidFill>
                  <a:srgbClr val="000000"/>
                </a:solidFill>
                <a:latin typeface="Tahoma"/>
              </a:rPr>
              <a:t>avansată</a:t>
            </a:r>
            <a:r>
              <a:rPr lang="en-US" sz="2400" b="0" strike="noStrike" spc="-1" dirty="0">
                <a:solidFill>
                  <a:srgbClr val="000000"/>
                </a:solidFill>
                <a:latin typeface="Tahoma"/>
              </a:rPr>
              <a:t> a </a:t>
            </a:r>
            <a:r>
              <a:rPr lang="en-US" sz="2400" b="0" strike="noStrike" spc="-1" dirty="0" err="1">
                <a:solidFill>
                  <a:srgbClr val="000000"/>
                </a:solidFill>
                <a:latin typeface="Tahoma"/>
              </a:rPr>
              <a:t>limbajului</a:t>
            </a:r>
            <a:r>
              <a:rPr lang="en-US" sz="2400" b="0" strike="noStrike" spc="-1" dirty="0">
                <a:solidFill>
                  <a:srgbClr val="000000"/>
                </a:solidFill>
                <a:latin typeface="Tahoma"/>
              </a:rPr>
              <a:t> Java.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78C4ED0F-04D4-4A08-8B97-3DD703DA386B}" type="slidenum">
              <a:rPr lang="en-US" sz="1400" b="0" strike="noStrike" spc="-1">
                <a:solidFill>
                  <a:srgbClr val="5E574E"/>
                </a:solidFill>
                <a:latin typeface="Arial"/>
              </a:rPr>
              <a:t>47</a:t>
            </a:fld>
            <a:endParaRPr lang="en-US" sz="1400" b="0" strike="noStrike" spc="-1">
              <a:latin typeface="Times New Roman"/>
            </a:endParaRPr>
          </a:p>
        </p:txBody>
      </p:sp>
      <p:sp>
        <p:nvSpPr>
          <p:cNvPr id="478" name="TextShape 5"/>
          <p:cNvSpPr txBox="1"/>
          <p:nvPr/>
        </p:nvSpPr>
        <p:spPr>
          <a:xfrm>
            <a:off x="495360" y="1219320"/>
            <a:ext cx="8859600" cy="4838400"/>
          </a:xfrm>
          <a:prstGeom prst="rect">
            <a:avLst/>
          </a:prstGeom>
          <a:noFill/>
          <a:ln>
            <a:noFill/>
          </a:ln>
        </p:spPr>
        <p:txBody>
          <a:bodyPr>
            <a:noAutofit/>
          </a:bodyPr>
          <a:lstStyle/>
          <a:p>
            <a:pPr marL="1371600" indent="-456840">
              <a:lnSpc>
                <a:spcPct val="80000"/>
              </a:lnSpc>
              <a:spcBef>
                <a:spcPts val="400"/>
              </a:spcBef>
            </a:pPr>
            <a:r>
              <a:rPr lang="en-US" sz="2000" b="1" strike="noStrike" spc="-1" dirty="0" err="1">
                <a:solidFill>
                  <a:srgbClr val="008000"/>
                </a:solidFill>
                <a:latin typeface="Tahoma"/>
              </a:rPr>
              <a:t>Metode</a:t>
            </a:r>
            <a:endParaRPr lang="en-US" sz="2000" b="0" strike="noStrike" spc="-1" dirty="0">
              <a:solidFill>
                <a:srgbClr val="000000"/>
              </a:solidFill>
              <a:latin typeface="Tahoma"/>
            </a:endParaRPr>
          </a:p>
          <a:p>
            <a:pPr marL="1752480" indent="-380520">
              <a:lnSpc>
                <a:spcPct val="80000"/>
              </a:lnSpc>
              <a:spcBef>
                <a:spcPts val="400"/>
              </a:spcBef>
            </a:pPr>
            <a:r>
              <a:rPr lang="en-US" sz="2000" b="1" strike="noStrike" spc="-1" dirty="0" err="1">
                <a:solidFill>
                  <a:srgbClr val="008000"/>
                </a:solidFill>
                <a:latin typeface="Tahoma"/>
              </a:rPr>
              <a:t>Definirea</a:t>
            </a:r>
            <a:r>
              <a:rPr lang="en-US" sz="2000" b="1" strike="noStrike" spc="-1" dirty="0">
                <a:solidFill>
                  <a:srgbClr val="008000"/>
                </a:solidFill>
                <a:latin typeface="Tahoma"/>
              </a:rPr>
              <a:t> </a:t>
            </a:r>
            <a:r>
              <a:rPr lang="en-US" sz="2000" b="1" strike="noStrike" spc="-1" dirty="0" err="1">
                <a:solidFill>
                  <a:srgbClr val="008000"/>
                </a:solidFill>
                <a:latin typeface="Tahoma"/>
              </a:rPr>
              <a:t>metodelor</a:t>
            </a:r>
            <a:endParaRPr lang="en-US" sz="20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dirty="0" err="1">
                <a:solidFill>
                  <a:srgbClr val="000000"/>
                </a:solidFill>
                <a:latin typeface="Tahoma"/>
              </a:rPr>
              <a:t>Metodele</a:t>
            </a:r>
            <a:r>
              <a:rPr lang="en-US" sz="2000" b="0" strike="noStrike" spc="-1" dirty="0">
                <a:solidFill>
                  <a:srgbClr val="000000"/>
                </a:solidFill>
                <a:latin typeface="Tahoma"/>
              </a:rPr>
              <a:t> </a:t>
            </a:r>
            <a:r>
              <a:rPr lang="en-US" sz="2000" b="0" strike="noStrike" spc="-1" dirty="0" err="1">
                <a:solidFill>
                  <a:srgbClr val="000000"/>
                </a:solidFill>
                <a:latin typeface="Tahoma"/>
              </a:rPr>
              <a:t>sunt</a:t>
            </a:r>
            <a:r>
              <a:rPr lang="en-US" sz="2000" b="0" strike="noStrike" spc="-1" dirty="0">
                <a:solidFill>
                  <a:srgbClr val="000000"/>
                </a:solidFill>
                <a:latin typeface="Tahoma"/>
              </a:rPr>
              <a:t> </a:t>
            </a:r>
            <a:r>
              <a:rPr lang="en-US" sz="2000" b="0" strike="noStrike" spc="-1" dirty="0" err="1">
                <a:solidFill>
                  <a:srgbClr val="000000"/>
                </a:solidFill>
                <a:latin typeface="Tahoma"/>
              </a:rPr>
              <a:t>folosite</a:t>
            </a:r>
            <a:r>
              <a:rPr lang="en-US" sz="2000" b="0" strike="noStrike" spc="-1" dirty="0">
                <a:solidFill>
                  <a:srgbClr val="000000"/>
                </a:solidFill>
                <a:latin typeface="Tahoma"/>
              </a:rPr>
              <a:t> </a:t>
            </a:r>
            <a:r>
              <a:rPr lang="en-US" sz="2000" b="0" strike="noStrike" spc="-1" dirty="0" err="1">
                <a:solidFill>
                  <a:srgbClr val="000000"/>
                </a:solidFill>
                <a:latin typeface="Tahoma"/>
              </a:rPr>
              <a:t>pentru</a:t>
            </a:r>
            <a:r>
              <a:rPr lang="en-US" sz="2000" b="0" strike="noStrike" spc="-1" dirty="0">
                <a:solidFill>
                  <a:srgbClr val="000000"/>
                </a:solidFill>
                <a:latin typeface="Tahoma"/>
              </a:rPr>
              <a:t> </a:t>
            </a:r>
            <a:r>
              <a:rPr lang="en-US" sz="2000" b="0" strike="noStrike" spc="-1" dirty="0" err="1">
                <a:solidFill>
                  <a:srgbClr val="000000"/>
                </a:solidFill>
                <a:latin typeface="Tahoma"/>
              </a:rPr>
              <a:t>descrierea</a:t>
            </a:r>
            <a:r>
              <a:rPr lang="en-US" sz="2000" b="0" strike="noStrike" spc="-1" dirty="0">
                <a:solidFill>
                  <a:srgbClr val="000000"/>
                </a:solidFill>
                <a:latin typeface="Tahoma"/>
              </a:rPr>
              <a:t> </a:t>
            </a:r>
            <a:r>
              <a:rPr lang="en-US" sz="2000" b="0" strike="noStrike" spc="-1" dirty="0" err="1">
                <a:solidFill>
                  <a:srgbClr val="000000"/>
                </a:solidFill>
                <a:latin typeface="Tahoma"/>
              </a:rPr>
              <a:t>comportamentului</a:t>
            </a:r>
            <a:r>
              <a:rPr lang="en-US" sz="2000" b="0" strike="noStrike" spc="-1" dirty="0">
                <a:solidFill>
                  <a:srgbClr val="000000"/>
                </a:solidFill>
                <a:latin typeface="Tahoma"/>
              </a:rPr>
              <a:t> </a:t>
            </a:r>
            <a:r>
              <a:rPr lang="en-US" sz="2000" b="0" strike="noStrike" spc="-1" dirty="0" err="1">
                <a:solidFill>
                  <a:srgbClr val="000000"/>
                </a:solidFill>
                <a:latin typeface="Tahoma"/>
              </a:rPr>
              <a:t>unui</a:t>
            </a:r>
            <a:r>
              <a:rPr lang="en-US" sz="2000" b="0" strike="noStrike" spc="-1" dirty="0">
                <a:solidFill>
                  <a:srgbClr val="000000"/>
                </a:solidFill>
                <a:latin typeface="Tahoma"/>
              </a:rPr>
              <a:t> </a:t>
            </a:r>
            <a:r>
              <a:rPr lang="en-US" sz="2000" b="0" strike="noStrike" spc="-1" dirty="0" err="1">
                <a:solidFill>
                  <a:srgbClr val="000000"/>
                </a:solidFill>
                <a:latin typeface="Tahoma"/>
              </a:rPr>
              <a:t>obiect</a:t>
            </a:r>
            <a:r>
              <a:rPr lang="en-US" sz="2000" b="0" strike="noStrike" spc="-1" dirty="0">
                <a:solidFill>
                  <a:srgbClr val="000000"/>
                </a:solidFill>
                <a:latin typeface="Tahoma"/>
              </a:rPr>
              <a:t>. O </a:t>
            </a:r>
            <a:r>
              <a:rPr lang="en-US" sz="2000" b="0" strike="noStrike" spc="-1" dirty="0" err="1">
                <a:solidFill>
                  <a:srgbClr val="000000"/>
                </a:solidFill>
                <a:latin typeface="Tahoma"/>
              </a:rPr>
              <a:t>metodă</a:t>
            </a:r>
            <a:r>
              <a:rPr lang="en-US" sz="2000" b="0" strike="noStrike" spc="-1" dirty="0">
                <a:solidFill>
                  <a:srgbClr val="000000"/>
                </a:solidFill>
                <a:latin typeface="Tahoma"/>
              </a:rPr>
              <a:t> se </a:t>
            </a:r>
            <a:r>
              <a:rPr lang="en-US" sz="2000" b="0" strike="noStrike" spc="-1" dirty="0" err="1">
                <a:solidFill>
                  <a:srgbClr val="000000"/>
                </a:solidFill>
                <a:latin typeface="Tahoma"/>
              </a:rPr>
              <a:t>declară</a:t>
            </a:r>
            <a:r>
              <a:rPr lang="en-US" sz="2000" b="0" strike="noStrike" spc="-1" dirty="0">
                <a:solidFill>
                  <a:srgbClr val="000000"/>
                </a:solidFill>
                <a:latin typeface="Tahoma"/>
              </a:rPr>
              <a:t> </a:t>
            </a:r>
            <a:r>
              <a:rPr lang="en-US" sz="2000" b="0" strike="noStrike" spc="-1" dirty="0" err="1">
                <a:solidFill>
                  <a:srgbClr val="000000"/>
                </a:solidFill>
                <a:latin typeface="Tahoma"/>
              </a:rPr>
              <a:t>astfel</a:t>
            </a:r>
            <a:r>
              <a:rPr lang="en-US" sz="2000" b="0" strike="noStrike" spc="-1" dirty="0">
                <a:solidFill>
                  <a:srgbClr val="000000"/>
                </a:solidFill>
                <a:latin typeface="Tahoma"/>
              </a:rPr>
              <a:t>:</a:t>
            </a:r>
          </a:p>
          <a:p>
            <a:pPr marL="609480" indent="-609120">
              <a:lnSpc>
                <a:spcPct val="80000"/>
              </a:lnSpc>
              <a:spcBef>
                <a:spcPts val="400"/>
              </a:spcBef>
            </a:pPr>
            <a:endParaRPr lang="en-US" sz="20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Courier New"/>
              </a:rPr>
              <a:t>	</a:t>
            </a:r>
            <a:r>
              <a:rPr lang="en-US" sz="1800" b="1" strike="noStrike" spc="-1" dirty="0">
                <a:solidFill>
                  <a:srgbClr val="FF9900"/>
                </a:solidFill>
                <a:latin typeface="Courier New"/>
              </a:rPr>
              <a:t>[</a:t>
            </a:r>
            <a:r>
              <a:rPr lang="en-US" sz="1800" b="1" strike="noStrike" spc="-1" dirty="0" err="1">
                <a:solidFill>
                  <a:srgbClr val="FF9900"/>
                </a:solidFill>
                <a:latin typeface="Courier New"/>
              </a:rPr>
              <a:t>modificatori</a:t>
            </a:r>
            <a:r>
              <a:rPr lang="en-US" sz="1800" b="1" strike="noStrike" spc="-1" dirty="0">
                <a:solidFill>
                  <a:srgbClr val="FF9900"/>
                </a:solidFill>
                <a:latin typeface="Courier New"/>
              </a:rPr>
              <a:t>]</a:t>
            </a:r>
            <a:r>
              <a:rPr lang="en-US" sz="1800" b="1" strike="noStrike" spc="-1" dirty="0">
                <a:solidFill>
                  <a:srgbClr val="000000"/>
                </a:solidFill>
                <a:latin typeface="Courier New"/>
              </a:rPr>
              <a:t> </a:t>
            </a:r>
            <a:r>
              <a:rPr lang="en-US" sz="1800" b="1" strike="noStrike" spc="-1" dirty="0" err="1">
                <a:solidFill>
                  <a:srgbClr val="000000"/>
                </a:solidFill>
                <a:latin typeface="Courier New"/>
              </a:rPr>
              <a:t>TipReturnat</a:t>
            </a:r>
            <a:r>
              <a:rPr lang="en-US" sz="1800" b="1" strike="noStrike" spc="-1" dirty="0">
                <a:solidFill>
                  <a:srgbClr val="000000"/>
                </a:solidFill>
                <a:latin typeface="Courier New"/>
              </a:rPr>
              <a:t> </a:t>
            </a:r>
            <a:r>
              <a:rPr lang="en-US" sz="1800" b="1" strike="noStrike" spc="-1" dirty="0" err="1">
                <a:solidFill>
                  <a:srgbClr val="000000"/>
                </a:solidFill>
                <a:latin typeface="Courier New"/>
              </a:rPr>
              <a:t>numeMetoda</a:t>
            </a:r>
            <a:r>
              <a:rPr lang="en-US" sz="1800" b="1" strike="noStrike" spc="-1" dirty="0">
                <a:solidFill>
                  <a:srgbClr val="000000"/>
                </a:solidFill>
                <a:latin typeface="Courier New"/>
              </a:rPr>
              <a:t> (</a:t>
            </a:r>
            <a:r>
              <a:rPr lang="en-US" sz="1800" b="1" strike="noStrike" spc="-1" dirty="0">
                <a:solidFill>
                  <a:srgbClr val="FF9900"/>
                </a:solidFill>
                <a:latin typeface="Courier New"/>
              </a:rPr>
              <a:t>[</a:t>
            </a:r>
            <a:r>
              <a:rPr lang="en-US" sz="1800" b="1" strike="noStrike" spc="-1" dirty="0" err="1">
                <a:solidFill>
                  <a:srgbClr val="FF9900"/>
                </a:solidFill>
                <a:latin typeface="Courier New"/>
              </a:rPr>
              <a:t>argumente</a:t>
            </a:r>
            <a:r>
              <a:rPr lang="en-US" sz="1800" b="1" strike="noStrike" spc="-1" dirty="0">
                <a:solidFill>
                  <a:srgbClr val="FF9900"/>
                </a:solidFill>
                <a:latin typeface="Courier New"/>
              </a:rPr>
              <a:t>]</a:t>
            </a:r>
            <a:r>
              <a:rPr lang="en-US" sz="1800" b="1" strike="noStrike" spc="-1" dirty="0">
                <a:solidFill>
                  <a:srgbClr val="000000"/>
                </a:solidFill>
                <a:latin typeface="Courier New"/>
              </a:rPr>
              <a:t>) </a:t>
            </a:r>
            <a:endParaRPr lang="en-US" sz="18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Courier New"/>
              </a:rPr>
              <a:t>	</a:t>
            </a:r>
            <a:r>
              <a:rPr lang="en-US" sz="1800" b="1" strike="noStrike" spc="-1" dirty="0">
                <a:solidFill>
                  <a:srgbClr val="FF9900"/>
                </a:solidFill>
                <a:latin typeface="Courier New"/>
              </a:rPr>
              <a:t>[throws </a:t>
            </a:r>
            <a:r>
              <a:rPr lang="en-US" sz="1800" b="1" strike="noStrike" spc="-1" dirty="0" err="1">
                <a:solidFill>
                  <a:srgbClr val="FF9900"/>
                </a:solidFill>
                <a:latin typeface="Courier New"/>
              </a:rPr>
              <a:t>TipExceptie</a:t>
            </a:r>
            <a:r>
              <a:rPr lang="en-US" sz="1800" b="1" strike="noStrike" spc="-1" dirty="0">
                <a:solidFill>
                  <a:srgbClr val="FF9900"/>
                </a:solidFill>
                <a:latin typeface="Courier New"/>
              </a:rPr>
              <a:t>]</a:t>
            </a:r>
            <a:endParaRPr lang="en-US" sz="1800" b="0" strike="noStrike" spc="-1" dirty="0">
              <a:solidFill>
                <a:srgbClr val="000000"/>
              </a:solidFill>
              <a:latin typeface="Tahoma"/>
            </a:endParaRPr>
          </a:p>
          <a:p>
            <a:pPr marL="1371600" indent="-456840">
              <a:lnSpc>
                <a:spcPct val="80000"/>
              </a:lnSpc>
              <a:spcBef>
                <a:spcPts val="360"/>
              </a:spcBef>
            </a:pPr>
            <a:r>
              <a:rPr lang="en-US" sz="1800" b="1" strike="noStrike" spc="-1" dirty="0">
                <a:solidFill>
                  <a:srgbClr val="000000"/>
                </a:solidFill>
                <a:latin typeface="Courier New"/>
              </a:rPr>
              <a:t>	{</a:t>
            </a:r>
            <a:endParaRPr lang="en-US" sz="18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Courier New"/>
              </a:rPr>
              <a:t>		//</a:t>
            </a:r>
            <a:r>
              <a:rPr lang="en-US" sz="1800" b="1" strike="noStrike" spc="-1" dirty="0" err="1">
                <a:solidFill>
                  <a:srgbClr val="000000"/>
                </a:solidFill>
                <a:latin typeface="Courier New"/>
              </a:rPr>
              <a:t>corpul</a:t>
            </a:r>
            <a:r>
              <a:rPr lang="en-US" sz="1800" b="1" strike="noStrike" spc="-1" dirty="0">
                <a:solidFill>
                  <a:srgbClr val="000000"/>
                </a:solidFill>
                <a:latin typeface="Courier New"/>
              </a:rPr>
              <a:t> </a:t>
            </a:r>
            <a:r>
              <a:rPr lang="en-US" sz="1800" b="1" strike="noStrike" spc="-1" dirty="0" err="1">
                <a:solidFill>
                  <a:srgbClr val="000000"/>
                </a:solidFill>
                <a:latin typeface="Courier New"/>
              </a:rPr>
              <a:t>metodei</a:t>
            </a:r>
            <a:endParaRPr lang="en-US" sz="1800" b="0" strike="noStrike" spc="-1" dirty="0">
              <a:solidFill>
                <a:srgbClr val="000000"/>
              </a:solidFill>
              <a:latin typeface="Tahoma"/>
            </a:endParaRPr>
          </a:p>
          <a:p>
            <a:pPr marL="990720" indent="-533160">
              <a:lnSpc>
                <a:spcPct val="80000"/>
              </a:lnSpc>
              <a:spcBef>
                <a:spcPts val="360"/>
              </a:spcBef>
            </a:pPr>
            <a:r>
              <a:rPr lang="en-US" sz="1800" b="1" strike="noStrike" spc="-1" dirty="0">
                <a:solidFill>
                  <a:srgbClr val="000000"/>
                </a:solidFill>
                <a:latin typeface="Courier New"/>
              </a:rPr>
              <a:t>	   }</a:t>
            </a:r>
            <a:endParaRPr lang="en-US" sz="1800" b="0" strike="noStrike" spc="-1" dirty="0">
              <a:solidFill>
                <a:srgbClr val="000000"/>
              </a:solidFill>
              <a:latin typeface="Tahoma"/>
            </a:endParaRPr>
          </a:p>
          <a:p>
            <a:pPr marL="609480" indent="-609120">
              <a:lnSpc>
                <a:spcPct val="80000"/>
              </a:lnSpc>
              <a:spcBef>
                <a:spcPts val="400"/>
              </a:spcBef>
            </a:pPr>
            <a:r>
              <a:rPr lang="en-US" sz="2000" b="1" strike="noStrike" spc="-1" dirty="0" err="1">
                <a:solidFill>
                  <a:srgbClr val="008000"/>
                </a:solidFill>
                <a:latin typeface="Tahoma"/>
              </a:rPr>
              <a:t>Modificatorii</a:t>
            </a:r>
            <a:r>
              <a:rPr lang="en-US" sz="2000" b="1" strike="noStrike" spc="-1" dirty="0">
                <a:solidFill>
                  <a:srgbClr val="008000"/>
                </a:solidFill>
                <a:latin typeface="Tahoma"/>
              </a:rPr>
              <a:t> </a:t>
            </a:r>
            <a:r>
              <a:rPr lang="en-US" sz="2000" b="1" strike="noStrike" spc="-1" dirty="0" err="1">
                <a:solidFill>
                  <a:srgbClr val="008000"/>
                </a:solidFill>
                <a:latin typeface="Tahoma"/>
              </a:rPr>
              <a:t>metodelor</a:t>
            </a:r>
            <a:endParaRPr lang="en-US" sz="2000" b="0" strike="noStrike" spc="-1" dirty="0">
              <a:solidFill>
                <a:srgbClr val="000000"/>
              </a:solidFill>
              <a:latin typeface="Tahoma"/>
            </a:endParaRPr>
          </a:p>
          <a:p>
            <a:pPr marL="609480" indent="-609120">
              <a:lnSpc>
                <a:spcPct val="80000"/>
              </a:lnSpc>
              <a:spcBef>
                <a:spcPts val="400"/>
              </a:spcBef>
              <a:buClr>
                <a:srgbClr val="FFCC00"/>
              </a:buClr>
              <a:buFont typeface="Monotype Sorts" charset="2"/>
              <a:buChar char=""/>
            </a:pPr>
            <a:r>
              <a:rPr lang="en-US" sz="2000" b="0" strike="noStrike" spc="-1" dirty="0">
                <a:solidFill>
                  <a:srgbClr val="000000"/>
                </a:solidFill>
                <a:latin typeface="Tahoma"/>
              </a:rPr>
              <a:t>Un </a:t>
            </a:r>
            <a:r>
              <a:rPr lang="en-US" sz="2000" b="0" strike="noStrike" spc="-1" dirty="0" err="1">
                <a:solidFill>
                  <a:srgbClr val="000000"/>
                </a:solidFill>
                <a:latin typeface="Tahoma"/>
              </a:rPr>
              <a:t>modificator</a:t>
            </a:r>
            <a:r>
              <a:rPr lang="en-US" sz="2000" b="0" strike="noStrike" spc="-1" dirty="0">
                <a:solidFill>
                  <a:srgbClr val="000000"/>
                </a:solidFill>
                <a:latin typeface="Tahoma"/>
              </a:rPr>
              <a:t> </a:t>
            </a:r>
            <a:r>
              <a:rPr lang="en-US" sz="2000" b="0" strike="noStrike" spc="-1" dirty="0" err="1">
                <a:solidFill>
                  <a:srgbClr val="000000"/>
                </a:solidFill>
                <a:latin typeface="Tahoma"/>
              </a:rPr>
              <a:t>poate</a:t>
            </a:r>
            <a:r>
              <a:rPr lang="en-US" sz="2000" b="0" strike="noStrike" spc="-1" dirty="0">
                <a:solidFill>
                  <a:srgbClr val="000000"/>
                </a:solidFill>
                <a:latin typeface="Tahoma"/>
              </a:rPr>
              <a:t> fi : </a:t>
            </a:r>
          </a:p>
          <a:p>
            <a:pPr marL="609480" indent="-609120">
              <a:lnSpc>
                <a:spcPct val="80000"/>
              </a:lnSpc>
              <a:spcBef>
                <a:spcPts val="400"/>
              </a:spcBef>
            </a:pPr>
            <a:r>
              <a:rPr lang="en-US" sz="2000" b="0" strike="noStrike" spc="-1" dirty="0">
                <a:solidFill>
                  <a:srgbClr val="000000"/>
                </a:solidFill>
                <a:latin typeface="Tahoma"/>
              </a:rPr>
              <a:t>	- un </a:t>
            </a:r>
            <a:r>
              <a:rPr lang="en-US" sz="2000" b="0" strike="noStrike" spc="-1" dirty="0" err="1">
                <a:solidFill>
                  <a:srgbClr val="000000"/>
                </a:solidFill>
                <a:latin typeface="Tahoma"/>
              </a:rPr>
              <a:t>specificator</a:t>
            </a:r>
            <a:r>
              <a:rPr lang="en-US" sz="2000" b="0" strike="noStrike" spc="-1" dirty="0">
                <a:solidFill>
                  <a:srgbClr val="000000"/>
                </a:solidFill>
                <a:latin typeface="Tahoma"/>
              </a:rPr>
              <a:t> de </a:t>
            </a:r>
            <a:r>
              <a:rPr lang="en-US" sz="2000" b="0" strike="noStrike" spc="-1" dirty="0" err="1">
                <a:solidFill>
                  <a:srgbClr val="000000"/>
                </a:solidFill>
                <a:latin typeface="Tahoma"/>
              </a:rPr>
              <a:t>acces</a:t>
            </a:r>
            <a:r>
              <a:rPr lang="en-US" sz="2000" b="0" strike="noStrike" spc="-1" dirty="0">
                <a:solidFill>
                  <a:srgbClr val="000000"/>
                </a:solidFill>
                <a:latin typeface="Tahoma"/>
              </a:rPr>
              <a:t>: </a:t>
            </a:r>
            <a:r>
              <a:rPr lang="en-US" sz="2000" b="1" strike="noStrike" spc="-1" dirty="0">
                <a:solidFill>
                  <a:srgbClr val="008000"/>
                </a:solidFill>
                <a:latin typeface="Tahoma"/>
              </a:rPr>
              <a:t>public</a:t>
            </a:r>
            <a:r>
              <a:rPr lang="en-US" sz="2000" b="1" strike="noStrike" spc="-1" dirty="0">
                <a:solidFill>
                  <a:srgbClr val="000000"/>
                </a:solidFill>
                <a:latin typeface="Tahoma"/>
              </a:rPr>
              <a:t>, </a:t>
            </a:r>
            <a:r>
              <a:rPr lang="en-US" sz="2000" b="1" strike="noStrike" spc="-1" dirty="0">
                <a:solidFill>
                  <a:srgbClr val="008000"/>
                </a:solidFill>
                <a:latin typeface="Tahoma"/>
              </a:rPr>
              <a:t>protected</a:t>
            </a:r>
            <a:r>
              <a:rPr lang="en-US" sz="2000" b="1" strike="noStrike" spc="-1" dirty="0">
                <a:solidFill>
                  <a:srgbClr val="000000"/>
                </a:solidFill>
                <a:latin typeface="Tahoma"/>
              </a:rPr>
              <a:t>, </a:t>
            </a:r>
            <a:r>
              <a:rPr lang="en-US" sz="2000" b="1" strike="noStrike" spc="-1" dirty="0">
                <a:solidFill>
                  <a:srgbClr val="008000"/>
                </a:solidFill>
                <a:latin typeface="Tahoma"/>
              </a:rPr>
              <a:t>private</a:t>
            </a:r>
            <a:r>
              <a:rPr lang="en-US" sz="2000" b="0" strike="noStrike" spc="-1" dirty="0">
                <a:solidFill>
                  <a:srgbClr val="000000"/>
                </a:solidFill>
                <a:latin typeface="Tahoma"/>
              </a:rPr>
              <a:t>; </a:t>
            </a:r>
          </a:p>
          <a:p>
            <a:pPr marL="609480" indent="-609120">
              <a:lnSpc>
                <a:spcPct val="80000"/>
              </a:lnSpc>
              <a:spcBef>
                <a:spcPts val="400"/>
              </a:spcBef>
            </a:pPr>
            <a:r>
              <a:rPr lang="en-US" sz="2000" b="0" strike="noStrike" spc="-1" dirty="0">
                <a:solidFill>
                  <a:srgbClr val="000000"/>
                </a:solidFill>
                <a:latin typeface="Tahoma"/>
              </a:rPr>
              <a:t>	- </a:t>
            </a:r>
            <a:r>
              <a:rPr lang="en-US" sz="2000" b="0" strike="noStrike" spc="-1" dirty="0" err="1">
                <a:solidFill>
                  <a:srgbClr val="000000"/>
                </a:solidFill>
                <a:latin typeface="Tahoma"/>
              </a:rPr>
              <a:t>unul</a:t>
            </a:r>
            <a:r>
              <a:rPr lang="en-US" sz="2000" b="0" strike="noStrike" spc="-1" dirty="0">
                <a:solidFill>
                  <a:srgbClr val="000000"/>
                </a:solidFill>
                <a:latin typeface="Tahoma"/>
              </a:rPr>
              <a:t> din </a:t>
            </a:r>
            <a:r>
              <a:rPr lang="en-US" sz="2000" b="0" strike="noStrike" spc="-1" dirty="0" err="1">
                <a:solidFill>
                  <a:srgbClr val="000000"/>
                </a:solidFill>
                <a:latin typeface="Tahoma"/>
              </a:rPr>
              <a:t>cuvintele</a:t>
            </a:r>
            <a:r>
              <a:rPr lang="en-US" sz="2000" b="0" strike="noStrike" spc="-1" dirty="0">
                <a:solidFill>
                  <a:srgbClr val="000000"/>
                </a:solidFill>
                <a:latin typeface="Tahoma"/>
              </a:rPr>
              <a:t> </a:t>
            </a:r>
            <a:r>
              <a:rPr lang="en-US" sz="2000" b="0" strike="noStrike" spc="-1" dirty="0" err="1">
                <a:solidFill>
                  <a:srgbClr val="000000"/>
                </a:solidFill>
                <a:latin typeface="Tahoma"/>
              </a:rPr>
              <a:t>rezervate</a:t>
            </a:r>
            <a:r>
              <a:rPr lang="en-US" sz="2000" b="0" strike="noStrike" spc="-1" dirty="0">
                <a:solidFill>
                  <a:srgbClr val="000000"/>
                </a:solidFill>
                <a:latin typeface="Tahoma"/>
              </a:rPr>
              <a:t>: </a:t>
            </a:r>
            <a:r>
              <a:rPr lang="en-US" sz="2000" b="1" strike="noStrike" spc="-1" dirty="0">
                <a:solidFill>
                  <a:srgbClr val="008000"/>
                </a:solidFill>
                <a:latin typeface="Tahoma"/>
              </a:rPr>
              <a:t>static</a:t>
            </a:r>
            <a:r>
              <a:rPr lang="en-US" sz="2000" b="1" strike="noStrike" spc="-1" dirty="0">
                <a:solidFill>
                  <a:srgbClr val="000000"/>
                </a:solidFill>
                <a:latin typeface="Tahoma"/>
              </a:rPr>
              <a:t>, </a:t>
            </a:r>
            <a:r>
              <a:rPr lang="en-US" sz="2000" b="1" strike="noStrike" spc="-1" dirty="0">
                <a:solidFill>
                  <a:srgbClr val="008000"/>
                </a:solidFill>
                <a:latin typeface="Tahoma"/>
              </a:rPr>
              <a:t>abstract</a:t>
            </a:r>
            <a:r>
              <a:rPr lang="en-US" sz="2000" b="1" strike="noStrike" spc="-1" dirty="0">
                <a:solidFill>
                  <a:srgbClr val="000000"/>
                </a:solidFill>
                <a:latin typeface="Tahoma"/>
              </a:rPr>
              <a:t>, </a:t>
            </a:r>
            <a:r>
              <a:rPr lang="en-US" sz="2000" b="1" strike="noStrike" spc="-1" dirty="0">
                <a:solidFill>
                  <a:srgbClr val="008000"/>
                </a:solidFill>
                <a:latin typeface="Tahoma"/>
              </a:rPr>
              <a:t>final</a:t>
            </a:r>
            <a:r>
              <a:rPr lang="en-US" sz="2000" b="1" strike="noStrike" spc="-1" dirty="0">
                <a:solidFill>
                  <a:srgbClr val="000000"/>
                </a:solidFill>
                <a:latin typeface="Tahoma"/>
              </a:rPr>
              <a:t>, </a:t>
            </a:r>
            <a:r>
              <a:rPr lang="en-US" sz="2000" b="1" strike="noStrike" spc="-1" dirty="0">
                <a:solidFill>
                  <a:srgbClr val="008000"/>
                </a:solidFill>
                <a:latin typeface="Tahoma"/>
              </a:rPr>
              <a:t>native</a:t>
            </a:r>
            <a:r>
              <a:rPr lang="en-US" sz="2000" b="1" strike="noStrike" spc="-1" dirty="0">
                <a:solidFill>
                  <a:srgbClr val="000000"/>
                </a:solidFill>
                <a:latin typeface="Tahoma"/>
              </a:rPr>
              <a:t>,</a:t>
            </a:r>
            <a:endParaRPr lang="en-US" sz="2000" b="0" strike="noStrike" spc="-1" dirty="0">
              <a:solidFill>
                <a:srgbClr val="000000"/>
              </a:solidFill>
              <a:latin typeface="Tahoma"/>
            </a:endParaRPr>
          </a:p>
          <a:p>
            <a:pPr marL="609480" indent="-609120">
              <a:lnSpc>
                <a:spcPct val="80000"/>
              </a:lnSpc>
              <a:spcBef>
                <a:spcPts val="400"/>
              </a:spcBef>
            </a:pPr>
            <a:r>
              <a:rPr lang="en-US" sz="2000" b="1" strike="noStrike" spc="-1" dirty="0">
                <a:solidFill>
                  <a:srgbClr val="000000"/>
                </a:solidFill>
                <a:latin typeface="Tahoma"/>
              </a:rPr>
              <a:t>           </a:t>
            </a:r>
            <a:r>
              <a:rPr lang="en-US" sz="2000" b="1" strike="noStrike" spc="-1" dirty="0">
                <a:solidFill>
                  <a:srgbClr val="008000"/>
                </a:solidFill>
                <a:latin typeface="Tahoma"/>
              </a:rPr>
              <a:t>synchronized</a:t>
            </a:r>
            <a:r>
              <a:rPr lang="en-US" sz="2000" b="1" strike="noStrike" spc="-1" dirty="0">
                <a:solidFill>
                  <a:srgbClr val="000000"/>
                </a:solidFill>
                <a:latin typeface="Tahoma"/>
              </a:rPr>
              <a:t>.</a:t>
            </a:r>
            <a:endParaRPr lang="en-US" sz="20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6CB92B55-3710-455D-9D44-8EE50B649495}" type="slidenum">
              <a:rPr lang="en-US" sz="1400" b="0" strike="noStrike" spc="-1">
                <a:solidFill>
                  <a:srgbClr val="5E574E"/>
                </a:solidFill>
                <a:latin typeface="Arial"/>
              </a:rPr>
              <a:t>48</a:t>
            </a:fld>
            <a:endParaRPr lang="en-US" sz="1400" b="0" strike="noStrike" spc="-1">
              <a:latin typeface="Times New Roman"/>
            </a:endParaRPr>
          </a:p>
        </p:txBody>
      </p:sp>
      <p:sp>
        <p:nvSpPr>
          <p:cNvPr id="483" name="TextShape 5"/>
          <p:cNvSpPr txBox="1"/>
          <p:nvPr/>
        </p:nvSpPr>
        <p:spPr>
          <a:xfrm>
            <a:off x="495360" y="1219320"/>
            <a:ext cx="8859600" cy="4838400"/>
          </a:xfrm>
          <a:prstGeom prst="rect">
            <a:avLst/>
          </a:prstGeom>
          <a:noFill/>
          <a:ln>
            <a:noFill/>
          </a:ln>
        </p:spPr>
        <p:txBody>
          <a:bodyPr>
            <a:noAutofit/>
          </a:bodyPr>
          <a:lstStyle/>
          <a:p>
            <a:pPr marL="343080" indent="-342720">
              <a:lnSpc>
                <a:spcPct val="80000"/>
              </a:lnSpc>
              <a:spcBef>
                <a:spcPts val="641"/>
              </a:spcBef>
              <a:buClr>
                <a:srgbClr val="FFCC00"/>
              </a:buClr>
              <a:buFont typeface="Monotype Sorts" charset="2"/>
              <a:buChar char=""/>
            </a:pPr>
            <a:r>
              <a:rPr lang="en-US" sz="3200" b="0" strike="noStrike" spc="-1" dirty="0" err="1">
                <a:solidFill>
                  <a:srgbClr val="000000"/>
                </a:solidFill>
                <a:latin typeface="Tahoma"/>
              </a:rPr>
              <a:t>Cuvintele</a:t>
            </a:r>
            <a:r>
              <a:rPr lang="en-US" sz="3200" b="0" strike="noStrike" spc="-1" dirty="0">
                <a:solidFill>
                  <a:srgbClr val="000000"/>
                </a:solidFill>
                <a:latin typeface="Tahoma"/>
              </a:rPr>
              <a:t> </a:t>
            </a:r>
            <a:r>
              <a:rPr lang="en-US" sz="3200" b="0" strike="noStrike" spc="-1" dirty="0" err="1">
                <a:solidFill>
                  <a:srgbClr val="000000"/>
                </a:solidFill>
                <a:latin typeface="Tahoma"/>
              </a:rPr>
              <a:t>rezervate</a:t>
            </a:r>
            <a:r>
              <a:rPr lang="en-US" sz="3200" b="0" strike="noStrike" spc="-1" dirty="0">
                <a:solidFill>
                  <a:srgbClr val="000000"/>
                </a:solidFill>
                <a:latin typeface="Tahoma"/>
              </a:rPr>
              <a:t>: </a:t>
            </a:r>
            <a:r>
              <a:rPr lang="en-US" sz="3200" b="1" strike="noStrike" spc="-1" dirty="0">
                <a:solidFill>
                  <a:srgbClr val="008000"/>
                </a:solidFill>
                <a:latin typeface="Tahoma"/>
              </a:rPr>
              <a:t>static</a:t>
            </a:r>
            <a:r>
              <a:rPr lang="en-US" sz="3200" b="0" strike="noStrike" spc="-1" dirty="0">
                <a:solidFill>
                  <a:srgbClr val="000000"/>
                </a:solidFill>
                <a:latin typeface="Tahoma"/>
              </a:rPr>
              <a:t>, </a:t>
            </a:r>
            <a:r>
              <a:rPr lang="en-US" sz="3200" b="1" strike="noStrike" spc="-1" dirty="0">
                <a:solidFill>
                  <a:srgbClr val="008000"/>
                </a:solidFill>
                <a:latin typeface="Tahoma"/>
              </a:rPr>
              <a:t>abstract</a:t>
            </a:r>
            <a:r>
              <a:rPr lang="en-US" sz="3200" b="0" strike="noStrike" spc="-1" dirty="0">
                <a:solidFill>
                  <a:srgbClr val="000000"/>
                </a:solidFill>
                <a:latin typeface="Tahoma"/>
              </a:rPr>
              <a:t>, </a:t>
            </a:r>
            <a:r>
              <a:rPr lang="en-US" sz="3200" b="1" strike="noStrike" spc="-1" dirty="0">
                <a:solidFill>
                  <a:srgbClr val="008000"/>
                </a:solidFill>
                <a:latin typeface="Tahoma"/>
              </a:rPr>
              <a:t>final</a:t>
            </a:r>
            <a:r>
              <a:rPr lang="en-US" sz="3200" b="0" strike="noStrike" spc="-1" dirty="0">
                <a:solidFill>
                  <a:srgbClr val="000000"/>
                </a:solidFill>
                <a:latin typeface="Tahoma"/>
              </a:rPr>
              <a:t>, </a:t>
            </a:r>
            <a:r>
              <a:rPr lang="en-US" sz="3200" b="1" strike="noStrike" spc="-1" dirty="0">
                <a:solidFill>
                  <a:srgbClr val="008000"/>
                </a:solidFill>
                <a:latin typeface="Tahoma"/>
              </a:rPr>
              <a:t>native</a:t>
            </a:r>
            <a:r>
              <a:rPr lang="en-US" sz="3200" b="0" strike="noStrike" spc="-1" dirty="0">
                <a:solidFill>
                  <a:srgbClr val="000000"/>
                </a:solidFill>
                <a:latin typeface="Tahoma"/>
              </a:rPr>
              <a:t>, </a:t>
            </a:r>
            <a:r>
              <a:rPr lang="en-US" sz="3200" b="1" strike="noStrike" spc="-1" dirty="0">
                <a:solidFill>
                  <a:srgbClr val="008000"/>
                </a:solidFill>
                <a:latin typeface="Tahoma"/>
              </a:rPr>
              <a:t>synchronized</a:t>
            </a:r>
            <a:r>
              <a:rPr lang="en-US" sz="3200" b="0" strike="noStrike" spc="-1" dirty="0">
                <a:solidFill>
                  <a:srgbClr val="000000"/>
                </a:solidFill>
                <a:latin typeface="Tahoma"/>
              </a:rPr>
              <a:t> au </a:t>
            </a:r>
            <a:r>
              <a:rPr lang="en-US" sz="3200" b="0" strike="noStrike" spc="-1" dirty="0" err="1">
                <a:solidFill>
                  <a:srgbClr val="000000"/>
                </a:solidFill>
                <a:latin typeface="Tahoma"/>
              </a:rPr>
              <a:t>următoarele</a:t>
            </a:r>
            <a:r>
              <a:rPr lang="en-US" sz="3200" b="0" strike="noStrike" spc="-1" dirty="0">
                <a:solidFill>
                  <a:srgbClr val="000000"/>
                </a:solidFill>
                <a:latin typeface="Tahoma"/>
              </a:rPr>
              <a:t> </a:t>
            </a:r>
            <a:r>
              <a:rPr lang="en-US" sz="3200" b="0" strike="noStrike" spc="-1" dirty="0" err="1">
                <a:solidFill>
                  <a:srgbClr val="000000"/>
                </a:solidFill>
                <a:latin typeface="Tahoma"/>
              </a:rPr>
              <a:t>roluri</a:t>
            </a:r>
            <a:r>
              <a:rPr lang="en-US" sz="3200" b="0" strike="noStrike" spc="-1" dirty="0">
                <a:solidFill>
                  <a:srgbClr val="000000"/>
                </a:solidFill>
                <a:latin typeface="Tahoma"/>
              </a:rPr>
              <a:t>:</a:t>
            </a:r>
          </a:p>
          <a:p>
            <a:pPr marL="343080" indent="-342720">
              <a:lnSpc>
                <a:spcPct val="80000"/>
              </a:lnSpc>
              <a:spcBef>
                <a:spcPts val="641"/>
              </a:spcBef>
              <a:buClr>
                <a:srgbClr val="FFCC00"/>
              </a:buClr>
              <a:buFont typeface="Monotype Sorts" charset="2"/>
              <a:buChar char=""/>
            </a:pPr>
            <a:r>
              <a:rPr lang="en-US" sz="3200" b="1" strike="noStrike" spc="-1" dirty="0">
                <a:solidFill>
                  <a:srgbClr val="008000"/>
                </a:solidFill>
                <a:latin typeface="Tahoma"/>
              </a:rPr>
              <a:t>static</a:t>
            </a:r>
            <a:r>
              <a:rPr lang="en-US" sz="3200" b="0" strike="noStrike" spc="-1" dirty="0">
                <a:solidFill>
                  <a:srgbClr val="000000"/>
                </a:solidFill>
                <a:latin typeface="Tahoma"/>
              </a:rPr>
              <a:t> </a:t>
            </a:r>
            <a:r>
              <a:rPr lang="en-US" sz="3200" b="0" strike="noStrike" spc="-1" dirty="0" err="1">
                <a:solidFill>
                  <a:srgbClr val="000000"/>
                </a:solidFill>
                <a:latin typeface="Tahoma"/>
              </a:rPr>
              <a:t>este</a:t>
            </a:r>
            <a:r>
              <a:rPr lang="en-US" sz="3200" b="0" strike="noStrike" spc="-1" dirty="0">
                <a:solidFill>
                  <a:srgbClr val="000000"/>
                </a:solidFill>
                <a:latin typeface="Tahoma"/>
              </a:rPr>
              <a:t> </a:t>
            </a:r>
            <a:r>
              <a:rPr lang="en-US" sz="3200" b="0" strike="noStrike" spc="-1" dirty="0" err="1">
                <a:solidFill>
                  <a:srgbClr val="000000"/>
                </a:solidFill>
                <a:latin typeface="Tahoma"/>
              </a:rPr>
              <a:t>folosit</a:t>
            </a:r>
            <a:r>
              <a:rPr lang="en-US" sz="3200" b="0" strike="noStrike" spc="-1" dirty="0">
                <a:solidFill>
                  <a:srgbClr val="000000"/>
                </a:solidFill>
                <a:latin typeface="Tahoma"/>
              </a:rPr>
              <a:t> </a:t>
            </a:r>
            <a:r>
              <a:rPr lang="en-US" sz="3200" b="0" strike="noStrike" spc="-1" dirty="0" err="1">
                <a:solidFill>
                  <a:srgbClr val="000000"/>
                </a:solidFill>
                <a:latin typeface="Tahoma"/>
              </a:rPr>
              <a:t>pentru</a:t>
            </a:r>
            <a:r>
              <a:rPr lang="en-US" sz="3200" b="0" strike="noStrike" spc="-1" dirty="0">
                <a:solidFill>
                  <a:srgbClr val="000000"/>
                </a:solidFill>
                <a:latin typeface="Tahoma"/>
              </a:rPr>
              <a:t> </a:t>
            </a:r>
            <a:r>
              <a:rPr lang="en-US" sz="3200" b="0" strike="noStrike" spc="-1" dirty="0" err="1">
                <a:solidFill>
                  <a:srgbClr val="000000"/>
                </a:solidFill>
                <a:latin typeface="Tahoma"/>
              </a:rPr>
              <a:t>declararea</a:t>
            </a:r>
            <a:r>
              <a:rPr lang="en-US" sz="3200" b="0" strike="noStrike" spc="-1" dirty="0">
                <a:solidFill>
                  <a:srgbClr val="000000"/>
                </a:solidFill>
                <a:latin typeface="Tahoma"/>
              </a:rPr>
              <a:t> </a:t>
            </a:r>
            <a:r>
              <a:rPr lang="en-US" sz="3200" b="0" strike="noStrike" spc="-1" dirty="0" err="1">
                <a:solidFill>
                  <a:srgbClr val="000000"/>
                </a:solidFill>
                <a:latin typeface="Tahoma"/>
              </a:rPr>
              <a:t>metodelor</a:t>
            </a:r>
            <a:r>
              <a:rPr lang="en-US" sz="3200" b="0" strike="noStrike" spc="-1" dirty="0">
                <a:solidFill>
                  <a:srgbClr val="000000"/>
                </a:solidFill>
                <a:latin typeface="Tahoma"/>
              </a:rPr>
              <a:t> </a:t>
            </a:r>
            <a:r>
              <a:rPr lang="en-US" sz="3200" b="0" strike="noStrike" spc="-1" dirty="0" err="1">
                <a:solidFill>
                  <a:srgbClr val="000000"/>
                </a:solidFill>
                <a:latin typeface="Tahoma"/>
              </a:rPr>
              <a:t>clasă</a:t>
            </a:r>
            <a:r>
              <a:rPr lang="en-US" sz="3200" b="0" strike="noStrike" spc="-1" dirty="0">
                <a:solidFill>
                  <a:srgbClr val="000000"/>
                </a:solidFill>
                <a:latin typeface="Tahoma"/>
              </a:rPr>
              <a:t>.</a:t>
            </a:r>
          </a:p>
          <a:p>
            <a:pPr marL="343080" indent="-342720">
              <a:lnSpc>
                <a:spcPct val="80000"/>
              </a:lnSpc>
              <a:spcBef>
                <a:spcPts val="641"/>
              </a:spcBef>
            </a:pPr>
            <a:r>
              <a:rPr lang="en-US" sz="3200" b="0" i="1" strike="noStrike" spc="-1" dirty="0">
                <a:solidFill>
                  <a:srgbClr val="008000"/>
                </a:solidFill>
                <a:latin typeface="Tahoma"/>
              </a:rPr>
              <a:t>	</a:t>
            </a:r>
            <a:r>
              <a:rPr lang="en-US" sz="3200" b="0" i="1" strike="noStrike" spc="-1" dirty="0" err="1">
                <a:solidFill>
                  <a:srgbClr val="008000"/>
                </a:solidFill>
                <a:latin typeface="Tahoma"/>
              </a:rPr>
              <a:t>Exemplu</a:t>
            </a:r>
            <a:r>
              <a:rPr lang="en-US" sz="3200" b="0" i="1" strike="noStrike" spc="-1" dirty="0">
                <a:solidFill>
                  <a:srgbClr val="000000"/>
                </a:solidFill>
                <a:latin typeface="Tahoma"/>
              </a:rPr>
              <a:t>:</a:t>
            </a:r>
            <a:endParaRPr lang="en-US" sz="3200" b="0" strike="noStrike" spc="-1" dirty="0">
              <a:solidFill>
                <a:srgbClr val="000000"/>
              </a:solidFill>
              <a:latin typeface="Tahoma"/>
            </a:endParaRPr>
          </a:p>
          <a:p>
            <a:pPr marL="343080" indent="-342720">
              <a:lnSpc>
                <a:spcPct val="80000"/>
              </a:lnSpc>
              <a:spcBef>
                <a:spcPts val="641"/>
              </a:spcBef>
            </a:pPr>
            <a:r>
              <a:rPr lang="en-US" sz="3200" b="0" strike="noStrike" spc="-1" dirty="0">
                <a:solidFill>
                  <a:srgbClr val="000000"/>
                </a:solidFill>
                <a:latin typeface="Tahoma"/>
              </a:rPr>
              <a:t>		</a:t>
            </a:r>
            <a:r>
              <a:rPr lang="en-US" sz="2000" b="1" strike="noStrike" spc="-1" dirty="0">
                <a:solidFill>
                  <a:srgbClr val="000000"/>
                </a:solidFill>
                <a:latin typeface="Courier New"/>
              </a:rPr>
              <a:t>void metoda1() ;		//</a:t>
            </a:r>
            <a:r>
              <a:rPr lang="en-US" sz="2000" b="1" strike="noStrike" spc="-1" dirty="0" err="1">
                <a:solidFill>
                  <a:srgbClr val="000000"/>
                </a:solidFill>
                <a:latin typeface="Courier New"/>
              </a:rPr>
              <a:t>metoda</a:t>
            </a:r>
            <a:r>
              <a:rPr lang="en-US" sz="2000" b="1" strike="noStrike" spc="-1" dirty="0">
                <a:solidFill>
                  <a:srgbClr val="000000"/>
                </a:solidFill>
                <a:latin typeface="Courier New"/>
              </a:rPr>
              <a:t> de </a:t>
            </a:r>
            <a:r>
              <a:rPr lang="en-US" sz="2000" b="1" strike="noStrike" spc="-1" dirty="0" err="1">
                <a:solidFill>
                  <a:srgbClr val="000000"/>
                </a:solidFill>
                <a:latin typeface="Courier New"/>
              </a:rPr>
              <a:t>instanta</a:t>
            </a:r>
            <a:endParaRPr lang="en-US" sz="2000" b="0" strike="noStrike" spc="-1" dirty="0">
              <a:solidFill>
                <a:srgbClr val="000000"/>
              </a:solidFill>
              <a:latin typeface="Tahoma"/>
            </a:endParaRPr>
          </a:p>
          <a:p>
            <a:pPr marL="343080" indent="-342720">
              <a:lnSpc>
                <a:spcPct val="80000"/>
              </a:lnSpc>
              <a:spcBef>
                <a:spcPts val="400"/>
              </a:spcBef>
            </a:pPr>
            <a:r>
              <a:rPr lang="en-US" sz="2000" b="1" strike="noStrike" spc="-1" dirty="0">
                <a:solidFill>
                  <a:srgbClr val="000000"/>
                </a:solidFill>
                <a:latin typeface="Courier New"/>
              </a:rPr>
              <a:t>		static void metoda2();	//</a:t>
            </a:r>
            <a:r>
              <a:rPr lang="en-US" sz="2000" b="1" strike="noStrike" spc="-1" dirty="0" err="1">
                <a:solidFill>
                  <a:srgbClr val="000000"/>
                </a:solidFill>
                <a:latin typeface="Courier New"/>
              </a:rPr>
              <a:t>metoda</a:t>
            </a:r>
            <a:r>
              <a:rPr lang="en-US" sz="2000" b="1" strike="noStrike" spc="-1" dirty="0">
                <a:solidFill>
                  <a:srgbClr val="000000"/>
                </a:solidFill>
                <a:latin typeface="Courier New"/>
              </a:rPr>
              <a:t> de </a:t>
            </a:r>
            <a:r>
              <a:rPr lang="en-US" sz="2000" b="1" strike="noStrike" spc="-1" dirty="0" err="1">
                <a:solidFill>
                  <a:srgbClr val="000000"/>
                </a:solidFill>
                <a:latin typeface="Courier New"/>
              </a:rPr>
              <a:t>clasa</a:t>
            </a:r>
            <a:endParaRPr lang="en-US" sz="2000" b="0" strike="noStrike" spc="-1" dirty="0">
              <a:solidFill>
                <a:srgbClr val="000000"/>
              </a:solidFill>
              <a:latin typeface="Tahoma"/>
            </a:endParaRPr>
          </a:p>
          <a:p>
            <a:pPr marL="343080" indent="-342720">
              <a:lnSpc>
                <a:spcPct val="80000"/>
              </a:lnSpc>
              <a:spcBef>
                <a:spcPts val="641"/>
              </a:spcBef>
              <a:buClr>
                <a:srgbClr val="FFCC00"/>
              </a:buClr>
              <a:buFont typeface="Monotype Sorts" charset="2"/>
              <a:buChar char=""/>
            </a:pPr>
            <a:r>
              <a:rPr lang="en-US" sz="3200" b="1" strike="noStrike" spc="-1" dirty="0">
                <a:solidFill>
                  <a:srgbClr val="008000"/>
                </a:solidFill>
                <a:latin typeface="Tahoma"/>
              </a:rPr>
              <a:t>abstract</a:t>
            </a:r>
            <a:r>
              <a:rPr lang="en-US" sz="3200" b="0" strike="noStrike" spc="-1" dirty="0">
                <a:solidFill>
                  <a:srgbClr val="000000"/>
                </a:solidFill>
                <a:latin typeface="Tahoma"/>
              </a:rPr>
              <a:t> </a:t>
            </a:r>
            <a:r>
              <a:rPr lang="en-US" sz="3200" b="0" strike="noStrike" spc="-1" dirty="0" err="1">
                <a:solidFill>
                  <a:srgbClr val="000000"/>
                </a:solidFill>
                <a:latin typeface="Tahoma"/>
              </a:rPr>
              <a:t>este</a:t>
            </a:r>
            <a:r>
              <a:rPr lang="en-US" sz="3200" b="0" strike="noStrike" spc="-1" dirty="0">
                <a:solidFill>
                  <a:srgbClr val="000000"/>
                </a:solidFill>
                <a:latin typeface="Tahoma"/>
              </a:rPr>
              <a:t> </a:t>
            </a:r>
            <a:r>
              <a:rPr lang="en-US" sz="3200" b="0" strike="noStrike" spc="-1" dirty="0" err="1">
                <a:solidFill>
                  <a:srgbClr val="000000"/>
                </a:solidFill>
                <a:latin typeface="Tahoma"/>
              </a:rPr>
              <a:t>folosit</a:t>
            </a:r>
            <a:r>
              <a:rPr lang="en-US" sz="3200" b="0" strike="noStrike" spc="-1" dirty="0">
                <a:solidFill>
                  <a:srgbClr val="000000"/>
                </a:solidFill>
                <a:latin typeface="Tahoma"/>
              </a:rPr>
              <a:t> </a:t>
            </a:r>
            <a:r>
              <a:rPr lang="en-US" sz="3200" b="0" strike="noStrike" spc="-1" dirty="0" err="1">
                <a:solidFill>
                  <a:srgbClr val="000000"/>
                </a:solidFill>
                <a:latin typeface="Tahoma"/>
              </a:rPr>
              <a:t>pentru</a:t>
            </a:r>
            <a:r>
              <a:rPr lang="en-US" sz="3200" b="0" strike="noStrike" spc="-1" dirty="0">
                <a:solidFill>
                  <a:srgbClr val="000000"/>
                </a:solidFill>
                <a:latin typeface="Tahoma"/>
              </a:rPr>
              <a:t> </a:t>
            </a:r>
            <a:r>
              <a:rPr lang="en-US" sz="3200" b="0" strike="noStrike" spc="-1" dirty="0" err="1">
                <a:solidFill>
                  <a:srgbClr val="000000"/>
                </a:solidFill>
                <a:latin typeface="Tahoma"/>
              </a:rPr>
              <a:t>declararea</a:t>
            </a:r>
            <a:r>
              <a:rPr lang="en-US" sz="3200" b="0" strike="noStrike" spc="-1" dirty="0">
                <a:solidFill>
                  <a:srgbClr val="000000"/>
                </a:solidFill>
                <a:latin typeface="Tahoma"/>
              </a:rPr>
              <a:t> </a:t>
            </a:r>
            <a:r>
              <a:rPr lang="en-US" sz="3200" b="0" strike="noStrike" spc="-1" dirty="0" err="1">
                <a:solidFill>
                  <a:srgbClr val="000000"/>
                </a:solidFill>
                <a:latin typeface="Tahoma"/>
              </a:rPr>
              <a:t>metodelor</a:t>
            </a:r>
            <a:r>
              <a:rPr lang="en-US" sz="3200" b="0" strike="noStrike" spc="-1" dirty="0">
                <a:solidFill>
                  <a:srgbClr val="000000"/>
                </a:solidFill>
                <a:latin typeface="Tahoma"/>
              </a:rPr>
              <a:t> </a:t>
            </a:r>
            <a:r>
              <a:rPr lang="en-US" sz="3200" b="0" strike="noStrike" spc="-1" dirty="0" err="1">
                <a:solidFill>
                  <a:srgbClr val="000000"/>
                </a:solidFill>
                <a:latin typeface="Tahoma"/>
              </a:rPr>
              <a:t>abstracte</a:t>
            </a:r>
            <a:r>
              <a:rPr lang="en-US" sz="3200" b="0" strike="noStrike" spc="-1" dirty="0">
                <a:solidFill>
                  <a:srgbClr val="000000"/>
                </a:solidFill>
                <a:latin typeface="Tahoma"/>
              </a:rPr>
              <a:t>. O </a:t>
            </a:r>
            <a:r>
              <a:rPr lang="en-US" sz="3200" b="0" strike="noStrike" spc="-1" dirty="0" err="1">
                <a:solidFill>
                  <a:srgbClr val="000000"/>
                </a:solidFill>
                <a:latin typeface="Tahoma"/>
              </a:rPr>
              <a:t>metodă</a:t>
            </a:r>
            <a:r>
              <a:rPr lang="en-US" sz="3200" b="0" strike="noStrike" spc="-1" dirty="0">
                <a:solidFill>
                  <a:srgbClr val="000000"/>
                </a:solidFill>
                <a:latin typeface="Tahoma"/>
              </a:rPr>
              <a:t> </a:t>
            </a:r>
            <a:r>
              <a:rPr lang="en-US" sz="3200" b="0" strike="noStrike" spc="-1" dirty="0" err="1">
                <a:solidFill>
                  <a:srgbClr val="000000"/>
                </a:solidFill>
                <a:latin typeface="Tahoma"/>
              </a:rPr>
              <a:t>abstractă</a:t>
            </a:r>
            <a:r>
              <a:rPr lang="en-US" sz="3200" b="0" strike="noStrike" spc="-1" dirty="0">
                <a:solidFill>
                  <a:srgbClr val="000000"/>
                </a:solidFill>
                <a:latin typeface="Tahoma"/>
              </a:rPr>
              <a:t> </a:t>
            </a:r>
            <a:r>
              <a:rPr lang="en-US" sz="3200" b="0" strike="noStrike" spc="-1" dirty="0" err="1">
                <a:solidFill>
                  <a:srgbClr val="000000"/>
                </a:solidFill>
                <a:latin typeface="Tahoma"/>
              </a:rPr>
              <a:t>este</a:t>
            </a:r>
            <a:r>
              <a:rPr lang="en-US" sz="3200" b="0" strike="noStrike" spc="-1" dirty="0">
                <a:solidFill>
                  <a:srgbClr val="000000"/>
                </a:solidFill>
                <a:latin typeface="Tahoma"/>
              </a:rPr>
              <a:t> o </a:t>
            </a:r>
            <a:r>
              <a:rPr lang="en-US" sz="3200" b="0" strike="noStrike" spc="-1" dirty="0" err="1">
                <a:solidFill>
                  <a:srgbClr val="000000"/>
                </a:solidFill>
                <a:latin typeface="Tahoma"/>
              </a:rPr>
              <a:t>metodă</a:t>
            </a:r>
            <a:r>
              <a:rPr lang="en-US" sz="3200" b="0" strike="noStrike" spc="-1" dirty="0">
                <a:solidFill>
                  <a:srgbClr val="000000"/>
                </a:solidFill>
                <a:latin typeface="Tahoma"/>
              </a:rPr>
              <a:t> care nu are </a:t>
            </a:r>
            <a:r>
              <a:rPr lang="en-US" sz="3200" b="0" strike="noStrike" spc="-1" dirty="0" err="1">
                <a:solidFill>
                  <a:srgbClr val="000000"/>
                </a:solidFill>
                <a:latin typeface="Tahoma"/>
              </a:rPr>
              <a:t>implementare</a:t>
            </a:r>
            <a:r>
              <a:rPr lang="en-US" sz="3200" b="0" strike="noStrike" spc="-1" dirty="0">
                <a:solidFill>
                  <a:srgbClr val="000000"/>
                </a:solidFill>
                <a:latin typeface="Tahoma"/>
              </a:rPr>
              <a:t> </a:t>
            </a:r>
            <a:r>
              <a:rPr lang="en-US" sz="3200" b="0" strike="noStrike" spc="-1" dirty="0" err="1">
                <a:solidFill>
                  <a:srgbClr val="000000"/>
                </a:solidFill>
                <a:latin typeface="Tahoma"/>
              </a:rPr>
              <a:t>şi</a:t>
            </a:r>
            <a:r>
              <a:rPr lang="en-US" sz="3200" b="0" strike="noStrike" spc="-1" dirty="0">
                <a:solidFill>
                  <a:srgbClr val="000000"/>
                </a:solidFill>
                <a:latin typeface="Tahoma"/>
              </a:rPr>
              <a:t> </a:t>
            </a:r>
            <a:r>
              <a:rPr lang="en-US" sz="3200" b="0" strike="noStrike" spc="-1" dirty="0" err="1">
                <a:solidFill>
                  <a:srgbClr val="000000"/>
                </a:solidFill>
                <a:latin typeface="Tahoma"/>
              </a:rPr>
              <a:t>trebuie</a:t>
            </a:r>
            <a:r>
              <a:rPr lang="en-US" sz="3200" b="0" strike="noStrike" spc="-1" dirty="0">
                <a:solidFill>
                  <a:srgbClr val="000000"/>
                </a:solidFill>
                <a:latin typeface="Tahoma"/>
              </a:rPr>
              <a:t> </a:t>
            </a:r>
            <a:r>
              <a:rPr lang="en-US" sz="3200" b="0" strike="noStrike" spc="-1" dirty="0" err="1">
                <a:solidFill>
                  <a:srgbClr val="000000"/>
                </a:solidFill>
                <a:latin typeface="Tahoma"/>
              </a:rPr>
              <a:t>să</a:t>
            </a:r>
            <a:r>
              <a:rPr lang="en-US" sz="3200" b="0" strike="noStrike" spc="-1" dirty="0">
                <a:solidFill>
                  <a:srgbClr val="000000"/>
                </a:solidFill>
                <a:latin typeface="Tahoma"/>
              </a:rPr>
              <a:t> </a:t>
            </a:r>
            <a:r>
              <a:rPr lang="en-US" sz="3200" b="0" strike="noStrike" spc="-1" dirty="0" err="1">
                <a:solidFill>
                  <a:srgbClr val="000000"/>
                </a:solidFill>
                <a:latin typeface="Tahoma"/>
              </a:rPr>
              <a:t>aparţină</a:t>
            </a:r>
            <a:r>
              <a:rPr lang="en-US" sz="3200" b="0" strike="noStrike" spc="-1" dirty="0">
                <a:solidFill>
                  <a:srgbClr val="000000"/>
                </a:solidFill>
                <a:latin typeface="Tahoma"/>
              </a:rPr>
              <a:t> </a:t>
            </a:r>
            <a:r>
              <a:rPr lang="en-US" sz="3200" b="0" strike="noStrike" spc="-1" dirty="0" err="1">
                <a:solidFill>
                  <a:srgbClr val="000000"/>
                </a:solidFill>
                <a:latin typeface="Tahoma"/>
              </a:rPr>
              <a:t>unei</a:t>
            </a:r>
            <a:r>
              <a:rPr lang="en-US" sz="3200" b="0" strike="noStrike" spc="-1" dirty="0">
                <a:solidFill>
                  <a:srgbClr val="000000"/>
                </a:solidFill>
                <a:latin typeface="Tahoma"/>
              </a:rPr>
              <a:t> </a:t>
            </a:r>
            <a:r>
              <a:rPr lang="en-US" sz="3200" b="0" strike="noStrike" spc="-1" dirty="0" err="1">
                <a:solidFill>
                  <a:srgbClr val="000000"/>
                </a:solidFill>
                <a:latin typeface="Tahoma"/>
              </a:rPr>
              <a:t>clase</a:t>
            </a:r>
            <a:r>
              <a:rPr lang="en-US" sz="3200" b="0" strike="noStrike" spc="-1" dirty="0">
                <a:solidFill>
                  <a:srgbClr val="000000"/>
                </a:solidFill>
                <a:latin typeface="Tahoma"/>
              </a:rPr>
              <a:t> </a:t>
            </a:r>
            <a:r>
              <a:rPr lang="en-US" sz="3200" b="0" strike="noStrike" spc="-1" dirty="0" err="1">
                <a:solidFill>
                  <a:srgbClr val="000000"/>
                </a:solidFill>
                <a:latin typeface="Tahoma"/>
              </a:rPr>
              <a:t>abstracte</a:t>
            </a:r>
            <a:r>
              <a:rPr lang="en-US" sz="3200" b="0" strike="noStrike" spc="-1" dirty="0">
                <a:solidFill>
                  <a:srgbClr val="000000"/>
                </a:solidFill>
                <a:latin typeface="Tahoma"/>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A10D5C8F-B87D-4903-AE93-C0469CC224E8}" type="slidenum">
              <a:rPr lang="en-US" sz="1400" b="0" strike="noStrike" spc="-1">
                <a:solidFill>
                  <a:srgbClr val="5E574E"/>
                </a:solidFill>
                <a:latin typeface="Arial"/>
              </a:rPr>
              <a:t>49</a:t>
            </a:fld>
            <a:endParaRPr lang="en-US" sz="1400" b="0" strike="noStrike" spc="-1">
              <a:latin typeface="Times New Roman"/>
            </a:endParaRPr>
          </a:p>
        </p:txBody>
      </p:sp>
      <p:sp>
        <p:nvSpPr>
          <p:cNvPr id="488" name="TextShape 5"/>
          <p:cNvSpPr txBox="1"/>
          <p:nvPr/>
        </p:nvSpPr>
        <p:spPr>
          <a:xfrm>
            <a:off x="382149" y="1619460"/>
            <a:ext cx="8859600" cy="4838400"/>
          </a:xfrm>
          <a:prstGeom prst="rect">
            <a:avLst/>
          </a:prstGeom>
          <a:noFill/>
          <a:ln>
            <a:noFill/>
          </a:ln>
        </p:spPr>
        <p:txBody>
          <a:bodyPr>
            <a:noAutofit/>
          </a:bodyPr>
          <a:lstStyle/>
          <a:p>
            <a:pPr marL="343080" indent="-342720">
              <a:lnSpc>
                <a:spcPct val="90000"/>
              </a:lnSpc>
              <a:spcBef>
                <a:spcPts val="479"/>
              </a:spcBef>
              <a:buClr>
                <a:srgbClr val="FFCC00"/>
              </a:buClr>
              <a:buFont typeface="Monotype Sorts" charset="2"/>
              <a:buChar char=""/>
            </a:pPr>
            <a:r>
              <a:rPr lang="en-US" sz="2400" b="1" strike="noStrike" spc="-1" dirty="0">
                <a:solidFill>
                  <a:srgbClr val="008000"/>
                </a:solidFill>
                <a:latin typeface="Tahoma"/>
              </a:rPr>
              <a:t>final</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folosit</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 </a:t>
            </a:r>
            <a:r>
              <a:rPr lang="en-US" sz="2400" b="0" strike="noStrike" spc="-1" dirty="0" err="1">
                <a:solidFill>
                  <a:srgbClr val="000000"/>
                </a:solidFill>
                <a:latin typeface="Tahoma"/>
              </a:rPr>
              <a:t>specifica</a:t>
            </a:r>
            <a:r>
              <a:rPr lang="en-US" sz="2400" b="0" strike="noStrike" spc="-1" dirty="0">
                <a:solidFill>
                  <a:srgbClr val="000000"/>
                </a:solidFill>
                <a:latin typeface="Tahoma"/>
              </a:rPr>
              <a:t> </a:t>
            </a:r>
            <a:r>
              <a:rPr lang="en-US" sz="2400" b="0" strike="noStrike" spc="-1" dirty="0" err="1">
                <a:solidFill>
                  <a:srgbClr val="000000"/>
                </a:solidFill>
                <a:latin typeface="Tahoma"/>
              </a:rPr>
              <a:t>faptul</a:t>
            </a:r>
            <a:r>
              <a:rPr lang="en-US" sz="2400" b="0" strike="noStrike" spc="-1" dirty="0">
                <a:solidFill>
                  <a:srgbClr val="000000"/>
                </a:solidFill>
                <a:latin typeface="Tahoma"/>
              </a:rPr>
              <a:t> </a:t>
            </a:r>
            <a:r>
              <a:rPr lang="en-US" sz="2400" b="0" strike="noStrike" spc="-1" dirty="0" err="1">
                <a:solidFill>
                  <a:srgbClr val="000000"/>
                </a:solidFill>
                <a:latin typeface="Tahoma"/>
              </a:rPr>
              <a:t>că</a:t>
            </a:r>
            <a:r>
              <a:rPr lang="en-US" sz="2400" b="0" strike="noStrike" spc="-1" dirty="0">
                <a:solidFill>
                  <a:srgbClr val="000000"/>
                </a:solidFill>
                <a:latin typeface="Tahoma"/>
              </a:rPr>
              <a:t> </a:t>
            </a:r>
            <a:r>
              <a:rPr lang="en-US" sz="2400" b="0" strike="noStrike" spc="-1" dirty="0" err="1">
                <a:solidFill>
                  <a:srgbClr val="000000"/>
                </a:solidFill>
                <a:latin typeface="Tahoma"/>
              </a:rPr>
              <a:t>acea</a:t>
            </a:r>
            <a:r>
              <a:rPr lang="en-US" sz="2400" b="0" strike="noStrike" spc="-1" dirty="0">
                <a:solidFill>
                  <a:srgbClr val="000000"/>
                </a:solidFill>
                <a:latin typeface="Tahoma"/>
              </a:rPr>
              <a:t> </a:t>
            </a:r>
            <a:r>
              <a:rPr lang="en-US" sz="2400" b="0" strike="noStrike" spc="-1" dirty="0" err="1">
                <a:solidFill>
                  <a:srgbClr val="000000"/>
                </a:solidFill>
                <a:latin typeface="Tahoma"/>
              </a:rPr>
              <a:t>metodă</a:t>
            </a:r>
            <a:r>
              <a:rPr lang="en-US" sz="2400" b="0" strike="noStrike" spc="-1" dirty="0">
                <a:solidFill>
                  <a:srgbClr val="000000"/>
                </a:solidFill>
                <a:latin typeface="Tahoma"/>
              </a:rPr>
              <a:t> nu </a:t>
            </a:r>
            <a:r>
              <a:rPr lang="en-US" sz="2400" b="0" strike="noStrike" spc="-1" dirty="0" err="1">
                <a:solidFill>
                  <a:srgbClr val="000000"/>
                </a:solidFill>
                <a:latin typeface="Tahoma"/>
              </a:rPr>
              <a:t>mai</a:t>
            </a:r>
            <a:r>
              <a:rPr lang="en-US" sz="2400" b="0" strike="noStrike" spc="-1" dirty="0">
                <a:solidFill>
                  <a:srgbClr val="000000"/>
                </a:solidFill>
                <a:latin typeface="Tahoma"/>
              </a:rPr>
              <a:t> </a:t>
            </a:r>
            <a:r>
              <a:rPr lang="en-US" sz="2400" b="0" strike="noStrike" spc="-1" dirty="0" err="1">
                <a:solidFill>
                  <a:srgbClr val="000000"/>
                </a:solidFill>
                <a:latin typeface="Tahoma"/>
              </a:rPr>
              <a:t>poate</a:t>
            </a:r>
            <a:r>
              <a:rPr lang="en-US" sz="2400" b="0" strike="noStrike" spc="-1" dirty="0">
                <a:solidFill>
                  <a:srgbClr val="000000"/>
                </a:solidFill>
                <a:latin typeface="Tahoma"/>
              </a:rPr>
              <a:t> fi </a:t>
            </a:r>
            <a:r>
              <a:rPr lang="en-US" sz="2400" b="0" strike="noStrike" spc="-1" dirty="0" err="1">
                <a:solidFill>
                  <a:srgbClr val="000000"/>
                </a:solidFill>
                <a:latin typeface="Tahoma"/>
              </a:rPr>
              <a:t>supradefinită</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subclasele</a:t>
            </a:r>
            <a:r>
              <a:rPr lang="en-US" sz="2400" b="0" strike="noStrike" spc="-1" dirty="0">
                <a:solidFill>
                  <a:srgbClr val="000000"/>
                </a:solidFill>
                <a:latin typeface="Tahoma"/>
              </a:rPr>
              <a:t> </a:t>
            </a:r>
            <a:r>
              <a:rPr lang="en-US" sz="2400" b="0" strike="noStrike" spc="-1" dirty="0" err="1">
                <a:solidFill>
                  <a:srgbClr val="000000"/>
                </a:solidFill>
                <a:latin typeface="Tahoma"/>
              </a:rPr>
              <a:t>clasei</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care </a:t>
            </a:r>
            <a:r>
              <a:rPr lang="en-US" sz="2400" b="0" strike="noStrike" spc="-1" dirty="0" err="1">
                <a:solidFill>
                  <a:srgbClr val="000000"/>
                </a:solidFill>
                <a:latin typeface="Tahoma"/>
              </a:rPr>
              <a:t>ea</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definită</a:t>
            </a:r>
            <a:r>
              <a:rPr lang="en-US" sz="2400" b="0" strike="noStrike" spc="-1" dirty="0">
                <a:solidFill>
                  <a:srgbClr val="000000"/>
                </a:solidFill>
                <a:latin typeface="Tahoma"/>
              </a:rPr>
              <a:t> ca </a:t>
            </a:r>
            <a:r>
              <a:rPr lang="en-US" sz="2400" b="0" strike="noStrike" spc="-1" dirty="0" err="1">
                <a:solidFill>
                  <a:srgbClr val="000000"/>
                </a:solidFill>
                <a:latin typeface="Tahoma"/>
              </a:rPr>
              <a:t>fiind</a:t>
            </a:r>
            <a:r>
              <a:rPr lang="en-US" sz="2400" b="0" strike="noStrike" spc="-1" dirty="0">
                <a:solidFill>
                  <a:srgbClr val="000000"/>
                </a:solidFill>
                <a:latin typeface="Tahoma"/>
              </a:rPr>
              <a:t> </a:t>
            </a:r>
            <a:r>
              <a:rPr lang="en-US" sz="2400" b="0" strike="noStrike" spc="-1" dirty="0" err="1">
                <a:solidFill>
                  <a:srgbClr val="000000"/>
                </a:solidFill>
                <a:latin typeface="Tahoma"/>
              </a:rPr>
              <a:t>finală</a:t>
            </a:r>
            <a:r>
              <a:rPr lang="en-US" sz="2400" b="0" strike="noStrike" spc="-1" dirty="0">
                <a:solidFill>
                  <a:srgbClr val="000000"/>
                </a:solidFill>
                <a:latin typeface="Tahoma"/>
              </a:rPr>
              <a:t>. </a:t>
            </a:r>
            <a:r>
              <a:rPr lang="en-US" sz="2400" b="0" strike="noStrike" spc="-1" dirty="0" err="1">
                <a:solidFill>
                  <a:srgbClr val="000000"/>
                </a:solidFill>
                <a:latin typeface="Tahoma"/>
              </a:rPr>
              <a:t>Acest</a:t>
            </a:r>
            <a:r>
              <a:rPr lang="en-US" sz="2400" b="0" strike="noStrike" spc="-1" dirty="0">
                <a:solidFill>
                  <a:srgbClr val="000000"/>
                </a:solidFill>
                <a:latin typeface="Tahoma"/>
              </a:rPr>
              <a:t> </a:t>
            </a:r>
            <a:r>
              <a:rPr lang="en-US" sz="2400" b="0" strike="noStrike" spc="-1" dirty="0" err="1">
                <a:solidFill>
                  <a:srgbClr val="000000"/>
                </a:solidFill>
                <a:latin typeface="Tahoma"/>
              </a:rPr>
              <a:t>lucru</a:t>
            </a:r>
            <a:r>
              <a:rPr lang="en-US" sz="2400" b="0"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util</a:t>
            </a:r>
            <a:r>
              <a:rPr lang="en-US" sz="2400" b="0" strike="noStrike" spc="-1" dirty="0">
                <a:solidFill>
                  <a:srgbClr val="000000"/>
                </a:solidFill>
                <a:latin typeface="Tahoma"/>
              </a:rPr>
              <a:t> </a:t>
            </a:r>
            <a:r>
              <a:rPr lang="en-US" sz="2400" b="0" strike="noStrike" spc="-1" dirty="0" err="1">
                <a:solidFill>
                  <a:srgbClr val="000000"/>
                </a:solidFill>
                <a:latin typeface="Tahoma"/>
              </a:rPr>
              <a:t>dacă</a:t>
            </a:r>
            <a:r>
              <a:rPr lang="en-US" sz="2400" b="0" strike="noStrike" spc="-1" dirty="0">
                <a:solidFill>
                  <a:srgbClr val="000000"/>
                </a:solidFill>
                <a:latin typeface="Tahoma"/>
              </a:rPr>
              <a:t> </a:t>
            </a:r>
            <a:r>
              <a:rPr lang="en-US" sz="2400" b="0" strike="noStrike" spc="-1" dirty="0" err="1">
                <a:solidFill>
                  <a:srgbClr val="000000"/>
                </a:solidFill>
                <a:latin typeface="Tahoma"/>
              </a:rPr>
              <a:t>respectiva</a:t>
            </a:r>
            <a:r>
              <a:rPr lang="en-US" sz="2400" b="0" strike="noStrike" spc="-1" dirty="0">
                <a:solidFill>
                  <a:srgbClr val="000000"/>
                </a:solidFill>
                <a:latin typeface="Tahoma"/>
              </a:rPr>
              <a:t> </a:t>
            </a:r>
            <a:r>
              <a:rPr lang="en-US" sz="2400" b="0" strike="noStrike" spc="-1" dirty="0" err="1">
                <a:solidFill>
                  <a:srgbClr val="000000"/>
                </a:solidFill>
                <a:latin typeface="Tahoma"/>
              </a:rPr>
              <a:t>metodă</a:t>
            </a:r>
            <a:r>
              <a:rPr lang="en-US" sz="2400" b="0" strike="noStrike" spc="-1" dirty="0">
                <a:solidFill>
                  <a:srgbClr val="000000"/>
                </a:solidFill>
                <a:latin typeface="Tahoma"/>
              </a:rPr>
              <a:t> are o </a:t>
            </a:r>
            <a:r>
              <a:rPr lang="en-US" sz="2400" b="0" strike="noStrike" spc="-1" dirty="0" err="1">
                <a:solidFill>
                  <a:srgbClr val="000000"/>
                </a:solidFill>
                <a:latin typeface="Tahoma"/>
              </a:rPr>
              <a:t>implementare</a:t>
            </a:r>
            <a:r>
              <a:rPr lang="en-US" sz="2400" b="0" strike="noStrike" spc="-1" dirty="0">
                <a:solidFill>
                  <a:srgbClr val="000000"/>
                </a:solidFill>
                <a:latin typeface="Tahoma"/>
              </a:rPr>
              <a:t> care nu </a:t>
            </a:r>
            <a:r>
              <a:rPr lang="en-US" sz="2400" b="0" strike="noStrike" spc="-1" dirty="0" err="1">
                <a:solidFill>
                  <a:srgbClr val="000000"/>
                </a:solidFill>
                <a:latin typeface="Tahoma"/>
              </a:rPr>
              <a:t>trebuie</a:t>
            </a:r>
            <a:r>
              <a:rPr lang="en-US" sz="2400" b="0" strike="noStrike" spc="-1" dirty="0">
                <a:solidFill>
                  <a:srgbClr val="000000"/>
                </a:solidFill>
                <a:latin typeface="Tahoma"/>
              </a:rPr>
              <a:t> </a:t>
            </a:r>
            <a:r>
              <a:rPr lang="en-US" sz="2400" b="0" strike="noStrike" spc="-1" dirty="0" err="1">
                <a:solidFill>
                  <a:srgbClr val="000000"/>
                </a:solidFill>
                <a:latin typeface="Tahoma"/>
              </a:rPr>
              <a:t>schimbată</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subclasele</a:t>
            </a:r>
            <a:r>
              <a:rPr lang="en-US" sz="2400" b="0" strike="noStrike" spc="-1" dirty="0">
                <a:solidFill>
                  <a:srgbClr val="000000"/>
                </a:solidFill>
                <a:latin typeface="Tahoma"/>
              </a:rPr>
              <a:t> </a:t>
            </a:r>
            <a:r>
              <a:rPr lang="en-US" sz="2400" b="0" strike="noStrike" spc="-1" dirty="0" err="1">
                <a:solidFill>
                  <a:srgbClr val="000000"/>
                </a:solidFill>
                <a:latin typeface="Tahoma"/>
              </a:rPr>
              <a:t>ei</a:t>
            </a:r>
            <a:r>
              <a:rPr lang="en-US" sz="2400" b="0" strike="noStrike" spc="-1" dirty="0">
                <a:solidFill>
                  <a:srgbClr val="000000"/>
                </a:solidFill>
                <a:latin typeface="Tahoma"/>
              </a:rPr>
              <a:t>.</a:t>
            </a:r>
          </a:p>
          <a:p>
            <a:pPr marL="343080" indent="-342720">
              <a:lnSpc>
                <a:spcPct val="90000"/>
              </a:lnSpc>
              <a:spcBef>
                <a:spcPts val="479"/>
              </a:spcBef>
              <a:buClr>
                <a:srgbClr val="FFCC00"/>
              </a:buClr>
              <a:buFont typeface="Monotype Sorts" charset="2"/>
              <a:buChar char=""/>
            </a:pPr>
            <a:r>
              <a:rPr lang="en-US" sz="2400" b="1" strike="noStrike" spc="-1" dirty="0">
                <a:solidFill>
                  <a:srgbClr val="008000"/>
                </a:solidFill>
                <a:latin typeface="Tahoma"/>
              </a:rPr>
              <a:t>native</a:t>
            </a:r>
            <a:r>
              <a:rPr lang="en-US" sz="2400" b="1"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folosit</a:t>
            </a:r>
            <a:r>
              <a:rPr lang="en-US" sz="2400" b="0" strike="noStrike" spc="-1" dirty="0">
                <a:solidFill>
                  <a:srgbClr val="000000"/>
                </a:solidFill>
                <a:latin typeface="Tahoma"/>
              </a:rPr>
              <a:t> </a:t>
            </a:r>
            <a:r>
              <a:rPr lang="en-US" sz="2400" b="0" strike="noStrike" spc="-1" dirty="0" err="1">
                <a:solidFill>
                  <a:srgbClr val="000000"/>
                </a:solidFill>
                <a:latin typeface="Tahoma"/>
              </a:rPr>
              <a:t>pentru</a:t>
            </a:r>
            <a:r>
              <a:rPr lang="en-US" sz="2400" b="0" strike="noStrike" spc="-1" dirty="0">
                <a:solidFill>
                  <a:srgbClr val="000000"/>
                </a:solidFill>
                <a:latin typeface="Tahoma"/>
              </a:rPr>
              <a:t> </a:t>
            </a:r>
            <a:r>
              <a:rPr lang="en-US" sz="2400" b="0" strike="noStrike" spc="-1" dirty="0" err="1">
                <a:solidFill>
                  <a:srgbClr val="000000"/>
                </a:solidFill>
                <a:latin typeface="Tahoma"/>
              </a:rPr>
              <a:t>refolosirea</a:t>
            </a:r>
            <a:r>
              <a:rPr lang="en-US" sz="2400" b="0" strike="noStrike" spc="-1" dirty="0">
                <a:solidFill>
                  <a:srgbClr val="000000"/>
                </a:solidFill>
                <a:latin typeface="Tahoma"/>
              </a:rPr>
              <a:t> </a:t>
            </a:r>
            <a:r>
              <a:rPr lang="en-US" sz="2400" b="0" strike="noStrike" spc="-1" dirty="0" err="1">
                <a:solidFill>
                  <a:srgbClr val="000000"/>
                </a:solidFill>
                <a:latin typeface="Tahoma"/>
              </a:rPr>
              <a:t>unor</a:t>
            </a:r>
            <a:r>
              <a:rPr lang="en-US" sz="2400" b="0" strike="noStrike" spc="-1" dirty="0">
                <a:solidFill>
                  <a:srgbClr val="000000"/>
                </a:solidFill>
                <a:latin typeface="Tahoma"/>
              </a:rPr>
              <a:t> </a:t>
            </a:r>
            <a:r>
              <a:rPr lang="en-US" sz="2400" b="0" strike="noStrike" spc="-1" dirty="0" err="1">
                <a:solidFill>
                  <a:srgbClr val="000000"/>
                </a:solidFill>
                <a:latin typeface="Tahoma"/>
              </a:rPr>
              <a:t>funcţii</a:t>
            </a:r>
            <a:r>
              <a:rPr lang="en-US" sz="2400" b="0" strike="noStrike" spc="-1" dirty="0">
                <a:solidFill>
                  <a:srgbClr val="000000"/>
                </a:solidFill>
                <a:latin typeface="Tahoma"/>
              </a:rPr>
              <a:t> </a:t>
            </a:r>
            <a:r>
              <a:rPr lang="en-US" sz="2400" b="0" strike="noStrike" spc="-1" dirty="0" err="1">
                <a:solidFill>
                  <a:srgbClr val="000000"/>
                </a:solidFill>
                <a:latin typeface="Tahoma"/>
              </a:rPr>
              <a:t>scrise</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alt </a:t>
            </a:r>
            <a:r>
              <a:rPr lang="en-US" sz="2400" b="0" strike="noStrike" spc="-1" dirty="0" err="1">
                <a:solidFill>
                  <a:srgbClr val="000000"/>
                </a:solidFill>
                <a:latin typeface="Tahoma"/>
              </a:rPr>
              <a:t>limbaj</a:t>
            </a:r>
            <a:r>
              <a:rPr lang="en-US" sz="2400" b="0" strike="noStrike" spc="-1" dirty="0">
                <a:solidFill>
                  <a:srgbClr val="000000"/>
                </a:solidFill>
                <a:latin typeface="Tahoma"/>
              </a:rPr>
              <a:t> de </a:t>
            </a:r>
            <a:r>
              <a:rPr lang="en-US" sz="2400" b="0" strike="noStrike" spc="-1" dirty="0" err="1">
                <a:solidFill>
                  <a:srgbClr val="000000"/>
                </a:solidFill>
                <a:latin typeface="Tahoma"/>
              </a:rPr>
              <a:t>programare</a:t>
            </a:r>
            <a:r>
              <a:rPr lang="en-US" sz="2400" b="0" strike="noStrike" spc="-1" dirty="0">
                <a:solidFill>
                  <a:srgbClr val="000000"/>
                </a:solidFill>
                <a:latin typeface="Tahoma"/>
              </a:rPr>
              <a:t> </a:t>
            </a:r>
            <a:r>
              <a:rPr lang="en-US" sz="2400" b="0" strike="noStrike" spc="-1" dirty="0" err="1">
                <a:solidFill>
                  <a:srgbClr val="000000"/>
                </a:solidFill>
                <a:latin typeface="Tahoma"/>
              </a:rPr>
              <a:t>decât</a:t>
            </a:r>
            <a:r>
              <a:rPr lang="en-US" sz="2400" b="0" strike="noStrike" spc="-1" dirty="0">
                <a:solidFill>
                  <a:srgbClr val="000000"/>
                </a:solidFill>
                <a:latin typeface="Tahoma"/>
              </a:rPr>
              <a:t> Java (C de </a:t>
            </a:r>
            <a:r>
              <a:rPr lang="en-US" sz="2400" b="0" strike="noStrike" spc="-1" dirty="0" err="1">
                <a:solidFill>
                  <a:srgbClr val="000000"/>
                </a:solidFill>
                <a:latin typeface="Tahoma"/>
              </a:rPr>
              <a:t>exemplu</a:t>
            </a:r>
            <a:r>
              <a:rPr lang="en-US" sz="2400" b="0" strike="noStrike" spc="-1" dirty="0">
                <a:solidFill>
                  <a:srgbClr val="000000"/>
                </a:solidFill>
                <a:latin typeface="Tahoma"/>
              </a:rPr>
              <a:t>).</a:t>
            </a:r>
          </a:p>
          <a:p>
            <a:pPr marL="343080" indent="-342720">
              <a:lnSpc>
                <a:spcPct val="90000"/>
              </a:lnSpc>
              <a:spcBef>
                <a:spcPts val="479"/>
              </a:spcBef>
              <a:buClr>
                <a:srgbClr val="FFCC00"/>
              </a:buClr>
              <a:buFont typeface="Monotype Sorts" charset="2"/>
              <a:buChar char=""/>
            </a:pPr>
            <a:r>
              <a:rPr lang="en-US" sz="2400" b="1" strike="noStrike" spc="-1" dirty="0">
                <a:solidFill>
                  <a:srgbClr val="008000"/>
                </a:solidFill>
                <a:latin typeface="Tahoma"/>
              </a:rPr>
              <a:t>synchronized</a:t>
            </a:r>
            <a:r>
              <a:rPr lang="en-US" sz="2400" b="1" strike="noStrike" spc="-1" dirty="0">
                <a:solidFill>
                  <a:srgbClr val="000000"/>
                </a:solidFill>
                <a:latin typeface="Tahoma"/>
              </a:rPr>
              <a:t> </a:t>
            </a:r>
            <a:r>
              <a:rPr lang="en-US" sz="2400" b="0" strike="noStrike" spc="-1" dirty="0" err="1">
                <a:solidFill>
                  <a:srgbClr val="000000"/>
                </a:solidFill>
                <a:latin typeface="Tahoma"/>
              </a:rPr>
              <a:t>este</a:t>
            </a:r>
            <a:r>
              <a:rPr lang="en-US" sz="2400" b="0" strike="noStrike" spc="-1" dirty="0">
                <a:solidFill>
                  <a:srgbClr val="000000"/>
                </a:solidFill>
                <a:latin typeface="Tahoma"/>
              </a:rPr>
              <a:t> </a:t>
            </a:r>
            <a:r>
              <a:rPr lang="en-US" sz="2400" b="0" strike="noStrike" spc="-1" dirty="0" err="1">
                <a:solidFill>
                  <a:srgbClr val="000000"/>
                </a:solidFill>
                <a:latin typeface="Tahoma"/>
              </a:rPr>
              <a:t>folosit</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a:t>
            </a:r>
            <a:r>
              <a:rPr lang="en-US" sz="2400" b="0" strike="noStrike" spc="-1" dirty="0" err="1">
                <a:solidFill>
                  <a:srgbClr val="000000"/>
                </a:solidFill>
                <a:latin typeface="Tahoma"/>
              </a:rPr>
              <a:t>cazul</a:t>
            </a:r>
            <a:r>
              <a:rPr lang="en-US" sz="2400" b="0" strike="noStrike" spc="-1" dirty="0">
                <a:solidFill>
                  <a:srgbClr val="000000"/>
                </a:solidFill>
                <a:latin typeface="Tahoma"/>
              </a:rPr>
              <a:t> </a:t>
            </a:r>
            <a:r>
              <a:rPr lang="en-US" sz="2400" b="0" strike="noStrike" spc="-1" dirty="0" err="1">
                <a:solidFill>
                  <a:srgbClr val="000000"/>
                </a:solidFill>
                <a:latin typeface="Tahoma"/>
              </a:rPr>
              <a:t>în</a:t>
            </a:r>
            <a:r>
              <a:rPr lang="en-US" sz="2400" b="0" strike="noStrike" spc="-1" dirty="0">
                <a:solidFill>
                  <a:srgbClr val="000000"/>
                </a:solidFill>
                <a:latin typeface="Tahoma"/>
              </a:rPr>
              <a:t> care se </a:t>
            </a:r>
            <a:r>
              <a:rPr lang="en-US" sz="2400" b="0" strike="noStrike" spc="-1" dirty="0" err="1">
                <a:solidFill>
                  <a:srgbClr val="000000"/>
                </a:solidFill>
                <a:latin typeface="Tahoma"/>
              </a:rPr>
              <a:t>lucrează</a:t>
            </a:r>
            <a:r>
              <a:rPr lang="en-US" sz="2400" b="0" strike="noStrike" spc="-1" dirty="0">
                <a:solidFill>
                  <a:srgbClr val="000000"/>
                </a:solidFill>
                <a:latin typeface="Tahoma"/>
              </a:rPr>
              <a:t> cu </a:t>
            </a:r>
            <a:r>
              <a:rPr lang="en-US" sz="2400" b="0" strike="noStrike" spc="-1" dirty="0" err="1">
                <a:solidFill>
                  <a:srgbClr val="000000"/>
                </a:solidFill>
                <a:latin typeface="Tahoma"/>
              </a:rPr>
              <a:t>mai</a:t>
            </a:r>
            <a:r>
              <a:rPr lang="en-US" sz="2400" b="0" strike="noStrike" spc="-1" dirty="0">
                <a:solidFill>
                  <a:srgbClr val="000000"/>
                </a:solidFill>
                <a:latin typeface="Tahoma"/>
              </a:rPr>
              <a:t> </a:t>
            </a:r>
            <a:r>
              <a:rPr lang="en-US" sz="2400" b="0" strike="noStrike" spc="-1" dirty="0" err="1">
                <a:solidFill>
                  <a:srgbClr val="000000"/>
                </a:solidFill>
                <a:latin typeface="Tahoma"/>
              </a:rPr>
              <a:t>multe</a:t>
            </a:r>
            <a:r>
              <a:rPr lang="en-US" sz="2400" b="0" strike="noStrike" spc="-1" dirty="0">
                <a:solidFill>
                  <a:srgbClr val="000000"/>
                </a:solidFill>
                <a:latin typeface="Tahoma"/>
              </a:rPr>
              <a:t> fire de </a:t>
            </a:r>
            <a:r>
              <a:rPr lang="en-US" sz="2400" b="0" strike="noStrike" spc="-1" dirty="0" err="1">
                <a:solidFill>
                  <a:srgbClr val="000000"/>
                </a:solidFill>
                <a:latin typeface="Tahoma"/>
              </a:rPr>
              <a:t>execuţie</a:t>
            </a:r>
            <a:r>
              <a:rPr lang="en-US" sz="2400" b="0" strike="noStrike" spc="-1" dirty="0">
                <a:solidFill>
                  <a:srgbClr val="000000"/>
                </a:solidFill>
                <a:latin typeface="Tahoma"/>
              </a:rPr>
              <a:t> </a:t>
            </a:r>
            <a:r>
              <a:rPr lang="en-US" sz="2400" b="0" strike="noStrike" spc="-1" dirty="0" err="1">
                <a:solidFill>
                  <a:srgbClr val="000000"/>
                </a:solidFill>
                <a:latin typeface="Tahoma"/>
              </a:rPr>
              <a:t>iar</a:t>
            </a:r>
            <a:r>
              <a:rPr lang="en-US" sz="2400" b="0" strike="noStrike" spc="-1" dirty="0">
                <a:solidFill>
                  <a:srgbClr val="000000"/>
                </a:solidFill>
                <a:latin typeface="Tahoma"/>
              </a:rPr>
              <a:t> </a:t>
            </a:r>
            <a:r>
              <a:rPr lang="en-US" sz="2400" b="0" strike="noStrike" spc="-1" dirty="0" err="1">
                <a:solidFill>
                  <a:srgbClr val="000000"/>
                </a:solidFill>
                <a:latin typeface="Tahoma"/>
              </a:rPr>
              <a:t>metoda</a:t>
            </a:r>
            <a:r>
              <a:rPr lang="en-US" sz="2400" b="0" strike="noStrike" spc="-1" dirty="0">
                <a:solidFill>
                  <a:srgbClr val="000000"/>
                </a:solidFill>
                <a:latin typeface="Tahoma"/>
              </a:rPr>
              <a:t> </a:t>
            </a:r>
            <a:r>
              <a:rPr lang="en-US" sz="2400" b="0" strike="noStrike" spc="-1" dirty="0" err="1">
                <a:solidFill>
                  <a:srgbClr val="000000"/>
                </a:solidFill>
                <a:latin typeface="Tahoma"/>
              </a:rPr>
              <a:t>respectivă</a:t>
            </a:r>
            <a:r>
              <a:rPr lang="en-US" sz="2400" b="0" strike="noStrike" spc="-1" dirty="0">
                <a:solidFill>
                  <a:srgbClr val="000000"/>
                </a:solidFill>
                <a:latin typeface="Tahoma"/>
              </a:rPr>
              <a:t> se </a:t>
            </a:r>
            <a:r>
              <a:rPr lang="en-US" sz="2400" b="0" strike="noStrike" spc="-1" dirty="0" err="1">
                <a:solidFill>
                  <a:srgbClr val="000000"/>
                </a:solidFill>
                <a:latin typeface="Tahoma"/>
              </a:rPr>
              <a:t>ocupă</a:t>
            </a:r>
            <a:r>
              <a:rPr lang="en-US" sz="2400" b="0" strike="noStrike" spc="-1" dirty="0">
                <a:solidFill>
                  <a:srgbClr val="000000"/>
                </a:solidFill>
                <a:latin typeface="Tahoma"/>
              </a:rPr>
              <a:t> cu </a:t>
            </a:r>
            <a:r>
              <a:rPr lang="en-US" sz="2400" b="0" strike="noStrike" spc="-1" dirty="0" err="1">
                <a:solidFill>
                  <a:srgbClr val="000000"/>
                </a:solidFill>
                <a:latin typeface="Tahoma"/>
              </a:rPr>
              <a:t>partajarea</a:t>
            </a:r>
            <a:r>
              <a:rPr lang="en-US" sz="2400" b="0" strike="noStrike" spc="-1" dirty="0">
                <a:solidFill>
                  <a:srgbClr val="000000"/>
                </a:solidFill>
                <a:latin typeface="Tahoma"/>
              </a:rPr>
              <a:t> </a:t>
            </a:r>
            <a:r>
              <a:rPr lang="en-US" sz="2400" b="0" strike="noStrike" spc="-1" dirty="0" err="1">
                <a:solidFill>
                  <a:srgbClr val="000000"/>
                </a:solidFill>
                <a:latin typeface="Tahoma"/>
              </a:rPr>
              <a:t>unei</a:t>
            </a:r>
            <a:r>
              <a:rPr lang="en-US" sz="2400" b="0" strike="noStrike" spc="-1" dirty="0">
                <a:solidFill>
                  <a:srgbClr val="000000"/>
                </a:solidFill>
                <a:latin typeface="Tahoma"/>
              </a:rPr>
              <a:t> </a:t>
            </a:r>
            <a:r>
              <a:rPr lang="en-US" sz="2400" b="0" strike="noStrike" spc="-1" dirty="0" err="1">
                <a:solidFill>
                  <a:srgbClr val="000000"/>
                </a:solidFill>
                <a:latin typeface="Tahoma"/>
              </a:rPr>
              <a:t>resurse</a:t>
            </a:r>
            <a:r>
              <a:rPr lang="en-US" sz="2400" b="0" strike="noStrike" spc="-1" dirty="0">
                <a:solidFill>
                  <a:srgbClr val="000000"/>
                </a:solidFill>
                <a:latin typeface="Tahoma"/>
              </a:rPr>
              <a:t> </a:t>
            </a:r>
            <a:r>
              <a:rPr lang="en-US" sz="2400" b="0" strike="noStrike" spc="-1" dirty="0" err="1">
                <a:solidFill>
                  <a:srgbClr val="000000"/>
                </a:solidFill>
                <a:latin typeface="Tahoma"/>
              </a:rPr>
              <a:t>comune</a:t>
            </a:r>
            <a:r>
              <a:rPr lang="en-US" sz="2400" b="0" strike="noStrike" spc="-1" dirty="0">
                <a:solidFill>
                  <a:srgbClr val="000000"/>
                </a:solidFill>
                <a:latin typeface="Tahoma"/>
              </a:rPr>
              <a:t>. Are ca </a:t>
            </a:r>
            <a:r>
              <a:rPr lang="en-US" sz="2400" b="0" strike="noStrike" spc="-1" dirty="0" err="1">
                <a:solidFill>
                  <a:srgbClr val="000000"/>
                </a:solidFill>
                <a:latin typeface="Tahoma"/>
              </a:rPr>
              <a:t>efect</a:t>
            </a:r>
            <a:r>
              <a:rPr lang="en-US" sz="2400" b="0" strike="noStrike" spc="-1" dirty="0">
                <a:solidFill>
                  <a:srgbClr val="000000"/>
                </a:solidFill>
                <a:latin typeface="Tahoma"/>
              </a:rPr>
              <a:t> </a:t>
            </a:r>
            <a:r>
              <a:rPr lang="en-US" sz="2400" b="0" strike="noStrike" spc="-1" dirty="0" err="1">
                <a:solidFill>
                  <a:srgbClr val="000000"/>
                </a:solidFill>
                <a:latin typeface="Tahoma"/>
              </a:rPr>
              <a:t>construirea</a:t>
            </a:r>
            <a:r>
              <a:rPr lang="en-US" sz="2400" b="0" strike="noStrike" spc="-1" dirty="0">
                <a:solidFill>
                  <a:srgbClr val="000000"/>
                </a:solidFill>
                <a:latin typeface="Tahoma"/>
              </a:rPr>
              <a:t> </a:t>
            </a:r>
            <a:r>
              <a:rPr lang="en-US" sz="2400" b="0" strike="noStrike" spc="-1" dirty="0" err="1">
                <a:solidFill>
                  <a:srgbClr val="000000"/>
                </a:solidFill>
                <a:latin typeface="Tahoma"/>
              </a:rPr>
              <a:t>unui</a:t>
            </a:r>
            <a:r>
              <a:rPr lang="en-US" sz="2400" b="0" strike="noStrike" spc="-1" dirty="0">
                <a:solidFill>
                  <a:srgbClr val="000000"/>
                </a:solidFill>
                <a:latin typeface="Tahoma"/>
              </a:rPr>
              <a:t> </a:t>
            </a:r>
            <a:r>
              <a:rPr lang="en-US" sz="2400" b="0" strike="noStrike" spc="-1" dirty="0" err="1">
                <a:solidFill>
                  <a:srgbClr val="000000"/>
                </a:solidFill>
                <a:latin typeface="Tahoma"/>
              </a:rPr>
              <a:t>semafor</a:t>
            </a:r>
            <a:r>
              <a:rPr lang="en-US" sz="2400" b="0" strike="noStrike" spc="-1" dirty="0">
                <a:solidFill>
                  <a:srgbClr val="000000"/>
                </a:solidFill>
                <a:latin typeface="Tahoma"/>
              </a:rPr>
              <a:t> care nu </a:t>
            </a:r>
            <a:r>
              <a:rPr lang="en-US" sz="2400" b="0" strike="noStrike" spc="-1" dirty="0" err="1">
                <a:solidFill>
                  <a:srgbClr val="000000"/>
                </a:solidFill>
                <a:latin typeface="Tahoma"/>
              </a:rPr>
              <a:t>permite</a:t>
            </a:r>
            <a:r>
              <a:rPr lang="en-US" sz="2400" b="0" strike="noStrike" spc="-1" dirty="0">
                <a:solidFill>
                  <a:srgbClr val="000000"/>
                </a:solidFill>
                <a:latin typeface="Tahoma"/>
              </a:rPr>
              <a:t> </a:t>
            </a:r>
            <a:r>
              <a:rPr lang="en-US" sz="2400" b="0" strike="noStrike" spc="-1" dirty="0" err="1">
                <a:solidFill>
                  <a:srgbClr val="000000"/>
                </a:solidFill>
                <a:latin typeface="Tahoma"/>
              </a:rPr>
              <a:t>executarea</a:t>
            </a:r>
            <a:r>
              <a:rPr lang="en-US" sz="2400" b="0" strike="noStrike" spc="-1" dirty="0">
                <a:solidFill>
                  <a:srgbClr val="000000"/>
                </a:solidFill>
                <a:latin typeface="Tahoma"/>
              </a:rPr>
              <a:t> </a:t>
            </a:r>
            <a:r>
              <a:rPr lang="en-US" sz="2400" b="0" strike="noStrike" spc="-1" dirty="0" err="1">
                <a:solidFill>
                  <a:srgbClr val="000000"/>
                </a:solidFill>
                <a:latin typeface="Tahoma"/>
              </a:rPr>
              <a:t>metodei</a:t>
            </a:r>
            <a:r>
              <a:rPr lang="en-US" sz="2400" b="0" strike="noStrike" spc="-1" dirty="0">
                <a:solidFill>
                  <a:srgbClr val="000000"/>
                </a:solidFill>
                <a:latin typeface="Tahoma"/>
              </a:rPr>
              <a:t> la un moment </a:t>
            </a:r>
            <a:r>
              <a:rPr lang="en-US" sz="2400" b="0" strike="noStrike" spc="-1" dirty="0" err="1">
                <a:solidFill>
                  <a:srgbClr val="000000"/>
                </a:solidFill>
                <a:latin typeface="Tahoma"/>
              </a:rPr>
              <a:t>dat</a:t>
            </a:r>
            <a:r>
              <a:rPr lang="en-US" sz="2400" b="0" strike="noStrike" spc="-1" dirty="0">
                <a:solidFill>
                  <a:srgbClr val="000000"/>
                </a:solidFill>
                <a:latin typeface="Tahoma"/>
              </a:rPr>
              <a:t> </a:t>
            </a:r>
            <a:r>
              <a:rPr lang="en-US" sz="2400" b="0" strike="noStrike" spc="-1" dirty="0" err="1">
                <a:solidFill>
                  <a:srgbClr val="000000"/>
                </a:solidFill>
                <a:latin typeface="Tahoma"/>
              </a:rPr>
              <a:t>decât</a:t>
            </a:r>
            <a:r>
              <a:rPr lang="en-US" sz="2400" b="0" strike="noStrike" spc="-1" dirty="0">
                <a:solidFill>
                  <a:srgbClr val="000000"/>
                </a:solidFill>
                <a:latin typeface="Tahoma"/>
              </a:rPr>
              <a:t> </a:t>
            </a:r>
            <a:r>
              <a:rPr lang="en-US" sz="2400" b="0" strike="noStrike" spc="-1" dirty="0" err="1">
                <a:solidFill>
                  <a:srgbClr val="000000"/>
                </a:solidFill>
                <a:latin typeface="Tahoma"/>
              </a:rPr>
              <a:t>unui</a:t>
            </a:r>
            <a:r>
              <a:rPr lang="en-US" sz="2400" b="0" strike="noStrike" spc="-1" dirty="0">
                <a:solidFill>
                  <a:srgbClr val="000000"/>
                </a:solidFill>
                <a:latin typeface="Tahoma"/>
              </a:rPr>
              <a:t> </a:t>
            </a:r>
            <a:r>
              <a:rPr lang="en-US" sz="2400" b="0" strike="noStrike" spc="-1" dirty="0" err="1">
                <a:solidFill>
                  <a:srgbClr val="000000"/>
                </a:solidFill>
                <a:latin typeface="Tahoma"/>
              </a:rPr>
              <a:t>singur</a:t>
            </a:r>
            <a:r>
              <a:rPr lang="en-US" sz="2400" b="0" strike="noStrike" spc="-1" dirty="0">
                <a:solidFill>
                  <a:srgbClr val="000000"/>
                </a:solidFill>
                <a:latin typeface="Tahoma"/>
              </a:rPr>
              <a:t> fir de </a:t>
            </a:r>
            <a:r>
              <a:rPr lang="en-US" sz="2400" b="0" strike="noStrike" spc="-1" dirty="0" err="1">
                <a:solidFill>
                  <a:srgbClr val="000000"/>
                </a:solidFill>
                <a:latin typeface="Tahoma"/>
              </a:rPr>
              <a:t>execuţie</a:t>
            </a:r>
            <a:r>
              <a:rPr lang="en-US" sz="2400" b="0" strike="noStrike" spc="-1" dirty="0">
                <a:solidFill>
                  <a:srgbClr val="000000"/>
                </a:solidFill>
                <a:latin typeface="Tahoma"/>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A18CE776-500D-4FD1-9B0F-5F8E33BEF4FB}" type="slidenum">
              <a:rPr lang="en-US" sz="1400" b="0" strike="noStrike" spc="-1">
                <a:solidFill>
                  <a:srgbClr val="5E574E"/>
                </a:solidFill>
                <a:latin typeface="Arial"/>
              </a:rPr>
              <a:t>50</a:t>
            </a:fld>
            <a:endParaRPr lang="en-US" sz="1400" b="0" strike="noStrike" spc="-1">
              <a:latin typeface="Times New Roman"/>
            </a:endParaRPr>
          </a:p>
        </p:txBody>
      </p:sp>
      <p:sp>
        <p:nvSpPr>
          <p:cNvPr id="492" name="TextShape 4"/>
          <p:cNvSpPr txBox="1"/>
          <p:nvPr/>
        </p:nvSpPr>
        <p:spPr>
          <a:xfrm>
            <a:off x="439560" y="228600"/>
            <a:ext cx="8419680" cy="609120"/>
          </a:xfrm>
          <a:prstGeom prst="rect">
            <a:avLst/>
          </a:prstGeom>
          <a:noFill/>
          <a:ln>
            <a:noFill/>
          </a:ln>
        </p:spPr>
        <p:txBody>
          <a:bodyPr anchor="b">
            <a:noAutofit/>
          </a:bodyPr>
          <a:lstStyle/>
          <a:p>
            <a:pPr>
              <a:lnSpc>
                <a:spcPct val="100000"/>
              </a:lnSpc>
            </a:pPr>
            <a:r>
              <a:rPr lang="en-US" sz="3600" b="0" strike="noStrike" spc="-1" dirty="0" err="1" smtClean="0">
                <a:solidFill>
                  <a:srgbClr val="FF6600"/>
                </a:solidFill>
                <a:latin typeface="Arial Black"/>
              </a:rPr>
              <a:t>Exemple</a:t>
            </a:r>
            <a:r>
              <a:rPr lang="en-US" sz="3600" b="0" strike="noStrike" spc="-1" dirty="0" smtClean="0">
                <a:solidFill>
                  <a:srgbClr val="FF6600"/>
                </a:solidFill>
                <a:latin typeface="Arial Black"/>
              </a:rPr>
              <a:t> </a:t>
            </a:r>
            <a:r>
              <a:rPr lang="en-US" sz="3600" b="0" strike="noStrike" spc="-1" dirty="0">
                <a:solidFill>
                  <a:srgbClr val="FF6600"/>
                </a:solidFill>
                <a:latin typeface="Arial Black"/>
              </a:rPr>
              <a:t>Java</a:t>
            </a:r>
            <a:endParaRPr lang="en-US" sz="3600" b="0" strike="noStrike" spc="-1" dirty="0">
              <a:solidFill>
                <a:srgbClr val="000000"/>
              </a:solidFill>
              <a:latin typeface="Arial"/>
            </a:endParaRPr>
          </a:p>
        </p:txBody>
      </p:sp>
      <p:sp>
        <p:nvSpPr>
          <p:cNvPr id="493" name="TextShape 5"/>
          <p:cNvSpPr txBox="1"/>
          <p:nvPr/>
        </p:nvSpPr>
        <p:spPr>
          <a:xfrm>
            <a:off x="356023" y="1695600"/>
            <a:ext cx="8859600" cy="4990680"/>
          </a:xfrm>
          <a:prstGeom prst="rect">
            <a:avLst/>
          </a:prstGeom>
          <a:noFill/>
          <a:ln>
            <a:noFill/>
          </a:ln>
        </p:spPr>
        <p:txBody>
          <a:bodyPr>
            <a:noAutofit/>
          </a:bodyPr>
          <a:lstStyle/>
          <a:p>
            <a:pPr marL="343080" indent="-342720">
              <a:lnSpc>
                <a:spcPct val="100000"/>
              </a:lnSpc>
              <a:spcBef>
                <a:spcPts val="641"/>
              </a:spcBef>
              <a:buClr>
                <a:srgbClr val="FFCC00"/>
              </a:buClr>
              <a:buFont typeface="Monotype Sorts" charset="2"/>
              <a:buChar char=""/>
            </a:pPr>
            <a:r>
              <a:rPr lang="en-US" sz="3200" b="1" i="1" strike="noStrike" spc="-1" dirty="0" err="1">
                <a:solidFill>
                  <a:srgbClr val="008000"/>
                </a:solidFill>
                <a:latin typeface="Tahoma"/>
              </a:rPr>
              <a:t>Exemplul</a:t>
            </a:r>
            <a:r>
              <a:rPr lang="en-US" sz="3200" b="1" i="1" strike="noStrike" spc="-1" dirty="0">
                <a:solidFill>
                  <a:srgbClr val="008000"/>
                </a:solidFill>
                <a:latin typeface="Tahoma"/>
              </a:rPr>
              <a:t> 1</a:t>
            </a:r>
            <a:r>
              <a:rPr lang="en-US" sz="3200" b="0" strike="noStrike" spc="-1" dirty="0">
                <a:solidFill>
                  <a:srgbClr val="000000"/>
                </a:solidFill>
                <a:latin typeface="Tahoma"/>
              </a:rPr>
              <a:t>:</a:t>
            </a:r>
          </a:p>
          <a:p>
            <a:pPr marL="343080" indent="-342720">
              <a:lnSpc>
                <a:spcPct val="100000"/>
              </a:lnSpc>
              <a:spcBef>
                <a:spcPts val="641"/>
              </a:spcBef>
            </a:pPr>
            <a:endParaRPr lang="en-US" sz="3200" b="0" strike="noStrike" spc="-1" dirty="0">
              <a:solidFill>
                <a:srgbClr val="000000"/>
              </a:solidFill>
              <a:latin typeface="Tahoma"/>
            </a:endParaRPr>
          </a:p>
          <a:p>
            <a:pPr marL="343080" indent="-342720">
              <a:lnSpc>
                <a:spcPct val="100000"/>
              </a:lnSpc>
              <a:spcBef>
                <a:spcPts val="320"/>
              </a:spcBef>
            </a:pPr>
            <a:r>
              <a:rPr lang="en-US" sz="1600" b="1" strike="noStrike" spc="-1" dirty="0">
                <a:solidFill>
                  <a:srgbClr val="000000"/>
                </a:solidFill>
                <a:latin typeface="Courier New"/>
              </a:rPr>
              <a:t>	public class Maxim { 	//</a:t>
            </a:r>
            <a:r>
              <a:rPr lang="en-US" sz="1600" b="1" strike="noStrike" spc="-1" dirty="0" err="1">
                <a:solidFill>
                  <a:srgbClr val="000000"/>
                </a:solidFill>
                <a:latin typeface="Courier New"/>
              </a:rPr>
              <a:t>determina</a:t>
            </a:r>
            <a:r>
              <a:rPr lang="en-US" sz="1600" b="1" strike="noStrike" spc="-1" dirty="0">
                <a:solidFill>
                  <a:srgbClr val="000000"/>
                </a:solidFill>
                <a:latin typeface="Courier New"/>
              </a:rPr>
              <a:t> </a:t>
            </a:r>
            <a:r>
              <a:rPr lang="en-US" sz="1600" b="1" strike="noStrike" spc="-1" dirty="0" err="1">
                <a:solidFill>
                  <a:srgbClr val="000000"/>
                </a:solidFill>
                <a:latin typeface="Courier New"/>
              </a:rPr>
              <a:t>maximul</a:t>
            </a:r>
            <a:r>
              <a:rPr lang="en-US" sz="1600" b="1" strike="noStrike" spc="-1" dirty="0">
                <a:solidFill>
                  <a:srgbClr val="000000"/>
                </a:solidFill>
                <a:latin typeface="Courier New"/>
              </a:rPr>
              <a:t> </a:t>
            </a:r>
            <a:r>
              <a:rPr lang="en-US" sz="1600" b="1" strike="noStrike" spc="-1" dirty="0" err="1">
                <a:solidFill>
                  <a:srgbClr val="000000"/>
                </a:solidFill>
                <a:latin typeface="Courier New"/>
              </a:rPr>
              <a:t>dintre</a:t>
            </a:r>
            <a:r>
              <a:rPr lang="en-US" sz="1600" b="1" strike="noStrike" spc="-1" dirty="0">
                <a:solidFill>
                  <a:srgbClr val="000000"/>
                </a:solidFill>
                <a:latin typeface="Courier New"/>
              </a:rPr>
              <a:t> 2 </a:t>
            </a:r>
            <a:r>
              <a:rPr lang="en-US" sz="1600" b="1" strike="noStrike" spc="-1" dirty="0" err="1">
                <a:solidFill>
                  <a:srgbClr val="000000"/>
                </a:solidFill>
                <a:latin typeface="Courier New"/>
              </a:rPr>
              <a:t>intregi</a:t>
            </a:r>
            <a:endParaRPr lang="en-US" sz="1600" b="0" strike="noStrike" spc="-1" dirty="0">
              <a:solidFill>
                <a:srgbClr val="000000"/>
              </a:solidFill>
              <a:latin typeface="Tahoma"/>
            </a:endParaRPr>
          </a:p>
          <a:p>
            <a:pPr marL="343080" indent="-342720">
              <a:lnSpc>
                <a:spcPct val="100000"/>
              </a:lnSpc>
              <a:spcBef>
                <a:spcPts val="320"/>
              </a:spcBef>
            </a:pPr>
            <a:r>
              <a:rPr lang="en-US" sz="1600" b="1" strike="noStrike" spc="-1" dirty="0">
                <a:solidFill>
                  <a:srgbClr val="000000"/>
                </a:solidFill>
                <a:latin typeface="Courier New"/>
              </a:rPr>
              <a:t>	  public static void main(String </a:t>
            </a:r>
            <a:r>
              <a:rPr lang="en-US" sz="1600" b="1" strike="noStrike" spc="-1" dirty="0" err="1">
                <a:solidFill>
                  <a:srgbClr val="000000"/>
                </a:solidFill>
                <a:latin typeface="Courier New"/>
              </a:rPr>
              <a:t>args</a:t>
            </a:r>
            <a:r>
              <a:rPr lang="en-US" sz="1600" b="1" strike="noStrike" spc="-1" dirty="0">
                <a:solidFill>
                  <a:srgbClr val="000000"/>
                </a:solidFill>
                <a:latin typeface="Courier New"/>
              </a:rPr>
              <a:t>[]){</a:t>
            </a:r>
            <a:endParaRPr lang="en-US" sz="1600" b="0" strike="noStrike" spc="-1" dirty="0">
              <a:solidFill>
                <a:srgbClr val="000000"/>
              </a:solidFill>
              <a:latin typeface="Tahoma"/>
            </a:endParaRPr>
          </a:p>
          <a:p>
            <a:pPr marL="743040" indent="-285480">
              <a:lnSpc>
                <a:spcPct val="100000"/>
              </a:lnSpc>
              <a:spcBef>
                <a:spcPts val="320"/>
              </a:spcBef>
            </a:pPr>
            <a:r>
              <a:rPr lang="en-US" sz="1600" b="1" strike="noStrike" spc="-1" dirty="0">
                <a:solidFill>
                  <a:srgbClr val="000000"/>
                </a:solidFill>
                <a:latin typeface="Courier New"/>
              </a:rPr>
              <a:t>	 </a:t>
            </a:r>
            <a:r>
              <a:rPr lang="en-US" sz="1600" b="1" strike="noStrike" spc="-1" dirty="0" err="1">
                <a:solidFill>
                  <a:srgbClr val="000000"/>
                </a:solidFill>
                <a:latin typeface="Courier New"/>
              </a:rPr>
              <a:t>int</a:t>
            </a:r>
            <a:r>
              <a:rPr lang="en-US" sz="1600" b="1" strike="noStrike" spc="-1" dirty="0">
                <a:solidFill>
                  <a:srgbClr val="000000"/>
                </a:solidFill>
                <a:latin typeface="Courier New"/>
              </a:rPr>
              <a:t> a=12, b=5,m;</a:t>
            </a:r>
            <a:endParaRPr lang="en-US" sz="1600" b="0" strike="noStrike" spc="-1" dirty="0">
              <a:solidFill>
                <a:srgbClr val="000000"/>
              </a:solidFill>
              <a:latin typeface="Tahoma"/>
            </a:endParaRPr>
          </a:p>
          <a:p>
            <a:pPr marL="343080" indent="-342720">
              <a:lnSpc>
                <a:spcPct val="100000"/>
              </a:lnSpc>
              <a:spcBef>
                <a:spcPts val="320"/>
              </a:spcBef>
            </a:pPr>
            <a:r>
              <a:rPr lang="en-US" sz="1600" b="1" strike="noStrike" spc="-1" dirty="0">
                <a:solidFill>
                  <a:srgbClr val="000000"/>
                </a:solidFill>
                <a:latin typeface="Courier New"/>
              </a:rPr>
              <a:t>	    if (a&gt;b)  m=a;</a:t>
            </a:r>
            <a:endParaRPr lang="en-US" sz="1600" b="0" strike="noStrike" spc="-1" dirty="0">
              <a:solidFill>
                <a:srgbClr val="000000"/>
              </a:solidFill>
              <a:latin typeface="Tahoma"/>
            </a:endParaRPr>
          </a:p>
          <a:p>
            <a:pPr marL="343080" indent="-342720">
              <a:lnSpc>
                <a:spcPct val="100000"/>
              </a:lnSpc>
              <a:spcBef>
                <a:spcPts val="320"/>
              </a:spcBef>
            </a:pPr>
            <a:r>
              <a:rPr lang="en-US" sz="1600" b="1" strike="noStrike" spc="-1" dirty="0">
                <a:solidFill>
                  <a:srgbClr val="000000"/>
                </a:solidFill>
                <a:latin typeface="Courier New"/>
              </a:rPr>
              <a:t>		else    m=b;</a:t>
            </a:r>
            <a:endParaRPr lang="en-US" sz="1600" b="0" strike="noStrike" spc="-1" dirty="0">
              <a:solidFill>
                <a:srgbClr val="000000"/>
              </a:solidFill>
              <a:latin typeface="Tahoma"/>
            </a:endParaRPr>
          </a:p>
          <a:p>
            <a:pPr marL="343080" indent="-342720">
              <a:lnSpc>
                <a:spcPct val="100000"/>
              </a:lnSpc>
              <a:spcBef>
                <a:spcPts val="320"/>
              </a:spcBef>
            </a:pPr>
            <a:r>
              <a:rPr lang="en-US" sz="1600" b="1" strike="noStrike" spc="-1" dirty="0">
                <a:solidFill>
                  <a:srgbClr val="000000"/>
                </a:solidFill>
                <a:latin typeface="Courier New"/>
              </a:rPr>
              <a:t>	   </a:t>
            </a:r>
            <a:r>
              <a:rPr lang="en-US" sz="1600" b="1" strike="noStrike" spc="-1" dirty="0" err="1">
                <a:solidFill>
                  <a:srgbClr val="000000"/>
                </a:solidFill>
                <a:latin typeface="Courier New"/>
              </a:rPr>
              <a:t>System.out.println</a:t>
            </a:r>
            <a:r>
              <a:rPr lang="en-US" sz="1600" b="1" strike="noStrike" spc="-1" dirty="0">
                <a:solidFill>
                  <a:srgbClr val="000000"/>
                </a:solidFill>
                <a:latin typeface="Courier New"/>
              </a:rPr>
              <a:t>("</a:t>
            </a:r>
            <a:r>
              <a:rPr lang="en-US" sz="1600" b="1" strike="noStrike" spc="-1" dirty="0" err="1">
                <a:solidFill>
                  <a:srgbClr val="000000"/>
                </a:solidFill>
                <a:latin typeface="Courier New"/>
              </a:rPr>
              <a:t>Maximul</a:t>
            </a:r>
            <a:r>
              <a:rPr lang="en-US" sz="1600" b="1" strike="noStrike" spc="-1" dirty="0">
                <a:solidFill>
                  <a:srgbClr val="000000"/>
                </a:solidFill>
                <a:latin typeface="Courier New"/>
              </a:rPr>
              <a:t> </a:t>
            </a:r>
            <a:r>
              <a:rPr lang="en-US" sz="1600" b="1" strike="noStrike" spc="-1" dirty="0" err="1">
                <a:solidFill>
                  <a:srgbClr val="000000"/>
                </a:solidFill>
                <a:latin typeface="Courier New"/>
              </a:rPr>
              <a:t>dintre</a:t>
            </a:r>
            <a:r>
              <a:rPr lang="en-US" sz="1600" b="1" strike="noStrike" spc="-1" dirty="0">
                <a:solidFill>
                  <a:srgbClr val="000000"/>
                </a:solidFill>
                <a:latin typeface="Courier New"/>
              </a:rPr>
              <a:t> "+a+" </a:t>
            </a:r>
            <a:r>
              <a:rPr lang="en-US" sz="1600" b="1" strike="noStrike" spc="-1" dirty="0" err="1">
                <a:solidFill>
                  <a:srgbClr val="000000"/>
                </a:solidFill>
                <a:latin typeface="Courier New"/>
              </a:rPr>
              <a:t>si</a:t>
            </a:r>
            <a:r>
              <a:rPr lang="en-US" sz="1600" b="1" strike="noStrike" spc="-1" dirty="0">
                <a:solidFill>
                  <a:srgbClr val="000000"/>
                </a:solidFill>
                <a:latin typeface="Courier New"/>
              </a:rPr>
              <a:t> "+b+" </a:t>
            </a:r>
            <a:r>
              <a:rPr lang="en-US" sz="1600" b="1" strike="noStrike" spc="-1" dirty="0" err="1">
                <a:solidFill>
                  <a:srgbClr val="000000"/>
                </a:solidFill>
                <a:latin typeface="Courier New"/>
              </a:rPr>
              <a:t>este</a:t>
            </a:r>
            <a:r>
              <a:rPr lang="en-US" sz="1600" b="1" strike="noStrike" spc="-1" dirty="0">
                <a:solidFill>
                  <a:srgbClr val="000000"/>
                </a:solidFill>
                <a:latin typeface="Courier New"/>
              </a:rPr>
              <a:t>: "+m);</a:t>
            </a:r>
            <a:endParaRPr lang="en-US" sz="1600" b="0" strike="noStrike" spc="-1" dirty="0">
              <a:solidFill>
                <a:srgbClr val="000000"/>
              </a:solidFill>
              <a:latin typeface="Tahoma"/>
            </a:endParaRPr>
          </a:p>
          <a:p>
            <a:pPr marL="343080" indent="-342720">
              <a:lnSpc>
                <a:spcPct val="100000"/>
              </a:lnSpc>
              <a:spcBef>
                <a:spcPts val="320"/>
              </a:spcBef>
            </a:pPr>
            <a:r>
              <a:rPr lang="en-US" sz="1600" b="1" strike="noStrike" spc="-1" dirty="0">
                <a:solidFill>
                  <a:srgbClr val="000000"/>
                </a:solidFill>
                <a:latin typeface="Courier New"/>
              </a:rPr>
              <a:t>	  }                           </a:t>
            </a:r>
            <a:endParaRPr lang="en-US" sz="1600" b="0" strike="noStrike" spc="-1" dirty="0">
              <a:solidFill>
                <a:srgbClr val="000000"/>
              </a:solidFill>
              <a:latin typeface="Tahoma"/>
            </a:endParaRPr>
          </a:p>
          <a:p>
            <a:pPr marL="343080" indent="-342720">
              <a:lnSpc>
                <a:spcPct val="100000"/>
              </a:lnSpc>
              <a:spcBef>
                <a:spcPts val="320"/>
              </a:spcBef>
            </a:pPr>
            <a:r>
              <a:rPr lang="en-US" sz="1600" b="1" strike="noStrike" spc="-1" dirty="0">
                <a:solidFill>
                  <a:srgbClr val="000000"/>
                </a:solidFill>
                <a:latin typeface="Courier New"/>
              </a:rPr>
              <a:t>	}</a:t>
            </a:r>
            <a:endParaRPr lang="en-US" sz="1600" b="0" strike="noStrike" spc="-1" dirty="0">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36499F68-68D6-4BE4-BC0A-5845F5B8B785}" type="slidenum">
              <a:rPr lang="en-US" sz="1400" b="0" strike="noStrike" spc="-1">
                <a:solidFill>
                  <a:srgbClr val="5E574E"/>
                </a:solidFill>
                <a:latin typeface="Arial"/>
              </a:rPr>
              <a:t>51</a:t>
            </a:fld>
            <a:endParaRPr lang="en-US" sz="1400" b="0" strike="noStrike" spc="-1">
              <a:latin typeface="Times New Roman"/>
            </a:endParaRPr>
          </a:p>
        </p:txBody>
      </p:sp>
      <p:sp>
        <p:nvSpPr>
          <p:cNvPr id="497" name="TextShape 4"/>
          <p:cNvSpPr txBox="1"/>
          <p:nvPr/>
        </p:nvSpPr>
        <p:spPr>
          <a:xfrm>
            <a:off x="439560" y="228600"/>
            <a:ext cx="8419680" cy="761760"/>
          </a:xfrm>
          <a:prstGeom prst="rect">
            <a:avLst/>
          </a:prstGeom>
          <a:noFill/>
          <a:ln>
            <a:noFill/>
          </a:ln>
        </p:spPr>
        <p:txBody>
          <a:bodyPr anchor="b">
            <a:noAutofit/>
          </a:bodyPr>
          <a:lstStyle/>
          <a:p>
            <a:pPr>
              <a:lnSpc>
                <a:spcPct val="100000"/>
              </a:lnSpc>
            </a:pPr>
            <a:r>
              <a:rPr lang="en-US" sz="4000" b="0" strike="noStrike" spc="-1" dirty="0" err="1" smtClean="0">
                <a:solidFill>
                  <a:srgbClr val="FF6600"/>
                </a:solidFill>
                <a:latin typeface="Arial Black"/>
              </a:rPr>
              <a:t>Exemple</a:t>
            </a:r>
            <a:r>
              <a:rPr lang="en-US" sz="4000" b="0" strike="noStrike" spc="-1" dirty="0" smtClean="0">
                <a:solidFill>
                  <a:srgbClr val="FF6600"/>
                </a:solidFill>
                <a:latin typeface="Arial Black"/>
              </a:rPr>
              <a:t> </a:t>
            </a:r>
            <a:r>
              <a:rPr lang="en-US" sz="4000" b="0" strike="noStrike" spc="-1" dirty="0">
                <a:solidFill>
                  <a:srgbClr val="FF6600"/>
                </a:solidFill>
                <a:latin typeface="Arial Black"/>
              </a:rPr>
              <a:t>Java</a:t>
            </a:r>
            <a:endParaRPr lang="en-US" sz="4000" b="0" strike="noStrike" spc="-1" dirty="0">
              <a:solidFill>
                <a:srgbClr val="000000"/>
              </a:solidFill>
              <a:latin typeface="Arial"/>
            </a:endParaRPr>
          </a:p>
        </p:txBody>
      </p:sp>
      <p:sp>
        <p:nvSpPr>
          <p:cNvPr id="498" name="TextShape 5"/>
          <p:cNvSpPr txBox="1"/>
          <p:nvPr/>
        </p:nvSpPr>
        <p:spPr>
          <a:xfrm>
            <a:off x="495360" y="1066680"/>
            <a:ext cx="8859600" cy="4990680"/>
          </a:xfrm>
          <a:prstGeom prst="rect">
            <a:avLst/>
          </a:prstGeom>
          <a:noFill/>
          <a:ln>
            <a:noFill/>
          </a:ln>
        </p:spPr>
        <p:txBody>
          <a:bodyPr>
            <a:noAutofit/>
          </a:bodyPr>
          <a:lstStyle/>
          <a:p>
            <a:pPr marL="343080" indent="-342720">
              <a:lnSpc>
                <a:spcPct val="90000"/>
              </a:lnSpc>
              <a:spcBef>
                <a:spcPts val="641"/>
              </a:spcBef>
              <a:buClr>
                <a:srgbClr val="FFCC00"/>
              </a:buClr>
              <a:buFont typeface="Monotype Sorts" charset="2"/>
              <a:buChar char=""/>
            </a:pPr>
            <a:r>
              <a:rPr lang="en-US" sz="3200" b="1" i="1" strike="noStrike" spc="-1">
                <a:solidFill>
                  <a:srgbClr val="008000"/>
                </a:solidFill>
                <a:latin typeface="Tahoma"/>
              </a:rPr>
              <a:t>Exemplul 2</a:t>
            </a:r>
            <a:r>
              <a:rPr lang="en-US" sz="3200" b="0" strike="noStrike" spc="-1">
                <a:solidFill>
                  <a:srgbClr val="000000"/>
                </a:solidFill>
                <a:latin typeface="Tahoma"/>
              </a:rPr>
              <a:t>:</a:t>
            </a:r>
          </a:p>
          <a:p>
            <a:pPr marL="343080" indent="-342720">
              <a:lnSpc>
                <a:spcPct val="90000"/>
              </a:lnSpc>
              <a:spcBef>
                <a:spcPts val="641"/>
              </a:spcBef>
            </a:pPr>
            <a:endParaRPr lang="en-US" sz="32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public class Minim { 	//determina minimul dintre 2 intregi</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public static void main(String args[])   { </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int a=-5, b=8;</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System.out.println("a="+a+" b="+b);</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System.out.println("minimul este:"+min(a,b)); </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System.out.println("minimul este:"+(a&lt;b?a:b)); </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public static int min (int a, int b) {</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return a&lt;b?a:b;</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a:t>
            </a:r>
            <a:endParaRPr lang="en-US" sz="1800" b="0" strike="noStrike" spc="-1">
              <a:solidFill>
                <a:srgbClr val="000000"/>
              </a:solidFill>
              <a:latin typeface="Tahoma"/>
            </a:endParaRPr>
          </a:p>
          <a:p>
            <a:pPr marL="343080" indent="-342720">
              <a:lnSpc>
                <a:spcPct val="90000"/>
              </a:lnSpc>
              <a:spcBef>
                <a:spcPts val="360"/>
              </a:spcBef>
            </a:pPr>
            <a:r>
              <a:rPr lang="en-US" sz="1800" b="1" strike="noStrike" spc="-1">
                <a:solidFill>
                  <a:srgbClr val="000000"/>
                </a:solidFill>
                <a:latin typeface="Courier New"/>
              </a:rPr>
              <a:t>	}</a:t>
            </a:r>
            <a:endParaRPr lang="en-US" sz="1800" b="0" strike="noStrike" spc="-1">
              <a:solidFill>
                <a:srgbClr val="000000"/>
              </a:solidFill>
              <a:latin typeface="Tahoma"/>
            </a:endParaRPr>
          </a:p>
          <a:p>
            <a:pPr>
              <a:lnSpc>
                <a:spcPct val="90000"/>
              </a:lnSpc>
              <a:spcBef>
                <a:spcPts val="360"/>
              </a:spcBef>
            </a:pPr>
            <a:endParaRPr lang="en-US" sz="1800" b="0" strike="noStrike" spc="-1">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124883A1-7F85-42D7-BD3C-FF864ABCB20B}" type="slidenum">
              <a:rPr lang="en-US" sz="1400" b="0" strike="noStrike" spc="-1">
                <a:solidFill>
                  <a:srgbClr val="5E574E"/>
                </a:solidFill>
                <a:latin typeface="Arial"/>
              </a:rPr>
              <a:t>52</a:t>
            </a:fld>
            <a:endParaRPr lang="en-US" sz="1400" b="0" strike="noStrike" spc="-1">
              <a:latin typeface="Times New Roman"/>
            </a:endParaRPr>
          </a:p>
        </p:txBody>
      </p:sp>
      <p:sp>
        <p:nvSpPr>
          <p:cNvPr id="502" name="TextShape 4"/>
          <p:cNvSpPr txBox="1"/>
          <p:nvPr/>
        </p:nvSpPr>
        <p:spPr>
          <a:xfrm>
            <a:off x="439560" y="228600"/>
            <a:ext cx="8419680" cy="685440"/>
          </a:xfrm>
          <a:prstGeom prst="rect">
            <a:avLst/>
          </a:prstGeom>
          <a:noFill/>
          <a:ln>
            <a:noFill/>
          </a:ln>
        </p:spPr>
        <p:txBody>
          <a:bodyPr anchor="b">
            <a:noAutofit/>
          </a:bodyPr>
          <a:lstStyle/>
          <a:p>
            <a:pPr>
              <a:lnSpc>
                <a:spcPct val="100000"/>
              </a:lnSpc>
            </a:pPr>
            <a:r>
              <a:rPr lang="en-US" sz="3600" b="0" strike="noStrike" spc="-1" dirty="0" err="1" smtClean="0">
                <a:solidFill>
                  <a:srgbClr val="FF6600"/>
                </a:solidFill>
                <a:latin typeface="Arial Black"/>
              </a:rPr>
              <a:t>Exemple</a:t>
            </a:r>
            <a:r>
              <a:rPr lang="en-US" sz="3600" b="0" strike="noStrike" spc="-1" dirty="0" smtClean="0">
                <a:solidFill>
                  <a:srgbClr val="FF6600"/>
                </a:solidFill>
                <a:latin typeface="Arial Black"/>
              </a:rPr>
              <a:t> </a:t>
            </a:r>
            <a:r>
              <a:rPr lang="en-US" sz="3600" b="0" strike="noStrike" spc="-1" dirty="0">
                <a:solidFill>
                  <a:srgbClr val="FF6600"/>
                </a:solidFill>
                <a:latin typeface="Arial Black"/>
              </a:rPr>
              <a:t>Java</a:t>
            </a:r>
            <a:endParaRPr lang="en-US" sz="3600" b="0" strike="noStrike" spc="-1" dirty="0">
              <a:solidFill>
                <a:srgbClr val="000000"/>
              </a:solidFill>
              <a:latin typeface="Arial"/>
            </a:endParaRPr>
          </a:p>
        </p:txBody>
      </p:sp>
      <p:sp>
        <p:nvSpPr>
          <p:cNvPr id="503" name="TextShape 5"/>
          <p:cNvSpPr txBox="1"/>
          <p:nvPr/>
        </p:nvSpPr>
        <p:spPr>
          <a:xfrm>
            <a:off x="495360" y="990720"/>
            <a:ext cx="8859600" cy="5067000"/>
          </a:xfrm>
          <a:prstGeom prst="rect">
            <a:avLst/>
          </a:prstGeom>
          <a:noFill/>
          <a:ln>
            <a:noFill/>
          </a:ln>
        </p:spPr>
        <p:txBody>
          <a:bodyPr>
            <a:noAutofit/>
          </a:bodyPr>
          <a:lstStyle/>
          <a:p>
            <a:pPr marL="343080" indent="-342720">
              <a:lnSpc>
                <a:spcPct val="80000"/>
              </a:lnSpc>
              <a:spcBef>
                <a:spcPts val="281"/>
              </a:spcBef>
              <a:buClr>
                <a:srgbClr val="FFCC00"/>
              </a:buClr>
              <a:buFont typeface="Monotype Sorts" charset="2"/>
              <a:buChar char=""/>
            </a:pPr>
            <a:r>
              <a:rPr lang="en-US" sz="1400" b="1" i="1" strike="noStrike" spc="-1">
                <a:solidFill>
                  <a:srgbClr val="008000"/>
                </a:solidFill>
                <a:latin typeface="Tahoma"/>
              </a:rPr>
              <a:t>Exemplul 3</a:t>
            </a:r>
            <a:r>
              <a:rPr lang="en-US" sz="1400" b="0" strike="noStrike" spc="-1">
                <a:solidFill>
                  <a:srgbClr val="000000"/>
                </a:solidFill>
                <a:latin typeface="Tahoma"/>
              </a:rPr>
              <a:t>:</a:t>
            </a:r>
          </a:p>
          <a:p>
            <a:pPr marL="343080" indent="-342720">
              <a:lnSpc>
                <a:spcPct val="80000"/>
              </a:lnSpc>
              <a:spcBef>
                <a:spcPts val="281"/>
              </a:spcBef>
            </a:pPr>
            <a:endParaRPr lang="en-US" sz="14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import java.io.*;</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import java.lang.Math.*;</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import java.util.Scanner;</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public class cmmdcDif{</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public static int CitLong (String sir){</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Scanner scn = new Scanner(System.in);</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System.out.print(sir);</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return scn.nextInt();</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public static long cmmdcD(long a, long b){</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while (a!=b)</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if (a&gt;b) a=a-b;</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else     b=b-a;</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return a;  </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public static void main(String args[]){ </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long a,b;</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a=CitLong("da primul numar:");</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b=CitLong("da inca un numar:");</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System.out.print("Cmmdc-ul numerelor "+a+" si "+b+" este: ");</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System.out.println(cmmdcD(Math.abs(a),Math.abs(b)));</a:t>
            </a:r>
            <a:endParaRPr lang="en-US" sz="1200" b="0" strike="noStrike" spc="-1">
              <a:solidFill>
                <a:srgbClr val="000000"/>
              </a:solidFill>
              <a:latin typeface="Tahoma"/>
            </a:endParaRPr>
          </a:p>
          <a:p>
            <a:pPr marL="343080" indent="-342720">
              <a:lnSpc>
                <a:spcPct val="80000"/>
              </a:lnSpc>
              <a:spcBef>
                <a:spcPts val="241"/>
              </a:spcBef>
            </a:pPr>
            <a:r>
              <a:rPr lang="en-US" sz="1200" b="1" strike="noStrike" spc="-1">
                <a:solidFill>
                  <a:srgbClr val="000000"/>
                </a:solidFill>
                <a:latin typeface="Courier New"/>
              </a:rPr>
              <a:t>	  }</a:t>
            </a:r>
            <a:endParaRPr lang="en-US" sz="1200" b="0" strike="noStrike" spc="-1">
              <a:solidFill>
                <a:srgbClr val="000000"/>
              </a:solidFill>
              <a:latin typeface="Tahoma"/>
            </a:endParaRPr>
          </a:p>
          <a:p>
            <a:pPr marL="343080" indent="-342720">
              <a:lnSpc>
                <a:spcPct val="80000"/>
              </a:lnSpc>
              <a:spcBef>
                <a:spcPts val="281"/>
              </a:spcBef>
            </a:pPr>
            <a:r>
              <a:rPr lang="en-US" sz="1200" b="1" strike="noStrike" spc="-1">
                <a:solidFill>
                  <a:srgbClr val="000000"/>
                </a:solidFill>
                <a:latin typeface="Courier New"/>
              </a:rPr>
              <a:t>   </a:t>
            </a:r>
            <a:r>
              <a:rPr lang="en-US" sz="1400" b="1" strike="noStrike" spc="-1">
                <a:solidFill>
                  <a:srgbClr val="000000"/>
                </a:solidFill>
                <a:latin typeface="Courier New"/>
              </a:rPr>
              <a:t>}</a:t>
            </a:r>
            <a:endParaRPr lang="en-US" sz="1400" b="0" strike="noStrike" spc="-1">
              <a:solidFill>
                <a:srgbClr val="000000"/>
              </a:solidFill>
              <a:latin typeface="Tahoma"/>
            </a:endParaRPr>
          </a:p>
          <a:p>
            <a:pPr marL="343080" indent="-342720">
              <a:lnSpc>
                <a:spcPct val="80000"/>
              </a:lnSpc>
              <a:spcBef>
                <a:spcPts val="281"/>
              </a:spcBef>
            </a:pPr>
            <a:r>
              <a:rPr lang="en-US" sz="1400" b="1" strike="noStrike" spc="-1">
                <a:solidFill>
                  <a:srgbClr val="000000"/>
                </a:solidFill>
                <a:latin typeface="Courier New"/>
              </a:rPr>
              <a:t>	</a:t>
            </a:r>
            <a:endParaRPr lang="en-US" sz="1400" b="0" strike="noStrike" spc="-1">
              <a:solidFill>
                <a:srgbClr val="000000"/>
              </a:solidFill>
              <a:latin typeface="Tahoma"/>
            </a:endParaRPr>
          </a:p>
          <a:p>
            <a:pPr marL="343080" indent="-342720">
              <a:lnSpc>
                <a:spcPct val="80000"/>
              </a:lnSpc>
              <a:spcBef>
                <a:spcPts val="139"/>
              </a:spcBef>
            </a:pPr>
            <a:r>
              <a:rPr lang="en-US" sz="700" b="1" strike="noStrike" spc="-1">
                <a:solidFill>
                  <a:srgbClr val="000000"/>
                </a:solidFill>
                <a:latin typeface="Tahoma"/>
              </a:rPr>
              <a:t>    </a:t>
            </a:r>
            <a:endParaRPr lang="en-US" sz="700" b="0" strike="noStrike" spc="-1">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 name="TextShape 3"/>
          <p:cNvSpPr txBox="1"/>
          <p:nvPr/>
        </p:nvSpPr>
        <p:spPr>
          <a:xfrm>
            <a:off x="7291440" y="6229440"/>
            <a:ext cx="2063520" cy="456840"/>
          </a:xfrm>
          <a:prstGeom prst="rect">
            <a:avLst/>
          </a:prstGeom>
          <a:noFill/>
          <a:ln>
            <a:noFill/>
          </a:ln>
        </p:spPr>
        <p:txBody>
          <a:bodyPr anchor="b">
            <a:noAutofit/>
          </a:bodyPr>
          <a:lstStyle/>
          <a:p>
            <a:pPr algn="r">
              <a:lnSpc>
                <a:spcPct val="100000"/>
              </a:lnSpc>
              <a:spcBef>
                <a:spcPts val="700"/>
              </a:spcBef>
            </a:pPr>
            <a:fld id="{545699D9-5A69-4A1A-BB9C-EB9ACBDCFDE8}" type="slidenum">
              <a:rPr lang="en-US" sz="1400" b="0" strike="noStrike" spc="-1">
                <a:solidFill>
                  <a:srgbClr val="5E574E"/>
                </a:solidFill>
                <a:latin typeface="Arial"/>
              </a:rPr>
              <a:t>53</a:t>
            </a:fld>
            <a:endParaRPr lang="en-US" sz="1400" b="0" strike="noStrike" spc="-1">
              <a:latin typeface="Times New Roman"/>
            </a:endParaRPr>
          </a:p>
        </p:txBody>
      </p:sp>
      <p:sp>
        <p:nvSpPr>
          <p:cNvPr id="507" name="TextShape 4"/>
          <p:cNvSpPr txBox="1"/>
          <p:nvPr/>
        </p:nvSpPr>
        <p:spPr>
          <a:xfrm>
            <a:off x="439560" y="228600"/>
            <a:ext cx="8419680" cy="533160"/>
          </a:xfrm>
          <a:prstGeom prst="rect">
            <a:avLst/>
          </a:prstGeom>
          <a:noFill/>
          <a:ln>
            <a:noFill/>
          </a:ln>
        </p:spPr>
        <p:txBody>
          <a:bodyPr anchor="b">
            <a:noAutofit/>
          </a:bodyPr>
          <a:lstStyle/>
          <a:p>
            <a:pPr>
              <a:lnSpc>
                <a:spcPct val="100000"/>
              </a:lnSpc>
            </a:pPr>
            <a:r>
              <a:rPr lang="en-US" sz="3600" b="0" strike="noStrike" spc="-1" dirty="0" err="1" smtClean="0">
                <a:solidFill>
                  <a:srgbClr val="FF6600"/>
                </a:solidFill>
                <a:latin typeface="Arial Black"/>
              </a:rPr>
              <a:t>Exemple</a:t>
            </a:r>
            <a:r>
              <a:rPr lang="en-US" sz="3600" b="0" strike="noStrike" spc="-1" dirty="0" smtClean="0">
                <a:solidFill>
                  <a:srgbClr val="FF6600"/>
                </a:solidFill>
                <a:latin typeface="Arial Black"/>
              </a:rPr>
              <a:t> </a:t>
            </a:r>
            <a:r>
              <a:rPr lang="en-US" sz="3600" b="0" strike="noStrike" spc="-1" dirty="0">
                <a:solidFill>
                  <a:srgbClr val="FF6600"/>
                </a:solidFill>
                <a:latin typeface="Arial Black"/>
              </a:rPr>
              <a:t>Java</a:t>
            </a:r>
            <a:endParaRPr lang="en-US" sz="3600" b="0" strike="noStrike" spc="-1" dirty="0">
              <a:solidFill>
                <a:srgbClr val="000000"/>
              </a:solidFill>
              <a:latin typeface="Arial"/>
            </a:endParaRPr>
          </a:p>
        </p:txBody>
      </p:sp>
      <p:sp>
        <p:nvSpPr>
          <p:cNvPr id="508" name="TextShape 5"/>
          <p:cNvSpPr txBox="1"/>
          <p:nvPr/>
        </p:nvSpPr>
        <p:spPr>
          <a:xfrm>
            <a:off x="495360" y="914400"/>
            <a:ext cx="8859600" cy="5143320"/>
          </a:xfrm>
          <a:prstGeom prst="rect">
            <a:avLst/>
          </a:prstGeom>
          <a:noFill/>
          <a:ln>
            <a:noFill/>
          </a:ln>
        </p:spPr>
        <p:txBody>
          <a:bodyPr>
            <a:noAutofit/>
          </a:bodyPr>
          <a:lstStyle/>
          <a:p>
            <a:pPr marL="343080" indent="-342720">
              <a:lnSpc>
                <a:spcPct val="80000"/>
              </a:lnSpc>
              <a:spcBef>
                <a:spcPts val="281"/>
              </a:spcBef>
              <a:buClr>
                <a:srgbClr val="FFCC00"/>
              </a:buClr>
              <a:buFont typeface="Monotype Sorts" charset="2"/>
              <a:buChar char=""/>
            </a:pPr>
            <a:r>
              <a:rPr lang="en-US" sz="1400" b="1" i="1" strike="noStrike" spc="-1">
                <a:solidFill>
                  <a:srgbClr val="008000"/>
                </a:solidFill>
                <a:latin typeface="Courier New"/>
              </a:rPr>
              <a:t>Exemplul 4</a:t>
            </a:r>
            <a:r>
              <a:rPr lang="en-US" sz="1400" b="0" strike="noStrike" spc="-1">
                <a:solidFill>
                  <a:srgbClr val="000000"/>
                </a:solidFill>
                <a:latin typeface="Courier New"/>
              </a:rPr>
              <a:t>:</a:t>
            </a:r>
            <a:endParaRPr lang="en-US" sz="14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public class EcGrad1{</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private double a; 		// coeficientii ec. aX+b=0;</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private double b;</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public  EcGrad1 (double a, double b){  	// constructor</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this.a=a;</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this.b=b;</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public void setA(double a){   	// setari a si b	</a:t>
            </a:r>
            <a:endParaRPr lang="en-US" sz="1000" b="0" strike="noStrike" spc="-1">
              <a:solidFill>
                <a:srgbClr val="000000"/>
              </a:solidFill>
              <a:latin typeface="Tahoma"/>
            </a:endParaRPr>
          </a:p>
          <a:p>
            <a:pPr marL="343080" indent="-342720">
              <a:lnSpc>
                <a:spcPct val="80000"/>
              </a:lnSpc>
              <a:spcBef>
                <a:spcPts val="241"/>
              </a:spcBef>
            </a:pPr>
            <a:r>
              <a:rPr lang="en-US" sz="1000" b="0" strike="noStrike" spc="-1">
                <a:solidFill>
                  <a:srgbClr val="000000"/>
                </a:solidFill>
                <a:latin typeface="Courier New"/>
              </a:rPr>
              <a:t>	</a:t>
            </a:r>
            <a:r>
              <a:rPr lang="en-US" sz="1200" b="0" strike="noStrike" spc="-1">
                <a:solidFill>
                  <a:srgbClr val="000000"/>
                </a:solidFill>
                <a:latin typeface="Courier New"/>
              </a:rPr>
              <a:t>   this.a=a;</a:t>
            </a:r>
            <a:endParaRPr lang="en-US" sz="12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public void setB(double b){</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this.b=b;</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public double   getA(){       	// returnari a si b</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return a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public double   getB(){</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return b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public void afisare1(){           	// metoda de afisare ar trebui scrisa in programul de aplicatie</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if (a!=0){			// si nu in clasa</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if (a!=1.0)	System.out.print(getA()+"*X");</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else       	System.out.print("X");</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if(getB()&lt;0) 	System.out.print(getB()+"=0");</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else         	System.out.println("+"+getB()+"=0");</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public void rezolva1(){			// rezolvare</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if (a!=0)         System.out.println("ec. are sol. unica:"+ -b/a);</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else if (b!=0)    System.out.println("ec. nu are solutii");</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else        System.out.println("ec. are o inf. de solutii reale");</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a:t>
            </a:r>
            <a:endParaRPr lang="en-US" sz="1000" b="0" strike="noStrike" spc="-1">
              <a:solidFill>
                <a:srgbClr val="000000"/>
              </a:solidFill>
              <a:latin typeface="Tahoma"/>
            </a:endParaRPr>
          </a:p>
          <a:p>
            <a:pPr marL="343080" indent="-342720">
              <a:lnSpc>
                <a:spcPct val="80000"/>
              </a:lnSpc>
              <a:spcBef>
                <a:spcPts val="201"/>
              </a:spcBef>
            </a:pPr>
            <a:r>
              <a:rPr lang="en-US" sz="1000" b="0" strike="noStrike" spc="-1">
                <a:solidFill>
                  <a:srgbClr val="000000"/>
                </a:solidFill>
                <a:latin typeface="Courier New"/>
              </a:rPr>
              <a:t>  	}</a:t>
            </a:r>
            <a:endParaRPr lang="en-US" sz="1000" b="0" strike="noStrike" spc="-1">
              <a:solidFill>
                <a:srgbClr val="000000"/>
              </a:solidFill>
              <a:latin typeface="Tahom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Designs\Contemporary Portrait.pot</Template>
  <TotalTime>7028</TotalTime>
  <Pages>32</Pages>
  <Words>2047</Words>
  <Application>Microsoft Office PowerPoint</Application>
  <PresentationFormat>A4 Paper (210x297 mm)</PresentationFormat>
  <Paragraphs>684</Paragraphs>
  <Slides>53</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53</vt:i4>
      </vt:variant>
    </vt:vector>
  </HeadingPairs>
  <TitlesOfParts>
    <vt:vector size="65" baseType="lpstr">
      <vt:lpstr>Arial</vt:lpstr>
      <vt:lpstr>Arial Black</vt:lpstr>
      <vt:lpstr>Courier New</vt:lpstr>
      <vt:lpstr>DejaVu Sans</vt:lpstr>
      <vt:lpstr>Monotype Sorts</vt:lpstr>
      <vt:lpstr>Symbol</vt:lpstr>
      <vt:lpstr>Tahoma</vt:lpstr>
      <vt:lpstr>Times New Roman</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 - Cuprins</dc:title>
  <dc:subject/>
  <dc:creator>Bazil Parv, UBB Cluj</dc:creator>
  <dc:description/>
  <cp:lastModifiedBy>Manuela Panoiu</cp:lastModifiedBy>
  <cp:revision>256</cp:revision>
  <cp:lastPrinted>1999-10-05T08:41:38Z</cp:lastPrinted>
  <dcterms:created xsi:type="dcterms:W3CDTF">1997-03-11T13:16:56Z</dcterms:created>
  <dcterms:modified xsi:type="dcterms:W3CDTF">2020-11-08T08:59:11Z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A4 Paper (210x297 mm)</vt:lpwstr>
  </property>
  <property fmtid="{D5CDD505-2E9C-101B-9397-08002B2CF9AE}" pid="9" name="ScaleCrop">
    <vt:bool>false</vt:bool>
  </property>
  <property fmtid="{D5CDD505-2E9C-101B-9397-08002B2CF9AE}" pid="10" name="ShareDoc">
    <vt:bool>false</vt:bool>
  </property>
  <property fmtid="{D5CDD505-2E9C-101B-9397-08002B2CF9AE}" pid="11" name="Slides">
    <vt:i4>65</vt:i4>
  </property>
</Properties>
</file>