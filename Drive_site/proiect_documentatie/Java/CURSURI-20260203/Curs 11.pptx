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67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54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89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2278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72614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3241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296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386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0182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856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5339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99EB319-3514-4311-9A94-091B95A7B563}" type="datetimeFigureOut">
              <a:rPr lang="ro-RO" smtClean="0"/>
              <a:t>08.11.2020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291709-C391-4FAD-A5DC-325BFE54767C}" type="slidenum">
              <a:rPr lang="ro-RO" smtClean="0"/>
              <a:t>‹#›</a:t>
            </a:fld>
            <a:endParaRPr 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35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Fire de </a:t>
            </a:r>
            <a:r>
              <a:rPr lang="en-US" dirty="0" err="1" smtClean="0"/>
              <a:t>execu</a:t>
            </a:r>
            <a:r>
              <a:rPr lang="ro-RO" dirty="0" smtClean="0"/>
              <a:t>ție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2448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Fire de </a:t>
            </a:r>
            <a:r>
              <a:rPr lang="ro-RO" dirty="0" err="1"/>
              <a:t>execuţie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sincronizare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5" y="1845734"/>
            <a:ext cx="11098015" cy="4023360"/>
          </a:xfrm>
        </p:spPr>
        <p:txBody>
          <a:bodyPr>
            <a:noAutofit/>
          </a:bodyPr>
          <a:lstStyle/>
          <a:p>
            <a:r>
              <a:rPr lang="en-US" dirty="0"/>
              <a:t>O </a:t>
            </a:r>
            <a:r>
              <a:rPr lang="en-US" dirty="0" err="1"/>
              <a:t>aplicaţie</a:t>
            </a:r>
            <a:r>
              <a:rPr lang="en-US" dirty="0"/>
              <a:t> Java </a:t>
            </a:r>
            <a:r>
              <a:rPr lang="en-US" dirty="0" err="1"/>
              <a:t>rulează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al </a:t>
            </a:r>
            <a:r>
              <a:rPr lang="en-US" dirty="0" err="1"/>
              <a:t>sistemului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b="1" i="1" dirty="0" err="1"/>
              <a:t>proces</a:t>
            </a:r>
            <a:r>
              <a:rPr lang="en-US" dirty="0"/>
              <a:t> </a:t>
            </a:r>
            <a:r>
              <a:rPr lang="en-US" dirty="0" err="1"/>
              <a:t>constă</a:t>
            </a:r>
            <a:r>
              <a:rPr lang="en-US" dirty="0"/>
              <a:t> din </a:t>
            </a:r>
            <a:r>
              <a:rPr lang="en-US" dirty="0" err="1"/>
              <a:t>segmente</a:t>
            </a:r>
            <a:r>
              <a:rPr lang="en-US" dirty="0"/>
              <a:t> de cod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segmente</a:t>
            </a:r>
            <a:r>
              <a:rPr lang="en-US" dirty="0"/>
              <a:t> de date </a:t>
            </a:r>
            <a:r>
              <a:rPr lang="en-US" dirty="0" err="1"/>
              <a:t>mapate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</a:t>
            </a:r>
            <a:r>
              <a:rPr lang="en-US" dirty="0" err="1"/>
              <a:t>spaţiu</a:t>
            </a:r>
            <a:r>
              <a:rPr lang="en-US" dirty="0"/>
              <a:t> virtual de </a:t>
            </a:r>
            <a:r>
              <a:rPr lang="en-US" dirty="0" err="1"/>
              <a:t>adresare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deţine</a:t>
            </a:r>
            <a:r>
              <a:rPr lang="en-US" dirty="0"/>
              <a:t> un </a:t>
            </a:r>
            <a:r>
              <a:rPr lang="en-US" dirty="0" err="1"/>
              <a:t>număr</a:t>
            </a:r>
            <a:r>
              <a:rPr lang="en-US" dirty="0"/>
              <a:t> de </a:t>
            </a:r>
            <a:r>
              <a:rPr lang="en-US" dirty="0" err="1"/>
              <a:t>resurse</a:t>
            </a:r>
            <a:r>
              <a:rPr lang="en-US" dirty="0"/>
              <a:t> </a:t>
            </a:r>
            <a:r>
              <a:rPr lang="en-US" dirty="0" err="1"/>
              <a:t>alocate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, cum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fişiere</a:t>
            </a:r>
            <a:r>
              <a:rPr lang="en-US" dirty="0"/>
              <a:t> </a:t>
            </a:r>
            <a:r>
              <a:rPr lang="en-US" dirty="0" err="1"/>
              <a:t>deschise</a:t>
            </a:r>
            <a:r>
              <a:rPr lang="en-US" dirty="0"/>
              <a:t>, </a:t>
            </a:r>
            <a:r>
              <a:rPr lang="en-US" dirty="0" err="1"/>
              <a:t>regiuni</a:t>
            </a:r>
            <a:r>
              <a:rPr lang="en-US" dirty="0"/>
              <a:t> de </a:t>
            </a:r>
            <a:r>
              <a:rPr lang="en-US" dirty="0" err="1"/>
              <a:t>memorie</a:t>
            </a:r>
            <a:r>
              <a:rPr lang="en-US" dirty="0"/>
              <a:t> </a:t>
            </a:r>
            <a:r>
              <a:rPr lang="en-US" dirty="0" err="1"/>
              <a:t>alocate</a:t>
            </a:r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fire de </a:t>
            </a:r>
            <a:r>
              <a:rPr lang="en-US" dirty="0" err="1"/>
              <a:t>execuţie</a:t>
            </a:r>
            <a:r>
              <a:rPr lang="en-US" dirty="0"/>
              <a:t>.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 </a:t>
            </a:r>
            <a:r>
              <a:rPr lang="en-US" dirty="0" err="1"/>
              <a:t>deţinute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eliberate</a:t>
            </a:r>
            <a:r>
              <a:rPr lang="en-US" dirty="0"/>
              <a:t> la </a:t>
            </a:r>
            <a:r>
              <a:rPr lang="en-US" dirty="0" err="1"/>
              <a:t>terminarea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.</a:t>
            </a:r>
            <a:endParaRPr lang="ro-RO" dirty="0"/>
          </a:p>
          <a:p>
            <a:r>
              <a:rPr lang="en-US" dirty="0"/>
              <a:t>Un </a:t>
            </a:r>
            <a:r>
              <a:rPr lang="en-US" i="1" dirty="0"/>
              <a:t>fir de </a:t>
            </a:r>
            <a:r>
              <a:rPr lang="en-US" i="1" dirty="0" err="1"/>
              <a:t>execuţie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unitatea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fir de </a:t>
            </a:r>
            <a:r>
              <a:rPr lang="en-US" dirty="0" err="1"/>
              <a:t>execuţie</a:t>
            </a:r>
            <a:r>
              <a:rPr lang="en-US" dirty="0"/>
              <a:t> are </a:t>
            </a:r>
            <a:r>
              <a:rPr lang="en-US" dirty="0" err="1"/>
              <a:t>asociate</a:t>
            </a:r>
            <a:r>
              <a:rPr lang="en-US" dirty="0"/>
              <a:t> o </a:t>
            </a:r>
            <a:r>
              <a:rPr lang="en-US" dirty="0" err="1"/>
              <a:t>secvenţă</a:t>
            </a:r>
            <a:r>
              <a:rPr lang="en-US" dirty="0"/>
              <a:t> de </a:t>
            </a:r>
            <a:r>
              <a:rPr lang="en-US" dirty="0" err="1"/>
              <a:t>instrucţiuni</a:t>
            </a:r>
            <a:r>
              <a:rPr lang="en-US" dirty="0"/>
              <a:t>, un set de </a:t>
            </a:r>
            <a:r>
              <a:rPr lang="en-US" dirty="0" err="1"/>
              <a:t>regiştri</a:t>
            </a:r>
            <a:r>
              <a:rPr lang="en-US" dirty="0"/>
              <a:t> CPU </a:t>
            </a:r>
            <a:r>
              <a:rPr lang="en-US" dirty="0" err="1"/>
              <a:t>şi</a:t>
            </a:r>
            <a:r>
              <a:rPr lang="en-US" dirty="0"/>
              <a:t> o </a:t>
            </a:r>
            <a:r>
              <a:rPr lang="en-US" dirty="0" err="1"/>
              <a:t>stivă</a:t>
            </a:r>
            <a:r>
              <a:rPr lang="en-US" dirty="0"/>
              <a:t>. </a:t>
            </a:r>
            <a:r>
              <a:rPr lang="en-US" dirty="0" err="1"/>
              <a:t>Atenţie</a:t>
            </a:r>
            <a:r>
              <a:rPr lang="en-US" dirty="0"/>
              <a:t>, un </a:t>
            </a:r>
            <a:r>
              <a:rPr lang="en-US" dirty="0" err="1"/>
              <a:t>proces</a:t>
            </a:r>
            <a:r>
              <a:rPr lang="en-US" dirty="0"/>
              <a:t> nu </a:t>
            </a:r>
            <a:r>
              <a:rPr lang="en-US" dirty="0" err="1"/>
              <a:t>execută</a:t>
            </a:r>
            <a:r>
              <a:rPr lang="en-US" dirty="0"/>
              <a:t> </a:t>
            </a:r>
            <a:r>
              <a:rPr lang="en-US" dirty="0" err="1"/>
              <a:t>nici</a:t>
            </a:r>
            <a:r>
              <a:rPr lang="en-US" dirty="0"/>
              <a:t> un </a:t>
            </a:r>
            <a:r>
              <a:rPr lang="en-US" dirty="0" err="1"/>
              <a:t>fel</a:t>
            </a:r>
            <a:r>
              <a:rPr lang="en-US" dirty="0"/>
              <a:t> de </a:t>
            </a:r>
            <a:r>
              <a:rPr lang="en-US" dirty="0" err="1"/>
              <a:t>instrucţiuni</a:t>
            </a:r>
            <a:r>
              <a:rPr lang="en-US" dirty="0"/>
              <a:t>. El </a:t>
            </a:r>
            <a:r>
              <a:rPr lang="en-US" dirty="0" err="1"/>
              <a:t>este</a:t>
            </a:r>
            <a:r>
              <a:rPr lang="en-US" dirty="0"/>
              <a:t> de </a:t>
            </a:r>
            <a:r>
              <a:rPr lang="en-US" dirty="0" err="1"/>
              <a:t>fapt</a:t>
            </a:r>
            <a:r>
              <a:rPr lang="en-US" dirty="0"/>
              <a:t> un </a:t>
            </a:r>
            <a:r>
              <a:rPr lang="en-US" dirty="0" err="1"/>
              <a:t>spaţiu</a:t>
            </a:r>
            <a:r>
              <a:rPr lang="en-US" dirty="0"/>
              <a:t> de </a:t>
            </a:r>
            <a:r>
              <a:rPr lang="en-US" dirty="0" err="1"/>
              <a:t>adresare</a:t>
            </a:r>
            <a:r>
              <a:rPr lang="en-US" dirty="0"/>
              <a:t> </a:t>
            </a:r>
            <a:r>
              <a:rPr lang="en-US" dirty="0" err="1"/>
              <a:t>comun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fire de </a:t>
            </a:r>
            <a:r>
              <a:rPr lang="en-US" dirty="0" err="1"/>
              <a:t>execuţie</a:t>
            </a:r>
            <a:r>
              <a:rPr lang="en-US" dirty="0"/>
              <a:t>. </a:t>
            </a:r>
            <a:r>
              <a:rPr lang="en-US" dirty="0" err="1"/>
              <a:t>Execuţia</a:t>
            </a:r>
            <a:r>
              <a:rPr lang="en-US" dirty="0"/>
              <a:t> </a:t>
            </a:r>
            <a:r>
              <a:rPr lang="en-US" dirty="0" err="1"/>
              <a:t>instrucţiunilor</a:t>
            </a:r>
            <a:r>
              <a:rPr lang="en-US" dirty="0"/>
              <a:t> cade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responsabilitatea</a:t>
            </a:r>
            <a:r>
              <a:rPr lang="en-US" dirty="0"/>
              <a:t> </a:t>
            </a:r>
            <a:r>
              <a:rPr lang="en-US" dirty="0" err="1"/>
              <a:t>firelor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urmează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prescurta</a:t>
            </a:r>
            <a:r>
              <a:rPr lang="en-US" dirty="0"/>
              <a:t> </a:t>
            </a:r>
            <a:r>
              <a:rPr lang="en-US" dirty="0" err="1"/>
              <a:t>uneori</a:t>
            </a:r>
            <a:r>
              <a:rPr lang="en-US" dirty="0"/>
              <a:t> </a:t>
            </a:r>
            <a:r>
              <a:rPr lang="en-US" dirty="0" err="1"/>
              <a:t>denumirea</a:t>
            </a:r>
            <a:r>
              <a:rPr lang="en-US" dirty="0"/>
              <a:t> </a:t>
            </a:r>
            <a:r>
              <a:rPr lang="en-US" dirty="0" err="1"/>
              <a:t>firelor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, </a:t>
            </a:r>
            <a:r>
              <a:rPr lang="en-US" dirty="0" err="1"/>
              <a:t>numindu</a:t>
            </a:r>
            <a:r>
              <a:rPr lang="en-US" dirty="0"/>
              <a:t>-le </a:t>
            </a:r>
            <a:r>
              <a:rPr lang="en-US" dirty="0" err="1"/>
              <a:t>pur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 </a:t>
            </a:r>
            <a:r>
              <a:rPr lang="en-US" i="1" dirty="0"/>
              <a:t>fire</a:t>
            </a:r>
            <a:r>
              <a:rPr lang="en-US" dirty="0"/>
              <a:t> .</a:t>
            </a:r>
            <a:endParaRPr lang="ro-RO" dirty="0"/>
          </a:p>
          <a:p>
            <a:r>
              <a:rPr lang="en-US" dirty="0" err="1"/>
              <a:t>Mediul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Java </a:t>
            </a:r>
            <a:r>
              <a:rPr lang="en-US" dirty="0" err="1"/>
              <a:t>execută</a:t>
            </a:r>
            <a:r>
              <a:rPr lang="en-US" dirty="0"/>
              <a:t> </a:t>
            </a:r>
            <a:r>
              <a:rPr lang="en-US" dirty="0" err="1"/>
              <a:t>propriul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control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firelor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. </a:t>
            </a:r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planificarea</a:t>
            </a:r>
            <a:r>
              <a:rPr lang="en-US" dirty="0"/>
              <a:t> </a:t>
            </a:r>
            <a:r>
              <a:rPr lang="en-US" dirty="0" err="1"/>
              <a:t>firelor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, </a:t>
            </a:r>
            <a:r>
              <a:rPr lang="en-US" dirty="0" err="1"/>
              <a:t>priorităţile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stările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se pot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</a:t>
            </a:r>
            <a:r>
              <a:rPr lang="en-US" dirty="0" err="1"/>
              <a:t>aplicaţiilor</a:t>
            </a:r>
            <a:r>
              <a:rPr lang="en-US" dirty="0"/>
              <a:t> Java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implementate</a:t>
            </a:r>
            <a:r>
              <a:rPr lang="en-US" dirty="0"/>
              <a:t> identic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platformele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portat</a:t>
            </a:r>
            <a:r>
              <a:rPr lang="en-US" dirty="0"/>
              <a:t> </a:t>
            </a:r>
            <a:r>
              <a:rPr lang="en-US" dirty="0" err="1"/>
              <a:t>mediul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Java. </a:t>
            </a:r>
            <a:r>
              <a:rPr lang="en-US" dirty="0" err="1"/>
              <a:t>Totuşi</a:t>
            </a:r>
            <a:r>
              <a:rPr lang="en-US" dirty="0"/>
              <a:t>,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 </a:t>
            </a:r>
            <a:r>
              <a:rPr lang="en-US" dirty="0" err="1"/>
              <a:t>ştie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profite</a:t>
            </a:r>
            <a:r>
              <a:rPr lang="en-US" dirty="0"/>
              <a:t> de </a:t>
            </a:r>
            <a:r>
              <a:rPr lang="en-US" dirty="0" err="1"/>
              <a:t>resursele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lucrează</a:t>
            </a:r>
            <a:r>
              <a:rPr lang="en-US" dirty="0"/>
              <a:t>.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gazdă</a:t>
            </a:r>
            <a:r>
              <a:rPr lang="en-US" dirty="0"/>
              <a:t> </a:t>
            </a:r>
            <a:r>
              <a:rPr lang="en-US" dirty="0" err="1"/>
              <a:t>lucrează</a:t>
            </a:r>
            <a:r>
              <a:rPr lang="en-US" dirty="0"/>
              <a:t>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procesoare</a:t>
            </a:r>
            <a:r>
              <a:rPr lang="en-US" dirty="0"/>
              <a:t>, Java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procesoare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a-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planifica</a:t>
            </a:r>
            <a:r>
              <a:rPr lang="en-US" dirty="0"/>
              <a:t> </a:t>
            </a:r>
            <a:r>
              <a:rPr lang="en-US" dirty="0" err="1"/>
              <a:t>firele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. 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44920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Fire de </a:t>
            </a:r>
            <a:r>
              <a:rPr lang="ro-RO" dirty="0" err="1"/>
              <a:t>execuţie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sincronizare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92" y="1845734"/>
            <a:ext cx="11862486" cy="4023360"/>
          </a:xfrm>
        </p:spPr>
        <p:txBody>
          <a:bodyPr>
            <a:noAutofit/>
          </a:bodyPr>
          <a:lstStyle/>
          <a:p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cazul</a:t>
            </a:r>
            <a:r>
              <a:rPr lang="en-US" sz="2200" dirty="0"/>
              <a:t> </a:t>
            </a:r>
            <a:r>
              <a:rPr lang="en-US" sz="2200" dirty="0" err="1"/>
              <a:t>maşinilor</a:t>
            </a:r>
            <a:r>
              <a:rPr lang="en-US" sz="2200" dirty="0"/>
              <a:t> </a:t>
            </a:r>
            <a:r>
              <a:rPr lang="en-US" sz="2200" dirty="0" err="1"/>
              <a:t>multiprocesor</a:t>
            </a:r>
            <a:r>
              <a:rPr lang="en-US" sz="2200" dirty="0"/>
              <a:t>, </a:t>
            </a:r>
            <a:r>
              <a:rPr lang="en-US" sz="2200" dirty="0" err="1"/>
              <a:t>mediul</a:t>
            </a:r>
            <a:r>
              <a:rPr lang="en-US" sz="2200" dirty="0"/>
              <a:t> de </a:t>
            </a:r>
            <a:r>
              <a:rPr lang="en-US" sz="2200" dirty="0" err="1"/>
              <a:t>execuţie</a:t>
            </a:r>
            <a:r>
              <a:rPr lang="en-US" sz="2200" dirty="0"/>
              <a:t> Java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sistemul</a:t>
            </a:r>
            <a:r>
              <a:rPr lang="en-US" sz="2200" dirty="0"/>
              <a:t> de </a:t>
            </a:r>
            <a:r>
              <a:rPr lang="en-US" sz="2200" dirty="0" err="1"/>
              <a:t>operare</a:t>
            </a:r>
            <a:r>
              <a:rPr lang="en-US" sz="2200" dirty="0"/>
              <a:t> </a:t>
            </a:r>
            <a:r>
              <a:rPr lang="en-US" sz="2200" dirty="0" err="1"/>
              <a:t>sunt</a:t>
            </a:r>
            <a:r>
              <a:rPr lang="en-US" sz="2200" dirty="0"/>
              <a:t> </a:t>
            </a:r>
            <a:r>
              <a:rPr lang="en-US" sz="2200" dirty="0" err="1"/>
              <a:t>responsabile</a:t>
            </a:r>
            <a:r>
              <a:rPr lang="en-US" sz="2200" dirty="0"/>
              <a:t> cu </a:t>
            </a:r>
            <a:r>
              <a:rPr lang="en-US" sz="2200" dirty="0" err="1"/>
              <a:t>repartizarea</a:t>
            </a:r>
            <a:r>
              <a:rPr lang="en-US" sz="2200" dirty="0"/>
              <a:t> </a:t>
            </a:r>
            <a:r>
              <a:rPr lang="en-US" sz="2200" dirty="0" err="1"/>
              <a:t>firelor</a:t>
            </a:r>
            <a:r>
              <a:rPr lang="en-US" sz="2200" dirty="0"/>
              <a:t> de </a:t>
            </a:r>
            <a:r>
              <a:rPr lang="en-US" sz="2200" dirty="0" err="1"/>
              <a:t>execuţie</a:t>
            </a:r>
            <a:r>
              <a:rPr lang="en-US" sz="2200" dirty="0"/>
              <a:t> </a:t>
            </a:r>
            <a:r>
              <a:rPr lang="en-US" sz="2200" dirty="0" err="1"/>
              <a:t>pe</a:t>
            </a:r>
            <a:r>
              <a:rPr lang="en-US" sz="2200" dirty="0"/>
              <a:t> un </a:t>
            </a:r>
            <a:r>
              <a:rPr lang="en-US" sz="2200" dirty="0" err="1"/>
              <a:t>procesor</a:t>
            </a:r>
            <a:r>
              <a:rPr lang="en-US" sz="2200" dirty="0"/>
              <a:t> </a:t>
            </a:r>
            <a:r>
              <a:rPr lang="en-US" sz="2200" dirty="0" err="1"/>
              <a:t>sau</a:t>
            </a:r>
            <a:r>
              <a:rPr lang="en-US" sz="2200" dirty="0"/>
              <a:t> </a:t>
            </a:r>
            <a:r>
              <a:rPr lang="en-US" sz="2200" dirty="0" err="1"/>
              <a:t>altul</a:t>
            </a:r>
            <a:r>
              <a:rPr lang="en-US" sz="2200" dirty="0"/>
              <a:t>.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programator</a:t>
            </a:r>
            <a:r>
              <a:rPr lang="en-US" sz="2200" dirty="0"/>
              <a:t>, </a:t>
            </a:r>
            <a:r>
              <a:rPr lang="en-US" sz="2200" dirty="0" err="1"/>
              <a:t>acest</a:t>
            </a:r>
            <a:r>
              <a:rPr lang="en-US" sz="2200" dirty="0"/>
              <a:t> </a:t>
            </a:r>
            <a:r>
              <a:rPr lang="en-US" sz="2200" dirty="0" err="1"/>
              <a:t>mecanism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complet</a:t>
            </a:r>
            <a:r>
              <a:rPr lang="en-US" sz="2200" dirty="0"/>
              <a:t> transparent, </a:t>
            </a:r>
            <a:r>
              <a:rPr lang="en-US" sz="2200" dirty="0" err="1"/>
              <a:t>neexistând</a:t>
            </a:r>
            <a:r>
              <a:rPr lang="en-US" sz="2200" dirty="0"/>
              <a:t> </a:t>
            </a:r>
            <a:r>
              <a:rPr lang="en-US" sz="2200" dirty="0" err="1"/>
              <a:t>nici</a:t>
            </a:r>
            <a:r>
              <a:rPr lang="en-US" sz="2200" dirty="0"/>
              <a:t> o </a:t>
            </a:r>
            <a:r>
              <a:rPr lang="en-US" sz="2200" dirty="0" err="1"/>
              <a:t>diferenţă</a:t>
            </a:r>
            <a:r>
              <a:rPr lang="en-US" sz="2200" dirty="0"/>
              <a:t> </a:t>
            </a:r>
            <a:r>
              <a:rPr lang="en-US" sz="2200" dirty="0" err="1"/>
              <a:t>între</a:t>
            </a:r>
            <a:r>
              <a:rPr lang="en-US" sz="2200" dirty="0"/>
              <a:t> </a:t>
            </a:r>
            <a:r>
              <a:rPr lang="en-US" sz="2200" dirty="0" err="1"/>
              <a:t>scrierea</a:t>
            </a:r>
            <a:r>
              <a:rPr lang="en-US" sz="2200" dirty="0"/>
              <a:t> </a:t>
            </a:r>
            <a:r>
              <a:rPr lang="en-US" sz="2200" dirty="0" err="1"/>
              <a:t>unei</a:t>
            </a:r>
            <a:r>
              <a:rPr lang="en-US" sz="2200" dirty="0"/>
              <a:t> </a:t>
            </a:r>
            <a:r>
              <a:rPr lang="en-US" sz="2200" dirty="0" err="1"/>
              <a:t>aplicaţii</a:t>
            </a:r>
            <a:r>
              <a:rPr lang="en-US" sz="2200" dirty="0"/>
              <a:t> cu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multe</a:t>
            </a:r>
            <a:r>
              <a:rPr lang="en-US" sz="2200" dirty="0"/>
              <a:t> fire </a:t>
            </a:r>
            <a:r>
              <a:rPr lang="en-US" sz="2200" dirty="0" err="1"/>
              <a:t>pentru</a:t>
            </a:r>
            <a:r>
              <a:rPr lang="en-US" sz="2200" dirty="0"/>
              <a:t> o </a:t>
            </a:r>
            <a:r>
              <a:rPr lang="en-US" sz="2200" dirty="0" err="1"/>
              <a:t>maşină</a:t>
            </a:r>
            <a:r>
              <a:rPr lang="en-US" sz="2200" dirty="0"/>
              <a:t> cu un </a:t>
            </a:r>
            <a:r>
              <a:rPr lang="en-US" sz="2200" dirty="0" err="1"/>
              <a:t>singur</a:t>
            </a:r>
            <a:r>
              <a:rPr lang="en-US" sz="2200" dirty="0"/>
              <a:t> </a:t>
            </a:r>
            <a:r>
              <a:rPr lang="en-US" sz="2200" dirty="0" err="1"/>
              <a:t>procesor</a:t>
            </a:r>
            <a:r>
              <a:rPr lang="en-US" sz="2200" dirty="0"/>
              <a:t> </a:t>
            </a:r>
            <a:r>
              <a:rPr lang="en-US" sz="2200" dirty="0" err="1"/>
              <a:t>sau</a:t>
            </a:r>
            <a:r>
              <a:rPr lang="en-US" sz="2200" dirty="0"/>
              <a:t> cu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multe</a:t>
            </a:r>
            <a:r>
              <a:rPr lang="en-US" sz="2200" dirty="0"/>
              <a:t>. </a:t>
            </a:r>
            <a:r>
              <a:rPr lang="en-US" sz="2200" dirty="0" err="1"/>
              <a:t>Desigur</a:t>
            </a:r>
            <a:r>
              <a:rPr lang="en-US" sz="2200" dirty="0"/>
              <a:t>, </a:t>
            </a:r>
            <a:r>
              <a:rPr lang="en-US" sz="2200" dirty="0" err="1"/>
              <a:t>există</a:t>
            </a:r>
            <a:r>
              <a:rPr lang="en-US" sz="2200" dirty="0"/>
              <a:t> </a:t>
            </a:r>
            <a:r>
              <a:rPr lang="en-US" sz="2200" dirty="0" err="1"/>
              <a:t>însă</a:t>
            </a:r>
            <a:r>
              <a:rPr lang="en-US" sz="2200" dirty="0"/>
              <a:t> </a:t>
            </a:r>
            <a:r>
              <a:rPr lang="en-US" sz="2200" dirty="0" err="1"/>
              <a:t>diferenţe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cazul</a:t>
            </a:r>
            <a:r>
              <a:rPr lang="en-US" sz="2200" dirty="0"/>
              <a:t> </a:t>
            </a:r>
            <a:r>
              <a:rPr lang="en-US" sz="2200" dirty="0" err="1"/>
              <a:t>scrierii</a:t>
            </a:r>
            <a:r>
              <a:rPr lang="en-US" sz="2200" dirty="0"/>
              <a:t> </a:t>
            </a:r>
            <a:r>
              <a:rPr lang="en-US" sz="2200" dirty="0" err="1"/>
              <a:t>aplicaţiilor</a:t>
            </a:r>
            <a:r>
              <a:rPr lang="en-US" sz="2200" dirty="0"/>
              <a:t> </a:t>
            </a:r>
            <a:r>
              <a:rPr lang="en-US" sz="2200" dirty="0" err="1"/>
              <a:t>pe</a:t>
            </a:r>
            <a:r>
              <a:rPr lang="en-US" sz="2200" dirty="0"/>
              <a:t>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multe</a:t>
            </a:r>
            <a:r>
              <a:rPr lang="en-US" sz="2200" dirty="0"/>
              <a:t> fire de </a:t>
            </a:r>
            <a:r>
              <a:rPr lang="en-US" sz="2200" dirty="0" err="1"/>
              <a:t>execuţie</a:t>
            </a:r>
            <a:r>
              <a:rPr lang="en-US" sz="2200" dirty="0"/>
              <a:t> </a:t>
            </a:r>
            <a:r>
              <a:rPr lang="en-US" sz="2200" dirty="0" err="1"/>
              <a:t>faţă</a:t>
            </a:r>
            <a:r>
              <a:rPr lang="en-US" sz="2200" dirty="0"/>
              <a:t> de </a:t>
            </a:r>
            <a:r>
              <a:rPr lang="en-US" sz="2200" dirty="0" err="1"/>
              <a:t>acelea</a:t>
            </a:r>
            <a:r>
              <a:rPr lang="en-US" sz="2200" dirty="0"/>
              <a:t> cu un </a:t>
            </a:r>
            <a:r>
              <a:rPr lang="en-US" sz="2200" dirty="0" err="1"/>
              <a:t>singur</a:t>
            </a:r>
            <a:r>
              <a:rPr lang="en-US" sz="2200" dirty="0"/>
              <a:t> fir de </a:t>
            </a:r>
            <a:r>
              <a:rPr lang="en-US" sz="2200" dirty="0" err="1"/>
              <a:t>execuţie</a:t>
            </a:r>
            <a:r>
              <a:rPr lang="en-US" sz="2200" dirty="0"/>
              <a:t>, </a:t>
            </a:r>
            <a:r>
              <a:rPr lang="en-US" sz="2200" dirty="0" err="1"/>
              <a:t>diferenţe</a:t>
            </a:r>
            <a:r>
              <a:rPr lang="en-US" sz="2200" dirty="0"/>
              <a:t> care </a:t>
            </a:r>
            <a:r>
              <a:rPr lang="en-US" sz="2200" dirty="0" err="1"/>
              <a:t>provin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principal din </a:t>
            </a:r>
            <a:r>
              <a:rPr lang="en-US" sz="2200" dirty="0" err="1"/>
              <a:t>cauza</a:t>
            </a:r>
            <a:r>
              <a:rPr lang="en-US" sz="2200" dirty="0"/>
              <a:t> </a:t>
            </a:r>
            <a:r>
              <a:rPr lang="en-US" sz="2200" dirty="0" err="1"/>
              <a:t>necesităţii</a:t>
            </a:r>
            <a:r>
              <a:rPr lang="en-US" sz="2200" dirty="0"/>
              <a:t> de </a:t>
            </a:r>
            <a:r>
              <a:rPr lang="en-US" sz="2200" dirty="0" err="1"/>
              <a:t>sincronizare</a:t>
            </a:r>
            <a:r>
              <a:rPr lang="en-US" sz="2200" dirty="0"/>
              <a:t> </a:t>
            </a:r>
            <a:r>
              <a:rPr lang="en-US" sz="2200" dirty="0" err="1"/>
              <a:t>între</a:t>
            </a:r>
            <a:r>
              <a:rPr lang="en-US" sz="2200" dirty="0"/>
              <a:t> </a:t>
            </a:r>
            <a:r>
              <a:rPr lang="en-US" sz="2200" dirty="0" err="1"/>
              <a:t>firele</a:t>
            </a:r>
            <a:r>
              <a:rPr lang="en-US" sz="2200" dirty="0"/>
              <a:t> de </a:t>
            </a:r>
            <a:r>
              <a:rPr lang="en-US" sz="2200" dirty="0" err="1"/>
              <a:t>execuţie</a:t>
            </a:r>
            <a:r>
              <a:rPr lang="en-US" sz="2200" dirty="0"/>
              <a:t> </a:t>
            </a:r>
            <a:r>
              <a:rPr lang="en-US" sz="2200" dirty="0" err="1"/>
              <a:t>aparţinând</a:t>
            </a:r>
            <a:r>
              <a:rPr lang="en-US" sz="2200" dirty="0"/>
              <a:t> </a:t>
            </a:r>
            <a:r>
              <a:rPr lang="en-US" sz="2200" dirty="0" err="1"/>
              <a:t>aceluiaşi</a:t>
            </a:r>
            <a:r>
              <a:rPr lang="en-US" sz="2200" dirty="0"/>
              <a:t> </a:t>
            </a:r>
            <a:r>
              <a:rPr lang="en-US" sz="2200" dirty="0" err="1"/>
              <a:t>proces</a:t>
            </a:r>
            <a:r>
              <a:rPr lang="en-US" sz="2200" dirty="0"/>
              <a:t>.</a:t>
            </a:r>
            <a:endParaRPr lang="ro-RO" sz="2200" dirty="0"/>
          </a:p>
          <a:p>
            <a:r>
              <a:rPr lang="en-US" sz="2200" dirty="0" err="1"/>
              <a:t>Sincronizarea</a:t>
            </a:r>
            <a:r>
              <a:rPr lang="en-US" sz="2200" dirty="0"/>
              <a:t> </a:t>
            </a:r>
            <a:r>
              <a:rPr lang="en-US" sz="2200" dirty="0" err="1"/>
              <a:t>firelor</a:t>
            </a:r>
            <a:r>
              <a:rPr lang="en-US" sz="2200" dirty="0"/>
              <a:t> de </a:t>
            </a:r>
            <a:r>
              <a:rPr lang="en-US" sz="2200" dirty="0" err="1"/>
              <a:t>execuţie</a:t>
            </a:r>
            <a:r>
              <a:rPr lang="en-US" sz="2200" dirty="0"/>
              <a:t> </a:t>
            </a:r>
            <a:r>
              <a:rPr lang="en-US" sz="2200" dirty="0" err="1"/>
              <a:t>înseamnă</a:t>
            </a:r>
            <a:r>
              <a:rPr lang="en-US" sz="2200" dirty="0"/>
              <a:t> </a:t>
            </a:r>
            <a:r>
              <a:rPr lang="en-US" sz="2200" dirty="0" err="1"/>
              <a:t>că</a:t>
            </a:r>
            <a:r>
              <a:rPr lang="en-US" sz="2200" dirty="0"/>
              <a:t> </a:t>
            </a:r>
            <a:r>
              <a:rPr lang="en-US" sz="2200" dirty="0" err="1"/>
              <a:t>acestea</a:t>
            </a:r>
            <a:r>
              <a:rPr lang="en-US" sz="2200" dirty="0"/>
              <a:t> se </a:t>
            </a:r>
            <a:r>
              <a:rPr lang="en-US" sz="2200" dirty="0" err="1"/>
              <a:t>aşteaptă</a:t>
            </a:r>
            <a:r>
              <a:rPr lang="en-US" sz="2200" dirty="0"/>
              <a:t> </a:t>
            </a:r>
            <a:r>
              <a:rPr lang="en-US" sz="2200" dirty="0" err="1"/>
              <a:t>unul</a:t>
            </a:r>
            <a:r>
              <a:rPr lang="en-US" sz="2200" dirty="0"/>
              <a:t> </a:t>
            </a:r>
            <a:r>
              <a:rPr lang="en-US" sz="2200" dirty="0" err="1"/>
              <a:t>pe</a:t>
            </a:r>
            <a:r>
              <a:rPr lang="en-US" sz="2200" dirty="0"/>
              <a:t> </a:t>
            </a:r>
            <a:r>
              <a:rPr lang="en-US" sz="2200" dirty="0" err="1"/>
              <a:t>celălalt</a:t>
            </a:r>
            <a:r>
              <a:rPr lang="en-US" sz="2200" dirty="0"/>
              <a:t>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completarea</a:t>
            </a:r>
            <a:r>
              <a:rPr lang="en-US" sz="2200" dirty="0"/>
              <a:t> </a:t>
            </a:r>
            <a:r>
              <a:rPr lang="en-US" sz="2200" dirty="0" err="1"/>
              <a:t>anumitor</a:t>
            </a:r>
            <a:r>
              <a:rPr lang="en-US" sz="2200" dirty="0"/>
              <a:t> </a:t>
            </a:r>
            <a:r>
              <a:rPr lang="en-US" sz="2200" dirty="0" err="1"/>
              <a:t>operaţii</a:t>
            </a:r>
            <a:r>
              <a:rPr lang="en-US" sz="2200" dirty="0"/>
              <a:t> care nu se pot </a:t>
            </a:r>
            <a:r>
              <a:rPr lang="en-US" sz="2200" dirty="0" err="1"/>
              <a:t>executa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paralel</a:t>
            </a:r>
            <a:r>
              <a:rPr lang="en-US" sz="2200" dirty="0"/>
              <a:t> </a:t>
            </a:r>
            <a:r>
              <a:rPr lang="en-US" sz="2200" dirty="0" err="1"/>
              <a:t>sau</a:t>
            </a:r>
            <a:r>
              <a:rPr lang="en-US" sz="2200" dirty="0"/>
              <a:t> care </a:t>
            </a:r>
            <a:r>
              <a:rPr lang="en-US" sz="2200" dirty="0" err="1"/>
              <a:t>trebuie</a:t>
            </a:r>
            <a:r>
              <a:rPr lang="en-US" sz="2200" dirty="0"/>
              <a:t> </a:t>
            </a:r>
            <a:r>
              <a:rPr lang="en-US" sz="2200" dirty="0" err="1"/>
              <a:t>executate</a:t>
            </a:r>
            <a:r>
              <a:rPr lang="en-US" sz="2200" dirty="0"/>
              <a:t> </a:t>
            </a:r>
            <a:r>
              <a:rPr lang="en-US" sz="2200" dirty="0" err="1"/>
              <a:t>într</a:t>
            </a:r>
            <a:r>
              <a:rPr lang="en-US" sz="2200" dirty="0"/>
              <a:t>-o </a:t>
            </a:r>
            <a:r>
              <a:rPr lang="en-US" sz="2200" dirty="0" err="1"/>
              <a:t>anumită</a:t>
            </a:r>
            <a:r>
              <a:rPr lang="en-US" sz="2200" dirty="0"/>
              <a:t> </a:t>
            </a:r>
            <a:r>
              <a:rPr lang="en-US" sz="2200" dirty="0" err="1"/>
              <a:t>ordine</a:t>
            </a:r>
            <a:r>
              <a:rPr lang="en-US" sz="2200" dirty="0"/>
              <a:t>. Java </a:t>
            </a:r>
            <a:r>
              <a:rPr lang="en-US" sz="2200" dirty="0" err="1"/>
              <a:t>oferă</a:t>
            </a:r>
            <a:r>
              <a:rPr lang="en-US" sz="2200" dirty="0"/>
              <a:t>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acest</a:t>
            </a:r>
            <a:r>
              <a:rPr lang="en-US" sz="2200" dirty="0"/>
              <a:t> </a:t>
            </a:r>
            <a:r>
              <a:rPr lang="en-US" sz="2200" dirty="0" err="1"/>
              <a:t>caz</a:t>
            </a:r>
            <a:r>
              <a:rPr lang="en-US" sz="2200" dirty="0"/>
              <a:t> </a:t>
            </a:r>
            <a:r>
              <a:rPr lang="en-US" sz="2200" dirty="0" err="1"/>
              <a:t>mecanismele</a:t>
            </a:r>
            <a:r>
              <a:rPr lang="en-US" sz="2200" dirty="0"/>
              <a:t> sale </a:t>
            </a:r>
            <a:r>
              <a:rPr lang="en-US" sz="2200" dirty="0" err="1"/>
              <a:t>proprii</a:t>
            </a:r>
            <a:r>
              <a:rPr lang="en-US" sz="2200" dirty="0"/>
              <a:t> de </a:t>
            </a:r>
            <a:r>
              <a:rPr lang="en-US" sz="2200" dirty="0" err="1"/>
              <a:t>sincronizare</a:t>
            </a:r>
            <a:r>
              <a:rPr lang="en-US" sz="2200" dirty="0"/>
              <a:t>, </a:t>
            </a:r>
            <a:r>
              <a:rPr lang="en-US" sz="2200" dirty="0" err="1"/>
              <a:t>extrem</a:t>
            </a:r>
            <a:r>
              <a:rPr lang="en-US" sz="2200" dirty="0"/>
              <a:t> de </a:t>
            </a:r>
            <a:r>
              <a:rPr lang="en-US" sz="2200" dirty="0" err="1"/>
              <a:t>uşor</a:t>
            </a:r>
            <a:r>
              <a:rPr lang="en-US" sz="2200" dirty="0"/>
              <a:t> de </a:t>
            </a:r>
            <a:r>
              <a:rPr lang="en-US" sz="2200" dirty="0" err="1"/>
              <a:t>utilizat</a:t>
            </a:r>
            <a:r>
              <a:rPr lang="en-US" sz="2200" dirty="0"/>
              <a:t>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înglobate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chiar</a:t>
            </a:r>
            <a:r>
              <a:rPr lang="en-US" sz="2200" dirty="0"/>
              <a:t> </a:t>
            </a:r>
            <a:r>
              <a:rPr lang="en-US" sz="2200" dirty="0" err="1"/>
              <a:t>sintaxa</a:t>
            </a:r>
            <a:r>
              <a:rPr lang="en-US" sz="2200" dirty="0"/>
              <a:t> de </a:t>
            </a:r>
            <a:r>
              <a:rPr lang="en-US" sz="2200" dirty="0" err="1"/>
              <a:t>bază</a:t>
            </a:r>
            <a:r>
              <a:rPr lang="en-US" sz="2200" dirty="0"/>
              <a:t> a </a:t>
            </a:r>
            <a:r>
              <a:rPr lang="en-US" sz="2200" dirty="0" err="1"/>
              <a:t>limbajului</a:t>
            </a:r>
            <a:r>
              <a:rPr lang="en-US" sz="2200" dirty="0"/>
              <a:t>.</a:t>
            </a:r>
            <a:endParaRPr lang="ro-RO" sz="2200" dirty="0"/>
          </a:p>
          <a:p>
            <a:r>
              <a:rPr lang="en-US" sz="2200" dirty="0"/>
              <a:t>La </a:t>
            </a:r>
            <a:r>
              <a:rPr lang="en-US" sz="2200" dirty="0" err="1"/>
              <a:t>lansarea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execuţie</a:t>
            </a:r>
            <a:r>
              <a:rPr lang="en-US" sz="2200" dirty="0"/>
              <a:t> a </a:t>
            </a:r>
            <a:r>
              <a:rPr lang="en-US" sz="2200" dirty="0" err="1"/>
              <a:t>unei</a:t>
            </a:r>
            <a:r>
              <a:rPr lang="en-US" sz="2200" dirty="0"/>
              <a:t> </a:t>
            </a:r>
            <a:r>
              <a:rPr lang="en-US" sz="2200" dirty="0" err="1"/>
              <a:t>aplicaţii</a:t>
            </a:r>
            <a:r>
              <a:rPr lang="en-US" sz="2200" dirty="0"/>
              <a:t> Java 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creat</a:t>
            </a:r>
            <a:r>
              <a:rPr lang="en-US" sz="2200" dirty="0"/>
              <a:t> automat </a:t>
            </a:r>
            <a:r>
              <a:rPr lang="en-US" sz="2200" dirty="0" err="1"/>
              <a:t>şi</a:t>
            </a:r>
            <a:r>
              <a:rPr lang="en-US" sz="2200" dirty="0"/>
              <a:t> un prim fir de </a:t>
            </a:r>
            <a:r>
              <a:rPr lang="en-US" sz="2200" dirty="0" err="1"/>
              <a:t>execuţie</a:t>
            </a:r>
            <a:r>
              <a:rPr lang="en-US" sz="2200" dirty="0"/>
              <a:t>, </a:t>
            </a:r>
            <a:r>
              <a:rPr lang="en-US" sz="2200" dirty="0" err="1"/>
              <a:t>numit</a:t>
            </a:r>
            <a:r>
              <a:rPr lang="en-US" sz="2200" dirty="0"/>
              <a:t> </a:t>
            </a:r>
            <a:r>
              <a:rPr lang="en-US" sz="2200" dirty="0" err="1"/>
              <a:t>firul</a:t>
            </a:r>
            <a:r>
              <a:rPr lang="en-US" sz="2200" dirty="0"/>
              <a:t> principal. </a:t>
            </a:r>
            <a:r>
              <a:rPr lang="en-US" sz="2200" dirty="0" err="1"/>
              <a:t>Acesta</a:t>
            </a:r>
            <a:r>
              <a:rPr lang="en-US" sz="2200" dirty="0"/>
              <a:t> </a:t>
            </a:r>
            <a:r>
              <a:rPr lang="en-US" sz="2200" dirty="0" err="1"/>
              <a:t>poate</a:t>
            </a:r>
            <a:r>
              <a:rPr lang="en-US" sz="2200" dirty="0"/>
              <a:t> ulterior </a:t>
            </a:r>
            <a:r>
              <a:rPr lang="en-US" sz="2200" dirty="0" err="1"/>
              <a:t>să</a:t>
            </a:r>
            <a:r>
              <a:rPr lang="en-US" sz="2200" dirty="0"/>
              <a:t> </a:t>
            </a:r>
            <a:r>
              <a:rPr lang="en-US" sz="2200" dirty="0" err="1"/>
              <a:t>creeze</a:t>
            </a:r>
            <a:r>
              <a:rPr lang="en-US" sz="2200" dirty="0"/>
              <a:t> </a:t>
            </a:r>
            <a:r>
              <a:rPr lang="en-US" sz="2200" dirty="0" err="1"/>
              <a:t>alte</a:t>
            </a:r>
            <a:r>
              <a:rPr lang="en-US" sz="2200" dirty="0"/>
              <a:t> fire de </a:t>
            </a:r>
            <a:r>
              <a:rPr lang="en-US" sz="2200" dirty="0" err="1"/>
              <a:t>execuţie</a:t>
            </a:r>
            <a:r>
              <a:rPr lang="en-US" sz="2200" dirty="0"/>
              <a:t> care la </a:t>
            </a:r>
            <a:r>
              <a:rPr lang="en-US" sz="2200" dirty="0" err="1"/>
              <a:t>rândul</a:t>
            </a:r>
            <a:r>
              <a:rPr lang="en-US" sz="2200" dirty="0"/>
              <a:t> </a:t>
            </a:r>
            <a:r>
              <a:rPr lang="en-US" sz="2200" dirty="0" err="1"/>
              <a:t>lor</a:t>
            </a:r>
            <a:r>
              <a:rPr lang="en-US" sz="2200" dirty="0"/>
              <a:t> pot </a:t>
            </a:r>
            <a:r>
              <a:rPr lang="en-US" sz="2200" dirty="0" err="1"/>
              <a:t>crea</a:t>
            </a:r>
            <a:r>
              <a:rPr lang="en-US" sz="2200" dirty="0"/>
              <a:t> </a:t>
            </a:r>
            <a:r>
              <a:rPr lang="en-US" sz="2200" dirty="0" err="1"/>
              <a:t>alte</a:t>
            </a:r>
            <a:r>
              <a:rPr lang="en-US" sz="2200" dirty="0"/>
              <a:t> fire,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aşa</a:t>
            </a:r>
            <a:r>
              <a:rPr lang="en-US" sz="2200" dirty="0"/>
              <a:t>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departe</a:t>
            </a:r>
            <a:r>
              <a:rPr lang="en-US" sz="2200" dirty="0"/>
              <a:t>. </a:t>
            </a:r>
            <a:r>
              <a:rPr lang="en-US" sz="2200" dirty="0" err="1"/>
              <a:t>Firele</a:t>
            </a:r>
            <a:r>
              <a:rPr lang="en-US" sz="2200" dirty="0"/>
              <a:t> de </a:t>
            </a:r>
            <a:r>
              <a:rPr lang="en-US" sz="2200" dirty="0" err="1"/>
              <a:t>execuţie</a:t>
            </a:r>
            <a:r>
              <a:rPr lang="en-US" sz="2200" dirty="0"/>
              <a:t> </a:t>
            </a:r>
            <a:r>
              <a:rPr lang="en-US" sz="2200" dirty="0" err="1"/>
              <a:t>dintr</a:t>
            </a:r>
            <a:r>
              <a:rPr lang="en-US" sz="2200" dirty="0"/>
              <a:t>-o </a:t>
            </a:r>
            <a:r>
              <a:rPr lang="en-US" sz="2200" dirty="0" err="1"/>
              <a:t>aplicaţie</a:t>
            </a:r>
            <a:r>
              <a:rPr lang="en-US" sz="2200" dirty="0"/>
              <a:t> Java pot fi </a:t>
            </a:r>
            <a:r>
              <a:rPr lang="en-US" sz="2200" dirty="0" err="1"/>
              <a:t>grupate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grupuri</a:t>
            </a:r>
            <a:r>
              <a:rPr lang="en-US" sz="2200" dirty="0"/>
              <a:t> </a:t>
            </a:r>
            <a:r>
              <a:rPr lang="en-US" sz="2200" dirty="0" err="1"/>
              <a:t>pentru</a:t>
            </a:r>
            <a:r>
              <a:rPr lang="en-US" sz="2200" dirty="0"/>
              <a:t> a fi manipulate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comun</a:t>
            </a:r>
            <a:r>
              <a:rPr lang="en-US" sz="2200" dirty="0"/>
              <a:t>.</a:t>
            </a:r>
            <a:endParaRPr lang="ro-RO" sz="2200" dirty="0"/>
          </a:p>
          <a:p>
            <a:endParaRPr lang="ro-RO" sz="2200" dirty="0"/>
          </a:p>
        </p:txBody>
      </p:sp>
    </p:spTree>
    <p:extLst>
      <p:ext uri="{BB962C8B-B14F-4D97-AF65-F5344CB8AC3E}">
        <p14:creationId xmlns:p14="http://schemas.microsoft.com/office/powerpoint/2010/main" val="288069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Fire de </a:t>
            </a:r>
            <a:r>
              <a:rPr lang="ro-RO" dirty="0" err="1"/>
              <a:t>execuţie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sincronizare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afară</a:t>
            </a:r>
            <a:r>
              <a:rPr lang="en-US" dirty="0"/>
              <a:t> de </a:t>
            </a:r>
            <a:r>
              <a:rPr lang="en-US" dirty="0" err="1"/>
              <a:t>firele</a:t>
            </a:r>
            <a:r>
              <a:rPr lang="en-US" dirty="0"/>
              <a:t> </a:t>
            </a:r>
            <a:r>
              <a:rPr lang="en-US" dirty="0" err="1"/>
              <a:t>normale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, Java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fire de </a:t>
            </a:r>
            <a:r>
              <a:rPr lang="en-US" dirty="0" err="1"/>
              <a:t>execuţie</a:t>
            </a:r>
            <a:r>
              <a:rPr lang="en-US" dirty="0"/>
              <a:t> cu </a:t>
            </a:r>
            <a:r>
              <a:rPr lang="en-US" dirty="0" err="1"/>
              <a:t>prioritate</a:t>
            </a:r>
            <a:r>
              <a:rPr lang="en-US" dirty="0"/>
              <a:t> </a:t>
            </a:r>
            <a:r>
              <a:rPr lang="en-US" dirty="0" err="1"/>
              <a:t>mică</a:t>
            </a:r>
            <a:r>
              <a:rPr lang="en-US" dirty="0"/>
              <a:t> care </a:t>
            </a:r>
            <a:r>
              <a:rPr lang="en-US" dirty="0" err="1"/>
              <a:t>lucrează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fundalul</a:t>
            </a:r>
            <a:r>
              <a:rPr lang="en-US" dirty="0"/>
              <a:t> </a:t>
            </a:r>
            <a:r>
              <a:rPr lang="en-US" dirty="0" err="1"/>
              <a:t>aplicaţiei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nici</a:t>
            </a:r>
            <a:r>
              <a:rPr lang="en-US" dirty="0"/>
              <a:t> un alt fir de </a:t>
            </a:r>
            <a:r>
              <a:rPr lang="en-US" dirty="0" err="1"/>
              <a:t>execuţie</a:t>
            </a:r>
            <a:r>
              <a:rPr lang="en-US" dirty="0"/>
              <a:t> nu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rulat</a:t>
            </a:r>
            <a:r>
              <a:rPr lang="en-US" dirty="0"/>
              <a:t>. </a:t>
            </a:r>
            <a:r>
              <a:rPr lang="en-US" dirty="0" err="1"/>
              <a:t>Aceste</a:t>
            </a:r>
            <a:r>
              <a:rPr lang="en-US" dirty="0"/>
              <a:t> fire de fundal se </a:t>
            </a:r>
            <a:r>
              <a:rPr lang="en-US" dirty="0" err="1"/>
              <a:t>numesc</a:t>
            </a:r>
            <a:r>
              <a:rPr lang="en-US" dirty="0"/>
              <a:t> </a:t>
            </a:r>
            <a:r>
              <a:rPr lang="en-US" i="1" dirty="0" err="1"/>
              <a:t>demoni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execută</a:t>
            </a:r>
            <a:r>
              <a:rPr lang="en-US" dirty="0"/>
              <a:t> </a:t>
            </a:r>
            <a:r>
              <a:rPr lang="en-US" dirty="0" err="1"/>
              <a:t>operaţii</a:t>
            </a:r>
            <a:r>
              <a:rPr lang="en-US" dirty="0"/>
              <a:t> </a:t>
            </a:r>
            <a:r>
              <a:rPr lang="en-US" dirty="0" err="1"/>
              <a:t>costisitoare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independente</a:t>
            </a:r>
            <a:r>
              <a:rPr lang="en-US" dirty="0"/>
              <a:t> de </a:t>
            </a:r>
            <a:r>
              <a:rPr lang="en-US" dirty="0" err="1"/>
              <a:t>celelalte</a:t>
            </a:r>
            <a:r>
              <a:rPr lang="en-US" dirty="0"/>
              <a:t> fire de </a:t>
            </a:r>
            <a:r>
              <a:rPr lang="en-US" dirty="0" err="1"/>
              <a:t>execuţie</a:t>
            </a:r>
            <a:r>
              <a:rPr lang="en-US" dirty="0"/>
              <a:t>. De </a:t>
            </a:r>
            <a:r>
              <a:rPr lang="en-US" dirty="0" err="1"/>
              <a:t>exemplu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Java </a:t>
            </a:r>
            <a:r>
              <a:rPr lang="en-US" dirty="0" err="1"/>
              <a:t>colectorul</a:t>
            </a:r>
            <a:r>
              <a:rPr lang="en-US" dirty="0"/>
              <a:t> de </a:t>
            </a:r>
            <a:r>
              <a:rPr lang="en-US" dirty="0" err="1"/>
              <a:t>gunoaie</a:t>
            </a:r>
            <a:r>
              <a:rPr lang="en-US" dirty="0"/>
              <a:t> </a:t>
            </a:r>
            <a:r>
              <a:rPr lang="en-US" dirty="0" err="1"/>
              <a:t>lucrează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un fir de </a:t>
            </a:r>
            <a:r>
              <a:rPr lang="en-US" dirty="0" err="1"/>
              <a:t>execuţie</a:t>
            </a:r>
            <a:r>
              <a:rPr lang="en-US" dirty="0"/>
              <a:t> </a:t>
            </a:r>
            <a:r>
              <a:rPr lang="en-US" dirty="0" err="1"/>
              <a:t>separat</a:t>
            </a:r>
            <a:r>
              <a:rPr lang="en-US" dirty="0"/>
              <a:t>, cu </a:t>
            </a:r>
            <a:r>
              <a:rPr lang="en-US" dirty="0" err="1"/>
              <a:t>proprietăţi</a:t>
            </a:r>
            <a:r>
              <a:rPr lang="en-US" dirty="0"/>
              <a:t> de demon.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acelaşi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gândit</a:t>
            </a:r>
            <a:r>
              <a:rPr lang="en-US" dirty="0"/>
              <a:t> un fir de </a:t>
            </a:r>
            <a:r>
              <a:rPr lang="en-US" dirty="0" err="1"/>
              <a:t>execuţie</a:t>
            </a:r>
            <a:r>
              <a:rPr lang="en-US" dirty="0"/>
              <a:t> care </a:t>
            </a:r>
            <a:r>
              <a:rPr lang="en-US" dirty="0" err="1"/>
              <a:t>execută</a:t>
            </a:r>
            <a:r>
              <a:rPr lang="en-US" dirty="0"/>
              <a:t> </a:t>
            </a:r>
            <a:r>
              <a:rPr lang="en-US" dirty="0" err="1"/>
              <a:t>operaţii</a:t>
            </a:r>
            <a:r>
              <a:rPr lang="en-US" dirty="0"/>
              <a:t> de </a:t>
            </a:r>
            <a:r>
              <a:rPr lang="en-US" dirty="0" err="1"/>
              <a:t>încărcare</a:t>
            </a:r>
            <a:r>
              <a:rPr lang="en-US" dirty="0"/>
              <a:t> 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imagini</a:t>
            </a:r>
            <a:r>
              <a:rPr lang="en-US" dirty="0"/>
              <a:t> din </a:t>
            </a:r>
            <a:r>
              <a:rPr lang="en-US" dirty="0" err="1"/>
              <a:t>reţea</a:t>
            </a:r>
            <a:r>
              <a:rPr lang="en-US" dirty="0"/>
              <a:t>.</a:t>
            </a:r>
            <a:endParaRPr lang="ro-RO" dirty="0"/>
          </a:p>
          <a:p>
            <a:r>
              <a:rPr lang="en-US" dirty="0"/>
              <a:t>O </a:t>
            </a:r>
            <a:r>
              <a:rPr lang="en-US" dirty="0" err="1"/>
              <a:t>aplicaţie</a:t>
            </a:r>
            <a:r>
              <a:rPr lang="en-US" dirty="0"/>
              <a:t> Java se </a:t>
            </a:r>
            <a:r>
              <a:rPr lang="en-US" dirty="0" err="1"/>
              <a:t>termină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se </a:t>
            </a:r>
            <a:r>
              <a:rPr lang="en-US" dirty="0" err="1"/>
              <a:t>termină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firele</a:t>
            </a:r>
            <a:r>
              <a:rPr lang="en-US" dirty="0"/>
              <a:t> de </a:t>
            </a:r>
            <a:r>
              <a:rPr lang="en-US" dirty="0" err="1"/>
              <a:t>execuţie</a:t>
            </a:r>
            <a:r>
              <a:rPr lang="en-US" dirty="0"/>
              <a:t> din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fire demon. </a:t>
            </a:r>
            <a:r>
              <a:rPr lang="en-US" dirty="0" err="1"/>
              <a:t>Terminarea</a:t>
            </a:r>
            <a:r>
              <a:rPr lang="en-US" dirty="0"/>
              <a:t> </a:t>
            </a:r>
            <a:r>
              <a:rPr lang="en-US" dirty="0" err="1"/>
              <a:t>firului</a:t>
            </a:r>
            <a:r>
              <a:rPr lang="en-US" dirty="0"/>
              <a:t> principal de </a:t>
            </a:r>
            <a:r>
              <a:rPr lang="en-US" dirty="0" err="1"/>
              <a:t>execuţie</a:t>
            </a:r>
            <a:r>
              <a:rPr lang="en-US" dirty="0"/>
              <a:t> nu duce la </a:t>
            </a:r>
            <a:r>
              <a:rPr lang="en-US" dirty="0" err="1"/>
              <a:t>terminarea</a:t>
            </a:r>
            <a:r>
              <a:rPr lang="en-US" dirty="0"/>
              <a:t> </a:t>
            </a:r>
            <a:r>
              <a:rPr lang="en-US" dirty="0" err="1"/>
              <a:t>automată</a:t>
            </a:r>
            <a:r>
              <a:rPr lang="en-US" dirty="0"/>
              <a:t> a </a:t>
            </a:r>
            <a:r>
              <a:rPr lang="en-US" dirty="0" err="1"/>
              <a:t>aplicaţiei</a:t>
            </a:r>
            <a:r>
              <a:rPr lang="en-US" dirty="0"/>
              <a:t>. 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1044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Crearea firelor de </a:t>
            </a:r>
            <a:r>
              <a:rPr lang="ro-RO" b="1" dirty="0" err="1" smtClean="0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Există două căi de definire de noi fire de </a:t>
            </a:r>
            <a:r>
              <a:rPr lang="ro-RO" dirty="0" err="1"/>
              <a:t>execuţie</a:t>
            </a:r>
            <a:r>
              <a:rPr lang="ro-RO" dirty="0"/>
              <a:t>: derivarea din clasa </a:t>
            </a:r>
            <a:r>
              <a:rPr lang="ro-RO" i="1" dirty="0" err="1">
                <a:solidFill>
                  <a:srgbClr val="FF0000"/>
                </a:solidFill>
              </a:rPr>
              <a:t>Thread</a:t>
            </a:r>
            <a:r>
              <a:rPr lang="ro-RO" dirty="0"/>
              <a:t> a noi clase </a:t>
            </a:r>
            <a:r>
              <a:rPr lang="ro-RO" dirty="0" err="1"/>
              <a:t>şi</a:t>
            </a:r>
            <a:r>
              <a:rPr lang="ro-RO" dirty="0"/>
              <a:t> implementarea într-o clasă a </a:t>
            </a:r>
            <a:r>
              <a:rPr lang="ro-RO" dirty="0" err="1"/>
              <a:t>interfeţei</a:t>
            </a:r>
            <a:r>
              <a:rPr lang="ro-RO" dirty="0"/>
              <a:t> </a:t>
            </a:r>
            <a:r>
              <a:rPr lang="ro-RO" i="1" dirty="0" err="1">
                <a:solidFill>
                  <a:srgbClr val="FF0000"/>
                </a:solidFill>
              </a:rPr>
              <a:t>Runnable</a:t>
            </a:r>
            <a:r>
              <a:rPr lang="ro-RO" dirty="0"/>
              <a:t> .</a:t>
            </a:r>
          </a:p>
          <a:p>
            <a:r>
              <a:rPr lang="ro-RO" dirty="0"/>
              <a:t>În primul caz, noua clasă </a:t>
            </a:r>
            <a:r>
              <a:rPr lang="ro-RO" dirty="0" err="1"/>
              <a:t>moşteneşte</a:t>
            </a:r>
            <a:r>
              <a:rPr lang="ro-RO" dirty="0"/>
              <a:t> toate metodele </a:t>
            </a:r>
            <a:r>
              <a:rPr lang="ro-RO" dirty="0" err="1"/>
              <a:t>şi</a:t>
            </a:r>
            <a:r>
              <a:rPr lang="ro-RO" dirty="0"/>
              <a:t> variabilele clasei </a:t>
            </a:r>
            <a:r>
              <a:rPr lang="ro-RO" i="1" dirty="0" err="1">
                <a:solidFill>
                  <a:srgbClr val="FF0000"/>
                </a:solidFill>
              </a:rPr>
              <a:t>Thread</a:t>
            </a:r>
            <a:r>
              <a:rPr lang="ro-RO" dirty="0"/>
              <a:t> care implementează în mod standard, în Java, </a:t>
            </a:r>
            <a:r>
              <a:rPr lang="ro-RO" dirty="0" err="1"/>
              <a:t>funcţionalitatea</a:t>
            </a:r>
            <a:r>
              <a:rPr lang="ro-RO" dirty="0"/>
              <a:t> de lucru cu fire de </a:t>
            </a:r>
            <a:r>
              <a:rPr lang="ro-RO" dirty="0" err="1"/>
              <a:t>execuţie</a:t>
            </a:r>
            <a:r>
              <a:rPr lang="ro-RO" dirty="0"/>
              <a:t>. </a:t>
            </a:r>
            <a:endParaRPr lang="ro-RO" dirty="0" smtClean="0"/>
          </a:p>
          <a:p>
            <a:r>
              <a:rPr lang="ro-RO" dirty="0" smtClean="0"/>
              <a:t>Singurul </a:t>
            </a:r>
            <a:r>
              <a:rPr lang="ro-RO" dirty="0"/>
              <a:t>lucru pe care trebuie să-l facă noua clasă este să reimplementeze metoda </a:t>
            </a:r>
            <a:r>
              <a:rPr lang="ro-RO" i="1" dirty="0" err="1">
                <a:solidFill>
                  <a:srgbClr val="FF0000"/>
                </a:solidFill>
              </a:rPr>
              <a:t>run</a:t>
            </a:r>
            <a:r>
              <a:rPr lang="ro-RO" dirty="0"/>
              <a:t> care este apelată automat de către mediul de </a:t>
            </a:r>
            <a:r>
              <a:rPr lang="ro-RO" dirty="0" err="1"/>
              <a:t>execuţie</a:t>
            </a:r>
            <a:r>
              <a:rPr lang="ro-RO" dirty="0"/>
              <a:t> la lansarea unui nou fir. </a:t>
            </a:r>
            <a:endParaRPr lang="ro-RO" dirty="0" smtClean="0"/>
          </a:p>
          <a:p>
            <a:r>
              <a:rPr lang="ro-RO" dirty="0" smtClean="0"/>
              <a:t>În </a:t>
            </a:r>
            <a:r>
              <a:rPr lang="ro-RO" dirty="0"/>
              <a:t>plus, noua clasă ar putea avea nevoie să implementeze un constructor care să permită atribuirea unei denumiri firului de </a:t>
            </a:r>
            <a:r>
              <a:rPr lang="ro-RO" dirty="0" err="1"/>
              <a:t>execuţie</a:t>
            </a:r>
            <a:r>
              <a:rPr lang="ro-RO" dirty="0"/>
              <a:t>.</a:t>
            </a:r>
          </a:p>
          <a:p>
            <a:r>
              <a:rPr lang="ro-RO" dirty="0"/>
              <a:t>Dacă firul are un nume, acesta poate fi </a:t>
            </a:r>
            <a:r>
              <a:rPr lang="ro-RO" dirty="0" err="1"/>
              <a:t>obţinut</a:t>
            </a:r>
            <a:r>
              <a:rPr lang="ro-RO" dirty="0"/>
              <a:t> cu metoda </a:t>
            </a:r>
            <a:r>
              <a:rPr lang="ro-RO" i="1" dirty="0" err="1">
                <a:solidFill>
                  <a:srgbClr val="FF0000"/>
                </a:solidFill>
              </a:rPr>
              <a:t>getName</a:t>
            </a:r>
            <a:r>
              <a:rPr lang="ro-RO" dirty="0"/>
              <a:t> care returnează un obiect de tip </a:t>
            </a:r>
            <a:r>
              <a:rPr lang="ro-RO" i="1" dirty="0" err="1">
                <a:solidFill>
                  <a:srgbClr val="FF0000"/>
                </a:solidFill>
              </a:rPr>
              <a:t>String</a:t>
            </a:r>
            <a:r>
              <a:rPr lang="ro-RO" dirty="0"/>
              <a:t> 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200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792774" cy="4023360"/>
          </a:xfrm>
        </p:spPr>
        <p:txBody>
          <a:bodyPr>
            <a:normAutofit fontScale="92500" lnSpcReduction="20000"/>
          </a:bodyPr>
          <a:lstStyle/>
          <a:p>
            <a:r>
              <a:rPr lang="ro-RO" dirty="0"/>
              <a:t>public </a:t>
            </a:r>
            <a:r>
              <a:rPr lang="ro-RO" dirty="0" err="1"/>
              <a:t>FirNou</a:t>
            </a:r>
            <a:r>
              <a:rPr lang="ro-RO" dirty="0"/>
              <a:t>( </a:t>
            </a:r>
            <a:r>
              <a:rPr lang="ro-RO" dirty="0" err="1"/>
              <a:t>String</a:t>
            </a:r>
            <a:r>
              <a:rPr lang="ro-RO" dirty="0"/>
              <a:t> nume ) {</a:t>
            </a:r>
          </a:p>
          <a:p>
            <a:r>
              <a:rPr lang="ro-RO" dirty="0"/>
              <a:t>// apelează constructorul din </a:t>
            </a:r>
            <a:r>
              <a:rPr lang="ro-RO" dirty="0" err="1"/>
              <a:t>Thread</a:t>
            </a:r>
            <a:endParaRPr lang="ro-RO" dirty="0"/>
          </a:p>
          <a:p>
            <a:r>
              <a:rPr lang="ro-RO" dirty="0"/>
              <a:t>super( nume ); </a:t>
            </a:r>
          </a:p>
          <a:p>
            <a:r>
              <a:rPr lang="ro-RO" dirty="0"/>
              <a:t>}</a:t>
            </a:r>
          </a:p>
          <a:p>
            <a:r>
              <a:rPr lang="ro-RO" dirty="0"/>
              <a:t>public </a:t>
            </a:r>
            <a:r>
              <a:rPr lang="ro-RO" dirty="0" err="1"/>
              <a:t>void</a:t>
            </a:r>
            <a:r>
              <a:rPr lang="ro-RO" dirty="0"/>
              <a:t> </a:t>
            </a:r>
            <a:r>
              <a:rPr lang="ro-RO" dirty="0" err="1"/>
              <a:t>run</a:t>
            </a:r>
            <a:r>
              <a:rPr lang="ro-RO" dirty="0"/>
              <a:t>() {</a:t>
            </a:r>
          </a:p>
          <a:p>
            <a:r>
              <a:rPr lang="ro-RO" dirty="0" err="1"/>
              <a:t>while</a:t>
            </a:r>
            <a:r>
              <a:rPr lang="ro-RO" dirty="0"/>
              <a:t>( </a:t>
            </a:r>
            <a:r>
              <a:rPr lang="ro-RO" dirty="0" err="1"/>
              <a:t>true</a:t>
            </a:r>
            <a:r>
              <a:rPr lang="ro-RO" dirty="0"/>
              <a:t> ) { // fără </a:t>
            </a:r>
            <a:r>
              <a:rPr lang="ro-RO" dirty="0" err="1"/>
              <a:t>sfârşit</a:t>
            </a:r>
            <a:endParaRPr lang="ro-RO" dirty="0"/>
          </a:p>
          <a:p>
            <a:r>
              <a:rPr lang="ro-RO" dirty="0" err="1"/>
              <a:t>System.out.println</a:t>
            </a:r>
            <a:r>
              <a:rPr lang="ro-RO" dirty="0"/>
              <a:t>( </a:t>
            </a:r>
            <a:r>
              <a:rPr lang="ro-RO" dirty="0" err="1"/>
              <a:t>getName</a:t>
            </a:r>
            <a:r>
              <a:rPr lang="ro-RO" dirty="0"/>
              <a:t>() +" </a:t>
            </a:r>
            <a:r>
              <a:rPr lang="ro-RO" dirty="0" err="1"/>
              <a:t>Tastati</a:t>
            </a:r>
            <a:r>
              <a:rPr lang="ro-RO" dirty="0"/>
              <a:t> ^C" );</a:t>
            </a:r>
          </a:p>
          <a:p>
            <a:r>
              <a:rPr lang="ro-RO" dirty="0"/>
              <a:t>}</a:t>
            </a:r>
          </a:p>
          <a:p>
            <a:r>
              <a:rPr lang="ro-RO" dirty="0"/>
              <a:t>}</a:t>
            </a:r>
          </a:p>
          <a:p>
            <a:r>
              <a:rPr lang="ro-RO" dirty="0" smtClean="0"/>
              <a:t>}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5" name="Rectangle 4"/>
          <p:cNvSpPr/>
          <p:nvPr/>
        </p:nvSpPr>
        <p:spPr>
          <a:xfrm>
            <a:off x="6516129" y="1958713"/>
            <a:ext cx="43990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 smtClean="0"/>
              <a:t>public </a:t>
            </a:r>
            <a:r>
              <a:rPr lang="ro-RO" dirty="0" err="1" smtClean="0"/>
              <a:t>class</a:t>
            </a:r>
            <a:r>
              <a:rPr lang="ro-RO" dirty="0" smtClean="0"/>
              <a:t> </a:t>
            </a:r>
            <a:r>
              <a:rPr lang="ro-RO" dirty="0" err="1" smtClean="0"/>
              <a:t>TestFirNou</a:t>
            </a:r>
            <a:r>
              <a:rPr lang="ro-RO" dirty="0" smtClean="0"/>
              <a:t> {</a:t>
            </a:r>
          </a:p>
          <a:p>
            <a:r>
              <a:rPr lang="ro-RO" dirty="0" smtClean="0"/>
              <a:t>public static </a:t>
            </a:r>
            <a:r>
              <a:rPr lang="ro-RO" dirty="0" err="1" smtClean="0"/>
              <a:t>void</a:t>
            </a:r>
            <a:r>
              <a:rPr lang="ro-RO" dirty="0" smtClean="0"/>
              <a:t> </a:t>
            </a:r>
            <a:r>
              <a:rPr lang="ro-RO" dirty="0" err="1" smtClean="0"/>
              <a:t>main</a:t>
            </a:r>
            <a:r>
              <a:rPr lang="ro-RO" dirty="0" smtClean="0"/>
              <a:t>( </a:t>
            </a:r>
            <a:r>
              <a:rPr lang="ro-RO" dirty="0" err="1" smtClean="0"/>
              <a:t>String</a:t>
            </a:r>
            <a:r>
              <a:rPr lang="ro-RO" dirty="0" smtClean="0"/>
              <a:t>[] </a:t>
            </a:r>
            <a:r>
              <a:rPr lang="ro-RO" dirty="0" err="1" smtClean="0"/>
              <a:t>arg</a:t>
            </a:r>
            <a:r>
              <a:rPr lang="ro-RO" dirty="0" smtClean="0"/>
              <a:t>) {</a:t>
            </a:r>
          </a:p>
          <a:p>
            <a:r>
              <a:rPr lang="ro-RO" dirty="0" err="1" smtClean="0"/>
              <a:t>new</a:t>
            </a:r>
            <a:r>
              <a:rPr lang="ro-RO" dirty="0" smtClean="0"/>
              <a:t> </a:t>
            </a:r>
            <a:r>
              <a:rPr lang="ro-RO" dirty="0" err="1" smtClean="0"/>
              <a:t>FirNou</a:t>
            </a:r>
            <a:r>
              <a:rPr lang="ro-RO" dirty="0" smtClean="0"/>
              <a:t>( "Primul" ).start();</a:t>
            </a:r>
          </a:p>
          <a:p>
            <a:r>
              <a:rPr lang="ro-RO" dirty="0" smtClean="0"/>
              <a:t>}</a:t>
            </a:r>
          </a:p>
          <a:p>
            <a:r>
              <a:rPr lang="ro-RO" dirty="0" smtClean="0"/>
              <a:t>}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25967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5734"/>
            <a:ext cx="5717059" cy="4023360"/>
          </a:xfrm>
        </p:spPr>
        <p:txBody>
          <a:bodyPr>
            <a:noAutofit/>
          </a:bodyPr>
          <a:lstStyle/>
          <a:p>
            <a:r>
              <a:rPr lang="ro-RO" sz="1600" dirty="0"/>
              <a:t>public </a:t>
            </a:r>
            <a:r>
              <a:rPr lang="ro-RO" sz="1600" dirty="0" err="1"/>
              <a:t>class</a:t>
            </a:r>
            <a:r>
              <a:rPr lang="ro-RO" sz="1600" dirty="0"/>
              <a:t> </a:t>
            </a:r>
            <a:r>
              <a:rPr lang="ro-RO" sz="1600" dirty="0" err="1"/>
              <a:t>PrimulFir</a:t>
            </a:r>
            <a:r>
              <a:rPr lang="ro-RO" sz="1600" dirty="0"/>
              <a:t> {</a:t>
            </a:r>
          </a:p>
          <a:p>
            <a:r>
              <a:rPr lang="ro-RO" sz="1600" dirty="0" smtClean="0"/>
              <a:t>     public </a:t>
            </a:r>
            <a:r>
              <a:rPr lang="ro-RO" sz="1600" dirty="0"/>
              <a:t>static </a:t>
            </a:r>
            <a:r>
              <a:rPr lang="ro-RO" sz="1600" dirty="0" err="1"/>
              <a:t>void</a:t>
            </a:r>
            <a:r>
              <a:rPr lang="ro-RO" sz="1600" dirty="0"/>
              <a:t> </a:t>
            </a:r>
            <a:r>
              <a:rPr lang="ro-RO" sz="1600" dirty="0" err="1"/>
              <a:t>main</a:t>
            </a:r>
            <a:r>
              <a:rPr lang="ro-RO" sz="1600" dirty="0"/>
              <a:t>(</a:t>
            </a:r>
            <a:r>
              <a:rPr lang="ro-RO" sz="1600" dirty="0" err="1"/>
              <a:t>String</a:t>
            </a:r>
            <a:r>
              <a:rPr lang="ro-RO" sz="1600" dirty="0"/>
              <a:t> </a:t>
            </a:r>
            <a:r>
              <a:rPr lang="ro-RO" sz="1600" dirty="0" err="1"/>
              <a:t>arg</a:t>
            </a:r>
            <a:r>
              <a:rPr lang="ro-RO" sz="1600" dirty="0"/>
              <a:t>[]) {</a:t>
            </a:r>
          </a:p>
          <a:p>
            <a:r>
              <a:rPr lang="ro-RO" sz="1600" dirty="0"/>
              <a:t>	</a:t>
            </a:r>
            <a:r>
              <a:rPr lang="ro-RO" sz="1600" dirty="0" err="1" smtClean="0"/>
              <a:t>System.out.println</a:t>
            </a:r>
            <a:r>
              <a:rPr lang="ro-RO" sz="1600" dirty="0"/>
              <a:t>("Crearea firelor de </a:t>
            </a:r>
            <a:r>
              <a:rPr lang="ro-RO" sz="1600" dirty="0" err="1"/>
              <a:t>executie</a:t>
            </a:r>
            <a:r>
              <a:rPr lang="ro-RO" sz="1600" dirty="0"/>
              <a:t>");</a:t>
            </a:r>
          </a:p>
          <a:p>
            <a:r>
              <a:rPr lang="ro-RO" sz="1600" dirty="0"/>
              <a:t>	</a:t>
            </a:r>
            <a:r>
              <a:rPr lang="ro-RO" sz="1600" dirty="0" err="1" smtClean="0"/>
              <a:t>FirExecutie</a:t>
            </a:r>
            <a:r>
              <a:rPr lang="ro-RO" sz="1600" dirty="0" smtClean="0"/>
              <a:t> </a:t>
            </a:r>
            <a:r>
              <a:rPr lang="ro-RO" sz="1600" dirty="0"/>
              <a:t>fir=</a:t>
            </a:r>
            <a:r>
              <a:rPr lang="ro-RO" sz="1600" dirty="0" err="1"/>
              <a:t>new</a:t>
            </a:r>
            <a:r>
              <a:rPr lang="ro-RO" sz="1600" dirty="0"/>
              <a:t> </a:t>
            </a:r>
            <a:r>
              <a:rPr lang="ro-RO" sz="1600" dirty="0" err="1"/>
              <a:t>FirExecutie</a:t>
            </a:r>
            <a:r>
              <a:rPr lang="ro-RO" sz="1600" dirty="0"/>
              <a:t>();</a:t>
            </a:r>
          </a:p>
          <a:p>
            <a:r>
              <a:rPr lang="ro-RO" sz="1600" dirty="0"/>
              <a:t>	</a:t>
            </a:r>
            <a:r>
              <a:rPr lang="ro-RO" sz="1600" dirty="0" err="1" smtClean="0"/>
              <a:t>System.out.println</a:t>
            </a:r>
            <a:r>
              <a:rPr lang="ro-RO" sz="1600" dirty="0"/>
              <a:t>("Pornim firul de </a:t>
            </a:r>
            <a:r>
              <a:rPr lang="ro-RO" sz="1600" dirty="0" err="1"/>
              <a:t>executie</a:t>
            </a:r>
            <a:r>
              <a:rPr lang="ro-RO" sz="1600" dirty="0"/>
              <a:t>");</a:t>
            </a:r>
          </a:p>
          <a:p>
            <a:r>
              <a:rPr lang="ro-RO" sz="1600" dirty="0"/>
              <a:t>	</a:t>
            </a:r>
            <a:r>
              <a:rPr lang="ro-RO" sz="1600" dirty="0" err="1" smtClean="0"/>
              <a:t>fir.start</a:t>
            </a:r>
            <a:r>
              <a:rPr lang="ro-RO" sz="1600" dirty="0"/>
              <a:t>();</a:t>
            </a:r>
          </a:p>
          <a:p>
            <a:r>
              <a:rPr lang="ro-RO" sz="1600" dirty="0"/>
              <a:t>	</a:t>
            </a:r>
            <a:r>
              <a:rPr lang="ro-RO" sz="1600" dirty="0" err="1" smtClean="0"/>
              <a:t>System.out.println</a:t>
            </a:r>
            <a:r>
              <a:rPr lang="ro-RO" sz="1600" dirty="0"/>
              <a:t>("revenire in </a:t>
            </a:r>
            <a:r>
              <a:rPr lang="ro-RO" sz="1600" dirty="0" err="1"/>
              <a:t>main</a:t>
            </a:r>
            <a:r>
              <a:rPr lang="ro-RO" sz="1600" dirty="0"/>
              <a:t>");</a:t>
            </a:r>
          </a:p>
          <a:p>
            <a:r>
              <a:rPr lang="ro-RO" sz="1600" dirty="0"/>
              <a:t>	}</a:t>
            </a:r>
          </a:p>
          <a:p>
            <a:r>
              <a:rPr lang="ro-RO" sz="1600" dirty="0"/>
              <a:t>}</a:t>
            </a:r>
          </a:p>
          <a:p>
            <a:endParaRPr lang="ro-RO" sz="1600" dirty="0"/>
          </a:p>
        </p:txBody>
      </p:sp>
      <p:sp>
        <p:nvSpPr>
          <p:cNvPr id="4" name="Rectangle 3"/>
          <p:cNvSpPr/>
          <p:nvPr/>
        </p:nvSpPr>
        <p:spPr>
          <a:xfrm>
            <a:off x="5782962" y="173736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sz="1600" dirty="0" err="1" smtClean="0"/>
              <a:t>class</a:t>
            </a:r>
            <a:r>
              <a:rPr lang="ro-RO" sz="1600" dirty="0" smtClean="0"/>
              <a:t> </a:t>
            </a:r>
            <a:r>
              <a:rPr lang="ro-RO" sz="1600" dirty="0" err="1" smtClean="0"/>
              <a:t>FirExecutie</a:t>
            </a:r>
            <a:r>
              <a:rPr lang="ro-RO" sz="1600" dirty="0" smtClean="0"/>
              <a:t> </a:t>
            </a:r>
            <a:r>
              <a:rPr lang="ro-RO" sz="1600" dirty="0" err="1" smtClean="0"/>
              <a:t>extends</a:t>
            </a:r>
            <a:r>
              <a:rPr lang="ro-RO" sz="1600" dirty="0" smtClean="0"/>
              <a:t> </a:t>
            </a:r>
            <a:r>
              <a:rPr lang="ro-RO" sz="1600" dirty="0" err="1" smtClean="0"/>
              <a:t>Thread</a:t>
            </a:r>
            <a:r>
              <a:rPr lang="ro-RO" sz="1600" dirty="0" smtClean="0"/>
              <a:t> {</a:t>
            </a:r>
          </a:p>
          <a:p>
            <a:r>
              <a:rPr lang="ro-RO" sz="1600" dirty="0" smtClean="0"/>
              <a:t>public </a:t>
            </a:r>
            <a:r>
              <a:rPr lang="ro-RO" sz="1600" dirty="0" err="1" smtClean="0"/>
              <a:t>void</a:t>
            </a:r>
            <a:r>
              <a:rPr lang="ro-RO" sz="1600" dirty="0" smtClean="0"/>
              <a:t> </a:t>
            </a:r>
            <a:r>
              <a:rPr lang="ro-RO" sz="1600" dirty="0" err="1" smtClean="0"/>
              <a:t>run</a:t>
            </a:r>
            <a:r>
              <a:rPr lang="ro-RO" sz="1600" dirty="0" smtClean="0"/>
              <a:t>() {</a:t>
            </a:r>
          </a:p>
          <a:p>
            <a:r>
              <a:rPr lang="ro-RO" sz="1600" dirty="0" smtClean="0"/>
              <a:t>	</a:t>
            </a:r>
            <a:r>
              <a:rPr lang="ro-RO" sz="1600" dirty="0" err="1" smtClean="0"/>
              <a:t>int</a:t>
            </a:r>
            <a:r>
              <a:rPr lang="ro-RO" sz="1600" dirty="0" smtClean="0"/>
              <a:t> </a:t>
            </a:r>
            <a:r>
              <a:rPr lang="ro-RO" sz="1600" dirty="0" err="1" smtClean="0"/>
              <a:t>numar</a:t>
            </a:r>
            <a:r>
              <a:rPr lang="ro-RO" sz="1600" dirty="0" smtClean="0"/>
              <a:t> = 5;</a:t>
            </a:r>
          </a:p>
          <a:p>
            <a:r>
              <a:rPr lang="ro-RO" sz="1600" dirty="0" smtClean="0"/>
              <a:t>	</a:t>
            </a:r>
            <a:r>
              <a:rPr lang="ro-RO" sz="1600" dirty="0" err="1" smtClean="0"/>
              <a:t>System.out.println</a:t>
            </a:r>
            <a:r>
              <a:rPr lang="ro-RO" sz="1600" dirty="0" smtClean="0"/>
              <a:t>("</a:t>
            </a:r>
            <a:r>
              <a:rPr lang="ro-RO" sz="1600" dirty="0" err="1" smtClean="0"/>
              <a:t>Run</a:t>
            </a:r>
            <a:r>
              <a:rPr lang="ro-RO" sz="1600" dirty="0" smtClean="0"/>
              <a:t> se executa de "+</a:t>
            </a:r>
            <a:r>
              <a:rPr lang="ro-RO" sz="1600" dirty="0" err="1" smtClean="0"/>
              <a:t>numar</a:t>
            </a:r>
            <a:r>
              <a:rPr lang="ro-RO" sz="1600" dirty="0" smtClean="0"/>
              <a:t> +" ori");</a:t>
            </a:r>
          </a:p>
          <a:p>
            <a:r>
              <a:rPr lang="ro-RO" sz="1600" dirty="0" smtClean="0"/>
              <a:t>	for (</a:t>
            </a:r>
            <a:r>
              <a:rPr lang="ro-RO" sz="1600" dirty="0" err="1" smtClean="0"/>
              <a:t>int</a:t>
            </a:r>
            <a:r>
              <a:rPr lang="ro-RO" sz="1600" dirty="0" smtClean="0"/>
              <a:t> i=1;i&lt;=</a:t>
            </a:r>
            <a:r>
              <a:rPr lang="ro-RO" sz="1600" dirty="0" err="1" smtClean="0"/>
              <a:t>numar;i</a:t>
            </a:r>
            <a:r>
              <a:rPr lang="ro-RO" sz="1600" dirty="0" smtClean="0"/>
              <a:t>++)</a:t>
            </a:r>
          </a:p>
          <a:p>
            <a:r>
              <a:rPr lang="ro-RO" sz="1600" dirty="0" smtClean="0"/>
              <a:t>	</a:t>
            </a:r>
            <a:r>
              <a:rPr lang="ro-RO" sz="1600" dirty="0" err="1" smtClean="0"/>
              <a:t>System.out.println</a:t>
            </a:r>
            <a:r>
              <a:rPr lang="ro-RO" sz="1600" dirty="0" smtClean="0"/>
              <a:t>("Pasul "+i);</a:t>
            </a:r>
          </a:p>
          <a:p>
            <a:r>
              <a:rPr lang="ro-RO" sz="1600" dirty="0" smtClean="0"/>
              <a:t>	</a:t>
            </a:r>
            <a:r>
              <a:rPr lang="ro-RO" sz="1600" dirty="0" err="1" smtClean="0"/>
              <a:t>System.out.println</a:t>
            </a:r>
            <a:r>
              <a:rPr lang="ro-RO" sz="1600" dirty="0" smtClean="0"/>
              <a:t>("Metoda un s-a </a:t>
            </a:r>
            <a:r>
              <a:rPr lang="ro-RO" sz="1600" dirty="0" err="1" smtClean="0"/>
              <a:t>incheiat</a:t>
            </a:r>
            <a:r>
              <a:rPr lang="ro-RO" sz="1600" dirty="0" smtClean="0"/>
              <a:t>");</a:t>
            </a:r>
          </a:p>
          <a:p>
            <a:r>
              <a:rPr lang="ro-RO" sz="1600" dirty="0" smtClean="0"/>
              <a:t>	}</a:t>
            </a:r>
          </a:p>
          <a:p>
            <a:r>
              <a:rPr lang="ro-RO" sz="1600" dirty="0" smtClean="0"/>
              <a:t>}</a:t>
            </a:r>
            <a:endParaRPr lang="ro-RO" sz="1600" dirty="0"/>
          </a:p>
        </p:txBody>
      </p:sp>
      <p:sp>
        <p:nvSpPr>
          <p:cNvPr id="5" name="Rectangle 4"/>
          <p:cNvSpPr/>
          <p:nvPr/>
        </p:nvSpPr>
        <p:spPr>
          <a:xfrm>
            <a:off x="5189838" y="459327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dirty="0" smtClean="0"/>
              <a:t>Metoda start, predefinită în obiectul </a:t>
            </a:r>
            <a:r>
              <a:rPr lang="ro-RO" dirty="0" err="1" smtClean="0"/>
              <a:t>Thread</a:t>
            </a:r>
            <a:r>
              <a:rPr lang="ro-RO" dirty="0" smtClean="0"/>
              <a:t> lansează </a:t>
            </a:r>
            <a:r>
              <a:rPr lang="ro-RO" dirty="0" err="1" smtClean="0"/>
              <a:t>execuţia</a:t>
            </a:r>
            <a:r>
              <a:rPr lang="ro-RO" dirty="0" smtClean="0"/>
              <a:t> propriu-zisă a firului. Desigur există </a:t>
            </a:r>
            <a:r>
              <a:rPr lang="ro-RO" dirty="0" err="1" smtClean="0"/>
              <a:t>şi</a:t>
            </a:r>
            <a:r>
              <a:rPr lang="ro-RO" dirty="0" smtClean="0"/>
              <a:t> căi de a opri </a:t>
            </a:r>
            <a:r>
              <a:rPr lang="ro-RO" dirty="0" err="1" smtClean="0"/>
              <a:t>execuţia</a:t>
            </a:r>
            <a:r>
              <a:rPr lang="ro-RO" dirty="0" smtClean="0"/>
              <a:t> la </a:t>
            </a:r>
            <a:r>
              <a:rPr lang="ro-RO" dirty="0" err="1" smtClean="0"/>
              <a:t>nesfârşit</a:t>
            </a:r>
            <a:r>
              <a:rPr lang="ro-RO" dirty="0" smtClean="0"/>
              <a:t> a firului creat fie prin apelul metodei stop , prezentată mai jos, fie prin rescrierea </a:t>
            </a:r>
            <a:r>
              <a:rPr lang="ro-RO" dirty="0" err="1" smtClean="0"/>
              <a:t>funcţiei</a:t>
            </a:r>
            <a:r>
              <a:rPr lang="ro-RO" dirty="0" smtClean="0"/>
              <a:t> </a:t>
            </a:r>
            <a:r>
              <a:rPr lang="ro-RO" dirty="0" err="1" smtClean="0"/>
              <a:t>run</a:t>
            </a:r>
            <a:r>
              <a:rPr lang="ro-RO" dirty="0" smtClean="0"/>
              <a:t> în </a:t>
            </a:r>
            <a:r>
              <a:rPr lang="ro-RO" dirty="0" err="1" smtClean="0"/>
              <a:t>aşa</a:t>
            </a:r>
            <a:r>
              <a:rPr lang="ro-RO" dirty="0" smtClean="0"/>
              <a:t> fel încât </a:t>
            </a:r>
            <a:r>
              <a:rPr lang="ro-RO" dirty="0" err="1" smtClean="0"/>
              <a:t>execuţia</a:t>
            </a:r>
            <a:r>
              <a:rPr lang="ro-RO" dirty="0" smtClean="0"/>
              <a:t> sa să se termine după un interval finit de timp.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6292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Creare prin implementare interfața </a:t>
            </a:r>
            <a:r>
              <a:rPr lang="ro-RO" dirty="0" err="1" smtClean="0"/>
              <a:t>Runnable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253" y="1679695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ro-RO" dirty="0"/>
              <a:t>A doua cale de </a:t>
            </a:r>
            <a:r>
              <a:rPr lang="ro-RO" dirty="0" err="1"/>
              <a:t>definiţie</a:t>
            </a:r>
            <a:r>
              <a:rPr lang="ro-RO" dirty="0"/>
              <a:t> a unui fir de </a:t>
            </a:r>
            <a:r>
              <a:rPr lang="ro-RO" dirty="0" err="1"/>
              <a:t>execuţie</a:t>
            </a:r>
            <a:r>
              <a:rPr lang="ro-RO" dirty="0"/>
              <a:t> este implementarea </a:t>
            </a:r>
            <a:r>
              <a:rPr lang="ro-RO" dirty="0" err="1"/>
              <a:t>interfeţei</a:t>
            </a:r>
            <a:r>
              <a:rPr lang="ro-RO" dirty="0"/>
              <a:t> </a:t>
            </a:r>
            <a:r>
              <a:rPr lang="ro-RO" dirty="0" err="1"/>
              <a:t>Runnable</a:t>
            </a:r>
            <a:r>
              <a:rPr lang="ro-RO" dirty="0"/>
              <a:t> într-o anumită clasă de obiecte. </a:t>
            </a:r>
            <a:endParaRPr lang="ro-RO" dirty="0" smtClean="0"/>
          </a:p>
          <a:p>
            <a:pPr>
              <a:spcBef>
                <a:spcPts val="0"/>
              </a:spcBef>
            </a:pPr>
            <a:r>
              <a:rPr lang="ro-RO" dirty="0" smtClean="0"/>
              <a:t>Această </a:t>
            </a:r>
            <a:r>
              <a:rPr lang="ro-RO" dirty="0"/>
              <a:t>cale este cea care trebuie aleasă atunci când clasa pe care o creăm nu se poate deriva </a:t>
            </a:r>
            <a:r>
              <a:rPr lang="ro-RO" dirty="0" smtClean="0"/>
              <a:t>din </a:t>
            </a:r>
            <a:r>
              <a:rPr lang="ro-RO" dirty="0"/>
              <a:t>clasa </a:t>
            </a:r>
            <a:r>
              <a:rPr lang="ro-RO" dirty="0" err="1" smtClean="0"/>
              <a:t>Thread</a:t>
            </a:r>
            <a:r>
              <a:rPr lang="ro-RO" dirty="0" smtClean="0"/>
              <a:t> </a:t>
            </a:r>
            <a:r>
              <a:rPr lang="ro-RO" dirty="0"/>
              <a:t>pentru că este important să fie derivată din altă clasă. </a:t>
            </a:r>
            <a:endParaRPr lang="ro-RO" dirty="0" smtClean="0"/>
          </a:p>
          <a:p>
            <a:pPr>
              <a:spcBef>
                <a:spcPts val="0"/>
              </a:spcBef>
            </a:pPr>
            <a:r>
              <a:rPr lang="ro-RO" dirty="0" err="1">
                <a:solidFill>
                  <a:srgbClr val="FF0000"/>
                </a:solidFill>
              </a:rPr>
              <a:t>class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 err="1">
                <a:solidFill>
                  <a:srgbClr val="FF0000"/>
                </a:solidFill>
              </a:rPr>
              <a:t>Oclasa</a:t>
            </a:r>
            <a:r>
              <a:rPr lang="ro-RO" dirty="0">
                <a:solidFill>
                  <a:srgbClr val="FF0000"/>
                </a:solidFill>
              </a:rPr>
              <a:t> {</a:t>
            </a:r>
          </a:p>
          <a:p>
            <a:pPr>
              <a:spcBef>
                <a:spcPts val="0"/>
              </a:spcBef>
            </a:pPr>
            <a:r>
              <a:rPr lang="ro-RO" dirty="0">
                <a:solidFill>
                  <a:srgbClr val="FF0000"/>
                </a:solidFill>
              </a:rPr>
              <a:t>…</a:t>
            </a:r>
          </a:p>
          <a:p>
            <a:pPr>
              <a:spcBef>
                <a:spcPts val="0"/>
              </a:spcBef>
            </a:pPr>
            <a:r>
              <a:rPr lang="ro-RO" dirty="0">
                <a:solidFill>
                  <a:srgbClr val="FF0000"/>
                </a:solidFill>
              </a:rPr>
              <a:t>}</a:t>
            </a:r>
          </a:p>
          <a:p>
            <a:pPr>
              <a:spcBef>
                <a:spcPts val="0"/>
              </a:spcBef>
            </a:pPr>
            <a:r>
              <a:rPr lang="ro-RO" dirty="0" err="1"/>
              <a:t>class</a:t>
            </a:r>
            <a:r>
              <a:rPr lang="ro-RO" dirty="0"/>
              <a:t> </a:t>
            </a:r>
            <a:r>
              <a:rPr lang="ro-RO" dirty="0" err="1"/>
              <a:t>FirNou</a:t>
            </a:r>
            <a:r>
              <a:rPr lang="ro-RO" dirty="0"/>
              <a:t> </a:t>
            </a:r>
            <a:r>
              <a:rPr lang="ro-RO" dirty="0" err="1"/>
              <a:t>extends</a:t>
            </a:r>
            <a:r>
              <a:rPr lang="ro-RO" dirty="0"/>
              <a:t> </a:t>
            </a:r>
            <a:r>
              <a:rPr lang="ro-RO" dirty="0" err="1">
                <a:solidFill>
                  <a:srgbClr val="FF0000"/>
                </a:solidFill>
              </a:rPr>
              <a:t>Oclasa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 err="1"/>
              <a:t>implements</a:t>
            </a:r>
            <a:r>
              <a:rPr lang="ro-RO" dirty="0"/>
              <a:t> </a:t>
            </a:r>
            <a:r>
              <a:rPr lang="ro-RO" dirty="0" err="1"/>
              <a:t>Runnable</a:t>
            </a:r>
            <a:r>
              <a:rPr lang="ro-RO" dirty="0"/>
              <a:t> </a:t>
            </a:r>
            <a:r>
              <a:rPr lang="ro-RO" dirty="0" smtClean="0"/>
              <a:t>{</a:t>
            </a:r>
            <a:endParaRPr lang="ro-RO" dirty="0"/>
          </a:p>
          <a:p>
            <a:pPr>
              <a:spcBef>
                <a:spcPts val="0"/>
              </a:spcBef>
            </a:pPr>
            <a:r>
              <a:rPr lang="ro-RO" dirty="0"/>
              <a:t>public </a:t>
            </a:r>
            <a:r>
              <a:rPr lang="ro-RO" dirty="0" err="1"/>
              <a:t>void</a:t>
            </a:r>
            <a:r>
              <a:rPr lang="ro-RO" dirty="0"/>
              <a:t> </a:t>
            </a:r>
            <a:r>
              <a:rPr lang="ro-RO" dirty="0" err="1"/>
              <a:t>run</a:t>
            </a:r>
            <a:r>
              <a:rPr lang="ro-RO" dirty="0"/>
              <a:t>() {</a:t>
            </a:r>
          </a:p>
          <a:p>
            <a:pPr>
              <a:spcBef>
                <a:spcPts val="0"/>
              </a:spcBef>
            </a:pPr>
            <a:r>
              <a:rPr lang="ro-RO" dirty="0"/>
              <a:t>for( </a:t>
            </a:r>
            <a:r>
              <a:rPr lang="ro-RO" dirty="0" err="1"/>
              <a:t>int</a:t>
            </a:r>
            <a:r>
              <a:rPr lang="ro-RO" dirty="0"/>
              <a:t> i = 0; i &lt; 100; i++ ) {</a:t>
            </a:r>
          </a:p>
          <a:p>
            <a:pPr>
              <a:spcBef>
                <a:spcPts val="0"/>
              </a:spcBef>
            </a:pPr>
            <a:r>
              <a:rPr lang="ro-RO" dirty="0" err="1"/>
              <a:t>System.out.println</a:t>
            </a:r>
            <a:r>
              <a:rPr lang="ro-RO" dirty="0"/>
              <a:t>( "pasul " + i );</a:t>
            </a:r>
          </a:p>
          <a:p>
            <a:pPr>
              <a:spcBef>
                <a:spcPts val="0"/>
              </a:spcBef>
            </a:pPr>
            <a:r>
              <a:rPr lang="ro-RO" dirty="0"/>
              <a:t>}</a:t>
            </a:r>
          </a:p>
          <a:p>
            <a:pPr>
              <a:spcBef>
                <a:spcPts val="0"/>
              </a:spcBef>
            </a:pPr>
            <a:r>
              <a:rPr lang="ro-RO" dirty="0"/>
              <a:t>}</a:t>
            </a:r>
          </a:p>
          <a:p>
            <a:pPr>
              <a:spcBef>
                <a:spcPts val="0"/>
              </a:spcBef>
            </a:pPr>
            <a:r>
              <a:rPr lang="ro-RO" dirty="0"/>
              <a:t>…</a:t>
            </a:r>
          </a:p>
          <a:p>
            <a:pPr>
              <a:spcBef>
                <a:spcPts val="0"/>
              </a:spcBef>
            </a:pPr>
            <a:r>
              <a:rPr lang="ro-RO" dirty="0"/>
              <a:t>}</a:t>
            </a:r>
          </a:p>
          <a:p>
            <a:pPr>
              <a:spcBef>
                <a:spcPts val="0"/>
              </a:spcBef>
            </a:pPr>
            <a:endParaRPr lang="ro-RO" dirty="0"/>
          </a:p>
        </p:txBody>
      </p:sp>
      <p:sp>
        <p:nvSpPr>
          <p:cNvPr id="6" name="Rectangle 5"/>
          <p:cNvSpPr/>
          <p:nvPr/>
        </p:nvSpPr>
        <p:spPr>
          <a:xfrm>
            <a:off x="6274761" y="391262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dirty="0" smtClean="0"/>
              <a:t>public </a:t>
            </a:r>
            <a:r>
              <a:rPr lang="ro-RO" dirty="0" err="1" smtClean="0"/>
              <a:t>class</a:t>
            </a:r>
            <a:r>
              <a:rPr lang="ro-RO" dirty="0" smtClean="0"/>
              <a:t> </a:t>
            </a:r>
            <a:r>
              <a:rPr lang="ro-RO" dirty="0" err="1" smtClean="0"/>
              <a:t>TestFirNou</a:t>
            </a:r>
            <a:r>
              <a:rPr lang="ro-RO" dirty="0" smtClean="0"/>
              <a:t> {</a:t>
            </a:r>
          </a:p>
          <a:p>
            <a:r>
              <a:rPr lang="ro-RO" dirty="0" smtClean="0"/>
              <a:t>public static </a:t>
            </a:r>
            <a:r>
              <a:rPr lang="ro-RO" dirty="0" err="1" smtClean="0"/>
              <a:t>void</a:t>
            </a:r>
            <a:r>
              <a:rPr lang="ro-RO" dirty="0" smtClean="0"/>
              <a:t> </a:t>
            </a:r>
            <a:r>
              <a:rPr lang="ro-RO" dirty="0" err="1" smtClean="0"/>
              <a:t>main</a:t>
            </a:r>
            <a:r>
              <a:rPr lang="ro-RO" dirty="0" smtClean="0"/>
              <a:t>( </a:t>
            </a:r>
            <a:r>
              <a:rPr lang="ro-RO" dirty="0" err="1" smtClean="0"/>
              <a:t>String</a:t>
            </a:r>
            <a:r>
              <a:rPr lang="ro-RO" dirty="0" smtClean="0"/>
              <a:t> argumente[ ] ) {</a:t>
            </a:r>
          </a:p>
          <a:p>
            <a:r>
              <a:rPr lang="ro-RO" dirty="0" err="1" smtClean="0">
                <a:solidFill>
                  <a:srgbClr val="FF0000"/>
                </a:solidFill>
              </a:rPr>
              <a:t>new</a:t>
            </a:r>
            <a:r>
              <a:rPr lang="ro-RO" dirty="0" smtClean="0">
                <a:solidFill>
                  <a:srgbClr val="FF0000"/>
                </a:solidFill>
              </a:rPr>
              <a:t> </a:t>
            </a:r>
            <a:r>
              <a:rPr lang="ro-RO" dirty="0" err="1" smtClean="0">
                <a:solidFill>
                  <a:srgbClr val="FF0000"/>
                </a:solidFill>
              </a:rPr>
              <a:t>Thread</a:t>
            </a:r>
            <a:r>
              <a:rPr lang="ro-RO" dirty="0" smtClean="0">
                <a:solidFill>
                  <a:srgbClr val="FF0000"/>
                </a:solidFill>
              </a:rPr>
              <a:t>( </a:t>
            </a:r>
            <a:r>
              <a:rPr lang="ro-RO" dirty="0" err="1" smtClean="0">
                <a:solidFill>
                  <a:srgbClr val="FF0000"/>
                </a:solidFill>
              </a:rPr>
              <a:t>new</a:t>
            </a:r>
            <a:r>
              <a:rPr lang="ro-RO" dirty="0" smtClean="0">
                <a:solidFill>
                  <a:srgbClr val="FF0000"/>
                </a:solidFill>
              </a:rPr>
              <a:t> </a:t>
            </a:r>
            <a:r>
              <a:rPr lang="ro-RO" dirty="0" err="1" smtClean="0">
                <a:solidFill>
                  <a:srgbClr val="FF0000"/>
                </a:solidFill>
              </a:rPr>
              <a:t>FirNou</a:t>
            </a:r>
            <a:r>
              <a:rPr lang="ro-RO" dirty="0" smtClean="0">
                <a:solidFill>
                  <a:srgbClr val="FF0000"/>
                </a:solidFill>
              </a:rPr>
              <a:t>() ).start();</a:t>
            </a:r>
          </a:p>
          <a:p>
            <a:r>
              <a:rPr lang="ro-RO" dirty="0" smtClean="0"/>
              <a:t>// Obiectele sunt create </a:t>
            </a:r>
            <a:r>
              <a:rPr lang="ro-RO" dirty="0" err="1" smtClean="0"/>
              <a:t>şi</a:t>
            </a:r>
            <a:r>
              <a:rPr lang="ro-RO" dirty="0" smtClean="0"/>
              <a:t> folosite imediat</a:t>
            </a:r>
          </a:p>
          <a:p>
            <a:r>
              <a:rPr lang="ro-RO" dirty="0" smtClean="0"/>
              <a:t>// La terminarea </a:t>
            </a:r>
            <a:r>
              <a:rPr lang="ro-RO" dirty="0" err="1" smtClean="0"/>
              <a:t>instrucţiunii</a:t>
            </a:r>
            <a:r>
              <a:rPr lang="ro-RO" dirty="0" smtClean="0"/>
              <a:t>, ele sunt automat</a:t>
            </a:r>
          </a:p>
          <a:p>
            <a:r>
              <a:rPr lang="ro-RO" dirty="0" smtClean="0"/>
              <a:t>// eliberate nefiind referite de nimic</a:t>
            </a:r>
          </a:p>
          <a:p>
            <a:r>
              <a:rPr lang="ro-RO" dirty="0" smtClean="0"/>
              <a:t>}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8236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Stările unui fir de </a:t>
            </a:r>
            <a:r>
              <a:rPr lang="ro-RO" b="1" dirty="0" err="1" smtClean="0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575736" cy="4023360"/>
          </a:xfrm>
        </p:spPr>
        <p:txBody>
          <a:bodyPr>
            <a:normAutofit fontScale="92500" lnSpcReduction="10000"/>
          </a:bodyPr>
          <a:lstStyle/>
          <a:p>
            <a:r>
              <a:rPr lang="ro-RO" dirty="0"/>
              <a:t>Un fir de </a:t>
            </a:r>
            <a:r>
              <a:rPr lang="ro-RO" dirty="0" err="1"/>
              <a:t>execuţie</a:t>
            </a:r>
            <a:r>
              <a:rPr lang="ro-RO" dirty="0"/>
              <a:t> se poate afla în Java în mai multe stări, în </a:t>
            </a:r>
            <a:r>
              <a:rPr lang="ro-RO" dirty="0" err="1"/>
              <a:t>funcţie</a:t>
            </a:r>
            <a:r>
              <a:rPr lang="ro-RO" dirty="0"/>
              <a:t> de ce se întâmplă cu el la un moment dat.</a:t>
            </a:r>
          </a:p>
          <a:p>
            <a:r>
              <a:rPr lang="ro-RO" dirty="0"/>
              <a:t>Atunci când este creat, dar înainte de apelul metodei start, firul se </a:t>
            </a:r>
            <a:r>
              <a:rPr lang="ro-RO" dirty="0" err="1"/>
              <a:t>găseşte</a:t>
            </a:r>
            <a:r>
              <a:rPr lang="ro-RO" dirty="0"/>
              <a:t> într-o stare pe care o vom numi </a:t>
            </a:r>
            <a:r>
              <a:rPr lang="ro-RO" dirty="0">
                <a:solidFill>
                  <a:srgbClr val="FF0000"/>
                </a:solidFill>
              </a:rPr>
              <a:t>Fir Nou Creat </a:t>
            </a:r>
            <a:r>
              <a:rPr lang="ro-RO" dirty="0"/>
              <a:t>. În această stare, singurele metode care se pot apela pentru firul de </a:t>
            </a:r>
            <a:r>
              <a:rPr lang="ro-RO" dirty="0" err="1"/>
              <a:t>execuţie</a:t>
            </a:r>
            <a:r>
              <a:rPr lang="ro-RO" dirty="0"/>
              <a:t> sunt metodele </a:t>
            </a:r>
            <a:r>
              <a:rPr lang="ro-RO" dirty="0">
                <a:solidFill>
                  <a:srgbClr val="FF0000"/>
                </a:solidFill>
              </a:rPr>
              <a:t>start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dirty="0">
                <a:solidFill>
                  <a:srgbClr val="FF0000"/>
                </a:solidFill>
              </a:rPr>
              <a:t>stop</a:t>
            </a:r>
            <a:r>
              <a:rPr lang="ro-RO" dirty="0"/>
              <a:t> . </a:t>
            </a:r>
            <a:endParaRPr lang="ro-RO" dirty="0" smtClean="0"/>
          </a:p>
          <a:p>
            <a:r>
              <a:rPr lang="ro-RO" dirty="0" smtClean="0"/>
              <a:t>Metoda </a:t>
            </a:r>
            <a:r>
              <a:rPr lang="ro-RO" dirty="0">
                <a:solidFill>
                  <a:srgbClr val="FF0000"/>
                </a:solidFill>
              </a:rPr>
              <a:t>start</a:t>
            </a:r>
            <a:r>
              <a:rPr lang="ro-RO" dirty="0"/>
              <a:t> lansează firul în </a:t>
            </a:r>
            <a:r>
              <a:rPr lang="ro-RO" dirty="0" err="1"/>
              <a:t>execuţie</a:t>
            </a:r>
            <a:r>
              <a:rPr lang="ro-RO" dirty="0"/>
              <a:t> prin apelul metodei </a:t>
            </a:r>
            <a:r>
              <a:rPr lang="ro-RO" dirty="0" err="1">
                <a:solidFill>
                  <a:srgbClr val="FF0000"/>
                </a:solidFill>
              </a:rPr>
              <a:t>run</a:t>
            </a:r>
            <a:r>
              <a:rPr lang="ro-RO" dirty="0"/>
              <a:t> </a:t>
            </a:r>
            <a:r>
              <a:rPr lang="ro-RO" dirty="0" smtClean="0"/>
              <a:t>.</a:t>
            </a:r>
          </a:p>
          <a:p>
            <a:r>
              <a:rPr lang="ro-RO" dirty="0" smtClean="0"/>
              <a:t> </a:t>
            </a:r>
            <a:r>
              <a:rPr lang="ro-RO" dirty="0"/>
              <a:t>Metoda </a:t>
            </a:r>
            <a:r>
              <a:rPr lang="ro-RO" dirty="0">
                <a:solidFill>
                  <a:srgbClr val="FF0000"/>
                </a:solidFill>
              </a:rPr>
              <a:t>stop</a:t>
            </a:r>
            <a:r>
              <a:rPr lang="ro-RO" dirty="0"/>
              <a:t> omoară firul de </a:t>
            </a:r>
            <a:r>
              <a:rPr lang="ro-RO" dirty="0" err="1"/>
              <a:t>execuţie</a:t>
            </a:r>
            <a:r>
              <a:rPr lang="ro-RO" dirty="0"/>
              <a:t> încă înainte de a fi lansat. Orice altă metodă apelată în această stare provoacă terminarea firului de </a:t>
            </a:r>
            <a:r>
              <a:rPr lang="ro-RO" dirty="0" err="1"/>
              <a:t>execuţie</a:t>
            </a:r>
            <a:r>
              <a:rPr lang="ro-RO" dirty="0"/>
              <a:t> prin generarea unei </a:t>
            </a:r>
            <a:r>
              <a:rPr lang="ro-RO" dirty="0" err="1"/>
              <a:t>excepţii</a:t>
            </a:r>
            <a:r>
              <a:rPr lang="ro-RO" dirty="0"/>
              <a:t> de tip </a:t>
            </a:r>
            <a:r>
              <a:rPr lang="ro-RO" dirty="0" err="1">
                <a:solidFill>
                  <a:srgbClr val="FF0000"/>
                </a:solidFill>
              </a:rPr>
              <a:t>IllegalThreadStateException</a:t>
            </a:r>
            <a:r>
              <a:rPr lang="ro-RO" dirty="0"/>
              <a:t> .</a:t>
            </a:r>
          </a:p>
          <a:p>
            <a:r>
              <a:rPr lang="ro-RO" dirty="0"/>
              <a:t>Dacă apelăm metoda start pentru un </a:t>
            </a:r>
            <a:r>
              <a:rPr lang="ro-RO" dirty="0">
                <a:solidFill>
                  <a:srgbClr val="FF0000"/>
                </a:solidFill>
              </a:rPr>
              <a:t>Fir Nou Creat </a:t>
            </a:r>
            <a:r>
              <a:rPr lang="ro-RO" dirty="0"/>
              <a:t>firul de </a:t>
            </a:r>
            <a:r>
              <a:rPr lang="ro-RO" dirty="0" err="1"/>
              <a:t>execuţie</a:t>
            </a:r>
            <a:r>
              <a:rPr lang="ro-RO" dirty="0"/>
              <a:t> va trece în starea </a:t>
            </a:r>
            <a:r>
              <a:rPr lang="ro-RO" dirty="0">
                <a:solidFill>
                  <a:srgbClr val="FF0000"/>
                </a:solidFill>
              </a:rPr>
              <a:t>Rulează</a:t>
            </a:r>
            <a:r>
              <a:rPr lang="ro-RO" dirty="0"/>
              <a:t>. În această stare, </a:t>
            </a:r>
            <a:r>
              <a:rPr lang="ro-RO" dirty="0" err="1"/>
              <a:t>instrucţiunile</a:t>
            </a:r>
            <a:r>
              <a:rPr lang="ro-RO" dirty="0"/>
              <a:t> din corpul metodei </a:t>
            </a:r>
            <a:r>
              <a:rPr lang="ro-RO" dirty="0" err="1">
                <a:solidFill>
                  <a:srgbClr val="FF0000"/>
                </a:solidFill>
              </a:rPr>
              <a:t>run</a:t>
            </a:r>
            <a:r>
              <a:rPr lang="ro-RO" dirty="0"/>
              <a:t> se execută una după alta. </a:t>
            </a:r>
            <a:r>
              <a:rPr lang="ro-RO" dirty="0" err="1"/>
              <a:t>Execuţia</a:t>
            </a:r>
            <a:r>
              <a:rPr lang="ro-RO" dirty="0"/>
              <a:t> poate fi oprită temporar prin apelul metodei </a:t>
            </a:r>
            <a:r>
              <a:rPr lang="ro-RO" dirty="0" err="1">
                <a:solidFill>
                  <a:srgbClr val="FF0000"/>
                </a:solidFill>
              </a:rPr>
              <a:t>sleep</a:t>
            </a:r>
            <a:r>
              <a:rPr lang="ro-RO" dirty="0"/>
              <a:t> care </a:t>
            </a:r>
            <a:r>
              <a:rPr lang="ro-RO" dirty="0" err="1"/>
              <a:t>primeşte</a:t>
            </a:r>
            <a:r>
              <a:rPr lang="ro-RO" dirty="0"/>
              <a:t> ca argument un număr de milisecunde care reprezintă intervalul de timp în care firul trebuie să fie oprit. </a:t>
            </a:r>
            <a:endParaRPr lang="ro-RO" dirty="0" smtClean="0"/>
          </a:p>
          <a:p>
            <a:r>
              <a:rPr lang="ro-RO" dirty="0" smtClean="0"/>
              <a:t>După </a:t>
            </a:r>
            <a:r>
              <a:rPr lang="ro-RO" dirty="0"/>
              <a:t>trecerea intervalului, firul de </a:t>
            </a:r>
            <a:r>
              <a:rPr lang="ro-RO" dirty="0" err="1"/>
              <a:t>execuţie</a:t>
            </a:r>
            <a:r>
              <a:rPr lang="ro-RO" dirty="0"/>
              <a:t> va porni din nou.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522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Stările unui fir de </a:t>
            </a:r>
            <a:r>
              <a:rPr lang="ro-RO" b="1" dirty="0" err="1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dirty="0"/>
              <a:t>În timpul în care se scurge intervalul specificat de </a:t>
            </a:r>
            <a:r>
              <a:rPr lang="ro-RO" dirty="0" err="1">
                <a:solidFill>
                  <a:srgbClr val="FF0000"/>
                </a:solidFill>
              </a:rPr>
              <a:t>sleep</a:t>
            </a:r>
            <a:r>
              <a:rPr lang="ro-RO" dirty="0"/>
              <a:t>, obiectul nu poate fi repornit prin metode </a:t>
            </a:r>
            <a:r>
              <a:rPr lang="ro-RO" dirty="0" err="1"/>
              <a:t>obişnuite</a:t>
            </a:r>
            <a:r>
              <a:rPr lang="ro-RO" dirty="0"/>
              <a:t>. </a:t>
            </a:r>
            <a:endParaRPr lang="ro-RO" dirty="0" smtClean="0"/>
          </a:p>
          <a:p>
            <a:r>
              <a:rPr lang="ro-RO" dirty="0" smtClean="0"/>
              <a:t>Singura </a:t>
            </a:r>
            <a:r>
              <a:rPr lang="ro-RO" dirty="0"/>
              <a:t>cale de a </a:t>
            </a:r>
            <a:r>
              <a:rPr lang="ro-RO" dirty="0" err="1"/>
              <a:t>ieşi</a:t>
            </a:r>
            <a:r>
              <a:rPr lang="ro-RO" dirty="0"/>
              <a:t> din această stare este aceea de a apela metoda </a:t>
            </a:r>
            <a:r>
              <a:rPr lang="ro-RO" dirty="0" err="1">
                <a:solidFill>
                  <a:srgbClr val="FF0000"/>
                </a:solidFill>
              </a:rPr>
              <a:t>interrupt</a:t>
            </a:r>
            <a:r>
              <a:rPr lang="ro-RO" dirty="0"/>
              <a:t>. Această metodă generează o </a:t>
            </a:r>
            <a:r>
              <a:rPr lang="ro-RO" dirty="0" err="1"/>
              <a:t>excepţie</a:t>
            </a:r>
            <a:r>
              <a:rPr lang="ro-RO" dirty="0"/>
              <a:t> de tip </a:t>
            </a:r>
            <a:r>
              <a:rPr lang="ro-RO" dirty="0" err="1">
                <a:solidFill>
                  <a:srgbClr val="FF0000"/>
                </a:solidFill>
              </a:rPr>
              <a:t>InterruptedException</a:t>
            </a:r>
            <a:r>
              <a:rPr lang="ro-RO" dirty="0"/>
              <a:t> care nu este interceptată de </a:t>
            </a:r>
            <a:r>
              <a:rPr lang="ro-RO" dirty="0" err="1">
                <a:solidFill>
                  <a:srgbClr val="FF0000"/>
                </a:solidFill>
              </a:rPr>
              <a:t>sleep</a:t>
            </a:r>
            <a:r>
              <a:rPr lang="ro-RO" dirty="0"/>
              <a:t> dar care trebuie interceptată obligatoriu de metoda care a apelat metoda </a:t>
            </a:r>
            <a:r>
              <a:rPr lang="ro-RO" dirty="0" err="1">
                <a:solidFill>
                  <a:srgbClr val="FF0000"/>
                </a:solidFill>
              </a:rPr>
              <a:t>sleep</a:t>
            </a:r>
            <a:r>
              <a:rPr lang="ro-RO" dirty="0"/>
              <a:t>. De aceea, modul standard în care se apelează metoda </a:t>
            </a:r>
            <a:r>
              <a:rPr lang="ro-RO" dirty="0" err="1">
                <a:solidFill>
                  <a:srgbClr val="FF0000"/>
                </a:solidFill>
              </a:rPr>
              <a:t>sleep</a:t>
            </a:r>
            <a:r>
              <a:rPr lang="ro-RO" dirty="0"/>
              <a:t> este următorul:</a:t>
            </a:r>
          </a:p>
          <a:p>
            <a:r>
              <a:rPr lang="ro-RO" dirty="0"/>
              <a:t>…</a:t>
            </a:r>
          </a:p>
          <a:p>
            <a:r>
              <a:rPr lang="ro-RO" dirty="0" err="1"/>
              <a:t>try</a:t>
            </a:r>
            <a:r>
              <a:rPr lang="ro-RO" dirty="0"/>
              <a:t> {</a:t>
            </a:r>
          </a:p>
          <a:p>
            <a:r>
              <a:rPr lang="ro-RO" dirty="0" err="1"/>
              <a:t>sleep</a:t>
            </a:r>
            <a:r>
              <a:rPr lang="ro-RO" dirty="0"/>
              <a:t>( 1000 ); // o secundă</a:t>
            </a:r>
          </a:p>
          <a:p>
            <a:r>
              <a:rPr lang="ro-RO" dirty="0"/>
              <a:t>} catch( </a:t>
            </a:r>
            <a:r>
              <a:rPr lang="ro-RO" dirty="0" err="1"/>
              <a:t>InterruptedException</a:t>
            </a:r>
            <a:r>
              <a:rPr lang="ro-RO" dirty="0"/>
              <a:t> ) {</a:t>
            </a:r>
          </a:p>
          <a:p>
            <a:r>
              <a:rPr lang="ro-RO" dirty="0"/>
              <a:t>…</a:t>
            </a:r>
          </a:p>
          <a:p>
            <a:r>
              <a:rPr lang="ro-RO" dirty="0"/>
              <a:t>}</a:t>
            </a:r>
          </a:p>
          <a:p>
            <a:r>
              <a:rPr lang="ro-RO" dirty="0"/>
              <a:t>…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1383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Stările unui fir de </a:t>
            </a:r>
            <a:r>
              <a:rPr lang="ro-RO" b="1" dirty="0" err="1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Dacă dorim oprirea firului de </a:t>
            </a:r>
            <a:r>
              <a:rPr lang="ro-RO" dirty="0" err="1"/>
              <a:t>execuţie</a:t>
            </a:r>
            <a:r>
              <a:rPr lang="ro-RO" dirty="0"/>
              <a:t> pe timp nedefinit, putem apela metoda sus</a:t>
            </a:r>
            <a:r>
              <a:rPr lang="ro-RO" dirty="0">
                <a:solidFill>
                  <a:srgbClr val="FF0000"/>
                </a:solidFill>
              </a:rPr>
              <a:t>p</a:t>
            </a:r>
            <a:r>
              <a:rPr lang="ro-RO" dirty="0"/>
              <a:t>end. Aceasta trece firul de </a:t>
            </a:r>
            <a:r>
              <a:rPr lang="ro-RO" dirty="0" err="1"/>
              <a:t>execuţie</a:t>
            </a:r>
            <a:r>
              <a:rPr lang="ro-RO" dirty="0"/>
              <a:t> într-o nouă stare, numită </a:t>
            </a:r>
            <a:r>
              <a:rPr lang="ro-RO" dirty="0">
                <a:solidFill>
                  <a:srgbClr val="FF0000"/>
                </a:solidFill>
              </a:rPr>
              <a:t>Nu Rulează</a:t>
            </a:r>
            <a:r>
              <a:rPr lang="ro-RO" dirty="0"/>
              <a:t>. </a:t>
            </a:r>
            <a:r>
              <a:rPr lang="ro-RO" dirty="0" err="1"/>
              <a:t>Aceeaşi</a:t>
            </a:r>
            <a:r>
              <a:rPr lang="ro-RO" dirty="0"/>
              <a:t> stare este folosită </a:t>
            </a:r>
            <a:r>
              <a:rPr lang="ro-RO" dirty="0" err="1"/>
              <a:t>şi</a:t>
            </a:r>
            <a:r>
              <a:rPr lang="ro-RO" dirty="0"/>
              <a:t> pentru oprirea temporară cu </a:t>
            </a:r>
            <a:r>
              <a:rPr lang="ro-RO" dirty="0" err="1">
                <a:solidFill>
                  <a:srgbClr val="FF0000"/>
                </a:solidFill>
              </a:rPr>
              <a:t>sleep</a:t>
            </a:r>
            <a:r>
              <a:rPr lang="ro-RO" dirty="0"/>
              <a:t>. În cazul apelului suspend însă, </a:t>
            </a:r>
            <a:r>
              <a:rPr lang="ro-RO" dirty="0" err="1"/>
              <a:t>execuţia</a:t>
            </a:r>
            <a:r>
              <a:rPr lang="ro-RO" dirty="0"/>
              <a:t> nu va putea fi reluată decât printr-un apel al metodei </a:t>
            </a:r>
            <a:r>
              <a:rPr lang="ro-RO" dirty="0" err="1">
                <a:solidFill>
                  <a:srgbClr val="FF0000"/>
                </a:solidFill>
              </a:rPr>
              <a:t>resume</a:t>
            </a:r>
            <a:r>
              <a:rPr lang="ro-RO" dirty="0"/>
              <a:t>. După acest apel, firul va intra din nou în starea </a:t>
            </a:r>
            <a:r>
              <a:rPr lang="ro-RO" dirty="0">
                <a:solidFill>
                  <a:srgbClr val="FF0000"/>
                </a:solidFill>
              </a:rPr>
              <a:t>Rulează</a:t>
            </a:r>
            <a:r>
              <a:rPr lang="ro-RO" dirty="0"/>
              <a:t> .</a:t>
            </a:r>
          </a:p>
          <a:p>
            <a:r>
              <a:rPr lang="ro-RO" dirty="0"/>
              <a:t>Pe timpul în care firul de </a:t>
            </a:r>
            <a:r>
              <a:rPr lang="ro-RO" dirty="0" err="1"/>
              <a:t>execuţie</a:t>
            </a:r>
            <a:r>
              <a:rPr lang="ro-RO" dirty="0"/>
              <a:t> se </a:t>
            </a:r>
            <a:r>
              <a:rPr lang="ro-RO" dirty="0" err="1"/>
              <a:t>găseşte</a:t>
            </a:r>
            <a:r>
              <a:rPr lang="ro-RO" dirty="0"/>
              <a:t> în starea </a:t>
            </a:r>
            <a:r>
              <a:rPr lang="ro-RO" dirty="0">
                <a:solidFill>
                  <a:srgbClr val="FF0000"/>
                </a:solidFill>
              </a:rPr>
              <a:t>Nu Rulează </a:t>
            </a:r>
            <a:r>
              <a:rPr lang="ro-RO" dirty="0"/>
              <a:t>, acesta nu este planificat niciodată la controlul </a:t>
            </a:r>
            <a:r>
              <a:rPr lang="ro-RO" dirty="0" err="1"/>
              <a:t>unităţii</a:t>
            </a:r>
            <a:r>
              <a:rPr lang="ro-RO" dirty="0"/>
              <a:t> centrale, aceasta fiind cedată celorlalte fire de </a:t>
            </a:r>
            <a:r>
              <a:rPr lang="ro-RO" dirty="0" err="1"/>
              <a:t>execuţie</a:t>
            </a:r>
            <a:r>
              <a:rPr lang="ro-RO" dirty="0"/>
              <a:t> din </a:t>
            </a:r>
            <a:r>
              <a:rPr lang="ro-RO" dirty="0" err="1"/>
              <a:t>aplicaţie</a:t>
            </a:r>
            <a:r>
              <a:rPr lang="ro-RO" dirty="0"/>
              <a:t>.</a:t>
            </a:r>
          </a:p>
          <a:p>
            <a:r>
              <a:rPr lang="ro-RO" dirty="0"/>
              <a:t>Firul de </a:t>
            </a:r>
            <a:r>
              <a:rPr lang="ro-RO" dirty="0" err="1"/>
              <a:t>execuţie</a:t>
            </a:r>
            <a:r>
              <a:rPr lang="ro-RO" dirty="0"/>
              <a:t> poate intra în starea </a:t>
            </a:r>
            <a:r>
              <a:rPr lang="ro-RO" dirty="0">
                <a:solidFill>
                  <a:srgbClr val="FF0000"/>
                </a:solidFill>
              </a:rPr>
              <a:t>Nu Rulează </a:t>
            </a:r>
            <a:r>
              <a:rPr lang="ro-RO" dirty="0" err="1"/>
              <a:t>şi</a:t>
            </a:r>
            <a:r>
              <a:rPr lang="ro-RO" dirty="0"/>
              <a:t> din alte motive. De exemplu se poate întâmpla ca firul să </a:t>
            </a:r>
            <a:r>
              <a:rPr lang="ro-RO" dirty="0" err="1"/>
              <a:t>aştepte</a:t>
            </a:r>
            <a:r>
              <a:rPr lang="ro-RO" dirty="0"/>
              <a:t> pentru terminarea unei </a:t>
            </a:r>
            <a:r>
              <a:rPr lang="ro-RO" dirty="0" err="1"/>
              <a:t>operaţii</a:t>
            </a:r>
            <a:r>
              <a:rPr lang="ro-RO" dirty="0"/>
              <a:t> de intrare/</a:t>
            </a:r>
            <a:r>
              <a:rPr lang="ro-RO" dirty="0" err="1"/>
              <a:t>ieşire</a:t>
            </a:r>
            <a:r>
              <a:rPr lang="ro-RO" dirty="0"/>
              <a:t> de lungă durată caz în care firul va intra din nou în starea Rulează doar după terminarea </a:t>
            </a:r>
            <a:r>
              <a:rPr lang="ro-RO" dirty="0" err="1"/>
              <a:t>operaţiei</a:t>
            </a:r>
            <a:r>
              <a:rPr lang="ro-RO" dirty="0"/>
              <a:t>.</a:t>
            </a:r>
          </a:p>
          <a:p>
            <a:r>
              <a:rPr lang="ro-RO" dirty="0"/>
              <a:t>O altă cale de a ajunge în starea </a:t>
            </a:r>
            <a:r>
              <a:rPr lang="ro-RO" dirty="0">
                <a:solidFill>
                  <a:srgbClr val="FF0000"/>
                </a:solidFill>
              </a:rPr>
              <a:t>Nu Rulează </a:t>
            </a:r>
            <a:r>
              <a:rPr lang="ro-RO" dirty="0"/>
              <a:t>este aceea de a apela o metodă sau o </a:t>
            </a:r>
            <a:r>
              <a:rPr lang="ro-RO" dirty="0" err="1"/>
              <a:t>secvenţă</a:t>
            </a:r>
            <a:r>
              <a:rPr lang="ro-RO" dirty="0"/>
              <a:t> de </a:t>
            </a:r>
            <a:r>
              <a:rPr lang="ro-RO" dirty="0" err="1"/>
              <a:t>instrucţiuni</a:t>
            </a:r>
            <a:r>
              <a:rPr lang="ro-RO" dirty="0"/>
              <a:t> sincronizată după un obiect. În acest caz, dacă obiectul este deja blocat, firul de </a:t>
            </a:r>
            <a:r>
              <a:rPr lang="ro-RO" dirty="0" err="1"/>
              <a:t>execuţie</a:t>
            </a:r>
            <a:r>
              <a:rPr lang="ro-RO" dirty="0"/>
              <a:t> va fi oprit până în clipa în care obiectul cu pricina apelează metoda </a:t>
            </a:r>
            <a:r>
              <a:rPr lang="ro-RO" dirty="0" err="1">
                <a:solidFill>
                  <a:srgbClr val="FF0000"/>
                </a:solidFill>
              </a:rPr>
              <a:t>notify</a:t>
            </a:r>
            <a:r>
              <a:rPr lang="ro-RO" dirty="0"/>
              <a:t> sau </a:t>
            </a:r>
            <a:r>
              <a:rPr lang="ro-RO" dirty="0" err="1">
                <a:solidFill>
                  <a:srgbClr val="FF0000"/>
                </a:solidFill>
              </a:rPr>
              <a:t>notifyAll</a:t>
            </a:r>
            <a:r>
              <a:rPr lang="ro-RO" dirty="0"/>
              <a:t> 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6541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Stările unui fir de </a:t>
            </a:r>
            <a:r>
              <a:rPr lang="ro-RO" b="1" dirty="0" err="1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o-RO" sz="1600" dirty="0"/>
              <a:t>Atunci când metoda </a:t>
            </a:r>
            <a:r>
              <a:rPr lang="ro-RO" sz="1600" dirty="0" err="1">
                <a:solidFill>
                  <a:srgbClr val="FF0000"/>
                </a:solidFill>
              </a:rPr>
              <a:t>run</a:t>
            </a:r>
            <a:r>
              <a:rPr lang="ro-RO" sz="1600" dirty="0"/>
              <a:t> </a:t>
            </a:r>
            <a:r>
              <a:rPr lang="ro-RO" sz="1600" dirty="0" err="1"/>
              <a:t>şi</a:t>
            </a:r>
            <a:r>
              <a:rPr lang="ro-RO" sz="1600" dirty="0"/>
              <a:t>-a terminat </a:t>
            </a:r>
            <a:r>
              <a:rPr lang="ro-RO" sz="1600" dirty="0" err="1"/>
              <a:t>execuţia</a:t>
            </a:r>
            <a:r>
              <a:rPr lang="ro-RO" sz="1600" dirty="0"/>
              <a:t>, obiectul intră în starea </a:t>
            </a:r>
            <a:r>
              <a:rPr lang="ro-RO" sz="1600" dirty="0">
                <a:solidFill>
                  <a:srgbClr val="FF0000"/>
                </a:solidFill>
              </a:rPr>
              <a:t>Mort</a:t>
            </a:r>
            <a:r>
              <a:rPr lang="ro-RO" sz="1600" dirty="0"/>
              <a:t>. Această stare este păstrată până în clipa în care obiectul este eliminat din memorie de mecanismul de colectare a gunoaielor. O altă posibilitate de a intra în starea </a:t>
            </a:r>
            <a:r>
              <a:rPr lang="ro-RO" sz="1600" dirty="0">
                <a:solidFill>
                  <a:srgbClr val="FF0000"/>
                </a:solidFill>
              </a:rPr>
              <a:t>Mort</a:t>
            </a:r>
            <a:r>
              <a:rPr lang="ro-RO" sz="1600" dirty="0"/>
              <a:t> este aceea de a apela metoda </a:t>
            </a:r>
            <a:r>
              <a:rPr lang="ro-RO" sz="1600" dirty="0">
                <a:solidFill>
                  <a:srgbClr val="FF0000"/>
                </a:solidFill>
              </a:rPr>
              <a:t>stop</a:t>
            </a:r>
            <a:r>
              <a:rPr lang="ro-RO" sz="1600" dirty="0"/>
              <a:t> .</a:t>
            </a:r>
          </a:p>
          <a:p>
            <a:r>
              <a:rPr lang="ro-RO" sz="1600" dirty="0"/>
              <a:t>F</a:t>
            </a:r>
            <a:r>
              <a:rPr lang="ro-RO" sz="1600" dirty="0" smtClean="0"/>
              <a:t>irul </a:t>
            </a:r>
            <a:r>
              <a:rPr lang="ro-RO" sz="1600" dirty="0"/>
              <a:t>de </a:t>
            </a:r>
            <a:r>
              <a:rPr lang="ro-RO" sz="1600" dirty="0" err="1"/>
              <a:t>execuţie</a:t>
            </a:r>
            <a:r>
              <a:rPr lang="ro-RO" sz="1600" dirty="0"/>
              <a:t> poate fi terminat </a:t>
            </a:r>
            <a:r>
              <a:rPr lang="ro-RO" sz="1600" dirty="0" err="1"/>
              <a:t>şi</a:t>
            </a:r>
            <a:r>
              <a:rPr lang="ro-RO" sz="1600" dirty="0"/>
              <a:t> pe alte căi, caz în care metoda </a:t>
            </a:r>
            <a:r>
              <a:rPr lang="ro-RO" sz="1600" dirty="0">
                <a:solidFill>
                  <a:srgbClr val="FF0000"/>
                </a:solidFill>
              </a:rPr>
              <a:t>stop</a:t>
            </a:r>
            <a:r>
              <a:rPr lang="ro-RO" sz="1600" dirty="0"/>
              <a:t> nu este apelată. În aceste </a:t>
            </a:r>
            <a:r>
              <a:rPr lang="ro-RO" sz="1600" dirty="0" err="1"/>
              <a:t>situaţii</a:t>
            </a:r>
            <a:r>
              <a:rPr lang="ro-RO" sz="1600" dirty="0"/>
              <a:t> este preferabil să ne folosim de o clauză </a:t>
            </a:r>
            <a:r>
              <a:rPr lang="ro-RO" sz="1600" dirty="0" err="1"/>
              <a:t>fi</a:t>
            </a:r>
            <a:r>
              <a:rPr lang="ro-RO" sz="1600" dirty="0" err="1">
                <a:solidFill>
                  <a:srgbClr val="FF0000"/>
                </a:solidFill>
              </a:rPr>
              <a:t>n</a:t>
            </a:r>
            <a:r>
              <a:rPr lang="ro-RO" sz="1600" dirty="0" err="1"/>
              <a:t>ally</a:t>
            </a:r>
            <a:r>
              <a:rPr lang="ro-RO" sz="1600" dirty="0"/>
              <a:t> ca în exemplul următor: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…</a:t>
            </a:r>
          </a:p>
          <a:p>
            <a:pPr>
              <a:spcBef>
                <a:spcPts val="0"/>
              </a:spcBef>
            </a:pPr>
            <a:r>
              <a:rPr lang="ro-RO" sz="1600" dirty="0" err="1"/>
              <a:t>try</a:t>
            </a:r>
            <a:r>
              <a:rPr lang="ro-RO" sz="1600" dirty="0"/>
              <a:t> {</a:t>
            </a:r>
          </a:p>
          <a:p>
            <a:pPr>
              <a:spcBef>
                <a:spcPts val="0"/>
              </a:spcBef>
            </a:pPr>
            <a:r>
              <a:rPr lang="ro-RO" sz="1600" dirty="0" smtClean="0"/>
              <a:t>    </a:t>
            </a:r>
            <a:r>
              <a:rPr lang="ro-RO" sz="1600" dirty="0" err="1" smtClean="0"/>
              <a:t>firDeExecutie.start</a:t>
            </a:r>
            <a:r>
              <a:rPr lang="ro-RO" sz="1600" dirty="0"/>
              <a:t>( );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…</a:t>
            </a:r>
          </a:p>
          <a:p>
            <a:pPr>
              <a:spcBef>
                <a:spcPts val="0"/>
              </a:spcBef>
            </a:pPr>
            <a:r>
              <a:rPr lang="ro-RO" sz="1600" dirty="0"/>
              <a:t>} </a:t>
            </a:r>
            <a:r>
              <a:rPr lang="ro-RO" sz="1600" dirty="0" err="1"/>
              <a:t>finally</a:t>
            </a:r>
            <a:r>
              <a:rPr lang="ro-RO" sz="1600" dirty="0"/>
              <a:t> {</a:t>
            </a:r>
          </a:p>
          <a:p>
            <a:pPr>
              <a:spcBef>
                <a:spcPts val="0"/>
              </a:spcBef>
            </a:pPr>
            <a:r>
              <a:rPr lang="ro-RO" sz="1600" dirty="0" smtClean="0"/>
              <a:t>    ..// </a:t>
            </a:r>
            <a:r>
              <a:rPr lang="ro-RO" sz="1600" dirty="0" err="1"/>
              <a:t>curăţenie</a:t>
            </a:r>
            <a:endParaRPr lang="ro-RO" sz="1600" dirty="0"/>
          </a:p>
          <a:p>
            <a:pPr>
              <a:spcBef>
                <a:spcPts val="0"/>
              </a:spcBef>
            </a:pPr>
            <a:r>
              <a:rPr lang="ro-RO" sz="1600" dirty="0"/>
              <a:t>}</a:t>
            </a:r>
          </a:p>
          <a:p>
            <a:r>
              <a:rPr lang="ro-RO" sz="1600" dirty="0"/>
              <a:t>În fine, dacă nu se mai poate face nimic pentru că firul de </a:t>
            </a:r>
            <a:r>
              <a:rPr lang="ro-RO" sz="1600" dirty="0" err="1"/>
              <a:t>execuţie</a:t>
            </a:r>
            <a:r>
              <a:rPr lang="ro-RO" sz="1600" dirty="0"/>
              <a:t> nu mai răspunde la comenzi, </a:t>
            </a:r>
            <a:r>
              <a:rPr lang="ro-RO" sz="1600" dirty="0" err="1"/>
              <a:t>puteţi</a:t>
            </a:r>
            <a:r>
              <a:rPr lang="ro-RO" sz="1600" dirty="0"/>
              <a:t> apela la </a:t>
            </a:r>
            <a:r>
              <a:rPr lang="ro-RO" sz="1600" dirty="0" smtClean="0"/>
              <a:t>metoda </a:t>
            </a:r>
            <a:r>
              <a:rPr lang="ro-RO" sz="1600" dirty="0" err="1">
                <a:solidFill>
                  <a:srgbClr val="FF0000"/>
                </a:solidFill>
              </a:rPr>
              <a:t>destroy</a:t>
            </a:r>
            <a:r>
              <a:rPr lang="ro-RO" sz="1600" dirty="0"/>
              <a:t>. Din păcate, metoda </a:t>
            </a:r>
            <a:r>
              <a:rPr lang="ro-RO" sz="1600" dirty="0" err="1">
                <a:solidFill>
                  <a:srgbClr val="FF0000"/>
                </a:solidFill>
              </a:rPr>
              <a:t>destroy</a:t>
            </a:r>
            <a:r>
              <a:rPr lang="ro-RO" sz="1600" dirty="0"/>
              <a:t> termină firul de </a:t>
            </a:r>
            <a:r>
              <a:rPr lang="ro-RO" sz="1600" dirty="0" err="1"/>
              <a:t>execuţie</a:t>
            </a:r>
            <a:r>
              <a:rPr lang="ro-RO" sz="1600" dirty="0"/>
              <a:t> fără a proceda la </a:t>
            </a:r>
            <a:r>
              <a:rPr lang="ro-RO" sz="1600" dirty="0" err="1"/>
              <a:t>curăţirile</a:t>
            </a:r>
            <a:r>
              <a:rPr lang="ro-RO" sz="1600" dirty="0"/>
              <a:t> necesare în memorie.</a:t>
            </a:r>
          </a:p>
          <a:p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816094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Stările unui fir de </a:t>
            </a:r>
            <a:r>
              <a:rPr lang="ro-RO" b="1" dirty="0" err="1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Atunci când un fir de </a:t>
            </a:r>
            <a:r>
              <a:rPr lang="ro-RO" dirty="0" err="1"/>
              <a:t>execuţie</a:t>
            </a:r>
            <a:r>
              <a:rPr lang="ro-RO" dirty="0"/>
              <a:t> este oprit cu comanda </a:t>
            </a:r>
            <a:r>
              <a:rPr lang="ro-RO" dirty="0">
                <a:solidFill>
                  <a:srgbClr val="FF0000"/>
                </a:solidFill>
              </a:rPr>
              <a:t>stop</a:t>
            </a:r>
            <a:r>
              <a:rPr lang="ro-RO" dirty="0"/>
              <a:t>, mai este nevoie de un timp până când sistemul efectuează toate </a:t>
            </a:r>
            <a:r>
              <a:rPr lang="ro-RO" dirty="0" err="1"/>
              <a:t>operaţiile</a:t>
            </a:r>
            <a:r>
              <a:rPr lang="ro-RO" dirty="0"/>
              <a:t> necesare opririi. Din această cauză, este preferabil să </a:t>
            </a:r>
            <a:r>
              <a:rPr lang="ro-RO" dirty="0" err="1"/>
              <a:t>aşteptăm</a:t>
            </a:r>
            <a:r>
              <a:rPr lang="ro-RO" dirty="0"/>
              <a:t> în mod explicit terminarea firului prin apelul metodei </a:t>
            </a:r>
            <a:r>
              <a:rPr lang="ro-RO" dirty="0" err="1">
                <a:solidFill>
                  <a:srgbClr val="FF0000"/>
                </a:solidFill>
              </a:rPr>
              <a:t>join</a:t>
            </a:r>
            <a:r>
              <a:rPr lang="ro-RO" dirty="0"/>
              <a:t>:</a:t>
            </a:r>
          </a:p>
          <a:p>
            <a:r>
              <a:rPr lang="ro-RO" dirty="0" err="1"/>
              <a:t>firDeExecutie.stop</a:t>
            </a:r>
            <a:r>
              <a:rPr lang="ro-RO" dirty="0"/>
              <a:t>( )</a:t>
            </a:r>
          </a:p>
          <a:p>
            <a:r>
              <a:rPr lang="ro-RO" dirty="0" err="1"/>
              <a:t>try</a:t>
            </a:r>
            <a:r>
              <a:rPr lang="ro-RO" dirty="0"/>
              <a:t> {</a:t>
            </a:r>
          </a:p>
          <a:p>
            <a:r>
              <a:rPr lang="ro-RO" dirty="0" err="1"/>
              <a:t>firDeExecutie.join</a:t>
            </a:r>
            <a:r>
              <a:rPr lang="ro-RO" dirty="0"/>
              <a:t>( );</a:t>
            </a:r>
          </a:p>
          <a:p>
            <a:r>
              <a:rPr lang="ro-RO" dirty="0"/>
              <a:t>} catch( </a:t>
            </a:r>
            <a:r>
              <a:rPr lang="ro-RO" dirty="0" err="1"/>
              <a:t>InterruptedException</a:t>
            </a:r>
            <a:r>
              <a:rPr lang="ro-RO" dirty="0"/>
              <a:t> e ) {</a:t>
            </a:r>
          </a:p>
          <a:p>
            <a:r>
              <a:rPr lang="ro-RO" dirty="0"/>
              <a:t>…</a:t>
            </a:r>
          </a:p>
          <a:p>
            <a:r>
              <a:rPr lang="ro-RO" dirty="0"/>
              <a:t>}</a:t>
            </a:r>
          </a:p>
          <a:p>
            <a:r>
              <a:rPr lang="ro-RO" dirty="0" err="1"/>
              <a:t>Excepţia</a:t>
            </a:r>
            <a:r>
              <a:rPr lang="ro-RO" dirty="0"/>
              <a:t> de întrerupere trebuie interceptată obligatoriu. Dacă nu apelăm metoda </a:t>
            </a:r>
            <a:r>
              <a:rPr lang="ro-RO" dirty="0" err="1">
                <a:solidFill>
                  <a:srgbClr val="FF0000"/>
                </a:solidFill>
              </a:rPr>
              <a:t>join</a:t>
            </a:r>
            <a:r>
              <a:rPr lang="ro-RO" dirty="0"/>
              <a:t> pentru a </a:t>
            </a:r>
            <a:r>
              <a:rPr lang="ro-RO" dirty="0" err="1"/>
              <a:t>aştepta</a:t>
            </a:r>
            <a:r>
              <a:rPr lang="ro-RO" dirty="0"/>
              <a:t> terminarea </a:t>
            </a:r>
            <a:r>
              <a:rPr lang="ro-RO" dirty="0" err="1"/>
              <a:t>şi</a:t>
            </a:r>
            <a:r>
              <a:rPr lang="ro-RO" dirty="0"/>
              <a:t> metoda </a:t>
            </a:r>
            <a:r>
              <a:rPr lang="ro-RO" dirty="0">
                <a:solidFill>
                  <a:srgbClr val="FF0000"/>
                </a:solidFill>
              </a:rPr>
              <a:t>stop</a:t>
            </a:r>
            <a:r>
              <a:rPr lang="ro-RO" dirty="0"/>
              <a:t> este de exemplu apelată pe ultima linie a </a:t>
            </a:r>
            <a:r>
              <a:rPr lang="ro-RO" dirty="0" err="1"/>
              <a:t>funcţiei</a:t>
            </a:r>
            <a:r>
              <a:rPr lang="ro-RO" dirty="0"/>
              <a:t> </a:t>
            </a:r>
            <a:r>
              <a:rPr lang="ro-RO" dirty="0" err="1">
                <a:solidFill>
                  <a:srgbClr val="FF0000"/>
                </a:solidFill>
              </a:rPr>
              <a:t>main</a:t>
            </a:r>
            <a:r>
              <a:rPr lang="ro-RO" dirty="0"/>
              <a:t> , există </a:t>
            </a:r>
            <a:r>
              <a:rPr lang="ro-RO" dirty="0" err="1"/>
              <a:t>şansa</a:t>
            </a:r>
            <a:r>
              <a:rPr lang="ro-RO" dirty="0"/>
              <a:t> ca sistemul să creadă că firul auxiliar de </a:t>
            </a:r>
            <a:r>
              <a:rPr lang="ro-RO" dirty="0" err="1"/>
              <a:t>execuţie</a:t>
            </a:r>
            <a:r>
              <a:rPr lang="ro-RO" dirty="0"/>
              <a:t> este încă în </a:t>
            </a:r>
            <a:r>
              <a:rPr lang="ro-RO" dirty="0" err="1"/>
              <a:t>viaţă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dirty="0" err="1"/>
              <a:t>aplicaţia</a:t>
            </a:r>
            <a:r>
              <a:rPr lang="ro-RO" dirty="0"/>
              <a:t> Java să nu se mai termine rămânând într-o stare de </a:t>
            </a:r>
            <a:r>
              <a:rPr lang="ro-RO" dirty="0" err="1"/>
              <a:t>aşteptare</a:t>
            </a:r>
            <a:r>
              <a:rPr lang="ro-RO" dirty="0"/>
              <a:t>. O </a:t>
            </a:r>
            <a:r>
              <a:rPr lang="ro-RO" dirty="0" err="1"/>
              <a:t>puteţi</a:t>
            </a:r>
            <a:r>
              <a:rPr lang="ro-RO" dirty="0"/>
              <a:t> desigur termina tastând ^C.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5223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Prioritatea firelor de </a:t>
            </a:r>
            <a:r>
              <a:rPr lang="ro-RO" b="1" dirty="0" err="1" smtClean="0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/>
              <a:t>Fiecare fir de </a:t>
            </a:r>
            <a:r>
              <a:rPr lang="ro-RO" dirty="0" err="1"/>
              <a:t>execuţie</a:t>
            </a:r>
            <a:r>
              <a:rPr lang="ro-RO" dirty="0"/>
              <a:t> are o prioritate cuprinsă între valorile </a:t>
            </a:r>
            <a:r>
              <a:rPr lang="ro-RO" dirty="0">
                <a:solidFill>
                  <a:srgbClr val="FF0000"/>
                </a:solidFill>
              </a:rPr>
              <a:t>MIN_PRIORITY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dirty="0">
                <a:solidFill>
                  <a:srgbClr val="FF0000"/>
                </a:solidFill>
              </a:rPr>
              <a:t>MAX_PRIORITY</a:t>
            </a:r>
            <a:r>
              <a:rPr lang="ro-RO" dirty="0"/>
              <a:t>. Aceste două variabile finale sunt declarate în clasa </a:t>
            </a:r>
            <a:r>
              <a:rPr lang="ro-RO" dirty="0" err="1">
                <a:solidFill>
                  <a:srgbClr val="FF0000"/>
                </a:solidFill>
              </a:rPr>
              <a:t>Thread</a:t>
            </a:r>
            <a:r>
              <a:rPr lang="ro-RO" dirty="0"/>
              <a:t>. În mod normal însă, un fir de </a:t>
            </a:r>
            <a:r>
              <a:rPr lang="ro-RO" dirty="0" err="1"/>
              <a:t>execuţie</a:t>
            </a:r>
            <a:r>
              <a:rPr lang="ro-RO" dirty="0"/>
              <a:t> are prioritatea </a:t>
            </a:r>
            <a:r>
              <a:rPr lang="ro-RO" dirty="0">
                <a:solidFill>
                  <a:srgbClr val="FF0000"/>
                </a:solidFill>
              </a:rPr>
              <a:t>NORM_PRIORITY</a:t>
            </a:r>
            <a:r>
              <a:rPr lang="ro-RO" dirty="0"/>
              <a:t>, de asemenea definită în clasa </a:t>
            </a:r>
            <a:r>
              <a:rPr lang="ro-RO" dirty="0" err="1">
                <a:solidFill>
                  <a:srgbClr val="FF0000"/>
                </a:solidFill>
              </a:rPr>
              <a:t>Thread</a:t>
            </a:r>
            <a:r>
              <a:rPr lang="ro-RO" dirty="0"/>
              <a:t> .</a:t>
            </a:r>
          </a:p>
          <a:p>
            <a:r>
              <a:rPr lang="ro-RO" dirty="0"/>
              <a:t>Mediul de </a:t>
            </a:r>
            <a:r>
              <a:rPr lang="ro-RO" dirty="0" err="1"/>
              <a:t>execuţie</a:t>
            </a:r>
            <a:r>
              <a:rPr lang="ro-RO" dirty="0"/>
              <a:t> Java planifică firele de </a:t>
            </a:r>
            <a:r>
              <a:rPr lang="ro-RO" dirty="0" err="1"/>
              <a:t>execuţie</a:t>
            </a:r>
            <a:r>
              <a:rPr lang="ro-RO" dirty="0"/>
              <a:t> la controlul </a:t>
            </a:r>
            <a:r>
              <a:rPr lang="ro-RO" dirty="0" err="1"/>
              <a:t>unităţii</a:t>
            </a:r>
            <a:r>
              <a:rPr lang="ro-RO" dirty="0"/>
              <a:t> centrale în </a:t>
            </a:r>
            <a:r>
              <a:rPr lang="ro-RO" dirty="0" err="1"/>
              <a:t>funcţie</a:t>
            </a:r>
            <a:r>
              <a:rPr lang="ro-RO" dirty="0"/>
              <a:t> de prioritatea lor. Dacă există mai multe fire cu prioritate maximă, acestea sunt planificate după un algoritm numit </a:t>
            </a:r>
            <a:r>
              <a:rPr lang="ro-RO" dirty="0" err="1"/>
              <a:t>round-robin</a:t>
            </a:r>
            <a:r>
              <a:rPr lang="ro-RO" dirty="0"/>
              <a:t>. Firele de prioritate mai mică intră în calcul doar atunci când toate firele de prioritate mare sunt în starea </a:t>
            </a:r>
            <a:r>
              <a:rPr lang="ro-RO" dirty="0">
                <a:solidFill>
                  <a:srgbClr val="FF0000"/>
                </a:solidFill>
              </a:rPr>
              <a:t>Nu Rulează </a:t>
            </a:r>
            <a:r>
              <a:rPr lang="ro-RO" dirty="0"/>
              <a:t>.</a:t>
            </a:r>
          </a:p>
          <a:p>
            <a:r>
              <a:rPr lang="ro-RO" dirty="0"/>
              <a:t>Prioritatea unui fir de </a:t>
            </a:r>
            <a:r>
              <a:rPr lang="ro-RO" dirty="0" err="1"/>
              <a:t>execuţie</a:t>
            </a:r>
            <a:r>
              <a:rPr lang="ro-RO" dirty="0"/>
              <a:t> se poate interoga cu metoda </a:t>
            </a:r>
            <a:r>
              <a:rPr lang="ro-RO" dirty="0" err="1">
                <a:solidFill>
                  <a:srgbClr val="FF0000"/>
                </a:solidFill>
              </a:rPr>
              <a:t>getPriority</a:t>
            </a:r>
            <a:r>
              <a:rPr lang="ro-RO" dirty="0"/>
              <a:t> care întoarce un număr întreg care reprezintă prioritatea curentă a firului de </a:t>
            </a:r>
            <a:r>
              <a:rPr lang="ro-RO" dirty="0" err="1"/>
              <a:t>execuţie</a:t>
            </a:r>
            <a:r>
              <a:rPr lang="ro-RO" dirty="0"/>
              <a:t>. Pentru a seta prioritatea, se </a:t>
            </a:r>
            <a:r>
              <a:rPr lang="ro-RO" dirty="0" err="1"/>
              <a:t>foloseşte</a:t>
            </a:r>
            <a:r>
              <a:rPr lang="ro-RO" dirty="0"/>
              <a:t> metoda </a:t>
            </a:r>
            <a:r>
              <a:rPr lang="ro-RO" dirty="0" err="1">
                <a:solidFill>
                  <a:srgbClr val="FF0000"/>
                </a:solidFill>
              </a:rPr>
              <a:t>setPriority</a:t>
            </a:r>
            <a:r>
              <a:rPr lang="ro-RO" dirty="0"/>
              <a:t> care </a:t>
            </a:r>
            <a:r>
              <a:rPr lang="ro-RO" dirty="0" err="1"/>
              <a:t>primeşte</a:t>
            </a:r>
            <a:r>
              <a:rPr lang="ro-RO" dirty="0"/>
              <a:t> ca parametru un număr întreg care reprezintă prioritatea dorită</a:t>
            </a:r>
            <a:r>
              <a:rPr lang="ro-RO" dirty="0" smtClean="0"/>
              <a:t>.</a:t>
            </a:r>
          </a:p>
          <a:p>
            <a:r>
              <a:rPr lang="ro-RO" dirty="0"/>
              <a:t>Există însă </a:t>
            </a:r>
            <a:r>
              <a:rPr lang="ro-RO" dirty="0" err="1"/>
              <a:t>situaţii</a:t>
            </a:r>
            <a:r>
              <a:rPr lang="ro-RO" dirty="0"/>
              <a:t> în care putem schimba această prioritate fără pericol, de exemplu când avem un fir de </a:t>
            </a:r>
            <a:r>
              <a:rPr lang="ro-RO" dirty="0" err="1"/>
              <a:t>execuţie</a:t>
            </a:r>
            <a:r>
              <a:rPr lang="ro-RO" dirty="0"/>
              <a:t> care nu face altceva decât să citească caractere de la utilizator </a:t>
            </a:r>
            <a:r>
              <a:rPr lang="ro-RO" dirty="0" err="1"/>
              <a:t>şi</a:t>
            </a:r>
            <a:r>
              <a:rPr lang="ro-RO" dirty="0"/>
              <a:t> să le memoreze într-o zonă temporară. În acest caz, firul de </a:t>
            </a:r>
            <a:r>
              <a:rPr lang="ro-RO" dirty="0" err="1"/>
              <a:t>execuţie</a:t>
            </a:r>
            <a:r>
              <a:rPr lang="ro-RO" dirty="0"/>
              <a:t> este în cea mai mare parte a timpului în starea </a:t>
            </a:r>
            <a:r>
              <a:rPr lang="ro-RO" dirty="0">
                <a:solidFill>
                  <a:srgbClr val="FF0000"/>
                </a:solidFill>
              </a:rPr>
              <a:t>Nu Rulează</a:t>
            </a:r>
            <a:r>
              <a:rPr lang="ro-RO" dirty="0"/>
              <a:t> din cauză că </a:t>
            </a:r>
            <a:r>
              <a:rPr lang="ro-RO" dirty="0" err="1"/>
              <a:t>aşteaptă</a:t>
            </a:r>
            <a:r>
              <a:rPr lang="ro-RO" dirty="0"/>
              <a:t> terminarea unei </a:t>
            </a:r>
            <a:r>
              <a:rPr lang="ro-RO" dirty="0" err="1"/>
              <a:t>operaţii</a:t>
            </a:r>
            <a:r>
              <a:rPr lang="ro-RO" dirty="0"/>
              <a:t> de intrare/</a:t>
            </a:r>
            <a:r>
              <a:rPr lang="ro-RO" dirty="0" err="1"/>
              <a:t>ieşire</a:t>
            </a:r>
            <a:r>
              <a:rPr lang="ro-RO" dirty="0"/>
              <a:t>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76281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Prioritatea firelor de </a:t>
            </a:r>
            <a:r>
              <a:rPr lang="ro-RO" b="1" dirty="0" err="1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În alte </a:t>
            </a:r>
            <a:r>
              <a:rPr lang="ro-RO" dirty="0" err="1"/>
              <a:t>situaţii</a:t>
            </a:r>
            <a:r>
              <a:rPr lang="ro-RO" dirty="0"/>
              <a:t>, avem de executat o sarcină cu prioritate mică. În aceste cazuri, putem seta pentru firul de </a:t>
            </a:r>
            <a:r>
              <a:rPr lang="ro-RO" dirty="0" err="1"/>
              <a:t>execuţie</a:t>
            </a:r>
            <a:r>
              <a:rPr lang="ro-RO" dirty="0"/>
              <a:t> care execută aceste sarcini o prioritate redusă</a:t>
            </a:r>
            <a:r>
              <a:rPr lang="ro-RO" dirty="0" smtClean="0"/>
              <a:t>.</a:t>
            </a:r>
          </a:p>
          <a:p>
            <a:r>
              <a:rPr lang="ro-RO" dirty="0" smtClean="0"/>
              <a:t>Alternativ</a:t>
            </a:r>
            <a:r>
              <a:rPr lang="ro-RO" dirty="0"/>
              <a:t>, putem defini firul respectiv de </a:t>
            </a:r>
            <a:r>
              <a:rPr lang="ro-RO" dirty="0" err="1"/>
              <a:t>execuţie</a:t>
            </a:r>
            <a:r>
              <a:rPr lang="ro-RO" dirty="0"/>
              <a:t> ca un </a:t>
            </a:r>
            <a:r>
              <a:rPr lang="ro-RO" dirty="0">
                <a:solidFill>
                  <a:srgbClr val="FF0000"/>
                </a:solidFill>
              </a:rPr>
              <a:t>demon</a:t>
            </a:r>
            <a:r>
              <a:rPr lang="ro-RO" dirty="0"/>
              <a:t>. </a:t>
            </a:r>
            <a:endParaRPr lang="ro-RO" dirty="0" smtClean="0"/>
          </a:p>
          <a:p>
            <a:r>
              <a:rPr lang="ro-RO" dirty="0" smtClean="0"/>
              <a:t>Dezavantajul </a:t>
            </a:r>
            <a:r>
              <a:rPr lang="ro-RO" dirty="0"/>
              <a:t>în această </a:t>
            </a:r>
            <a:r>
              <a:rPr lang="ro-RO" dirty="0" err="1"/>
              <a:t>situaţie</a:t>
            </a:r>
            <a:r>
              <a:rPr lang="ro-RO" dirty="0"/>
              <a:t> este faptul că </a:t>
            </a:r>
            <a:r>
              <a:rPr lang="ro-RO" dirty="0" err="1"/>
              <a:t>aplicaţia</a:t>
            </a:r>
            <a:r>
              <a:rPr lang="ro-RO" dirty="0"/>
              <a:t> va fi terminată atunci când există doar demoni în lucru </a:t>
            </a:r>
            <a:r>
              <a:rPr lang="ro-RO" dirty="0" err="1"/>
              <a:t>şi</a:t>
            </a:r>
            <a:r>
              <a:rPr lang="ro-RO" dirty="0"/>
              <a:t> există posibilitatea pierderii de date. </a:t>
            </a:r>
            <a:endParaRPr lang="ro-RO" dirty="0" smtClean="0"/>
          </a:p>
          <a:p>
            <a:r>
              <a:rPr lang="ro-RO" dirty="0" smtClean="0"/>
              <a:t>Pentru </a:t>
            </a:r>
            <a:r>
              <a:rPr lang="ro-RO" dirty="0"/>
              <a:t>a declara un fir de </a:t>
            </a:r>
            <a:r>
              <a:rPr lang="ro-RO" dirty="0" err="1"/>
              <a:t>execuţie</a:t>
            </a:r>
            <a:r>
              <a:rPr lang="ro-RO" dirty="0"/>
              <a:t> ca demon, putem apela metoda </a:t>
            </a:r>
            <a:r>
              <a:rPr lang="ro-RO" dirty="0" err="1">
                <a:solidFill>
                  <a:srgbClr val="FF0000"/>
                </a:solidFill>
              </a:rPr>
              <a:t>setDaemon</a:t>
            </a:r>
            <a:r>
              <a:rPr lang="ro-RO" dirty="0"/>
              <a:t>. Această metodă </a:t>
            </a:r>
            <a:r>
              <a:rPr lang="ro-RO" dirty="0" err="1"/>
              <a:t>primeşte</a:t>
            </a:r>
            <a:r>
              <a:rPr lang="ro-RO" dirty="0"/>
              <a:t> ca parametru o valoare booleană care dacă este </a:t>
            </a:r>
            <a:r>
              <a:rPr lang="ro-RO" dirty="0" err="1"/>
              <a:t>true</a:t>
            </a:r>
            <a:r>
              <a:rPr lang="ro-RO" dirty="0"/>
              <a:t> firul este făcut demon </a:t>
            </a:r>
            <a:r>
              <a:rPr lang="ro-RO" dirty="0" err="1"/>
              <a:t>şi</a:t>
            </a:r>
            <a:r>
              <a:rPr lang="ro-RO" dirty="0"/>
              <a:t> dacă nu este adus înapoi la starea normală. </a:t>
            </a:r>
            <a:endParaRPr lang="ro-RO" dirty="0" smtClean="0"/>
          </a:p>
          <a:p>
            <a:r>
              <a:rPr lang="ro-RO" dirty="0" smtClean="0"/>
              <a:t>Putem </a:t>
            </a:r>
            <a:r>
              <a:rPr lang="ro-RO" dirty="0"/>
              <a:t>testa faptul că un fir de </a:t>
            </a:r>
            <a:r>
              <a:rPr lang="ro-RO" dirty="0" err="1"/>
              <a:t>execuţie</a:t>
            </a:r>
            <a:r>
              <a:rPr lang="ro-RO" dirty="0"/>
              <a:t> este demon sau nu cu metoda </a:t>
            </a:r>
            <a:r>
              <a:rPr lang="ro-RO" dirty="0" err="1">
                <a:solidFill>
                  <a:srgbClr val="FF0000"/>
                </a:solidFill>
              </a:rPr>
              <a:t>isDemon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460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Grupuri de fire de </a:t>
            </a:r>
            <a:r>
              <a:rPr lang="ro-RO" b="1" dirty="0" err="1" smtClean="0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 Din acest motiv, este util să putem grupa firele de </a:t>
            </a:r>
            <a:r>
              <a:rPr lang="ro-RO" dirty="0" err="1"/>
              <a:t>execuţie</a:t>
            </a:r>
            <a:r>
              <a:rPr lang="ro-RO" dirty="0"/>
              <a:t> pe grupuri. Această </a:t>
            </a:r>
            <a:r>
              <a:rPr lang="ro-RO" dirty="0" err="1"/>
              <a:t>funcţionalitate</a:t>
            </a:r>
            <a:r>
              <a:rPr lang="ro-RO" dirty="0"/>
              <a:t> este oferită în Java de către o clasă numită </a:t>
            </a:r>
            <a:r>
              <a:rPr lang="ro-RO" dirty="0" err="1">
                <a:solidFill>
                  <a:srgbClr val="FF0000"/>
                </a:solidFill>
              </a:rPr>
              <a:t>ThreadGroup</a:t>
            </a:r>
            <a:r>
              <a:rPr lang="ro-RO" dirty="0"/>
              <a:t> .</a:t>
            </a:r>
          </a:p>
          <a:p>
            <a:r>
              <a:rPr lang="ro-RO" dirty="0"/>
              <a:t>La pornirea unei </a:t>
            </a:r>
            <a:r>
              <a:rPr lang="ro-RO" dirty="0" err="1"/>
              <a:t>aplicaţii</a:t>
            </a:r>
            <a:r>
              <a:rPr lang="ro-RO" dirty="0"/>
              <a:t> Java, se creează automat un prim grup de fire de </a:t>
            </a:r>
            <a:r>
              <a:rPr lang="ro-RO" dirty="0" err="1"/>
              <a:t>execuţie</a:t>
            </a:r>
            <a:r>
              <a:rPr lang="ro-RO" dirty="0"/>
              <a:t>, numit grupul principal, </a:t>
            </a:r>
            <a:r>
              <a:rPr lang="ro-RO" dirty="0" err="1">
                <a:solidFill>
                  <a:srgbClr val="FF0000"/>
                </a:solidFill>
              </a:rPr>
              <a:t>main</a:t>
            </a:r>
            <a:r>
              <a:rPr lang="ro-RO" dirty="0"/>
              <a:t>. Firul principal de </a:t>
            </a:r>
            <a:r>
              <a:rPr lang="ro-RO" dirty="0" err="1"/>
              <a:t>execuţie</a:t>
            </a:r>
            <a:r>
              <a:rPr lang="ro-RO" dirty="0"/>
              <a:t> face parte din acest grup. În continuare, ori de câte ori creăm un nou fir de </a:t>
            </a:r>
            <a:r>
              <a:rPr lang="ro-RO" dirty="0" err="1"/>
              <a:t>execuţie</a:t>
            </a:r>
            <a:r>
              <a:rPr lang="ro-RO" dirty="0"/>
              <a:t>, acesta va face parte din </a:t>
            </a:r>
            <a:r>
              <a:rPr lang="ro-RO" dirty="0" err="1"/>
              <a:t>acelaşi</a:t>
            </a:r>
            <a:r>
              <a:rPr lang="ro-RO" dirty="0"/>
              <a:t> grup de fire de </a:t>
            </a:r>
            <a:r>
              <a:rPr lang="ro-RO" dirty="0" err="1"/>
              <a:t>execuţie</a:t>
            </a:r>
            <a:r>
              <a:rPr lang="ro-RO" dirty="0"/>
              <a:t> ca </a:t>
            </a:r>
            <a:r>
              <a:rPr lang="ro-RO" dirty="0" err="1"/>
              <a:t>şi</a:t>
            </a:r>
            <a:r>
              <a:rPr lang="ro-RO" dirty="0"/>
              <a:t> firul de </a:t>
            </a:r>
            <a:r>
              <a:rPr lang="ro-RO" dirty="0" err="1"/>
              <a:t>execuţie</a:t>
            </a:r>
            <a:r>
              <a:rPr lang="ro-RO" dirty="0"/>
              <a:t> din interiorul căruia a fost creat, în afară de cazurile în care în constructorul firului specificăm explicit altceva.</a:t>
            </a:r>
          </a:p>
          <a:p>
            <a:r>
              <a:rPr lang="ro-RO" dirty="0"/>
              <a:t>Într-un grup de fire de </a:t>
            </a:r>
            <a:r>
              <a:rPr lang="ro-RO" dirty="0" err="1"/>
              <a:t>execuţie</a:t>
            </a:r>
            <a:r>
              <a:rPr lang="ro-RO" dirty="0"/>
              <a:t> putem defini nu numai fire dar </a:t>
            </a:r>
            <a:r>
              <a:rPr lang="ro-RO" dirty="0" err="1"/>
              <a:t>şi</a:t>
            </a:r>
            <a:r>
              <a:rPr lang="ro-RO" dirty="0"/>
              <a:t> alte grupuri de </a:t>
            </a:r>
            <a:r>
              <a:rPr lang="ro-RO" dirty="0" err="1"/>
              <a:t>execuţie</a:t>
            </a:r>
            <a:r>
              <a:rPr lang="ro-RO" dirty="0"/>
              <a:t>. Se creează astfel o </a:t>
            </a:r>
            <a:r>
              <a:rPr lang="ro-RO" dirty="0" err="1"/>
              <a:t>arborescenţă</a:t>
            </a:r>
            <a:r>
              <a:rPr lang="ro-RO" dirty="0"/>
              <a:t> a cărei rădăcină este grupul principal de fire de </a:t>
            </a:r>
            <a:r>
              <a:rPr lang="ro-RO" dirty="0" err="1"/>
              <a:t>execuţie</a:t>
            </a:r>
            <a:r>
              <a:rPr lang="ro-RO" dirty="0"/>
              <a:t>.</a:t>
            </a:r>
          </a:p>
          <a:p>
            <a:r>
              <a:rPr lang="ro-RO" dirty="0"/>
              <a:t>Pentru a specifica pentru un fir un nou grup de fire de </a:t>
            </a:r>
            <a:r>
              <a:rPr lang="ro-RO" dirty="0" err="1"/>
              <a:t>execuţie</a:t>
            </a:r>
            <a:r>
              <a:rPr lang="ro-RO" dirty="0"/>
              <a:t>, putem apela constructorii </a:t>
            </a:r>
            <a:r>
              <a:rPr lang="ro-RO" dirty="0" err="1"/>
              <a:t>obişnuiţi</a:t>
            </a:r>
            <a:r>
              <a:rPr lang="ro-RO" dirty="0"/>
              <a:t> dar introducând un prim parametru suplimentar de tip </a:t>
            </a:r>
            <a:r>
              <a:rPr lang="ro-RO" dirty="0" err="1">
                <a:solidFill>
                  <a:srgbClr val="FF0000"/>
                </a:solidFill>
              </a:rPr>
              <a:t>ThreadGroup</a:t>
            </a:r>
            <a:r>
              <a:rPr lang="ro-RO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75255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ThreadGroup</a:t>
            </a:r>
            <a:r>
              <a:rPr lang="ro-RO" dirty="0"/>
              <a:t> tg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ThreadGroup</a:t>
            </a:r>
            <a:r>
              <a:rPr lang="ro-RO" dirty="0"/>
              <a:t>( "Noul grup" );</a:t>
            </a:r>
          </a:p>
          <a:p>
            <a:r>
              <a:rPr lang="ro-RO" dirty="0" err="1"/>
              <a:t>Thread</a:t>
            </a:r>
            <a:r>
              <a:rPr lang="ro-RO" dirty="0"/>
              <a:t> t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Thread</a:t>
            </a:r>
            <a:r>
              <a:rPr lang="ro-RO" dirty="0"/>
              <a:t>( tg, "Firul de </a:t>
            </a:r>
            <a:r>
              <a:rPr lang="ro-RO" dirty="0" err="1"/>
              <a:t>executie</a:t>
            </a:r>
            <a:r>
              <a:rPr lang="ro-RO" dirty="0"/>
              <a:t>" );</a:t>
            </a:r>
          </a:p>
          <a:p>
            <a:r>
              <a:rPr lang="ro-RO" dirty="0"/>
              <a:t>Acest nou fir de </a:t>
            </a:r>
            <a:r>
              <a:rPr lang="ro-RO" dirty="0" err="1"/>
              <a:t>execuţie</a:t>
            </a:r>
            <a:r>
              <a:rPr lang="ro-RO" dirty="0"/>
              <a:t> va face parte dintr-un alt grup de fire decât firul principal. Putem afla grupul de fire de </a:t>
            </a:r>
            <a:r>
              <a:rPr lang="ro-RO" dirty="0" err="1"/>
              <a:t>execuţie</a:t>
            </a:r>
            <a:r>
              <a:rPr lang="ro-RO" dirty="0"/>
              <a:t> din care face parte un anumit fir apelând metoda </a:t>
            </a:r>
            <a:r>
              <a:rPr lang="ro-RO" dirty="0" err="1"/>
              <a:t>getThreadGroup</a:t>
            </a:r>
            <a:r>
              <a:rPr lang="ro-RO" dirty="0"/>
              <a:t> , ca în </a:t>
            </a:r>
            <a:r>
              <a:rPr lang="ro-RO" dirty="0" err="1"/>
              <a:t>secvenţa</a:t>
            </a:r>
            <a:r>
              <a:rPr lang="ro-RO" dirty="0"/>
              <a:t>:</a:t>
            </a:r>
          </a:p>
          <a:p>
            <a:r>
              <a:rPr lang="ro-RO" dirty="0" err="1"/>
              <a:t>Thread</a:t>
            </a:r>
            <a:r>
              <a:rPr lang="ro-RO" dirty="0"/>
              <a:t> t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Thread</a:t>
            </a:r>
            <a:r>
              <a:rPr lang="ro-RO" dirty="0"/>
              <a:t>( "Firul de </a:t>
            </a:r>
            <a:r>
              <a:rPr lang="ro-RO" dirty="0" err="1"/>
              <a:t>Executie</a:t>
            </a:r>
            <a:r>
              <a:rPr lang="ro-RO" dirty="0"/>
              <a:t>" );</a:t>
            </a:r>
          </a:p>
          <a:p>
            <a:r>
              <a:rPr lang="ro-RO" dirty="0" err="1"/>
              <a:t>ThreadGroup</a:t>
            </a:r>
            <a:r>
              <a:rPr lang="ro-RO" dirty="0"/>
              <a:t> tg = </a:t>
            </a:r>
            <a:r>
              <a:rPr lang="ro-RO" dirty="0" err="1"/>
              <a:t>t.getThreadGroup</a:t>
            </a:r>
            <a:r>
              <a:rPr lang="ro-RO" dirty="0"/>
              <a:t>();</a:t>
            </a:r>
          </a:p>
          <a:p>
            <a:r>
              <a:rPr lang="ro-RO" dirty="0" err="1"/>
              <a:t>Operaţiile</a:t>
            </a:r>
            <a:r>
              <a:rPr lang="ro-RO" dirty="0"/>
              <a:t> definite pentru un grup de fire de </a:t>
            </a:r>
            <a:r>
              <a:rPr lang="ro-RO" dirty="0" err="1"/>
              <a:t>execuţie</a:t>
            </a:r>
            <a:r>
              <a:rPr lang="ro-RO" dirty="0"/>
              <a:t> sunt clasificabile în </a:t>
            </a:r>
            <a:r>
              <a:rPr lang="ro-RO" dirty="0" err="1"/>
              <a:t>operaţii</a:t>
            </a:r>
            <a:r>
              <a:rPr lang="ro-RO" dirty="0"/>
              <a:t> care </a:t>
            </a:r>
            <a:r>
              <a:rPr lang="ro-RO" dirty="0" err="1"/>
              <a:t>acţionează</a:t>
            </a:r>
            <a:r>
              <a:rPr lang="ro-RO" dirty="0"/>
              <a:t> la nivelul grupului, cum ar fi aflarea numelui, setarea unei </a:t>
            </a:r>
            <a:r>
              <a:rPr lang="ro-RO" dirty="0" err="1"/>
              <a:t>priorităţi</a:t>
            </a:r>
            <a:r>
              <a:rPr lang="ro-RO" dirty="0"/>
              <a:t> maxime, etc.,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dirty="0" err="1"/>
              <a:t>operaţii</a:t>
            </a:r>
            <a:r>
              <a:rPr lang="ro-RO" dirty="0"/>
              <a:t> care </a:t>
            </a:r>
            <a:r>
              <a:rPr lang="ro-RO" dirty="0" err="1"/>
              <a:t>acţionează</a:t>
            </a:r>
            <a:r>
              <a:rPr lang="ro-RO" dirty="0"/>
              <a:t> asupra fiecărui fir de </a:t>
            </a:r>
            <a:r>
              <a:rPr lang="ro-RO" dirty="0" err="1"/>
              <a:t>execuţie</a:t>
            </a:r>
            <a:r>
              <a:rPr lang="ro-RO" dirty="0"/>
              <a:t> din grup, cum ar fi stop, suspend sau </a:t>
            </a:r>
            <a:r>
              <a:rPr lang="ro-RO" dirty="0" err="1"/>
              <a:t>resume</a:t>
            </a:r>
            <a:r>
              <a:rPr lang="ro-RO" dirty="0"/>
              <a:t>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50401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Enumerarea firelor de </a:t>
            </a:r>
            <a:r>
              <a:rPr lang="ro-RO" dirty="0" err="1"/>
              <a:t>execuţie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/>
              <a:t>Pentru a enumera firele de </a:t>
            </a:r>
            <a:r>
              <a:rPr lang="ro-RO" dirty="0" err="1"/>
              <a:t>execuţie</a:t>
            </a:r>
            <a:r>
              <a:rPr lang="ro-RO" dirty="0"/>
              <a:t> active la un moment dat, putem folosi metoda </a:t>
            </a:r>
            <a:r>
              <a:rPr lang="ro-RO" dirty="0">
                <a:solidFill>
                  <a:srgbClr val="FF0000"/>
                </a:solidFill>
              </a:rPr>
              <a:t>enumerate</a:t>
            </a:r>
            <a:r>
              <a:rPr lang="ro-RO" dirty="0"/>
              <a:t> definită în clasa </a:t>
            </a:r>
            <a:r>
              <a:rPr lang="ro-RO" dirty="0" err="1">
                <a:solidFill>
                  <a:srgbClr val="FF0000"/>
                </a:solidFill>
              </a:rPr>
              <a:t>Thread</a:t>
            </a:r>
            <a:r>
              <a:rPr lang="ro-RO" dirty="0"/>
              <a:t> precum </a:t>
            </a:r>
            <a:r>
              <a:rPr lang="ro-RO" dirty="0" err="1"/>
              <a:t>şi</a:t>
            </a:r>
            <a:r>
              <a:rPr lang="ro-RO" dirty="0"/>
              <a:t> în clasa </a:t>
            </a:r>
            <a:r>
              <a:rPr lang="ro-RO" dirty="0" err="1">
                <a:solidFill>
                  <a:srgbClr val="FF0000"/>
                </a:solidFill>
              </a:rPr>
              <a:t>ThreadGroup</a:t>
            </a:r>
            <a:r>
              <a:rPr lang="ro-RO" dirty="0"/>
              <a:t> . </a:t>
            </a:r>
            <a:endParaRPr lang="ro-RO" dirty="0" smtClean="0"/>
          </a:p>
          <a:p>
            <a:r>
              <a:rPr lang="ro-RO" dirty="0" smtClean="0"/>
              <a:t>Această </a:t>
            </a:r>
            <a:r>
              <a:rPr lang="ro-RO" dirty="0"/>
              <a:t>metodă </a:t>
            </a:r>
            <a:r>
              <a:rPr lang="ro-RO" dirty="0" err="1"/>
              <a:t>primeşte</a:t>
            </a:r>
            <a:r>
              <a:rPr lang="ro-RO" dirty="0"/>
              <a:t> ca parametru o </a:t>
            </a:r>
            <a:r>
              <a:rPr lang="ro-RO" dirty="0" err="1"/>
              <a:t>referinţă</a:t>
            </a:r>
            <a:r>
              <a:rPr lang="ro-RO" dirty="0"/>
              <a:t> către un tablou de </a:t>
            </a:r>
            <a:r>
              <a:rPr lang="ro-RO" dirty="0" err="1"/>
              <a:t>referinţe</a:t>
            </a:r>
            <a:r>
              <a:rPr lang="ro-RO" dirty="0"/>
              <a:t> la obiecte de tip </a:t>
            </a:r>
            <a:r>
              <a:rPr lang="ro-RO" dirty="0" err="1">
                <a:solidFill>
                  <a:srgbClr val="FF0000"/>
                </a:solidFill>
              </a:rPr>
              <a:t>Thread</a:t>
            </a:r>
            <a:r>
              <a:rPr lang="ro-RO" dirty="0"/>
              <a:t> pe care îl umple cu </a:t>
            </a:r>
            <a:r>
              <a:rPr lang="ro-RO" dirty="0" err="1"/>
              <a:t>referinţe</a:t>
            </a:r>
            <a:r>
              <a:rPr lang="ro-RO" dirty="0"/>
              <a:t> către fiecare fir activ în grupul specificat.</a:t>
            </a:r>
          </a:p>
          <a:p>
            <a:r>
              <a:rPr lang="ro-RO" dirty="0"/>
              <a:t>Pentru a afla câte fire active sunt în grupul respectiv la un moment dat, putem apela metoda </a:t>
            </a:r>
            <a:r>
              <a:rPr lang="ro-RO" dirty="0" err="1">
                <a:solidFill>
                  <a:srgbClr val="FF0000"/>
                </a:solidFill>
              </a:rPr>
              <a:t>activeCount</a:t>
            </a:r>
            <a:r>
              <a:rPr lang="ro-RO" dirty="0"/>
              <a:t> din clasa </a:t>
            </a:r>
            <a:r>
              <a:rPr lang="ro-RO" dirty="0" err="1"/>
              <a:t>ThreadGr</a:t>
            </a:r>
            <a:r>
              <a:rPr lang="ro-RO" dirty="0" err="1">
                <a:solidFill>
                  <a:srgbClr val="FF0000"/>
                </a:solidFill>
              </a:rPr>
              <a:t>o</a:t>
            </a:r>
            <a:r>
              <a:rPr lang="ro-RO" dirty="0" err="1"/>
              <a:t>up</a:t>
            </a:r>
            <a:r>
              <a:rPr lang="ro-RO" dirty="0"/>
              <a:t> . De exemplu:</a:t>
            </a:r>
          </a:p>
          <a:p>
            <a:r>
              <a:rPr lang="ro-RO" dirty="0" err="1"/>
              <a:t>ThreadGroup</a:t>
            </a:r>
            <a:r>
              <a:rPr lang="ro-RO" dirty="0"/>
              <a:t> grup = </a:t>
            </a:r>
            <a:r>
              <a:rPr lang="ro-RO" dirty="0" err="1"/>
              <a:t>Thread.currentThread</a:t>
            </a:r>
            <a:r>
              <a:rPr lang="ro-RO" dirty="0"/>
              <a:t>().</a:t>
            </a:r>
            <a:r>
              <a:rPr lang="ro-RO" dirty="0" err="1"/>
              <a:t>getThreadGroup</a:t>
            </a:r>
            <a:r>
              <a:rPr lang="ro-RO" dirty="0"/>
              <a:t>();</a:t>
            </a:r>
          </a:p>
          <a:p>
            <a:r>
              <a:rPr lang="ro-RO" dirty="0" err="1"/>
              <a:t>int</a:t>
            </a:r>
            <a:r>
              <a:rPr lang="ro-RO" dirty="0"/>
              <a:t> </a:t>
            </a:r>
            <a:r>
              <a:rPr lang="ro-RO" dirty="0" err="1"/>
              <a:t>numarFire</a:t>
            </a:r>
            <a:r>
              <a:rPr lang="ro-RO" dirty="0"/>
              <a:t> = </a:t>
            </a:r>
            <a:r>
              <a:rPr lang="ro-RO" dirty="0" err="1"/>
              <a:t>grup.activeCount</a:t>
            </a:r>
            <a:r>
              <a:rPr lang="ro-RO" dirty="0"/>
              <a:t>();</a:t>
            </a:r>
          </a:p>
          <a:p>
            <a:r>
              <a:rPr lang="ro-RO" dirty="0" err="1"/>
              <a:t>Thread</a:t>
            </a:r>
            <a:r>
              <a:rPr lang="ro-RO" dirty="0"/>
              <a:t> fire[]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Thread</a:t>
            </a:r>
            <a:r>
              <a:rPr lang="ro-RO" dirty="0"/>
              <a:t>[</a:t>
            </a:r>
            <a:r>
              <a:rPr lang="ro-RO" dirty="0" err="1"/>
              <a:t>numarFire</a:t>
            </a:r>
            <a:r>
              <a:rPr lang="ro-RO" dirty="0"/>
              <a:t>];</a:t>
            </a:r>
          </a:p>
          <a:p>
            <a:r>
              <a:rPr lang="ro-RO" dirty="0" err="1"/>
              <a:t>grup.enumerate</a:t>
            </a:r>
            <a:r>
              <a:rPr lang="ro-RO" dirty="0"/>
              <a:t>( fire );</a:t>
            </a:r>
          </a:p>
          <a:p>
            <a:r>
              <a:rPr lang="ro-RO" dirty="0"/>
              <a:t>for( </a:t>
            </a:r>
            <a:r>
              <a:rPr lang="ro-RO" dirty="0" err="1"/>
              <a:t>int</a:t>
            </a:r>
            <a:r>
              <a:rPr lang="ro-RO" dirty="0"/>
              <a:t> i = 0; i &lt; </a:t>
            </a:r>
            <a:r>
              <a:rPr lang="ro-RO" dirty="0" err="1"/>
              <a:t>numar</a:t>
            </a:r>
            <a:r>
              <a:rPr lang="ro-RO" dirty="0"/>
              <a:t>; i++ ) {</a:t>
            </a:r>
          </a:p>
          <a:p>
            <a:r>
              <a:rPr lang="ro-RO" dirty="0" smtClean="0"/>
              <a:t>      </a:t>
            </a:r>
            <a:r>
              <a:rPr lang="ro-RO" dirty="0" err="1" smtClean="0"/>
              <a:t>System.out.println</a:t>
            </a:r>
            <a:r>
              <a:rPr lang="ro-RO" dirty="0"/>
              <a:t>( fire[i].</a:t>
            </a:r>
            <a:r>
              <a:rPr lang="ro-RO" dirty="0" err="1"/>
              <a:t>toString</a:t>
            </a:r>
            <a:r>
              <a:rPr lang="ro-RO" dirty="0"/>
              <a:t>() </a:t>
            </a:r>
            <a:r>
              <a:rPr lang="ro-RO" dirty="0" smtClean="0"/>
              <a:t>);</a:t>
            </a:r>
          </a:p>
          <a:p>
            <a:r>
              <a:rPr lang="ro-RO" dirty="0"/>
              <a:t>Metoda enumerate întoarce numărul de fire memorate în tablou, care este identic cu numărul de fire active.</a:t>
            </a:r>
          </a:p>
        </p:txBody>
      </p:sp>
    </p:spTree>
    <p:extLst>
      <p:ext uri="{BB962C8B-B14F-4D97-AF65-F5344CB8AC3E}">
        <p14:creationId xmlns:p14="http://schemas.microsoft.com/office/powerpoint/2010/main" val="3470403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smtClean="0"/>
              <a:t>Sincronizare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 dirty="0"/>
              <a:t>În unele </a:t>
            </a:r>
            <a:r>
              <a:rPr lang="ro-RO" dirty="0" err="1"/>
              <a:t>situaţii</a:t>
            </a:r>
            <a:r>
              <a:rPr lang="ro-RO" dirty="0"/>
              <a:t> se poate întâmpla ca mai multe fire de </a:t>
            </a:r>
            <a:r>
              <a:rPr lang="ro-RO" dirty="0" err="1"/>
              <a:t>execuţie</a:t>
            </a:r>
            <a:r>
              <a:rPr lang="ro-RO" dirty="0"/>
              <a:t> să vrea să acceseze </a:t>
            </a:r>
            <a:r>
              <a:rPr lang="ro-RO" dirty="0" err="1"/>
              <a:t>aceeaşi</a:t>
            </a:r>
            <a:r>
              <a:rPr lang="ro-RO" dirty="0"/>
              <a:t> variabilă. În astfel de </a:t>
            </a:r>
            <a:r>
              <a:rPr lang="ro-RO" dirty="0" err="1"/>
              <a:t>situaţii</a:t>
            </a:r>
            <a:r>
              <a:rPr lang="ro-RO" dirty="0"/>
              <a:t>, se pot produce încurcături dacă în timpul unuia dintre accese un alt fir de </a:t>
            </a:r>
            <a:r>
              <a:rPr lang="ro-RO" dirty="0" err="1"/>
              <a:t>execuţie</a:t>
            </a:r>
            <a:r>
              <a:rPr lang="ro-RO" dirty="0"/>
              <a:t> modifică valoarea variabilei.</a:t>
            </a:r>
          </a:p>
          <a:p>
            <a:r>
              <a:rPr lang="ro-RO" dirty="0"/>
              <a:t>Limbajul Java oferă în mod nativ suport pentru protejarea acestor variabile. </a:t>
            </a:r>
            <a:r>
              <a:rPr lang="ro-RO" dirty="0" smtClean="0"/>
              <a:t>Putem </a:t>
            </a:r>
            <a:r>
              <a:rPr lang="ro-RO" dirty="0"/>
              <a:t>defini metode, în cadrul claselor, care sunt sincronizate. </a:t>
            </a:r>
          </a:p>
          <a:p>
            <a:r>
              <a:rPr lang="ro-RO" dirty="0"/>
              <a:t>Pe o </a:t>
            </a:r>
            <a:r>
              <a:rPr lang="ro-RO" dirty="0" err="1"/>
              <a:t>instanţă</a:t>
            </a:r>
            <a:r>
              <a:rPr lang="ro-RO" dirty="0"/>
              <a:t> de clasă, la un moment dat, poate lucra o singură metodă sincronizată. Dacă un alt fir de </a:t>
            </a:r>
            <a:r>
              <a:rPr lang="ro-RO" dirty="0" err="1"/>
              <a:t>execuţie</a:t>
            </a:r>
            <a:r>
              <a:rPr lang="ro-RO" dirty="0"/>
              <a:t> încearcă să apeleze </a:t>
            </a:r>
            <a:r>
              <a:rPr lang="ro-RO" dirty="0" err="1"/>
              <a:t>aceeaşi</a:t>
            </a:r>
            <a:r>
              <a:rPr lang="ro-RO" dirty="0"/>
              <a:t> metodă pe </a:t>
            </a:r>
            <a:r>
              <a:rPr lang="ro-RO" dirty="0" err="1"/>
              <a:t>aceeaşi</a:t>
            </a:r>
            <a:r>
              <a:rPr lang="ro-RO" dirty="0"/>
              <a:t> </a:t>
            </a:r>
            <a:r>
              <a:rPr lang="ro-RO" dirty="0" err="1"/>
              <a:t>instanţă</a:t>
            </a:r>
            <a:r>
              <a:rPr lang="ro-RO" dirty="0"/>
              <a:t> sau o altă metodă a clasei de asemenea declarată sincronizată, acest al doilea apel va trebui să </a:t>
            </a:r>
            <a:r>
              <a:rPr lang="ro-RO" dirty="0" err="1"/>
              <a:t>aştepte</a:t>
            </a:r>
            <a:r>
              <a:rPr lang="ro-RO" dirty="0"/>
              <a:t> înainte de </a:t>
            </a:r>
            <a:r>
              <a:rPr lang="ro-RO" dirty="0" err="1"/>
              <a:t>execuţie</a:t>
            </a:r>
            <a:r>
              <a:rPr lang="ro-RO" dirty="0"/>
              <a:t> eliberarea </a:t>
            </a:r>
            <a:r>
              <a:rPr lang="ro-RO" dirty="0" err="1"/>
              <a:t>instanţei</a:t>
            </a:r>
            <a:r>
              <a:rPr lang="ro-RO" dirty="0"/>
              <a:t> de către cealaltă metodă.</a:t>
            </a:r>
          </a:p>
          <a:p>
            <a:r>
              <a:rPr lang="ro-RO" dirty="0"/>
              <a:t>În afară de sincronizarea metodelor, se pot sincroniza </a:t>
            </a:r>
            <a:r>
              <a:rPr lang="ro-RO" dirty="0" err="1"/>
              <a:t>şi</a:t>
            </a:r>
            <a:r>
              <a:rPr lang="ro-RO" dirty="0"/>
              <a:t> doar blocuri de </a:t>
            </a:r>
            <a:r>
              <a:rPr lang="ro-RO" dirty="0" err="1"/>
              <a:t>instrucţiuni</a:t>
            </a:r>
            <a:r>
              <a:rPr lang="ro-RO" dirty="0"/>
              <a:t>. Aceste sincronizări se fac tot în legătură cu o anumită </a:t>
            </a:r>
            <a:r>
              <a:rPr lang="ro-RO" dirty="0" err="1"/>
              <a:t>instanţă</a:t>
            </a:r>
            <a:r>
              <a:rPr lang="ro-RO" dirty="0"/>
              <a:t> a unei clase. Aceste blocuri de </a:t>
            </a:r>
            <a:r>
              <a:rPr lang="ro-RO" dirty="0" err="1"/>
              <a:t>instrucţiuni</a:t>
            </a:r>
            <a:r>
              <a:rPr lang="ro-RO" dirty="0"/>
              <a:t> sincronizate se pot executa doar când </a:t>
            </a:r>
            <a:r>
              <a:rPr lang="ro-RO" dirty="0" err="1"/>
              <a:t>instanţa</a:t>
            </a:r>
            <a:r>
              <a:rPr lang="ro-RO" dirty="0"/>
              <a:t> este liberă. Se poate întâmpla ca cele două tipuri de sincronizări să se amestece, în sensul că obiectul poate fi blocat de un bloc de </a:t>
            </a:r>
            <a:r>
              <a:rPr lang="ro-RO" dirty="0" err="1"/>
              <a:t>instrucţiuni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toate metodele sincronizate să </a:t>
            </a:r>
            <a:r>
              <a:rPr lang="ro-RO" dirty="0" err="1"/>
              <a:t>aştepte</a:t>
            </a:r>
            <a:r>
              <a:rPr lang="ro-RO" dirty="0"/>
              <a:t>, sau invers.</a:t>
            </a:r>
          </a:p>
          <a:p>
            <a:r>
              <a:rPr lang="ro-RO" dirty="0"/>
              <a:t>Declararea unui bloc de </a:t>
            </a:r>
            <a:r>
              <a:rPr lang="ro-RO" dirty="0" err="1"/>
              <a:t>instrucţiuni</a:t>
            </a:r>
            <a:r>
              <a:rPr lang="ro-RO" dirty="0"/>
              <a:t> sincronizate se face prin:</a:t>
            </a:r>
          </a:p>
          <a:p>
            <a:r>
              <a:rPr lang="ro-RO" dirty="0" err="1"/>
              <a:t>synchronize</a:t>
            </a:r>
            <a:r>
              <a:rPr lang="ro-RO" dirty="0"/>
              <a:t> ( </a:t>
            </a:r>
            <a:r>
              <a:rPr lang="ro-RO" dirty="0" err="1"/>
              <a:t>Instanţă</a:t>
            </a:r>
            <a:r>
              <a:rPr lang="ro-RO" dirty="0"/>
              <a:t> ) {</a:t>
            </a:r>
          </a:p>
          <a:p>
            <a:r>
              <a:rPr lang="ro-RO" dirty="0" err="1"/>
              <a:t>Instrucţiuni</a:t>
            </a:r>
            <a:endParaRPr lang="ro-RO" dirty="0"/>
          </a:p>
          <a:p>
            <a:r>
              <a:rPr lang="ro-RO" dirty="0"/>
              <a:t>}</a:t>
            </a:r>
          </a:p>
          <a:p>
            <a:r>
              <a:rPr lang="ro-RO" dirty="0"/>
              <a:t>iar declararea unei metode sincronizate se face prin folosirea modificatorului </a:t>
            </a:r>
            <a:r>
              <a:rPr lang="ro-RO" dirty="0" err="1"/>
              <a:t>synchronize</a:t>
            </a:r>
            <a:r>
              <a:rPr lang="ro-RO" dirty="0"/>
              <a:t> la implementarea metodei.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9751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Exemplu. </a:t>
            </a:r>
            <a:r>
              <a:rPr lang="ro-RO" b="1" dirty="0"/>
              <a:t>Problema filozofilor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Exemplul următor implementează </a:t>
            </a:r>
            <a:r>
              <a:rPr lang="ro-RO" dirty="0" err="1"/>
              <a:t>soluţia</a:t>
            </a:r>
            <a:r>
              <a:rPr lang="ro-RO" dirty="0"/>
              <a:t> următoarei probleme: Într-o </a:t>
            </a:r>
            <a:r>
              <a:rPr lang="ro-RO" dirty="0" err="1"/>
              <a:t>ţară</a:t>
            </a:r>
            <a:r>
              <a:rPr lang="ro-RO" dirty="0"/>
              <a:t> foarte îndepărtată trăiau trei </a:t>
            </a:r>
            <a:r>
              <a:rPr lang="ro-RO" dirty="0" err="1"/>
              <a:t>înţelepţi</a:t>
            </a:r>
            <a:r>
              <a:rPr lang="ro-RO" dirty="0"/>
              <a:t> filozofi. </a:t>
            </a:r>
            <a:r>
              <a:rPr lang="ro-RO" dirty="0" err="1"/>
              <a:t>Aceşti</a:t>
            </a:r>
            <a:r>
              <a:rPr lang="ro-RO" dirty="0"/>
              <a:t> trei </a:t>
            </a:r>
            <a:r>
              <a:rPr lang="ro-RO" dirty="0" err="1"/>
              <a:t>înţelepţi</a:t>
            </a:r>
            <a:r>
              <a:rPr lang="ro-RO" dirty="0"/>
              <a:t> </a:t>
            </a:r>
            <a:r>
              <a:rPr lang="ro-RO" dirty="0" err="1"/>
              <a:t>îşi</a:t>
            </a:r>
            <a:r>
              <a:rPr lang="ro-RO" dirty="0"/>
              <a:t> pierdeau o mare parte din energie certându-se între ei pentru a afla care este cel mai </a:t>
            </a:r>
            <a:r>
              <a:rPr lang="ro-RO" dirty="0" err="1"/>
              <a:t>înţelept</a:t>
            </a:r>
            <a:r>
              <a:rPr lang="ro-RO" dirty="0"/>
              <a:t>. Pentru a </a:t>
            </a:r>
            <a:r>
              <a:rPr lang="ro-RO" dirty="0" err="1"/>
              <a:t>tranşa</a:t>
            </a:r>
            <a:r>
              <a:rPr lang="ro-RO" dirty="0"/>
              <a:t> problema o dată pentru totdeauna, cei trei </a:t>
            </a:r>
            <a:r>
              <a:rPr lang="ro-RO" dirty="0" err="1"/>
              <a:t>înţelepţi</a:t>
            </a:r>
            <a:r>
              <a:rPr lang="ro-RO" dirty="0"/>
              <a:t> au pornit la drum către un al patrulea </a:t>
            </a:r>
            <a:r>
              <a:rPr lang="ro-RO" dirty="0" err="1"/>
              <a:t>înţelept</a:t>
            </a:r>
            <a:r>
              <a:rPr lang="ro-RO" dirty="0"/>
              <a:t> pe care cu </a:t>
            </a:r>
            <a:r>
              <a:rPr lang="ro-RO" dirty="0" err="1"/>
              <a:t>toţii</a:t>
            </a:r>
            <a:r>
              <a:rPr lang="ro-RO" dirty="0"/>
              <a:t> îl </a:t>
            </a:r>
            <a:r>
              <a:rPr lang="ro-RO" dirty="0" err="1"/>
              <a:t>recunoşteau</a:t>
            </a:r>
            <a:r>
              <a:rPr lang="ro-RO" dirty="0"/>
              <a:t> că ar fi mai bun decât ei.</a:t>
            </a:r>
          </a:p>
          <a:p>
            <a:r>
              <a:rPr lang="ro-RO" dirty="0"/>
              <a:t>Când au ajuns la acesta, cei trei i-au cerut să le spună care dintre ei este cel mai </a:t>
            </a:r>
            <a:r>
              <a:rPr lang="ro-RO" dirty="0" err="1"/>
              <a:t>înţelept</a:t>
            </a:r>
            <a:r>
              <a:rPr lang="ro-RO" dirty="0"/>
              <a:t>. Acesta, a scos cinci pălării, trei negre </a:t>
            </a:r>
            <a:r>
              <a:rPr lang="ro-RO" dirty="0" err="1"/>
              <a:t>şi</a:t>
            </a:r>
            <a:r>
              <a:rPr lang="ro-RO" dirty="0"/>
              <a:t> două albe, </a:t>
            </a:r>
            <a:r>
              <a:rPr lang="ro-RO" dirty="0" err="1"/>
              <a:t>şi</a:t>
            </a:r>
            <a:r>
              <a:rPr lang="ro-RO" dirty="0"/>
              <a:t> li le-a arătat explicându-le că îi va lega la ochi </a:t>
            </a:r>
            <a:r>
              <a:rPr lang="ro-RO" dirty="0" err="1"/>
              <a:t>şi</a:t>
            </a:r>
            <a:r>
              <a:rPr lang="ro-RO" dirty="0"/>
              <a:t> le va pune în cap câte o pălărie, cele două rămase ascunzându-le. După aceea, le va dezlega ochii, </a:t>
            </a:r>
            <a:r>
              <a:rPr lang="ro-RO" dirty="0" err="1"/>
              <a:t>şi</a:t>
            </a:r>
            <a:r>
              <a:rPr lang="ro-RO" dirty="0"/>
              <a:t> fiecare dintre ei va vedea culoarea pălăriei </a:t>
            </a:r>
            <a:r>
              <a:rPr lang="ro-RO" dirty="0" err="1"/>
              <a:t>celorlalţi</a:t>
            </a:r>
            <a:r>
              <a:rPr lang="ro-RO" dirty="0"/>
              <a:t> dar nu </a:t>
            </a:r>
            <a:r>
              <a:rPr lang="ro-RO" dirty="0" err="1"/>
              <a:t>şi</a:t>
            </a:r>
            <a:r>
              <a:rPr lang="ro-RO" dirty="0"/>
              <a:t>-o va putea vedea pe a sa. Cel care </a:t>
            </a:r>
            <a:r>
              <a:rPr lang="ro-RO" dirty="0" err="1"/>
              <a:t>îşi</a:t>
            </a:r>
            <a:r>
              <a:rPr lang="ro-RO" dirty="0"/>
              <a:t> va da primul seama ce culoare are propria pălărie, acela va fi cel mai </a:t>
            </a:r>
            <a:r>
              <a:rPr lang="ro-RO" dirty="0" err="1"/>
              <a:t>înţelept</a:t>
            </a:r>
            <a:r>
              <a:rPr lang="ro-RO" dirty="0"/>
              <a:t>.</a:t>
            </a:r>
          </a:p>
          <a:p>
            <a:r>
              <a:rPr lang="ro-RO" dirty="0"/>
              <a:t>După </a:t>
            </a:r>
            <a:r>
              <a:rPr lang="ro-RO" dirty="0" err="1"/>
              <a:t>explicaţie</a:t>
            </a:r>
            <a:r>
              <a:rPr lang="ro-RO" dirty="0"/>
              <a:t>, </a:t>
            </a:r>
            <a:r>
              <a:rPr lang="ro-RO" dirty="0" err="1"/>
              <a:t>înţeleptul</a:t>
            </a:r>
            <a:r>
              <a:rPr lang="ro-RO" dirty="0"/>
              <a:t> i-a legat la ochi, le-a pus la fiecare câte o pălărie neagră </a:t>
            </a:r>
            <a:r>
              <a:rPr lang="ro-RO" dirty="0" err="1"/>
              <a:t>şi</a:t>
            </a:r>
            <a:r>
              <a:rPr lang="ro-RO" dirty="0"/>
              <a:t> le-a ascuns pe celelalte două. Problema este aceea de a descoperi care a fost </a:t>
            </a:r>
            <a:r>
              <a:rPr lang="ro-RO" dirty="0" err="1"/>
              <a:t>raţionamentul</a:t>
            </a:r>
            <a:r>
              <a:rPr lang="ro-RO" dirty="0"/>
              <a:t> celui care a ghicit primul că pălăria lui este neagră.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91396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Exemplu. </a:t>
            </a:r>
            <a:r>
              <a:rPr lang="ro-RO" b="1" dirty="0"/>
              <a:t>Problema filozofilor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o-RO" dirty="0"/>
              <a:t>Programul următor rezolvă problema dată în felul următor: Fiecare </a:t>
            </a:r>
            <a:r>
              <a:rPr lang="ro-RO" dirty="0" err="1"/>
              <a:t>înţelept</a:t>
            </a:r>
            <a:r>
              <a:rPr lang="ro-RO" dirty="0"/>
              <a:t> </a:t>
            </a:r>
            <a:r>
              <a:rPr lang="ro-RO" dirty="0" err="1"/>
              <a:t>priveşte</a:t>
            </a:r>
            <a:r>
              <a:rPr lang="ro-RO" dirty="0"/>
              <a:t> pălăriile </a:t>
            </a:r>
            <a:r>
              <a:rPr lang="ro-RO" dirty="0" err="1"/>
              <a:t>celorlalţi</a:t>
            </a:r>
            <a:r>
              <a:rPr lang="ro-RO" dirty="0"/>
              <a:t> doi. Dacă ambele sunt albe, problema este rezolvată, a lui nu poate fi decât neagră. Dacă vede o pălărie albă </a:t>
            </a:r>
            <a:r>
              <a:rPr lang="ro-RO" dirty="0" err="1"/>
              <a:t>şi</a:t>
            </a:r>
            <a:r>
              <a:rPr lang="ro-RO" dirty="0"/>
              <a:t> una neagră, atunci el va trebui să </a:t>
            </a:r>
            <a:r>
              <a:rPr lang="ro-RO" dirty="0" err="1"/>
              <a:t>aştepte</a:t>
            </a:r>
            <a:r>
              <a:rPr lang="ro-RO" dirty="0"/>
              <a:t> </a:t>
            </a:r>
            <a:r>
              <a:rPr lang="ro-RO" dirty="0" err="1"/>
              <a:t>puţin</a:t>
            </a:r>
            <a:r>
              <a:rPr lang="ro-RO" dirty="0"/>
              <a:t> să vadă ce spune cel cu pălăria neagră. Dacă acesta nu </a:t>
            </a:r>
            <a:r>
              <a:rPr lang="ro-RO" dirty="0" err="1"/>
              <a:t>găseşte</a:t>
            </a:r>
            <a:r>
              <a:rPr lang="ro-RO" dirty="0"/>
              <a:t> </a:t>
            </a:r>
            <a:r>
              <a:rPr lang="ro-RO" dirty="0" err="1"/>
              <a:t>soluţia</a:t>
            </a:r>
            <a:r>
              <a:rPr lang="ro-RO" dirty="0"/>
              <a:t>, înseamnă că el nu vede două pălării albe, altfel ar fi găsit imediat răspunsul. După un scurt timp de </a:t>
            </a:r>
            <a:r>
              <a:rPr lang="ro-RO" dirty="0" err="1"/>
              <a:t>aşteptare</a:t>
            </a:r>
            <a:r>
              <a:rPr lang="ro-RO" dirty="0"/>
              <a:t>, </a:t>
            </a:r>
            <a:r>
              <a:rPr lang="ro-RO" dirty="0" err="1"/>
              <a:t>înţeleptul</a:t>
            </a:r>
            <a:r>
              <a:rPr lang="ro-RO" dirty="0"/>
              <a:t> poate să fie sigur că pălăria lui este neagră.</a:t>
            </a:r>
          </a:p>
          <a:p>
            <a:r>
              <a:rPr lang="ro-RO" dirty="0"/>
              <a:t>În fine, dacă ambele pălării pe care le vede sunt negre, va trebui să </a:t>
            </a:r>
            <a:r>
              <a:rPr lang="ro-RO" dirty="0" err="1"/>
              <a:t>aştepte</a:t>
            </a:r>
            <a:r>
              <a:rPr lang="ro-RO" dirty="0"/>
              <a:t> un timp ceva mai lung pentru a vedea dacă unul dintre </a:t>
            </a:r>
            <a:r>
              <a:rPr lang="ro-RO" dirty="0" err="1"/>
              <a:t>concurenţii</a:t>
            </a:r>
            <a:r>
              <a:rPr lang="ro-RO" dirty="0"/>
              <a:t> săi nu </a:t>
            </a:r>
            <a:r>
              <a:rPr lang="ro-RO" dirty="0" err="1"/>
              <a:t>ghiceşte</a:t>
            </a:r>
            <a:r>
              <a:rPr lang="ro-RO" dirty="0"/>
              <a:t> pălăria. Dacă după scurgerea timpului nici unul nu spune nimic, înseamnă că nici unul nu vede o pălărie albă </a:t>
            </a:r>
            <a:r>
              <a:rPr lang="ro-RO" dirty="0" err="1"/>
              <a:t>şi</a:t>
            </a:r>
            <a:r>
              <a:rPr lang="ro-RO" dirty="0"/>
              <a:t> una neagră. Înseamnă că propria pălărie este neagră.</a:t>
            </a:r>
          </a:p>
          <a:p>
            <a:r>
              <a:rPr lang="ro-RO" dirty="0"/>
              <a:t>Desigur, </a:t>
            </a:r>
            <a:r>
              <a:rPr lang="ro-RO" dirty="0" err="1"/>
              <a:t>raţionamentul</a:t>
            </a:r>
            <a:r>
              <a:rPr lang="ro-RO" dirty="0"/>
              <a:t> pleacă de la ideea că ne putem baza pe faptul că </a:t>
            </a:r>
            <a:r>
              <a:rPr lang="ro-RO" dirty="0" err="1"/>
              <a:t>toţi</a:t>
            </a:r>
            <a:r>
              <a:rPr lang="ro-RO" dirty="0"/>
              <a:t> </a:t>
            </a:r>
            <a:r>
              <a:rPr lang="ro-RO" dirty="0" err="1"/>
              <a:t>înţelepţii</a:t>
            </a:r>
            <a:r>
              <a:rPr lang="ro-RO" dirty="0"/>
              <a:t> gândesc </a:t>
            </a:r>
            <a:r>
              <a:rPr lang="ro-RO" dirty="0" err="1"/>
              <a:t>şi</a:t>
            </a:r>
            <a:r>
              <a:rPr lang="ro-RO" dirty="0"/>
              <a:t> pot rezolva probleme </a:t>
            </a:r>
            <a:r>
              <a:rPr lang="ro-RO" dirty="0" err="1"/>
              <a:t>uşoare</a:t>
            </a:r>
            <a:r>
              <a:rPr lang="ro-RO" dirty="0"/>
              <a:t>. Cel care </a:t>
            </a:r>
            <a:r>
              <a:rPr lang="ro-RO" dirty="0" err="1"/>
              <a:t>câştigă</a:t>
            </a:r>
            <a:r>
              <a:rPr lang="ro-RO" dirty="0"/>
              <a:t> a gândit doar un pic mai repede. Putem simula viteza de gândire cu un interval </a:t>
            </a:r>
            <a:r>
              <a:rPr lang="ro-RO" dirty="0" err="1"/>
              <a:t>aleator</a:t>
            </a:r>
            <a:r>
              <a:rPr lang="ro-RO" dirty="0"/>
              <a:t> de </a:t>
            </a:r>
            <a:r>
              <a:rPr lang="ro-RO" dirty="0" err="1"/>
              <a:t>aşteptare</a:t>
            </a:r>
            <a:r>
              <a:rPr lang="ro-RO" dirty="0"/>
              <a:t> până la luarea deciziilor. În realitate, intervalul nu este </a:t>
            </a:r>
            <a:r>
              <a:rPr lang="ro-RO" dirty="0" err="1"/>
              <a:t>aleator</a:t>
            </a:r>
            <a:r>
              <a:rPr lang="ro-RO" dirty="0"/>
              <a:t> ci dictat de viteza de gândire a fiecărui </a:t>
            </a:r>
            <a:r>
              <a:rPr lang="ro-RO" dirty="0" err="1"/>
              <a:t>înţelept</a:t>
            </a:r>
            <a:r>
              <a:rPr lang="ro-RO" dirty="0"/>
              <a:t>.</a:t>
            </a:r>
          </a:p>
          <a:p>
            <a:r>
              <a:rPr lang="ro-RO" dirty="0"/>
              <a:t>Cei trei </a:t>
            </a:r>
            <a:r>
              <a:rPr lang="ro-RO" dirty="0" err="1"/>
              <a:t>înţelepţi</a:t>
            </a:r>
            <a:r>
              <a:rPr lang="ro-RO" dirty="0"/>
              <a:t> sunt </a:t>
            </a:r>
            <a:r>
              <a:rPr lang="ro-RO" dirty="0" err="1"/>
              <a:t>implementaţi</a:t>
            </a:r>
            <a:r>
              <a:rPr lang="ro-RO" dirty="0"/>
              <a:t> identic sub formă de fire de </a:t>
            </a:r>
            <a:r>
              <a:rPr lang="ro-RO" dirty="0" err="1"/>
              <a:t>execuţie</a:t>
            </a:r>
            <a:r>
              <a:rPr lang="ro-RO" dirty="0"/>
              <a:t>. Nu </a:t>
            </a:r>
            <a:r>
              <a:rPr lang="ro-RO" dirty="0" err="1"/>
              <a:t>câştigă</a:t>
            </a:r>
            <a:r>
              <a:rPr lang="ro-RO" dirty="0"/>
              <a:t> la fiecare rulare </a:t>
            </a:r>
            <a:r>
              <a:rPr lang="ro-RO" dirty="0" err="1"/>
              <a:t>acelaşi</a:t>
            </a:r>
            <a:r>
              <a:rPr lang="ro-RO" dirty="0"/>
              <a:t> din cauza caracterului </a:t>
            </a:r>
            <a:r>
              <a:rPr lang="ro-RO" dirty="0" err="1"/>
              <a:t>aleator</a:t>
            </a:r>
            <a:r>
              <a:rPr lang="ro-RO" dirty="0"/>
              <a:t> al implementării. </a:t>
            </a:r>
            <a:r>
              <a:rPr lang="ro-RO" dirty="0" err="1"/>
              <a:t>Înţeleptul</a:t>
            </a:r>
            <a:r>
              <a:rPr lang="ro-RO" dirty="0"/>
              <a:t> cel mare este firul de </a:t>
            </a:r>
            <a:r>
              <a:rPr lang="ro-RO" dirty="0" err="1"/>
              <a:t>execuţie</a:t>
            </a:r>
            <a:r>
              <a:rPr lang="ro-RO" dirty="0"/>
              <a:t> principal care controlează activitatea celorlalte fire </a:t>
            </a:r>
            <a:r>
              <a:rPr lang="ro-RO" dirty="0" err="1"/>
              <a:t>şi</a:t>
            </a:r>
            <a:r>
              <a:rPr lang="ro-RO" dirty="0"/>
              <a:t> le </a:t>
            </a:r>
            <a:r>
              <a:rPr lang="ro-RO" dirty="0" err="1"/>
              <a:t>serveşte</a:t>
            </a:r>
            <a:r>
              <a:rPr lang="ro-RO" dirty="0"/>
              <a:t> cu date, culoarea pălăriilor, doar în măsura în care aceste date trebuie să fie accesibile. Adică nu se poate cere propria culoare de pălărie.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43205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10950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705</TotalTime>
  <Words>3451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Retrospect</vt:lpstr>
      <vt:lpstr>Fire de execuție</vt:lpstr>
      <vt:lpstr>Fire de execuţie şi sincronizare</vt:lpstr>
      <vt:lpstr>Fire de execuţie şi sincronizare</vt:lpstr>
      <vt:lpstr>Fire de execuţie şi sincronizare</vt:lpstr>
      <vt:lpstr>Crearea firelor de execuţie</vt:lpstr>
      <vt:lpstr>Exemplu</vt:lpstr>
      <vt:lpstr>Exemplu</vt:lpstr>
      <vt:lpstr>Creare prin implementare interfața Runnable</vt:lpstr>
      <vt:lpstr>Stările unui fir de execuţie</vt:lpstr>
      <vt:lpstr>Stările unui fir de execuţie</vt:lpstr>
      <vt:lpstr>Stările unui fir de execuţie</vt:lpstr>
      <vt:lpstr>Stările unui fir de execuţie</vt:lpstr>
      <vt:lpstr>Stările unui fir de execuţie</vt:lpstr>
      <vt:lpstr>Prioritatea firelor de execuţie</vt:lpstr>
      <vt:lpstr>Prioritatea firelor de execuţie</vt:lpstr>
      <vt:lpstr>Grupuri de fire de execuţie</vt:lpstr>
      <vt:lpstr>Exemplu</vt:lpstr>
      <vt:lpstr>Enumerarea firelor de execuţie</vt:lpstr>
      <vt:lpstr>Sincronizare</vt:lpstr>
      <vt:lpstr>Exemplu. Problema filozofilor</vt:lpstr>
      <vt:lpstr>Exemplu. Problema filozofilor</vt:lpstr>
      <vt:lpstr>PowerPoint Presentation</vt:lpstr>
    </vt:vector>
  </TitlesOfParts>
  <Company>UPT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de execuție</dc:title>
  <dc:creator>Manuela Panoiu</dc:creator>
  <cp:lastModifiedBy>Manuela Panoiu</cp:lastModifiedBy>
  <cp:revision>4</cp:revision>
  <dcterms:created xsi:type="dcterms:W3CDTF">2020-11-08T09:12:21Z</dcterms:created>
  <dcterms:modified xsi:type="dcterms:W3CDTF">2020-11-08T20:57:26Z</dcterms:modified>
</cp:coreProperties>
</file>