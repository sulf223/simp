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2"/>
  </p:notes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57" r:id="rId17"/>
    <p:sldId id="258" r:id="rId18"/>
    <p:sldId id="259" r:id="rId19"/>
    <p:sldId id="260" r:id="rId20"/>
    <p:sldId id="262" r:id="rId21"/>
    <p:sldId id="261" r:id="rId22"/>
    <p:sldId id="278" r:id="rId23"/>
    <p:sldId id="279" r:id="rId24"/>
    <p:sldId id="280" r:id="rId25"/>
    <p:sldId id="282" r:id="rId26"/>
    <p:sldId id="283" r:id="rId27"/>
    <p:sldId id="284" r:id="rId28"/>
    <p:sldId id="285" r:id="rId29"/>
    <p:sldId id="286" r:id="rId30"/>
    <p:sldId id="289" r:id="rId31"/>
    <p:sldId id="291" r:id="rId32"/>
    <p:sldId id="292" r:id="rId33"/>
    <p:sldId id="298" r:id="rId34"/>
    <p:sldId id="299" r:id="rId35"/>
    <p:sldId id="300" r:id="rId36"/>
    <p:sldId id="293" r:id="rId37"/>
    <p:sldId id="294" r:id="rId38"/>
    <p:sldId id="301" r:id="rId39"/>
    <p:sldId id="302" r:id="rId40"/>
    <p:sldId id="303" r:id="rId41"/>
    <p:sldId id="304" r:id="rId42"/>
    <p:sldId id="305" r:id="rId43"/>
    <p:sldId id="306" r:id="rId44"/>
    <p:sldId id="307" r:id="rId45"/>
    <p:sldId id="308" r:id="rId46"/>
    <p:sldId id="309" r:id="rId47"/>
    <p:sldId id="310" r:id="rId48"/>
    <p:sldId id="311" r:id="rId49"/>
    <p:sldId id="312" r:id="rId50"/>
    <p:sldId id="313" r:id="rId51"/>
    <p:sldId id="314" r:id="rId52"/>
    <p:sldId id="315" r:id="rId53"/>
    <p:sldId id="316" r:id="rId54"/>
    <p:sldId id="296" r:id="rId55"/>
    <p:sldId id="317" r:id="rId56"/>
    <p:sldId id="318" r:id="rId57"/>
    <p:sldId id="319" r:id="rId58"/>
    <p:sldId id="320" r:id="rId59"/>
    <p:sldId id="290" r:id="rId60"/>
    <p:sldId id="277" r:id="rId61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02B5B0-FA8F-4F80-9BDE-724C5E51AF66}" type="datetimeFigureOut">
              <a:rPr lang="ro-RO" smtClean="0"/>
              <a:t>01.10.2020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B842A5-4336-40E6-A989-1AE1338B9E2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42701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o-RO" altLang="ro-RO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141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o-RO" altLang="ro-RO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2542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o-RO" altLang="ro-RO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4512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o-RO" altLang="ro-RO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983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o-RO" altLang="ro-RO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854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ro-RO" altLang="ro-RO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0938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o-RO" altLang="ro-RO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205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baseline="0" dirty="0" smtClean="0"/>
              <a:t>Package </a:t>
            </a:r>
          </a:p>
          <a:p>
            <a:pPr marL="228600" indent="-228600">
              <a:buAutoNum type="arabicPeriod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C5C7E9-EBA2-4DFB-B793-7B90C02CADB7}" type="slidenum">
              <a:rPr lang="en-CA" smtClean="0"/>
              <a:t>54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9902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D68A-4495-41B3-8EA5-5CEC55589B9A}" type="datetimeFigureOut">
              <a:rPr lang="ro-RO" smtClean="0"/>
              <a:t>01.10.2020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B759-286A-4CE9-82AF-4E213575848A}" type="slidenum">
              <a:rPr lang="ro-RO" smtClean="0"/>
              <a:t>‹#›</a:t>
            </a:fld>
            <a:endParaRPr lang="ro-RO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233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D68A-4495-41B3-8EA5-5CEC55589B9A}" type="datetimeFigureOut">
              <a:rPr lang="ro-RO" smtClean="0"/>
              <a:t>01.10.2020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B759-286A-4CE9-82AF-4E213575848A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995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D68A-4495-41B3-8EA5-5CEC55589B9A}" type="datetimeFigureOut">
              <a:rPr lang="ro-RO" smtClean="0"/>
              <a:t>01.10.2020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B759-286A-4CE9-82AF-4E213575848A}" type="slidenum">
              <a:rPr lang="ro-RO" smtClean="0"/>
              <a:t>‹#›</a:t>
            </a:fld>
            <a:endParaRPr lang="ro-RO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633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D68A-4495-41B3-8EA5-5CEC55589B9A}" type="datetimeFigureOut">
              <a:rPr lang="ro-RO" smtClean="0"/>
              <a:t>01.10.2020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B759-286A-4CE9-82AF-4E213575848A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60719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D68A-4495-41B3-8EA5-5CEC55589B9A}" type="datetimeFigureOut">
              <a:rPr lang="ro-RO" smtClean="0"/>
              <a:t>01.10.2020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B759-286A-4CE9-82AF-4E213575848A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62761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D68A-4495-41B3-8EA5-5CEC55589B9A}" type="datetimeFigureOut">
              <a:rPr lang="ro-RO" smtClean="0"/>
              <a:t>01.10.2020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B759-286A-4CE9-82AF-4E213575848A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02484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D68A-4495-41B3-8EA5-5CEC55589B9A}" type="datetimeFigureOut">
              <a:rPr lang="ro-RO" smtClean="0"/>
              <a:t>01.10.2020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B759-286A-4CE9-82AF-4E213575848A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02667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EB3D68A-4495-41B3-8EA5-5CEC55589B9A}" type="datetimeFigureOut">
              <a:rPr lang="ro-RO" smtClean="0"/>
              <a:t>01.10.2020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ADB759-286A-4CE9-82AF-4E213575848A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71299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D68A-4495-41B3-8EA5-5CEC55589B9A}" type="datetimeFigureOut">
              <a:rPr lang="ro-RO" smtClean="0"/>
              <a:t>01.10.2020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B759-286A-4CE9-82AF-4E213575848A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83905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D68A-4495-41B3-8EA5-5CEC55589B9A}" type="datetimeFigureOut">
              <a:rPr lang="ro-RO" smtClean="0"/>
              <a:t>01.10.2020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B759-286A-4CE9-82AF-4E213575848A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29859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D68A-4495-41B3-8EA5-5CEC55589B9A}" type="datetimeFigureOut">
              <a:rPr lang="ro-RO" smtClean="0"/>
              <a:t>01.10.2020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B759-286A-4CE9-82AF-4E213575848A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54398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734" y="303214"/>
            <a:ext cx="10888133" cy="52228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108076"/>
            <a:ext cx="5350933" cy="53689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63734" y="1108076"/>
            <a:ext cx="5350933" cy="53689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2718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EB3D68A-4495-41B3-8EA5-5CEC55589B9A}" type="datetimeFigureOut">
              <a:rPr lang="ro-RO" smtClean="0"/>
              <a:t>01.10.2020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6ADB759-286A-4CE9-82AF-4E213575848A}" type="slidenum">
              <a:rPr lang="ro-RO" smtClean="0"/>
              <a:t>‹#›</a:t>
            </a:fld>
            <a:endParaRPr lang="ro-RO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8748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homepage.mac.com/aberfield/dmj/" TargetMode="Externa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://www.eclipse.org/downloads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24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://java.sun.com/j2se/1.4.2/install-windows.html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Programare</a:t>
            </a:r>
            <a:r>
              <a:rPr lang="en-US" dirty="0" smtClean="0"/>
              <a:t> Java</a:t>
            </a:r>
            <a:endParaRPr lang="ro-RO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24871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o-RO" dirty="0"/>
              <a:t>Java Vs. Java Script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Java </a:t>
            </a:r>
            <a:endParaRPr lang="en-US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ro-RO" dirty="0" smtClean="0"/>
              <a:t>Un </a:t>
            </a:r>
            <a:r>
              <a:rPr lang="ro-RO" dirty="0"/>
              <a:t>limbaj de programare complet dezvoltat de Sun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o-RO" dirty="0"/>
              <a:t>Poate fi folosit pentru a dezvolta software bazat pe web sau independent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o-RO" dirty="0"/>
              <a:t>Sunt disponibile multe biblioteci de coduri </a:t>
            </a:r>
            <a:r>
              <a:rPr lang="ro-RO" dirty="0" smtClean="0"/>
              <a:t>pre-create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gata</a:t>
            </a:r>
            <a:r>
              <a:rPr lang="en-US" dirty="0" smtClean="0"/>
              <a:t> </a:t>
            </a:r>
            <a:r>
              <a:rPr lang="en-US" dirty="0" err="1" smtClean="0"/>
              <a:t>compilate</a:t>
            </a:r>
            <a:endParaRPr lang="ro-RO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ro-RO" dirty="0"/>
              <a:t>Pentru programe mai complexe și mai puternice</a:t>
            </a:r>
          </a:p>
          <a:p>
            <a:endParaRPr lang="ro-RO" dirty="0"/>
          </a:p>
          <a:p>
            <a:r>
              <a:rPr lang="ro-RO" dirty="0" smtClean="0"/>
              <a:t>Java</a:t>
            </a:r>
            <a:r>
              <a:rPr lang="en-US" dirty="0" smtClean="0"/>
              <a:t> </a:t>
            </a:r>
            <a:r>
              <a:rPr lang="ro-RO" dirty="0" smtClean="0"/>
              <a:t>Script </a:t>
            </a:r>
            <a:endParaRPr lang="ro-RO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ro-RO" sz="1600" dirty="0"/>
              <a:t>O limb</a:t>
            </a:r>
            <a:r>
              <a:rPr lang="en-US" sz="1600" dirty="0" err="1"/>
              <a:t>aj</a:t>
            </a:r>
            <a:r>
              <a:rPr lang="en-US" sz="1600" dirty="0"/>
              <a:t> </a:t>
            </a:r>
            <a:r>
              <a:rPr lang="en-US" sz="1600" dirty="0" err="1"/>
              <a:t>mai</a:t>
            </a:r>
            <a:r>
              <a:rPr lang="en-US" sz="1600" dirty="0"/>
              <a:t> mic</a:t>
            </a:r>
            <a:r>
              <a:rPr lang="ro-RO" sz="1600" dirty="0"/>
              <a:t>, utilizat în principal pentru aplicații bazate pe web (rulează printr-un browser web precum Internet Explorer, </a:t>
            </a:r>
            <a:r>
              <a:rPr lang="ro-RO" sz="1600" dirty="0" err="1"/>
              <a:t>Firefox</a:t>
            </a:r>
            <a:r>
              <a:rPr lang="ro-RO" sz="1600" dirty="0"/>
              <a:t>, Safari, </a:t>
            </a:r>
            <a:r>
              <a:rPr lang="ro-RO" sz="1600" dirty="0" err="1"/>
              <a:t>Chrome</a:t>
            </a:r>
            <a:r>
              <a:rPr lang="ro-RO" sz="1600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o-RO" sz="1600" dirty="0"/>
              <a:t>Bun pentru programarea efectelor speciale simple pentru pagina. web, de exemplu, </a:t>
            </a:r>
            <a:r>
              <a:rPr lang="ro-RO" sz="1600" dirty="0" err="1"/>
              <a:t>roll</a:t>
            </a:r>
            <a:r>
              <a:rPr lang="ro-RO" sz="1600" dirty="0"/>
              <a:t>-over-uri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23494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o-RO" dirty="0" smtClean="0"/>
              <a:t>Java: </a:t>
            </a:r>
            <a:r>
              <a:rPr lang="en-US" altLang="ro-RO" dirty="0" err="1" smtClean="0"/>
              <a:t>Istoric</a:t>
            </a:r>
            <a:endParaRPr lang="en-US" altLang="ro-RO" dirty="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ro-RO" dirty="0" err="1" smtClean="0"/>
              <a:t>Computerele</a:t>
            </a:r>
            <a:r>
              <a:rPr lang="en-US" altLang="ro-RO" dirty="0" smtClean="0"/>
              <a:t> </a:t>
            </a:r>
            <a:r>
              <a:rPr lang="ro-RO" altLang="ro-RO" dirty="0" smtClean="0"/>
              <a:t>în trecut</a:t>
            </a:r>
            <a:endParaRPr lang="en-US" altLang="ro-RO" dirty="0" smtClean="0"/>
          </a:p>
        </p:txBody>
      </p:sp>
      <p:pic>
        <p:nvPicPr>
          <p:cNvPr id="4100" name="Picture 4" descr="enia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2" t="22212" r="3625" b="2348"/>
          <a:stretch>
            <a:fillRect/>
          </a:stretch>
        </p:blipFill>
        <p:spPr bwMode="auto">
          <a:xfrm>
            <a:off x="3731226" y="1845734"/>
            <a:ext cx="6195369" cy="4461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9596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ro-RO" dirty="0" smtClean="0"/>
              <a:t>Java: </a:t>
            </a:r>
            <a:r>
              <a:rPr lang="en-US" altLang="ro-RO" dirty="0" err="1" smtClean="0"/>
              <a:t>Istoric</a:t>
            </a:r>
            <a:r>
              <a:rPr lang="en-US" altLang="ro-RO" dirty="0" smtClean="0"/>
              <a:t> (2)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168400"/>
            <a:ext cx="10128250" cy="5384800"/>
          </a:xfrm>
        </p:spPr>
        <p:txBody>
          <a:bodyPr/>
          <a:lstStyle/>
          <a:p>
            <a:r>
              <a:rPr lang="en-US" altLang="ro-RO" dirty="0" err="1"/>
              <a:t>Invenția</a:t>
            </a:r>
            <a:r>
              <a:rPr lang="en-US" altLang="ro-RO" dirty="0"/>
              <a:t> </a:t>
            </a:r>
            <a:r>
              <a:rPr lang="en-US" altLang="ro-RO" dirty="0" err="1"/>
              <a:t>microprocesorului</a:t>
            </a:r>
            <a:r>
              <a:rPr lang="en-US" altLang="ro-RO" dirty="0"/>
              <a:t> a </a:t>
            </a:r>
            <a:r>
              <a:rPr lang="en-US" altLang="ro-RO" dirty="0" err="1"/>
              <a:t>revoluționat</a:t>
            </a:r>
            <a:r>
              <a:rPr lang="en-US" altLang="ro-RO" dirty="0"/>
              <a:t> </a:t>
            </a:r>
            <a:r>
              <a:rPr lang="en-US" altLang="ro-RO" dirty="0" err="1"/>
              <a:t>computerele</a:t>
            </a:r>
            <a:endParaRPr lang="en-US" altLang="ro-RO" dirty="0" smtClean="0"/>
          </a:p>
        </p:txBody>
      </p:sp>
      <p:pic>
        <p:nvPicPr>
          <p:cNvPr id="5124" name="Picture 4" descr="40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0" t="7596" r="10919" b="5342"/>
          <a:stretch>
            <a:fillRect/>
          </a:stretch>
        </p:blipFill>
        <p:spPr bwMode="auto">
          <a:xfrm>
            <a:off x="2489200" y="1929607"/>
            <a:ext cx="2663825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 descr="pet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72226" y="1909865"/>
            <a:ext cx="3439039" cy="4001986"/>
          </a:xfrm>
          <a:noFill/>
        </p:spPr>
      </p:pic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2489200" y="4373949"/>
            <a:ext cx="2628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o-RO" sz="1800" dirty="0"/>
              <a:t>Intel microprocessor</a:t>
            </a:r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6375400" y="5905501"/>
            <a:ext cx="354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o-RO" sz="1800"/>
              <a:t>Commodore Pet microcomputer</a:t>
            </a:r>
          </a:p>
        </p:txBody>
      </p:sp>
    </p:spTree>
    <p:extLst>
      <p:ext uri="{BB962C8B-B14F-4D97-AF65-F5344CB8AC3E}">
        <p14:creationId xmlns:p14="http://schemas.microsoft.com/office/powerpoint/2010/main" val="4185624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o-RO" dirty="0" smtClean="0"/>
              <a:t>Java: </a:t>
            </a:r>
            <a:r>
              <a:rPr lang="en-US" altLang="ro-RO" dirty="0" err="1" smtClean="0"/>
              <a:t>Istoric</a:t>
            </a:r>
            <a:r>
              <a:rPr lang="en-US" altLang="ro-RO" dirty="0" smtClean="0"/>
              <a:t> (3)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tabLst>
                <a:tab pos="476250" algn="l"/>
              </a:tabLst>
            </a:pPr>
            <a:r>
              <a:rPr lang="en-US" altLang="ro-RO" dirty="0"/>
              <a:t>S-a </a:t>
            </a:r>
            <a:r>
              <a:rPr lang="en-US" altLang="ro-RO" dirty="0" err="1"/>
              <a:t>crezut</a:t>
            </a:r>
            <a:r>
              <a:rPr lang="en-US" altLang="ro-RO" dirty="0"/>
              <a:t> </a:t>
            </a:r>
            <a:r>
              <a:rPr lang="en-US" altLang="ro-RO" dirty="0" err="1"/>
              <a:t>că</a:t>
            </a:r>
            <a:r>
              <a:rPr lang="en-US" altLang="ro-RO" dirty="0"/>
              <a:t> </a:t>
            </a:r>
            <a:r>
              <a:rPr lang="en-US" altLang="ro-RO" dirty="0" err="1"/>
              <a:t>următorul</a:t>
            </a:r>
            <a:r>
              <a:rPr lang="en-US" altLang="ro-RO" dirty="0"/>
              <a:t> pas logic </a:t>
            </a:r>
            <a:r>
              <a:rPr lang="en-US" altLang="ro-RO" dirty="0" err="1"/>
              <a:t>pentru</a:t>
            </a:r>
            <a:r>
              <a:rPr lang="en-US" altLang="ro-RO" dirty="0"/>
              <a:t> </a:t>
            </a:r>
            <a:r>
              <a:rPr lang="en-US" altLang="ro-RO" dirty="0" err="1"/>
              <a:t>microprocesoare</a:t>
            </a:r>
            <a:r>
              <a:rPr lang="en-US" altLang="ro-RO" dirty="0"/>
              <a:t> a </a:t>
            </a:r>
            <a:r>
              <a:rPr lang="en-US" altLang="ro-RO" dirty="0" err="1"/>
              <a:t>fost</a:t>
            </a:r>
            <a:r>
              <a:rPr lang="en-US" altLang="ro-RO" dirty="0"/>
              <a:t> </a:t>
            </a:r>
            <a:r>
              <a:rPr lang="en-US" altLang="ro-RO" dirty="0" err="1"/>
              <a:t>să</a:t>
            </a:r>
            <a:r>
              <a:rPr lang="en-US" altLang="ro-RO" dirty="0"/>
              <a:t> le </a:t>
            </a:r>
            <a:r>
              <a:rPr lang="en-US" altLang="ro-RO" dirty="0" err="1"/>
              <a:t>facă</a:t>
            </a:r>
            <a:r>
              <a:rPr lang="en-US" altLang="ro-RO" dirty="0"/>
              <a:t> </a:t>
            </a:r>
            <a:r>
              <a:rPr lang="en-US" altLang="ro-RO" dirty="0" err="1"/>
              <a:t>să</a:t>
            </a:r>
            <a:r>
              <a:rPr lang="en-US" altLang="ro-RO" dirty="0"/>
              <a:t> </a:t>
            </a:r>
            <a:r>
              <a:rPr lang="en-US" altLang="ro-RO" dirty="0" err="1" smtClean="0"/>
              <a:t>ruleze</a:t>
            </a:r>
            <a:r>
              <a:rPr lang="ro-RO" altLang="ro-RO" dirty="0" smtClean="0"/>
              <a:t> pe</a:t>
            </a:r>
            <a:r>
              <a:rPr lang="en-US" altLang="ro-RO" dirty="0" smtClean="0"/>
              <a:t> </a:t>
            </a:r>
            <a:r>
              <a:rPr lang="en-US" altLang="ro-RO" dirty="0" err="1"/>
              <a:t>electronice</a:t>
            </a:r>
            <a:r>
              <a:rPr lang="en-US" altLang="ro-RO" dirty="0"/>
              <a:t> </a:t>
            </a:r>
            <a:r>
              <a:rPr lang="en-US" altLang="ro-RO" dirty="0" err="1"/>
              <a:t>inteligente</a:t>
            </a:r>
            <a:r>
              <a:rPr lang="en-US" altLang="ro-RO" dirty="0"/>
              <a:t> de </a:t>
            </a:r>
            <a:r>
              <a:rPr lang="ro-RO" altLang="ro-RO" dirty="0" smtClean="0"/>
              <a:t>larg </a:t>
            </a:r>
            <a:r>
              <a:rPr lang="en-US" altLang="ro-RO" dirty="0" err="1" smtClean="0"/>
              <a:t>consum</a:t>
            </a:r>
            <a:endParaRPr lang="en-US" altLang="ro-RO" dirty="0" smtClean="0"/>
          </a:p>
        </p:txBody>
      </p:sp>
      <p:pic>
        <p:nvPicPr>
          <p:cNvPr id="6148" name="Picture 4" descr="Nokia Smart Ho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3" r="870" b="-1721"/>
          <a:stretch>
            <a:fillRect/>
          </a:stretch>
        </p:blipFill>
        <p:spPr bwMode="auto">
          <a:xfrm>
            <a:off x="2178050" y="2586787"/>
            <a:ext cx="4922966" cy="422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57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o-RO" dirty="0" smtClean="0"/>
              <a:t>Java </a:t>
            </a:r>
            <a:r>
              <a:rPr lang="en-US" altLang="ro-RO" dirty="0" err="1" smtClean="0"/>
              <a:t>Istoric</a:t>
            </a:r>
            <a:r>
              <a:rPr lang="en-US" altLang="ro-RO" dirty="0" smtClean="0"/>
              <a:t> (4)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tabLst>
                <a:tab pos="476250" algn="l"/>
              </a:tabLst>
            </a:pPr>
            <a:r>
              <a:rPr lang="en-US" altLang="ro-RO" dirty="0"/>
              <a:t>Sun Microsystems a </a:t>
            </a:r>
            <a:r>
              <a:rPr lang="en-US" altLang="ro-RO" dirty="0" err="1"/>
              <a:t>finanțat</a:t>
            </a:r>
            <a:r>
              <a:rPr lang="en-US" altLang="ro-RO" dirty="0"/>
              <a:t> un </a:t>
            </a:r>
            <a:r>
              <a:rPr lang="en-US" altLang="ro-RO" dirty="0" err="1"/>
              <a:t>proiect</a:t>
            </a:r>
            <a:r>
              <a:rPr lang="en-US" altLang="ro-RO" dirty="0"/>
              <a:t> intern de </a:t>
            </a:r>
            <a:r>
              <a:rPr lang="en-US" altLang="ro-RO" dirty="0" err="1"/>
              <a:t>cercetare</a:t>
            </a:r>
            <a:r>
              <a:rPr lang="en-US" altLang="ro-RO" dirty="0"/>
              <a:t> </a:t>
            </a:r>
            <a:r>
              <a:rPr lang="en-US" altLang="ro-RO" dirty="0" smtClean="0"/>
              <a:t>„</a:t>
            </a:r>
            <a:r>
              <a:rPr lang="ro-RO" altLang="ro-RO" dirty="0" smtClean="0"/>
              <a:t>Green</a:t>
            </a:r>
            <a:r>
              <a:rPr lang="en-US" altLang="ro-RO" dirty="0" smtClean="0"/>
              <a:t>” </a:t>
            </a:r>
            <a:r>
              <a:rPr lang="en-US" altLang="ro-RO" dirty="0" err="1"/>
              <a:t>pentru</a:t>
            </a:r>
            <a:r>
              <a:rPr lang="en-US" altLang="ro-RO" dirty="0"/>
              <a:t> a </a:t>
            </a:r>
            <a:r>
              <a:rPr lang="en-US" altLang="ro-RO" dirty="0" err="1"/>
              <a:t>investiga</a:t>
            </a:r>
            <a:r>
              <a:rPr lang="en-US" altLang="ro-RO" dirty="0"/>
              <a:t> </a:t>
            </a:r>
            <a:r>
              <a:rPr lang="en-US" altLang="ro-RO" dirty="0" err="1"/>
              <a:t>această</a:t>
            </a:r>
            <a:r>
              <a:rPr lang="en-US" altLang="ro-RO" dirty="0"/>
              <a:t> </a:t>
            </a:r>
            <a:r>
              <a:rPr lang="en-US" altLang="ro-RO" dirty="0" err="1"/>
              <a:t>oportunitate</a:t>
            </a:r>
            <a:r>
              <a:rPr lang="en-US" altLang="ro-RO" dirty="0"/>
              <a:t>.</a:t>
            </a:r>
          </a:p>
          <a:p>
            <a:pPr marL="0" indent="0">
              <a:tabLst>
                <a:tab pos="476250" algn="l"/>
              </a:tabLst>
            </a:pPr>
            <a:r>
              <a:rPr lang="en-US" altLang="ro-RO" dirty="0" err="1"/>
              <a:t>Rezultat</a:t>
            </a:r>
            <a:r>
              <a:rPr lang="en-US" altLang="ro-RO" dirty="0"/>
              <a:t>: Un </a:t>
            </a:r>
            <a:r>
              <a:rPr lang="en-US" altLang="ro-RO" dirty="0" err="1"/>
              <a:t>limbaj</a:t>
            </a:r>
            <a:r>
              <a:rPr lang="en-US" altLang="ro-RO" dirty="0"/>
              <a:t> de </a:t>
            </a:r>
            <a:r>
              <a:rPr lang="en-US" altLang="ro-RO" dirty="0" err="1"/>
              <a:t>programare</a:t>
            </a:r>
            <a:r>
              <a:rPr lang="en-US" altLang="ro-RO" dirty="0"/>
              <a:t> </a:t>
            </a:r>
            <a:r>
              <a:rPr lang="en-US" altLang="ro-RO" dirty="0" err="1"/>
              <a:t>numit</a:t>
            </a:r>
            <a:r>
              <a:rPr lang="en-US" altLang="ro-RO" dirty="0"/>
              <a:t> „Oak”</a:t>
            </a:r>
            <a:endParaRPr lang="en-US" altLang="ro-RO" dirty="0" smtClean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873578" y="2465560"/>
            <a:ext cx="6173788" cy="4619624"/>
            <a:chOff x="0" y="1413"/>
            <a:chExt cx="3889" cy="2910"/>
          </a:xfrm>
        </p:grpSpPr>
        <p:grpSp>
          <p:nvGrpSpPr>
            <p:cNvPr id="7173" name="Group 5"/>
            <p:cNvGrpSpPr>
              <a:grpSpLocks/>
            </p:cNvGrpSpPr>
            <p:nvPr/>
          </p:nvGrpSpPr>
          <p:grpSpPr bwMode="auto">
            <a:xfrm>
              <a:off x="481" y="1413"/>
              <a:ext cx="3408" cy="2295"/>
              <a:chOff x="1008" y="1488"/>
              <a:chExt cx="3408" cy="2295"/>
            </a:xfrm>
          </p:grpSpPr>
          <p:pic>
            <p:nvPicPr>
              <p:cNvPr id="7175" name="Picture 6" descr="james1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" y="1488"/>
                <a:ext cx="2208" cy="17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176" name="Text Box 7"/>
              <p:cNvSpPr txBox="1">
                <a:spLocks noChangeArrowheads="1"/>
              </p:cNvSpPr>
              <p:nvPr/>
            </p:nvSpPr>
            <p:spPr bwMode="auto">
              <a:xfrm>
                <a:off x="1008" y="3264"/>
                <a:ext cx="3408" cy="5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CA" altLang="ro-RO" sz="1800" b="1" dirty="0">
                    <a:solidFill>
                      <a:schemeClr val="accent2"/>
                    </a:solidFill>
                  </a:rPr>
                  <a:t>Blatant advertisement: James Gosling was a graduate of the U of C Computer Science program.</a:t>
                </a:r>
              </a:p>
            </p:txBody>
          </p:sp>
        </p:grpSp>
        <p:sp>
          <p:nvSpPr>
            <p:cNvPr id="7174" name="Text Box 8"/>
            <p:cNvSpPr txBox="1">
              <a:spLocks noChangeArrowheads="1"/>
            </p:cNvSpPr>
            <p:nvPr/>
          </p:nvSpPr>
          <p:spPr bwMode="auto">
            <a:xfrm>
              <a:off x="0" y="4147"/>
              <a:ext cx="3696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3600" tIns="46800" rIns="936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ro-RO" sz="1200"/>
                <a:t>Wav file from “The Simpsons” </a:t>
              </a:r>
              <a:r>
                <a:rPr lang="en-US" altLang="ro-RO" sz="1200">
                  <a:cs typeface="Arial" panose="020B0604020202020204" pitchFamily="34" charset="0"/>
                </a:rPr>
                <a:t>©</a:t>
              </a:r>
              <a:r>
                <a:rPr lang="en-US" altLang="ro-RO" sz="1200"/>
                <a:t> Fox, Image from the website of Sun Microsystems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1403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umb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ro-RO" dirty="0" smtClean="0"/>
              <a:t>Java </a:t>
            </a:r>
            <a:r>
              <a:rPr lang="en-US" altLang="ro-RO" dirty="0" err="1" smtClean="0"/>
              <a:t>Istoric</a:t>
            </a:r>
            <a:r>
              <a:rPr lang="en-US" altLang="ro-RO" dirty="0" smtClean="0"/>
              <a:t> (5)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08214" y="1341439"/>
            <a:ext cx="7773987" cy="5140325"/>
          </a:xfrm>
        </p:spPr>
        <p:txBody>
          <a:bodyPr/>
          <a:lstStyle/>
          <a:p>
            <a:pPr marL="630238" lvl="1" indent="-249238">
              <a:tabLst>
                <a:tab pos="630238" algn="l"/>
              </a:tabLst>
            </a:pPr>
            <a:r>
              <a:rPr lang="en-US" altLang="ro-RO" dirty="0" err="1"/>
              <a:t>Problemă</a:t>
            </a:r>
            <a:r>
              <a:rPr lang="en-US" altLang="ro-RO" dirty="0"/>
              <a:t>: </a:t>
            </a:r>
            <a:r>
              <a:rPr lang="en-US" altLang="ro-RO" dirty="0" err="1"/>
              <a:t>exista</a:t>
            </a:r>
            <a:r>
              <a:rPr lang="en-US" altLang="ro-RO" dirty="0"/>
              <a:t> </a:t>
            </a:r>
            <a:r>
              <a:rPr lang="en-US" altLang="ro-RO" dirty="0" err="1"/>
              <a:t>deja</a:t>
            </a:r>
            <a:r>
              <a:rPr lang="en-US" altLang="ro-RO" dirty="0"/>
              <a:t> un </a:t>
            </a:r>
            <a:r>
              <a:rPr lang="en-US" altLang="ro-RO" dirty="0" err="1"/>
              <a:t>limbaj</a:t>
            </a:r>
            <a:r>
              <a:rPr lang="en-US" altLang="ro-RO" dirty="0"/>
              <a:t> de </a:t>
            </a:r>
            <a:r>
              <a:rPr lang="en-US" altLang="ro-RO" dirty="0" err="1"/>
              <a:t>programare</a:t>
            </a:r>
            <a:r>
              <a:rPr lang="en-US" altLang="ro-RO" dirty="0"/>
              <a:t> </a:t>
            </a:r>
            <a:r>
              <a:rPr lang="en-US" altLang="ro-RO" dirty="0" err="1"/>
              <a:t>numit</a:t>
            </a:r>
            <a:r>
              <a:rPr lang="en-US" altLang="ro-RO" dirty="0"/>
              <a:t> Oak.</a:t>
            </a:r>
          </a:p>
          <a:p>
            <a:pPr marL="630238" lvl="1" indent="-249238">
              <a:tabLst>
                <a:tab pos="630238" algn="l"/>
              </a:tabLst>
            </a:pPr>
            <a:r>
              <a:rPr lang="en-US" altLang="ro-RO" dirty="0" err="1"/>
              <a:t>Echipa</a:t>
            </a:r>
            <a:r>
              <a:rPr lang="en-US" altLang="ro-RO" dirty="0"/>
              <a:t> </a:t>
            </a:r>
            <a:r>
              <a:rPr lang="en-US" altLang="ro-RO" dirty="0" smtClean="0"/>
              <a:t>„</a:t>
            </a:r>
            <a:r>
              <a:rPr lang="ro-RO" altLang="ro-RO" dirty="0" smtClean="0"/>
              <a:t>Green</a:t>
            </a:r>
            <a:r>
              <a:rPr lang="en-US" altLang="ro-RO" dirty="0" smtClean="0"/>
              <a:t>” </a:t>
            </a:r>
            <a:r>
              <a:rPr lang="en-US" altLang="ro-RO" dirty="0"/>
              <a:t>s-a </a:t>
            </a:r>
            <a:r>
              <a:rPr lang="en-US" altLang="ro-RO" dirty="0" err="1"/>
              <a:t>întâlnit</a:t>
            </a:r>
            <a:r>
              <a:rPr lang="en-US" altLang="ro-RO" dirty="0"/>
              <a:t> la o </a:t>
            </a:r>
            <a:r>
              <a:rPr lang="en-US" altLang="ro-RO" dirty="0" err="1"/>
              <a:t>cafenea</a:t>
            </a:r>
            <a:r>
              <a:rPr lang="en-US" altLang="ro-RO" dirty="0"/>
              <a:t> </a:t>
            </a:r>
            <a:r>
              <a:rPr lang="en-US" altLang="ro-RO" dirty="0" err="1"/>
              <a:t>locală</a:t>
            </a:r>
            <a:r>
              <a:rPr lang="en-US" altLang="ro-RO" dirty="0"/>
              <a:t> </a:t>
            </a:r>
            <a:r>
              <a:rPr lang="en-US" altLang="ro-RO" dirty="0" err="1"/>
              <a:t>pentru</a:t>
            </a:r>
            <a:r>
              <a:rPr lang="en-US" altLang="ro-RO" dirty="0"/>
              <a:t> a </a:t>
            </a:r>
            <a:r>
              <a:rPr lang="en-US" altLang="ro-RO" dirty="0" err="1"/>
              <a:t>găsi</a:t>
            </a:r>
            <a:r>
              <a:rPr lang="en-US" altLang="ro-RO" dirty="0"/>
              <a:t> un alt </a:t>
            </a:r>
            <a:r>
              <a:rPr lang="en-US" altLang="ro-RO" dirty="0" err="1"/>
              <a:t>nume</a:t>
            </a:r>
            <a:r>
              <a:rPr lang="en-US" altLang="ro-RO" dirty="0"/>
              <a:t> ...Java</a:t>
            </a:r>
            <a:r>
              <a:rPr lang="en-US" altLang="ro-RO" dirty="0" smtClean="0"/>
              <a:t>!</a:t>
            </a:r>
          </a:p>
        </p:txBody>
      </p:sp>
      <p:pic>
        <p:nvPicPr>
          <p:cNvPr id="160772" name="Picture 4" descr="coffee-shop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03551" y="2768600"/>
            <a:ext cx="4092575" cy="3170238"/>
          </a:xfrm>
          <a:noFill/>
        </p:spPr>
      </p:pic>
      <p:pic>
        <p:nvPicPr>
          <p:cNvPr id="160773" name="Picture 5" descr="Java Technolog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51" r="12137" b="2611"/>
          <a:stretch>
            <a:fillRect/>
          </a:stretch>
        </p:blipFill>
        <p:spPr bwMode="auto">
          <a:xfrm>
            <a:off x="8955088" y="2692400"/>
            <a:ext cx="1027112" cy="172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0280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1" grpId="0" build="p" bldLvl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847582" y="879863"/>
            <a:ext cx="10888133" cy="522287"/>
          </a:xfrm>
        </p:spPr>
        <p:txBody>
          <a:bodyPr>
            <a:normAutofit fontScale="90000"/>
          </a:bodyPr>
          <a:lstStyle/>
          <a:p>
            <a:r>
              <a:rPr lang="en-US" altLang="ro-RO" dirty="0" smtClean="0"/>
              <a:t>Java: </a:t>
            </a:r>
            <a:r>
              <a:rPr lang="ro-RO" altLang="ro-RO" dirty="0" smtClean="0"/>
              <a:t>Istoric </a:t>
            </a:r>
            <a:r>
              <a:rPr lang="en-US" altLang="ro-RO" dirty="0" smtClean="0"/>
              <a:t>(6)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89222" y="2113092"/>
            <a:ext cx="6833286" cy="5368925"/>
          </a:xfrm>
        </p:spPr>
        <p:txBody>
          <a:bodyPr/>
          <a:lstStyle/>
          <a:p>
            <a:pPr marL="114300" indent="-114300">
              <a:tabLst>
                <a:tab pos="476250" algn="l"/>
              </a:tabLst>
            </a:pPr>
            <a:r>
              <a:rPr lang="en-US" altLang="ro-RO" dirty="0" err="1"/>
              <a:t>Conceptul</a:t>
            </a:r>
            <a:r>
              <a:rPr lang="en-US" altLang="ro-RO" dirty="0"/>
              <a:t> de </a:t>
            </a:r>
            <a:r>
              <a:rPr lang="en-US" altLang="ro-RO" dirty="0" err="1"/>
              <a:t>dispozitive</a:t>
            </a:r>
            <a:r>
              <a:rPr lang="en-US" altLang="ro-RO" dirty="0"/>
              <a:t> </a:t>
            </a:r>
            <a:r>
              <a:rPr lang="en-US" altLang="ro-RO" dirty="0" err="1"/>
              <a:t>inteligente</a:t>
            </a:r>
            <a:r>
              <a:rPr lang="en-US" altLang="ro-RO" dirty="0"/>
              <a:t> nu a </a:t>
            </a:r>
            <a:r>
              <a:rPr lang="en-US" altLang="ro-RO" dirty="0" err="1"/>
              <a:t>prins</a:t>
            </a:r>
            <a:r>
              <a:rPr lang="en-US" altLang="ro-RO" dirty="0"/>
              <a:t>.</a:t>
            </a:r>
          </a:p>
          <a:p>
            <a:pPr marL="114300" indent="-114300">
              <a:tabLst>
                <a:tab pos="476250" algn="l"/>
              </a:tabLst>
            </a:pPr>
            <a:r>
              <a:rPr lang="en-US" altLang="ro-RO" dirty="0" err="1"/>
              <a:t>Proiectul</a:t>
            </a:r>
            <a:r>
              <a:rPr lang="en-US" altLang="ro-RO" dirty="0"/>
              <a:t> Green </a:t>
            </a:r>
            <a:r>
              <a:rPr lang="en-US" altLang="ro-RO" dirty="0" err="1"/>
              <a:t>și</a:t>
            </a:r>
            <a:r>
              <a:rPr lang="en-US" altLang="ro-RO" dirty="0"/>
              <a:t> </a:t>
            </a:r>
            <a:r>
              <a:rPr lang="en-US" altLang="ro-RO" dirty="0" err="1"/>
              <a:t>lucrul</a:t>
            </a:r>
            <a:r>
              <a:rPr lang="en-US" altLang="ro-RO" dirty="0"/>
              <a:t> la </a:t>
            </a:r>
            <a:r>
              <a:rPr lang="en-US" altLang="ro-RO" dirty="0" err="1"/>
              <a:t>limbajul</a:t>
            </a:r>
            <a:r>
              <a:rPr lang="en-US" altLang="ro-RO" dirty="0"/>
              <a:t> Java au </a:t>
            </a:r>
            <a:r>
              <a:rPr lang="en-US" altLang="ro-RO" dirty="0" err="1"/>
              <a:t>fost</a:t>
            </a:r>
            <a:r>
              <a:rPr lang="en-US" altLang="ro-RO" dirty="0"/>
              <a:t> </a:t>
            </a:r>
            <a:r>
              <a:rPr lang="en-US" altLang="ro-RO" dirty="0" err="1"/>
              <a:t>aproape</a:t>
            </a:r>
            <a:r>
              <a:rPr lang="en-US" altLang="ro-RO" dirty="0"/>
              <a:t> </a:t>
            </a:r>
            <a:r>
              <a:rPr lang="en-US" altLang="ro-RO" dirty="0" err="1"/>
              <a:t>anulate</a:t>
            </a:r>
            <a:r>
              <a:rPr lang="en-US" altLang="ro-RO" dirty="0"/>
              <a:t>.</a:t>
            </a:r>
            <a:endParaRPr lang="en-US" altLang="ro-RO" dirty="0" smtClean="0"/>
          </a:p>
        </p:txBody>
      </p:sp>
      <p:pic>
        <p:nvPicPr>
          <p:cNvPr id="9220" name="Picture 4" descr="57-336183589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575932" y="2349414"/>
            <a:ext cx="2273300" cy="1422400"/>
          </a:xfrm>
          <a:noFill/>
        </p:spPr>
      </p:pic>
    </p:spTree>
    <p:extLst>
      <p:ext uri="{BB962C8B-B14F-4D97-AF65-F5344CB8AC3E}">
        <p14:creationId xmlns:p14="http://schemas.microsoft.com/office/powerpoint/2010/main" val="1065751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ro-RO" dirty="0" smtClean="0"/>
              <a:t>Java: </a:t>
            </a:r>
            <a:r>
              <a:rPr lang="en-CA" altLang="ro-RO" dirty="0" err="1" smtClean="0"/>
              <a:t>Istoric</a:t>
            </a:r>
            <a:r>
              <a:rPr lang="en-CA" altLang="ro-RO" dirty="0" smtClean="0"/>
              <a:t> (7)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14300" indent="-114300">
              <a:tabLst>
                <a:tab pos="476250" algn="l"/>
              </a:tabLst>
            </a:pPr>
            <a:r>
              <a:rPr lang="en-CA" altLang="ro-RO" dirty="0" err="1"/>
              <a:t>Popularitatea</a:t>
            </a:r>
            <a:r>
              <a:rPr lang="en-CA" altLang="ro-RO" dirty="0"/>
              <a:t> </a:t>
            </a:r>
            <a:r>
              <a:rPr lang="en-CA" altLang="ro-RO" dirty="0" err="1"/>
              <a:t>internetului</a:t>
            </a:r>
            <a:r>
              <a:rPr lang="en-CA" altLang="ro-RO" dirty="0"/>
              <a:t> a </a:t>
            </a:r>
            <a:r>
              <a:rPr lang="en-CA" altLang="ro-RO" dirty="0" err="1"/>
              <a:t>dus</a:t>
            </a:r>
            <a:r>
              <a:rPr lang="en-CA" altLang="ro-RO" dirty="0"/>
              <a:t> la re-</a:t>
            </a:r>
            <a:r>
              <a:rPr lang="en-CA" altLang="ro-RO" dirty="0" err="1"/>
              <a:t>concentrarea</a:t>
            </a:r>
            <a:r>
              <a:rPr lang="en-CA" altLang="ro-RO" dirty="0"/>
              <a:t> </a:t>
            </a:r>
            <a:r>
              <a:rPr lang="ro-RO" altLang="ro-RO" dirty="0" smtClean="0"/>
              <a:t>utilizării </a:t>
            </a:r>
            <a:r>
              <a:rPr lang="en-CA" altLang="ro-RO" dirty="0" smtClean="0"/>
              <a:t>Java </a:t>
            </a:r>
            <a:r>
              <a:rPr lang="en-CA" altLang="ro-RO" dirty="0"/>
              <a:t>de </a:t>
            </a:r>
            <a:r>
              <a:rPr lang="en-CA" altLang="ro-RO" dirty="0" err="1"/>
              <a:t>către</a:t>
            </a:r>
            <a:r>
              <a:rPr lang="en-CA" altLang="ro-RO" dirty="0"/>
              <a:t> Sun </a:t>
            </a:r>
            <a:r>
              <a:rPr lang="en-CA" altLang="ro-RO" dirty="0" err="1"/>
              <a:t>pe</a:t>
            </a:r>
            <a:r>
              <a:rPr lang="en-CA" altLang="ro-RO" dirty="0"/>
              <a:t> </a:t>
            </a:r>
            <a:r>
              <a:rPr lang="en-CA" altLang="ro-RO" dirty="0" err="1"/>
              <a:t>computere</a:t>
            </a:r>
            <a:r>
              <a:rPr lang="en-CA" altLang="ro-RO" dirty="0"/>
              <a:t>.</a:t>
            </a:r>
          </a:p>
          <a:p>
            <a:pPr marL="114300" indent="-114300">
              <a:tabLst>
                <a:tab pos="476250" algn="l"/>
              </a:tabLst>
            </a:pPr>
            <a:r>
              <a:rPr lang="en-CA" altLang="ro-RO" dirty="0" err="1"/>
              <a:t>Înainte</a:t>
            </a:r>
            <a:r>
              <a:rPr lang="en-CA" altLang="ro-RO" dirty="0"/>
              <a:t> de </a:t>
            </a:r>
            <a:r>
              <a:rPr lang="en-CA" altLang="ro-RO" dirty="0" err="1"/>
              <a:t>apariția</a:t>
            </a:r>
            <a:r>
              <a:rPr lang="en-CA" altLang="ro-RO" dirty="0"/>
              <a:t> Java, </a:t>
            </a:r>
            <a:r>
              <a:rPr lang="en-CA" altLang="ro-RO" dirty="0" err="1"/>
              <a:t>paginile</a:t>
            </a:r>
            <a:r>
              <a:rPr lang="en-CA" altLang="ro-RO" dirty="0"/>
              <a:t> web </a:t>
            </a:r>
            <a:r>
              <a:rPr lang="en-CA" altLang="ro-RO" dirty="0" err="1" smtClean="0"/>
              <a:t>permiteau</a:t>
            </a:r>
            <a:r>
              <a:rPr lang="en-CA" altLang="ro-RO" dirty="0" smtClean="0"/>
              <a:t> </a:t>
            </a:r>
            <a:r>
              <a:rPr lang="en-CA" altLang="ro-RO" dirty="0" err="1"/>
              <a:t>să</a:t>
            </a:r>
            <a:r>
              <a:rPr lang="en-CA" altLang="ro-RO" dirty="0"/>
              <a:t> </a:t>
            </a:r>
            <a:r>
              <a:rPr lang="en-CA" altLang="ro-RO" dirty="0" err="1"/>
              <a:t>descărcați</a:t>
            </a:r>
            <a:r>
              <a:rPr lang="en-CA" altLang="ro-RO" dirty="0"/>
              <a:t> </a:t>
            </a:r>
            <a:r>
              <a:rPr lang="en-CA" altLang="ro-RO" dirty="0" err="1"/>
              <a:t>doar</a:t>
            </a:r>
            <a:r>
              <a:rPr lang="en-CA" altLang="ro-RO" dirty="0"/>
              <a:t> text </a:t>
            </a:r>
            <a:r>
              <a:rPr lang="en-CA" altLang="ro-RO" dirty="0" err="1"/>
              <a:t>și</a:t>
            </a:r>
            <a:r>
              <a:rPr lang="en-CA" altLang="ro-RO" dirty="0"/>
              <a:t> </a:t>
            </a:r>
            <a:r>
              <a:rPr lang="en-CA" altLang="ro-RO" dirty="0" err="1"/>
              <a:t>imagini</a:t>
            </a:r>
            <a:r>
              <a:rPr lang="en-CA" altLang="ro-RO" dirty="0"/>
              <a:t>.</a:t>
            </a:r>
            <a:endParaRPr lang="en-CA" altLang="ro-RO" dirty="0" smtClean="0"/>
          </a:p>
          <a:p>
            <a:pPr marL="114300" indent="-114300">
              <a:tabLst>
                <a:tab pos="476250" algn="l"/>
              </a:tabLst>
            </a:pPr>
            <a:endParaRPr lang="en-CA" altLang="ro-RO" dirty="0" smtClean="0"/>
          </a:p>
          <a:p>
            <a:pPr marL="114300" indent="-114300">
              <a:tabLst>
                <a:tab pos="476250" algn="l"/>
              </a:tabLst>
            </a:pPr>
            <a:endParaRPr lang="en-CA" altLang="ro-RO" dirty="0" smtClean="0"/>
          </a:p>
          <a:p>
            <a:pPr marL="114300" indent="-114300">
              <a:tabLst>
                <a:tab pos="476250" algn="l"/>
              </a:tabLst>
            </a:pPr>
            <a:endParaRPr lang="en-CA" altLang="ro-RO" dirty="0" smtClean="0"/>
          </a:p>
          <a:p>
            <a:pPr marL="114300" indent="-114300">
              <a:tabLst>
                <a:tab pos="476250" algn="l"/>
              </a:tabLst>
            </a:pPr>
            <a:endParaRPr lang="en-CA" altLang="ro-RO" dirty="0" smtClean="0"/>
          </a:p>
          <a:p>
            <a:pPr marL="114300" indent="-114300">
              <a:tabLst>
                <a:tab pos="476250" algn="l"/>
              </a:tabLst>
            </a:pPr>
            <a:endParaRPr lang="en-CA" altLang="ro-RO" dirty="0" smtClean="0"/>
          </a:p>
          <a:p>
            <a:pPr marL="114300" indent="-114300">
              <a:tabLst>
                <a:tab pos="476250" algn="l"/>
              </a:tabLst>
            </a:pPr>
            <a:endParaRPr lang="en-CA" altLang="ro-RO" dirty="0" smtClean="0"/>
          </a:p>
          <a:p>
            <a:pPr marL="114300" indent="-114300">
              <a:tabLst>
                <a:tab pos="476250" algn="l"/>
              </a:tabLst>
            </a:pPr>
            <a:endParaRPr lang="en-CA" altLang="ro-RO" dirty="0" smtClean="0"/>
          </a:p>
        </p:txBody>
      </p:sp>
      <p:grpSp>
        <p:nvGrpSpPr>
          <p:cNvPr id="10244" name="Group 4"/>
          <p:cNvGrpSpPr>
            <a:grpSpLocks/>
          </p:cNvGrpSpPr>
          <p:nvPr/>
        </p:nvGrpSpPr>
        <p:grpSpPr bwMode="auto">
          <a:xfrm>
            <a:off x="9202738" y="2571750"/>
            <a:ext cx="5180012" cy="215444"/>
            <a:chOff x="0" y="0"/>
            <a:chExt cx="3263" cy="215444"/>
          </a:xfrm>
        </p:grpSpPr>
        <p:sp>
          <p:nvSpPr>
            <p:cNvPr id="10260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326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ro-RO" altLang="ro-RO"/>
            </a:p>
          </p:txBody>
        </p:sp>
        <p:sp>
          <p:nvSpPr>
            <p:cNvPr id="10261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326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ro-RO" altLang="ro-RO"/>
            </a:p>
          </p:txBody>
        </p:sp>
      </p:grpSp>
      <p:sp>
        <p:nvSpPr>
          <p:cNvPr id="10245" name="Text Box 7"/>
          <p:cNvSpPr txBox="1">
            <a:spLocks noChangeArrowheads="1"/>
          </p:cNvSpPr>
          <p:nvPr/>
        </p:nvSpPr>
        <p:spPr bwMode="auto">
          <a:xfrm>
            <a:off x="2301875" y="2783799"/>
            <a:ext cx="268319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nl-NL" altLang="ro-RO" sz="1600" b="1" dirty="0" smtClean="0"/>
              <a:t>Computerul</a:t>
            </a:r>
            <a:r>
              <a:rPr lang="ro-RO" altLang="ro-RO" sz="1600" b="1" dirty="0"/>
              <a:t> </a:t>
            </a:r>
            <a:r>
              <a:rPr lang="ro-RO" altLang="ro-RO" sz="1600" b="1" dirty="0" smtClean="0"/>
              <a:t>de</a:t>
            </a:r>
            <a:r>
              <a:rPr lang="nl-NL" altLang="ro-RO" sz="1600" b="1" dirty="0" smtClean="0"/>
              <a:t> acasă rulează un browser web</a:t>
            </a:r>
            <a:endParaRPr lang="en-CA" altLang="ro-RO" sz="1600" b="1" dirty="0"/>
          </a:p>
        </p:txBody>
      </p:sp>
      <p:pic>
        <p:nvPicPr>
          <p:cNvPr id="10246" name="Picture 8" descr="moni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1" y="3191312"/>
            <a:ext cx="2181225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10"/>
          <a:stretch>
            <a:fillRect/>
          </a:stretch>
        </p:blipFill>
        <p:spPr bwMode="auto">
          <a:xfrm>
            <a:off x="8458200" y="3496111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248" name="Group 10"/>
          <p:cNvGrpSpPr>
            <a:grpSpLocks/>
          </p:cNvGrpSpPr>
          <p:nvPr/>
        </p:nvGrpSpPr>
        <p:grpSpPr bwMode="auto">
          <a:xfrm>
            <a:off x="2057400" y="3419911"/>
            <a:ext cx="3352800" cy="2171700"/>
            <a:chOff x="528" y="2688"/>
            <a:chExt cx="2112" cy="1368"/>
          </a:xfrm>
        </p:grpSpPr>
        <p:pic>
          <p:nvPicPr>
            <p:cNvPr id="10258" name="Picture 1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55" b="6831"/>
            <a:stretch>
              <a:fillRect/>
            </a:stretch>
          </p:blipFill>
          <p:spPr bwMode="auto">
            <a:xfrm>
              <a:off x="528" y="2688"/>
              <a:ext cx="2112" cy="1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  <p:pic>
          <p:nvPicPr>
            <p:cNvPr id="10259" name="Picture 1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0"/>
              <a:ext cx="912" cy="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4953000" y="3724711"/>
            <a:ext cx="2819400" cy="381000"/>
            <a:chOff x="2160" y="2880"/>
            <a:chExt cx="1776" cy="240"/>
          </a:xfrm>
        </p:grpSpPr>
        <p:sp>
          <p:nvSpPr>
            <p:cNvPr id="10256" name="Line 14"/>
            <p:cNvSpPr>
              <a:spLocks noChangeShapeType="1"/>
            </p:cNvSpPr>
            <p:nvPr/>
          </p:nvSpPr>
          <p:spPr bwMode="auto">
            <a:xfrm>
              <a:off x="2256" y="3120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ro-RO"/>
            </a:p>
          </p:txBody>
        </p:sp>
        <p:sp>
          <p:nvSpPr>
            <p:cNvPr id="10257" name="Text Box 15"/>
            <p:cNvSpPr txBox="1">
              <a:spLocks noChangeArrowheads="1"/>
            </p:cNvSpPr>
            <p:nvPr/>
          </p:nvSpPr>
          <p:spPr bwMode="auto">
            <a:xfrm>
              <a:off x="2160" y="2880"/>
              <a:ext cx="1776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ro-RO" altLang="ro-RO" sz="1600" dirty="0" smtClean="0"/>
                <a:t>Utilizatorul face click pe un </a:t>
              </a:r>
              <a:r>
                <a:rPr lang="en-CA" altLang="ro-RO" sz="1600" dirty="0" smtClean="0"/>
                <a:t>link </a:t>
              </a:r>
              <a:endParaRPr lang="en-CA" altLang="ro-RO" sz="1600" dirty="0"/>
            </a:p>
          </p:txBody>
        </p:sp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3124200" y="3648511"/>
            <a:ext cx="5029200" cy="1219200"/>
            <a:chOff x="1008" y="2832"/>
            <a:chExt cx="3168" cy="768"/>
          </a:xfrm>
        </p:grpSpPr>
        <p:pic>
          <p:nvPicPr>
            <p:cNvPr id="10252" name="Picture 17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510"/>
            <a:stretch>
              <a:fillRect/>
            </a:stretch>
          </p:blipFill>
          <p:spPr bwMode="auto">
            <a:xfrm>
              <a:off x="1008" y="2832"/>
              <a:ext cx="960" cy="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0253" name="Group 18"/>
            <p:cNvGrpSpPr>
              <a:grpSpLocks/>
            </p:cNvGrpSpPr>
            <p:nvPr/>
          </p:nvGrpSpPr>
          <p:grpSpPr bwMode="auto">
            <a:xfrm>
              <a:off x="2160" y="3216"/>
              <a:ext cx="2016" cy="155"/>
              <a:chOff x="2160" y="3216"/>
              <a:chExt cx="2016" cy="155"/>
            </a:xfrm>
          </p:grpSpPr>
          <p:sp>
            <p:nvSpPr>
              <p:cNvPr id="10254" name="Line 19"/>
              <p:cNvSpPr>
                <a:spLocks noChangeShapeType="1"/>
              </p:cNvSpPr>
              <p:nvPr/>
            </p:nvSpPr>
            <p:spPr bwMode="auto">
              <a:xfrm flipH="1">
                <a:off x="2256" y="3216"/>
                <a:ext cx="16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ro-RO"/>
              </a:p>
            </p:txBody>
          </p:sp>
          <p:sp>
            <p:nvSpPr>
              <p:cNvPr id="10255" name="Text Box 20"/>
              <p:cNvSpPr txBox="1">
                <a:spLocks noChangeArrowheads="1"/>
              </p:cNvSpPr>
              <p:nvPr/>
            </p:nvSpPr>
            <p:spPr bwMode="auto">
              <a:xfrm>
                <a:off x="2160" y="3216"/>
                <a:ext cx="2016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CA" altLang="ro-RO" sz="1600" dirty="0" err="1" smtClean="0"/>
                  <a:t>Imaginile</a:t>
                </a:r>
                <a:r>
                  <a:rPr lang="en-CA" altLang="ro-RO" sz="1600" dirty="0" smtClean="0"/>
                  <a:t> </a:t>
                </a:r>
                <a:r>
                  <a:rPr lang="en-CA" altLang="ro-RO" sz="1600" dirty="0" err="1" smtClean="0"/>
                  <a:t>și</a:t>
                </a:r>
                <a:r>
                  <a:rPr lang="en-CA" altLang="ro-RO" sz="1600" dirty="0" smtClean="0"/>
                  <a:t> </a:t>
                </a:r>
                <a:r>
                  <a:rPr lang="en-CA" altLang="ro-RO" sz="1600" dirty="0" err="1" smtClean="0"/>
                  <a:t>textul</a:t>
                </a:r>
                <a:r>
                  <a:rPr lang="en-CA" altLang="ro-RO" sz="1600" dirty="0" smtClean="0"/>
                  <a:t> </a:t>
                </a:r>
                <a:r>
                  <a:rPr lang="en-CA" altLang="ro-RO" sz="1600" dirty="0" err="1" smtClean="0"/>
                  <a:t>sunt</a:t>
                </a:r>
                <a:r>
                  <a:rPr lang="en-CA" altLang="ro-RO" sz="1600" dirty="0" smtClean="0"/>
                  <a:t> </a:t>
                </a:r>
                <a:r>
                  <a:rPr lang="en-CA" altLang="ro-RO" sz="1600" dirty="0" err="1" smtClean="0"/>
                  <a:t>descărcate</a:t>
                </a:r>
                <a:endParaRPr lang="en-CA" altLang="ro-RO" sz="1600" dirty="0"/>
              </a:p>
            </p:txBody>
          </p:sp>
        </p:grpSp>
      </p:grpSp>
      <p:sp>
        <p:nvSpPr>
          <p:cNvPr id="10251" name="Text Box 21"/>
          <p:cNvSpPr txBox="1">
            <a:spLocks noChangeArrowheads="1"/>
          </p:cNvSpPr>
          <p:nvPr/>
        </p:nvSpPr>
        <p:spPr bwMode="auto">
          <a:xfrm>
            <a:off x="7967664" y="2797611"/>
            <a:ext cx="2367573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ro-RO" sz="1600" b="1" dirty="0" smtClean="0"/>
              <a:t>Server care conține </a:t>
            </a:r>
            <a:r>
              <a:rPr lang="ro-RO" altLang="ro-RO" sz="1600" b="1" dirty="0" smtClean="0"/>
              <a:t>o</a:t>
            </a:r>
            <a:endParaRPr lang="it-IT" altLang="ro-RO" sz="1600" b="1" dirty="0" smtClean="0"/>
          </a:p>
          <a:p>
            <a:r>
              <a:rPr lang="it-IT" altLang="ro-RO" sz="1600" b="1" dirty="0" smtClean="0"/>
              <a:t>pagină web</a:t>
            </a:r>
            <a:endParaRPr lang="en-CA" altLang="ro-RO" sz="1600" b="1" dirty="0"/>
          </a:p>
        </p:txBody>
      </p:sp>
    </p:spTree>
    <p:extLst>
      <p:ext uri="{BB962C8B-B14F-4D97-AF65-F5344CB8AC3E}">
        <p14:creationId xmlns:p14="http://schemas.microsoft.com/office/powerpoint/2010/main" val="2110577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578101" y="3294769"/>
            <a:ext cx="7715250" cy="2827337"/>
            <a:chOff x="664" y="2067"/>
            <a:chExt cx="4860" cy="1781"/>
          </a:xfrm>
        </p:grpSpPr>
        <p:grpSp>
          <p:nvGrpSpPr>
            <p:cNvPr id="11281" name="Group 3"/>
            <p:cNvGrpSpPr>
              <a:grpSpLocks/>
            </p:cNvGrpSpPr>
            <p:nvPr/>
          </p:nvGrpSpPr>
          <p:grpSpPr bwMode="auto">
            <a:xfrm>
              <a:off x="664" y="2067"/>
              <a:ext cx="4860" cy="1781"/>
              <a:chOff x="664" y="2067"/>
              <a:chExt cx="4860" cy="1781"/>
            </a:xfrm>
          </p:grpSpPr>
          <p:grpSp>
            <p:nvGrpSpPr>
              <p:cNvPr id="11283" name="Group 4"/>
              <p:cNvGrpSpPr>
                <a:grpSpLocks/>
              </p:cNvGrpSpPr>
              <p:nvPr/>
            </p:nvGrpSpPr>
            <p:grpSpPr bwMode="auto">
              <a:xfrm>
                <a:off x="664" y="2096"/>
                <a:ext cx="2112" cy="1752"/>
                <a:chOff x="664" y="2096"/>
                <a:chExt cx="2112" cy="1752"/>
              </a:xfrm>
            </p:grpSpPr>
            <p:sp>
              <p:nvSpPr>
                <p:cNvPr id="11287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664" y="2096"/>
                  <a:ext cx="1779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nl-NL" altLang="ro-RO" sz="1600" b="1" dirty="0" smtClean="0"/>
                    <a:t>Computerul</a:t>
                  </a:r>
                  <a:r>
                    <a:rPr lang="ro-RO" altLang="ro-RO" sz="1600" b="1" dirty="0" smtClean="0"/>
                    <a:t> de</a:t>
                  </a:r>
                  <a:r>
                    <a:rPr lang="nl-NL" altLang="ro-RO" sz="1600" b="1" dirty="0" smtClean="0"/>
                    <a:t> acasă rulează un browser web</a:t>
                  </a:r>
                  <a:endParaRPr lang="en-CA" altLang="ro-RO" sz="1600" b="1" dirty="0"/>
                </a:p>
              </p:txBody>
            </p:sp>
            <p:grpSp>
              <p:nvGrpSpPr>
                <p:cNvPr id="11288" name="Group 6"/>
                <p:cNvGrpSpPr>
                  <a:grpSpLocks/>
                </p:cNvGrpSpPr>
                <p:nvPr/>
              </p:nvGrpSpPr>
              <p:grpSpPr bwMode="auto">
                <a:xfrm>
                  <a:off x="664" y="2480"/>
                  <a:ext cx="2112" cy="1368"/>
                  <a:chOff x="528" y="2688"/>
                  <a:chExt cx="2112" cy="1368"/>
                </a:xfrm>
              </p:grpSpPr>
              <p:pic>
                <p:nvPicPr>
                  <p:cNvPr id="11289" name="Picture 7"/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4555" b="6831"/>
                  <a:stretch>
                    <a:fillRect/>
                  </a:stretch>
                </p:blipFill>
                <p:spPr bwMode="auto">
                  <a:xfrm>
                    <a:off x="528" y="2688"/>
                    <a:ext cx="2112" cy="136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</p:pic>
              <p:pic>
                <p:nvPicPr>
                  <p:cNvPr id="11290" name="Picture 8"/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248" y="2880"/>
                    <a:ext cx="912" cy="67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grpSp>
            <p:nvGrpSpPr>
              <p:cNvPr id="11284" name="Group 9"/>
              <p:cNvGrpSpPr>
                <a:grpSpLocks/>
              </p:cNvGrpSpPr>
              <p:nvPr/>
            </p:nvGrpSpPr>
            <p:grpSpPr bwMode="auto">
              <a:xfrm>
                <a:off x="4024" y="2067"/>
                <a:ext cx="1500" cy="1643"/>
                <a:chOff x="4024" y="2067"/>
                <a:chExt cx="1500" cy="1643"/>
              </a:xfrm>
            </p:grpSpPr>
            <p:pic>
              <p:nvPicPr>
                <p:cNvPr id="11285" name="Picture 10" descr="monitor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024" y="2336"/>
                  <a:ext cx="1374" cy="13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1286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4105" y="2067"/>
                  <a:ext cx="1419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it-IT" altLang="ro-RO" sz="1600" b="1" dirty="0" smtClean="0"/>
                    <a:t>Server care conține </a:t>
                  </a:r>
                  <a:r>
                    <a:rPr lang="ro-RO" altLang="ro-RO" sz="1600" b="1" dirty="0" smtClean="0"/>
                    <a:t>o</a:t>
                  </a:r>
                  <a:endParaRPr lang="it-IT" altLang="ro-RO" sz="1600" b="1" dirty="0" smtClean="0"/>
                </a:p>
                <a:p>
                  <a:r>
                    <a:rPr lang="it-IT" altLang="ro-RO" sz="1600" b="1" dirty="0" smtClean="0"/>
                    <a:t>pagină web</a:t>
                  </a:r>
                  <a:endParaRPr lang="en-CA" altLang="ro-RO" sz="1600" b="1" dirty="0"/>
                </a:p>
              </p:txBody>
            </p:sp>
          </p:grpSp>
        </p:grpSp>
        <p:pic>
          <p:nvPicPr>
            <p:cNvPr id="11282" name="Picture 1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943"/>
            <a:stretch>
              <a:fillRect/>
            </a:stretch>
          </p:blipFill>
          <p:spPr bwMode="auto">
            <a:xfrm>
              <a:off x="4504" y="2528"/>
              <a:ext cx="816" cy="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267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ro-RO" dirty="0" smtClean="0"/>
              <a:t>Java: </a:t>
            </a:r>
            <a:r>
              <a:rPr lang="en-CA" altLang="ro-RO" dirty="0" err="1" smtClean="0"/>
              <a:t>Istoric</a:t>
            </a:r>
            <a:r>
              <a:rPr lang="en-CA" altLang="ro-RO" dirty="0" smtClean="0"/>
              <a:t> (8)</a:t>
            </a:r>
            <a:endParaRPr lang="en-US" altLang="ro-RO" dirty="0" smtClean="0"/>
          </a:p>
        </p:txBody>
      </p:sp>
      <p:sp>
        <p:nvSpPr>
          <p:cNvPr id="164878" name="Rectangle 14"/>
          <p:cNvSpPr>
            <a:spLocks noGrp="1" noChangeArrowheads="1"/>
          </p:cNvSpPr>
          <p:nvPr>
            <p:ph type="body" idx="1"/>
          </p:nvPr>
        </p:nvSpPr>
        <p:spPr>
          <a:xfrm>
            <a:off x="901701" y="2001521"/>
            <a:ext cx="10058400" cy="4023360"/>
          </a:xfrm>
        </p:spPr>
        <p:txBody>
          <a:bodyPr/>
          <a:lstStyle/>
          <a:p>
            <a:r>
              <a:rPr lang="en-US" altLang="ro-RO" dirty="0" err="1"/>
              <a:t>Browserele</a:t>
            </a:r>
            <a:r>
              <a:rPr lang="en-US" altLang="ro-RO" dirty="0"/>
              <a:t> web </a:t>
            </a:r>
            <a:r>
              <a:rPr lang="ro-RO" altLang="ro-RO" dirty="0" smtClean="0"/>
              <a:t>ce au </a:t>
            </a:r>
            <a:r>
              <a:rPr lang="en-US" altLang="ro-RO" dirty="0" err="1" smtClean="0"/>
              <a:t>activat</a:t>
            </a:r>
            <a:r>
              <a:rPr lang="en-US" altLang="ro-RO" dirty="0" smtClean="0"/>
              <a:t> </a:t>
            </a:r>
            <a:r>
              <a:rPr lang="en-US" altLang="ro-RO" dirty="0"/>
              <a:t>Java au </a:t>
            </a:r>
            <a:r>
              <a:rPr lang="en-US" altLang="ro-RO" dirty="0" err="1"/>
              <a:t>permis</a:t>
            </a:r>
            <a:r>
              <a:rPr lang="en-US" altLang="ro-RO" dirty="0"/>
              <a:t> </a:t>
            </a:r>
            <a:r>
              <a:rPr lang="en-US" altLang="ro-RO" dirty="0" err="1"/>
              <a:t>descărcarea</a:t>
            </a:r>
            <a:r>
              <a:rPr lang="en-US" altLang="ro-RO" dirty="0"/>
              <a:t> de </a:t>
            </a:r>
            <a:r>
              <a:rPr lang="en-US" altLang="ro-RO" dirty="0" err="1"/>
              <a:t>programe</a:t>
            </a:r>
            <a:r>
              <a:rPr lang="en-US" altLang="ro-RO" dirty="0"/>
              <a:t> (Applets).</a:t>
            </a:r>
            <a:endParaRPr lang="en-CA" altLang="ro-RO" dirty="0" smtClean="0"/>
          </a:p>
          <a:p>
            <a:endParaRPr lang="en-US" altLang="ro-RO" dirty="0" smtClean="0"/>
          </a:p>
        </p:txBody>
      </p:sp>
      <p:grpSp>
        <p:nvGrpSpPr>
          <p:cNvPr id="11269" name="Group 15"/>
          <p:cNvGrpSpPr>
            <a:grpSpLocks/>
          </p:cNvGrpSpPr>
          <p:nvPr/>
        </p:nvGrpSpPr>
        <p:grpSpPr bwMode="auto">
          <a:xfrm>
            <a:off x="9418638" y="2787650"/>
            <a:ext cx="5180012" cy="215444"/>
            <a:chOff x="0" y="0"/>
            <a:chExt cx="3263" cy="215444"/>
          </a:xfrm>
        </p:grpSpPr>
        <p:sp>
          <p:nvSpPr>
            <p:cNvPr id="11279" name="Rectangle 16"/>
            <p:cNvSpPr>
              <a:spLocks noChangeArrowheads="1"/>
            </p:cNvSpPr>
            <p:nvPr/>
          </p:nvSpPr>
          <p:spPr bwMode="auto">
            <a:xfrm>
              <a:off x="0" y="0"/>
              <a:ext cx="326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ro-RO" altLang="ro-RO"/>
            </a:p>
          </p:txBody>
        </p:sp>
        <p:sp>
          <p:nvSpPr>
            <p:cNvPr id="11280" name="Rectangle 17"/>
            <p:cNvSpPr>
              <a:spLocks noChangeArrowheads="1"/>
            </p:cNvSpPr>
            <p:nvPr/>
          </p:nvSpPr>
          <p:spPr bwMode="auto">
            <a:xfrm>
              <a:off x="0" y="0"/>
              <a:ext cx="326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ro-RO" altLang="ro-RO"/>
            </a:p>
          </p:txBody>
        </p:sp>
      </p:grp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5321300" y="4318000"/>
            <a:ext cx="2895600" cy="304800"/>
            <a:chOff x="2256" y="2496"/>
            <a:chExt cx="1824" cy="192"/>
          </a:xfrm>
        </p:grpSpPr>
        <p:sp>
          <p:nvSpPr>
            <p:cNvPr id="11277" name="Line 19"/>
            <p:cNvSpPr>
              <a:spLocks noChangeShapeType="1"/>
            </p:cNvSpPr>
            <p:nvPr/>
          </p:nvSpPr>
          <p:spPr bwMode="auto">
            <a:xfrm>
              <a:off x="2256" y="2688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ro-RO"/>
            </a:p>
          </p:txBody>
        </p:sp>
        <p:sp>
          <p:nvSpPr>
            <p:cNvPr id="11278" name="Text Box 20"/>
            <p:cNvSpPr txBox="1">
              <a:spLocks noChangeArrowheads="1"/>
            </p:cNvSpPr>
            <p:nvPr/>
          </p:nvSpPr>
          <p:spPr bwMode="auto">
            <a:xfrm>
              <a:off x="2256" y="2496"/>
              <a:ext cx="182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ro-RO" altLang="ro-RO" sz="1600" dirty="0" smtClean="0"/>
                <a:t>Utilizatorul face click pe un </a:t>
              </a:r>
              <a:r>
                <a:rPr lang="en-CA" altLang="ro-RO" sz="1600" dirty="0" smtClean="0"/>
                <a:t>link </a:t>
              </a:r>
              <a:endParaRPr lang="en-CA" altLang="ro-RO" sz="1600" dirty="0"/>
            </a:p>
          </p:txBody>
        </p:sp>
      </p:grpSp>
      <p:grpSp>
        <p:nvGrpSpPr>
          <p:cNvPr id="9" name="Group 21"/>
          <p:cNvGrpSpPr>
            <a:grpSpLocks/>
          </p:cNvGrpSpPr>
          <p:nvPr/>
        </p:nvGrpSpPr>
        <p:grpSpPr bwMode="auto">
          <a:xfrm>
            <a:off x="3644900" y="4241801"/>
            <a:ext cx="4572000" cy="1103313"/>
            <a:chOff x="1200" y="2448"/>
            <a:chExt cx="2880" cy="695"/>
          </a:xfrm>
        </p:grpSpPr>
        <p:grpSp>
          <p:nvGrpSpPr>
            <p:cNvPr id="11273" name="Group 22"/>
            <p:cNvGrpSpPr>
              <a:grpSpLocks/>
            </p:cNvGrpSpPr>
            <p:nvPr/>
          </p:nvGrpSpPr>
          <p:grpSpPr bwMode="auto">
            <a:xfrm>
              <a:off x="2256" y="2784"/>
              <a:ext cx="1824" cy="202"/>
              <a:chOff x="2256" y="2784"/>
              <a:chExt cx="1824" cy="202"/>
            </a:xfrm>
          </p:grpSpPr>
          <p:sp>
            <p:nvSpPr>
              <p:cNvPr id="11275" name="Line 23"/>
              <p:cNvSpPr>
                <a:spLocks noChangeShapeType="1"/>
              </p:cNvSpPr>
              <p:nvPr/>
            </p:nvSpPr>
            <p:spPr bwMode="auto">
              <a:xfrm flipH="1">
                <a:off x="2256" y="2784"/>
                <a:ext cx="16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ro-RO"/>
              </a:p>
            </p:txBody>
          </p:sp>
          <p:sp>
            <p:nvSpPr>
              <p:cNvPr id="11276" name="Text Box 24"/>
              <p:cNvSpPr txBox="1">
                <a:spLocks noChangeArrowheads="1"/>
              </p:cNvSpPr>
              <p:nvPr/>
            </p:nvSpPr>
            <p:spPr bwMode="auto">
              <a:xfrm>
                <a:off x="2256" y="2832"/>
                <a:ext cx="182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CA" altLang="ro-RO" sz="1600"/>
                  <a:t>Java Applet downloaded</a:t>
                </a:r>
              </a:p>
            </p:txBody>
          </p:sp>
        </p:grpSp>
        <p:pic>
          <p:nvPicPr>
            <p:cNvPr id="11274" name="Picture 25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81" b="4167"/>
            <a:stretch>
              <a:fillRect/>
            </a:stretch>
          </p:blipFill>
          <p:spPr bwMode="auto">
            <a:xfrm>
              <a:off x="1200" y="2448"/>
              <a:ext cx="960" cy="6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11756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78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altLang="ro-RO" smtClean="0"/>
              <a:t>Java: Write Once, Run Anywhere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108076"/>
            <a:ext cx="4008438" cy="5368925"/>
          </a:xfrm>
        </p:spPr>
        <p:txBody>
          <a:bodyPr/>
          <a:lstStyle/>
          <a:p>
            <a:pPr>
              <a:tabLst>
                <a:tab pos="476250" algn="l"/>
              </a:tabLst>
            </a:pPr>
            <a:r>
              <a:rPr lang="en-CA" altLang="ro-RO" dirty="0" err="1"/>
              <a:t>Consecința</a:t>
            </a:r>
            <a:r>
              <a:rPr lang="en-CA" altLang="ro-RO" dirty="0"/>
              <a:t> </a:t>
            </a:r>
            <a:r>
              <a:rPr lang="en-CA" altLang="ro-RO" dirty="0" err="1"/>
              <a:t>istoricului</a:t>
            </a:r>
            <a:r>
              <a:rPr lang="en-CA" altLang="ro-RO" dirty="0"/>
              <a:t> Java: </a:t>
            </a:r>
            <a:r>
              <a:rPr lang="en-CA" altLang="ro-RO" dirty="0" err="1"/>
              <a:t>independența</a:t>
            </a:r>
            <a:r>
              <a:rPr lang="en-CA" altLang="ro-RO" dirty="0"/>
              <a:t> </a:t>
            </a:r>
            <a:r>
              <a:rPr lang="en-CA" altLang="ro-RO" dirty="0" err="1"/>
              <a:t>platformei</a:t>
            </a:r>
            <a:endParaRPr lang="en-CA" altLang="ro-RO" dirty="0"/>
          </a:p>
          <a:p>
            <a:pPr>
              <a:tabLst>
                <a:tab pos="476250" algn="l"/>
              </a:tabLst>
            </a:pPr>
            <a:endParaRPr lang="en-CA" altLang="ro-RO" dirty="0"/>
          </a:p>
          <a:p>
            <a:pPr>
              <a:tabLst>
                <a:tab pos="476250" algn="l"/>
              </a:tabLst>
            </a:pPr>
            <a:endParaRPr lang="en-CA" altLang="ro-RO" dirty="0"/>
          </a:p>
          <a:p>
            <a:pPr>
              <a:tabLst>
                <a:tab pos="476250" algn="l"/>
              </a:tabLst>
            </a:pPr>
            <a:endParaRPr lang="en-CA" altLang="ro-RO" dirty="0"/>
          </a:p>
          <a:p>
            <a:pPr>
              <a:tabLst>
                <a:tab pos="476250" algn="l"/>
              </a:tabLst>
            </a:pPr>
            <a:endParaRPr lang="en-CA" altLang="ro-RO" dirty="0"/>
          </a:p>
          <a:p>
            <a:pPr>
              <a:tabLst>
                <a:tab pos="476250" algn="l"/>
              </a:tabLst>
            </a:pPr>
            <a:endParaRPr lang="en-CA" altLang="ro-RO" dirty="0"/>
          </a:p>
        </p:txBody>
      </p:sp>
      <p:grpSp>
        <p:nvGrpSpPr>
          <p:cNvPr id="12292" name="Group 4"/>
          <p:cNvGrpSpPr>
            <a:grpSpLocks/>
          </p:cNvGrpSpPr>
          <p:nvPr/>
        </p:nvGrpSpPr>
        <p:grpSpPr bwMode="auto">
          <a:xfrm>
            <a:off x="9202738" y="2571750"/>
            <a:ext cx="5180012" cy="215444"/>
            <a:chOff x="0" y="0"/>
            <a:chExt cx="3263" cy="215444"/>
          </a:xfrm>
        </p:grpSpPr>
        <p:sp>
          <p:nvSpPr>
            <p:cNvPr id="12308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326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ro-RO" altLang="ro-RO"/>
            </a:p>
          </p:txBody>
        </p:sp>
        <p:sp>
          <p:nvSpPr>
            <p:cNvPr id="12309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326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ro-RO" altLang="ro-RO"/>
            </a:p>
          </p:txBody>
        </p:sp>
      </p:grpSp>
      <p:pic>
        <p:nvPicPr>
          <p:cNvPr id="12293" name="Picture 7" descr="computergu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590800"/>
            <a:ext cx="1143000" cy="97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8" descr="pe02032_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800601"/>
            <a:ext cx="990600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5" name="Picture 9" descr="sblade100-1sm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1" y="2667000"/>
            <a:ext cx="779463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6" name="Text Box 10"/>
          <p:cNvSpPr txBox="1">
            <a:spLocks noChangeArrowheads="1"/>
          </p:cNvSpPr>
          <p:nvPr/>
        </p:nvSpPr>
        <p:spPr bwMode="auto">
          <a:xfrm>
            <a:off x="2362201" y="3505201"/>
            <a:ext cx="21574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CA" altLang="ro-RO" sz="1600"/>
              <a:t>Mac user running Safari</a:t>
            </a:r>
          </a:p>
        </p:txBody>
      </p:sp>
      <p:sp>
        <p:nvSpPr>
          <p:cNvPr id="12297" name="Text Box 11"/>
          <p:cNvSpPr txBox="1">
            <a:spLocks noChangeArrowheads="1"/>
          </p:cNvSpPr>
          <p:nvPr/>
        </p:nvSpPr>
        <p:spPr bwMode="auto">
          <a:xfrm>
            <a:off x="2362201" y="5486400"/>
            <a:ext cx="314348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CA" altLang="ro-RO"/>
              <a:t>Windows user running Internet Explorer</a:t>
            </a:r>
          </a:p>
        </p:txBody>
      </p:sp>
      <p:sp>
        <p:nvSpPr>
          <p:cNvPr id="12298" name="Text Box 12"/>
          <p:cNvSpPr txBox="1">
            <a:spLocks noChangeArrowheads="1"/>
          </p:cNvSpPr>
          <p:nvPr/>
        </p:nvSpPr>
        <p:spPr bwMode="auto">
          <a:xfrm>
            <a:off x="7896225" y="3644900"/>
            <a:ext cx="256313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CA" altLang="ro-RO"/>
              <a:t>Web page stored on Unix server</a:t>
            </a: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3429000" y="2819400"/>
            <a:ext cx="4800600" cy="1219200"/>
            <a:chOff x="1200" y="1776"/>
            <a:chExt cx="3024" cy="768"/>
          </a:xfrm>
        </p:grpSpPr>
        <p:sp>
          <p:nvSpPr>
            <p:cNvPr id="12306" name="Line 14"/>
            <p:cNvSpPr>
              <a:spLocks noChangeShapeType="1"/>
            </p:cNvSpPr>
            <p:nvPr/>
          </p:nvSpPr>
          <p:spPr bwMode="auto">
            <a:xfrm>
              <a:off x="1200" y="1872"/>
              <a:ext cx="3024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ro-RO"/>
            </a:p>
          </p:txBody>
        </p:sp>
        <p:sp>
          <p:nvSpPr>
            <p:cNvPr id="12307" name="Text Box 15"/>
            <p:cNvSpPr txBox="1">
              <a:spLocks noChangeArrowheads="1"/>
            </p:cNvSpPr>
            <p:nvPr/>
          </p:nvSpPr>
          <p:spPr bwMode="auto">
            <a:xfrm>
              <a:off x="1488" y="1776"/>
              <a:ext cx="107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CA" altLang="ro-RO"/>
                <a:t>Click on link to Applet</a:t>
              </a:r>
            </a:p>
          </p:txBody>
        </p:sp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3352801" y="3124200"/>
            <a:ext cx="4886325" cy="1282700"/>
            <a:chOff x="1152" y="1968"/>
            <a:chExt cx="3078" cy="808"/>
          </a:xfrm>
        </p:grpSpPr>
        <p:sp>
          <p:nvSpPr>
            <p:cNvPr id="12304" name="Line 17"/>
            <p:cNvSpPr>
              <a:spLocks noChangeShapeType="1"/>
            </p:cNvSpPr>
            <p:nvPr/>
          </p:nvSpPr>
          <p:spPr bwMode="auto">
            <a:xfrm flipH="1" flipV="1">
              <a:off x="1152" y="1968"/>
              <a:ext cx="3024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ro-RO"/>
            </a:p>
          </p:txBody>
        </p:sp>
        <p:sp>
          <p:nvSpPr>
            <p:cNvPr id="12305" name="Text Box 18"/>
            <p:cNvSpPr txBox="1">
              <a:spLocks noChangeArrowheads="1"/>
            </p:cNvSpPr>
            <p:nvPr/>
          </p:nvSpPr>
          <p:spPr bwMode="auto">
            <a:xfrm>
              <a:off x="2976" y="2640"/>
              <a:ext cx="125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CA" altLang="ro-RO"/>
                <a:t>Byte code is downloaded</a:t>
              </a:r>
            </a:p>
          </p:txBody>
        </p:sp>
      </p:grpSp>
      <p:sp>
        <p:nvSpPr>
          <p:cNvPr id="165907" name="Rectangle 19"/>
          <p:cNvSpPr>
            <a:spLocks noChangeArrowheads="1"/>
          </p:cNvSpPr>
          <p:nvPr/>
        </p:nvSpPr>
        <p:spPr bwMode="auto">
          <a:xfrm>
            <a:off x="2362200" y="3733800"/>
            <a:ext cx="3200400" cy="838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2000" tIns="0" rIns="0" bIns="0" anchor="ctr"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CA" altLang="ro-RO"/>
              <a:t>Virtual machine translates byte code to </a:t>
            </a:r>
          </a:p>
          <a:p>
            <a:pPr eaLnBrk="1" hangingPunct="1">
              <a:spcBef>
                <a:spcPct val="50000"/>
              </a:spcBef>
            </a:pPr>
            <a:r>
              <a:rPr lang="en-CA" altLang="ro-RO"/>
              <a:t>native Mac code and the Applet is run</a:t>
            </a:r>
          </a:p>
        </p:txBody>
      </p:sp>
      <p:sp>
        <p:nvSpPr>
          <p:cNvPr id="12302" name="Text Box 20"/>
          <p:cNvSpPr txBox="1">
            <a:spLocks noChangeArrowheads="1"/>
          </p:cNvSpPr>
          <p:nvPr/>
        </p:nvSpPr>
        <p:spPr bwMode="auto">
          <a:xfrm>
            <a:off x="8256589" y="5661026"/>
            <a:ext cx="1366837" cy="740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00" tIns="46800" rIns="936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CA" altLang="ro-RO"/>
              <a:t>Byte code (part of web page)</a:t>
            </a:r>
            <a:endParaRPr lang="en-US" altLang="ro-RO"/>
          </a:p>
        </p:txBody>
      </p:sp>
      <p:pic>
        <p:nvPicPr>
          <p:cNvPr id="12303" name="Picture 21" descr="que-chan2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28025" y="3933825"/>
            <a:ext cx="2160588" cy="1677988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70908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907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altLang="ro-RO" smtClean="0"/>
              <a:t>Java: Write Once, Run Anywhere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108076"/>
            <a:ext cx="4008438" cy="5368925"/>
          </a:xfrm>
        </p:spPr>
        <p:txBody>
          <a:bodyPr/>
          <a:lstStyle/>
          <a:p>
            <a:pPr>
              <a:tabLst>
                <a:tab pos="476250" algn="l"/>
              </a:tabLst>
            </a:pPr>
            <a:r>
              <a:rPr lang="en-CA" altLang="ro-RO" dirty="0"/>
              <a:t>Consequence of Java’s </a:t>
            </a:r>
            <a:r>
              <a:rPr lang="en-CA" altLang="ro-RO" dirty="0" err="1" smtClean="0"/>
              <a:t>Istoric</a:t>
            </a:r>
            <a:r>
              <a:rPr lang="en-CA" altLang="ro-RO" dirty="0" smtClean="0"/>
              <a:t>: </a:t>
            </a:r>
            <a:r>
              <a:rPr lang="en-CA" altLang="ro-RO" dirty="0"/>
              <a:t>platform-independent</a:t>
            </a:r>
          </a:p>
          <a:p>
            <a:pPr>
              <a:tabLst>
                <a:tab pos="476250" algn="l"/>
              </a:tabLst>
            </a:pPr>
            <a:endParaRPr lang="en-CA" altLang="ro-RO" dirty="0"/>
          </a:p>
          <a:p>
            <a:pPr>
              <a:tabLst>
                <a:tab pos="476250" algn="l"/>
              </a:tabLst>
            </a:pPr>
            <a:endParaRPr lang="en-CA" altLang="ro-RO" dirty="0"/>
          </a:p>
          <a:p>
            <a:pPr>
              <a:tabLst>
                <a:tab pos="476250" algn="l"/>
              </a:tabLst>
            </a:pPr>
            <a:endParaRPr lang="en-CA" altLang="ro-RO" dirty="0"/>
          </a:p>
          <a:p>
            <a:pPr>
              <a:tabLst>
                <a:tab pos="476250" algn="l"/>
              </a:tabLst>
            </a:pPr>
            <a:endParaRPr lang="en-CA" altLang="ro-RO" dirty="0"/>
          </a:p>
          <a:p>
            <a:pPr>
              <a:tabLst>
                <a:tab pos="476250" algn="l"/>
              </a:tabLst>
            </a:pPr>
            <a:endParaRPr lang="en-CA" altLang="ro-RO" dirty="0"/>
          </a:p>
          <a:p>
            <a:pPr>
              <a:tabLst>
                <a:tab pos="476250" algn="l"/>
              </a:tabLst>
            </a:pPr>
            <a:endParaRPr lang="en-CA" altLang="ro-RO" dirty="0"/>
          </a:p>
        </p:txBody>
      </p:sp>
      <p:grpSp>
        <p:nvGrpSpPr>
          <p:cNvPr id="13316" name="Group 4"/>
          <p:cNvGrpSpPr>
            <a:grpSpLocks/>
          </p:cNvGrpSpPr>
          <p:nvPr/>
        </p:nvGrpSpPr>
        <p:grpSpPr bwMode="auto">
          <a:xfrm>
            <a:off x="9202738" y="2571750"/>
            <a:ext cx="5180012" cy="215444"/>
            <a:chOff x="0" y="0"/>
            <a:chExt cx="3263" cy="215444"/>
          </a:xfrm>
        </p:grpSpPr>
        <p:sp>
          <p:nvSpPr>
            <p:cNvPr id="1333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326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ro-RO" altLang="ro-RO"/>
            </a:p>
          </p:txBody>
        </p:sp>
        <p:sp>
          <p:nvSpPr>
            <p:cNvPr id="13332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326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ro-RO" altLang="ro-RO"/>
            </a:p>
          </p:txBody>
        </p:sp>
      </p:grpSp>
      <p:pic>
        <p:nvPicPr>
          <p:cNvPr id="13317" name="Picture 7" descr="computergu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590800"/>
            <a:ext cx="1143000" cy="97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8" descr="pe02032_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800601"/>
            <a:ext cx="990600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9" name="Picture 9" descr="sblade100-1sm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1" y="2667000"/>
            <a:ext cx="779463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0" name="Text Box 10"/>
          <p:cNvSpPr txBox="1">
            <a:spLocks noChangeArrowheads="1"/>
          </p:cNvSpPr>
          <p:nvPr/>
        </p:nvSpPr>
        <p:spPr bwMode="auto">
          <a:xfrm>
            <a:off x="2362201" y="3505201"/>
            <a:ext cx="21574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CA" altLang="ro-RO" sz="1600"/>
              <a:t>Mac user running Safari</a:t>
            </a:r>
          </a:p>
        </p:txBody>
      </p:sp>
      <p:sp>
        <p:nvSpPr>
          <p:cNvPr id="13321" name="Text Box 11"/>
          <p:cNvSpPr txBox="1">
            <a:spLocks noChangeArrowheads="1"/>
          </p:cNvSpPr>
          <p:nvPr/>
        </p:nvSpPr>
        <p:spPr bwMode="auto">
          <a:xfrm>
            <a:off x="2362201" y="5486400"/>
            <a:ext cx="314348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CA" altLang="ro-RO"/>
              <a:t>Windows user running Internet Explorer</a:t>
            </a:r>
          </a:p>
        </p:txBody>
      </p:sp>
      <p:sp>
        <p:nvSpPr>
          <p:cNvPr id="13322" name="Text Box 12"/>
          <p:cNvSpPr txBox="1">
            <a:spLocks noChangeArrowheads="1"/>
          </p:cNvSpPr>
          <p:nvPr/>
        </p:nvSpPr>
        <p:spPr bwMode="auto">
          <a:xfrm>
            <a:off x="7896225" y="3644900"/>
            <a:ext cx="256313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CA" altLang="ro-RO"/>
              <a:t>Web page stored on Unix server</a:t>
            </a: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3276600" y="4038600"/>
            <a:ext cx="4953000" cy="838200"/>
            <a:chOff x="1104" y="2544"/>
            <a:chExt cx="3120" cy="528"/>
          </a:xfrm>
        </p:grpSpPr>
        <p:sp>
          <p:nvSpPr>
            <p:cNvPr id="13329" name="Line 14"/>
            <p:cNvSpPr>
              <a:spLocks noChangeShapeType="1"/>
            </p:cNvSpPr>
            <p:nvPr/>
          </p:nvSpPr>
          <p:spPr bwMode="auto">
            <a:xfrm flipV="1">
              <a:off x="1248" y="2544"/>
              <a:ext cx="2976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ro-RO"/>
            </a:p>
          </p:txBody>
        </p:sp>
        <p:sp>
          <p:nvSpPr>
            <p:cNvPr id="13330" name="Text Box 15"/>
            <p:cNvSpPr txBox="1">
              <a:spLocks noChangeArrowheads="1"/>
            </p:cNvSpPr>
            <p:nvPr/>
          </p:nvSpPr>
          <p:spPr bwMode="auto">
            <a:xfrm>
              <a:off x="1104" y="2784"/>
              <a:ext cx="107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CA" altLang="ro-RO"/>
                <a:t>Click on link to Applet</a:t>
              </a:r>
            </a:p>
          </p:txBody>
        </p:sp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3505201" y="4267200"/>
            <a:ext cx="4810125" cy="838200"/>
            <a:chOff x="1248" y="2688"/>
            <a:chExt cx="3030" cy="528"/>
          </a:xfrm>
        </p:grpSpPr>
        <p:sp>
          <p:nvSpPr>
            <p:cNvPr id="13327" name="Line 17"/>
            <p:cNvSpPr>
              <a:spLocks noChangeShapeType="1"/>
            </p:cNvSpPr>
            <p:nvPr/>
          </p:nvSpPr>
          <p:spPr bwMode="auto">
            <a:xfrm flipH="1">
              <a:off x="1248" y="2688"/>
              <a:ext cx="3024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ro-RO"/>
            </a:p>
          </p:txBody>
        </p:sp>
        <p:sp>
          <p:nvSpPr>
            <p:cNvPr id="13328" name="Text Box 18"/>
            <p:cNvSpPr txBox="1">
              <a:spLocks noChangeArrowheads="1"/>
            </p:cNvSpPr>
            <p:nvPr/>
          </p:nvSpPr>
          <p:spPr bwMode="auto">
            <a:xfrm>
              <a:off x="3024" y="2928"/>
              <a:ext cx="125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CA" altLang="ro-RO"/>
                <a:t>Byte code is downloaded</a:t>
              </a:r>
            </a:p>
          </p:txBody>
        </p:sp>
      </p:grpSp>
      <p:sp>
        <p:nvSpPr>
          <p:cNvPr id="166931" name="Rectangle 19"/>
          <p:cNvSpPr>
            <a:spLocks noChangeArrowheads="1"/>
          </p:cNvSpPr>
          <p:nvPr/>
        </p:nvSpPr>
        <p:spPr bwMode="auto">
          <a:xfrm>
            <a:off x="2362200" y="5715000"/>
            <a:ext cx="3505200" cy="914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2000" tIns="0" rIns="0" bIns="0" anchor="ctr"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CA" altLang="ro-RO"/>
              <a:t>Virtual machine translates byte code to </a:t>
            </a:r>
          </a:p>
          <a:p>
            <a:pPr eaLnBrk="1" hangingPunct="1">
              <a:spcBef>
                <a:spcPct val="50000"/>
              </a:spcBef>
            </a:pPr>
            <a:r>
              <a:rPr lang="en-CA" altLang="ro-RO"/>
              <a:t>native Windows code and the Applet is run</a:t>
            </a:r>
          </a:p>
        </p:txBody>
      </p:sp>
      <p:pic>
        <p:nvPicPr>
          <p:cNvPr id="13326" name="Picture 20" descr="que-chan2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28026" y="3933826"/>
            <a:ext cx="2155825" cy="1674813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05172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31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ro-RO" smtClean="0"/>
              <a:t>Java: Write Once, Run Anywhere (2)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ro-RO" smtClean="0"/>
              <a:t>But Java can also create standard (non-web based) programs</a:t>
            </a:r>
          </a:p>
        </p:txBody>
      </p:sp>
      <p:grpSp>
        <p:nvGrpSpPr>
          <p:cNvPr id="14349" name="Group 13"/>
          <p:cNvGrpSpPr>
            <a:grpSpLocks/>
          </p:cNvGrpSpPr>
          <p:nvPr/>
        </p:nvGrpSpPr>
        <p:grpSpPr bwMode="auto">
          <a:xfrm>
            <a:off x="2171701" y="1666876"/>
            <a:ext cx="3413125" cy="3509963"/>
            <a:chOff x="416" y="1026"/>
            <a:chExt cx="2150" cy="2211"/>
          </a:xfrm>
        </p:grpSpPr>
        <p:pic>
          <p:nvPicPr>
            <p:cNvPr id="14340" name="Picture 4" descr="image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8" y="1026"/>
              <a:ext cx="2138" cy="1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41" name="Rectangle 5"/>
            <p:cNvSpPr>
              <a:spLocks noChangeArrowheads="1"/>
            </p:cNvSpPr>
            <p:nvPr/>
          </p:nvSpPr>
          <p:spPr bwMode="auto">
            <a:xfrm>
              <a:off x="416" y="2933"/>
              <a:ext cx="2070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46800" rIns="936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70000"/>
                </a:lnSpc>
                <a:spcBef>
                  <a:spcPct val="30000"/>
                </a:spcBef>
              </a:pPr>
              <a:r>
                <a:rPr lang="en-CA" altLang="ro-RO" sz="1600"/>
                <a:t>Dungeon Master (Java version) </a:t>
              </a:r>
            </a:p>
            <a:p>
              <a:pPr>
                <a:lnSpc>
                  <a:spcPct val="70000"/>
                </a:lnSpc>
                <a:spcBef>
                  <a:spcPct val="30000"/>
                </a:spcBef>
              </a:pPr>
              <a:r>
                <a:rPr lang="en-CA" altLang="ro-RO">
                  <a:hlinkClick r:id="rId3"/>
                </a:rPr>
                <a:t>http://homepage.mac.com/aberfield/dmj/</a:t>
              </a:r>
              <a:endParaRPr lang="en-CA" altLang="ro-RO"/>
            </a:p>
          </p:txBody>
        </p:sp>
      </p:grpSp>
      <p:sp>
        <p:nvSpPr>
          <p:cNvPr id="14347" name="Rectangle 11"/>
          <p:cNvSpPr>
            <a:spLocks noChangeArrowheads="1"/>
          </p:cNvSpPr>
          <p:nvPr/>
        </p:nvSpPr>
        <p:spPr bwMode="auto">
          <a:xfrm>
            <a:off x="1524000" y="6553200"/>
            <a:ext cx="65669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ro-RO"/>
              <a:t>Examples of mobile Java games: http://www.mobilegamesarena.net</a:t>
            </a:r>
          </a:p>
        </p:txBody>
      </p:sp>
      <p:grpSp>
        <p:nvGrpSpPr>
          <p:cNvPr id="14350" name="Group 14"/>
          <p:cNvGrpSpPr>
            <a:grpSpLocks/>
          </p:cNvGrpSpPr>
          <p:nvPr/>
        </p:nvGrpSpPr>
        <p:grpSpPr bwMode="auto">
          <a:xfrm>
            <a:off x="6534151" y="1627189"/>
            <a:ext cx="2251075" cy="3313113"/>
            <a:chOff x="3148" y="1041"/>
            <a:chExt cx="1418" cy="2087"/>
          </a:xfrm>
        </p:grpSpPr>
        <p:pic>
          <p:nvPicPr>
            <p:cNvPr id="14346" name="Picture 10" descr="Kung Fu Panda 2: The Official Mobile Gam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8" y="1041"/>
              <a:ext cx="1418" cy="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348" name="Rectangle 5"/>
            <p:cNvSpPr>
              <a:spLocks noChangeArrowheads="1"/>
            </p:cNvSpPr>
            <p:nvPr/>
          </p:nvSpPr>
          <p:spPr bwMode="auto">
            <a:xfrm>
              <a:off x="3160" y="2973"/>
              <a:ext cx="1236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46800" rIns="936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70000"/>
                </a:lnSpc>
                <a:spcBef>
                  <a:spcPct val="30000"/>
                </a:spcBef>
              </a:pPr>
              <a:r>
                <a:rPr lang="en-CA" altLang="ro-RO"/>
                <a:t>Kung Fu Panda 2: THQ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2975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ro-RO" smtClean="0"/>
              <a:t>Java: Write Once, Run Anywhere (3)</a:t>
            </a:r>
            <a:endParaRPr lang="en-US" altLang="ro-RO" smtClean="0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ro-RO" smtClean="0"/>
              <a:t>Java has been used by large and reputable companies to create serious stand-alone applications.</a:t>
            </a:r>
          </a:p>
          <a:p>
            <a:r>
              <a:rPr lang="en-US" altLang="ro-RO" smtClean="0"/>
              <a:t>Example:</a:t>
            </a:r>
          </a:p>
          <a:p>
            <a:pPr lvl="1"/>
            <a:r>
              <a:rPr lang="en-US" altLang="ro-RO" smtClean="0"/>
              <a:t>Eclipse</a:t>
            </a:r>
            <a:r>
              <a:rPr lang="en-US" altLang="ro-RO" baseline="30000" smtClean="0"/>
              <a:t>1</a:t>
            </a:r>
            <a:r>
              <a:rPr lang="en-US" altLang="ro-RO" smtClean="0"/>
              <a:t>: started as a programming environment created by IBM for developing Java programs. The program Eclipse was itself written in Java.</a:t>
            </a:r>
          </a:p>
        </p:txBody>
      </p:sp>
      <p:sp>
        <p:nvSpPr>
          <p:cNvPr id="168964" name="Rectangle 4"/>
          <p:cNvSpPr>
            <a:spLocks noChangeArrowheads="1"/>
          </p:cNvSpPr>
          <p:nvPr/>
        </p:nvSpPr>
        <p:spPr bwMode="auto">
          <a:xfrm>
            <a:off x="1524001" y="6553200"/>
            <a:ext cx="52498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o-RO"/>
              <a:t>1 For more information: </a:t>
            </a:r>
            <a:r>
              <a:rPr lang="en-US" altLang="ro-RO">
                <a:hlinkClick r:id="rId2"/>
              </a:rPr>
              <a:t>http://www.eclipse.org/downloads/</a:t>
            </a:r>
            <a:endParaRPr lang="en-US" altLang="ro-RO"/>
          </a:p>
        </p:txBody>
      </p:sp>
      <p:pic>
        <p:nvPicPr>
          <p:cNvPr id="168965" name="Picture 5" descr="strutsex3DesignerFina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0464" y="3151189"/>
            <a:ext cx="4029075" cy="331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0622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3" grpId="0" build="p"/>
      <p:bldP spid="16896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81226" y="361950"/>
            <a:ext cx="7712075" cy="34925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eaLnBrk="1" hangingPunct="1">
              <a:defRPr/>
            </a:pPr>
            <a:r>
              <a:rPr lang="en-CA" smtClean="0"/>
              <a:t>Compiled Programs With Different </a:t>
            </a:r>
            <a:br>
              <a:rPr lang="en-CA" smtClean="0"/>
            </a:br>
            <a:r>
              <a:rPr lang="en-CA" smtClean="0"/>
              <a:t>Operating Systems</a:t>
            </a: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3432176" y="1412875"/>
            <a:ext cx="6596063" cy="2376488"/>
            <a:chOff x="1908175" y="1412875"/>
            <a:chExt cx="6595744" cy="2376489"/>
          </a:xfrm>
        </p:grpSpPr>
        <p:grpSp>
          <p:nvGrpSpPr>
            <p:cNvPr id="16404" name="Group 28"/>
            <p:cNvGrpSpPr>
              <a:grpSpLocks/>
            </p:cNvGrpSpPr>
            <p:nvPr/>
          </p:nvGrpSpPr>
          <p:grpSpPr bwMode="auto">
            <a:xfrm>
              <a:off x="1908175" y="1916113"/>
              <a:ext cx="6595744" cy="1873251"/>
              <a:chOff x="1908175" y="1916113"/>
              <a:chExt cx="6595744" cy="1873251"/>
            </a:xfrm>
          </p:grpSpPr>
          <p:sp>
            <p:nvSpPr>
              <p:cNvPr id="16406" name="AutoShape 6"/>
              <p:cNvSpPr>
                <a:spLocks noChangeArrowheads="1"/>
              </p:cNvSpPr>
              <p:nvPr/>
            </p:nvSpPr>
            <p:spPr bwMode="auto">
              <a:xfrm>
                <a:off x="3416300" y="2204039"/>
                <a:ext cx="335377" cy="1043399"/>
              </a:xfrm>
              <a:prstGeom prst="irregularSeal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3600" tIns="46800" rIns="93600" bIns="46800" anchor="ctr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ro-RO" sz="1800">
                  <a:latin typeface="Calibri" panose="020F0502020204030204" pitchFamily="34" charset="0"/>
                </a:endParaRPr>
              </a:p>
            </p:txBody>
          </p:sp>
          <p:sp>
            <p:nvSpPr>
              <p:cNvPr id="16407" name="Text Box 7"/>
              <p:cNvSpPr txBox="1">
                <a:spLocks noChangeArrowheads="1"/>
              </p:cNvSpPr>
              <p:nvPr/>
            </p:nvSpPr>
            <p:spPr bwMode="auto">
              <a:xfrm>
                <a:off x="3348038" y="1916113"/>
                <a:ext cx="1203325" cy="487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3600" tIns="46800" rIns="93600" bIns="4680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</a:pPr>
                <a:r>
                  <a:rPr lang="en-CA" altLang="ro-RO" sz="1800">
                    <a:latin typeface="Times New Roman" panose="02020603050405020304" pitchFamily="18" charset="0"/>
                  </a:rPr>
                  <a:t>Windows compiler</a:t>
                </a:r>
              </a:p>
            </p:txBody>
          </p:sp>
          <p:sp>
            <p:nvSpPr>
              <p:cNvPr id="16408" name="Rectangle 8"/>
              <p:cNvSpPr>
                <a:spLocks noChangeArrowheads="1"/>
              </p:cNvSpPr>
              <p:nvPr/>
            </p:nvSpPr>
            <p:spPr bwMode="auto">
              <a:xfrm>
                <a:off x="5795962" y="2492376"/>
                <a:ext cx="2707957" cy="431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46800" rIns="93600" bIns="46800" anchor="ctr"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  <a:spcBef>
                    <a:spcPct val="70000"/>
                  </a:spcBef>
                </a:pPr>
                <a:r>
                  <a:rPr lang="en-US" altLang="ro-RO" sz="1800">
                    <a:latin typeface="Times New Roman" panose="02020603050405020304" pitchFamily="18" charset="0"/>
                  </a:rPr>
                  <a:t>Executable (Windows)</a:t>
                </a:r>
                <a:endParaRPr lang="en-CA" altLang="ro-RO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09" name="Line 9"/>
              <p:cNvSpPr>
                <a:spLocks noChangeShapeType="1"/>
              </p:cNvSpPr>
              <p:nvPr/>
            </p:nvSpPr>
            <p:spPr bwMode="auto">
              <a:xfrm flipV="1">
                <a:off x="1908175" y="2708276"/>
                <a:ext cx="1584325" cy="10810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3600" tIns="46800" rIns="93600" bIns="46800">
                <a:spAutoFit/>
              </a:bodyPr>
              <a:lstStyle/>
              <a:p>
                <a:endParaRPr lang="ro-RO"/>
              </a:p>
            </p:txBody>
          </p:sp>
          <p:sp>
            <p:nvSpPr>
              <p:cNvPr id="16410" name="Line 10"/>
              <p:cNvSpPr>
                <a:spLocks noChangeShapeType="1"/>
              </p:cNvSpPr>
              <p:nvPr/>
            </p:nvSpPr>
            <p:spPr bwMode="auto">
              <a:xfrm>
                <a:off x="4140200" y="2708276"/>
                <a:ext cx="165576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3600" tIns="46800" rIns="93600" bIns="46800">
                <a:spAutoFit/>
              </a:bodyPr>
              <a:lstStyle/>
              <a:p>
                <a:endParaRPr lang="ro-RO"/>
              </a:p>
            </p:txBody>
          </p:sp>
        </p:grpSp>
        <p:pic>
          <p:nvPicPr>
            <p:cNvPr id="16405" name="Picture 11" descr="sblade100-1s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95963" y="1412875"/>
              <a:ext cx="885825" cy="1039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3359151" y="3789363"/>
            <a:ext cx="5895975" cy="2832100"/>
            <a:chOff x="1156" y="2387"/>
            <a:chExt cx="3714" cy="1784"/>
          </a:xfrm>
        </p:grpSpPr>
        <p:sp>
          <p:nvSpPr>
            <p:cNvPr id="16398" name="AutoShape 14"/>
            <p:cNvSpPr>
              <a:spLocks noChangeArrowheads="1"/>
            </p:cNvSpPr>
            <p:nvPr/>
          </p:nvSpPr>
          <p:spPr bwMode="auto">
            <a:xfrm>
              <a:off x="2293" y="3514"/>
              <a:ext cx="211" cy="657"/>
            </a:xfrm>
            <a:prstGeom prst="irregularSeal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3600" tIns="46800" rIns="93600" bIns="46800" anchor="ctr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ro-RO" sz="1800">
                <a:latin typeface="Calibri" panose="020F0502020204030204" pitchFamily="34" charset="0"/>
              </a:endParaRPr>
            </a:p>
          </p:txBody>
        </p:sp>
        <p:sp>
          <p:nvSpPr>
            <p:cNvPr id="16399" name="Text Box 15"/>
            <p:cNvSpPr txBox="1">
              <a:spLocks noChangeArrowheads="1"/>
            </p:cNvSpPr>
            <p:nvPr/>
          </p:nvSpPr>
          <p:spPr bwMode="auto">
            <a:xfrm>
              <a:off x="2200" y="3339"/>
              <a:ext cx="858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3600" tIns="46800" rIns="936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CA" altLang="ro-RO" sz="1800">
                  <a:latin typeface="Times New Roman" panose="02020603050405020304" pitchFamily="18" charset="0"/>
                </a:rPr>
                <a:t>UNIX compiler</a:t>
              </a:r>
            </a:p>
          </p:txBody>
        </p:sp>
        <p:sp>
          <p:nvSpPr>
            <p:cNvPr id="16400" name="Rectangle 16"/>
            <p:cNvSpPr>
              <a:spLocks noChangeArrowheads="1"/>
            </p:cNvSpPr>
            <p:nvPr/>
          </p:nvSpPr>
          <p:spPr bwMode="auto">
            <a:xfrm>
              <a:off x="3696" y="3748"/>
              <a:ext cx="1174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46800" rIns="93600" bIns="46800" anchor="ctr"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70000"/>
                </a:lnSpc>
                <a:spcBef>
                  <a:spcPct val="70000"/>
                </a:spcBef>
              </a:pPr>
              <a:r>
                <a:rPr lang="en-US" altLang="ro-RO" sz="1800">
                  <a:latin typeface="Times New Roman" panose="02020603050405020304" pitchFamily="18" charset="0"/>
                </a:rPr>
                <a:t>Executable (UNIX)</a:t>
              </a:r>
              <a:endParaRPr lang="en-CA" altLang="ro-RO" sz="1800">
                <a:latin typeface="Times New Roman" panose="02020603050405020304" pitchFamily="18" charset="0"/>
              </a:endParaRPr>
            </a:p>
          </p:txBody>
        </p:sp>
        <p:sp>
          <p:nvSpPr>
            <p:cNvPr id="16401" name="Line 17"/>
            <p:cNvSpPr>
              <a:spLocks noChangeShapeType="1"/>
            </p:cNvSpPr>
            <p:nvPr/>
          </p:nvSpPr>
          <p:spPr bwMode="auto">
            <a:xfrm>
              <a:off x="1156" y="2387"/>
              <a:ext cx="1134" cy="14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3600" tIns="46800" rIns="93600" bIns="46800">
              <a:spAutoFit/>
            </a:bodyPr>
            <a:lstStyle/>
            <a:p>
              <a:endParaRPr lang="ro-RO"/>
            </a:p>
          </p:txBody>
        </p:sp>
        <p:sp>
          <p:nvSpPr>
            <p:cNvPr id="16402" name="Line 18"/>
            <p:cNvSpPr>
              <a:spLocks noChangeShapeType="1"/>
            </p:cNvSpPr>
            <p:nvPr/>
          </p:nvSpPr>
          <p:spPr bwMode="auto">
            <a:xfrm>
              <a:off x="2789" y="3884"/>
              <a:ext cx="90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3600" tIns="46800" rIns="93600" bIns="46800">
              <a:spAutoFit/>
            </a:bodyPr>
            <a:lstStyle/>
            <a:p>
              <a:endParaRPr lang="ro-RO"/>
            </a:p>
          </p:txBody>
        </p:sp>
        <p:pic>
          <p:nvPicPr>
            <p:cNvPr id="16403" name="Picture 19" descr="A4000T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62" t="4849" r="7458" b="5455"/>
            <a:stretch>
              <a:fillRect/>
            </a:stretch>
          </p:blipFill>
          <p:spPr bwMode="auto">
            <a:xfrm>
              <a:off x="3696" y="3113"/>
              <a:ext cx="754" cy="5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3359151" y="3284539"/>
            <a:ext cx="5649913" cy="1512887"/>
            <a:chOff x="1156" y="2069"/>
            <a:chExt cx="3559" cy="953"/>
          </a:xfrm>
        </p:grpSpPr>
        <p:grpSp>
          <p:nvGrpSpPr>
            <p:cNvPr id="16391" name="Group 30"/>
            <p:cNvGrpSpPr>
              <a:grpSpLocks/>
            </p:cNvGrpSpPr>
            <p:nvPr/>
          </p:nvGrpSpPr>
          <p:grpSpPr bwMode="auto">
            <a:xfrm>
              <a:off x="1156" y="2206"/>
              <a:ext cx="3559" cy="816"/>
              <a:chOff x="1835150" y="3500438"/>
              <a:chExt cx="5649913" cy="1294811"/>
            </a:xfrm>
          </p:grpSpPr>
          <p:sp>
            <p:nvSpPr>
              <p:cNvPr id="16393" name="AutoShape 22"/>
              <p:cNvSpPr>
                <a:spLocks noChangeArrowheads="1"/>
              </p:cNvSpPr>
              <p:nvPr/>
            </p:nvSpPr>
            <p:spPr bwMode="auto">
              <a:xfrm>
                <a:off x="3511550" y="3751851"/>
                <a:ext cx="335393" cy="1043398"/>
              </a:xfrm>
              <a:prstGeom prst="irregularSeal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3600" tIns="46800" rIns="93600" bIns="46800" anchor="ctr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ro-RO" sz="1800">
                  <a:latin typeface="Calibri" panose="020F0502020204030204" pitchFamily="34" charset="0"/>
                </a:endParaRPr>
              </a:p>
            </p:txBody>
          </p:sp>
          <p:sp>
            <p:nvSpPr>
              <p:cNvPr id="16394" name="Text Box 23"/>
              <p:cNvSpPr txBox="1">
                <a:spLocks noChangeArrowheads="1"/>
              </p:cNvSpPr>
              <p:nvPr/>
            </p:nvSpPr>
            <p:spPr bwMode="auto">
              <a:xfrm>
                <a:off x="3348038" y="3500438"/>
                <a:ext cx="1203325" cy="487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3600" tIns="46800" rIns="93600" bIns="4680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</a:pPr>
                <a:r>
                  <a:rPr lang="en-CA" altLang="ro-RO" sz="1800">
                    <a:latin typeface="Times New Roman" panose="02020603050405020304" pitchFamily="18" charset="0"/>
                  </a:rPr>
                  <a:t>Mac OS compiler</a:t>
                </a:r>
              </a:p>
            </p:txBody>
          </p:sp>
          <p:sp>
            <p:nvSpPr>
              <p:cNvPr id="16395" name="Rectangle 24"/>
              <p:cNvSpPr>
                <a:spLocks noChangeArrowheads="1"/>
              </p:cNvSpPr>
              <p:nvPr/>
            </p:nvSpPr>
            <p:spPr bwMode="auto">
              <a:xfrm>
                <a:off x="5795963" y="4076700"/>
                <a:ext cx="1689100" cy="431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46800" rIns="93600" bIns="46800" anchor="ctr"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70000"/>
                  </a:lnSpc>
                  <a:spcBef>
                    <a:spcPct val="70000"/>
                  </a:spcBef>
                </a:pPr>
                <a:r>
                  <a:rPr lang="en-CA" altLang="ro-RO" sz="1800">
                    <a:latin typeface="Times New Roman" panose="02020603050405020304" pitchFamily="18" charset="0"/>
                  </a:rPr>
                  <a:t>Executable (Mac)</a:t>
                </a:r>
              </a:p>
            </p:txBody>
          </p:sp>
          <p:sp>
            <p:nvSpPr>
              <p:cNvPr id="16396" name="Line 25"/>
              <p:cNvSpPr>
                <a:spLocks noChangeShapeType="1"/>
              </p:cNvSpPr>
              <p:nvPr/>
            </p:nvSpPr>
            <p:spPr bwMode="auto">
              <a:xfrm>
                <a:off x="1835150" y="3789363"/>
                <a:ext cx="1800225" cy="3603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3600" tIns="46800" rIns="93600" bIns="46800">
                <a:spAutoFit/>
              </a:bodyPr>
              <a:lstStyle/>
              <a:p>
                <a:endParaRPr lang="ro-RO"/>
              </a:p>
            </p:txBody>
          </p:sp>
          <p:sp>
            <p:nvSpPr>
              <p:cNvPr id="16397" name="Line 26"/>
              <p:cNvSpPr>
                <a:spLocks noChangeShapeType="1"/>
              </p:cNvSpPr>
              <p:nvPr/>
            </p:nvSpPr>
            <p:spPr bwMode="auto">
              <a:xfrm>
                <a:off x="4284663" y="4292600"/>
                <a:ext cx="149383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3600" tIns="46800" rIns="93600" bIns="46800">
                <a:spAutoFit/>
              </a:bodyPr>
              <a:lstStyle/>
              <a:p>
                <a:endParaRPr lang="ro-RO"/>
              </a:p>
            </p:txBody>
          </p:sp>
        </p:grpSp>
        <p:pic>
          <p:nvPicPr>
            <p:cNvPr id="16392" name="Picture 27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55" b="6831"/>
            <a:stretch>
              <a:fillRect/>
            </a:stretch>
          </p:blipFill>
          <p:spPr bwMode="auto">
            <a:xfrm>
              <a:off x="3651" y="2069"/>
              <a:ext cx="721" cy="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</p:grpSp>
      <p:sp>
        <p:nvSpPr>
          <p:cNvPr id="226307" name="Rectangle 3"/>
          <p:cNvSpPr>
            <a:spLocks noChangeArrowheads="1"/>
          </p:cNvSpPr>
          <p:nvPr/>
        </p:nvSpPr>
        <p:spPr bwMode="auto">
          <a:xfrm>
            <a:off x="2125663" y="3063876"/>
            <a:ext cx="1344612" cy="163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3600" tIns="46800" rIns="93600" bIns="46800" anchor="ctr"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70000"/>
              </a:spcBef>
            </a:pPr>
            <a:r>
              <a:rPr lang="en-CA" altLang="ro-RO" sz="1800">
                <a:latin typeface="Times New Roman" panose="02020603050405020304" pitchFamily="18" charset="0"/>
              </a:rPr>
              <a:t>Computer program</a:t>
            </a:r>
          </a:p>
        </p:txBody>
      </p:sp>
    </p:spTree>
    <p:extLst>
      <p:ext uri="{BB962C8B-B14F-4D97-AF65-F5344CB8AC3E}">
        <p14:creationId xmlns:p14="http://schemas.microsoft.com/office/powerpoint/2010/main" val="1347532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7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Scurt istoric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sz="2800" dirty="0"/>
              <a:t>scopul declarat de a dezvolta un software performant pentru aparatele electronice de larg </a:t>
            </a:r>
            <a:r>
              <a:rPr lang="ro-RO" sz="2800" dirty="0" smtClean="0"/>
              <a:t>consum</a:t>
            </a:r>
            <a:r>
              <a:rPr lang="en-US" sz="2800" dirty="0" smtClean="0"/>
              <a:t>: </a:t>
            </a:r>
            <a:r>
              <a:rPr lang="ro-RO" sz="2800" dirty="0"/>
              <a:t>mici, portabile, distribuite </a:t>
            </a:r>
            <a:r>
              <a:rPr lang="ro-RO" sz="2800" dirty="0" err="1"/>
              <a:t>şi</a:t>
            </a:r>
            <a:r>
              <a:rPr lang="ro-RO" sz="2800" dirty="0"/>
              <a:t> lucrând în timp real. </a:t>
            </a:r>
            <a:endParaRPr lang="en-US" sz="2800" dirty="0" smtClean="0"/>
          </a:p>
          <a:p>
            <a:r>
              <a:rPr lang="ro-RO" sz="2800" dirty="0"/>
              <a:t>Limbajul luat </a:t>
            </a:r>
            <a:r>
              <a:rPr lang="ro-RO" sz="2800" dirty="0" err="1"/>
              <a:t>iniţial</a:t>
            </a:r>
            <a:r>
              <a:rPr lang="ro-RO" sz="2800" dirty="0"/>
              <a:t> în considerare a fost C++. </a:t>
            </a:r>
            <a:endParaRPr lang="en-US" sz="2800" dirty="0" smtClean="0"/>
          </a:p>
          <a:p>
            <a:r>
              <a:rPr lang="ro-RO" sz="2800" dirty="0"/>
              <a:t>firma Sun a pornit proiectarea unui nou limbaj de programare asemănător cu C++ dar mult mai flexibil, mai simplu </a:t>
            </a:r>
            <a:r>
              <a:rPr lang="ro-RO" sz="2800" dirty="0" err="1"/>
              <a:t>şi</a:t>
            </a:r>
            <a:r>
              <a:rPr lang="ro-RO" sz="2800" dirty="0"/>
              <a:t> mai portabil</a:t>
            </a:r>
          </a:p>
        </p:txBody>
      </p:sp>
    </p:spTree>
    <p:extLst>
      <p:ext uri="{BB962C8B-B14F-4D97-AF65-F5344CB8AC3E}">
        <p14:creationId xmlns:p14="http://schemas.microsoft.com/office/powerpoint/2010/main" val="2039799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4442" y="0"/>
            <a:ext cx="10058400" cy="1450757"/>
          </a:xfrm>
        </p:spPr>
        <p:txBody>
          <a:bodyPr/>
          <a:lstStyle/>
          <a:p>
            <a:r>
              <a:rPr lang="en-US" dirty="0" err="1" smtClean="0"/>
              <a:t>Istoricul</a:t>
            </a:r>
            <a:r>
              <a:rPr lang="en-US" dirty="0" smtClean="0"/>
              <a:t> </a:t>
            </a:r>
            <a:r>
              <a:rPr lang="en-US" dirty="0" err="1" smtClean="0"/>
              <a:t>limbajului</a:t>
            </a:r>
            <a:r>
              <a:rPr lang="en-US" dirty="0" smtClean="0"/>
              <a:t> Java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036" y="1763355"/>
            <a:ext cx="11541211" cy="4023360"/>
          </a:xfrm>
        </p:spPr>
        <p:txBody>
          <a:bodyPr>
            <a:noAutofit/>
          </a:bodyPr>
          <a:lstStyle/>
          <a:p>
            <a:r>
              <a:rPr lang="en-US" sz="1800" dirty="0" smtClean="0"/>
              <a:t>1991 – firma Sun </a:t>
            </a:r>
            <a:r>
              <a:rPr lang="ro-RO" sz="1800" dirty="0" smtClean="0"/>
              <a:t>î</a:t>
            </a:r>
            <a:r>
              <a:rPr lang="en-US" sz="1800" dirty="0" err="1" smtClean="0"/>
              <a:t>ncepe</a:t>
            </a:r>
            <a:r>
              <a:rPr lang="en-US" sz="1800" dirty="0" smtClean="0"/>
              <a:t> </a:t>
            </a:r>
            <a:r>
              <a:rPr lang="en-US" sz="1800" dirty="0" err="1" smtClean="0"/>
              <a:t>dezvoltarea</a:t>
            </a:r>
            <a:r>
              <a:rPr lang="en-US" sz="1800" dirty="0" smtClean="0"/>
              <a:t> </a:t>
            </a:r>
            <a:r>
              <a:rPr lang="en-US" sz="1800" dirty="0" err="1" smtClean="0"/>
              <a:t>unui</a:t>
            </a:r>
            <a:r>
              <a:rPr lang="en-US" sz="1800" dirty="0" smtClean="0"/>
              <a:t> </a:t>
            </a:r>
            <a:r>
              <a:rPr lang="en-US" sz="1800" dirty="0" err="1" smtClean="0"/>
              <a:t>proiect</a:t>
            </a:r>
            <a:r>
              <a:rPr lang="en-US" sz="1800" dirty="0" smtClean="0"/>
              <a:t> </a:t>
            </a:r>
            <a:r>
              <a:rPr lang="ro-RO" sz="1800" dirty="0" smtClean="0"/>
              <a:t>software </a:t>
            </a:r>
            <a:r>
              <a:rPr lang="en-US" sz="1800" dirty="0" err="1" smtClean="0"/>
              <a:t>pentru</a:t>
            </a:r>
            <a:r>
              <a:rPr lang="en-US" sz="1800" dirty="0" smtClean="0"/>
              <a:t> </a:t>
            </a:r>
            <a:r>
              <a:rPr lang="en-US" sz="1800" dirty="0" err="1" smtClean="0"/>
              <a:t>aparatur</a:t>
            </a:r>
            <a:r>
              <a:rPr lang="ro-RO" sz="1800" dirty="0"/>
              <a:t>ă</a:t>
            </a:r>
            <a:r>
              <a:rPr lang="en-US" sz="1800" dirty="0" smtClean="0"/>
              <a:t> electronic</a:t>
            </a:r>
            <a:r>
              <a:rPr lang="ro-RO" sz="1800" dirty="0" smtClean="0"/>
              <a:t>ă </a:t>
            </a:r>
            <a:r>
              <a:rPr lang="en-US" sz="1800" dirty="0" err="1" smtClean="0"/>
              <a:t>inteligent</a:t>
            </a:r>
            <a:r>
              <a:rPr lang="ro-RO" sz="1800" dirty="0" smtClean="0"/>
              <a:t>ă care să poată fi conectată în rețea</a:t>
            </a:r>
          </a:p>
          <a:p>
            <a:r>
              <a:rPr lang="ro-RO" sz="1800" dirty="0" smtClean="0"/>
              <a:t>1992 – începe dezvoltarea unui nou limbaj de programare care inițial s-a numit OAK</a:t>
            </a:r>
          </a:p>
          <a:p>
            <a:r>
              <a:rPr lang="ro-RO" sz="1800" dirty="0" smtClean="0"/>
              <a:t>1993 – primul browser www care s-a numit </a:t>
            </a:r>
            <a:r>
              <a:rPr lang="ro-RO" sz="1800" dirty="0" err="1" smtClean="0"/>
              <a:t>Mosaic</a:t>
            </a:r>
            <a:r>
              <a:rPr lang="ro-RO" sz="1800" dirty="0" smtClean="0"/>
              <a:t>; de asemenea a fost disponibil și un web browser, numit </a:t>
            </a:r>
            <a:r>
              <a:rPr lang="ro-RO" sz="1800" dirty="0" err="1" smtClean="0"/>
              <a:t>webrunner</a:t>
            </a:r>
            <a:r>
              <a:rPr lang="ro-RO" sz="1800" dirty="0" smtClean="0"/>
              <a:t> </a:t>
            </a:r>
            <a:r>
              <a:rPr lang="ro-RO" sz="1800" dirty="0"/>
              <a:t>capabil să ruleze programe scrise în OAK; </a:t>
            </a:r>
            <a:endParaRPr lang="ro-RO" sz="1800" dirty="0" smtClean="0"/>
          </a:p>
          <a:p>
            <a:r>
              <a:rPr lang="ro-RO" sz="1800" dirty="0" smtClean="0"/>
              <a:t>1994 – OAK a devenit Java si </a:t>
            </a:r>
            <a:r>
              <a:rPr lang="ro-RO" sz="1800" dirty="0" err="1" smtClean="0"/>
              <a:t>webrunner</a:t>
            </a:r>
            <a:r>
              <a:rPr lang="ro-RO" sz="1800" dirty="0" smtClean="0"/>
              <a:t> a devenit </a:t>
            </a:r>
            <a:r>
              <a:rPr lang="ro-RO" sz="1800" dirty="0" err="1" smtClean="0"/>
              <a:t>HotJava</a:t>
            </a:r>
            <a:endParaRPr lang="ro-RO" sz="1800" dirty="0" smtClean="0"/>
          </a:p>
          <a:p>
            <a:r>
              <a:rPr lang="ro-RO" sz="1800" dirty="0" smtClean="0"/>
              <a:t>1995 – </a:t>
            </a:r>
            <a:r>
              <a:rPr lang="ro-RO" sz="1800" dirty="0" err="1" smtClean="0"/>
              <a:t>Netscape</a:t>
            </a:r>
            <a:r>
              <a:rPr lang="ro-RO" sz="1800" dirty="0" smtClean="0"/>
              <a:t> </a:t>
            </a:r>
            <a:r>
              <a:rPr lang="ro-RO" sz="1800" dirty="0" err="1" smtClean="0"/>
              <a:t>integreaza</a:t>
            </a:r>
            <a:r>
              <a:rPr lang="ro-RO" sz="1800" dirty="0" smtClean="0"/>
              <a:t> Java în </a:t>
            </a:r>
            <a:r>
              <a:rPr lang="ro-RO" sz="1800" dirty="0" err="1" smtClean="0"/>
              <a:t>Netscape</a:t>
            </a:r>
            <a:r>
              <a:rPr lang="ro-RO" sz="1800" dirty="0" smtClean="0"/>
              <a:t> Navigator 2.0</a:t>
            </a:r>
          </a:p>
          <a:p>
            <a:r>
              <a:rPr lang="ro-RO" sz="1800" dirty="0" smtClean="0"/>
              <a:t>1996 – apare Java 1.0</a:t>
            </a:r>
          </a:p>
          <a:p>
            <a:r>
              <a:rPr lang="ro-RO" sz="1800" dirty="0" smtClean="0"/>
              <a:t>1997 – Java 1.1, </a:t>
            </a:r>
            <a:r>
              <a:rPr lang="ro-RO" sz="1800" dirty="0" err="1" smtClean="0"/>
              <a:t>HotJava</a:t>
            </a:r>
            <a:r>
              <a:rPr lang="ro-RO" sz="1800" dirty="0" smtClean="0"/>
              <a:t> 1.0 și </a:t>
            </a:r>
            <a:r>
              <a:rPr lang="ro-RO" sz="1800" dirty="0" err="1" smtClean="0"/>
              <a:t>JavaOS</a:t>
            </a:r>
            <a:r>
              <a:rPr lang="ro-RO" sz="1800" dirty="0" smtClean="0"/>
              <a:t> 1.0</a:t>
            </a:r>
          </a:p>
          <a:p>
            <a:r>
              <a:rPr lang="ro-RO" sz="1800" dirty="0" smtClean="0"/>
              <a:t>1998 – Java Foundation </a:t>
            </a:r>
            <a:r>
              <a:rPr lang="ro-RO" sz="1800" dirty="0" err="1" smtClean="0"/>
              <a:t>Classes</a:t>
            </a:r>
            <a:r>
              <a:rPr lang="ro-RO" sz="1800" dirty="0" smtClean="0"/>
              <a:t> , JVC ce include Swing 1.0</a:t>
            </a:r>
          </a:p>
          <a:p>
            <a:r>
              <a:rPr lang="ro-RO" sz="1800" dirty="0" smtClean="0"/>
              <a:t>După 1999 – apar noi versiuni de Java</a:t>
            </a:r>
          </a:p>
          <a:p>
            <a:r>
              <a:rPr lang="ro-RO" sz="1800" dirty="0" smtClean="0"/>
              <a:t>Acum sunt versiuni JDK 1.8.x</a:t>
            </a:r>
          </a:p>
          <a:p>
            <a:endParaRPr lang="ro-RO" sz="1800" dirty="0" smtClean="0"/>
          </a:p>
          <a:p>
            <a:endParaRPr lang="ro-RO" sz="1800" dirty="0"/>
          </a:p>
        </p:txBody>
      </p:sp>
    </p:spTree>
    <p:extLst>
      <p:ext uri="{BB962C8B-B14F-4D97-AF65-F5344CB8AC3E}">
        <p14:creationId xmlns:p14="http://schemas.microsoft.com/office/powerpoint/2010/main" val="1717421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Caracteristici ale limbajului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o-RO" dirty="0" smtClean="0"/>
              <a:t>limbaj </a:t>
            </a:r>
            <a:r>
              <a:rPr lang="ro-RO" b="1" i="1" dirty="0">
                <a:solidFill>
                  <a:srgbClr val="FF0000"/>
                </a:solidFill>
              </a:rPr>
              <a:t>simplu</a:t>
            </a:r>
            <a:r>
              <a:rPr lang="ro-RO" dirty="0"/>
              <a:t> de folosit chiar </a:t>
            </a:r>
            <a:r>
              <a:rPr lang="ro-RO" dirty="0" err="1"/>
              <a:t>şi</a:t>
            </a:r>
            <a:r>
              <a:rPr lang="ro-RO" dirty="0"/>
              <a:t> de către programatorii </a:t>
            </a:r>
            <a:r>
              <a:rPr lang="ro-RO" dirty="0" err="1" smtClean="0"/>
              <a:t>neprofesionişti</a:t>
            </a:r>
            <a:r>
              <a:rPr lang="ro-RO" dirty="0" smtClean="0"/>
              <a:t>. </a:t>
            </a:r>
          </a:p>
          <a:p>
            <a:r>
              <a:rPr lang="ro-RO" dirty="0"/>
              <a:t>Limbajul Java este independent de arhitectura calculatorului pe care lucrează </a:t>
            </a:r>
            <a:r>
              <a:rPr lang="ro-RO" dirty="0" err="1"/>
              <a:t>şi</a:t>
            </a:r>
            <a:r>
              <a:rPr lang="ro-RO" dirty="0"/>
              <a:t> foarte </a:t>
            </a:r>
            <a:r>
              <a:rPr lang="ro-RO" b="1" i="1" dirty="0">
                <a:solidFill>
                  <a:srgbClr val="FF0000"/>
                </a:solidFill>
              </a:rPr>
              <a:t>portabil</a:t>
            </a:r>
            <a:r>
              <a:rPr lang="ro-RO" dirty="0" smtClean="0"/>
              <a:t>. Sloganul limbajului este ”</a:t>
            </a:r>
            <a:r>
              <a:rPr lang="ro-RO" dirty="0" err="1" smtClean="0"/>
              <a:t>Write</a:t>
            </a:r>
            <a:r>
              <a:rPr lang="ro-RO" dirty="0" smtClean="0"/>
              <a:t> </a:t>
            </a:r>
            <a:r>
              <a:rPr lang="ro-RO" dirty="0" err="1" smtClean="0"/>
              <a:t>once</a:t>
            </a:r>
            <a:r>
              <a:rPr lang="ro-RO" dirty="0" smtClean="0"/>
              <a:t> </a:t>
            </a:r>
            <a:r>
              <a:rPr lang="ro-RO" dirty="0" err="1" smtClean="0"/>
              <a:t>run</a:t>
            </a:r>
            <a:r>
              <a:rPr lang="ro-RO" dirty="0" smtClean="0"/>
              <a:t> </a:t>
            </a:r>
            <a:r>
              <a:rPr lang="ro-RO" dirty="0" err="1" smtClean="0"/>
              <a:t>anywhare</a:t>
            </a:r>
            <a:r>
              <a:rPr lang="ro-RO" dirty="0" smtClean="0"/>
              <a:t>” , adică pe orice calc unde e instalat Java</a:t>
            </a:r>
          </a:p>
          <a:p>
            <a:r>
              <a:rPr lang="ro-RO" dirty="0" err="1"/>
              <a:t>Execuţia</a:t>
            </a:r>
            <a:r>
              <a:rPr lang="ro-RO" dirty="0"/>
              <a:t> </a:t>
            </a:r>
            <a:r>
              <a:rPr lang="ro-RO" dirty="0" err="1"/>
              <a:t>aplicaţiilor</a:t>
            </a:r>
            <a:r>
              <a:rPr lang="ro-RO" dirty="0"/>
              <a:t> Java este </a:t>
            </a:r>
            <a:r>
              <a:rPr lang="ro-RO" b="1" i="1" dirty="0">
                <a:solidFill>
                  <a:srgbClr val="FF0000"/>
                </a:solidFill>
              </a:rPr>
              <a:t>interpretată</a:t>
            </a:r>
            <a:r>
              <a:rPr lang="ro-RO" dirty="0" smtClean="0"/>
              <a:t>.</a:t>
            </a:r>
          </a:p>
          <a:p>
            <a:r>
              <a:rPr lang="ro-RO" dirty="0"/>
              <a:t>Limbajul Java este  în totalitate </a:t>
            </a:r>
            <a:r>
              <a:rPr lang="ro-RO" b="1" i="1" dirty="0">
                <a:solidFill>
                  <a:srgbClr val="FF0000"/>
                </a:solidFill>
              </a:rPr>
              <a:t>orientat obiect</a:t>
            </a:r>
            <a:r>
              <a:rPr lang="ro-RO" dirty="0" smtClean="0"/>
              <a:t>. Elimină complet stilul de programare procedural, se </a:t>
            </a:r>
            <a:r>
              <a:rPr lang="ro-RO" dirty="0" err="1" smtClean="0"/>
              <a:t>basează</a:t>
            </a:r>
            <a:r>
              <a:rPr lang="ro-RO" dirty="0" smtClean="0"/>
              <a:t> pe </a:t>
            </a:r>
            <a:r>
              <a:rPr lang="ro-RO" sz="2100" b="1" i="1" dirty="0">
                <a:solidFill>
                  <a:srgbClr val="FF0000"/>
                </a:solidFill>
              </a:rPr>
              <a:t>moștenire, </a:t>
            </a:r>
            <a:r>
              <a:rPr lang="ro-RO" sz="2100" b="1" i="1" dirty="0" smtClean="0">
                <a:solidFill>
                  <a:srgbClr val="FF0000"/>
                </a:solidFill>
              </a:rPr>
              <a:t>încapsulare</a:t>
            </a:r>
            <a:r>
              <a:rPr lang="ro-RO" sz="2100" b="1" i="1" dirty="0">
                <a:solidFill>
                  <a:srgbClr val="FF0000"/>
                </a:solidFill>
              </a:rPr>
              <a:t>, polimorfism</a:t>
            </a:r>
          </a:p>
          <a:p>
            <a:r>
              <a:rPr lang="ro-RO" dirty="0"/>
              <a:t>Java este </a:t>
            </a:r>
            <a:r>
              <a:rPr lang="ro-RO" b="1" i="1" dirty="0">
                <a:solidFill>
                  <a:srgbClr val="FF0000"/>
                </a:solidFill>
              </a:rPr>
              <a:t>distribuit</a:t>
            </a:r>
            <a:r>
              <a:rPr lang="ro-RO" dirty="0"/>
              <a:t>, având implementate biblioteci pentru lucrul în </a:t>
            </a:r>
            <a:r>
              <a:rPr lang="ro-RO" dirty="0" err="1"/>
              <a:t>reţea</a:t>
            </a:r>
            <a:r>
              <a:rPr lang="ro-RO" dirty="0"/>
              <a:t> care ne oferă TCP/IP, URL </a:t>
            </a:r>
            <a:r>
              <a:rPr lang="ro-RO" dirty="0" err="1"/>
              <a:t>şi</a:t>
            </a:r>
            <a:r>
              <a:rPr lang="ro-RO" dirty="0"/>
              <a:t> încărcarea resurselor din </a:t>
            </a:r>
            <a:r>
              <a:rPr lang="ro-RO" dirty="0" err="1"/>
              <a:t>reţea</a:t>
            </a:r>
            <a:r>
              <a:rPr lang="ro-RO" dirty="0" smtClean="0"/>
              <a:t>.</a:t>
            </a:r>
          </a:p>
          <a:p>
            <a:r>
              <a:rPr lang="ro-RO" dirty="0"/>
              <a:t>Java este </a:t>
            </a:r>
            <a:r>
              <a:rPr lang="ro-RO" b="1" i="1" dirty="0">
                <a:solidFill>
                  <a:srgbClr val="FF0000"/>
                </a:solidFill>
              </a:rPr>
              <a:t>robust</a:t>
            </a:r>
            <a:r>
              <a:rPr lang="ro-RO" dirty="0" smtClean="0"/>
              <a:t>. Elimină sursele de erori, odată ce a trecut de compilare, nu se mai întâmplă ca un program să se blocheze</a:t>
            </a:r>
          </a:p>
          <a:p>
            <a:r>
              <a:rPr lang="ro-RO" dirty="0"/>
              <a:t>Java este un limbaj cu </a:t>
            </a:r>
            <a:r>
              <a:rPr lang="ro-RO" b="1" i="1" dirty="0">
                <a:solidFill>
                  <a:srgbClr val="FF0000"/>
                </a:solidFill>
              </a:rPr>
              <a:t>securitate </a:t>
            </a:r>
            <a:r>
              <a:rPr lang="ro-RO" b="1" i="1" dirty="0" smtClean="0">
                <a:solidFill>
                  <a:srgbClr val="FF0000"/>
                </a:solidFill>
              </a:rPr>
              <a:t>ridicată</a:t>
            </a:r>
            <a:r>
              <a:rPr lang="ro-RO" dirty="0" smtClean="0"/>
              <a:t>, fiind unul dintre cele mai sigure limbaje de programare</a:t>
            </a:r>
          </a:p>
          <a:p>
            <a:r>
              <a:rPr lang="ro-RO" dirty="0"/>
              <a:t>lucrează cu </a:t>
            </a:r>
            <a:r>
              <a:rPr lang="ro-RO" b="1" i="1" dirty="0">
                <a:solidFill>
                  <a:srgbClr val="FF0000"/>
                </a:solidFill>
              </a:rPr>
              <a:t>mai multe fire de </a:t>
            </a:r>
            <a:r>
              <a:rPr lang="ro-RO" b="1" i="1" dirty="0" smtClean="0">
                <a:solidFill>
                  <a:srgbClr val="FF0000"/>
                </a:solidFill>
              </a:rPr>
              <a:t>execuție</a:t>
            </a:r>
          </a:p>
          <a:p>
            <a:r>
              <a:rPr lang="ro-RO" dirty="0"/>
              <a:t>Java este </a:t>
            </a:r>
            <a:r>
              <a:rPr lang="ro-RO" b="1" i="1" dirty="0">
                <a:solidFill>
                  <a:srgbClr val="FF0000"/>
                </a:solidFill>
              </a:rPr>
              <a:t>dinamic</a:t>
            </a:r>
            <a:r>
              <a:rPr lang="ro-RO" dirty="0"/>
              <a:t>.</a:t>
            </a:r>
            <a:endParaRPr lang="ro-RO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095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/>
              <a:t>Reprezentarea </a:t>
            </a:r>
            <a:r>
              <a:rPr lang="ro-RO" b="1" dirty="0" err="1"/>
              <a:t>informaţiilor</a:t>
            </a:r>
            <a:r>
              <a:rPr lang="ro-RO" b="1" dirty="0"/>
              <a:t> cu obiecte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739" y="1829258"/>
            <a:ext cx="10058400" cy="4023360"/>
          </a:xfrm>
        </p:spPr>
        <p:txBody>
          <a:bodyPr/>
          <a:lstStyle/>
          <a:p>
            <a:r>
              <a:rPr lang="ro-RO" b="1" dirty="0" smtClean="0"/>
              <a:t>Obiecte</a:t>
            </a:r>
            <a:endParaRPr lang="ro-RO" b="1" dirty="0"/>
          </a:p>
          <a:p>
            <a:r>
              <a:rPr lang="ro-RO" dirty="0" err="1"/>
              <a:t>Informaţiile</a:t>
            </a:r>
            <a:r>
              <a:rPr lang="ro-RO" dirty="0"/>
              <a:t> pe care le reprezentăm în memoria </a:t>
            </a:r>
            <a:r>
              <a:rPr lang="ro-RO" dirty="0" smtClean="0"/>
              <a:t>calculatorului pot fi uneori complexe</a:t>
            </a:r>
          </a:p>
          <a:p>
            <a:r>
              <a:rPr lang="ro-RO" dirty="0" smtClean="0"/>
              <a:t>Un obiect este caracterizat prin </a:t>
            </a:r>
            <a:r>
              <a:rPr lang="ro-RO" b="1" i="1" dirty="0" smtClean="0">
                <a:solidFill>
                  <a:srgbClr val="FF0000"/>
                </a:solidFill>
              </a:rPr>
              <a:t>date</a:t>
            </a:r>
            <a:r>
              <a:rPr lang="ro-RO" dirty="0" smtClean="0"/>
              <a:t> și </a:t>
            </a:r>
            <a:r>
              <a:rPr lang="ro-RO" b="1" i="1" dirty="0" smtClean="0">
                <a:solidFill>
                  <a:srgbClr val="FF0000"/>
                </a:solidFill>
              </a:rPr>
              <a:t>comportament</a:t>
            </a:r>
          </a:p>
          <a:p>
            <a:r>
              <a:rPr lang="ro-RO" dirty="0" smtClean="0">
                <a:solidFill>
                  <a:schemeClr val="tx1"/>
                </a:solidFill>
              </a:rPr>
              <a:t>Ex de o</a:t>
            </a:r>
            <a:r>
              <a:rPr lang="en-US" dirty="0" err="1" smtClean="0">
                <a:solidFill>
                  <a:schemeClr val="tx1"/>
                </a:solidFill>
              </a:rPr>
              <a:t>biect</a:t>
            </a:r>
            <a:r>
              <a:rPr lang="en-US" dirty="0" smtClean="0">
                <a:solidFill>
                  <a:schemeClr val="tx1"/>
                </a:solidFill>
              </a:rPr>
              <a:t>: o minge</a:t>
            </a:r>
          </a:p>
          <a:p>
            <a:r>
              <a:rPr lang="fr-FR" dirty="0" err="1"/>
              <a:t>Din</a:t>
            </a:r>
            <a:r>
              <a:rPr lang="fr-FR" dirty="0"/>
              <a:t> </a:t>
            </a:r>
            <a:r>
              <a:rPr lang="fr-FR" dirty="0" err="1"/>
              <a:t>punctul</a:t>
            </a:r>
            <a:r>
              <a:rPr lang="fr-FR" dirty="0"/>
              <a:t> de </a:t>
            </a:r>
            <a:r>
              <a:rPr lang="fr-FR" dirty="0" err="1"/>
              <a:t>vedere</a:t>
            </a:r>
            <a:r>
              <a:rPr lang="fr-FR" dirty="0"/>
              <a:t> al </a:t>
            </a:r>
            <a:r>
              <a:rPr lang="fr-FR" dirty="0" err="1"/>
              <a:t>programării</a:t>
            </a:r>
            <a:r>
              <a:rPr lang="fr-FR" dirty="0"/>
              <a:t>, un </a:t>
            </a:r>
            <a:r>
              <a:rPr lang="fr-FR" b="1" i="1" dirty="0" err="1">
                <a:solidFill>
                  <a:srgbClr val="FF0000"/>
                </a:solidFill>
              </a:rPr>
              <a:t>obiect</a:t>
            </a:r>
            <a:r>
              <a:rPr lang="fr-FR" dirty="0"/>
              <a:t> este o </a:t>
            </a:r>
            <a:r>
              <a:rPr lang="fr-FR" dirty="0" err="1"/>
              <a:t>reprezentare</a:t>
            </a:r>
            <a:r>
              <a:rPr lang="fr-FR" dirty="0"/>
              <a:t> </a:t>
            </a:r>
            <a:r>
              <a:rPr lang="fr-FR" dirty="0" err="1"/>
              <a:t>în</a:t>
            </a:r>
            <a:r>
              <a:rPr lang="fr-FR" dirty="0"/>
              <a:t> </a:t>
            </a:r>
            <a:r>
              <a:rPr lang="fr-FR" dirty="0" err="1"/>
              <a:t>memoria</a:t>
            </a:r>
            <a:r>
              <a:rPr lang="fr-FR" dirty="0"/>
              <a:t> </a:t>
            </a:r>
            <a:r>
              <a:rPr lang="fr-FR" dirty="0" err="1"/>
              <a:t>calculatorului</a:t>
            </a:r>
            <a:r>
              <a:rPr lang="fr-FR" dirty="0"/>
              <a:t> a </a:t>
            </a:r>
            <a:r>
              <a:rPr lang="fr-FR" b="1" i="1" dirty="0" err="1">
                <a:solidFill>
                  <a:srgbClr val="FF0000"/>
                </a:solidFill>
              </a:rPr>
              <a:t>proprietăţilor</a:t>
            </a:r>
            <a:r>
              <a:rPr lang="fr-FR" dirty="0"/>
              <a:t> </a:t>
            </a:r>
            <a:r>
              <a:rPr lang="fr-FR" dirty="0" err="1"/>
              <a:t>şi</a:t>
            </a:r>
            <a:r>
              <a:rPr lang="fr-FR" dirty="0"/>
              <a:t> </a:t>
            </a:r>
            <a:r>
              <a:rPr lang="fr-FR" b="1" i="1" dirty="0" err="1" smtClean="0">
                <a:solidFill>
                  <a:srgbClr val="FF0000"/>
                </a:solidFill>
              </a:rPr>
              <a:t>comportamentului</a:t>
            </a:r>
            <a:r>
              <a:rPr lang="fr-FR" b="1" i="1" dirty="0" smtClean="0">
                <a:solidFill>
                  <a:srgbClr val="FF0000"/>
                </a:solidFill>
              </a:rPr>
              <a:t>.</a:t>
            </a:r>
          </a:p>
          <a:p>
            <a:r>
              <a:rPr lang="ro-RO" b="1" dirty="0"/>
              <a:t>Încapsularea </a:t>
            </a:r>
            <a:r>
              <a:rPr lang="ro-RO" b="1" dirty="0" err="1"/>
              <a:t>informaţiilor</a:t>
            </a:r>
            <a:r>
              <a:rPr lang="ro-RO" b="1" dirty="0"/>
              <a:t> în interiorul </a:t>
            </a:r>
            <a:r>
              <a:rPr lang="ro-RO" b="1" dirty="0" smtClean="0"/>
              <a:t>obiectelor</a:t>
            </a:r>
            <a:endParaRPr lang="en-US" b="1" dirty="0" smtClean="0"/>
          </a:p>
          <a:p>
            <a:r>
              <a:rPr lang="fr-FR" b="1" i="1" dirty="0" err="1"/>
              <a:t>procesul</a:t>
            </a:r>
            <a:r>
              <a:rPr lang="fr-FR" b="1" i="1" dirty="0"/>
              <a:t> de </a:t>
            </a:r>
            <a:r>
              <a:rPr lang="fr-FR" b="1" i="1" dirty="0" err="1">
                <a:solidFill>
                  <a:srgbClr val="FF0000"/>
                </a:solidFill>
              </a:rPr>
              <a:t>încapsulare</a:t>
            </a:r>
            <a:r>
              <a:rPr lang="fr-FR" b="1" dirty="0"/>
              <a:t> este </a:t>
            </a:r>
            <a:r>
              <a:rPr lang="fr-FR" b="1" dirty="0" err="1"/>
              <a:t>procesul</a:t>
            </a:r>
            <a:r>
              <a:rPr lang="fr-FR" b="1" dirty="0"/>
              <a:t> de </a:t>
            </a:r>
            <a:r>
              <a:rPr lang="fr-FR" b="1" dirty="0" err="1"/>
              <a:t>ascundere</a:t>
            </a:r>
            <a:r>
              <a:rPr lang="fr-FR" b="1" dirty="0"/>
              <a:t> a </a:t>
            </a:r>
            <a:r>
              <a:rPr lang="fr-FR" b="1" dirty="0" err="1"/>
              <a:t>detaliilor</a:t>
            </a:r>
            <a:r>
              <a:rPr lang="fr-FR" b="1" dirty="0"/>
              <a:t> </a:t>
            </a:r>
            <a:r>
              <a:rPr lang="fr-FR" b="1" dirty="0" err="1"/>
              <a:t>neimportante</a:t>
            </a:r>
            <a:r>
              <a:rPr lang="fr-FR" b="1" dirty="0"/>
              <a:t> </a:t>
            </a:r>
            <a:r>
              <a:rPr lang="fr-FR" b="1" dirty="0" err="1"/>
              <a:t>sau</a:t>
            </a:r>
            <a:r>
              <a:rPr lang="fr-FR" b="1" dirty="0"/>
              <a:t> </a:t>
            </a:r>
            <a:endParaRPr lang="fr-FR" b="1" dirty="0" smtClean="0"/>
          </a:p>
          <a:p>
            <a:r>
              <a:rPr lang="fr-FR" b="1" dirty="0" err="1" smtClean="0"/>
              <a:t>sensibile</a:t>
            </a:r>
            <a:r>
              <a:rPr lang="fr-FR" b="1" dirty="0" smtClean="0"/>
              <a:t> </a:t>
            </a:r>
            <a:r>
              <a:rPr lang="fr-FR" b="1" dirty="0"/>
              <a:t>de </a:t>
            </a:r>
            <a:r>
              <a:rPr lang="fr-FR" b="1" dirty="0" err="1"/>
              <a:t>construcţie</a:t>
            </a:r>
            <a:r>
              <a:rPr lang="fr-FR" b="1" dirty="0"/>
              <a:t> a </a:t>
            </a:r>
            <a:r>
              <a:rPr lang="fr-FR" b="1" dirty="0" err="1"/>
              <a:t>obiectului</a:t>
            </a:r>
            <a:r>
              <a:rPr lang="fr-FR" b="1" dirty="0"/>
              <a:t>.</a:t>
            </a:r>
            <a:endParaRPr lang="ro-RO" dirty="0"/>
          </a:p>
          <a:p>
            <a:endParaRPr lang="ro-RO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9290" y="3911952"/>
            <a:ext cx="3076190" cy="21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942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dirty="0"/>
              <a:t>Clase de </a:t>
            </a:r>
            <a:r>
              <a:rPr lang="fr-FR" sz="4000" b="1" dirty="0" err="1" smtClean="0"/>
              <a:t>obiecte</a:t>
            </a:r>
            <a:endParaRPr lang="ro-RO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73912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dirty="0" err="1"/>
              <a:t>Încapsularea</a:t>
            </a:r>
            <a:r>
              <a:rPr lang="fr-FR" sz="4000" b="1" dirty="0"/>
              <a:t> </a:t>
            </a:r>
            <a:r>
              <a:rPr lang="fr-FR" sz="4000" b="1" dirty="0" err="1"/>
              <a:t>informaţiilor</a:t>
            </a:r>
            <a:r>
              <a:rPr lang="fr-FR" sz="4000" b="1" dirty="0"/>
              <a:t> </a:t>
            </a:r>
            <a:r>
              <a:rPr lang="fr-FR" sz="4000" b="1" dirty="0" err="1"/>
              <a:t>în</a:t>
            </a:r>
            <a:r>
              <a:rPr lang="fr-FR" sz="4000" b="1" dirty="0"/>
              <a:t> </a:t>
            </a:r>
            <a:r>
              <a:rPr lang="fr-FR" sz="4000" b="1" dirty="0" err="1"/>
              <a:t>interiorul</a:t>
            </a:r>
            <a:r>
              <a:rPr lang="fr-FR" sz="4000" b="1" dirty="0"/>
              <a:t> </a:t>
            </a:r>
            <a:r>
              <a:rPr lang="fr-FR" sz="4000" b="1" dirty="0" err="1"/>
              <a:t>obiectelor</a:t>
            </a:r>
            <a:r>
              <a:rPr lang="ro-RO" sz="4000" b="1" dirty="0"/>
              <a:t/>
            </a:r>
            <a:br>
              <a:rPr lang="ro-RO" sz="4000" b="1" dirty="0"/>
            </a:br>
            <a:endParaRPr lang="ro-RO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202250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ro-RO" sz="4000" dirty="0"/>
              <a:t>O </a:t>
            </a:r>
            <a:r>
              <a:rPr lang="en-US" altLang="ro-RO" sz="4000" dirty="0" err="1"/>
              <a:t>vedere</a:t>
            </a:r>
            <a:r>
              <a:rPr lang="en-US" altLang="ro-RO" sz="4000" dirty="0"/>
              <a:t> la </a:t>
            </a:r>
            <a:r>
              <a:rPr lang="en-US" altLang="ro-RO" sz="4000" dirty="0" err="1"/>
              <a:t>nivel</a:t>
            </a:r>
            <a:r>
              <a:rPr lang="en-US" altLang="ro-RO" sz="4000" dirty="0"/>
              <a:t> </a:t>
            </a:r>
            <a:r>
              <a:rPr lang="en-US" altLang="ro-RO" sz="4000" dirty="0" err="1"/>
              <a:t>înalt</a:t>
            </a:r>
            <a:r>
              <a:rPr lang="en-US" altLang="ro-RO" sz="4000" dirty="0"/>
              <a:t> a </a:t>
            </a:r>
            <a:r>
              <a:rPr lang="en-US" altLang="ro-RO" sz="4000" dirty="0" err="1"/>
              <a:t>traducerii</a:t>
            </a:r>
            <a:r>
              <a:rPr lang="en-US" altLang="ro-RO" sz="4000" dirty="0"/>
              <a:t> / </a:t>
            </a:r>
            <a:r>
              <a:rPr lang="en-US" altLang="ro-RO" sz="4000" dirty="0" err="1"/>
              <a:t>executării</a:t>
            </a:r>
            <a:r>
              <a:rPr lang="en-US" altLang="ro-RO" sz="4000" dirty="0"/>
              <a:t> </a:t>
            </a:r>
            <a:r>
              <a:rPr lang="en-US" altLang="ro-RO" sz="4000" dirty="0" err="1"/>
              <a:t>programelor</a:t>
            </a:r>
            <a:r>
              <a:rPr lang="en-US" altLang="ro-RO" sz="4000" dirty="0"/>
              <a:t> Java</a:t>
            </a:r>
            <a:endParaRPr lang="en-US" altLang="ro-RO" sz="4000" dirty="0" smtClean="0"/>
          </a:p>
        </p:txBody>
      </p:sp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3683000" y="2438400"/>
            <a:ext cx="3263900" cy="1843088"/>
            <a:chOff x="1360" y="1536"/>
            <a:chExt cx="2056" cy="1161"/>
          </a:xfrm>
        </p:grpSpPr>
        <p:sp>
          <p:nvSpPr>
            <p:cNvPr id="17419" name="AutoShape 4"/>
            <p:cNvSpPr>
              <a:spLocks noChangeArrowheads="1"/>
            </p:cNvSpPr>
            <p:nvPr/>
          </p:nvSpPr>
          <p:spPr bwMode="auto">
            <a:xfrm>
              <a:off x="2117" y="1977"/>
              <a:ext cx="1152" cy="720"/>
            </a:xfrm>
            <a:prstGeom prst="irregularSeal1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ro-RO" altLang="ro-RO"/>
            </a:p>
          </p:txBody>
        </p:sp>
        <p:sp>
          <p:nvSpPr>
            <p:cNvPr id="17420" name="Text Box 5"/>
            <p:cNvSpPr txBox="1">
              <a:spLocks noChangeArrowheads="1"/>
            </p:cNvSpPr>
            <p:nvPr/>
          </p:nvSpPr>
          <p:spPr bwMode="auto">
            <a:xfrm>
              <a:off x="2144" y="1536"/>
              <a:ext cx="1272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o-RO" sz="2000"/>
                <a:t>Java compiler (javac)</a:t>
              </a:r>
            </a:p>
          </p:txBody>
        </p:sp>
        <p:sp>
          <p:nvSpPr>
            <p:cNvPr id="17421" name="Line 6"/>
            <p:cNvSpPr>
              <a:spLocks noChangeShapeType="1"/>
            </p:cNvSpPr>
            <p:nvPr/>
          </p:nvSpPr>
          <p:spPr bwMode="auto">
            <a:xfrm>
              <a:off x="1360" y="2280"/>
              <a:ext cx="7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</p:grpSp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1905000" y="2362200"/>
            <a:ext cx="1968500" cy="2001838"/>
            <a:chOff x="240" y="1488"/>
            <a:chExt cx="1240" cy="1261"/>
          </a:xfrm>
        </p:grpSpPr>
        <p:sp>
          <p:nvSpPr>
            <p:cNvPr id="17417" name="Rectangle 3"/>
            <p:cNvSpPr>
              <a:spLocks noChangeArrowheads="1"/>
            </p:cNvSpPr>
            <p:nvPr/>
          </p:nvSpPr>
          <p:spPr bwMode="auto">
            <a:xfrm>
              <a:off x="243" y="1722"/>
              <a:ext cx="1103" cy="10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3600" tIns="46800" rIns="93600" bIns="46800" anchor="ctr"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  <a:spcBef>
                  <a:spcPct val="70000"/>
                </a:spcBef>
              </a:pPr>
              <a:r>
                <a:rPr lang="en-CA" altLang="ro-RO" sz="2000" b="1">
                  <a:latin typeface="Times New Roman" panose="02020603050405020304" pitchFamily="18" charset="0"/>
                </a:rPr>
                <a:t>Java program</a:t>
              </a:r>
            </a:p>
          </p:txBody>
        </p:sp>
        <p:sp>
          <p:nvSpPr>
            <p:cNvPr id="17418" name="Text Box 9"/>
            <p:cNvSpPr txBox="1">
              <a:spLocks noChangeArrowheads="1"/>
            </p:cNvSpPr>
            <p:nvPr/>
          </p:nvSpPr>
          <p:spPr bwMode="auto">
            <a:xfrm>
              <a:off x="240" y="1488"/>
              <a:ext cx="1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o-RO" sz="1800"/>
                <a:t>Filename.java</a:t>
              </a:r>
            </a:p>
          </p:txBody>
        </p:sp>
      </p:grpSp>
      <p:grpSp>
        <p:nvGrpSpPr>
          <p:cNvPr id="5" name="Group 10"/>
          <p:cNvGrpSpPr>
            <a:grpSpLocks/>
          </p:cNvGrpSpPr>
          <p:nvPr/>
        </p:nvGrpSpPr>
        <p:grpSpPr bwMode="auto">
          <a:xfrm>
            <a:off x="6756400" y="2374900"/>
            <a:ext cx="3340100" cy="2027238"/>
            <a:chOff x="3296" y="1496"/>
            <a:chExt cx="2104" cy="1277"/>
          </a:xfrm>
        </p:grpSpPr>
        <p:sp>
          <p:nvSpPr>
            <p:cNvPr id="17414" name="Line 11"/>
            <p:cNvSpPr>
              <a:spLocks noChangeShapeType="1"/>
            </p:cNvSpPr>
            <p:nvPr/>
          </p:nvSpPr>
          <p:spPr bwMode="auto">
            <a:xfrm>
              <a:off x="3296" y="2264"/>
              <a:ext cx="8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7415" name="Rectangle 3"/>
            <p:cNvSpPr>
              <a:spLocks noChangeArrowheads="1"/>
            </p:cNvSpPr>
            <p:nvPr/>
          </p:nvSpPr>
          <p:spPr bwMode="auto">
            <a:xfrm>
              <a:off x="4163" y="1746"/>
              <a:ext cx="1103" cy="10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3600" tIns="46800" rIns="93600" bIns="46800" anchor="ctr"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70000"/>
                </a:spcBef>
              </a:pPr>
              <a:r>
                <a:rPr lang="en-US" altLang="ro-RO" sz="1800" b="1"/>
                <a:t>Java bytecode (generic binary)</a:t>
              </a:r>
              <a:endParaRPr lang="en-CA" altLang="ro-RO" sz="1800" b="1"/>
            </a:p>
          </p:txBody>
        </p:sp>
        <p:sp>
          <p:nvSpPr>
            <p:cNvPr id="17416" name="Text Box 13"/>
            <p:cNvSpPr txBox="1">
              <a:spLocks noChangeArrowheads="1"/>
            </p:cNvSpPr>
            <p:nvPr/>
          </p:nvSpPr>
          <p:spPr bwMode="auto">
            <a:xfrm>
              <a:off x="4160" y="1496"/>
              <a:ext cx="1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o-RO" sz="1800"/>
                <a:t>Filename.class</a:t>
              </a:r>
            </a:p>
          </p:txBody>
        </p:sp>
      </p:grpSp>
      <p:sp>
        <p:nvSpPr>
          <p:cNvPr id="17424" name="Text Box 16"/>
          <p:cNvSpPr txBox="1">
            <a:spLocks noChangeArrowheads="1"/>
          </p:cNvSpPr>
          <p:nvPr/>
        </p:nvSpPr>
        <p:spPr bwMode="auto">
          <a:xfrm>
            <a:off x="1740929" y="1709407"/>
            <a:ext cx="2743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o-RO" sz="2000" b="1" dirty="0" smtClean="0"/>
              <a:t>Etapa1</a:t>
            </a:r>
            <a:r>
              <a:rPr lang="en-US" altLang="ro-RO" sz="2000" b="1" dirty="0"/>
              <a:t>: Compilation</a:t>
            </a:r>
          </a:p>
        </p:txBody>
      </p:sp>
    </p:spTree>
    <p:extLst>
      <p:ext uri="{BB962C8B-B14F-4D97-AF65-F5344CB8AC3E}">
        <p14:creationId xmlns:p14="http://schemas.microsoft.com/office/powerpoint/2010/main" val="2546017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ro-RO" sz="4000" dirty="0"/>
              <a:t>O </a:t>
            </a:r>
            <a:r>
              <a:rPr lang="en-US" altLang="ro-RO" sz="4000" dirty="0" err="1"/>
              <a:t>vedere</a:t>
            </a:r>
            <a:r>
              <a:rPr lang="en-US" altLang="ro-RO" sz="4000" dirty="0"/>
              <a:t> la </a:t>
            </a:r>
            <a:r>
              <a:rPr lang="en-US" altLang="ro-RO" sz="4000" dirty="0" err="1"/>
              <a:t>nivel</a:t>
            </a:r>
            <a:r>
              <a:rPr lang="en-US" altLang="ro-RO" sz="4000" dirty="0"/>
              <a:t> </a:t>
            </a:r>
            <a:r>
              <a:rPr lang="en-US" altLang="ro-RO" sz="4000" dirty="0" err="1"/>
              <a:t>înalt</a:t>
            </a:r>
            <a:r>
              <a:rPr lang="en-US" altLang="ro-RO" sz="4000" dirty="0"/>
              <a:t> a </a:t>
            </a:r>
            <a:r>
              <a:rPr lang="en-US" altLang="ro-RO" sz="4000" dirty="0" err="1"/>
              <a:t>traducerii</a:t>
            </a:r>
            <a:r>
              <a:rPr lang="en-US" altLang="ro-RO" sz="4000" dirty="0"/>
              <a:t> / </a:t>
            </a:r>
            <a:r>
              <a:rPr lang="en-US" altLang="ro-RO" sz="4000" dirty="0" err="1"/>
              <a:t>executării</a:t>
            </a:r>
            <a:r>
              <a:rPr lang="en-US" altLang="ro-RO" sz="4000" dirty="0"/>
              <a:t> </a:t>
            </a:r>
            <a:r>
              <a:rPr lang="en-US" altLang="ro-RO" sz="4000" dirty="0" err="1"/>
              <a:t>programelor</a:t>
            </a:r>
            <a:r>
              <a:rPr lang="en-US" altLang="ro-RO" sz="4000" dirty="0"/>
              <a:t> Java</a:t>
            </a:r>
            <a:r>
              <a:rPr lang="en-US" altLang="ro-RO" sz="4000" dirty="0" smtClean="0"/>
              <a:t> </a:t>
            </a:r>
            <a:r>
              <a:rPr lang="en-US" altLang="ro-RO" sz="4000" dirty="0" smtClean="0"/>
              <a:t>(2)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683000" y="2438400"/>
            <a:ext cx="3263900" cy="1843088"/>
            <a:chOff x="1360" y="1536"/>
            <a:chExt cx="2056" cy="1161"/>
          </a:xfrm>
        </p:grpSpPr>
        <p:sp>
          <p:nvSpPr>
            <p:cNvPr id="18449" name="AutoShape 4"/>
            <p:cNvSpPr>
              <a:spLocks noChangeArrowheads="1"/>
            </p:cNvSpPr>
            <p:nvPr/>
          </p:nvSpPr>
          <p:spPr bwMode="auto">
            <a:xfrm>
              <a:off x="2117" y="1977"/>
              <a:ext cx="1152" cy="720"/>
            </a:xfrm>
            <a:prstGeom prst="irregularSeal1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ro-RO" altLang="ro-RO"/>
            </a:p>
          </p:txBody>
        </p:sp>
        <p:sp>
          <p:nvSpPr>
            <p:cNvPr id="18450" name="Text Box 5"/>
            <p:cNvSpPr txBox="1">
              <a:spLocks noChangeArrowheads="1"/>
            </p:cNvSpPr>
            <p:nvPr/>
          </p:nvSpPr>
          <p:spPr bwMode="auto">
            <a:xfrm>
              <a:off x="2144" y="1536"/>
              <a:ext cx="1272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o-RO" sz="2000"/>
                <a:t>Java interpreter (java)</a:t>
              </a:r>
            </a:p>
          </p:txBody>
        </p:sp>
        <p:sp>
          <p:nvSpPr>
            <p:cNvPr id="18451" name="Line 6"/>
            <p:cNvSpPr>
              <a:spLocks noChangeShapeType="1"/>
            </p:cNvSpPr>
            <p:nvPr/>
          </p:nvSpPr>
          <p:spPr bwMode="auto">
            <a:xfrm>
              <a:off x="1360" y="2280"/>
              <a:ext cx="7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</p:grpSp>
      <p:grpSp>
        <p:nvGrpSpPr>
          <p:cNvPr id="18436" name="Group 7"/>
          <p:cNvGrpSpPr>
            <a:grpSpLocks/>
          </p:cNvGrpSpPr>
          <p:nvPr/>
        </p:nvGrpSpPr>
        <p:grpSpPr bwMode="auto">
          <a:xfrm>
            <a:off x="1905000" y="2362200"/>
            <a:ext cx="1968500" cy="2001838"/>
            <a:chOff x="240" y="1488"/>
            <a:chExt cx="1240" cy="1261"/>
          </a:xfrm>
        </p:grpSpPr>
        <p:sp>
          <p:nvSpPr>
            <p:cNvPr id="18447" name="Rectangle 3"/>
            <p:cNvSpPr>
              <a:spLocks noChangeArrowheads="1"/>
            </p:cNvSpPr>
            <p:nvPr/>
          </p:nvSpPr>
          <p:spPr bwMode="auto">
            <a:xfrm>
              <a:off x="243" y="1722"/>
              <a:ext cx="1103" cy="10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3600" tIns="46800" rIns="93600" bIns="46800" anchor="ctr"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70000"/>
                </a:spcBef>
              </a:pPr>
              <a:r>
                <a:rPr lang="en-US" altLang="ro-RO" sz="1800" b="1"/>
                <a:t>Java bytecode (generic binary)</a:t>
              </a:r>
              <a:endParaRPr lang="en-CA" altLang="ro-RO" sz="1800" b="1"/>
            </a:p>
          </p:txBody>
        </p:sp>
        <p:sp>
          <p:nvSpPr>
            <p:cNvPr id="18448" name="Text Box 9"/>
            <p:cNvSpPr txBox="1">
              <a:spLocks noChangeArrowheads="1"/>
            </p:cNvSpPr>
            <p:nvPr/>
          </p:nvSpPr>
          <p:spPr bwMode="auto">
            <a:xfrm>
              <a:off x="240" y="1488"/>
              <a:ext cx="1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o-RO" sz="1800"/>
                <a:t>Filename.class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6324600" y="1524000"/>
            <a:ext cx="4343400" cy="2876550"/>
            <a:chOff x="3024" y="960"/>
            <a:chExt cx="2736" cy="1812"/>
          </a:xfrm>
        </p:grpSpPr>
        <p:grpSp>
          <p:nvGrpSpPr>
            <p:cNvPr id="18438" name="Group 11"/>
            <p:cNvGrpSpPr>
              <a:grpSpLocks/>
            </p:cNvGrpSpPr>
            <p:nvPr/>
          </p:nvGrpSpPr>
          <p:grpSpPr bwMode="auto">
            <a:xfrm>
              <a:off x="3064" y="960"/>
              <a:ext cx="2696" cy="1216"/>
              <a:chOff x="3064" y="960"/>
              <a:chExt cx="2696" cy="1216"/>
            </a:xfrm>
          </p:grpSpPr>
          <p:sp>
            <p:nvSpPr>
              <p:cNvPr id="18445" name="Line 12"/>
              <p:cNvSpPr>
                <a:spLocks noChangeShapeType="1"/>
              </p:cNvSpPr>
              <p:nvPr/>
            </p:nvSpPr>
            <p:spPr bwMode="auto">
              <a:xfrm flipV="1">
                <a:off x="3064" y="1208"/>
                <a:ext cx="1192" cy="96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8446" name="Text Box 13"/>
              <p:cNvSpPr txBox="1">
                <a:spLocks noChangeArrowheads="1"/>
              </p:cNvSpPr>
              <p:nvPr/>
            </p:nvSpPr>
            <p:spPr bwMode="auto">
              <a:xfrm>
                <a:off x="4248" y="960"/>
                <a:ext cx="1512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ro-RO" sz="1800"/>
                  <a:t>Machine language instruction (UNIX)</a:t>
                </a:r>
              </a:p>
            </p:txBody>
          </p:sp>
        </p:grpSp>
        <p:grpSp>
          <p:nvGrpSpPr>
            <p:cNvPr id="18439" name="Group 14"/>
            <p:cNvGrpSpPr>
              <a:grpSpLocks/>
            </p:cNvGrpSpPr>
            <p:nvPr/>
          </p:nvGrpSpPr>
          <p:grpSpPr bwMode="auto">
            <a:xfrm>
              <a:off x="3120" y="1608"/>
              <a:ext cx="2640" cy="728"/>
              <a:chOff x="3120" y="1608"/>
              <a:chExt cx="2640" cy="728"/>
            </a:xfrm>
          </p:grpSpPr>
          <p:sp>
            <p:nvSpPr>
              <p:cNvPr id="18443" name="Line 15"/>
              <p:cNvSpPr>
                <a:spLocks noChangeShapeType="1"/>
              </p:cNvSpPr>
              <p:nvPr/>
            </p:nvSpPr>
            <p:spPr bwMode="auto">
              <a:xfrm flipV="1">
                <a:off x="3120" y="1856"/>
                <a:ext cx="1136" cy="4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8444" name="Text Box 16"/>
              <p:cNvSpPr txBox="1">
                <a:spLocks noChangeArrowheads="1"/>
              </p:cNvSpPr>
              <p:nvPr/>
            </p:nvSpPr>
            <p:spPr bwMode="auto">
              <a:xfrm>
                <a:off x="4248" y="1608"/>
                <a:ext cx="1512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ro-RO" sz="1800"/>
                  <a:t>Machine language instruction (Windows)</a:t>
                </a:r>
              </a:p>
            </p:txBody>
          </p:sp>
        </p:grpSp>
        <p:grpSp>
          <p:nvGrpSpPr>
            <p:cNvPr id="18440" name="Group 17"/>
            <p:cNvGrpSpPr>
              <a:grpSpLocks/>
            </p:cNvGrpSpPr>
            <p:nvPr/>
          </p:nvGrpSpPr>
          <p:grpSpPr bwMode="auto">
            <a:xfrm>
              <a:off x="3024" y="2368"/>
              <a:ext cx="2736" cy="404"/>
              <a:chOff x="3024" y="2368"/>
              <a:chExt cx="2736" cy="404"/>
            </a:xfrm>
          </p:grpSpPr>
          <p:sp>
            <p:nvSpPr>
              <p:cNvPr id="18441" name="Line 18"/>
              <p:cNvSpPr>
                <a:spLocks noChangeShapeType="1"/>
              </p:cNvSpPr>
              <p:nvPr/>
            </p:nvSpPr>
            <p:spPr bwMode="auto">
              <a:xfrm>
                <a:off x="3024" y="2416"/>
                <a:ext cx="1232" cy="2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8442" name="Text Box 19"/>
              <p:cNvSpPr txBox="1">
                <a:spLocks noChangeArrowheads="1"/>
              </p:cNvSpPr>
              <p:nvPr/>
            </p:nvSpPr>
            <p:spPr bwMode="auto">
              <a:xfrm>
                <a:off x="4248" y="2368"/>
                <a:ext cx="1512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ro-RO" sz="1800"/>
                  <a:t>Machine language instruction (Apple)</a:t>
                </a:r>
              </a:p>
            </p:txBody>
          </p:sp>
        </p:grpSp>
      </p:grpSp>
      <p:sp>
        <p:nvSpPr>
          <p:cNvPr id="18454" name="Text Box 22"/>
          <p:cNvSpPr txBox="1">
            <a:spLocks noChangeArrowheads="1"/>
          </p:cNvSpPr>
          <p:nvPr/>
        </p:nvSpPr>
        <p:spPr bwMode="auto">
          <a:xfrm>
            <a:off x="1727200" y="1688147"/>
            <a:ext cx="62738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o-RO" sz="2000" b="1" dirty="0" err="1" smtClean="0"/>
              <a:t>Etapa</a:t>
            </a:r>
            <a:r>
              <a:rPr lang="en-US" altLang="ro-RO" sz="2000" b="1" dirty="0" smtClean="0"/>
              <a:t> </a:t>
            </a:r>
            <a:r>
              <a:rPr lang="en-US" altLang="ro-RO" sz="2000" b="1" dirty="0"/>
              <a:t>2: </a:t>
            </a:r>
            <a:r>
              <a:rPr lang="en-US" altLang="ro-RO" sz="2000" b="1" dirty="0" err="1"/>
              <a:t>Interpretarea</a:t>
            </a:r>
            <a:r>
              <a:rPr lang="en-US" altLang="ro-RO" sz="2000" b="1" dirty="0"/>
              <a:t> </a:t>
            </a:r>
            <a:r>
              <a:rPr lang="en-US" altLang="ro-RO" sz="2000" b="1" dirty="0" err="1"/>
              <a:t>și</a:t>
            </a:r>
            <a:r>
              <a:rPr lang="en-US" altLang="ro-RO" sz="2000" b="1" dirty="0"/>
              <a:t> </a:t>
            </a:r>
            <a:r>
              <a:rPr lang="en-US" altLang="ro-RO" sz="2000" b="1" dirty="0" err="1"/>
              <a:t>executarea</a:t>
            </a:r>
            <a:r>
              <a:rPr lang="en-US" altLang="ro-RO" sz="2000" b="1" dirty="0"/>
              <a:t> </a:t>
            </a:r>
            <a:r>
              <a:rPr lang="en-US" altLang="ro-RO" sz="2000" b="1" dirty="0" smtClean="0"/>
              <a:t>byte </a:t>
            </a:r>
            <a:r>
              <a:rPr lang="en-US" altLang="ro-RO" sz="2000" b="1" dirty="0"/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2781383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o-RO" dirty="0" smtClean="0"/>
              <a:t>Ce </a:t>
            </a:r>
            <a:r>
              <a:rPr lang="en-US" altLang="ro-RO" dirty="0" err="1" smtClean="0"/>
              <a:t>versiune</a:t>
            </a:r>
            <a:r>
              <a:rPr lang="en-US" altLang="ro-RO" dirty="0" smtClean="0"/>
              <a:t> Java?</a:t>
            </a:r>
            <a:endParaRPr lang="en-US" altLang="ro-RO" dirty="0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tabLst>
                <a:tab pos="622300" algn="l"/>
              </a:tabLst>
            </a:pPr>
            <a:r>
              <a:rPr lang="en-US" altLang="ro-RO" dirty="0" smtClean="0"/>
              <a:t>Java </a:t>
            </a:r>
            <a:r>
              <a:rPr lang="en-US" altLang="ro-RO" dirty="0" smtClean="0"/>
              <a:t>6+ </a:t>
            </a:r>
            <a:r>
              <a:rPr lang="en-US" altLang="ro-RO" dirty="0" smtClean="0"/>
              <a:t>JDK (Java Development Kit), Standard Edition </a:t>
            </a:r>
            <a:r>
              <a:rPr lang="en-US" altLang="ro-RO" dirty="0" smtClean="0"/>
              <a:t>include:  </a:t>
            </a:r>
            <a:endParaRPr lang="en-US" altLang="ro-RO" dirty="0" smtClean="0"/>
          </a:p>
          <a:p>
            <a:pPr marL="622300" lvl="1" indent="-241300">
              <a:tabLst>
                <a:tab pos="622300" algn="l"/>
              </a:tabLst>
            </a:pPr>
            <a:r>
              <a:rPr lang="en-US" altLang="ro-RO" dirty="0" smtClean="0"/>
              <a:t>J</a:t>
            </a:r>
            <a:r>
              <a:rPr lang="en-US" altLang="ro-RO" i="1" u="sng" dirty="0" smtClean="0"/>
              <a:t>D</a:t>
            </a:r>
            <a:r>
              <a:rPr lang="en-US" altLang="ro-RO" dirty="0" smtClean="0"/>
              <a:t>K (Java development kit) – </a:t>
            </a:r>
            <a:r>
              <a:rPr lang="en-US" altLang="ro-RO" dirty="0" err="1" smtClean="0"/>
              <a:t>pentru</a:t>
            </a:r>
            <a:r>
              <a:rPr lang="en-US" altLang="ro-RO" dirty="0" smtClean="0"/>
              <a:t> </a:t>
            </a:r>
            <a:r>
              <a:rPr lang="en-US" altLang="ro-RO" i="1" dirty="0" err="1" smtClean="0"/>
              <a:t>dezvoltare</a:t>
            </a:r>
            <a:r>
              <a:rPr lang="en-US" altLang="ro-RO" i="1" dirty="0" smtClean="0"/>
              <a:t> </a:t>
            </a:r>
            <a:r>
              <a:rPr lang="en-US" altLang="ro-RO" i="1" dirty="0" err="1" smtClean="0"/>
              <a:t>programe</a:t>
            </a:r>
            <a:r>
              <a:rPr lang="en-US" altLang="ro-RO" i="1" dirty="0" smtClean="0"/>
              <a:t> </a:t>
            </a:r>
            <a:r>
              <a:rPr lang="en-US" altLang="ro-RO" dirty="0" smtClean="0"/>
              <a:t>Java.</a:t>
            </a:r>
            <a:endParaRPr lang="en-US" altLang="ro-RO" dirty="0" smtClean="0"/>
          </a:p>
          <a:p>
            <a:pPr marL="622300" lvl="1" indent="-241300">
              <a:tabLst>
                <a:tab pos="622300" algn="l"/>
              </a:tabLst>
            </a:pPr>
            <a:r>
              <a:rPr lang="en-US" altLang="ro-RO" dirty="0" smtClean="0"/>
              <a:t>J</a:t>
            </a:r>
            <a:r>
              <a:rPr lang="en-US" altLang="ro-RO" i="1" u="sng" dirty="0" smtClean="0"/>
              <a:t>R</a:t>
            </a:r>
            <a:r>
              <a:rPr lang="en-US" altLang="ro-RO" dirty="0" smtClean="0"/>
              <a:t>E (Java Runtime environment) – </a:t>
            </a:r>
            <a:r>
              <a:rPr lang="en-US" altLang="ro-RO" dirty="0" err="1" smtClean="0"/>
              <a:t>doar</a:t>
            </a:r>
            <a:r>
              <a:rPr lang="en-US" altLang="ro-RO" dirty="0" smtClean="0"/>
              <a:t> </a:t>
            </a:r>
            <a:r>
              <a:rPr lang="en-US" altLang="ro-RO" dirty="0" err="1" smtClean="0"/>
              <a:t>pentru</a:t>
            </a:r>
            <a:r>
              <a:rPr lang="en-US" altLang="ro-RO" dirty="0" smtClean="0"/>
              <a:t> </a:t>
            </a:r>
            <a:r>
              <a:rPr lang="en-US" altLang="ro-RO" dirty="0" err="1" smtClean="0"/>
              <a:t>execu</a:t>
            </a:r>
            <a:r>
              <a:rPr lang="ro-RO" altLang="ro-RO" dirty="0" smtClean="0"/>
              <a:t>ție </a:t>
            </a:r>
            <a:r>
              <a:rPr lang="en-US" altLang="ro-RO" i="1" dirty="0" smtClean="0"/>
              <a:t>running</a:t>
            </a:r>
            <a:r>
              <a:rPr lang="en-US" altLang="ro-RO" dirty="0" smtClean="0"/>
              <a:t> p</a:t>
            </a:r>
            <a:r>
              <a:rPr lang="ro-RO" altLang="ro-RO" dirty="0" err="1" smtClean="0"/>
              <a:t>rograme</a:t>
            </a:r>
            <a:r>
              <a:rPr lang="en-US" altLang="ro-RO" dirty="0" smtClean="0"/>
              <a:t> Java.</a:t>
            </a:r>
            <a:endParaRPr lang="en-US" altLang="ro-RO" dirty="0" smtClean="0"/>
          </a:p>
          <a:p>
            <a:pPr marL="892175" lvl="2" indent="-90488">
              <a:tabLst>
                <a:tab pos="622300" algn="l"/>
              </a:tabLst>
            </a:pPr>
            <a:r>
              <a:rPr lang="en-US" altLang="ro-RO" dirty="0" smtClean="0"/>
              <a:t>Java Plug-in – </a:t>
            </a:r>
            <a:r>
              <a:rPr lang="ro-RO" altLang="ro-RO" dirty="0" smtClean="0"/>
              <a:t>o versiune specială a </a:t>
            </a:r>
            <a:r>
              <a:rPr lang="en-US" altLang="ro-RO" dirty="0"/>
              <a:t>JRE </a:t>
            </a:r>
            <a:r>
              <a:rPr lang="en-US" altLang="ro-RO" dirty="0" err="1" smtClean="0"/>
              <a:t>conceput</a:t>
            </a:r>
            <a:r>
              <a:rPr lang="ro-RO" altLang="ro-RO" dirty="0" smtClean="0"/>
              <a:t>ă</a:t>
            </a:r>
            <a:r>
              <a:rPr lang="en-US" altLang="ro-RO" dirty="0" smtClean="0"/>
              <a:t> </a:t>
            </a:r>
            <a:r>
              <a:rPr lang="en-US" altLang="ro-RO" dirty="0" err="1"/>
              <a:t>pentru</a:t>
            </a:r>
            <a:r>
              <a:rPr lang="en-US" altLang="ro-RO" dirty="0"/>
              <a:t> a </a:t>
            </a:r>
            <a:r>
              <a:rPr lang="en-US" altLang="ro-RO" dirty="0" err="1"/>
              <a:t>rula</a:t>
            </a:r>
            <a:r>
              <a:rPr lang="en-US" altLang="ro-RO" dirty="0"/>
              <a:t> </a:t>
            </a:r>
            <a:r>
              <a:rPr lang="en-US" altLang="ro-RO" dirty="0" err="1"/>
              <a:t>prin</a:t>
            </a:r>
            <a:r>
              <a:rPr lang="en-US" altLang="ro-RO" dirty="0"/>
              <a:t> </a:t>
            </a:r>
            <a:r>
              <a:rPr lang="en-US" altLang="ro-RO" dirty="0" err="1"/>
              <a:t>intermediul</a:t>
            </a:r>
            <a:r>
              <a:rPr lang="en-US" altLang="ro-RO" dirty="0"/>
              <a:t> </a:t>
            </a:r>
            <a:r>
              <a:rPr lang="en-US" altLang="ro-RO" dirty="0" err="1"/>
              <a:t>browserelor</a:t>
            </a:r>
            <a:r>
              <a:rPr lang="en-US" altLang="ro-RO" dirty="0"/>
              <a:t> web.</a:t>
            </a:r>
            <a:endParaRPr lang="en-US" altLang="ro-RO" dirty="0" smtClean="0"/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1705233" y="3857414"/>
            <a:ext cx="4897438" cy="340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00" tIns="46800" rIns="936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600" dirty="0"/>
              <a:t>http://java.sun.com/javase/downloads/index.jsp</a:t>
            </a:r>
          </a:p>
        </p:txBody>
      </p:sp>
    </p:spTree>
    <p:extLst>
      <p:ext uri="{BB962C8B-B14F-4D97-AF65-F5344CB8AC3E}">
        <p14:creationId xmlns:p14="http://schemas.microsoft.com/office/powerpoint/2010/main" val="3733755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ro-RO" dirty="0" err="1"/>
              <a:t>Cel</a:t>
            </a:r>
            <a:r>
              <a:rPr lang="en-CA" altLang="ro-RO" dirty="0"/>
              <a:t> </a:t>
            </a:r>
            <a:r>
              <a:rPr lang="en-CA" altLang="ro-RO" dirty="0" err="1"/>
              <a:t>mai</a:t>
            </a:r>
            <a:r>
              <a:rPr lang="en-CA" altLang="ro-RO" dirty="0"/>
              <a:t> mic program Java </a:t>
            </a:r>
            <a:r>
              <a:rPr lang="en-CA" altLang="ro-RO" dirty="0" err="1"/>
              <a:t>compilabil</a:t>
            </a:r>
            <a:r>
              <a:rPr lang="en-CA" altLang="ro-RO" dirty="0"/>
              <a:t> </a:t>
            </a:r>
            <a:r>
              <a:rPr lang="en-CA" altLang="ro-RO" dirty="0" err="1"/>
              <a:t>și</a:t>
            </a:r>
            <a:r>
              <a:rPr lang="en-CA" altLang="ro-RO" dirty="0"/>
              <a:t> </a:t>
            </a:r>
            <a:r>
              <a:rPr lang="en-CA" altLang="ro-RO" dirty="0" err="1"/>
              <a:t>executabil</a:t>
            </a:r>
            <a:endParaRPr lang="en-CA" altLang="ro-RO" dirty="0" smtClean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altLang="ro-RO" dirty="0" err="1"/>
              <a:t>Numele</a:t>
            </a:r>
            <a:r>
              <a:rPr lang="en-CA" altLang="ro-RO" dirty="0"/>
              <a:t> </a:t>
            </a:r>
            <a:r>
              <a:rPr lang="en-CA" altLang="ro-RO" dirty="0" err="1"/>
              <a:t>exemplului</a:t>
            </a:r>
            <a:r>
              <a:rPr lang="en-CA" altLang="ro-RO" dirty="0"/>
              <a:t> </a:t>
            </a:r>
            <a:r>
              <a:rPr lang="en-CA" altLang="ro-RO" dirty="0" err="1" smtClean="0"/>
              <a:t>este</a:t>
            </a:r>
            <a:r>
              <a:rPr lang="en-CA" altLang="ro-RO" dirty="0" smtClean="0"/>
              <a:t> </a:t>
            </a:r>
            <a:r>
              <a:rPr lang="en-CA" altLang="ro-RO" dirty="0"/>
              <a:t>:</a:t>
            </a:r>
            <a:r>
              <a:rPr lang="en-CA" altLang="ro-RO" dirty="0" smtClean="0">
                <a:latin typeface="Arial" panose="020B0604020202020204" pitchFamily="34" charset="0"/>
              </a:rPr>
              <a:t> </a:t>
            </a:r>
            <a:r>
              <a:rPr lang="en-CA" altLang="ro-RO" dirty="0">
                <a:latin typeface="Arial" panose="020B0604020202020204" pitchFamily="34" charset="0"/>
              </a:rPr>
              <a:t>Smallest.java </a:t>
            </a:r>
            <a:r>
              <a:rPr lang="en-CA" altLang="ro-RO" dirty="0" smtClean="0">
                <a:latin typeface="Arial" panose="020B0604020202020204" pitchFamily="34" charset="0"/>
              </a:rPr>
              <a:t>(</a:t>
            </a:r>
            <a:r>
              <a:rPr lang="en-CA" altLang="ro-RO" i="1" dirty="0" err="1">
                <a:latin typeface="Arial" panose="020B0604020202020204" pitchFamily="34" charset="0"/>
              </a:rPr>
              <a:t>Notă</a:t>
            </a:r>
            <a:r>
              <a:rPr lang="en-CA" altLang="ro-RO" i="1" dirty="0">
                <a:latin typeface="Arial" panose="020B0604020202020204" pitchFamily="34" charset="0"/>
              </a:rPr>
              <a:t> </a:t>
            </a:r>
            <a:r>
              <a:rPr lang="en-CA" altLang="ro-RO" i="1" dirty="0" err="1">
                <a:latin typeface="Arial" panose="020B0604020202020204" pitchFamily="34" charset="0"/>
              </a:rPr>
              <a:t>importantă</a:t>
            </a:r>
            <a:r>
              <a:rPr lang="en-CA" altLang="ro-RO" i="1" dirty="0">
                <a:latin typeface="Arial" panose="020B0604020202020204" pitchFamily="34" charset="0"/>
              </a:rPr>
              <a:t>: </a:t>
            </a:r>
            <a:r>
              <a:rPr lang="en-CA" altLang="ro-RO" i="1" dirty="0" err="1">
                <a:latin typeface="Arial" panose="020B0604020202020204" pitchFamily="34" charset="0"/>
              </a:rPr>
              <a:t>numele</a:t>
            </a:r>
            <a:r>
              <a:rPr lang="en-CA" altLang="ro-RO" i="1" dirty="0">
                <a:latin typeface="Arial" panose="020B0604020202020204" pitchFamily="34" charset="0"/>
              </a:rPr>
              <a:t> </a:t>
            </a:r>
            <a:r>
              <a:rPr lang="en-CA" altLang="ro-RO" i="1" dirty="0" err="1">
                <a:latin typeface="Arial" panose="020B0604020202020204" pitchFamily="34" charset="0"/>
              </a:rPr>
              <a:t>fișierului</a:t>
            </a:r>
            <a:r>
              <a:rPr lang="en-CA" altLang="ro-RO" i="1" dirty="0">
                <a:latin typeface="Arial" panose="020B0604020202020204" pitchFamily="34" charset="0"/>
              </a:rPr>
              <a:t> se </a:t>
            </a:r>
            <a:r>
              <a:rPr lang="en-CA" altLang="ro-RO" i="1" dirty="0" err="1">
                <a:latin typeface="Arial" panose="020B0604020202020204" pitchFamily="34" charset="0"/>
              </a:rPr>
              <a:t>potrivește</a:t>
            </a:r>
            <a:r>
              <a:rPr lang="en-CA" altLang="ro-RO" i="1" dirty="0">
                <a:latin typeface="Arial" panose="020B0604020202020204" pitchFamily="34" charset="0"/>
              </a:rPr>
              <a:t> cu </a:t>
            </a:r>
            <a:r>
              <a:rPr lang="en-CA" altLang="ro-RO" i="1" dirty="0" err="1">
                <a:latin typeface="Arial" panose="020B0604020202020204" pitchFamily="34" charset="0"/>
              </a:rPr>
              <a:t>cuvântul</a:t>
            </a:r>
            <a:r>
              <a:rPr lang="en-CA" altLang="ro-RO" i="1" dirty="0">
                <a:latin typeface="Arial" panose="020B0604020202020204" pitchFamily="34" charset="0"/>
              </a:rPr>
              <a:t> </a:t>
            </a:r>
            <a:r>
              <a:rPr lang="en-CA" altLang="ro-RO" i="1" dirty="0" err="1">
                <a:latin typeface="Arial" panose="020B0604020202020204" pitchFamily="34" charset="0"/>
              </a:rPr>
              <a:t>după</a:t>
            </a:r>
            <a:r>
              <a:rPr lang="en-CA" altLang="ro-RO" i="1" dirty="0">
                <a:latin typeface="Arial" panose="020B0604020202020204" pitchFamily="34" charset="0"/>
              </a:rPr>
              <a:t> </a:t>
            </a:r>
            <a:r>
              <a:rPr lang="en-CA" altLang="ro-RO" i="1" dirty="0" err="1">
                <a:latin typeface="Arial" panose="020B0604020202020204" pitchFamily="34" charset="0"/>
              </a:rPr>
              <a:t>cuvântul</a:t>
            </a:r>
            <a:r>
              <a:rPr lang="en-CA" altLang="ro-RO" i="1" dirty="0">
                <a:latin typeface="Arial" panose="020B0604020202020204" pitchFamily="34" charset="0"/>
              </a:rPr>
              <a:t> </a:t>
            </a:r>
            <a:r>
              <a:rPr lang="en-CA" altLang="ro-RO" i="1" dirty="0" err="1">
                <a:latin typeface="Arial" panose="020B0604020202020204" pitchFamily="34" charset="0"/>
              </a:rPr>
              <a:t>cheie</a:t>
            </a:r>
            <a:r>
              <a:rPr lang="en-CA" altLang="ro-RO" i="1" dirty="0">
                <a:latin typeface="Arial" panose="020B0604020202020204" pitchFamily="34" charset="0"/>
              </a:rPr>
              <a:t> </a:t>
            </a:r>
            <a:r>
              <a:rPr lang="en-CA" altLang="ro-RO" i="1" dirty="0" smtClean="0">
                <a:latin typeface="Arial" panose="020B0604020202020204" pitchFamily="34" charset="0"/>
              </a:rPr>
              <a:t>„</a:t>
            </a:r>
            <a:r>
              <a:rPr lang="ro-RO" altLang="ro-RO" i="1" dirty="0" err="1" smtClean="0">
                <a:latin typeface="Arial" panose="020B0604020202020204" pitchFamily="34" charset="0"/>
              </a:rPr>
              <a:t>class</a:t>
            </a:r>
            <a:r>
              <a:rPr lang="en-CA" altLang="ro-RO" i="1" dirty="0" smtClean="0">
                <a:latin typeface="Arial" panose="020B0604020202020204" pitchFamily="34" charset="0"/>
              </a:rPr>
              <a:t>”</a:t>
            </a:r>
            <a:r>
              <a:rPr lang="en-CA" altLang="ro-RO" dirty="0" smtClean="0">
                <a:latin typeface="Arial" panose="020B0604020202020204" pitchFamily="34" charset="0"/>
              </a:rPr>
              <a:t>)</a:t>
            </a:r>
            <a:endParaRPr lang="en-CA" altLang="ro-RO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CA" altLang="ro-RO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CA" altLang="ro-RO" dirty="0">
                <a:latin typeface="Arial" panose="020B0604020202020204" pitchFamily="34" charset="0"/>
              </a:rPr>
              <a:t>public class </a:t>
            </a:r>
            <a:r>
              <a:rPr lang="en-CA" altLang="ro-RO" i="1" dirty="0">
                <a:latin typeface="Arial" panose="020B0604020202020204" pitchFamily="34" charset="0"/>
              </a:rPr>
              <a:t>Smallest</a:t>
            </a:r>
          </a:p>
          <a:p>
            <a:pPr marL="0" indent="0">
              <a:buNone/>
            </a:pPr>
            <a:r>
              <a:rPr lang="en-CA" altLang="ro-RO" dirty="0">
                <a:latin typeface="Arial" panose="020B0604020202020204" pitchFamily="34" charset="0"/>
              </a:rPr>
              <a:t>{</a:t>
            </a:r>
          </a:p>
          <a:p>
            <a:pPr marL="0" indent="0">
              <a:buNone/>
            </a:pPr>
            <a:r>
              <a:rPr lang="en-CA" altLang="ro-RO" dirty="0">
                <a:latin typeface="Arial" panose="020B0604020202020204" pitchFamily="34" charset="0"/>
              </a:rPr>
              <a:t>    public static void main (String[] </a:t>
            </a:r>
            <a:r>
              <a:rPr lang="en-CA" altLang="ro-RO" dirty="0" err="1">
                <a:latin typeface="Arial" panose="020B0604020202020204" pitchFamily="34" charset="0"/>
              </a:rPr>
              <a:t>args</a:t>
            </a:r>
            <a:r>
              <a:rPr lang="en-CA" altLang="ro-RO" dirty="0">
                <a:latin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CA" altLang="ro-RO" dirty="0">
                <a:latin typeface="Arial" panose="020B0604020202020204" pitchFamily="34" charset="0"/>
              </a:rPr>
              <a:t>    {</a:t>
            </a:r>
          </a:p>
          <a:p>
            <a:pPr marL="0" indent="0">
              <a:buNone/>
            </a:pPr>
            <a:r>
              <a:rPr lang="en-CA" altLang="ro-RO" dirty="0">
                <a:latin typeface="Arial" panose="020B0604020202020204" pitchFamily="34" charset="0"/>
              </a:rPr>
              <a:t>    }</a:t>
            </a:r>
          </a:p>
          <a:p>
            <a:pPr marL="0" indent="0">
              <a:buNone/>
            </a:pPr>
            <a:r>
              <a:rPr lang="en-CA" altLang="ro-RO" dirty="0">
                <a:latin typeface="Arial" panose="020B0604020202020204" pitchFamily="34" charset="0"/>
              </a:rPr>
              <a:t>}</a:t>
            </a:r>
          </a:p>
          <a:p>
            <a:pPr marL="0" indent="0"/>
            <a:endParaRPr lang="en-CA" altLang="ro-RO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080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altLang="ro-RO" dirty="0"/>
              <a:t>Crearea, compilarea și rularea programelor </a:t>
            </a:r>
            <a:r>
              <a:rPr lang="it-IT" altLang="ro-RO" dirty="0" smtClean="0"/>
              <a:t>Java</a:t>
            </a:r>
            <a:endParaRPr lang="en-CA" altLang="ro-RO" dirty="0" smtClean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071814" y="2852738"/>
            <a:ext cx="2535237" cy="1231899"/>
            <a:chOff x="975" y="1797"/>
            <a:chExt cx="1597" cy="776"/>
          </a:xfrm>
        </p:grpSpPr>
        <p:sp>
          <p:nvSpPr>
            <p:cNvPr id="21529" name="AutoShape 4"/>
            <p:cNvSpPr>
              <a:spLocks noChangeArrowheads="1"/>
            </p:cNvSpPr>
            <p:nvPr/>
          </p:nvSpPr>
          <p:spPr bwMode="auto">
            <a:xfrm>
              <a:off x="1655" y="2063"/>
              <a:ext cx="862" cy="510"/>
            </a:xfrm>
            <a:prstGeom prst="irregularSeal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3600" tIns="46800" rIns="93600" bIns="46800" anchor="ctr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70000"/>
                </a:lnSpc>
                <a:spcBef>
                  <a:spcPct val="70000"/>
                </a:spcBef>
              </a:pPr>
              <a:r>
                <a:rPr lang="en-CA" altLang="ro-RO" sz="1800">
                  <a:latin typeface="Times New Roman" panose="02020603050405020304" pitchFamily="18" charset="0"/>
                </a:rPr>
                <a:t>javac</a:t>
              </a:r>
            </a:p>
          </p:txBody>
        </p:sp>
        <p:sp>
          <p:nvSpPr>
            <p:cNvPr id="21530" name="Text Box 5"/>
            <p:cNvSpPr txBox="1">
              <a:spLocks noChangeArrowheads="1"/>
            </p:cNvSpPr>
            <p:nvPr/>
          </p:nvSpPr>
          <p:spPr bwMode="auto">
            <a:xfrm>
              <a:off x="1565" y="1933"/>
              <a:ext cx="1007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3600" tIns="46800" rIns="936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70000"/>
                </a:lnSpc>
                <a:spcBef>
                  <a:spcPct val="50000"/>
                </a:spcBef>
              </a:pPr>
              <a:r>
                <a:rPr lang="en-CA" altLang="ro-RO" sz="1800">
                  <a:latin typeface="Times New Roman" panose="02020603050405020304" pitchFamily="18" charset="0"/>
                </a:rPr>
                <a:t>Java compiler</a:t>
              </a:r>
            </a:p>
          </p:txBody>
        </p:sp>
        <p:sp>
          <p:nvSpPr>
            <p:cNvPr id="21531" name="Line 6"/>
            <p:cNvSpPr>
              <a:spLocks noChangeShapeType="1"/>
            </p:cNvSpPr>
            <p:nvPr/>
          </p:nvSpPr>
          <p:spPr bwMode="auto">
            <a:xfrm>
              <a:off x="975" y="1797"/>
              <a:ext cx="68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3600" tIns="46800" rIns="93600" bIns="46800">
              <a:spAutoFit/>
            </a:bodyPr>
            <a:lstStyle/>
            <a:p>
              <a:endParaRPr lang="ro-RO"/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5029201" y="3789364"/>
            <a:ext cx="2595563" cy="1074737"/>
            <a:chOff x="2208" y="2387"/>
            <a:chExt cx="1635" cy="677"/>
          </a:xfrm>
        </p:grpSpPr>
        <p:sp>
          <p:nvSpPr>
            <p:cNvPr id="21525" name="Line 8"/>
            <p:cNvSpPr>
              <a:spLocks noChangeShapeType="1"/>
            </p:cNvSpPr>
            <p:nvPr/>
          </p:nvSpPr>
          <p:spPr bwMode="auto">
            <a:xfrm>
              <a:off x="2208" y="2400"/>
              <a:ext cx="57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3600" tIns="46800" rIns="93600" bIns="46800">
              <a:spAutoFit/>
            </a:bodyPr>
            <a:lstStyle/>
            <a:p>
              <a:endParaRPr lang="ro-RO"/>
            </a:p>
          </p:txBody>
        </p:sp>
        <p:grpSp>
          <p:nvGrpSpPr>
            <p:cNvPr id="21526" name="Group 9"/>
            <p:cNvGrpSpPr>
              <a:grpSpLocks/>
            </p:cNvGrpSpPr>
            <p:nvPr/>
          </p:nvGrpSpPr>
          <p:grpSpPr bwMode="auto">
            <a:xfrm>
              <a:off x="2777" y="2387"/>
              <a:ext cx="1066" cy="677"/>
              <a:chOff x="2777" y="2387"/>
              <a:chExt cx="1066" cy="677"/>
            </a:xfrm>
          </p:grpSpPr>
          <p:sp>
            <p:nvSpPr>
              <p:cNvPr id="21527" name="Text Box 10"/>
              <p:cNvSpPr txBox="1">
                <a:spLocks noChangeArrowheads="1"/>
              </p:cNvSpPr>
              <p:nvPr/>
            </p:nvSpPr>
            <p:spPr bwMode="auto">
              <a:xfrm>
                <a:off x="2789" y="2387"/>
                <a:ext cx="1054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46800" rIns="93600" bIns="4680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CA" altLang="ro-RO" sz="1800"/>
                  <a:t>Java byte code</a:t>
                </a:r>
              </a:p>
            </p:txBody>
          </p:sp>
          <p:sp>
            <p:nvSpPr>
              <p:cNvPr id="21528" name="Rectangle 11"/>
              <p:cNvSpPr>
                <a:spLocks noChangeArrowheads="1"/>
              </p:cNvSpPr>
              <p:nvPr/>
            </p:nvSpPr>
            <p:spPr bwMode="auto">
              <a:xfrm>
                <a:off x="2777" y="2556"/>
                <a:ext cx="958" cy="5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3600" tIns="46800" rIns="93600" bIns="46800" anchor="ctr"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75000"/>
                  </a:lnSpc>
                  <a:spcBef>
                    <a:spcPct val="75000"/>
                  </a:spcBef>
                </a:pPr>
                <a:r>
                  <a:rPr lang="en-CA" altLang="ro-RO" sz="1800" i="1" dirty="0" err="1">
                    <a:latin typeface="Times New Roman" panose="02020603050405020304" pitchFamily="18" charset="0"/>
                  </a:rPr>
                  <a:t>filename.class</a:t>
                </a:r>
                <a:r>
                  <a:rPr lang="en-CA" altLang="ro-RO" sz="1800" i="1" dirty="0">
                    <a:latin typeface="Times New Roman" panose="02020603050405020304" pitchFamily="18" charset="0"/>
                  </a:rPr>
                  <a:t> </a:t>
                </a:r>
              </a:p>
              <a:p>
                <a:pPr algn="ctr">
                  <a:lnSpc>
                    <a:spcPct val="75000"/>
                  </a:lnSpc>
                  <a:spcBef>
                    <a:spcPct val="75000"/>
                  </a:spcBef>
                </a:pPr>
                <a:r>
                  <a:rPr lang="en-CA" altLang="ro-RO" sz="1800" i="1" dirty="0" smtClean="0">
                    <a:latin typeface="Times New Roman" panose="02020603050405020304" pitchFamily="18" charset="0"/>
                  </a:rPr>
                  <a:t>(</a:t>
                </a:r>
                <a:r>
                  <a:rPr lang="ro-RO" altLang="ro-RO" sz="1800" i="1" dirty="0" smtClean="0">
                    <a:latin typeface="Times New Roman" panose="02020603050405020304" pitchFamily="18" charset="0"/>
                  </a:rPr>
                  <a:t>Windows sau </a:t>
                </a:r>
                <a:r>
                  <a:rPr lang="en-CA" altLang="ro-RO" sz="1800" i="1" dirty="0" smtClean="0">
                    <a:latin typeface="Times New Roman" panose="02020603050405020304" pitchFamily="18" charset="0"/>
                  </a:rPr>
                  <a:t>UNIX </a:t>
                </a:r>
                <a:r>
                  <a:rPr lang="en-CA" altLang="ro-RO" sz="1800" i="1" dirty="0">
                    <a:latin typeface="Times New Roman" panose="02020603050405020304" pitchFamily="18" charset="0"/>
                  </a:rPr>
                  <a:t>file)</a:t>
                </a:r>
              </a:p>
            </p:txBody>
          </p:sp>
        </p:grpSp>
      </p:grpSp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1992313" y="3789363"/>
            <a:ext cx="3149600" cy="1473200"/>
            <a:chOff x="295" y="2387"/>
            <a:chExt cx="1984" cy="928"/>
          </a:xfrm>
        </p:grpSpPr>
        <p:sp>
          <p:nvSpPr>
            <p:cNvPr id="21523" name="Text Box 13"/>
            <p:cNvSpPr txBox="1">
              <a:spLocks noChangeArrowheads="1"/>
            </p:cNvSpPr>
            <p:nvPr/>
          </p:nvSpPr>
          <p:spPr bwMode="auto">
            <a:xfrm>
              <a:off x="295" y="2795"/>
              <a:ext cx="1984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3600" tIns="46800" rIns="936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CA" altLang="ro-RO" sz="1600" b="1" dirty="0" err="1">
                  <a:solidFill>
                    <a:schemeClr val="accent2"/>
                  </a:solidFill>
                </a:rPr>
                <a:t>Pentru</a:t>
              </a:r>
              <a:r>
                <a:rPr lang="en-CA" altLang="ro-RO" sz="1600" b="1" dirty="0">
                  <a:solidFill>
                    <a:schemeClr val="accent2"/>
                  </a:solidFill>
                </a:rPr>
                <a:t> a </a:t>
              </a:r>
              <a:r>
                <a:rPr lang="en-CA" altLang="ro-RO" sz="1600" b="1" dirty="0" err="1">
                  <a:solidFill>
                    <a:schemeClr val="accent2"/>
                  </a:solidFill>
                </a:rPr>
                <a:t>compila</a:t>
              </a:r>
              <a:r>
                <a:rPr lang="en-CA" altLang="ro-RO" sz="1600" b="1" dirty="0">
                  <a:solidFill>
                    <a:schemeClr val="accent2"/>
                  </a:solidFill>
                </a:rPr>
                <a:t> </a:t>
              </a:r>
              <a:r>
                <a:rPr lang="en-CA" altLang="ro-RO" sz="1600" b="1" dirty="0" err="1">
                  <a:solidFill>
                    <a:schemeClr val="accent2"/>
                  </a:solidFill>
                </a:rPr>
                <a:t>programul</a:t>
              </a:r>
              <a:r>
                <a:rPr lang="en-CA" altLang="ro-RO" sz="1600" b="1" dirty="0">
                  <a:solidFill>
                    <a:schemeClr val="accent2"/>
                  </a:solidFill>
                </a:rPr>
                <a:t> la </a:t>
              </a:r>
              <a:r>
                <a:rPr lang="en-CA" altLang="ro-RO" sz="1600" b="1" dirty="0" err="1">
                  <a:solidFill>
                    <a:schemeClr val="accent2"/>
                  </a:solidFill>
                </a:rPr>
                <a:t>linia</a:t>
              </a:r>
              <a:r>
                <a:rPr lang="en-CA" altLang="ro-RO" sz="1600" b="1" dirty="0">
                  <a:solidFill>
                    <a:schemeClr val="accent2"/>
                  </a:solidFill>
                </a:rPr>
                <a:t> de </a:t>
              </a:r>
              <a:r>
                <a:rPr lang="en-CA" altLang="ro-RO" sz="1600" b="1" dirty="0" err="1">
                  <a:solidFill>
                    <a:schemeClr val="accent2"/>
                  </a:solidFill>
                </a:rPr>
                <a:t>comandă</a:t>
              </a:r>
              <a:r>
                <a:rPr lang="en-CA" altLang="ro-RO" sz="1600" b="1" dirty="0">
                  <a:solidFill>
                    <a:schemeClr val="accent2"/>
                  </a:solidFill>
                </a:rPr>
                <a:t> </a:t>
              </a:r>
              <a:r>
                <a:rPr lang="en-CA" altLang="ro-RO" sz="1600" b="1" dirty="0" err="1">
                  <a:solidFill>
                    <a:schemeClr val="accent2"/>
                  </a:solidFill>
                </a:rPr>
                <a:t>tastați</a:t>
              </a:r>
              <a:r>
                <a:rPr lang="en-CA" altLang="ro-RO" sz="1600" b="1" dirty="0">
                  <a:solidFill>
                    <a:schemeClr val="accent2"/>
                  </a:solidFill>
                </a:rPr>
                <a:t> „</a:t>
              </a:r>
              <a:r>
                <a:rPr lang="en-CA" altLang="ro-RO" sz="1600" b="1" dirty="0" err="1">
                  <a:solidFill>
                    <a:schemeClr val="accent2"/>
                  </a:solidFill>
                </a:rPr>
                <a:t>javac</a:t>
              </a:r>
              <a:r>
                <a:rPr lang="en-CA" altLang="ro-RO" sz="1600" b="1" dirty="0">
                  <a:solidFill>
                    <a:schemeClr val="accent2"/>
                  </a:solidFill>
                </a:rPr>
                <a:t> filename.java "</a:t>
              </a:r>
            </a:p>
          </p:txBody>
        </p:sp>
        <p:sp>
          <p:nvSpPr>
            <p:cNvPr id="21524" name="Line 14"/>
            <p:cNvSpPr>
              <a:spLocks noChangeShapeType="1"/>
            </p:cNvSpPr>
            <p:nvPr/>
          </p:nvSpPr>
          <p:spPr bwMode="auto">
            <a:xfrm flipH="1">
              <a:off x="748" y="2387"/>
              <a:ext cx="1010" cy="453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lg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3600" tIns="46800" rIns="93600" bIns="46800">
              <a:spAutoFit/>
            </a:bodyPr>
            <a:lstStyle/>
            <a:p>
              <a:endParaRPr lang="ro-RO"/>
            </a:p>
          </p:txBody>
        </p:sp>
      </p:grpSp>
      <p:grpSp>
        <p:nvGrpSpPr>
          <p:cNvPr id="6" name="Group 15"/>
          <p:cNvGrpSpPr>
            <a:grpSpLocks/>
          </p:cNvGrpSpPr>
          <p:nvPr/>
        </p:nvGrpSpPr>
        <p:grpSpPr bwMode="auto">
          <a:xfrm>
            <a:off x="4729163" y="5262563"/>
            <a:ext cx="3671888" cy="1038225"/>
            <a:chOff x="2064" y="3702"/>
            <a:chExt cx="2313" cy="658"/>
          </a:xfrm>
        </p:grpSpPr>
        <p:sp>
          <p:nvSpPr>
            <p:cNvPr id="21521" name="Text Box 16"/>
            <p:cNvSpPr txBox="1">
              <a:spLocks noChangeArrowheads="1"/>
            </p:cNvSpPr>
            <p:nvPr/>
          </p:nvSpPr>
          <p:spPr bwMode="auto">
            <a:xfrm>
              <a:off x="2064" y="3840"/>
              <a:ext cx="1783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3600" tIns="46800" rIns="936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CA" altLang="ro-RO" sz="1600" b="1" dirty="0" err="1">
                  <a:solidFill>
                    <a:schemeClr val="accent2"/>
                  </a:solidFill>
                </a:rPr>
                <a:t>Pentru</a:t>
              </a:r>
              <a:r>
                <a:rPr lang="en-CA" altLang="ro-RO" sz="1600" b="1" dirty="0">
                  <a:solidFill>
                    <a:schemeClr val="accent2"/>
                  </a:solidFill>
                </a:rPr>
                <a:t> a </a:t>
              </a:r>
              <a:r>
                <a:rPr lang="en-CA" altLang="ro-RO" sz="1600" b="1" dirty="0" err="1">
                  <a:solidFill>
                    <a:schemeClr val="accent2"/>
                  </a:solidFill>
                </a:rPr>
                <a:t>rula</a:t>
              </a:r>
              <a:r>
                <a:rPr lang="en-CA" altLang="ro-RO" sz="1600" b="1" dirty="0">
                  <a:solidFill>
                    <a:schemeClr val="accent2"/>
                  </a:solidFill>
                </a:rPr>
                <a:t> </a:t>
              </a:r>
              <a:r>
                <a:rPr lang="en-CA" altLang="ro-RO" sz="1600" b="1" dirty="0" smtClean="0">
                  <a:solidFill>
                    <a:schemeClr val="accent2"/>
                  </a:solidFill>
                </a:rPr>
                <a:t>interpret</a:t>
              </a:r>
              <a:r>
                <a:rPr lang="ro-RO" altLang="ro-RO" sz="1600" b="1" dirty="0" smtClean="0">
                  <a:solidFill>
                    <a:schemeClr val="accent2"/>
                  </a:solidFill>
                </a:rPr>
                <a:t>at</a:t>
              </a:r>
              <a:r>
                <a:rPr lang="en-CA" altLang="ro-RO" sz="1600" b="1" dirty="0" smtClean="0">
                  <a:solidFill>
                    <a:schemeClr val="accent2"/>
                  </a:solidFill>
                </a:rPr>
                <a:t>, </a:t>
              </a:r>
              <a:r>
                <a:rPr lang="en-CA" altLang="ro-RO" sz="1600" b="1" dirty="0">
                  <a:solidFill>
                    <a:schemeClr val="accent2"/>
                  </a:solidFill>
                </a:rPr>
                <a:t>la </a:t>
              </a:r>
              <a:r>
                <a:rPr lang="en-CA" altLang="ro-RO" sz="1600" b="1" dirty="0" err="1">
                  <a:solidFill>
                    <a:schemeClr val="accent2"/>
                  </a:solidFill>
                </a:rPr>
                <a:t>linia</a:t>
              </a:r>
              <a:r>
                <a:rPr lang="en-CA" altLang="ro-RO" sz="1600" b="1" dirty="0">
                  <a:solidFill>
                    <a:schemeClr val="accent2"/>
                  </a:solidFill>
                </a:rPr>
                <a:t> de </a:t>
              </a:r>
              <a:r>
                <a:rPr lang="en-CA" altLang="ro-RO" sz="1600" b="1" dirty="0" err="1">
                  <a:solidFill>
                    <a:schemeClr val="accent2"/>
                  </a:solidFill>
                </a:rPr>
                <a:t>comandă</a:t>
              </a:r>
              <a:r>
                <a:rPr lang="en-CA" altLang="ro-RO" sz="1600" b="1" dirty="0">
                  <a:solidFill>
                    <a:schemeClr val="accent2"/>
                  </a:solidFill>
                </a:rPr>
                <a:t> </a:t>
              </a:r>
              <a:r>
                <a:rPr lang="en-CA" altLang="ro-RO" sz="1600" b="1" dirty="0" err="1">
                  <a:solidFill>
                    <a:schemeClr val="accent2"/>
                  </a:solidFill>
                </a:rPr>
                <a:t>tastați</a:t>
              </a:r>
              <a:r>
                <a:rPr lang="en-CA" altLang="ro-RO" sz="1600" b="1" dirty="0">
                  <a:solidFill>
                    <a:schemeClr val="accent2"/>
                  </a:solidFill>
                </a:rPr>
                <a:t> „java filename”</a:t>
              </a:r>
            </a:p>
          </p:txBody>
        </p:sp>
        <p:sp>
          <p:nvSpPr>
            <p:cNvPr id="21522" name="Line 17"/>
            <p:cNvSpPr>
              <a:spLocks noChangeShapeType="1"/>
            </p:cNvSpPr>
            <p:nvPr/>
          </p:nvSpPr>
          <p:spPr bwMode="auto">
            <a:xfrm flipH="1">
              <a:off x="3696" y="3702"/>
              <a:ext cx="681" cy="27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lg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3600" tIns="46800" rIns="93600" bIns="46800">
              <a:spAutoFit/>
            </a:bodyPr>
            <a:lstStyle/>
            <a:p>
              <a:endParaRPr lang="ro-RO"/>
            </a:p>
          </p:txBody>
        </p:sp>
      </p:grpSp>
      <p:grpSp>
        <p:nvGrpSpPr>
          <p:cNvPr id="7" name="Group 18"/>
          <p:cNvGrpSpPr>
            <a:grpSpLocks/>
          </p:cNvGrpSpPr>
          <p:nvPr/>
        </p:nvGrpSpPr>
        <p:grpSpPr bwMode="auto">
          <a:xfrm>
            <a:off x="6956769" y="4753250"/>
            <a:ext cx="3343275" cy="1447800"/>
            <a:chOff x="3334" y="3067"/>
            <a:chExt cx="2106" cy="912"/>
          </a:xfrm>
        </p:grpSpPr>
        <p:sp>
          <p:nvSpPr>
            <p:cNvPr id="21518" name="AutoShape 19"/>
            <p:cNvSpPr>
              <a:spLocks noChangeArrowheads="1"/>
            </p:cNvSpPr>
            <p:nvPr/>
          </p:nvSpPr>
          <p:spPr bwMode="auto">
            <a:xfrm>
              <a:off x="4332" y="3469"/>
              <a:ext cx="722" cy="510"/>
            </a:xfrm>
            <a:prstGeom prst="irregularSeal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3600" tIns="46800" rIns="93600" bIns="46800" anchor="ctr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70000"/>
                </a:lnSpc>
                <a:spcBef>
                  <a:spcPct val="70000"/>
                </a:spcBef>
              </a:pPr>
              <a:r>
                <a:rPr lang="en-CA" altLang="ro-RO" sz="1800" dirty="0">
                  <a:latin typeface="Times New Roman" panose="02020603050405020304" pitchFamily="18" charset="0"/>
                </a:rPr>
                <a:t>java</a:t>
              </a:r>
            </a:p>
          </p:txBody>
        </p:sp>
        <p:sp>
          <p:nvSpPr>
            <p:cNvPr id="21519" name="Text Box 20"/>
            <p:cNvSpPr txBox="1">
              <a:spLocks noChangeArrowheads="1"/>
            </p:cNvSpPr>
            <p:nvPr/>
          </p:nvSpPr>
          <p:spPr bwMode="auto">
            <a:xfrm>
              <a:off x="4332" y="3339"/>
              <a:ext cx="110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46800" rIns="936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CA" altLang="ro-RO" sz="1800"/>
                <a:t>Java Interpreter</a:t>
              </a:r>
            </a:p>
          </p:txBody>
        </p:sp>
        <p:sp>
          <p:nvSpPr>
            <p:cNvPr id="21520" name="Line 21"/>
            <p:cNvSpPr>
              <a:spLocks noChangeShapeType="1"/>
            </p:cNvSpPr>
            <p:nvPr/>
          </p:nvSpPr>
          <p:spPr bwMode="auto">
            <a:xfrm>
              <a:off x="3334" y="3067"/>
              <a:ext cx="1043" cy="4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3600" tIns="46800" rIns="93600" bIns="46800">
              <a:spAutoFit/>
            </a:bodyPr>
            <a:lstStyle/>
            <a:p>
              <a:endParaRPr lang="ro-RO"/>
            </a:p>
          </p:txBody>
        </p:sp>
      </p:grpSp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3478213" y="1628775"/>
            <a:ext cx="5497512" cy="831850"/>
            <a:chOff x="1231" y="1026"/>
            <a:chExt cx="3463" cy="524"/>
          </a:xfrm>
        </p:grpSpPr>
        <p:sp>
          <p:nvSpPr>
            <p:cNvPr id="21516" name="Text Box 23"/>
            <p:cNvSpPr txBox="1">
              <a:spLocks noChangeArrowheads="1"/>
            </p:cNvSpPr>
            <p:nvPr/>
          </p:nvSpPr>
          <p:spPr bwMode="auto">
            <a:xfrm>
              <a:off x="1970" y="1026"/>
              <a:ext cx="2724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0" tIns="46800" rIns="936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ro-RO" altLang="ro-RO" sz="1600" b="1" dirty="0" smtClean="0">
                  <a:solidFill>
                    <a:schemeClr val="accent2"/>
                  </a:solidFill>
                </a:rPr>
                <a:t>Creat cu un editor de texte</a:t>
              </a:r>
              <a:endParaRPr lang="en-CA" altLang="ro-RO" sz="1600" b="1" dirty="0">
                <a:solidFill>
                  <a:schemeClr val="accent2"/>
                </a:solidFill>
              </a:endParaRPr>
            </a:p>
          </p:txBody>
        </p:sp>
        <p:cxnSp>
          <p:nvCxnSpPr>
            <p:cNvPr id="21517" name="AutoShape 24"/>
            <p:cNvCxnSpPr>
              <a:cxnSpLocks noChangeShapeType="1"/>
              <a:stCxn id="21516" idx="1"/>
              <a:endCxn id="21514" idx="3"/>
            </p:cNvCxnSpPr>
            <p:nvPr/>
          </p:nvCxnSpPr>
          <p:spPr bwMode="auto">
            <a:xfrm flipH="1">
              <a:off x="1231" y="1134"/>
              <a:ext cx="739" cy="416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9" name="Group 25"/>
          <p:cNvGrpSpPr>
            <a:grpSpLocks/>
          </p:cNvGrpSpPr>
          <p:nvPr/>
        </p:nvGrpSpPr>
        <p:grpSpPr bwMode="auto">
          <a:xfrm>
            <a:off x="1752601" y="1773238"/>
            <a:ext cx="1725613" cy="1090612"/>
            <a:chOff x="144" y="1117"/>
            <a:chExt cx="1087" cy="687"/>
          </a:xfrm>
        </p:grpSpPr>
        <p:sp>
          <p:nvSpPr>
            <p:cNvPr id="21514" name="Rectangle 26"/>
            <p:cNvSpPr>
              <a:spLocks noChangeArrowheads="1"/>
            </p:cNvSpPr>
            <p:nvPr/>
          </p:nvSpPr>
          <p:spPr bwMode="auto">
            <a:xfrm>
              <a:off x="144" y="1296"/>
              <a:ext cx="1087" cy="50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3600" tIns="46800" rIns="93600" bIns="46800" anchor="ctr"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75000"/>
                </a:lnSpc>
                <a:spcBef>
                  <a:spcPct val="75000"/>
                </a:spcBef>
              </a:pPr>
              <a:r>
                <a:rPr lang="en-CA" altLang="ro-RO" sz="1800" i="1" dirty="0">
                  <a:latin typeface="Times New Roman" panose="02020603050405020304" pitchFamily="18" charset="0"/>
                </a:rPr>
                <a:t>filename.java </a:t>
              </a:r>
            </a:p>
            <a:p>
              <a:pPr algn="ctr">
                <a:lnSpc>
                  <a:spcPct val="75000"/>
                </a:lnSpc>
                <a:spcBef>
                  <a:spcPct val="75000"/>
                </a:spcBef>
              </a:pPr>
              <a:r>
                <a:rPr lang="en-CA" altLang="ro-RO" sz="1800" i="1" dirty="0" smtClean="0">
                  <a:latin typeface="Times New Roman" panose="02020603050405020304" pitchFamily="18" charset="0"/>
                </a:rPr>
                <a:t>(</a:t>
              </a:r>
              <a:r>
                <a:rPr lang="ro-RO" altLang="ro-RO" sz="1800" i="1" dirty="0" smtClean="0">
                  <a:latin typeface="Times New Roman" panose="02020603050405020304" pitchFamily="18" charset="0"/>
                </a:rPr>
                <a:t>Windows sau </a:t>
              </a:r>
              <a:r>
                <a:rPr lang="en-CA" altLang="ro-RO" sz="1800" i="1" dirty="0" smtClean="0">
                  <a:latin typeface="Times New Roman" panose="02020603050405020304" pitchFamily="18" charset="0"/>
                </a:rPr>
                <a:t>Unix </a:t>
              </a:r>
              <a:r>
                <a:rPr lang="en-CA" altLang="ro-RO" sz="1800" i="1" dirty="0">
                  <a:latin typeface="Times New Roman" panose="02020603050405020304" pitchFamily="18" charset="0"/>
                </a:rPr>
                <a:t>file)</a:t>
              </a:r>
            </a:p>
          </p:txBody>
        </p:sp>
        <p:sp>
          <p:nvSpPr>
            <p:cNvPr id="21515" name="Text Box 27"/>
            <p:cNvSpPr txBox="1">
              <a:spLocks noChangeArrowheads="1"/>
            </p:cNvSpPr>
            <p:nvPr/>
          </p:nvSpPr>
          <p:spPr bwMode="auto">
            <a:xfrm>
              <a:off x="158" y="1117"/>
              <a:ext cx="959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46800" rIns="936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CA" altLang="ro-RO" sz="1800"/>
                <a:t>Java program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9617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o-RO" dirty="0" err="1" smtClean="0"/>
              <a:t>Compi</a:t>
            </a:r>
            <a:r>
              <a:rPr lang="ro-RO" altLang="ro-RO" dirty="0" err="1" smtClean="0"/>
              <a:t>larea</a:t>
            </a:r>
            <a:endParaRPr lang="en-US" altLang="ro-RO" dirty="0" smtClean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208213" y="1773238"/>
            <a:ext cx="3816350" cy="2201862"/>
            <a:chOff x="476" y="890"/>
            <a:chExt cx="2404" cy="1387"/>
          </a:xfrm>
        </p:grpSpPr>
        <p:sp>
          <p:nvSpPr>
            <p:cNvPr id="22543" name="Text Box 4"/>
            <p:cNvSpPr txBox="1">
              <a:spLocks noChangeArrowheads="1"/>
            </p:cNvSpPr>
            <p:nvPr/>
          </p:nvSpPr>
          <p:spPr bwMode="auto">
            <a:xfrm>
              <a:off x="476" y="1163"/>
              <a:ext cx="2404" cy="111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3600" tIns="46800" rIns="936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60000"/>
                </a:spcBef>
              </a:pPr>
              <a:r>
                <a:rPr lang="en-CA" altLang="ro-RO" sz="1600"/>
                <a:t>public class </a:t>
              </a:r>
              <a:r>
                <a:rPr lang="en-CA" altLang="ro-RO" sz="1600" i="1"/>
                <a:t>Smallest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CA" altLang="ro-RO" sz="1600"/>
                <a:t>{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CA" altLang="ro-RO" sz="1600"/>
                <a:t>    public static void main (String[] args)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CA" altLang="ro-RO" sz="1600"/>
                <a:t>    {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CA" altLang="ro-RO" sz="1600"/>
                <a:t>    }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CA" altLang="ro-RO" sz="1600"/>
                <a:t>}</a:t>
              </a:r>
              <a:endParaRPr lang="en-US" altLang="ro-RO" sz="1600"/>
            </a:p>
          </p:txBody>
        </p:sp>
        <p:sp>
          <p:nvSpPr>
            <p:cNvPr id="22544" name="Text Box 5"/>
            <p:cNvSpPr txBox="1">
              <a:spLocks noChangeArrowheads="1"/>
            </p:cNvSpPr>
            <p:nvPr/>
          </p:nvSpPr>
          <p:spPr bwMode="auto">
            <a:xfrm>
              <a:off x="476" y="890"/>
              <a:ext cx="99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46800" rIns="936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ro-RO" sz="1800"/>
                <a:t>Smallest.java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6024564" y="4005262"/>
            <a:ext cx="1900237" cy="1073149"/>
            <a:chOff x="2835" y="2523"/>
            <a:chExt cx="1197" cy="676"/>
          </a:xfrm>
        </p:grpSpPr>
        <p:sp>
          <p:nvSpPr>
            <p:cNvPr id="22541" name="AutoShape 7"/>
            <p:cNvSpPr>
              <a:spLocks noChangeArrowheads="1"/>
            </p:cNvSpPr>
            <p:nvPr/>
          </p:nvSpPr>
          <p:spPr bwMode="auto">
            <a:xfrm>
              <a:off x="3008" y="2717"/>
              <a:ext cx="1024" cy="482"/>
            </a:xfrm>
            <a:prstGeom prst="irregularSeal2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3600" tIns="46800" rIns="93600" bIns="46800" anchor="ctr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b="1"/>
                <a:t>javac</a:t>
              </a:r>
            </a:p>
          </p:txBody>
        </p:sp>
        <p:sp>
          <p:nvSpPr>
            <p:cNvPr id="22542" name="Line 8"/>
            <p:cNvSpPr>
              <a:spLocks noChangeShapeType="1"/>
            </p:cNvSpPr>
            <p:nvPr/>
          </p:nvSpPr>
          <p:spPr bwMode="auto">
            <a:xfrm>
              <a:off x="2835" y="2523"/>
              <a:ext cx="453" cy="317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3600" tIns="46800" rIns="93600" bIns="46800">
              <a:spAutoFit/>
            </a:bodyPr>
            <a:lstStyle/>
            <a:p>
              <a:endParaRPr lang="ro-RO"/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7319963" y="4868863"/>
            <a:ext cx="3097212" cy="1536700"/>
            <a:chOff x="3651" y="3067"/>
            <a:chExt cx="1951" cy="968"/>
          </a:xfrm>
        </p:grpSpPr>
        <p:grpSp>
          <p:nvGrpSpPr>
            <p:cNvPr id="22537" name="Group 10"/>
            <p:cNvGrpSpPr>
              <a:grpSpLocks/>
            </p:cNvGrpSpPr>
            <p:nvPr/>
          </p:nvGrpSpPr>
          <p:grpSpPr bwMode="auto">
            <a:xfrm>
              <a:off x="4105" y="3067"/>
              <a:ext cx="1497" cy="968"/>
              <a:chOff x="4150" y="2750"/>
              <a:chExt cx="1497" cy="968"/>
            </a:xfrm>
          </p:grpSpPr>
          <p:sp>
            <p:nvSpPr>
              <p:cNvPr id="22539" name="Text Box 11"/>
              <p:cNvSpPr txBox="1">
                <a:spLocks noChangeArrowheads="1"/>
              </p:cNvSpPr>
              <p:nvPr/>
            </p:nvSpPr>
            <p:spPr bwMode="auto">
              <a:xfrm>
                <a:off x="4150" y="2976"/>
                <a:ext cx="1497" cy="74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3600" tIns="46800" rIns="93600" bIns="4680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60000"/>
                  </a:spcBef>
                </a:pPr>
                <a:r>
                  <a:rPr lang="en-US" altLang="ro-RO" sz="1600"/>
                  <a:t>(Java byte code)</a:t>
                </a:r>
              </a:p>
              <a:p>
                <a:pPr>
                  <a:lnSpc>
                    <a:spcPct val="80000"/>
                  </a:lnSpc>
                  <a:spcBef>
                    <a:spcPct val="60000"/>
                  </a:spcBef>
                </a:pPr>
                <a:r>
                  <a:rPr lang="en-US" altLang="ro-RO" sz="1600">
                    <a:latin typeface="Courier New" panose="02070309020205020404" pitchFamily="49" charset="0"/>
                  </a:rPr>
                  <a:t>10000100000001000 00100100000001001</a:t>
                </a:r>
              </a:p>
              <a:p>
                <a:pPr>
                  <a:lnSpc>
                    <a:spcPct val="80000"/>
                  </a:lnSpc>
                  <a:spcBef>
                    <a:spcPct val="60000"/>
                  </a:spcBef>
                </a:pPr>
                <a:r>
                  <a:rPr lang="en-US" altLang="ro-RO" sz="1600"/>
                  <a:t>      :                :</a:t>
                </a:r>
              </a:p>
            </p:txBody>
          </p:sp>
          <p:sp>
            <p:nvSpPr>
              <p:cNvPr id="22540" name="Text Box 12"/>
              <p:cNvSpPr txBox="1">
                <a:spLocks noChangeArrowheads="1"/>
              </p:cNvSpPr>
              <p:nvPr/>
            </p:nvSpPr>
            <p:spPr bwMode="auto">
              <a:xfrm>
                <a:off x="4150" y="2750"/>
                <a:ext cx="998" cy="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46800" rIns="93600" bIns="4680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ro-RO" sz="1800"/>
                  <a:t>Smallest.class</a:t>
                </a:r>
              </a:p>
            </p:txBody>
          </p:sp>
        </p:grpSp>
        <p:sp>
          <p:nvSpPr>
            <p:cNvPr id="22538" name="Line 13"/>
            <p:cNvSpPr>
              <a:spLocks noChangeShapeType="1"/>
            </p:cNvSpPr>
            <p:nvPr/>
          </p:nvSpPr>
          <p:spPr bwMode="auto">
            <a:xfrm>
              <a:off x="3651" y="3113"/>
              <a:ext cx="453" cy="317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3600" tIns="46800" rIns="93600" bIns="46800">
              <a:spAutoFit/>
            </a:bodyPr>
            <a:lstStyle/>
            <a:p>
              <a:endParaRPr lang="ro-RO"/>
            </a:p>
          </p:txBody>
        </p:sp>
      </p:grpSp>
      <p:grpSp>
        <p:nvGrpSpPr>
          <p:cNvPr id="6" name="Group 14"/>
          <p:cNvGrpSpPr>
            <a:grpSpLocks/>
          </p:cNvGrpSpPr>
          <p:nvPr/>
        </p:nvGrpSpPr>
        <p:grpSpPr bwMode="auto">
          <a:xfrm>
            <a:off x="7031039" y="2276476"/>
            <a:ext cx="3025775" cy="2103438"/>
            <a:chOff x="3469" y="1434"/>
            <a:chExt cx="1906" cy="1325"/>
          </a:xfrm>
        </p:grpSpPr>
        <p:sp>
          <p:nvSpPr>
            <p:cNvPr id="22535" name="Text Box 15"/>
            <p:cNvSpPr txBox="1">
              <a:spLocks noChangeArrowheads="1"/>
            </p:cNvSpPr>
            <p:nvPr/>
          </p:nvSpPr>
          <p:spPr bwMode="auto">
            <a:xfrm>
              <a:off x="4332" y="1434"/>
              <a:ext cx="1043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3600" tIns="46800" rIns="936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ro-RO" altLang="ro-RO" sz="1600" b="1" dirty="0" err="1" smtClean="0">
                  <a:solidFill>
                    <a:schemeClr val="accent2"/>
                  </a:solidFill>
                </a:rPr>
                <a:t>tastati</a:t>
              </a:r>
              <a:r>
                <a:rPr lang="en-US" altLang="ro-RO" sz="1600" b="1" dirty="0" smtClean="0">
                  <a:solidFill>
                    <a:schemeClr val="accent2"/>
                  </a:solidFill>
                </a:rPr>
                <a:t>“</a:t>
              </a:r>
              <a:r>
                <a:rPr lang="en-US" altLang="ro-RO" sz="1600" b="1" dirty="0" err="1" smtClean="0">
                  <a:solidFill>
                    <a:schemeClr val="accent2"/>
                  </a:solidFill>
                </a:rPr>
                <a:t>javac</a:t>
              </a:r>
              <a:r>
                <a:rPr lang="en-US" altLang="ro-RO" sz="1600" b="1" dirty="0" smtClean="0">
                  <a:solidFill>
                    <a:schemeClr val="accent2"/>
                  </a:solidFill>
                </a:rPr>
                <a:t> </a:t>
              </a:r>
              <a:r>
                <a:rPr lang="en-US" altLang="ro-RO" sz="1600" b="1" dirty="0">
                  <a:solidFill>
                    <a:schemeClr val="accent2"/>
                  </a:solidFill>
                </a:rPr>
                <a:t>Smallest.java”</a:t>
              </a:r>
            </a:p>
          </p:txBody>
        </p:sp>
        <p:cxnSp>
          <p:nvCxnSpPr>
            <p:cNvPr id="22536" name="AutoShape 16"/>
            <p:cNvCxnSpPr>
              <a:cxnSpLocks noChangeShapeType="1"/>
              <a:stCxn id="22535" idx="1"/>
              <a:endCxn id="22541" idx="0"/>
            </p:cNvCxnSpPr>
            <p:nvPr/>
          </p:nvCxnSpPr>
          <p:spPr bwMode="auto">
            <a:xfrm flipH="1">
              <a:off x="3469" y="1619"/>
              <a:ext cx="863" cy="1140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468818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o-RO" dirty="0" err="1" smtClean="0"/>
              <a:t>Rularea</a:t>
            </a:r>
            <a:r>
              <a:rPr lang="en-US" altLang="ro-RO" dirty="0" smtClean="0"/>
              <a:t> </a:t>
            </a:r>
            <a:r>
              <a:rPr lang="en-US" altLang="ro-RO" dirty="0" err="1" smtClean="0"/>
              <a:t>programului</a:t>
            </a:r>
            <a:endParaRPr lang="en-US" altLang="ro-RO" dirty="0" smtClean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279650" y="1628775"/>
            <a:ext cx="2376488" cy="1536700"/>
            <a:chOff x="4150" y="2750"/>
            <a:chExt cx="1497" cy="968"/>
          </a:xfrm>
        </p:grpSpPr>
        <p:sp>
          <p:nvSpPr>
            <p:cNvPr id="23562" name="Text Box 4"/>
            <p:cNvSpPr txBox="1">
              <a:spLocks noChangeArrowheads="1"/>
            </p:cNvSpPr>
            <p:nvPr/>
          </p:nvSpPr>
          <p:spPr bwMode="auto">
            <a:xfrm>
              <a:off x="4150" y="2976"/>
              <a:ext cx="1497" cy="74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3600" tIns="46800" rIns="936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60000"/>
                </a:spcBef>
              </a:pPr>
              <a:r>
                <a:rPr lang="en-US" altLang="ro-RO" sz="1600"/>
                <a:t>(Java byte code)</a:t>
              </a:r>
            </a:p>
            <a:p>
              <a:pPr>
                <a:lnSpc>
                  <a:spcPct val="80000"/>
                </a:lnSpc>
                <a:spcBef>
                  <a:spcPct val="60000"/>
                </a:spcBef>
              </a:pPr>
              <a:r>
                <a:rPr lang="en-US" altLang="ro-RO" sz="1600">
                  <a:latin typeface="Courier New" panose="02070309020205020404" pitchFamily="49" charset="0"/>
                </a:rPr>
                <a:t>10000100000001000 00100100000001001</a:t>
              </a:r>
            </a:p>
            <a:p>
              <a:pPr>
                <a:lnSpc>
                  <a:spcPct val="80000"/>
                </a:lnSpc>
                <a:spcBef>
                  <a:spcPct val="60000"/>
                </a:spcBef>
              </a:pPr>
              <a:r>
                <a:rPr lang="en-US" altLang="ro-RO" sz="1600"/>
                <a:t>      :                :</a:t>
              </a:r>
            </a:p>
          </p:txBody>
        </p:sp>
        <p:sp>
          <p:nvSpPr>
            <p:cNvPr id="23563" name="Text Box 5"/>
            <p:cNvSpPr txBox="1">
              <a:spLocks noChangeArrowheads="1"/>
            </p:cNvSpPr>
            <p:nvPr/>
          </p:nvSpPr>
          <p:spPr bwMode="auto">
            <a:xfrm>
              <a:off x="4150" y="2750"/>
              <a:ext cx="99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46800" rIns="936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ro-RO" sz="1800"/>
                <a:t>Smallest.class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4656138" y="3213101"/>
            <a:ext cx="1758950" cy="1074738"/>
            <a:chOff x="1973" y="2024"/>
            <a:chExt cx="1108" cy="677"/>
          </a:xfrm>
        </p:grpSpPr>
        <p:sp>
          <p:nvSpPr>
            <p:cNvPr id="23560" name="AutoShape 7"/>
            <p:cNvSpPr>
              <a:spLocks noChangeArrowheads="1"/>
            </p:cNvSpPr>
            <p:nvPr/>
          </p:nvSpPr>
          <p:spPr bwMode="auto">
            <a:xfrm>
              <a:off x="2223" y="2219"/>
              <a:ext cx="858" cy="482"/>
            </a:xfrm>
            <a:prstGeom prst="irregularSeal2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3600" tIns="46800" rIns="93600" bIns="46800" anchor="ctr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b="1"/>
                <a:t>java</a:t>
              </a:r>
            </a:p>
          </p:txBody>
        </p:sp>
        <p:sp>
          <p:nvSpPr>
            <p:cNvPr id="23561" name="Line 8"/>
            <p:cNvSpPr>
              <a:spLocks noChangeShapeType="1"/>
            </p:cNvSpPr>
            <p:nvPr/>
          </p:nvSpPr>
          <p:spPr bwMode="auto">
            <a:xfrm>
              <a:off x="1973" y="2024"/>
              <a:ext cx="453" cy="317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3600" tIns="46800" rIns="93600" bIns="46800">
              <a:spAutoFit/>
            </a:bodyPr>
            <a:lstStyle/>
            <a:p>
              <a:endParaRPr lang="ro-RO"/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2495551" y="4076701"/>
            <a:ext cx="2809875" cy="1585913"/>
            <a:chOff x="612" y="2499"/>
            <a:chExt cx="1770" cy="999"/>
          </a:xfrm>
        </p:grpSpPr>
        <p:sp>
          <p:nvSpPr>
            <p:cNvPr id="23558" name="Text Box 10"/>
            <p:cNvSpPr txBox="1">
              <a:spLocks noChangeArrowheads="1"/>
            </p:cNvSpPr>
            <p:nvPr/>
          </p:nvSpPr>
          <p:spPr bwMode="auto">
            <a:xfrm>
              <a:off x="612" y="3158"/>
              <a:ext cx="1452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3600" tIns="0" rIns="936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ro-RO" sz="1600" b="1" dirty="0" err="1" smtClean="0">
                  <a:solidFill>
                    <a:schemeClr val="accent2"/>
                  </a:solidFill>
                </a:rPr>
                <a:t>Tastati</a:t>
              </a:r>
              <a:r>
                <a:rPr lang="en-US" altLang="ro-RO" sz="1600" b="1" dirty="0" smtClean="0">
                  <a:solidFill>
                    <a:schemeClr val="accent2"/>
                  </a:solidFill>
                </a:rPr>
                <a:t> “java </a:t>
              </a:r>
              <a:r>
                <a:rPr lang="en-US" altLang="ro-RO" sz="1600" b="1" dirty="0">
                  <a:solidFill>
                    <a:schemeClr val="accent2"/>
                  </a:solidFill>
                </a:rPr>
                <a:t>Smallest”</a:t>
              </a:r>
            </a:p>
          </p:txBody>
        </p:sp>
        <p:cxnSp>
          <p:nvCxnSpPr>
            <p:cNvPr id="23559" name="AutoShape 11"/>
            <p:cNvCxnSpPr>
              <a:cxnSpLocks noChangeShapeType="1"/>
              <a:stCxn id="23558" idx="0"/>
            </p:cNvCxnSpPr>
            <p:nvPr/>
          </p:nvCxnSpPr>
          <p:spPr bwMode="auto">
            <a:xfrm flipV="1">
              <a:off x="1338" y="2499"/>
              <a:ext cx="1044" cy="659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3567" name="Text Box 4"/>
          <p:cNvSpPr txBox="1">
            <a:spLocks noChangeArrowheads="1"/>
          </p:cNvSpPr>
          <p:nvPr/>
        </p:nvSpPr>
        <p:spPr bwMode="auto">
          <a:xfrm>
            <a:off x="4692650" y="5035551"/>
            <a:ext cx="4192588" cy="11779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3600" tIns="46800" rIns="936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60000"/>
              </a:spcBef>
            </a:pPr>
            <a:r>
              <a:rPr lang="en-US" altLang="ro-RO" sz="1600" dirty="0" smtClean="0"/>
              <a:t>(Cod specific </a:t>
            </a:r>
            <a:r>
              <a:rPr lang="en-US" altLang="ro-RO" sz="1600" dirty="0" err="1" smtClean="0"/>
              <a:t>unei</a:t>
            </a:r>
            <a:r>
              <a:rPr lang="en-US" altLang="ro-RO" sz="1600" dirty="0" smtClean="0"/>
              <a:t> </a:t>
            </a:r>
            <a:r>
              <a:rPr lang="en-US" altLang="ro-RO" sz="1600" dirty="0" err="1" smtClean="0"/>
              <a:t>anumite</a:t>
            </a:r>
            <a:r>
              <a:rPr lang="en-US" altLang="ro-RO" sz="1600" dirty="0" smtClean="0"/>
              <a:t> </a:t>
            </a:r>
            <a:r>
              <a:rPr lang="en-US" altLang="ro-RO" sz="1600" dirty="0" err="1" smtClean="0"/>
              <a:t>platforme</a:t>
            </a:r>
            <a:r>
              <a:rPr lang="en-US" altLang="ro-RO" sz="1600" dirty="0" smtClean="0"/>
              <a:t> /SO</a:t>
            </a:r>
            <a:endParaRPr lang="en-US" altLang="ro-RO" sz="1600" dirty="0"/>
          </a:p>
          <a:p>
            <a:pPr>
              <a:lnSpc>
                <a:spcPct val="80000"/>
              </a:lnSpc>
              <a:spcBef>
                <a:spcPct val="60000"/>
              </a:spcBef>
            </a:pPr>
            <a:r>
              <a:rPr lang="en-US" altLang="ro-RO" sz="1600" dirty="0">
                <a:latin typeface="Courier New" panose="02070309020205020404" pitchFamily="49" charset="0"/>
              </a:rPr>
              <a:t>10100111000001000 00100111001111001</a:t>
            </a:r>
          </a:p>
          <a:p>
            <a:pPr>
              <a:lnSpc>
                <a:spcPct val="80000"/>
              </a:lnSpc>
              <a:spcBef>
                <a:spcPct val="60000"/>
              </a:spcBef>
            </a:pPr>
            <a:r>
              <a:rPr lang="en-US" altLang="ro-RO" sz="1600" dirty="0"/>
              <a:t>      :                :</a:t>
            </a:r>
          </a:p>
        </p:txBody>
      </p:sp>
      <p:pic>
        <p:nvPicPr>
          <p:cNvPr id="23570" name="Picture 18" descr="MP90034136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1851" y="4359276"/>
            <a:ext cx="677863" cy="94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8272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o-RO" smtClean="0"/>
              <a:t>Running The Java Compiler At Home</a:t>
            </a:r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ro-RO" dirty="0" err="1"/>
              <a:t>După</a:t>
            </a:r>
            <a:r>
              <a:rPr lang="en-US" altLang="ro-RO" dirty="0"/>
              <a:t> </a:t>
            </a:r>
            <a:r>
              <a:rPr lang="en-US" altLang="ro-RO" dirty="0" err="1"/>
              <a:t>instalarea</a:t>
            </a:r>
            <a:r>
              <a:rPr lang="en-US" altLang="ro-RO" dirty="0"/>
              <a:t> Java, </a:t>
            </a:r>
            <a:r>
              <a:rPr lang="en-US" altLang="ro-RO" dirty="0" err="1"/>
              <a:t>va</a:t>
            </a:r>
            <a:r>
              <a:rPr lang="en-US" altLang="ro-RO" dirty="0"/>
              <a:t> </a:t>
            </a:r>
            <a:r>
              <a:rPr lang="en-US" altLang="ro-RO" dirty="0" err="1"/>
              <a:t>trebui</a:t>
            </a:r>
            <a:r>
              <a:rPr lang="en-US" altLang="ro-RO" dirty="0"/>
              <a:t> </a:t>
            </a:r>
            <a:r>
              <a:rPr lang="en-US" altLang="ro-RO" dirty="0" err="1"/>
              <a:t>să</a:t>
            </a:r>
            <a:r>
              <a:rPr lang="en-US" altLang="ro-RO" dirty="0"/>
              <a:t> </a:t>
            </a:r>
            <a:r>
              <a:rPr lang="en-US" altLang="ro-RO" dirty="0" err="1"/>
              <a:t>indicați</a:t>
            </a:r>
            <a:r>
              <a:rPr lang="en-US" altLang="ro-RO" dirty="0"/>
              <a:t> </a:t>
            </a:r>
            <a:r>
              <a:rPr lang="en-US" altLang="ro-RO" dirty="0" err="1"/>
              <a:t>sistemului</a:t>
            </a:r>
            <a:r>
              <a:rPr lang="en-US" altLang="ro-RO" dirty="0"/>
              <a:t> de </a:t>
            </a:r>
            <a:r>
              <a:rPr lang="en-US" altLang="ro-RO" dirty="0" err="1"/>
              <a:t>operare</a:t>
            </a:r>
            <a:r>
              <a:rPr lang="en-US" altLang="ro-RO" dirty="0"/>
              <a:t> </a:t>
            </a:r>
            <a:r>
              <a:rPr lang="en-US" altLang="ro-RO" dirty="0" err="1"/>
              <a:t>unde</a:t>
            </a:r>
            <a:r>
              <a:rPr lang="en-US" altLang="ro-RO" dirty="0"/>
              <a:t> a </a:t>
            </a:r>
            <a:r>
              <a:rPr lang="en-US" altLang="ro-RO" dirty="0" err="1"/>
              <a:t>fost</a:t>
            </a:r>
            <a:r>
              <a:rPr lang="en-US" altLang="ro-RO" dirty="0"/>
              <a:t> </a:t>
            </a:r>
            <a:r>
              <a:rPr lang="en-US" altLang="ro-RO" dirty="0" err="1"/>
              <a:t>instalat</a:t>
            </a:r>
            <a:r>
              <a:rPr lang="en-US" altLang="ro-RO" dirty="0"/>
              <a:t> </a:t>
            </a:r>
            <a:r>
              <a:rPr lang="en-US" altLang="ro-RO" dirty="0" err="1"/>
              <a:t>compilatorul</a:t>
            </a:r>
            <a:r>
              <a:rPr lang="en-US" altLang="ro-RO" dirty="0"/>
              <a:t> Java </a:t>
            </a:r>
            <a:r>
              <a:rPr lang="en-US" altLang="ro-RO" dirty="0" smtClean="0"/>
              <a:t>(„</a:t>
            </a:r>
            <a:r>
              <a:rPr lang="en-US" altLang="ro-RO" dirty="0" err="1" smtClean="0"/>
              <a:t>seth</a:t>
            </a:r>
            <a:r>
              <a:rPr lang="en-US" altLang="ro-RO" dirty="0" smtClean="0"/>
              <a:t> path”).</a:t>
            </a:r>
            <a:endParaRPr lang="en-US" altLang="ro-RO" dirty="0"/>
          </a:p>
          <a:p>
            <a:r>
              <a:rPr lang="en-US" altLang="ro-RO" dirty="0" err="1"/>
              <a:t>Pentru</a:t>
            </a:r>
            <a:r>
              <a:rPr lang="en-US" altLang="ro-RO" dirty="0"/>
              <a:t> </a:t>
            </a:r>
            <a:r>
              <a:rPr lang="en-US" altLang="ro-RO" dirty="0" err="1"/>
              <a:t>detalii</a:t>
            </a:r>
            <a:r>
              <a:rPr lang="en-US" altLang="ro-RO" dirty="0"/>
              <a:t> </a:t>
            </a:r>
            <a:r>
              <a:rPr lang="en-US" altLang="ro-RO" dirty="0" err="1"/>
              <a:t>despre</a:t>
            </a:r>
            <a:r>
              <a:rPr lang="en-US" altLang="ro-RO" dirty="0"/>
              <a:t> cum </a:t>
            </a:r>
            <a:r>
              <a:rPr lang="en-US" altLang="ro-RO" dirty="0" err="1"/>
              <a:t>să</a:t>
            </a:r>
            <a:r>
              <a:rPr lang="en-US" altLang="ro-RO" dirty="0"/>
              <a:t> </a:t>
            </a:r>
            <a:r>
              <a:rPr lang="en-US" altLang="ro-RO" dirty="0" err="1"/>
              <a:t>setați</a:t>
            </a:r>
            <a:r>
              <a:rPr lang="en-US" altLang="ro-RO" dirty="0"/>
              <a:t> </a:t>
            </a:r>
            <a:r>
              <a:rPr lang="en-US" altLang="ro-RO" dirty="0" err="1"/>
              <a:t>variabila</a:t>
            </a:r>
            <a:r>
              <a:rPr lang="en-US" altLang="ro-RO" dirty="0"/>
              <a:t> de </a:t>
            </a:r>
            <a:r>
              <a:rPr lang="en-US" altLang="ro-RO" dirty="0" err="1"/>
              <a:t>cale</a:t>
            </a:r>
            <a:r>
              <a:rPr lang="en-US" altLang="ro-RO" dirty="0"/>
              <a:t> </a:t>
            </a:r>
            <a:r>
              <a:rPr lang="en-US" altLang="ro-RO" dirty="0" err="1"/>
              <a:t>pentru</a:t>
            </a:r>
            <a:r>
              <a:rPr lang="en-US" altLang="ro-RO" dirty="0"/>
              <a:t> </a:t>
            </a:r>
            <a:r>
              <a:rPr lang="en-US" altLang="ro-RO" dirty="0" err="1" smtClean="0"/>
              <a:t>sistemul</a:t>
            </a:r>
            <a:r>
              <a:rPr lang="en-US" altLang="ro-RO" dirty="0" smtClean="0"/>
              <a:t> </a:t>
            </a:r>
            <a:r>
              <a:rPr lang="en-US" altLang="ro-RO" dirty="0"/>
              <a:t>de </a:t>
            </a:r>
            <a:r>
              <a:rPr lang="en-US" altLang="ro-RO" dirty="0" err="1" smtClean="0"/>
              <a:t>operare</a:t>
            </a:r>
            <a:r>
              <a:rPr lang="en-US" altLang="ro-RO" dirty="0" smtClean="0"/>
              <a:t>, </a:t>
            </a:r>
            <a:r>
              <a:rPr lang="en-US" altLang="ro-RO" dirty="0" err="1"/>
              <a:t>încercați</a:t>
            </a:r>
            <a:r>
              <a:rPr lang="en-US" altLang="ro-RO" dirty="0"/>
              <a:t> site-</a:t>
            </a:r>
            <a:r>
              <a:rPr lang="en-US" altLang="ro-RO" dirty="0" err="1"/>
              <a:t>ul</a:t>
            </a:r>
            <a:r>
              <a:rPr lang="en-US" altLang="ro-RO" dirty="0"/>
              <a:t> web Sun </a:t>
            </a:r>
            <a:r>
              <a:rPr lang="en-US" altLang="ro-RO" dirty="0" err="1"/>
              <a:t>sau</a:t>
            </a:r>
            <a:r>
              <a:rPr lang="en-US" altLang="ro-RO" dirty="0"/>
              <a:t> Java.</a:t>
            </a:r>
          </a:p>
          <a:p>
            <a:r>
              <a:rPr lang="en-US" altLang="ro-RO" dirty="0" err="1"/>
              <a:t>Exemplu</a:t>
            </a:r>
            <a:r>
              <a:rPr lang="en-US" altLang="ro-RO" dirty="0"/>
              <a:t> </a:t>
            </a:r>
            <a:r>
              <a:rPr lang="en-US" altLang="ro-RO" dirty="0" err="1"/>
              <a:t>despre</a:t>
            </a:r>
            <a:r>
              <a:rPr lang="en-US" altLang="ro-RO" dirty="0"/>
              <a:t> cum </a:t>
            </a:r>
            <a:r>
              <a:rPr lang="en-US" altLang="ro-RO" dirty="0" err="1"/>
              <a:t>să</a:t>
            </a:r>
            <a:r>
              <a:rPr lang="en-US" altLang="ro-RO" dirty="0"/>
              <a:t> </a:t>
            </a:r>
            <a:r>
              <a:rPr lang="en-US" altLang="ro-RO" dirty="0" err="1"/>
              <a:t>setați</a:t>
            </a:r>
            <a:r>
              <a:rPr lang="en-US" altLang="ro-RO" dirty="0"/>
              <a:t> </a:t>
            </a:r>
            <a:r>
              <a:rPr lang="en-US" altLang="ro-RO" dirty="0" err="1"/>
              <a:t>calea</a:t>
            </a:r>
            <a:r>
              <a:rPr lang="en-US" altLang="ro-RO" dirty="0"/>
              <a:t> </a:t>
            </a:r>
            <a:r>
              <a:rPr lang="en-US" altLang="ro-RO" dirty="0" err="1"/>
              <a:t>în</a:t>
            </a:r>
            <a:r>
              <a:rPr lang="en-US" altLang="ro-RO" dirty="0"/>
              <a:t> Windows</a:t>
            </a:r>
            <a:r>
              <a:rPr lang="en-US" altLang="ro-RO" dirty="0" smtClean="0"/>
              <a:t>:</a:t>
            </a:r>
          </a:p>
          <a:p>
            <a:r>
              <a:rPr lang="en-US" altLang="ro-RO" dirty="0" smtClean="0">
                <a:hlinkClick r:id="rId2"/>
              </a:rPr>
              <a:t>http</a:t>
            </a:r>
            <a:r>
              <a:rPr lang="en-US" altLang="ro-RO" dirty="0" smtClean="0">
                <a:hlinkClick r:id="rId2"/>
              </a:rPr>
              <a:t>://</a:t>
            </a:r>
            <a:r>
              <a:rPr lang="en-US" altLang="ro-RO" dirty="0" smtClean="0">
                <a:hlinkClick r:id="rId2"/>
              </a:rPr>
              <a:t>java.sun.com/j2se/1.4.2/install-windows.html</a:t>
            </a:r>
            <a:endParaRPr lang="en-US" altLang="ro-RO" dirty="0" smtClean="0"/>
          </a:p>
        </p:txBody>
      </p:sp>
    </p:spTree>
    <p:extLst>
      <p:ext uri="{BB962C8B-B14F-4D97-AF65-F5344CB8AC3E}">
        <p14:creationId xmlns:p14="http://schemas.microsoft.com/office/powerpoint/2010/main" val="4250406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7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o-RO" dirty="0" err="1" smtClean="0"/>
              <a:t>Observa</a:t>
            </a:r>
            <a:r>
              <a:rPr lang="ro-RO" altLang="ro-RO" dirty="0" smtClean="0"/>
              <a:t>ții</a:t>
            </a:r>
            <a:endParaRPr lang="en-US" altLang="ro-RO" dirty="0" smtClean="0"/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ro-RO" dirty="0" err="1"/>
              <a:t>Fiecare</a:t>
            </a:r>
            <a:r>
              <a:rPr lang="en-US" altLang="ro-RO" dirty="0"/>
              <a:t> </a:t>
            </a:r>
            <a:r>
              <a:rPr lang="en-US" altLang="ro-RO" dirty="0" err="1"/>
              <a:t>instrucțiune</a:t>
            </a:r>
            <a:r>
              <a:rPr lang="en-US" altLang="ro-RO" dirty="0"/>
              <a:t> Java </a:t>
            </a:r>
            <a:r>
              <a:rPr lang="en-US" altLang="ro-RO" dirty="0" err="1"/>
              <a:t>trebuie</a:t>
            </a:r>
            <a:r>
              <a:rPr lang="en-US" altLang="ro-RO" dirty="0"/>
              <a:t> </a:t>
            </a:r>
            <a:r>
              <a:rPr lang="en-US" altLang="ro-RO" dirty="0" err="1"/>
              <a:t>să</a:t>
            </a:r>
            <a:r>
              <a:rPr lang="en-US" altLang="ro-RO" dirty="0"/>
              <a:t> fie </a:t>
            </a:r>
            <a:r>
              <a:rPr lang="en-US" altLang="ro-RO" dirty="0" err="1"/>
              <a:t>urmată</a:t>
            </a:r>
            <a:r>
              <a:rPr lang="en-US" altLang="ro-RO" dirty="0"/>
              <a:t> de un </a:t>
            </a:r>
            <a:r>
              <a:rPr lang="en-US" altLang="ro-RO" dirty="0" err="1"/>
              <a:t>punct</a:t>
            </a:r>
            <a:r>
              <a:rPr lang="en-US" altLang="ro-RO" dirty="0"/>
              <a:t> </a:t>
            </a:r>
            <a:r>
              <a:rPr lang="en-US" altLang="ro-RO" dirty="0" err="1"/>
              <a:t>și</a:t>
            </a:r>
            <a:r>
              <a:rPr lang="en-US" altLang="ro-RO" dirty="0"/>
              <a:t> </a:t>
            </a:r>
            <a:r>
              <a:rPr lang="en-US" altLang="ro-RO" dirty="0" err="1"/>
              <a:t>virgulă</a:t>
            </a:r>
            <a:r>
              <a:rPr lang="en-US" altLang="ro-RO" dirty="0"/>
              <a:t>!</a:t>
            </a:r>
            <a:endParaRPr lang="en-US" altLang="ro-RO" dirty="0" smtClean="0"/>
          </a:p>
        </p:txBody>
      </p:sp>
      <p:sp>
        <p:nvSpPr>
          <p:cNvPr id="131076" name="Text Box 4"/>
          <p:cNvSpPr txBox="1">
            <a:spLocks noChangeArrowheads="1"/>
          </p:cNvSpPr>
          <p:nvPr/>
        </p:nvSpPr>
        <p:spPr bwMode="auto">
          <a:xfrm>
            <a:off x="2304191" y="2744576"/>
            <a:ext cx="2743200" cy="222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o-RO" altLang="ro-RO" sz="2000" b="1" dirty="0" smtClean="0"/>
              <a:t>Format general</a:t>
            </a:r>
            <a:endParaRPr lang="en-US" altLang="ro-RO" sz="2000" b="1" dirty="0"/>
          </a:p>
          <a:p>
            <a:pPr>
              <a:spcBef>
                <a:spcPct val="50000"/>
              </a:spcBef>
            </a:pPr>
            <a:r>
              <a:rPr lang="en-US" altLang="ro-RO" sz="2000" dirty="0"/>
              <a:t>Instruction1;</a:t>
            </a:r>
          </a:p>
          <a:p>
            <a:pPr>
              <a:spcBef>
                <a:spcPct val="50000"/>
              </a:spcBef>
            </a:pPr>
            <a:r>
              <a:rPr lang="en-US" altLang="ro-RO" sz="2000" dirty="0"/>
              <a:t>Instruction2;</a:t>
            </a:r>
          </a:p>
          <a:p>
            <a:pPr>
              <a:spcBef>
                <a:spcPct val="50000"/>
              </a:spcBef>
            </a:pPr>
            <a:r>
              <a:rPr lang="en-US" altLang="ro-RO" sz="2000" dirty="0"/>
              <a:t>Instruction3;</a:t>
            </a:r>
          </a:p>
          <a:p>
            <a:pPr>
              <a:spcBef>
                <a:spcPct val="50000"/>
              </a:spcBef>
            </a:pPr>
            <a:r>
              <a:rPr lang="en-US" altLang="ro-RO" sz="2000" dirty="0"/>
              <a:t>   :        :</a:t>
            </a:r>
          </a:p>
        </p:txBody>
      </p:sp>
      <p:sp>
        <p:nvSpPr>
          <p:cNvPr id="131077" name="Text Box 5"/>
          <p:cNvSpPr txBox="1">
            <a:spLocks noChangeArrowheads="1"/>
          </p:cNvSpPr>
          <p:nvPr/>
        </p:nvSpPr>
        <p:spPr bwMode="auto">
          <a:xfrm>
            <a:off x="5475416" y="2630274"/>
            <a:ext cx="4140200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o-RO" sz="2000" b="1" dirty="0" smtClean="0"/>
              <a:t>Example</a:t>
            </a:r>
            <a:endParaRPr lang="en-US" altLang="ro-RO" sz="2000" b="1" dirty="0"/>
          </a:p>
          <a:p>
            <a:pPr>
              <a:spcBef>
                <a:spcPct val="50000"/>
              </a:spcBef>
            </a:pPr>
            <a:r>
              <a:rPr lang="en-US" altLang="ro-RO" sz="2000" dirty="0" err="1"/>
              <a:t>int</a:t>
            </a:r>
            <a:r>
              <a:rPr lang="en-US" altLang="ro-RO" sz="2000" dirty="0"/>
              <a:t> </a:t>
            </a:r>
            <a:r>
              <a:rPr lang="en-US" altLang="ro-RO" sz="2000" dirty="0" err="1"/>
              <a:t>num</a:t>
            </a:r>
            <a:r>
              <a:rPr lang="en-US" altLang="ro-RO" sz="2000" dirty="0"/>
              <a:t> = 0;</a:t>
            </a:r>
          </a:p>
          <a:p>
            <a:pPr>
              <a:spcBef>
                <a:spcPct val="50000"/>
              </a:spcBef>
            </a:pPr>
            <a:r>
              <a:rPr lang="en-US" altLang="ro-RO" sz="2000" dirty="0" err="1"/>
              <a:t>System.out.println</a:t>
            </a:r>
            <a:r>
              <a:rPr lang="en-US" altLang="ro-RO" sz="2000" dirty="0"/>
              <a:t>(</a:t>
            </a:r>
            <a:r>
              <a:rPr lang="en-US" altLang="ro-RO" sz="2000" dirty="0" err="1"/>
              <a:t>num</a:t>
            </a:r>
            <a:r>
              <a:rPr lang="en-US" altLang="ro-RO" sz="2000" dirty="0"/>
              <a:t>);</a:t>
            </a:r>
          </a:p>
          <a:p>
            <a:pPr>
              <a:spcBef>
                <a:spcPct val="50000"/>
              </a:spcBef>
            </a:pPr>
            <a:r>
              <a:rPr lang="en-US" altLang="ro-RO" sz="2000" dirty="0"/>
              <a:t>   :        :</a:t>
            </a:r>
          </a:p>
        </p:txBody>
      </p:sp>
    </p:spTree>
    <p:extLst>
      <p:ext uri="{BB962C8B-B14F-4D97-AF65-F5344CB8AC3E}">
        <p14:creationId xmlns:p14="http://schemas.microsoft.com/office/powerpoint/2010/main" val="1178518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Ex</a:t>
            </a:r>
            <a:r>
              <a:rPr lang="ro-RO" dirty="0" smtClean="0"/>
              <a:t>e</a:t>
            </a:r>
            <a:r>
              <a:rPr lang="en-CA" dirty="0" err="1" smtClean="0"/>
              <a:t>mpl</a:t>
            </a:r>
            <a:r>
              <a:rPr lang="ro-RO" dirty="0" smtClean="0"/>
              <a:t>u</a:t>
            </a:r>
            <a:r>
              <a:rPr lang="en-CA" dirty="0" smtClean="0"/>
              <a:t>: </a:t>
            </a:r>
            <a:r>
              <a:rPr lang="en-CA" dirty="0" smtClean="0"/>
              <a:t>Hello World Program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248" y="3490536"/>
            <a:ext cx="8229600" cy="3018896"/>
          </a:xfrm>
        </p:spPr>
        <p:txBody>
          <a:bodyPr/>
          <a:lstStyle/>
          <a:p>
            <a:r>
              <a:rPr lang="en-CA" dirty="0" err="1"/>
              <a:t>Totul</a:t>
            </a:r>
            <a:r>
              <a:rPr lang="en-CA" dirty="0"/>
              <a:t> </a:t>
            </a:r>
            <a:r>
              <a:rPr lang="en-CA" dirty="0" err="1"/>
              <a:t>este</a:t>
            </a:r>
            <a:r>
              <a:rPr lang="en-CA" dirty="0"/>
              <a:t> </a:t>
            </a:r>
            <a:r>
              <a:rPr lang="en-CA" dirty="0" err="1"/>
              <a:t>într</a:t>
            </a:r>
            <a:r>
              <a:rPr lang="en-CA" dirty="0"/>
              <a:t>-o </a:t>
            </a:r>
            <a:r>
              <a:rPr lang="en-CA" dirty="0" err="1"/>
              <a:t>clasă</a:t>
            </a:r>
            <a:endParaRPr lang="en-CA" dirty="0"/>
          </a:p>
          <a:p>
            <a:r>
              <a:rPr lang="en-CA" dirty="0"/>
              <a:t>Un </a:t>
            </a:r>
            <a:r>
              <a:rPr lang="en-CA" dirty="0" err="1"/>
              <a:t>fișier</a:t>
            </a:r>
            <a:r>
              <a:rPr lang="en-CA" dirty="0"/>
              <a:t>, o </a:t>
            </a:r>
            <a:r>
              <a:rPr lang="en-CA" dirty="0" err="1"/>
              <a:t>clasă</a:t>
            </a:r>
            <a:r>
              <a:rPr lang="en-CA" dirty="0"/>
              <a:t> </a:t>
            </a:r>
            <a:r>
              <a:rPr lang="en-CA" dirty="0" err="1"/>
              <a:t>publică</a:t>
            </a:r>
            <a:endParaRPr lang="en-CA" dirty="0"/>
          </a:p>
          <a:p>
            <a:r>
              <a:rPr lang="en-CA" dirty="0" err="1"/>
              <a:t>În</a:t>
            </a:r>
            <a:r>
              <a:rPr lang="en-CA" dirty="0"/>
              <a:t> </a:t>
            </a:r>
            <a:r>
              <a:rPr lang="en-CA" dirty="0" err="1"/>
              <a:t>clasa</a:t>
            </a:r>
            <a:r>
              <a:rPr lang="en-CA" dirty="0"/>
              <a:t> </a:t>
            </a:r>
            <a:r>
              <a:rPr lang="en-CA" dirty="0" err="1"/>
              <a:t>publică</a:t>
            </a:r>
            <a:r>
              <a:rPr lang="en-CA" dirty="0"/>
              <a:t> </a:t>
            </a:r>
            <a:r>
              <a:rPr lang="ro-RO" dirty="0" smtClean="0"/>
              <a:t>executabilă</a:t>
            </a:r>
            <a:r>
              <a:rPr lang="en-CA" dirty="0" smtClean="0"/>
              <a:t>:</a:t>
            </a:r>
            <a:endParaRPr lang="en-CA" dirty="0" smtClean="0"/>
          </a:p>
          <a:p>
            <a:pPr lvl="1"/>
            <a:r>
              <a:rPr lang="en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static void main(String [] </a:t>
            </a:r>
            <a:r>
              <a:rPr lang="en-CA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CA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35" b="38249"/>
          <a:stretch/>
        </p:blipFill>
        <p:spPr bwMode="auto">
          <a:xfrm>
            <a:off x="4086425" y="1737360"/>
            <a:ext cx="5401734" cy="1811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372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Tipuri primitive de date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b</a:t>
            </a:r>
            <a:r>
              <a:rPr lang="en-CA" dirty="0" err="1" smtClean="0"/>
              <a:t>oolean</a:t>
            </a:r>
            <a:endParaRPr lang="ro-RO" dirty="0"/>
          </a:p>
          <a:p>
            <a:r>
              <a:rPr lang="ro-RO" dirty="0"/>
              <a:t>c</a:t>
            </a:r>
            <a:r>
              <a:rPr lang="en-CA" dirty="0" err="1" smtClean="0"/>
              <a:t>har</a:t>
            </a:r>
            <a:endParaRPr lang="ro-RO" dirty="0" smtClean="0"/>
          </a:p>
          <a:p>
            <a:r>
              <a:rPr lang="ro-RO" dirty="0"/>
              <a:t>b</a:t>
            </a:r>
            <a:r>
              <a:rPr lang="en-CA" dirty="0" err="1" smtClean="0"/>
              <a:t>yte</a:t>
            </a:r>
            <a:endParaRPr lang="ro-RO" dirty="0" smtClean="0"/>
          </a:p>
          <a:p>
            <a:r>
              <a:rPr lang="ro-RO" dirty="0"/>
              <a:t>s</a:t>
            </a:r>
            <a:r>
              <a:rPr lang="en-CA" dirty="0" err="1" smtClean="0"/>
              <a:t>hort</a:t>
            </a:r>
            <a:endParaRPr lang="ro-RO" dirty="0" smtClean="0"/>
          </a:p>
          <a:p>
            <a:r>
              <a:rPr lang="ro-RO" dirty="0" smtClean="0"/>
              <a:t>i</a:t>
            </a:r>
            <a:r>
              <a:rPr lang="en-CA" dirty="0" err="1" smtClean="0"/>
              <a:t>nt</a:t>
            </a:r>
            <a:endParaRPr lang="ro-RO" dirty="0" smtClean="0"/>
          </a:p>
          <a:p>
            <a:r>
              <a:rPr lang="ro-RO" dirty="0"/>
              <a:t>l</a:t>
            </a:r>
            <a:r>
              <a:rPr lang="en-CA" dirty="0" err="1" smtClean="0"/>
              <a:t>ong</a:t>
            </a:r>
            <a:endParaRPr lang="ro-RO" dirty="0"/>
          </a:p>
          <a:p>
            <a:r>
              <a:rPr lang="ro-RO" dirty="0"/>
              <a:t>f</a:t>
            </a:r>
            <a:r>
              <a:rPr lang="en-CA" dirty="0" err="1" smtClean="0"/>
              <a:t>loat</a:t>
            </a:r>
            <a:endParaRPr lang="ro-RO" dirty="0"/>
          </a:p>
          <a:p>
            <a:r>
              <a:rPr lang="ro-RO" dirty="0" smtClean="0"/>
              <a:t>d</a:t>
            </a:r>
            <a:r>
              <a:rPr lang="en-CA" dirty="0" err="1" smtClean="0"/>
              <a:t>ouble</a:t>
            </a:r>
            <a:endParaRPr lang="en-CA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285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b="1" dirty="0"/>
              <a:t>Reali speciali </a:t>
            </a:r>
            <a:r>
              <a:rPr lang="ro-RO" b="1" dirty="0" err="1"/>
              <a:t>definiţi</a:t>
            </a:r>
            <a:r>
              <a:rPr lang="ro-RO" b="1" dirty="0"/>
              <a:t> de IEEE</a:t>
            </a:r>
          </a:p>
          <a:p>
            <a:r>
              <a:rPr lang="ro-RO" dirty="0" err="1"/>
              <a:t>NaN</a:t>
            </a:r>
            <a:r>
              <a:rPr lang="ro-RO" dirty="0"/>
              <a:t> </a:t>
            </a:r>
            <a:endParaRPr lang="ro-RO" dirty="0" smtClean="0"/>
          </a:p>
          <a:p>
            <a:r>
              <a:rPr lang="ro-RO" dirty="0"/>
              <a:t>POSITIVE_INFINITY, NEGATIVE_INFINITY, </a:t>
            </a:r>
            <a:r>
              <a:rPr lang="ro-RO" dirty="0" err="1"/>
              <a:t>NaN</a:t>
            </a:r>
            <a:r>
              <a:rPr lang="ro-RO" dirty="0"/>
              <a:t>.</a:t>
            </a:r>
          </a:p>
          <a:p>
            <a:r>
              <a:rPr lang="ro-RO" dirty="0"/>
              <a:t>MIN_VALUE </a:t>
            </a:r>
            <a:r>
              <a:rPr lang="ro-RO" dirty="0" err="1"/>
              <a:t>şi</a:t>
            </a:r>
            <a:r>
              <a:rPr lang="ro-RO" dirty="0"/>
              <a:t> MAX_VALUE.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789681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/>
              <a:t>Tipuri </a:t>
            </a:r>
            <a:r>
              <a:rPr lang="ro-RO" b="1" dirty="0" err="1"/>
              <a:t>referinţă</a:t>
            </a:r>
            <a:r>
              <a:rPr lang="ro-RO" b="1" dirty="0"/>
              <a:t/>
            </a:r>
            <a:br>
              <a:rPr lang="ro-RO" b="1" dirty="0"/>
            </a:b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o-RO" dirty="0"/>
              <a:t> </a:t>
            </a:r>
            <a:r>
              <a:rPr lang="ro-RO" dirty="0" smtClean="0"/>
              <a:t>Sunt </a:t>
            </a:r>
            <a:r>
              <a:rPr lang="ro-RO" dirty="0"/>
              <a:t>folosite pentru a referi un obiect din interiorul unui alt obiect. </a:t>
            </a:r>
            <a:endParaRPr lang="ro-RO" dirty="0" smtClean="0"/>
          </a:p>
          <a:p>
            <a:r>
              <a:rPr lang="ro-RO" dirty="0" smtClean="0"/>
              <a:t>Valoare </a:t>
            </a:r>
            <a:r>
              <a:rPr lang="ro-RO" dirty="0"/>
              <a:t>implicită este definită de către limbajul Java prin cuvântul rezervat </a:t>
            </a:r>
            <a:r>
              <a:rPr lang="ro-RO" b="1" dirty="0" err="1">
                <a:solidFill>
                  <a:srgbClr val="FF0000"/>
                </a:solidFill>
              </a:rPr>
              <a:t>null</a:t>
            </a:r>
            <a:r>
              <a:rPr lang="ro-RO" dirty="0" smtClean="0"/>
              <a:t>.</a:t>
            </a:r>
          </a:p>
          <a:p>
            <a:r>
              <a:rPr lang="ro-RO" dirty="0"/>
              <a:t>Rezervarea obiectului trebuie făcută explicit în program printr-o expresie de alocare care </a:t>
            </a:r>
            <a:r>
              <a:rPr lang="ro-RO" dirty="0" err="1"/>
              <a:t>foloseşte</a:t>
            </a:r>
            <a:r>
              <a:rPr lang="ro-RO" dirty="0"/>
              <a:t> cuvântul rezervat </a:t>
            </a:r>
            <a:r>
              <a:rPr lang="ro-RO" dirty="0" err="1"/>
              <a:t>new</a:t>
            </a:r>
            <a:r>
              <a:rPr lang="ro-RO" dirty="0"/>
              <a:t>. </a:t>
            </a:r>
            <a:endParaRPr lang="ro-RO" dirty="0" smtClean="0"/>
          </a:p>
          <a:p>
            <a:r>
              <a:rPr lang="pt-BR" b="1" dirty="0"/>
              <a:t>Tipul referinţă către o </a:t>
            </a:r>
            <a:r>
              <a:rPr lang="pt-BR" b="1" dirty="0" smtClean="0"/>
              <a:t>clasă</a:t>
            </a:r>
            <a:endParaRPr lang="ro-RO" b="1" dirty="0" smtClean="0"/>
          </a:p>
          <a:p>
            <a:r>
              <a:rPr lang="ro-RO" dirty="0"/>
              <a:t>trimite către o </a:t>
            </a:r>
            <a:r>
              <a:rPr lang="ro-RO" dirty="0" err="1"/>
              <a:t>instanţă</a:t>
            </a:r>
            <a:r>
              <a:rPr lang="ro-RO" dirty="0"/>
              <a:t> a unei clase de obiecte</a:t>
            </a:r>
            <a:r>
              <a:rPr lang="ro-RO" dirty="0" smtClean="0"/>
              <a:t>.</a:t>
            </a:r>
          </a:p>
          <a:p>
            <a:r>
              <a:rPr lang="ro-RO" dirty="0" smtClean="0"/>
              <a:t>Exemple</a:t>
            </a:r>
          </a:p>
          <a:p>
            <a:r>
              <a:rPr lang="ro-RO" dirty="0" smtClean="0"/>
              <a:t>Minge m1;</a:t>
            </a:r>
          </a:p>
          <a:p>
            <a:r>
              <a:rPr lang="ro-RO" dirty="0" smtClean="0"/>
              <a:t>Student s1;</a:t>
            </a:r>
          </a:p>
          <a:p>
            <a:r>
              <a:rPr lang="ro-RO" dirty="0" err="1" smtClean="0"/>
              <a:t>String</a:t>
            </a:r>
            <a:r>
              <a:rPr lang="ro-RO" dirty="0" smtClean="0"/>
              <a:t> sir;</a:t>
            </a:r>
          </a:p>
          <a:p>
            <a:r>
              <a:rPr lang="ro-RO" b="1" dirty="0"/>
              <a:t>Tipul </a:t>
            </a:r>
            <a:r>
              <a:rPr lang="ro-RO" b="1" dirty="0" err="1"/>
              <a:t>referinţă</a:t>
            </a:r>
            <a:r>
              <a:rPr lang="ro-RO" b="1" dirty="0"/>
              <a:t> către o </a:t>
            </a:r>
            <a:r>
              <a:rPr lang="ro-RO" b="1" dirty="0" err="1"/>
              <a:t>interfaţă</a:t>
            </a:r>
            <a:endParaRPr lang="ro-RO" b="1" dirty="0"/>
          </a:p>
          <a:p>
            <a:r>
              <a:rPr lang="ro-RO" dirty="0"/>
              <a:t>Tipul </a:t>
            </a:r>
            <a:r>
              <a:rPr lang="ro-RO" i="1" dirty="0" err="1"/>
              <a:t>referinţă</a:t>
            </a:r>
            <a:r>
              <a:rPr lang="ro-RO" i="1" dirty="0"/>
              <a:t> către o </a:t>
            </a:r>
            <a:r>
              <a:rPr lang="ro-RO" i="1" dirty="0" err="1"/>
              <a:t>interfaţă</a:t>
            </a:r>
            <a:r>
              <a:rPr lang="ro-RO" dirty="0"/>
              <a:t> permite păstrarea unor </a:t>
            </a:r>
            <a:r>
              <a:rPr lang="ro-RO" dirty="0" err="1"/>
              <a:t>referinţe</a:t>
            </a:r>
            <a:r>
              <a:rPr lang="ro-RO" dirty="0"/>
              <a:t> către obiecte care respectă o anumită </a:t>
            </a:r>
            <a:r>
              <a:rPr lang="ro-RO" dirty="0" err="1"/>
              <a:t>interfaţă</a:t>
            </a:r>
            <a:r>
              <a:rPr lang="ro-RO" dirty="0"/>
              <a:t>.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355556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/>
              <a:t>Tipul </a:t>
            </a:r>
            <a:r>
              <a:rPr lang="ro-RO" b="1" dirty="0" err="1"/>
              <a:t>referinţă</a:t>
            </a:r>
            <a:r>
              <a:rPr lang="ro-RO" b="1" dirty="0"/>
              <a:t> către un </a:t>
            </a:r>
            <a:r>
              <a:rPr lang="ro-RO" b="1" dirty="0" smtClean="0"/>
              <a:t>tablou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b="1" dirty="0"/>
              <a:t>Tipul </a:t>
            </a:r>
            <a:r>
              <a:rPr lang="ro-RO" b="1" dirty="0" err="1"/>
              <a:t>referinţă</a:t>
            </a:r>
            <a:r>
              <a:rPr lang="ro-RO" b="1" dirty="0"/>
              <a:t> către un tablou este un tip </a:t>
            </a:r>
            <a:r>
              <a:rPr lang="ro-RO" b="1" dirty="0" err="1"/>
              <a:t>referinţă</a:t>
            </a:r>
            <a:r>
              <a:rPr lang="ro-RO" b="1" dirty="0"/>
              <a:t> care poate păstra o trimitere către </a:t>
            </a:r>
            <a:r>
              <a:rPr lang="ro-RO" b="1" dirty="0" err="1"/>
              <a:t>locaţia</a:t>
            </a:r>
            <a:r>
              <a:rPr lang="ro-RO" b="1" dirty="0"/>
              <a:t> din memorie a unui tablou de elemente.</a:t>
            </a:r>
          </a:p>
          <a:p>
            <a:r>
              <a:rPr lang="ro-RO" b="1" dirty="0" smtClean="0"/>
              <a:t>Tablourile </a:t>
            </a:r>
            <a:r>
              <a:rPr lang="ro-RO" b="1" dirty="0"/>
              <a:t>sunt de asemenea o clasa</a:t>
            </a:r>
            <a:endParaRPr lang="en-CA" dirty="0"/>
          </a:p>
          <a:p>
            <a:pPr marL="457200" lvl="1" indent="0">
              <a:buNone/>
            </a:pPr>
            <a:r>
              <a:rPr lang="en-CA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long [] a = new  long[5];</a:t>
            </a:r>
          </a:p>
          <a:p>
            <a:pPr lvl="1"/>
            <a:r>
              <a:rPr lang="en-CA" dirty="0" err="1"/>
              <a:t>Puteți</a:t>
            </a:r>
            <a:r>
              <a:rPr lang="en-CA" dirty="0"/>
              <a:t> </a:t>
            </a:r>
            <a:r>
              <a:rPr lang="en-CA" dirty="0" err="1"/>
              <a:t>obține</a:t>
            </a:r>
            <a:r>
              <a:rPr lang="en-CA" dirty="0"/>
              <a:t> </a:t>
            </a:r>
            <a:r>
              <a:rPr lang="en-CA" dirty="0" err="1"/>
              <a:t>lungimea</a:t>
            </a:r>
            <a:r>
              <a:rPr lang="en-CA" dirty="0"/>
              <a:t> </a:t>
            </a:r>
            <a:r>
              <a:rPr lang="ro-RO" dirty="0"/>
              <a:t>cu ajutorul </a:t>
            </a:r>
            <a:r>
              <a:rPr lang="en-CA" dirty="0" err="1"/>
              <a:t>câmpul</a:t>
            </a:r>
            <a:r>
              <a:rPr lang="ro-RO" dirty="0"/>
              <a:t>ui</a:t>
            </a:r>
            <a:r>
              <a:rPr lang="en-CA" dirty="0"/>
              <a:t> de </a:t>
            </a:r>
            <a:r>
              <a:rPr lang="en-CA" dirty="0" err="1"/>
              <a:t>lungime</a:t>
            </a:r>
            <a:r>
              <a:rPr lang="en-CA" dirty="0"/>
              <a:t> al </a:t>
            </a:r>
            <a:r>
              <a:rPr lang="en-CA" dirty="0" err="1"/>
              <a:t>obiectului</a:t>
            </a:r>
            <a:r>
              <a:rPr lang="en-CA" dirty="0"/>
              <a:t> </a:t>
            </a:r>
            <a:r>
              <a:rPr lang="en-CA" dirty="0" err="1"/>
              <a:t>matrice</a:t>
            </a:r>
            <a:r>
              <a:rPr lang="en-CA" dirty="0"/>
              <a:t> a, ca </a:t>
            </a:r>
            <a:r>
              <a:rPr lang="en-CA" dirty="0" err="1"/>
              <a:t>acesta</a:t>
            </a:r>
            <a:r>
              <a:rPr lang="en-CA" dirty="0"/>
              <a:t> : </a:t>
            </a:r>
            <a:r>
              <a:rPr lang="en-CA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a.length</a:t>
            </a:r>
            <a:endParaRPr lang="en-CA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b="1" dirty="0"/>
              <a:t>Clasa </a:t>
            </a:r>
            <a:r>
              <a:rPr lang="ro-RO" b="1" dirty="0" err="1"/>
              <a:t>String</a:t>
            </a:r>
            <a:r>
              <a:rPr lang="ro-RO" b="1" dirty="0"/>
              <a:t> </a:t>
            </a:r>
            <a:r>
              <a:rPr lang="pt-BR" b="1" dirty="0"/>
              <a:t>este foarte frecvent utilizată pentru a reprezenta șiruri de caractere, de exemplu</a:t>
            </a:r>
            <a:endParaRPr lang="ro-RO" b="1" dirty="0"/>
          </a:p>
          <a:p>
            <a:r>
              <a:rPr lang="en-CA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String s1 = “Hello ”, s2 = “</a:t>
            </a:r>
            <a:r>
              <a:rPr lang="en-CA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Wolrd</a:t>
            </a:r>
            <a:r>
              <a:rPr lang="en-CA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!”;</a:t>
            </a:r>
          </a:p>
          <a:p>
            <a:pPr marL="457200" lvl="1" indent="0">
              <a:buNone/>
            </a:pPr>
            <a:r>
              <a:rPr lang="en-CA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String s3 = s1 + s2; 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0912130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Operator</a:t>
            </a:r>
            <a:r>
              <a:rPr lang="ro-RO" dirty="0" smtClean="0"/>
              <a:t>i</a:t>
            </a:r>
            <a:r>
              <a:rPr lang="en-CA" dirty="0" smtClean="0"/>
              <a:t> (</a:t>
            </a:r>
            <a:r>
              <a:rPr lang="ro-RO" dirty="0" smtClean="0"/>
              <a:t>la fel ca în </a:t>
            </a:r>
            <a:r>
              <a:rPr lang="en-CA" dirty="0" smtClean="0"/>
              <a:t>C/C</a:t>
            </a:r>
            <a:r>
              <a:rPr lang="en-CA" dirty="0" smtClean="0"/>
              <a:t>++) 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++,-- </a:t>
            </a:r>
            <a:r>
              <a:rPr lang="en-CA" dirty="0"/>
              <a:t>Auto increment/decrement</a:t>
            </a:r>
          </a:p>
          <a:p>
            <a:r>
              <a:rPr lang="en-CA" dirty="0" smtClean="0"/>
              <a:t>+,- </a:t>
            </a:r>
            <a:r>
              <a:rPr lang="en-CA" dirty="0" smtClean="0"/>
              <a:t>plus/minus</a:t>
            </a:r>
            <a:r>
              <a:rPr lang="ro-RO" dirty="0" smtClean="0"/>
              <a:t> ca operatori unari</a:t>
            </a:r>
            <a:endParaRPr lang="en-CA" dirty="0"/>
          </a:p>
          <a:p>
            <a:r>
              <a:rPr lang="en-CA" dirty="0" smtClean="0"/>
              <a:t>*,/ </a:t>
            </a:r>
            <a:r>
              <a:rPr lang="ro-RO" dirty="0"/>
              <a:t>Î</a:t>
            </a:r>
            <a:r>
              <a:rPr lang="ro-RO" dirty="0" smtClean="0"/>
              <a:t>nmulțire/împărțire</a:t>
            </a:r>
            <a:endParaRPr lang="en-CA" dirty="0"/>
          </a:p>
          <a:p>
            <a:r>
              <a:rPr lang="en-CA" dirty="0" smtClean="0"/>
              <a:t>% </a:t>
            </a:r>
            <a:r>
              <a:rPr lang="ro-RO" dirty="0" smtClean="0"/>
              <a:t>rest</a:t>
            </a:r>
            <a:endParaRPr lang="en-CA" dirty="0"/>
          </a:p>
          <a:p>
            <a:r>
              <a:rPr lang="en-CA" dirty="0" smtClean="0"/>
              <a:t>+,- </a:t>
            </a:r>
            <a:r>
              <a:rPr lang="ro-RO" dirty="0" smtClean="0"/>
              <a:t>Adunare/Scădere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057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3104" y="228599"/>
            <a:ext cx="10058400" cy="1450757"/>
          </a:xfrm>
        </p:spPr>
        <p:txBody>
          <a:bodyPr/>
          <a:lstStyle/>
          <a:p>
            <a:r>
              <a:rPr lang="ro-RO" dirty="0" smtClean="0"/>
              <a:t>Declararea variabilelor 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o-RO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Sintaxa: </a:t>
            </a:r>
          </a:p>
          <a:p>
            <a:pPr marL="0" indent="0">
              <a:buNone/>
            </a:pPr>
            <a:r>
              <a:rPr lang="ro-RO" altLang="ro-RO" sz="2400" dirty="0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Tip </a:t>
            </a:r>
            <a:r>
              <a:rPr lang="ro-RO" altLang="ro-RO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NumeVariabilă</a:t>
            </a:r>
            <a:r>
              <a:rPr lang="ro-RO" altLang="ro-RO" sz="2400" dirty="0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[, </a:t>
            </a:r>
            <a:r>
              <a:rPr lang="ro-RO" altLang="ro-RO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NumeVariabilă</a:t>
            </a:r>
            <a:r>
              <a:rPr lang="ro-RO" altLang="ro-RO" sz="2400" dirty="0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]; </a:t>
            </a:r>
            <a:endParaRPr lang="ro-RO" altLang="ro-RO" sz="3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ro-RO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Exemple:</a:t>
            </a:r>
          </a:p>
          <a:p>
            <a:pPr marL="0" indent="0">
              <a:buNone/>
            </a:pPr>
            <a:r>
              <a:rPr lang="en-CA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= 1;</a:t>
            </a:r>
          </a:p>
          <a:p>
            <a:pPr marL="0" indent="0">
              <a:buNone/>
            </a:pPr>
            <a:r>
              <a:rPr lang="en-CA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CA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</a:t>
            </a:r>
            <a:r>
              <a:rPr lang="en-CA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‘A’;</a:t>
            </a:r>
          </a:p>
          <a:p>
            <a:pPr marL="0" indent="0">
              <a:buNone/>
            </a:pPr>
            <a:r>
              <a:rPr lang="en-CA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s = “Hello”;</a:t>
            </a:r>
          </a:p>
          <a:p>
            <a:pPr marL="0" indent="0">
              <a:buNone/>
            </a:pPr>
            <a:r>
              <a:rPr lang="en-CA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Long L = new Long(100000);</a:t>
            </a:r>
          </a:p>
          <a:p>
            <a:pPr marL="0" indent="0">
              <a:buNone/>
            </a:pPr>
            <a:r>
              <a:rPr lang="en-CA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CA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done = false;</a:t>
            </a:r>
          </a:p>
          <a:p>
            <a:pPr marL="0" indent="0">
              <a:buNone/>
            </a:pPr>
            <a:r>
              <a:rPr lang="en-CA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final double pi = 3.14159265358979323846;</a:t>
            </a:r>
          </a:p>
          <a:p>
            <a:pPr marL="0" indent="0">
              <a:buNone/>
            </a:pPr>
            <a:r>
              <a:rPr lang="en-CA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Employee </a:t>
            </a:r>
            <a:r>
              <a:rPr lang="en-CA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joe</a:t>
            </a:r>
            <a:r>
              <a:rPr lang="en-CA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new Employee();</a:t>
            </a:r>
          </a:p>
          <a:p>
            <a:pPr marL="0" indent="0">
              <a:buNone/>
            </a:pPr>
            <a:r>
              <a:rPr lang="en-CA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 [] a = new char[3];</a:t>
            </a:r>
          </a:p>
          <a:p>
            <a:pPr marL="0" indent="0">
              <a:buNone/>
            </a:pPr>
            <a:r>
              <a:rPr lang="en-CA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Vector v = new Vector();</a:t>
            </a:r>
            <a:endParaRPr lang="en-CA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585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Clasa de memorare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b="1" dirty="0"/>
              <a:t>Variabile </a:t>
            </a:r>
            <a:r>
              <a:rPr lang="ro-RO" b="1" dirty="0" smtClean="0"/>
              <a:t>locale</a:t>
            </a:r>
          </a:p>
          <a:p>
            <a:r>
              <a:rPr lang="ro-RO" dirty="0"/>
              <a:t>Variabilele locale sunt declarate, rezervate în memorie </a:t>
            </a:r>
            <a:r>
              <a:rPr lang="ro-RO" dirty="0" err="1"/>
              <a:t>şi</a:t>
            </a:r>
            <a:r>
              <a:rPr lang="ro-RO" dirty="0"/>
              <a:t> utilizate doar în interiorul unor blocuri de </a:t>
            </a:r>
            <a:r>
              <a:rPr lang="ro-RO" dirty="0" err="1"/>
              <a:t>instrucţiuni</a:t>
            </a:r>
            <a:r>
              <a:rPr lang="ro-RO" dirty="0"/>
              <a:t>, fiind distruse automat la </a:t>
            </a:r>
            <a:r>
              <a:rPr lang="ro-RO" dirty="0" err="1"/>
              <a:t>ieşirea</a:t>
            </a:r>
            <a:r>
              <a:rPr lang="ro-RO" dirty="0"/>
              <a:t> din aceste blocuri.</a:t>
            </a:r>
            <a:endParaRPr lang="ro-RO" dirty="0" smtClean="0"/>
          </a:p>
          <a:p>
            <a:r>
              <a:rPr lang="ro-RO" b="1" dirty="0"/>
              <a:t>Variabile </a:t>
            </a:r>
            <a:r>
              <a:rPr lang="ro-RO" b="1" dirty="0" smtClean="0"/>
              <a:t>statice</a:t>
            </a:r>
          </a:p>
          <a:p>
            <a:r>
              <a:rPr lang="ro-RO" dirty="0" smtClean="0"/>
              <a:t>Se declară cu </a:t>
            </a:r>
            <a:r>
              <a:rPr lang="ro-RO" b="1" dirty="0" smtClean="0"/>
              <a:t>static</a:t>
            </a:r>
          </a:p>
          <a:p>
            <a:r>
              <a:rPr lang="ro-RO" dirty="0"/>
              <a:t>se mai numesc uneori </a:t>
            </a:r>
            <a:r>
              <a:rPr lang="ro-RO" dirty="0" err="1"/>
              <a:t>şi</a:t>
            </a:r>
            <a:r>
              <a:rPr lang="ro-RO" dirty="0"/>
              <a:t> </a:t>
            </a:r>
            <a:r>
              <a:rPr lang="ro-RO" i="1" dirty="0"/>
              <a:t>variabile de clasă</a:t>
            </a:r>
            <a:r>
              <a:rPr lang="ro-RO" b="1" dirty="0" smtClean="0"/>
              <a:t>.</a:t>
            </a:r>
          </a:p>
          <a:p>
            <a:endParaRPr lang="ro-RO" b="1" dirty="0"/>
          </a:p>
        </p:txBody>
      </p:sp>
    </p:spTree>
    <p:extLst>
      <p:ext uri="{BB962C8B-B14F-4D97-AF65-F5344CB8AC3E}">
        <p14:creationId xmlns:p14="http://schemas.microsoft.com/office/powerpoint/2010/main" val="20068630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Variabile dinamice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Aceste variabile pot fi alocate la cerere, dinamic, în orice moment al </a:t>
            </a:r>
            <a:r>
              <a:rPr lang="ro-RO" dirty="0" err="1"/>
              <a:t>execuţiei</a:t>
            </a:r>
            <a:r>
              <a:rPr lang="ro-RO" dirty="0"/>
              <a:t> programului. Ele vor fi distruse doar atunci când nu mai sunt referite de nicăieri</a:t>
            </a:r>
            <a:r>
              <a:rPr lang="ro-RO" dirty="0" smtClean="0"/>
              <a:t>.</a:t>
            </a:r>
          </a:p>
          <a:p>
            <a:r>
              <a:rPr lang="ro-RO" dirty="0" smtClean="0"/>
              <a:t>Se utilizează o expresie </a:t>
            </a:r>
            <a:r>
              <a:rPr lang="ro-RO" dirty="0"/>
              <a:t>de alocare care </a:t>
            </a:r>
            <a:r>
              <a:rPr lang="ro-RO" dirty="0" err="1"/>
              <a:t>foloseşte</a:t>
            </a:r>
            <a:r>
              <a:rPr lang="ro-RO" dirty="0"/>
              <a:t> cuvântul rezervat </a:t>
            </a:r>
            <a:r>
              <a:rPr lang="ro-RO" b="1" dirty="0" err="1" smtClean="0"/>
              <a:t>new</a:t>
            </a:r>
            <a:endParaRPr lang="ro-RO" b="1" dirty="0" smtClean="0"/>
          </a:p>
          <a:p>
            <a:r>
              <a:rPr lang="ro-RO" b="1" dirty="0"/>
              <a:t>Minge </a:t>
            </a:r>
            <a:r>
              <a:rPr lang="ro-RO" b="1" dirty="0" err="1"/>
              <a:t>mingeaMea</a:t>
            </a:r>
            <a:r>
              <a:rPr lang="ro-RO" b="1" dirty="0"/>
              <a:t> = </a:t>
            </a:r>
            <a:r>
              <a:rPr lang="ro-RO" b="1" dirty="0" err="1"/>
              <a:t>new</a:t>
            </a:r>
            <a:r>
              <a:rPr lang="ro-RO" b="1" dirty="0"/>
              <a:t> Minge( </a:t>
            </a:r>
            <a:r>
              <a:rPr lang="ro-RO" b="1" dirty="0" smtClean="0"/>
              <a:t>);</a:t>
            </a:r>
          </a:p>
          <a:p>
            <a:r>
              <a:rPr lang="ro-RO" b="1" dirty="0"/>
              <a:t>Minge echipament[] = </a:t>
            </a:r>
            <a:r>
              <a:rPr lang="ro-RO" b="1" dirty="0" err="1"/>
              <a:t>new</a:t>
            </a:r>
            <a:r>
              <a:rPr lang="ro-RO" b="1" dirty="0"/>
              <a:t> Minge[5</a:t>
            </a:r>
            <a:r>
              <a:rPr lang="ro-RO" b="1" dirty="0" smtClean="0"/>
              <a:t>];</a:t>
            </a:r>
          </a:p>
          <a:p>
            <a:r>
              <a:rPr lang="ro-RO" b="1" dirty="0" err="1"/>
              <a:t>int</a:t>
            </a:r>
            <a:r>
              <a:rPr lang="ro-RO" b="1" dirty="0"/>
              <a:t> numere[] = </a:t>
            </a:r>
            <a:r>
              <a:rPr lang="ro-RO" b="1" dirty="0" err="1"/>
              <a:t>new</a:t>
            </a:r>
            <a:r>
              <a:rPr lang="ro-RO" b="1" dirty="0"/>
              <a:t> </a:t>
            </a:r>
            <a:r>
              <a:rPr lang="ro-RO" b="1" dirty="0" err="1"/>
              <a:t>int</a:t>
            </a:r>
            <a:r>
              <a:rPr lang="ro-RO" b="1" dirty="0"/>
              <a:t>[10]; </a:t>
            </a:r>
          </a:p>
          <a:p>
            <a:r>
              <a:rPr lang="ro-RO" b="1" dirty="0"/>
              <a:t> </a:t>
            </a:r>
          </a:p>
          <a:p>
            <a:endParaRPr lang="ro-RO" b="1" dirty="0"/>
          </a:p>
        </p:txBody>
      </p:sp>
    </p:spTree>
    <p:extLst>
      <p:ext uri="{BB962C8B-B14F-4D97-AF65-F5344CB8AC3E}">
        <p14:creationId xmlns:p14="http://schemas.microsoft.com/office/powerpoint/2010/main" val="28058240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Tablouri de variabile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o-RO" dirty="0"/>
              <a:t> </a:t>
            </a:r>
            <a:r>
              <a:rPr lang="ro-RO" dirty="0" err="1"/>
              <a:t>Declaraţia</a:t>
            </a:r>
            <a:r>
              <a:rPr lang="ro-RO" dirty="0"/>
              <a:t> variabilelor de tip </a:t>
            </a:r>
            <a:r>
              <a:rPr lang="ro-RO" dirty="0" smtClean="0"/>
              <a:t>tablou</a:t>
            </a:r>
          </a:p>
          <a:p>
            <a:r>
              <a:rPr lang="ro-RO" dirty="0" smtClean="0"/>
              <a:t>Tablouri cu 1 </a:t>
            </a:r>
            <a:r>
              <a:rPr lang="ro-RO" dirty="0" err="1" smtClean="0"/>
              <a:t>dimesiune</a:t>
            </a:r>
            <a:endParaRPr lang="ro-RO" dirty="0" smtClean="0"/>
          </a:p>
          <a:p>
            <a:r>
              <a:rPr lang="ro-RO" dirty="0" err="1">
                <a:solidFill>
                  <a:srgbClr val="0070C0"/>
                </a:solidFill>
              </a:rPr>
              <a:t>int</a:t>
            </a:r>
            <a:r>
              <a:rPr lang="ro-RO" dirty="0">
                <a:solidFill>
                  <a:srgbClr val="0070C0"/>
                </a:solidFill>
              </a:rPr>
              <a:t>[ ] numere;</a:t>
            </a:r>
          </a:p>
          <a:p>
            <a:r>
              <a:rPr lang="ro-RO" dirty="0" err="1">
                <a:solidFill>
                  <a:srgbClr val="0070C0"/>
                </a:solidFill>
              </a:rPr>
              <a:t>int</a:t>
            </a:r>
            <a:r>
              <a:rPr lang="ro-RO" dirty="0">
                <a:solidFill>
                  <a:srgbClr val="0070C0"/>
                </a:solidFill>
              </a:rPr>
              <a:t> numere[ </a:t>
            </a:r>
            <a:r>
              <a:rPr lang="ro-RO" dirty="0" smtClean="0">
                <a:solidFill>
                  <a:srgbClr val="0070C0"/>
                </a:solidFill>
              </a:rPr>
              <a:t>];</a:t>
            </a:r>
          </a:p>
          <a:p>
            <a:r>
              <a:rPr lang="ro-RO" dirty="0" smtClean="0"/>
              <a:t>Tablouri cu 2 dimensiuni (matrice)</a:t>
            </a:r>
            <a:endParaRPr lang="ro-RO" dirty="0"/>
          </a:p>
          <a:p>
            <a:r>
              <a:rPr lang="ro-RO" dirty="0" err="1">
                <a:solidFill>
                  <a:srgbClr val="FF0000"/>
                </a:solidFill>
              </a:rPr>
              <a:t>float</a:t>
            </a:r>
            <a:r>
              <a:rPr lang="ro-RO" dirty="0">
                <a:solidFill>
                  <a:srgbClr val="FF0000"/>
                </a:solidFill>
              </a:rPr>
              <a:t>   [ ][ ] matrice;</a:t>
            </a:r>
          </a:p>
          <a:p>
            <a:r>
              <a:rPr lang="ro-RO" dirty="0" err="1">
                <a:solidFill>
                  <a:srgbClr val="FF0000"/>
                </a:solidFill>
              </a:rPr>
              <a:t>float</a:t>
            </a:r>
            <a:r>
              <a:rPr lang="ro-RO" dirty="0">
                <a:solidFill>
                  <a:srgbClr val="FF0000"/>
                </a:solidFill>
              </a:rPr>
              <a:t>[ ] matrice[];</a:t>
            </a:r>
          </a:p>
          <a:p>
            <a:r>
              <a:rPr lang="ro-RO" dirty="0" err="1">
                <a:solidFill>
                  <a:srgbClr val="FF0000"/>
                </a:solidFill>
              </a:rPr>
              <a:t>float</a:t>
            </a:r>
            <a:r>
              <a:rPr lang="ro-RO" dirty="0">
                <a:solidFill>
                  <a:srgbClr val="FF0000"/>
                </a:solidFill>
              </a:rPr>
              <a:t> matrice</a:t>
            </a:r>
            <a:r>
              <a:rPr lang="ro-RO" dirty="0" smtClean="0">
                <a:solidFill>
                  <a:srgbClr val="FF0000"/>
                </a:solidFill>
              </a:rPr>
              <a:t>[][];</a:t>
            </a:r>
          </a:p>
          <a:p>
            <a:r>
              <a:rPr lang="ro-RO" dirty="0"/>
              <a:t>Alocarea </a:t>
            </a:r>
            <a:r>
              <a:rPr lang="ro-RO" dirty="0" err="1"/>
              <a:t>spaţiului</a:t>
            </a:r>
            <a:r>
              <a:rPr lang="ro-RO" dirty="0"/>
              <a:t> pentru elementele tabloului trebuie făcută explicit.</a:t>
            </a:r>
          </a:p>
          <a:p>
            <a:r>
              <a:rPr lang="ro-RO" dirty="0"/>
              <a:t>Pentru tablourile cu mai multe dimensiuni, rezervarea </a:t>
            </a:r>
            <a:r>
              <a:rPr lang="ro-RO" dirty="0" err="1"/>
              <a:t>spaţiului</a:t>
            </a:r>
            <a:r>
              <a:rPr lang="ro-RO" dirty="0"/>
              <a:t> se poate face cu următoarea sintaxă:</a:t>
            </a:r>
          </a:p>
          <a:p>
            <a:r>
              <a:rPr lang="ro-RO" dirty="0">
                <a:solidFill>
                  <a:srgbClr val="FF0000"/>
                </a:solidFill>
              </a:rPr>
              <a:t>byte [][]</a:t>
            </a:r>
            <a:r>
              <a:rPr lang="ro-RO" dirty="0" err="1">
                <a:solidFill>
                  <a:srgbClr val="FF0000"/>
                </a:solidFill>
              </a:rPr>
              <a:t>octeti</a:t>
            </a:r>
            <a:r>
              <a:rPr lang="ro-RO" dirty="0">
                <a:solidFill>
                  <a:srgbClr val="FF0000"/>
                </a:solidFill>
              </a:rPr>
              <a:t> = </a:t>
            </a:r>
            <a:r>
              <a:rPr lang="ro-RO" dirty="0" err="1">
                <a:solidFill>
                  <a:srgbClr val="FF0000"/>
                </a:solidFill>
              </a:rPr>
              <a:t>new</a:t>
            </a:r>
            <a:r>
              <a:rPr lang="ro-RO" dirty="0">
                <a:solidFill>
                  <a:srgbClr val="FF0000"/>
                </a:solidFill>
              </a:rPr>
              <a:t> byte[23][5];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461517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Iniţializarea</a:t>
            </a:r>
            <a:r>
              <a:rPr lang="ro-RO" dirty="0"/>
              <a:t> tablourilor.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RO" dirty="0" err="1"/>
              <a:t>char</a:t>
            </a:r>
            <a:r>
              <a:rPr lang="ro-RO" dirty="0"/>
              <a:t> []caractere = { ’a’, ’b ’, ’c ’, ’d ’ </a:t>
            </a:r>
            <a:r>
              <a:rPr lang="ro-RO" dirty="0" smtClean="0"/>
              <a:t>};</a:t>
            </a:r>
          </a:p>
          <a:p>
            <a:r>
              <a:rPr lang="ro-RO" dirty="0" err="1">
                <a:solidFill>
                  <a:srgbClr val="FF0000"/>
                </a:solidFill>
              </a:rPr>
              <a:t>int</a:t>
            </a:r>
            <a:r>
              <a:rPr lang="ro-RO" dirty="0">
                <a:solidFill>
                  <a:srgbClr val="FF0000"/>
                </a:solidFill>
              </a:rPr>
              <a:t> [][]numere = {</a:t>
            </a:r>
          </a:p>
          <a:p>
            <a:r>
              <a:rPr lang="ro-RO" dirty="0">
                <a:solidFill>
                  <a:srgbClr val="FF0000"/>
                </a:solidFill>
              </a:rPr>
              <a:t>{ 1, 3, 4, 5 },</a:t>
            </a:r>
          </a:p>
          <a:p>
            <a:r>
              <a:rPr lang="ro-RO" dirty="0">
                <a:solidFill>
                  <a:srgbClr val="FF0000"/>
                </a:solidFill>
              </a:rPr>
              <a:t>{ 2, 4, 5 },</a:t>
            </a:r>
          </a:p>
          <a:p>
            <a:r>
              <a:rPr lang="ro-RO" dirty="0">
                <a:solidFill>
                  <a:srgbClr val="FF0000"/>
                </a:solidFill>
              </a:rPr>
              <a:t>{ 1, 2, 3, 4, 5 }</a:t>
            </a:r>
          </a:p>
          <a:p>
            <a:r>
              <a:rPr lang="ro-RO" dirty="0">
                <a:solidFill>
                  <a:srgbClr val="FF0000"/>
                </a:solidFill>
              </a:rPr>
              <a:t>};</a:t>
            </a:r>
          </a:p>
          <a:p>
            <a:r>
              <a:rPr lang="ro-RO" dirty="0" err="1">
                <a:solidFill>
                  <a:srgbClr val="0070C0"/>
                </a:solidFill>
              </a:rPr>
              <a:t>double</a:t>
            </a:r>
            <a:r>
              <a:rPr lang="ro-RO" dirty="0">
                <a:solidFill>
                  <a:srgbClr val="0070C0"/>
                </a:solidFill>
              </a:rPr>
              <a:t> [][][]reali = {</a:t>
            </a:r>
          </a:p>
          <a:p>
            <a:r>
              <a:rPr lang="ro-RO" dirty="0">
                <a:solidFill>
                  <a:srgbClr val="0070C0"/>
                </a:solidFill>
              </a:rPr>
              <a:t>{ { 0.0, -1.0 }, { 4.5 } },</a:t>
            </a:r>
          </a:p>
          <a:p>
            <a:r>
              <a:rPr lang="ro-RO" dirty="0">
                <a:solidFill>
                  <a:srgbClr val="0070C0"/>
                </a:solidFill>
              </a:rPr>
              <a:t>{ { 2.5, 3.0 } }</a:t>
            </a:r>
          </a:p>
          <a:p>
            <a:r>
              <a:rPr lang="ro-RO" dirty="0">
                <a:solidFill>
                  <a:srgbClr val="0070C0"/>
                </a:solidFill>
              </a:rPr>
              <a:t>};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6500597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Lungimea tablourilor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err="1"/>
              <a:t>float</a:t>
            </a:r>
            <a:r>
              <a:rPr lang="ro-RO" dirty="0"/>
              <a:t> []tablou = </a:t>
            </a:r>
            <a:r>
              <a:rPr lang="ro-RO" dirty="0" err="1"/>
              <a:t>new</a:t>
            </a:r>
            <a:r>
              <a:rPr lang="ro-RO" dirty="0"/>
              <a:t> </a:t>
            </a:r>
            <a:r>
              <a:rPr lang="ro-RO" dirty="0" err="1"/>
              <a:t>float</a:t>
            </a:r>
            <a:r>
              <a:rPr lang="ro-RO" dirty="0"/>
              <a:t>[25];</a:t>
            </a:r>
          </a:p>
          <a:p>
            <a:r>
              <a:rPr lang="ro-RO" dirty="0" err="1"/>
              <a:t>int</a:t>
            </a:r>
            <a:r>
              <a:rPr lang="ro-RO" dirty="0"/>
              <a:t> dimensiune = </a:t>
            </a:r>
            <a:r>
              <a:rPr lang="ro-RO" dirty="0" err="1"/>
              <a:t>tablou.length</a:t>
            </a:r>
            <a:r>
              <a:rPr lang="ro-RO" dirty="0"/>
              <a:t>;      // dimensiune </a:t>
            </a:r>
            <a:r>
              <a:rPr lang="ro-RO" dirty="0" err="1"/>
              <a:t>primeşte</a:t>
            </a:r>
            <a:r>
              <a:rPr lang="ro-RO" dirty="0"/>
              <a:t> valoarea 25</a:t>
            </a:r>
          </a:p>
          <a:p>
            <a:r>
              <a:rPr lang="ro-RO" dirty="0"/>
              <a:t>sau</a:t>
            </a:r>
          </a:p>
          <a:p>
            <a:r>
              <a:rPr lang="ro-RO" dirty="0" err="1"/>
              <a:t>float</a:t>
            </a:r>
            <a:r>
              <a:rPr lang="ro-RO" dirty="0"/>
              <a:t> [][]</a:t>
            </a:r>
            <a:r>
              <a:rPr lang="ro-RO" dirty="0" err="1"/>
              <a:t>multiTablou</a:t>
            </a:r>
            <a:r>
              <a:rPr lang="ro-RO" dirty="0"/>
              <a:t> = </a:t>
            </a:r>
            <a:r>
              <a:rPr lang="ro-RO" dirty="0" err="1"/>
              <a:t>new</a:t>
            </a:r>
            <a:r>
              <a:rPr lang="ro-RO" dirty="0"/>
              <a:t> </a:t>
            </a:r>
            <a:r>
              <a:rPr lang="ro-RO" dirty="0" err="1"/>
              <a:t>float</a:t>
            </a:r>
            <a:r>
              <a:rPr lang="ro-RO" dirty="0"/>
              <a:t>[3][4];</a:t>
            </a:r>
          </a:p>
          <a:p>
            <a:r>
              <a:rPr lang="ro-RO" dirty="0" err="1"/>
              <a:t>int</a:t>
            </a:r>
            <a:r>
              <a:rPr lang="ro-RO" dirty="0"/>
              <a:t> dimensiune1 = </a:t>
            </a:r>
            <a:r>
              <a:rPr lang="ro-RO" dirty="0" err="1"/>
              <a:t>multiTablou</a:t>
            </a:r>
            <a:r>
              <a:rPr lang="ro-RO" dirty="0"/>
              <a:t>[2].</a:t>
            </a:r>
            <a:r>
              <a:rPr lang="ro-RO" dirty="0" err="1"/>
              <a:t>length</a:t>
            </a:r>
            <a:r>
              <a:rPr lang="ro-RO" dirty="0"/>
              <a:t>;     // dimensiune1 </a:t>
            </a:r>
            <a:r>
              <a:rPr lang="ro-RO" dirty="0" err="1"/>
              <a:t>primeşte</a:t>
            </a:r>
            <a:r>
              <a:rPr lang="ro-RO" dirty="0"/>
              <a:t> valoarea 4</a:t>
            </a:r>
          </a:p>
          <a:p>
            <a:r>
              <a:rPr lang="ro-RO" dirty="0" err="1"/>
              <a:t>int</a:t>
            </a:r>
            <a:r>
              <a:rPr lang="ro-RO" dirty="0"/>
              <a:t> dimensiune2 = </a:t>
            </a:r>
            <a:r>
              <a:rPr lang="ro-RO" dirty="0" err="1"/>
              <a:t>multiTablou.length</a:t>
            </a:r>
            <a:r>
              <a:rPr lang="ro-RO" dirty="0"/>
              <a:t>;         // dimensiune2 </a:t>
            </a:r>
            <a:r>
              <a:rPr lang="ro-RO" dirty="0" err="1"/>
              <a:t>primeşte</a:t>
            </a:r>
            <a:r>
              <a:rPr lang="ro-RO" dirty="0"/>
              <a:t> valoarea 3 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0590057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Referirea elementelor din tablou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err="1"/>
              <a:t>int</a:t>
            </a:r>
            <a:r>
              <a:rPr lang="ro-RO" dirty="0"/>
              <a:t> []tablou = </a:t>
            </a:r>
            <a:r>
              <a:rPr lang="ro-RO" dirty="0" err="1"/>
              <a:t>new</a:t>
            </a:r>
            <a:r>
              <a:rPr lang="ro-RO" dirty="0"/>
              <a:t> </a:t>
            </a:r>
            <a:r>
              <a:rPr lang="ro-RO" dirty="0" err="1"/>
              <a:t>int</a:t>
            </a:r>
            <a:r>
              <a:rPr lang="ro-RO" dirty="0"/>
              <a:t>[10];</a:t>
            </a:r>
          </a:p>
          <a:p>
            <a:r>
              <a:rPr lang="ro-RO" dirty="0"/>
              <a:t>tablou[3] = 1;</a:t>
            </a:r>
          </a:p>
          <a:p>
            <a:r>
              <a:rPr lang="ro-RO" dirty="0"/>
              <a:t>// al patrulea element </a:t>
            </a:r>
            <a:r>
              <a:rPr lang="ro-RO" dirty="0" err="1"/>
              <a:t>primeşte</a:t>
            </a:r>
            <a:r>
              <a:rPr lang="ro-RO" dirty="0"/>
              <a:t> valoarea 1</a:t>
            </a:r>
          </a:p>
          <a:p>
            <a:r>
              <a:rPr lang="ro-RO" dirty="0" err="1"/>
              <a:t>float</a:t>
            </a:r>
            <a:r>
              <a:rPr lang="ro-RO" dirty="0"/>
              <a:t> [][]reali = </a:t>
            </a:r>
            <a:r>
              <a:rPr lang="ro-RO" dirty="0" err="1"/>
              <a:t>new</a:t>
            </a:r>
            <a:r>
              <a:rPr lang="ro-RO" dirty="0"/>
              <a:t> </a:t>
            </a:r>
            <a:r>
              <a:rPr lang="ro-RO" dirty="0" err="1"/>
              <a:t>float</a:t>
            </a:r>
            <a:r>
              <a:rPr lang="ro-RO" dirty="0"/>
              <a:t>[3][4];</a:t>
            </a:r>
          </a:p>
          <a:p>
            <a:r>
              <a:rPr lang="ro-RO" dirty="0"/>
              <a:t>reali[2][3] = 1.0f;</a:t>
            </a:r>
          </a:p>
          <a:p>
            <a:r>
              <a:rPr lang="ro-RO" dirty="0"/>
              <a:t>// al patrulea element din al treilea tablou</a:t>
            </a:r>
          </a:p>
          <a:p>
            <a:r>
              <a:rPr lang="ro-RO" dirty="0"/>
              <a:t>// </a:t>
            </a:r>
            <a:r>
              <a:rPr lang="ro-RO" dirty="0" err="1"/>
              <a:t>primeşte</a:t>
            </a:r>
            <a:r>
              <a:rPr lang="ro-RO" dirty="0"/>
              <a:t> valoarea 1</a:t>
            </a:r>
          </a:p>
          <a:p>
            <a:r>
              <a:rPr lang="en-US" dirty="0"/>
              <a:t>char [][]</a:t>
            </a:r>
            <a:r>
              <a:rPr lang="en-US" dirty="0" err="1"/>
              <a:t>caractere</a:t>
            </a:r>
            <a:r>
              <a:rPr lang="en-US" dirty="0"/>
              <a:t> = new char [5][];</a:t>
            </a:r>
            <a:endParaRPr lang="ro-RO" dirty="0"/>
          </a:p>
        </p:txBody>
      </p:sp>
      <p:pic>
        <p:nvPicPr>
          <p:cNvPr id="17410" name="Picture 2" descr="cap51_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644" y="4755325"/>
            <a:ext cx="4995604" cy="756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7544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7766" y="2315291"/>
            <a:ext cx="10058400" cy="4023360"/>
          </a:xfrm>
        </p:spPr>
        <p:txBody>
          <a:bodyPr/>
          <a:lstStyle/>
          <a:p>
            <a:r>
              <a:rPr lang="ro-RO" dirty="0"/>
              <a:t>Variabila </a:t>
            </a:r>
            <a:r>
              <a:rPr lang="ro-RO" dirty="0" err="1"/>
              <a:t>referinţă</a:t>
            </a:r>
            <a:r>
              <a:rPr lang="ro-RO" dirty="0"/>
              <a:t> numită caractere </a:t>
            </a:r>
            <a:r>
              <a:rPr lang="ro-RO" dirty="0" err="1"/>
              <a:t>conţine</a:t>
            </a:r>
            <a:r>
              <a:rPr lang="ro-RO" dirty="0"/>
              <a:t> deocamdată un tablou de 5 </a:t>
            </a:r>
            <a:r>
              <a:rPr lang="ro-RO" dirty="0" err="1"/>
              <a:t>referinţe</a:t>
            </a:r>
            <a:r>
              <a:rPr lang="ro-RO" dirty="0"/>
              <a:t> la tablouri de caractere. Cele cinci </a:t>
            </a:r>
            <a:r>
              <a:rPr lang="ro-RO" dirty="0" err="1"/>
              <a:t>referinţe</a:t>
            </a:r>
            <a:r>
              <a:rPr lang="ro-RO" dirty="0"/>
              <a:t> sunt </a:t>
            </a:r>
            <a:r>
              <a:rPr lang="ro-RO" dirty="0" err="1"/>
              <a:t>iniţializate</a:t>
            </a:r>
            <a:r>
              <a:rPr lang="ro-RO" dirty="0"/>
              <a:t> cu </a:t>
            </a:r>
            <a:r>
              <a:rPr lang="ro-RO" dirty="0" err="1"/>
              <a:t>null</a:t>
            </a:r>
            <a:r>
              <a:rPr lang="ro-RO" dirty="0"/>
              <a:t>. Putem </a:t>
            </a:r>
            <a:r>
              <a:rPr lang="ro-RO" dirty="0" err="1"/>
              <a:t>iniţializa</a:t>
            </a:r>
            <a:r>
              <a:rPr lang="ro-RO" dirty="0"/>
              <a:t> aceste tablouri prin atribuiri de expresii de alocare:</a:t>
            </a:r>
          </a:p>
          <a:p>
            <a:r>
              <a:rPr lang="ro-RO" dirty="0"/>
              <a:t>caractere[0] = </a:t>
            </a:r>
            <a:r>
              <a:rPr lang="ro-RO" dirty="0" err="1"/>
              <a:t>new</a:t>
            </a:r>
            <a:r>
              <a:rPr lang="ro-RO" dirty="0"/>
              <a:t> </a:t>
            </a:r>
            <a:r>
              <a:rPr lang="ro-RO" dirty="0" err="1"/>
              <a:t>char</a:t>
            </a:r>
            <a:r>
              <a:rPr lang="ro-RO" dirty="0"/>
              <a:t> [3];</a:t>
            </a:r>
          </a:p>
          <a:p>
            <a:r>
              <a:rPr lang="ro-RO" dirty="0"/>
              <a:t>caractere[4] = </a:t>
            </a:r>
            <a:r>
              <a:rPr lang="ro-RO" dirty="0" err="1"/>
              <a:t>new</a:t>
            </a:r>
            <a:r>
              <a:rPr lang="ro-RO" dirty="0"/>
              <a:t> </a:t>
            </a:r>
            <a:r>
              <a:rPr lang="ro-RO" dirty="0" err="1"/>
              <a:t>char</a:t>
            </a:r>
            <a:r>
              <a:rPr lang="ro-RO" dirty="0"/>
              <a:t> [5</a:t>
            </a:r>
            <a:r>
              <a:rPr lang="ro-RO" dirty="0" smtClean="0"/>
              <a:t>];</a:t>
            </a:r>
          </a:p>
          <a:p>
            <a:endParaRPr lang="ro-RO" dirty="0" smtClean="0"/>
          </a:p>
          <a:p>
            <a:r>
              <a:rPr lang="ro-RO" dirty="0" smtClean="0"/>
              <a:t>La </a:t>
            </a:r>
            <a:r>
              <a:rPr lang="ro-RO" dirty="0"/>
              <a:t>fel, putem scrie:</a:t>
            </a:r>
          </a:p>
          <a:p>
            <a:r>
              <a:rPr lang="ro-RO" dirty="0" err="1"/>
              <a:t>char</a:t>
            </a:r>
            <a:r>
              <a:rPr lang="ro-RO" dirty="0"/>
              <a:t> []</a:t>
            </a:r>
            <a:r>
              <a:rPr lang="ro-RO" dirty="0" err="1"/>
              <a:t>tablouDeCaractere</a:t>
            </a:r>
            <a:r>
              <a:rPr lang="ro-RO" dirty="0"/>
              <a:t> = caractere[0];</a:t>
            </a:r>
          </a:p>
          <a:p>
            <a:endParaRPr lang="ro-RO" dirty="0"/>
          </a:p>
          <a:p>
            <a:endParaRPr lang="ro-RO" dirty="0"/>
          </a:p>
        </p:txBody>
      </p:sp>
      <p:pic>
        <p:nvPicPr>
          <p:cNvPr id="18434" name="Picture 2" descr="cap51_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8871" y="2871531"/>
            <a:ext cx="3752850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 descr="cap51_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66" y="5013941"/>
            <a:ext cx="3752850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387198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/>
              <a:t>Alocarea </a:t>
            </a:r>
            <a:r>
              <a:rPr lang="ro-RO" b="1" dirty="0" err="1"/>
              <a:t>şi</a:t>
            </a:r>
            <a:r>
              <a:rPr lang="ro-RO" b="1" dirty="0"/>
              <a:t> eliberarea tablourilor</a:t>
            </a:r>
            <a:br>
              <a:rPr lang="ro-RO" b="1" dirty="0"/>
            </a:b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 exemplu:</a:t>
            </a:r>
          </a:p>
          <a:p>
            <a:r>
              <a:rPr lang="ro-RO" dirty="0" err="1"/>
              <a:t>float</a:t>
            </a:r>
            <a:r>
              <a:rPr lang="ro-RO" dirty="0"/>
              <a:t> []reali = </a:t>
            </a:r>
            <a:r>
              <a:rPr lang="ro-RO" dirty="0" err="1"/>
              <a:t>new</a:t>
            </a:r>
            <a:r>
              <a:rPr lang="ro-RO" dirty="0"/>
              <a:t> </a:t>
            </a:r>
            <a:r>
              <a:rPr lang="ro-RO" dirty="0" err="1"/>
              <a:t>float</a:t>
            </a:r>
            <a:r>
              <a:rPr lang="ro-RO" dirty="0"/>
              <a:t>[10];</a:t>
            </a:r>
          </a:p>
          <a:p>
            <a:endParaRPr lang="ro-RO" dirty="0"/>
          </a:p>
          <a:p>
            <a:r>
              <a:rPr lang="ro-RO" dirty="0"/>
              <a:t>reali = </a:t>
            </a:r>
            <a:r>
              <a:rPr lang="ro-RO" dirty="0" err="1"/>
              <a:t>null</a:t>
            </a:r>
            <a:r>
              <a:rPr lang="ro-RO" dirty="0"/>
              <a:t>; // eliberarea tabloului</a:t>
            </a:r>
          </a:p>
          <a:p>
            <a:r>
              <a:rPr lang="ro-RO" dirty="0"/>
              <a:t>sau</a:t>
            </a:r>
          </a:p>
          <a:p>
            <a:r>
              <a:rPr lang="ro-RO" dirty="0"/>
              <a:t>reali = </a:t>
            </a:r>
            <a:r>
              <a:rPr lang="ro-RO" dirty="0" err="1"/>
              <a:t>new</a:t>
            </a:r>
            <a:r>
              <a:rPr lang="ro-RO" dirty="0"/>
              <a:t> </a:t>
            </a:r>
            <a:r>
              <a:rPr lang="ro-RO" dirty="0" err="1"/>
              <a:t>float</a:t>
            </a:r>
            <a:r>
              <a:rPr lang="ro-RO" dirty="0"/>
              <a:t>[15]; // eliberarea în alt fel</a:t>
            </a:r>
          </a:p>
          <a:p>
            <a:r>
              <a:rPr lang="ro-RO" dirty="0"/>
              <a:t>sau</a:t>
            </a:r>
          </a:p>
          <a:p>
            <a:r>
              <a:rPr lang="ro-RO" dirty="0"/>
              <a:t>{</a:t>
            </a:r>
          </a:p>
          <a:p>
            <a:r>
              <a:rPr lang="ro-RO" dirty="0" err="1"/>
              <a:t>float</a:t>
            </a:r>
            <a:r>
              <a:rPr lang="ro-RO" dirty="0"/>
              <a:t> []reali = </a:t>
            </a:r>
            <a:r>
              <a:rPr lang="ro-RO" dirty="0" err="1"/>
              <a:t>new</a:t>
            </a:r>
            <a:r>
              <a:rPr lang="ro-RO" dirty="0"/>
              <a:t> </a:t>
            </a:r>
            <a:r>
              <a:rPr lang="ro-RO" dirty="0" err="1"/>
              <a:t>float</a:t>
            </a:r>
            <a:r>
              <a:rPr lang="ro-RO" dirty="0"/>
              <a:t>[10];</a:t>
            </a:r>
          </a:p>
          <a:p>
            <a:endParaRPr lang="ro-RO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336908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 smtClean="0"/>
              <a:t>Conversii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b="1" dirty="0"/>
              <a:t>Conversii de extindere a valorii</a:t>
            </a:r>
            <a:endParaRPr lang="ro-RO" dirty="0"/>
          </a:p>
          <a:p>
            <a:r>
              <a:rPr lang="ro-RO" dirty="0"/>
              <a:t>În aceste conversii valoarea se reprezintă într-o zonă mai mare fără să se piardă nici un fel de </a:t>
            </a:r>
            <a:r>
              <a:rPr lang="ro-RO" dirty="0" err="1"/>
              <a:t>informaţii</a:t>
            </a:r>
            <a:r>
              <a:rPr lang="ro-RO" dirty="0"/>
              <a:t>. Iată conversiile de extindere pe tipuri primitive: </a:t>
            </a:r>
          </a:p>
          <a:p>
            <a:r>
              <a:rPr lang="ro-RO" dirty="0"/>
              <a:t>•	byte la </a:t>
            </a:r>
            <a:r>
              <a:rPr lang="ro-RO" dirty="0" err="1"/>
              <a:t>short</a:t>
            </a:r>
            <a:r>
              <a:rPr lang="ro-RO" dirty="0"/>
              <a:t>, </a:t>
            </a:r>
            <a:r>
              <a:rPr lang="ro-RO" dirty="0" err="1"/>
              <a:t>int</a:t>
            </a:r>
            <a:r>
              <a:rPr lang="ro-RO" dirty="0"/>
              <a:t>, </a:t>
            </a:r>
            <a:r>
              <a:rPr lang="ro-RO" dirty="0" err="1"/>
              <a:t>long</a:t>
            </a:r>
            <a:r>
              <a:rPr lang="ro-RO" dirty="0"/>
              <a:t>, </a:t>
            </a:r>
            <a:r>
              <a:rPr lang="ro-RO" dirty="0" err="1"/>
              <a:t>float</a:t>
            </a:r>
            <a:r>
              <a:rPr lang="ro-RO" dirty="0"/>
              <a:t> sau </a:t>
            </a:r>
            <a:r>
              <a:rPr lang="ro-RO" dirty="0" err="1"/>
              <a:t>double</a:t>
            </a:r>
            <a:r>
              <a:rPr lang="ro-RO" dirty="0"/>
              <a:t> </a:t>
            </a:r>
          </a:p>
          <a:p>
            <a:r>
              <a:rPr lang="ro-RO" dirty="0"/>
              <a:t>•	</a:t>
            </a:r>
            <a:r>
              <a:rPr lang="ro-RO" dirty="0" err="1"/>
              <a:t>short</a:t>
            </a:r>
            <a:r>
              <a:rPr lang="ro-RO" dirty="0"/>
              <a:t> la </a:t>
            </a:r>
            <a:r>
              <a:rPr lang="ro-RO" dirty="0" err="1"/>
              <a:t>int</a:t>
            </a:r>
            <a:r>
              <a:rPr lang="ro-RO" dirty="0"/>
              <a:t>, </a:t>
            </a:r>
            <a:r>
              <a:rPr lang="ro-RO" dirty="0" err="1"/>
              <a:t>long</a:t>
            </a:r>
            <a:r>
              <a:rPr lang="ro-RO" dirty="0"/>
              <a:t>, </a:t>
            </a:r>
            <a:r>
              <a:rPr lang="ro-RO" dirty="0" err="1"/>
              <a:t>float</a:t>
            </a:r>
            <a:r>
              <a:rPr lang="ro-RO" dirty="0"/>
              <a:t> sau </a:t>
            </a:r>
            <a:r>
              <a:rPr lang="ro-RO" dirty="0" err="1"/>
              <a:t>double</a:t>
            </a:r>
            <a:r>
              <a:rPr lang="ro-RO" dirty="0"/>
              <a:t> </a:t>
            </a:r>
          </a:p>
          <a:p>
            <a:r>
              <a:rPr lang="ro-RO" dirty="0"/>
              <a:t>•	</a:t>
            </a:r>
            <a:r>
              <a:rPr lang="ro-RO" dirty="0" err="1"/>
              <a:t>char</a:t>
            </a:r>
            <a:r>
              <a:rPr lang="ro-RO" dirty="0"/>
              <a:t> la </a:t>
            </a:r>
            <a:r>
              <a:rPr lang="ro-RO" dirty="0" err="1"/>
              <a:t>int</a:t>
            </a:r>
            <a:r>
              <a:rPr lang="ro-RO" dirty="0"/>
              <a:t>, </a:t>
            </a:r>
            <a:r>
              <a:rPr lang="ro-RO" dirty="0" err="1"/>
              <a:t>long</a:t>
            </a:r>
            <a:r>
              <a:rPr lang="ro-RO" dirty="0"/>
              <a:t>, </a:t>
            </a:r>
            <a:r>
              <a:rPr lang="ro-RO" dirty="0" err="1"/>
              <a:t>float</a:t>
            </a:r>
            <a:r>
              <a:rPr lang="ro-RO" dirty="0"/>
              <a:t> sau </a:t>
            </a:r>
            <a:r>
              <a:rPr lang="ro-RO" dirty="0" err="1"/>
              <a:t>double</a:t>
            </a:r>
            <a:r>
              <a:rPr lang="ro-RO" dirty="0"/>
              <a:t> </a:t>
            </a:r>
          </a:p>
          <a:p>
            <a:r>
              <a:rPr lang="ro-RO" dirty="0"/>
              <a:t>•	</a:t>
            </a:r>
            <a:r>
              <a:rPr lang="ro-RO" dirty="0" err="1"/>
              <a:t>int</a:t>
            </a:r>
            <a:r>
              <a:rPr lang="ro-RO" dirty="0"/>
              <a:t> la </a:t>
            </a:r>
            <a:r>
              <a:rPr lang="ro-RO" dirty="0" err="1"/>
              <a:t>long</a:t>
            </a:r>
            <a:r>
              <a:rPr lang="ro-RO" dirty="0"/>
              <a:t>, </a:t>
            </a:r>
            <a:r>
              <a:rPr lang="ro-RO" dirty="0" err="1"/>
              <a:t>float</a:t>
            </a:r>
            <a:r>
              <a:rPr lang="ro-RO" dirty="0"/>
              <a:t> sau </a:t>
            </a:r>
            <a:r>
              <a:rPr lang="ro-RO" dirty="0" err="1"/>
              <a:t>double</a:t>
            </a:r>
            <a:r>
              <a:rPr lang="ro-RO" dirty="0"/>
              <a:t> </a:t>
            </a:r>
          </a:p>
          <a:p>
            <a:r>
              <a:rPr lang="ro-RO" dirty="0"/>
              <a:t>•	</a:t>
            </a:r>
            <a:r>
              <a:rPr lang="ro-RO" dirty="0" err="1"/>
              <a:t>long</a:t>
            </a:r>
            <a:r>
              <a:rPr lang="ro-RO" dirty="0"/>
              <a:t> la </a:t>
            </a:r>
            <a:r>
              <a:rPr lang="ro-RO" dirty="0" err="1"/>
              <a:t>float</a:t>
            </a:r>
            <a:r>
              <a:rPr lang="ro-RO" dirty="0"/>
              <a:t> sau </a:t>
            </a:r>
            <a:r>
              <a:rPr lang="ro-RO" dirty="0" err="1"/>
              <a:t>double</a:t>
            </a:r>
            <a:r>
              <a:rPr lang="ro-RO" dirty="0"/>
              <a:t> </a:t>
            </a:r>
          </a:p>
          <a:p>
            <a:r>
              <a:rPr lang="ro-RO" dirty="0"/>
              <a:t>•	</a:t>
            </a:r>
            <a:r>
              <a:rPr lang="ro-RO" dirty="0" err="1"/>
              <a:t>float</a:t>
            </a:r>
            <a:r>
              <a:rPr lang="ro-RO" dirty="0"/>
              <a:t> la </a:t>
            </a:r>
            <a:r>
              <a:rPr lang="ro-RO" dirty="0" err="1"/>
              <a:t>double</a:t>
            </a:r>
            <a:r>
              <a:rPr lang="ro-RO" dirty="0"/>
              <a:t> 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3060783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/>
              <a:t>Conversii de trunchiere a </a:t>
            </a:r>
            <a:r>
              <a:rPr lang="ro-RO" b="1" dirty="0" smtClean="0"/>
              <a:t>valorii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 dirty="0" err="1"/>
              <a:t>Convenţiile</a:t>
            </a:r>
            <a:r>
              <a:rPr lang="ro-RO" dirty="0"/>
              <a:t> de trunchiere a valorii pot produce pierderi de </a:t>
            </a:r>
            <a:r>
              <a:rPr lang="ro-RO" dirty="0" err="1"/>
              <a:t>informaţie</a:t>
            </a:r>
            <a:r>
              <a:rPr lang="ro-RO" dirty="0"/>
              <a:t> pentru că ele convertesc tipuri mai bogate în </a:t>
            </a:r>
            <a:r>
              <a:rPr lang="ro-RO" dirty="0" err="1"/>
              <a:t>informaţii</a:t>
            </a:r>
            <a:r>
              <a:rPr lang="ro-RO" dirty="0"/>
              <a:t> către tipuri mai sărace. Conversiile de trunchiere pe tipurile elementare sunt următoarele: </a:t>
            </a:r>
          </a:p>
          <a:p>
            <a:r>
              <a:rPr lang="ro-RO" dirty="0"/>
              <a:t>•	byte la </a:t>
            </a:r>
            <a:r>
              <a:rPr lang="ro-RO" dirty="0" err="1"/>
              <a:t>char</a:t>
            </a:r>
            <a:r>
              <a:rPr lang="ro-RO" dirty="0"/>
              <a:t> </a:t>
            </a:r>
          </a:p>
          <a:p>
            <a:r>
              <a:rPr lang="ro-RO" dirty="0"/>
              <a:t>•	</a:t>
            </a:r>
            <a:r>
              <a:rPr lang="ro-RO" dirty="0" err="1"/>
              <a:t>short</a:t>
            </a:r>
            <a:r>
              <a:rPr lang="ro-RO" dirty="0"/>
              <a:t> la byte sau </a:t>
            </a:r>
            <a:r>
              <a:rPr lang="ro-RO" dirty="0" err="1"/>
              <a:t>char</a:t>
            </a:r>
            <a:r>
              <a:rPr lang="ro-RO" dirty="0"/>
              <a:t> </a:t>
            </a:r>
          </a:p>
          <a:p>
            <a:r>
              <a:rPr lang="ro-RO" dirty="0"/>
              <a:t>•	</a:t>
            </a:r>
            <a:r>
              <a:rPr lang="ro-RO" dirty="0" err="1"/>
              <a:t>char</a:t>
            </a:r>
            <a:r>
              <a:rPr lang="ro-RO" dirty="0"/>
              <a:t> la byte sau </a:t>
            </a:r>
            <a:r>
              <a:rPr lang="ro-RO" dirty="0" err="1"/>
              <a:t>short</a:t>
            </a:r>
            <a:r>
              <a:rPr lang="ro-RO" dirty="0"/>
              <a:t> </a:t>
            </a:r>
          </a:p>
          <a:p>
            <a:r>
              <a:rPr lang="ro-RO" dirty="0"/>
              <a:t>•	</a:t>
            </a:r>
            <a:r>
              <a:rPr lang="ro-RO" dirty="0" err="1"/>
              <a:t>int</a:t>
            </a:r>
            <a:r>
              <a:rPr lang="ro-RO" dirty="0"/>
              <a:t> la byte, </a:t>
            </a:r>
            <a:r>
              <a:rPr lang="ro-RO" dirty="0" err="1"/>
              <a:t>short</a:t>
            </a:r>
            <a:r>
              <a:rPr lang="ro-RO" dirty="0"/>
              <a:t> sau </a:t>
            </a:r>
            <a:r>
              <a:rPr lang="ro-RO" dirty="0" err="1"/>
              <a:t>char</a:t>
            </a:r>
            <a:r>
              <a:rPr lang="ro-RO" dirty="0"/>
              <a:t> </a:t>
            </a:r>
          </a:p>
          <a:p>
            <a:r>
              <a:rPr lang="ro-RO" dirty="0"/>
              <a:t>•	</a:t>
            </a:r>
            <a:r>
              <a:rPr lang="ro-RO" dirty="0" err="1"/>
              <a:t>long</a:t>
            </a:r>
            <a:r>
              <a:rPr lang="ro-RO" dirty="0"/>
              <a:t> la byte, </a:t>
            </a:r>
            <a:r>
              <a:rPr lang="ro-RO" dirty="0" err="1"/>
              <a:t>short</a:t>
            </a:r>
            <a:r>
              <a:rPr lang="ro-RO" dirty="0"/>
              <a:t> </a:t>
            </a:r>
            <a:r>
              <a:rPr lang="ro-RO" dirty="0" err="1"/>
              <a:t>char</a:t>
            </a:r>
            <a:r>
              <a:rPr lang="ro-RO" dirty="0"/>
              <a:t>, sau </a:t>
            </a:r>
            <a:r>
              <a:rPr lang="ro-RO" dirty="0" err="1"/>
              <a:t>int</a:t>
            </a:r>
            <a:r>
              <a:rPr lang="ro-RO" dirty="0"/>
              <a:t> </a:t>
            </a:r>
          </a:p>
          <a:p>
            <a:r>
              <a:rPr lang="ro-RO" dirty="0"/>
              <a:t>•	</a:t>
            </a:r>
            <a:r>
              <a:rPr lang="ro-RO" dirty="0" err="1"/>
              <a:t>float</a:t>
            </a:r>
            <a:r>
              <a:rPr lang="ro-RO" dirty="0"/>
              <a:t> la byte, </a:t>
            </a:r>
            <a:r>
              <a:rPr lang="ro-RO" dirty="0" err="1"/>
              <a:t>short</a:t>
            </a:r>
            <a:r>
              <a:rPr lang="ro-RO" dirty="0"/>
              <a:t>, </a:t>
            </a:r>
            <a:r>
              <a:rPr lang="ro-RO" dirty="0" err="1"/>
              <a:t>char</a:t>
            </a:r>
            <a:r>
              <a:rPr lang="ro-RO" dirty="0"/>
              <a:t>, </a:t>
            </a:r>
            <a:r>
              <a:rPr lang="ro-RO" dirty="0" err="1"/>
              <a:t>int</a:t>
            </a:r>
            <a:r>
              <a:rPr lang="ro-RO" dirty="0"/>
              <a:t> sau </a:t>
            </a:r>
            <a:r>
              <a:rPr lang="ro-RO" dirty="0" err="1"/>
              <a:t>long</a:t>
            </a:r>
            <a:r>
              <a:rPr lang="ro-RO" dirty="0"/>
              <a:t> </a:t>
            </a:r>
          </a:p>
          <a:p>
            <a:r>
              <a:rPr lang="ro-RO" dirty="0"/>
              <a:t>•	</a:t>
            </a:r>
            <a:r>
              <a:rPr lang="ro-RO" dirty="0" err="1"/>
              <a:t>double</a:t>
            </a:r>
            <a:r>
              <a:rPr lang="ro-RO" dirty="0"/>
              <a:t> la byte, </a:t>
            </a:r>
            <a:r>
              <a:rPr lang="ro-RO" dirty="0" err="1"/>
              <a:t>short</a:t>
            </a:r>
            <a:r>
              <a:rPr lang="ro-RO" dirty="0"/>
              <a:t>, </a:t>
            </a:r>
            <a:r>
              <a:rPr lang="ro-RO" dirty="0" err="1"/>
              <a:t>char</a:t>
            </a:r>
            <a:r>
              <a:rPr lang="ro-RO" dirty="0"/>
              <a:t>, </a:t>
            </a:r>
            <a:r>
              <a:rPr lang="ro-RO" dirty="0" err="1"/>
              <a:t>int</a:t>
            </a:r>
            <a:r>
              <a:rPr lang="ro-RO" dirty="0"/>
              <a:t>, </a:t>
            </a:r>
            <a:r>
              <a:rPr lang="ro-RO" dirty="0" err="1"/>
              <a:t>long</a:t>
            </a:r>
            <a:r>
              <a:rPr lang="ro-RO" dirty="0"/>
              <a:t> sau </a:t>
            </a:r>
            <a:r>
              <a:rPr lang="ro-RO" dirty="0" err="1"/>
              <a:t>float</a:t>
            </a:r>
            <a:r>
              <a:rPr lang="ro-RO" dirty="0"/>
              <a:t>. 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6532132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Conversii pe tipuri </a:t>
            </a:r>
            <a:r>
              <a:rPr lang="ro-RO" dirty="0" err="1"/>
              <a:t>referinţă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 dirty="0"/>
              <a:t>Limbajul Java </a:t>
            </a:r>
            <a:r>
              <a:rPr lang="ro-RO" dirty="0" err="1"/>
              <a:t>defineşte</a:t>
            </a:r>
            <a:r>
              <a:rPr lang="ro-RO" dirty="0"/>
              <a:t> extrem de strict conversiile posibile în cazul tipurilor </a:t>
            </a:r>
            <a:r>
              <a:rPr lang="ro-RO" dirty="0" err="1"/>
              <a:t>referinţă</a:t>
            </a:r>
            <a:r>
              <a:rPr lang="ro-RO" dirty="0"/>
              <a:t> pentru a salva programatorul de eventualele necazuri care pot apare în timpul </a:t>
            </a:r>
            <a:r>
              <a:rPr lang="ro-RO" dirty="0" err="1"/>
              <a:t>execuţiei</a:t>
            </a:r>
            <a:r>
              <a:rPr lang="ro-RO" dirty="0"/>
              <a:t>. Iată conversiile posibile: </a:t>
            </a:r>
          </a:p>
          <a:p>
            <a:r>
              <a:rPr lang="ro-RO" dirty="0"/>
              <a:t>•	O </a:t>
            </a:r>
            <a:r>
              <a:rPr lang="ro-RO" dirty="0" err="1"/>
              <a:t>referinţă</a:t>
            </a:r>
            <a:r>
              <a:rPr lang="ro-RO" dirty="0"/>
              <a:t> către un obiect </a:t>
            </a:r>
            <a:r>
              <a:rPr lang="ro-RO" dirty="0" err="1"/>
              <a:t>aparţinând</a:t>
            </a:r>
            <a:r>
              <a:rPr lang="ro-RO" dirty="0"/>
              <a:t> unei clase C poate fi convertit la o </a:t>
            </a:r>
            <a:r>
              <a:rPr lang="ro-RO" dirty="0" err="1"/>
              <a:t>referinţă</a:t>
            </a:r>
            <a:r>
              <a:rPr lang="ro-RO" dirty="0"/>
              <a:t> către un obiect </a:t>
            </a:r>
            <a:r>
              <a:rPr lang="ro-RO" dirty="0" err="1"/>
              <a:t>aparţinând</a:t>
            </a:r>
            <a:r>
              <a:rPr lang="ro-RO" dirty="0"/>
              <a:t> clasei S doar în cazul în care C este chiar S sau C este derivată direct sau indirect din S. </a:t>
            </a:r>
          </a:p>
          <a:p>
            <a:r>
              <a:rPr lang="ro-RO" dirty="0"/>
              <a:t>•	O </a:t>
            </a:r>
            <a:r>
              <a:rPr lang="ro-RO" dirty="0" err="1"/>
              <a:t>referinţă</a:t>
            </a:r>
            <a:r>
              <a:rPr lang="ro-RO" dirty="0"/>
              <a:t> către un obiect </a:t>
            </a:r>
            <a:r>
              <a:rPr lang="ro-RO" dirty="0" err="1"/>
              <a:t>aparţinând</a:t>
            </a:r>
            <a:r>
              <a:rPr lang="ro-RO" dirty="0"/>
              <a:t> unei clase C poate fi convertit către o </a:t>
            </a:r>
            <a:r>
              <a:rPr lang="ro-RO" dirty="0" err="1"/>
              <a:t>referinţă</a:t>
            </a:r>
            <a:r>
              <a:rPr lang="ro-RO" dirty="0"/>
              <a:t> de </a:t>
            </a:r>
            <a:r>
              <a:rPr lang="ro-RO" dirty="0" err="1"/>
              <a:t>interfaţă</a:t>
            </a:r>
            <a:r>
              <a:rPr lang="ro-RO" dirty="0"/>
              <a:t> I numai dacă clasa C implementează </a:t>
            </a:r>
            <a:r>
              <a:rPr lang="ro-RO" dirty="0" err="1"/>
              <a:t>interfaţa</a:t>
            </a:r>
            <a:r>
              <a:rPr lang="ro-RO" dirty="0"/>
              <a:t> I. </a:t>
            </a:r>
          </a:p>
          <a:p>
            <a:r>
              <a:rPr lang="ro-RO" dirty="0"/>
              <a:t>•	O </a:t>
            </a:r>
            <a:r>
              <a:rPr lang="ro-RO" dirty="0" err="1"/>
              <a:t>referinţă</a:t>
            </a:r>
            <a:r>
              <a:rPr lang="ro-RO" dirty="0"/>
              <a:t> către un tablou poate fi convertită la o </a:t>
            </a:r>
            <a:r>
              <a:rPr lang="ro-RO" dirty="0" err="1"/>
              <a:t>referinţă</a:t>
            </a:r>
            <a:r>
              <a:rPr lang="ro-RO" dirty="0"/>
              <a:t> către o clasă numai dacă clasa respectivă este clasa </a:t>
            </a:r>
            <a:r>
              <a:rPr lang="ro-RO" dirty="0" err="1"/>
              <a:t>Object</a:t>
            </a:r>
            <a:r>
              <a:rPr lang="ro-RO" dirty="0"/>
              <a:t>. </a:t>
            </a:r>
          </a:p>
          <a:p>
            <a:r>
              <a:rPr lang="ro-RO" dirty="0"/>
              <a:t>•	O </a:t>
            </a:r>
            <a:r>
              <a:rPr lang="ro-RO" dirty="0" err="1"/>
              <a:t>referinţă</a:t>
            </a:r>
            <a:r>
              <a:rPr lang="ro-RO" dirty="0"/>
              <a:t> către un tablou de elemente ale cărui elemente sunt de tipul T1 poate fi convertită la o </a:t>
            </a:r>
            <a:r>
              <a:rPr lang="ro-RO" dirty="0" err="1"/>
              <a:t>referinţă</a:t>
            </a:r>
            <a:r>
              <a:rPr lang="ro-RO" dirty="0"/>
              <a:t> către un tablou de elemente de tip T2 numai dacă T1 </a:t>
            </a:r>
            <a:r>
              <a:rPr lang="ro-RO" dirty="0" err="1"/>
              <a:t>şi</a:t>
            </a:r>
            <a:r>
              <a:rPr lang="ro-RO" dirty="0"/>
              <a:t> T2 reprezintă </a:t>
            </a:r>
            <a:r>
              <a:rPr lang="ro-RO" dirty="0" err="1"/>
              <a:t>acelaşi</a:t>
            </a:r>
            <a:r>
              <a:rPr lang="ro-RO" dirty="0"/>
              <a:t> tip primitiv sau T2 este un tip </a:t>
            </a:r>
            <a:r>
              <a:rPr lang="ro-RO" dirty="0" err="1"/>
              <a:t>referinţă</a:t>
            </a:r>
            <a:r>
              <a:rPr lang="ro-RO" dirty="0"/>
              <a:t> </a:t>
            </a:r>
            <a:r>
              <a:rPr lang="ro-RO" dirty="0" err="1"/>
              <a:t>şi</a:t>
            </a:r>
            <a:r>
              <a:rPr lang="ro-RO" dirty="0"/>
              <a:t> T1 poate fi convertit către T2. 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6197486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Conversii la </a:t>
            </a:r>
            <a:r>
              <a:rPr lang="ro-RO" dirty="0" err="1"/>
              <a:t>operaţia</a:t>
            </a:r>
            <a:r>
              <a:rPr lang="ro-RO" dirty="0"/>
              <a:t> de atribuire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1199047"/>
              </p:ext>
            </p:extLst>
          </p:nvPr>
        </p:nvGraphicFramePr>
        <p:xfrm>
          <a:off x="866304" y="2092411"/>
          <a:ext cx="10058400" cy="38175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7600"/>
                <a:gridCol w="1117600"/>
                <a:gridCol w="1117600"/>
                <a:gridCol w="1117600"/>
                <a:gridCol w="1117600"/>
                <a:gridCol w="1117600"/>
                <a:gridCol w="1117600"/>
                <a:gridCol w="1117600"/>
                <a:gridCol w="1117600"/>
              </a:tblGrid>
              <a:tr h="6171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o-RO" sz="3200">
                          <a:effectLst/>
                        </a:rPr>
                        <a:t> </a:t>
                      </a:r>
                      <a:endParaRPr lang="ro-RO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boolean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char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byte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short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int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long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float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double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boolean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Da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char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Da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Da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Da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byte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Da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Da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short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Da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Da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Da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int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Da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Da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Da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Da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long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Da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Da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Da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Da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Da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float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Da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Da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Da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Da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Da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Da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double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Nu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Da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Da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Da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Da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Da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>
                          <a:effectLst/>
                        </a:rPr>
                        <a:t>Da </a:t>
                      </a:r>
                      <a:endParaRPr lang="ro-RO" sz="20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000" dirty="0">
                          <a:effectLst/>
                        </a:rPr>
                        <a:t>Da </a:t>
                      </a:r>
                      <a:endParaRPr lang="ro-RO" sz="2000" dirty="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64203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4000" b="1" dirty="0"/>
              <a:t>Conversiile posibile la atribuirea unei valori de tipul T la o variabilă de tipul S. </a:t>
            </a:r>
            <a:endParaRPr lang="ro-RO" sz="4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3995926"/>
              </p:ext>
            </p:extLst>
          </p:nvPr>
        </p:nvGraphicFramePr>
        <p:xfrm>
          <a:off x="759211" y="2146986"/>
          <a:ext cx="10058400" cy="30365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o-RO" sz="1400">
                          <a:effectLst/>
                        </a:rPr>
                        <a:t> </a:t>
                      </a:r>
                      <a:endParaRPr lang="ro-RO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 este o clasă care nu este finală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 este o clasă care este finală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 este o interfaţă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 = B[] este un tablou cu elemente de tipul B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S este o clasă care nu este finală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 trebuie să fie subclasă a lui S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 trebuie să fie o subclasă a lui S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eroare la compilare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S trebuie să fie Object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S este o clasă care este finală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 trebuie să fie aceeaşi clasă ca şi S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 trebuie să fie aceeaşi clasă ca şi S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eroare la compilare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eroare la compilare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S este o interfaţă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 trebuie să implementeze interfaţa S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 trebuie să implementeze interfaţa S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 trebuie să fie o subinterfaţă a lui S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eroare la compilare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S = A[] este un tablou cu elemente de tipul A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eroare la compilare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eroare la compilare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eroare la compilare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dirty="0">
                          <a:effectLst/>
                        </a:rPr>
                        <a:t>A sau B sunt </a:t>
                      </a:r>
                      <a:r>
                        <a:rPr lang="ro-RO" sz="1400" dirty="0" err="1">
                          <a:effectLst/>
                        </a:rPr>
                        <a:t>acelaşi</a:t>
                      </a:r>
                      <a:r>
                        <a:rPr lang="ro-RO" sz="1400" dirty="0">
                          <a:effectLst/>
                        </a:rPr>
                        <a:t> tip primitiv sau A este un tip </a:t>
                      </a:r>
                      <a:r>
                        <a:rPr lang="ro-RO" sz="1400" dirty="0" err="1">
                          <a:effectLst/>
                        </a:rPr>
                        <a:t>referinţă</a:t>
                      </a:r>
                      <a:r>
                        <a:rPr lang="ro-RO" sz="1400" dirty="0">
                          <a:effectLst/>
                        </a:rPr>
                        <a:t> </a:t>
                      </a:r>
                      <a:r>
                        <a:rPr lang="ro-RO" sz="1400" dirty="0" err="1">
                          <a:effectLst/>
                        </a:rPr>
                        <a:t>şi</a:t>
                      </a:r>
                      <a:r>
                        <a:rPr lang="ro-RO" sz="1400" dirty="0">
                          <a:effectLst/>
                        </a:rPr>
                        <a:t> B poate fi atribuit lui A </a:t>
                      </a:r>
                      <a:endParaRPr lang="ro-RO" sz="1100" dirty="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7625" marR="47625" marT="47625" marB="47625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94816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Conversii explicite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i="1" dirty="0"/>
              <a:t>Conversiile de tip cast, </a:t>
            </a:r>
            <a:r>
              <a:rPr lang="ro-RO" dirty="0"/>
              <a:t>sau</a:t>
            </a:r>
            <a:r>
              <a:rPr lang="ro-RO" i="1" dirty="0"/>
              <a:t> </a:t>
            </a:r>
            <a:r>
              <a:rPr lang="ro-RO" i="1" dirty="0" err="1"/>
              <a:t>casturile</a:t>
            </a:r>
            <a:r>
              <a:rPr lang="ro-RO" i="1" dirty="0"/>
              <a:t>,</a:t>
            </a:r>
            <a:r>
              <a:rPr lang="ro-RO" dirty="0"/>
              <a:t> sunt apelate de către programator în mod explicit. Sintaxa pentru </a:t>
            </a:r>
            <a:r>
              <a:rPr lang="ro-RO" dirty="0" err="1"/>
              <a:t>construcţia</a:t>
            </a:r>
            <a:r>
              <a:rPr lang="ro-RO" dirty="0"/>
              <a:t> unui cast este scrierea tipului către care dorim să convertim în paranteze în </a:t>
            </a:r>
            <a:r>
              <a:rPr lang="ro-RO" dirty="0" err="1"/>
              <a:t>faţa</a:t>
            </a:r>
            <a:r>
              <a:rPr lang="ro-RO" dirty="0"/>
              <a:t> valorii pe care dorim să o convertim. Forma generală este:</a:t>
            </a:r>
          </a:p>
          <a:p>
            <a:r>
              <a:rPr lang="ro-RO" dirty="0"/>
              <a:t>( </a:t>
            </a:r>
            <a:r>
              <a:rPr lang="ro-RO" i="1" dirty="0"/>
              <a:t>Tip</a:t>
            </a:r>
            <a:r>
              <a:rPr lang="ro-RO" dirty="0"/>
              <a:t> ) </a:t>
            </a:r>
            <a:r>
              <a:rPr lang="ro-RO" i="1" dirty="0"/>
              <a:t>Valoare</a:t>
            </a:r>
            <a:endParaRPr lang="ro-RO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1135279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Cazurile posibile la convertirea unei </a:t>
            </a:r>
            <a:r>
              <a:rPr lang="ro-RO" dirty="0" err="1"/>
              <a:t>referinţe</a:t>
            </a:r>
            <a:r>
              <a:rPr lang="ro-RO" dirty="0"/>
              <a:t> de tip T într-o </a:t>
            </a:r>
            <a:r>
              <a:rPr lang="ro-RO" dirty="0" err="1"/>
              <a:t>referinţă</a:t>
            </a:r>
            <a:r>
              <a:rPr lang="ro-RO" dirty="0"/>
              <a:t> de tip 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1529952"/>
              </p:ext>
            </p:extLst>
          </p:nvPr>
        </p:nvGraphicFramePr>
        <p:xfrm>
          <a:off x="766118" y="2068791"/>
          <a:ext cx="10585620" cy="43744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17124"/>
                <a:gridCol w="2117124"/>
                <a:gridCol w="2117124"/>
                <a:gridCol w="2117124"/>
                <a:gridCol w="2117124"/>
              </a:tblGrid>
              <a:tr h="17190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o-RO" sz="1600" dirty="0">
                          <a:effectLst/>
                        </a:rPr>
                        <a:t> </a:t>
                      </a:r>
                      <a:endParaRPr lang="ro-RO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 Unicode MS" panose="020B0604020202020204" pitchFamily="34" charset="-128"/>
                      </a:endParaRPr>
                    </a:p>
                  </a:txBody>
                  <a:tcPr marL="15810" marR="15810" marT="15810" marB="158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>
                          <a:effectLst/>
                        </a:rPr>
                        <a:t>T este o clasă care nu este finală </a:t>
                      </a:r>
                      <a:endParaRPr lang="ro-RO" sz="14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5810" marR="15810" marT="15810" marB="158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>
                          <a:effectLst/>
                        </a:rPr>
                        <a:t>T este o clasă care este finală </a:t>
                      </a:r>
                      <a:endParaRPr lang="ro-RO" sz="14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5810" marR="15810" marT="15810" marB="158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>
                          <a:effectLst/>
                        </a:rPr>
                        <a:t>T este o interfaţă </a:t>
                      </a:r>
                      <a:endParaRPr lang="ro-RO" sz="14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5810" marR="15810" marT="15810" marB="158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>
                          <a:effectLst/>
                        </a:rPr>
                        <a:t>T = B[] este un tablou cu elemente de tipul B </a:t>
                      </a:r>
                      <a:endParaRPr lang="ro-RO" sz="14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5810" marR="15810" marT="15810" marB="15810"/>
                </a:tc>
              </a:tr>
              <a:tr h="977697">
                <a:tc>
                  <a:txBody>
                    <a:bodyPr/>
                    <a:lstStyle/>
                    <a:p>
                      <a:pPr algn="ctr"/>
                      <a:r>
                        <a:rPr lang="ro-RO" sz="1600" dirty="0">
                          <a:effectLst/>
                        </a:rPr>
                        <a:t>S este o clasă care nu este finală </a:t>
                      </a:r>
                      <a:endParaRPr lang="ro-RO" sz="1400" dirty="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5810" marR="15810" marT="15810" marB="158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 dirty="0">
                          <a:effectLst/>
                        </a:rPr>
                        <a:t>T trebuie să fie subclasă a lui S </a:t>
                      </a:r>
                      <a:endParaRPr lang="ro-RO" sz="1400" dirty="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5810" marR="15810" marT="15810" marB="158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>
                          <a:effectLst/>
                        </a:rPr>
                        <a:t>T trebuie să fie o subclasă a lui S </a:t>
                      </a:r>
                      <a:endParaRPr lang="ro-RO" sz="14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5810" marR="15810" marT="15810" marB="158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>
                          <a:effectLst/>
                        </a:rPr>
                        <a:t>Totdeauna corectă la compilare </a:t>
                      </a:r>
                      <a:endParaRPr lang="ro-RO" sz="14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5810" marR="15810" marT="15810" marB="158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>
                          <a:effectLst/>
                        </a:rPr>
                        <a:t>S trebuie să fie Object </a:t>
                      </a:r>
                      <a:endParaRPr lang="ro-RO" sz="14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5810" marR="15810" marT="15810" marB="15810"/>
                </a:tc>
              </a:tr>
              <a:tr h="866394">
                <a:tc>
                  <a:txBody>
                    <a:bodyPr/>
                    <a:lstStyle/>
                    <a:p>
                      <a:pPr algn="ctr"/>
                      <a:r>
                        <a:rPr lang="ro-RO" sz="1600" dirty="0">
                          <a:effectLst/>
                        </a:rPr>
                        <a:t>S este o clasă care este finală </a:t>
                      </a:r>
                      <a:endParaRPr lang="ro-RO" sz="1400" dirty="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5810" marR="15810" marT="15810" marB="158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 dirty="0">
                          <a:effectLst/>
                        </a:rPr>
                        <a:t>S trebuie să fie subclasă a lui T </a:t>
                      </a:r>
                      <a:endParaRPr lang="ro-RO" sz="1400" dirty="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5810" marR="15810" marT="15810" marB="158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>
                          <a:effectLst/>
                        </a:rPr>
                        <a:t>T trebuie să fie aceeaşi clasă ca şi S </a:t>
                      </a:r>
                      <a:endParaRPr lang="ro-RO" sz="14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5810" marR="15810" marT="15810" marB="158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>
                          <a:effectLst/>
                        </a:rPr>
                        <a:t>S trebuie să implementeze interfaţa T </a:t>
                      </a:r>
                      <a:endParaRPr lang="ro-RO" sz="14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5810" marR="15810" marT="15810" marB="158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>
                          <a:effectLst/>
                        </a:rPr>
                        <a:t>eroare la compilare </a:t>
                      </a:r>
                      <a:endParaRPr lang="ro-RO" sz="14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5810" marR="15810" marT="15810" marB="15810"/>
                </a:tc>
              </a:tr>
              <a:tr h="532485">
                <a:tc>
                  <a:txBody>
                    <a:bodyPr/>
                    <a:lstStyle/>
                    <a:p>
                      <a:pPr algn="ctr"/>
                      <a:r>
                        <a:rPr lang="ro-RO" sz="1600">
                          <a:effectLst/>
                        </a:rPr>
                        <a:t>S este o interfaţă </a:t>
                      </a:r>
                      <a:endParaRPr lang="ro-RO" sz="14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5810" marR="15810" marT="15810" marB="158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 dirty="0">
                          <a:effectLst/>
                        </a:rPr>
                        <a:t>Totdeauna corectă la compilare </a:t>
                      </a:r>
                      <a:endParaRPr lang="ro-RO" sz="1400" dirty="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5810" marR="15810" marT="15810" marB="158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 dirty="0">
                          <a:effectLst/>
                        </a:rPr>
                        <a:t>T trebuie să implementeze </a:t>
                      </a:r>
                      <a:r>
                        <a:rPr lang="ro-RO" sz="1600" dirty="0" err="1">
                          <a:effectLst/>
                        </a:rPr>
                        <a:t>interfaţa</a:t>
                      </a:r>
                      <a:r>
                        <a:rPr lang="ro-RO" sz="1600" dirty="0">
                          <a:effectLst/>
                        </a:rPr>
                        <a:t> S </a:t>
                      </a:r>
                      <a:endParaRPr lang="ro-RO" sz="1400" dirty="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5810" marR="15810" marT="15810" marB="158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 dirty="0">
                          <a:effectLst/>
                        </a:rPr>
                        <a:t>Totdeauna corectă la compilare </a:t>
                      </a:r>
                      <a:endParaRPr lang="ro-RO" sz="1400" dirty="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5810" marR="15810" marT="15810" marB="158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>
                          <a:effectLst/>
                        </a:rPr>
                        <a:t>eroare la compilare </a:t>
                      </a:r>
                      <a:endParaRPr lang="ro-RO" sz="14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5810" marR="15810" marT="15810" marB="15810"/>
                </a:tc>
              </a:tr>
              <a:tr h="1478562">
                <a:tc>
                  <a:txBody>
                    <a:bodyPr/>
                    <a:lstStyle/>
                    <a:p>
                      <a:pPr algn="ctr"/>
                      <a:r>
                        <a:rPr lang="ro-RO" sz="1600">
                          <a:effectLst/>
                        </a:rPr>
                        <a:t>S = A[] este un tablou cu elemente de tipul A </a:t>
                      </a:r>
                      <a:endParaRPr lang="ro-RO" sz="14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5810" marR="15810" marT="15810" marB="158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>
                          <a:effectLst/>
                        </a:rPr>
                        <a:t>T trebuie să fie Object </a:t>
                      </a:r>
                      <a:endParaRPr lang="ro-RO" sz="14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5810" marR="15810" marT="15810" marB="158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>
                          <a:effectLst/>
                        </a:rPr>
                        <a:t>eroare la compilare </a:t>
                      </a:r>
                      <a:endParaRPr lang="ro-RO" sz="14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5810" marR="15810" marT="15810" marB="158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 dirty="0">
                          <a:effectLst/>
                        </a:rPr>
                        <a:t>eroare la compilare </a:t>
                      </a:r>
                      <a:endParaRPr lang="ro-RO" sz="1400" dirty="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5810" marR="15810" marT="15810" marB="158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 dirty="0">
                          <a:effectLst/>
                        </a:rPr>
                        <a:t>A sau B sunt </a:t>
                      </a:r>
                      <a:r>
                        <a:rPr lang="ro-RO" sz="1600" dirty="0" err="1">
                          <a:effectLst/>
                        </a:rPr>
                        <a:t>acelaşi</a:t>
                      </a:r>
                      <a:r>
                        <a:rPr lang="ro-RO" sz="1600" dirty="0">
                          <a:effectLst/>
                        </a:rPr>
                        <a:t> tip primitiv sau A este un tip </a:t>
                      </a:r>
                      <a:r>
                        <a:rPr lang="ro-RO" sz="1600" dirty="0" err="1">
                          <a:effectLst/>
                        </a:rPr>
                        <a:t>referinţă</a:t>
                      </a:r>
                      <a:r>
                        <a:rPr lang="ro-RO" sz="1600" dirty="0">
                          <a:effectLst/>
                        </a:rPr>
                        <a:t> </a:t>
                      </a:r>
                      <a:r>
                        <a:rPr lang="ro-RO" sz="1600" dirty="0" err="1">
                          <a:effectLst/>
                        </a:rPr>
                        <a:t>şi</a:t>
                      </a:r>
                      <a:r>
                        <a:rPr lang="ro-RO" sz="1600" dirty="0">
                          <a:effectLst/>
                        </a:rPr>
                        <a:t> B poate fi convertit cu un cast la A </a:t>
                      </a:r>
                      <a:endParaRPr lang="ro-RO" sz="1400" dirty="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5810" marR="15810" marT="15810" marB="1581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14330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/>
              <a:t>Conversii de promovare </a:t>
            </a:r>
            <a:r>
              <a:rPr lang="ro-RO" b="1" dirty="0" smtClean="0"/>
              <a:t>aritmetică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1.	Dacă un operand este </a:t>
            </a:r>
            <a:r>
              <a:rPr lang="ro-RO" dirty="0" err="1"/>
              <a:t>double</a:t>
            </a:r>
            <a:r>
              <a:rPr lang="ro-RO" dirty="0"/>
              <a:t>, celălalt este convertit la </a:t>
            </a:r>
            <a:r>
              <a:rPr lang="ro-RO" dirty="0" err="1"/>
              <a:t>double</a:t>
            </a:r>
            <a:r>
              <a:rPr lang="ro-RO" dirty="0"/>
              <a:t>. </a:t>
            </a:r>
          </a:p>
          <a:p>
            <a:r>
              <a:rPr lang="ro-RO" dirty="0"/>
              <a:t>2.	Altfel, dacă un operand este de tip </a:t>
            </a:r>
            <a:r>
              <a:rPr lang="ro-RO" dirty="0" err="1"/>
              <a:t>float</a:t>
            </a:r>
            <a:r>
              <a:rPr lang="ro-RO" dirty="0"/>
              <a:t>, celălalt operand este convertit la </a:t>
            </a:r>
            <a:r>
              <a:rPr lang="ro-RO" dirty="0" err="1"/>
              <a:t>float</a:t>
            </a:r>
            <a:r>
              <a:rPr lang="ro-RO" dirty="0"/>
              <a:t>. </a:t>
            </a:r>
          </a:p>
          <a:p>
            <a:r>
              <a:rPr lang="ro-RO" dirty="0"/>
              <a:t>3.	Altfel, dacă un operand este de tip </a:t>
            </a:r>
            <a:r>
              <a:rPr lang="ro-RO" dirty="0" err="1"/>
              <a:t>long</a:t>
            </a:r>
            <a:r>
              <a:rPr lang="ro-RO" dirty="0"/>
              <a:t>, celălalt este convertit la </a:t>
            </a:r>
            <a:r>
              <a:rPr lang="ro-RO" dirty="0" err="1"/>
              <a:t>long</a:t>
            </a:r>
            <a:r>
              <a:rPr lang="ro-RO" dirty="0"/>
              <a:t> </a:t>
            </a:r>
          </a:p>
          <a:p>
            <a:r>
              <a:rPr lang="ro-RO" dirty="0"/>
              <a:t>4.	Altfel, amândoi operanzii sunt </a:t>
            </a:r>
            <a:r>
              <a:rPr lang="ro-RO" dirty="0" err="1"/>
              <a:t>convertiţi</a:t>
            </a:r>
            <a:r>
              <a:rPr lang="ro-RO" dirty="0"/>
              <a:t> la int.</a:t>
            </a:r>
          </a:p>
          <a:p>
            <a:r>
              <a:rPr lang="en-US" dirty="0"/>
              <a:t>float f;</a:t>
            </a:r>
          </a:p>
          <a:p>
            <a:r>
              <a:rPr lang="en-US" dirty="0"/>
              <a:t>double </a:t>
            </a:r>
            <a:r>
              <a:rPr lang="en-US" dirty="0" err="1"/>
              <a:t>i</a:t>
            </a:r>
            <a:r>
              <a:rPr lang="en-US" dirty="0"/>
              <a:t> = f + 3;</a:t>
            </a:r>
          </a:p>
          <a:p>
            <a:r>
              <a:rPr lang="ro-RO" dirty="0"/>
              <a:t>După efectuarea </a:t>
            </a:r>
            <a:r>
              <a:rPr lang="ro-RO" dirty="0" err="1"/>
              <a:t>operaţiei</a:t>
            </a:r>
            <a:r>
              <a:rPr lang="ro-RO" dirty="0"/>
              <a:t>, valoarea </a:t>
            </a:r>
            <a:r>
              <a:rPr lang="ro-RO" dirty="0" err="1"/>
              <a:t>obţinută</a:t>
            </a:r>
            <a:r>
              <a:rPr lang="ro-RO" dirty="0"/>
              <a:t> va fi convertită implicit la </a:t>
            </a:r>
            <a:r>
              <a:rPr lang="ro-RO" dirty="0" err="1"/>
              <a:t>double</a:t>
            </a:r>
            <a:r>
              <a:rPr lang="ro-R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73981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 smtClean="0"/>
              <a:t>Declar</a:t>
            </a:r>
            <a:r>
              <a:rPr lang="ro-RO" dirty="0" err="1" smtClean="0"/>
              <a:t>area</a:t>
            </a:r>
            <a:r>
              <a:rPr lang="ro-RO" dirty="0" smtClean="0"/>
              <a:t> unei </a:t>
            </a:r>
            <a:r>
              <a:rPr lang="en-CA" dirty="0" smtClean="0"/>
              <a:t>class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347784"/>
            <a:ext cx="10058400" cy="3521310"/>
          </a:xfrm>
        </p:spPr>
        <p:txBody>
          <a:bodyPr/>
          <a:lstStyle/>
          <a:p>
            <a:r>
              <a:rPr lang="en-CA" dirty="0" smtClean="0"/>
              <a:t>package</a:t>
            </a:r>
          </a:p>
          <a:p>
            <a:r>
              <a:rPr lang="en-CA" dirty="0" smtClean="0"/>
              <a:t>Class name</a:t>
            </a:r>
          </a:p>
          <a:p>
            <a:r>
              <a:rPr lang="en-CA" dirty="0" smtClean="0"/>
              <a:t>Constructor</a:t>
            </a:r>
          </a:p>
          <a:p>
            <a:r>
              <a:rPr lang="en-CA" dirty="0" smtClean="0"/>
              <a:t>Fields</a:t>
            </a:r>
          </a:p>
          <a:p>
            <a:r>
              <a:rPr lang="en-CA" dirty="0" smtClean="0"/>
              <a:t>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44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 err="1"/>
              <a:t>Pasul</a:t>
            </a:r>
            <a:r>
              <a:rPr lang="en-US" b="1" dirty="0"/>
              <a:t> 1: </a:t>
            </a:r>
            <a:r>
              <a:rPr lang="en-US" b="1" dirty="0" err="1"/>
              <a:t>Stabilirea</a:t>
            </a:r>
            <a:r>
              <a:rPr lang="en-US" b="1" dirty="0"/>
              <a:t> </a:t>
            </a:r>
            <a:r>
              <a:rPr lang="en-US" b="1" dirty="0" err="1"/>
              <a:t>conceptului</a:t>
            </a:r>
            <a:r>
              <a:rPr lang="en-US" b="1" dirty="0"/>
              <a:t> </a:t>
            </a:r>
            <a:r>
              <a:rPr lang="en-US" b="1" dirty="0" err="1"/>
              <a:t>reprezentat</a:t>
            </a:r>
            <a:r>
              <a:rPr lang="en-US" b="1" dirty="0"/>
              <a:t> de </a:t>
            </a:r>
            <a:r>
              <a:rPr lang="en-US" b="1" dirty="0" err="1"/>
              <a:t>clasa</a:t>
            </a:r>
            <a:r>
              <a:rPr lang="en-US" b="1" dirty="0"/>
              <a:t> de </a:t>
            </a:r>
            <a:r>
              <a:rPr lang="en-US" b="1" dirty="0" err="1"/>
              <a:t>obiecte</a:t>
            </a:r>
            <a:endParaRPr lang="ro-RO" b="1" dirty="0"/>
          </a:p>
          <a:p>
            <a:r>
              <a:rPr lang="en-US" b="1" dirty="0" err="1"/>
              <a:t>Pasul</a:t>
            </a:r>
            <a:r>
              <a:rPr lang="en-US" b="1" dirty="0"/>
              <a:t> 2: </a:t>
            </a:r>
            <a:r>
              <a:rPr lang="en-US" b="1" dirty="0" err="1"/>
              <a:t>Stabilirea</a:t>
            </a:r>
            <a:r>
              <a:rPr lang="en-US" b="1" dirty="0"/>
              <a:t> </a:t>
            </a:r>
            <a:r>
              <a:rPr lang="en-US" b="1" dirty="0" err="1"/>
              <a:t>numelui</a:t>
            </a:r>
            <a:r>
              <a:rPr lang="en-US" b="1" dirty="0"/>
              <a:t> </a:t>
            </a:r>
            <a:r>
              <a:rPr lang="en-US" b="1" dirty="0" err="1"/>
              <a:t>clasei</a:t>
            </a:r>
            <a:r>
              <a:rPr lang="en-US" b="1" dirty="0"/>
              <a:t> de </a:t>
            </a:r>
            <a:r>
              <a:rPr lang="en-US" b="1" dirty="0" err="1"/>
              <a:t>obiecte</a:t>
            </a:r>
            <a:endParaRPr lang="ro-RO" b="1" dirty="0"/>
          </a:p>
          <a:p>
            <a:r>
              <a:rPr lang="en-US" b="1" dirty="0" err="1"/>
              <a:t>Pasul</a:t>
            </a:r>
            <a:r>
              <a:rPr lang="en-US" b="1" dirty="0"/>
              <a:t> 3: </a:t>
            </a:r>
            <a:r>
              <a:rPr lang="en-US" b="1" dirty="0" err="1"/>
              <a:t>Stabilirea</a:t>
            </a:r>
            <a:r>
              <a:rPr lang="en-US" b="1" dirty="0"/>
              <a:t> </a:t>
            </a:r>
            <a:r>
              <a:rPr lang="en-US" b="1" dirty="0" err="1"/>
              <a:t>superclasei</a:t>
            </a:r>
            <a:endParaRPr lang="ro-RO" b="1" dirty="0"/>
          </a:p>
          <a:p>
            <a:r>
              <a:rPr lang="en-US" b="1" dirty="0" err="1"/>
              <a:t>Pasul</a:t>
            </a:r>
            <a:r>
              <a:rPr lang="en-US" b="1" dirty="0"/>
              <a:t> 4: </a:t>
            </a:r>
            <a:r>
              <a:rPr lang="en-US" b="1" dirty="0" err="1"/>
              <a:t>Stabilirea</a:t>
            </a:r>
            <a:r>
              <a:rPr lang="en-US" b="1" dirty="0"/>
              <a:t> </a:t>
            </a:r>
            <a:r>
              <a:rPr lang="en-US" b="1" dirty="0" err="1"/>
              <a:t>interfeţelor</a:t>
            </a:r>
            <a:r>
              <a:rPr lang="en-US" b="1" dirty="0"/>
              <a:t> </a:t>
            </a:r>
            <a:r>
              <a:rPr lang="en-US" b="1" dirty="0" err="1"/>
              <a:t>pe</a:t>
            </a:r>
            <a:r>
              <a:rPr lang="en-US" b="1" dirty="0"/>
              <a:t> care le </a:t>
            </a:r>
            <a:r>
              <a:rPr lang="en-US" b="1" dirty="0" err="1"/>
              <a:t>respectă</a:t>
            </a:r>
            <a:r>
              <a:rPr lang="en-US" b="1" dirty="0"/>
              <a:t> </a:t>
            </a:r>
            <a:r>
              <a:rPr lang="en-US" b="1" dirty="0" err="1"/>
              <a:t>clasa</a:t>
            </a:r>
            <a:endParaRPr lang="ro-RO" b="1" dirty="0"/>
          </a:p>
          <a:p>
            <a:r>
              <a:rPr lang="en-US" b="1" dirty="0" err="1"/>
              <a:t>Pasul</a:t>
            </a:r>
            <a:r>
              <a:rPr lang="en-US" b="1" dirty="0"/>
              <a:t> 5: </a:t>
            </a:r>
            <a:r>
              <a:rPr lang="en-US" b="1" dirty="0" err="1"/>
              <a:t>Stabilirea</a:t>
            </a:r>
            <a:r>
              <a:rPr lang="en-US" b="1" dirty="0"/>
              <a:t> </a:t>
            </a:r>
            <a:r>
              <a:rPr lang="en-US" b="1" dirty="0" err="1"/>
              <a:t>modificatorilor</a:t>
            </a:r>
            <a:r>
              <a:rPr lang="en-US" b="1" dirty="0"/>
              <a:t> </a:t>
            </a:r>
            <a:r>
              <a:rPr lang="en-US" b="1" dirty="0" err="1"/>
              <a:t>clasei</a:t>
            </a:r>
            <a:endParaRPr lang="ro-RO" b="1" dirty="0"/>
          </a:p>
          <a:p>
            <a:pPr lvl="1"/>
            <a:r>
              <a:rPr lang="en-US" b="1" dirty="0" smtClean="0"/>
              <a:t>Abstract</a:t>
            </a:r>
            <a:r>
              <a:rPr lang="en-US" dirty="0"/>
              <a:t>, </a:t>
            </a:r>
            <a:r>
              <a:rPr lang="en-US" b="1" dirty="0"/>
              <a:t>final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b="1" dirty="0"/>
              <a:t>public</a:t>
            </a:r>
            <a:r>
              <a:rPr lang="en-US" dirty="0" smtClean="0"/>
              <a:t>.</a:t>
            </a:r>
            <a:endParaRPr lang="ro-RO" dirty="0" smtClean="0"/>
          </a:p>
          <a:p>
            <a:r>
              <a:rPr lang="en-US" b="1" dirty="0" err="1"/>
              <a:t>Pasul</a:t>
            </a:r>
            <a:r>
              <a:rPr lang="en-US" b="1" dirty="0"/>
              <a:t> 6: </a:t>
            </a:r>
            <a:r>
              <a:rPr lang="en-US" b="1" dirty="0" err="1"/>
              <a:t>Scrierea</a:t>
            </a:r>
            <a:r>
              <a:rPr lang="en-US" b="1" dirty="0"/>
              <a:t> </a:t>
            </a:r>
            <a:r>
              <a:rPr lang="en-US" b="1" dirty="0" err="1"/>
              <a:t>corpului</a:t>
            </a:r>
            <a:r>
              <a:rPr lang="en-US" b="1" dirty="0"/>
              <a:t> </a:t>
            </a:r>
            <a:r>
              <a:rPr lang="en-US" b="1" dirty="0" err="1"/>
              <a:t>declaraţiei</a:t>
            </a:r>
            <a:endParaRPr lang="ro-RO" b="1" dirty="0"/>
          </a:p>
          <a:p>
            <a:r>
              <a:rPr lang="en-US" b="1" dirty="0"/>
              <a:t>Forma </a:t>
            </a:r>
            <a:r>
              <a:rPr lang="en-US" b="1" dirty="0" err="1"/>
              <a:t>generală</a:t>
            </a:r>
            <a:r>
              <a:rPr lang="en-US" b="1" dirty="0"/>
              <a:t> a </a:t>
            </a:r>
            <a:r>
              <a:rPr lang="en-US" b="1" dirty="0" err="1"/>
              <a:t>unei</a:t>
            </a:r>
            <a:r>
              <a:rPr lang="en-US" b="1" dirty="0"/>
              <a:t> </a:t>
            </a:r>
            <a:r>
              <a:rPr lang="en-US" b="1" dirty="0" err="1"/>
              <a:t>declaraţii</a:t>
            </a:r>
            <a:r>
              <a:rPr lang="en-US" b="1" dirty="0"/>
              <a:t> de </a:t>
            </a:r>
            <a:r>
              <a:rPr lang="en-US" b="1" dirty="0" err="1"/>
              <a:t>clasă</a:t>
            </a:r>
            <a:endParaRPr lang="ro-RO" b="1" dirty="0"/>
          </a:p>
          <a:p>
            <a:r>
              <a:rPr lang="en-US" dirty="0" err="1"/>
              <a:t>Sintaxa</a:t>
            </a:r>
            <a:r>
              <a:rPr lang="en-US" dirty="0"/>
              <a:t> </a:t>
            </a:r>
            <a:r>
              <a:rPr lang="en-US" dirty="0" err="1"/>
              <a:t>exactă</a:t>
            </a:r>
            <a:r>
              <a:rPr lang="en-US" dirty="0"/>
              <a:t> de </a:t>
            </a:r>
            <a:r>
              <a:rPr lang="en-US" dirty="0" err="1"/>
              <a:t>declarare</a:t>
            </a:r>
            <a:r>
              <a:rPr lang="en-US" dirty="0"/>
              <a:t> a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clase</a:t>
            </a:r>
            <a:r>
              <a:rPr lang="en-US" dirty="0"/>
              <a:t> </a:t>
            </a:r>
            <a:r>
              <a:rPr lang="en-US" dirty="0" err="1"/>
              <a:t>arată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felul</a:t>
            </a:r>
            <a:r>
              <a:rPr lang="en-US" dirty="0"/>
              <a:t> </a:t>
            </a:r>
            <a:r>
              <a:rPr lang="en-US" dirty="0" err="1"/>
              <a:t>următor</a:t>
            </a:r>
            <a:r>
              <a:rPr lang="en-US" dirty="0"/>
              <a:t>:</a:t>
            </a:r>
            <a:endParaRPr lang="ro-RO" dirty="0"/>
          </a:p>
          <a:p>
            <a:r>
              <a:rPr lang="en-US" dirty="0">
                <a:solidFill>
                  <a:srgbClr val="0070C0"/>
                </a:solidFill>
              </a:rPr>
              <a:t>{ </a:t>
            </a:r>
            <a:r>
              <a:rPr lang="en-US" b="1" dirty="0">
                <a:solidFill>
                  <a:srgbClr val="0070C0"/>
                </a:solidFill>
              </a:rPr>
              <a:t>abstract </a:t>
            </a:r>
            <a:r>
              <a:rPr lang="en-US" dirty="0">
                <a:solidFill>
                  <a:srgbClr val="0070C0"/>
                </a:solidFill>
              </a:rPr>
              <a:t>| </a:t>
            </a:r>
            <a:r>
              <a:rPr lang="en-US" b="1" dirty="0">
                <a:solidFill>
                  <a:srgbClr val="0070C0"/>
                </a:solidFill>
              </a:rPr>
              <a:t>final </a:t>
            </a:r>
            <a:r>
              <a:rPr lang="en-US" dirty="0">
                <a:solidFill>
                  <a:srgbClr val="0070C0"/>
                </a:solidFill>
              </a:rPr>
              <a:t>| </a:t>
            </a:r>
            <a:r>
              <a:rPr lang="en-US" b="1" dirty="0">
                <a:solidFill>
                  <a:srgbClr val="0070C0"/>
                </a:solidFill>
              </a:rPr>
              <a:t>public </a:t>
            </a:r>
            <a:r>
              <a:rPr lang="en-US" dirty="0">
                <a:solidFill>
                  <a:srgbClr val="0070C0"/>
                </a:solidFill>
              </a:rPr>
              <a:t>} </a:t>
            </a:r>
            <a:r>
              <a:rPr lang="en-US" b="1" dirty="0">
                <a:solidFill>
                  <a:srgbClr val="0070C0"/>
                </a:solidFill>
              </a:rPr>
              <a:t>class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i="1" dirty="0" err="1">
                <a:solidFill>
                  <a:srgbClr val="0070C0"/>
                </a:solidFill>
              </a:rPr>
              <a:t>NumeClasă</a:t>
            </a:r>
            <a:endParaRPr lang="ro-RO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[ </a:t>
            </a:r>
            <a:r>
              <a:rPr lang="en-US" b="1" dirty="0">
                <a:solidFill>
                  <a:srgbClr val="0070C0"/>
                </a:solidFill>
              </a:rPr>
              <a:t>extends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i="1" dirty="0" err="1">
                <a:solidFill>
                  <a:srgbClr val="0070C0"/>
                </a:solidFill>
              </a:rPr>
              <a:t>NumeSuperclasă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]</a:t>
            </a:r>
            <a:endParaRPr lang="ro-RO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[ </a:t>
            </a:r>
            <a:r>
              <a:rPr lang="en-US" b="1" dirty="0">
                <a:solidFill>
                  <a:srgbClr val="0070C0"/>
                </a:solidFill>
              </a:rPr>
              <a:t>implements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i="1" dirty="0" err="1">
                <a:solidFill>
                  <a:srgbClr val="0070C0"/>
                </a:solidFill>
              </a:rPr>
              <a:t>NumeInterfaţă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[ , </a:t>
            </a:r>
            <a:r>
              <a:rPr lang="en-US" i="1" dirty="0" err="1">
                <a:solidFill>
                  <a:srgbClr val="0070C0"/>
                </a:solidFill>
              </a:rPr>
              <a:t>NumeInterfaţă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] ]</a:t>
            </a:r>
            <a:endParaRPr lang="ro-RO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{ [ </a:t>
            </a:r>
            <a:r>
              <a:rPr lang="en-US" i="1" dirty="0" err="1">
                <a:solidFill>
                  <a:srgbClr val="0070C0"/>
                </a:solidFill>
              </a:rPr>
              <a:t>CâmpClasă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] } </a:t>
            </a:r>
            <a:endParaRPr lang="ro-RO" dirty="0">
              <a:solidFill>
                <a:srgbClr val="0070C0"/>
              </a:solidFill>
            </a:endParaRP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036316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Variabilele</a:t>
            </a:r>
            <a:r>
              <a:rPr lang="en-US" b="1" dirty="0"/>
              <a:t> </a:t>
            </a:r>
            <a:r>
              <a:rPr lang="en-US" b="1" dirty="0" err="1"/>
              <a:t>unei</a:t>
            </a:r>
            <a:r>
              <a:rPr lang="en-US" b="1" dirty="0"/>
              <a:t> </a:t>
            </a:r>
            <a:r>
              <a:rPr lang="en-US" b="1" dirty="0" err="1"/>
              <a:t>clase</a:t>
            </a:r>
            <a:r>
              <a:rPr lang="ro-RO" b="1" dirty="0"/>
              <a:t/>
            </a:r>
            <a:br>
              <a:rPr lang="ro-RO" b="1" dirty="0"/>
            </a:b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err="1"/>
              <a:t>Modificatori</a:t>
            </a:r>
            <a:endParaRPr lang="ro-RO" b="1" dirty="0"/>
          </a:p>
          <a:p>
            <a:r>
              <a:rPr lang="en-US" i="1" dirty="0" err="1"/>
              <a:t>Modificatorii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cuvinte</a:t>
            </a:r>
            <a:r>
              <a:rPr lang="en-US" dirty="0"/>
              <a:t> </a:t>
            </a:r>
            <a:r>
              <a:rPr lang="en-US" dirty="0" err="1"/>
              <a:t>rezervate</a:t>
            </a:r>
            <a:r>
              <a:rPr lang="en-US" dirty="0"/>
              <a:t> Java care </a:t>
            </a:r>
            <a:r>
              <a:rPr lang="en-US" dirty="0" err="1"/>
              <a:t>precizează</a:t>
            </a:r>
            <a:r>
              <a:rPr lang="en-US" dirty="0"/>
              <a:t> </a:t>
            </a:r>
            <a:r>
              <a:rPr lang="en-US" dirty="0" err="1"/>
              <a:t>sensul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declaraţii</a:t>
            </a:r>
            <a:r>
              <a:rPr lang="en-US" dirty="0"/>
              <a:t>. </a:t>
            </a:r>
            <a:r>
              <a:rPr lang="en-US" dirty="0" err="1"/>
              <a:t>Iată</a:t>
            </a:r>
            <a:r>
              <a:rPr lang="en-US" dirty="0"/>
              <a:t> </a:t>
            </a:r>
            <a:r>
              <a:rPr lang="en-US" dirty="0" err="1"/>
              <a:t>lista</a:t>
            </a:r>
            <a:r>
              <a:rPr lang="en-US" dirty="0"/>
              <a:t> </a:t>
            </a:r>
            <a:r>
              <a:rPr lang="en-US" dirty="0" err="1"/>
              <a:t>acestora</a:t>
            </a:r>
            <a:r>
              <a:rPr lang="en-US" dirty="0"/>
              <a:t>:</a:t>
            </a:r>
            <a:endParaRPr lang="ro-RO" dirty="0"/>
          </a:p>
          <a:p>
            <a:r>
              <a:rPr lang="en-US" b="1" dirty="0"/>
              <a:t>static</a:t>
            </a:r>
            <a:endParaRPr lang="ro-RO" dirty="0"/>
          </a:p>
          <a:p>
            <a:r>
              <a:rPr lang="en-US" b="1" dirty="0"/>
              <a:t>final</a:t>
            </a:r>
            <a:endParaRPr lang="ro-RO" dirty="0"/>
          </a:p>
          <a:p>
            <a:r>
              <a:rPr lang="en-US" b="1" dirty="0"/>
              <a:t>transient</a:t>
            </a:r>
            <a:endParaRPr lang="ro-RO" dirty="0"/>
          </a:p>
          <a:p>
            <a:r>
              <a:rPr lang="en-US" b="1" dirty="0"/>
              <a:t>volatile</a:t>
            </a:r>
            <a:endParaRPr lang="ro-RO" dirty="0"/>
          </a:p>
          <a:p>
            <a:r>
              <a:rPr lang="ro-RO" dirty="0"/>
              <a:t> </a:t>
            </a:r>
            <a:r>
              <a:rPr lang="ro-RO" dirty="0" err="1"/>
              <a:t>Protecţie</a:t>
            </a:r>
            <a:endParaRPr lang="ro-RO" dirty="0"/>
          </a:p>
          <a:p>
            <a:r>
              <a:rPr lang="ro-RO" dirty="0"/>
              <a:t>În Java există patru grade de </a:t>
            </a:r>
            <a:r>
              <a:rPr lang="ro-RO" dirty="0" err="1"/>
              <a:t>protecţie</a:t>
            </a:r>
            <a:r>
              <a:rPr lang="ro-RO" dirty="0"/>
              <a:t> pentru o variabilă </a:t>
            </a:r>
            <a:r>
              <a:rPr lang="ro-RO" dirty="0" err="1"/>
              <a:t>aparţinând</a:t>
            </a:r>
            <a:r>
              <a:rPr lang="ro-RO" dirty="0"/>
              <a:t> unei clase: </a:t>
            </a:r>
          </a:p>
          <a:p>
            <a:r>
              <a:rPr lang="ro-RO" dirty="0"/>
              <a:t>•	privată </a:t>
            </a:r>
          </a:p>
          <a:p>
            <a:r>
              <a:rPr lang="ro-RO" dirty="0"/>
              <a:t>•	protejată </a:t>
            </a:r>
          </a:p>
          <a:p>
            <a:r>
              <a:rPr lang="ro-RO" dirty="0"/>
              <a:t>•	publică </a:t>
            </a:r>
          </a:p>
          <a:p>
            <a:r>
              <a:rPr lang="ro-RO" dirty="0"/>
              <a:t>•	prietenoasă 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8942840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Accesarea unei variabile</a:t>
            </a:r>
          </a:p>
          <a:p>
            <a:r>
              <a:rPr lang="ro-RO" dirty="0"/>
              <a:t>Accesarea unei variabile declarate în interiorul unei clasei se face folosindu-ne de o expresie de forma:</a:t>
            </a:r>
          </a:p>
          <a:p>
            <a:r>
              <a:rPr lang="ro-RO" dirty="0" err="1"/>
              <a:t>ReferinţăInstanţă.NumeVariabilă</a:t>
            </a:r>
            <a:endParaRPr lang="ro-RO" dirty="0"/>
          </a:p>
          <a:p>
            <a:r>
              <a:rPr lang="ro-RO" dirty="0" err="1"/>
              <a:t>Referinţa</a:t>
            </a:r>
            <a:r>
              <a:rPr lang="ro-RO" dirty="0"/>
              <a:t> către o </a:t>
            </a:r>
            <a:r>
              <a:rPr lang="ro-RO" dirty="0" err="1"/>
              <a:t>instanţă</a:t>
            </a:r>
            <a:r>
              <a:rPr lang="ro-RO" dirty="0"/>
              <a:t> trebuie să fie </a:t>
            </a:r>
            <a:r>
              <a:rPr lang="ro-RO" dirty="0" err="1"/>
              <a:t>referinţă</a:t>
            </a:r>
            <a:r>
              <a:rPr lang="ro-RO" dirty="0"/>
              <a:t> către clasa care </a:t>
            </a:r>
            <a:r>
              <a:rPr lang="ro-RO" dirty="0" err="1"/>
              <a:t>conţine</a:t>
            </a:r>
            <a:r>
              <a:rPr lang="ro-RO" dirty="0"/>
              <a:t> variabila. </a:t>
            </a:r>
            <a:r>
              <a:rPr lang="ro-RO" dirty="0" err="1"/>
              <a:t>Referinţa</a:t>
            </a:r>
            <a:r>
              <a:rPr lang="ro-RO" dirty="0"/>
              <a:t> poate fi valoarea unei expresii mai complicate, ca de exemplu un element dintr-un tablou de </a:t>
            </a:r>
            <a:r>
              <a:rPr lang="ro-RO" dirty="0" err="1"/>
              <a:t>referinţe</a:t>
            </a:r>
            <a:r>
              <a:rPr lang="ro-RO" dirty="0"/>
              <a:t>.</a:t>
            </a:r>
          </a:p>
          <a:p>
            <a:r>
              <a:rPr lang="ro-RO" dirty="0"/>
              <a:t>În cazul în care avem o variabilă statică, aceasta poate fi accesată </a:t>
            </a:r>
            <a:r>
              <a:rPr lang="ro-RO" dirty="0" err="1"/>
              <a:t>şi</a:t>
            </a:r>
            <a:r>
              <a:rPr lang="ro-RO" dirty="0"/>
              <a:t> fără să </a:t>
            </a:r>
            <a:r>
              <a:rPr lang="ro-RO" dirty="0" err="1"/>
              <a:t>deţinem</a:t>
            </a:r>
            <a:r>
              <a:rPr lang="ro-RO" dirty="0"/>
              <a:t> o </a:t>
            </a:r>
            <a:r>
              <a:rPr lang="ro-RO" dirty="0" err="1"/>
              <a:t>referinţă</a:t>
            </a:r>
            <a:r>
              <a:rPr lang="ro-RO" dirty="0"/>
              <a:t> către o </a:t>
            </a:r>
            <a:r>
              <a:rPr lang="ro-RO" dirty="0" err="1"/>
              <a:t>instanţă</a:t>
            </a:r>
            <a:r>
              <a:rPr lang="ro-RO" dirty="0"/>
              <a:t> a clasei. Sintaxa este, în acest caz:</a:t>
            </a:r>
          </a:p>
          <a:p>
            <a:r>
              <a:rPr lang="ro-RO" dirty="0" err="1"/>
              <a:t>NumeClasă.NumeVariabilă</a:t>
            </a:r>
            <a:r>
              <a:rPr lang="ro-RO" dirty="0"/>
              <a:t> 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701591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RO" dirty="0"/>
              <a:t>Vizibilitate</a:t>
            </a:r>
          </a:p>
          <a:p>
            <a:r>
              <a:rPr lang="ro-RO" dirty="0"/>
              <a:t>O variabilă poate fi ascunsă de </a:t>
            </a:r>
            <a:r>
              <a:rPr lang="ro-RO" dirty="0" err="1"/>
              <a:t>declaraţia</a:t>
            </a:r>
            <a:r>
              <a:rPr lang="ro-RO" dirty="0"/>
              <a:t> unei alte variabile cu </a:t>
            </a:r>
            <a:r>
              <a:rPr lang="ro-RO" dirty="0" err="1"/>
              <a:t>acelaşi</a:t>
            </a:r>
            <a:r>
              <a:rPr lang="ro-RO" dirty="0"/>
              <a:t> nume. De exemplu, dacă într-o clasă avem declarată o variabilă cu numele unu </a:t>
            </a:r>
            <a:r>
              <a:rPr lang="ro-RO" dirty="0" err="1"/>
              <a:t>şi</a:t>
            </a:r>
            <a:r>
              <a:rPr lang="ro-RO" dirty="0"/>
              <a:t> într-o subclasă a acesteia avem declarată o variabilă cu </a:t>
            </a:r>
            <a:r>
              <a:rPr lang="ro-RO" dirty="0" err="1"/>
              <a:t>acelaşi</a:t>
            </a:r>
            <a:r>
              <a:rPr lang="ro-RO" dirty="0"/>
              <a:t> nume, atunci variabila din superclasă este ascunsă de cea din clasă. </a:t>
            </a:r>
            <a:r>
              <a:rPr lang="ro-RO" dirty="0" err="1"/>
              <a:t>Totuşi</a:t>
            </a:r>
            <a:r>
              <a:rPr lang="ro-RO" dirty="0"/>
              <a:t>, variabila din superclasă există încă </a:t>
            </a:r>
            <a:r>
              <a:rPr lang="ro-RO" dirty="0" err="1"/>
              <a:t>şi</a:t>
            </a:r>
            <a:r>
              <a:rPr lang="ro-RO" dirty="0"/>
              <a:t> poate fi accesată în mod explicit. Expresia de referire este, în acest caz: </a:t>
            </a:r>
          </a:p>
          <a:p>
            <a:r>
              <a:rPr lang="ro-RO" dirty="0" err="1"/>
              <a:t>NumeSuperClasă.NumeVariabilă</a:t>
            </a:r>
            <a:endParaRPr lang="ro-RO" dirty="0"/>
          </a:p>
          <a:p>
            <a:r>
              <a:rPr lang="ro-RO" dirty="0"/>
              <a:t>sau</a:t>
            </a:r>
          </a:p>
          <a:p>
            <a:r>
              <a:rPr lang="ro-RO" dirty="0" err="1"/>
              <a:t>super.NumeVariabilă</a:t>
            </a:r>
            <a:endParaRPr lang="ro-RO" dirty="0"/>
          </a:p>
          <a:p>
            <a:r>
              <a:rPr lang="ro-RO" dirty="0"/>
              <a:t>în cazul în care superclasa este imediată.</a:t>
            </a:r>
          </a:p>
          <a:p>
            <a:r>
              <a:rPr lang="ro-RO" dirty="0"/>
              <a:t>La fel, o variabilă a unei clase poate fi ascunsă de o </a:t>
            </a:r>
            <a:r>
              <a:rPr lang="ro-RO" dirty="0" err="1"/>
              <a:t>declaraţie</a:t>
            </a:r>
            <a:r>
              <a:rPr lang="ro-RO" dirty="0"/>
              <a:t> de variabilă dintr-un bloc de </a:t>
            </a:r>
            <a:r>
              <a:rPr lang="ro-RO" dirty="0" err="1"/>
              <a:t>instrucţiuni</a:t>
            </a:r>
            <a:r>
              <a:rPr lang="ro-RO" dirty="0"/>
              <a:t>. Orice </a:t>
            </a:r>
            <a:r>
              <a:rPr lang="ro-RO" dirty="0" err="1"/>
              <a:t>referinţă</a:t>
            </a:r>
            <a:r>
              <a:rPr lang="ro-RO" dirty="0"/>
              <a:t> la ea va trebui făcută în mod explicit. Expresia de referire este, în acest caz:</a:t>
            </a:r>
          </a:p>
          <a:p>
            <a:r>
              <a:rPr lang="ro-RO" dirty="0" err="1"/>
              <a:t>this.NumeVariabilă</a:t>
            </a:r>
            <a:r>
              <a:rPr lang="ro-RO" dirty="0"/>
              <a:t> 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6273185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altLang="ro-RO" dirty="0" smtClean="0"/>
              <a:t>Ieșirea unui program Java</a:t>
            </a:r>
            <a:endParaRPr lang="en-CA" altLang="ro-RO" dirty="0" smtClean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lnSpc>
                <a:spcPct val="80000"/>
              </a:lnSpc>
              <a:tabLst>
                <a:tab pos="406400" algn="l"/>
              </a:tabLst>
            </a:pPr>
            <a:r>
              <a:rPr lang="en-CA" altLang="ro-RO" b="1" dirty="0" smtClean="0"/>
              <a:t>Format:</a:t>
            </a:r>
          </a:p>
          <a:p>
            <a:pPr marL="406400" lvl="1" indent="0">
              <a:lnSpc>
                <a:spcPct val="80000"/>
              </a:lnSpc>
              <a:buNone/>
              <a:tabLst>
                <a:tab pos="406400" algn="l"/>
              </a:tabLst>
            </a:pPr>
            <a:r>
              <a:rPr lang="en-CA" altLang="ro-RO" dirty="0" err="1">
                <a:latin typeface="Arial" panose="020B0604020202020204" pitchFamily="34" charset="0"/>
              </a:rPr>
              <a:t>System.out.print</a:t>
            </a:r>
            <a:r>
              <a:rPr lang="en-CA" altLang="ro-RO" dirty="0">
                <a:latin typeface="Arial" panose="020B0604020202020204" pitchFamily="34" charset="0"/>
              </a:rPr>
              <a:t>(&lt;</a:t>
            </a:r>
            <a:r>
              <a:rPr lang="en-CA" altLang="ro-RO" i="1" dirty="0">
                <a:latin typeface="Arial" panose="020B0604020202020204" pitchFamily="34" charset="0"/>
              </a:rPr>
              <a:t>string or variable name one</a:t>
            </a:r>
            <a:r>
              <a:rPr lang="en-CA" altLang="ro-RO" dirty="0">
                <a:latin typeface="Arial" panose="020B0604020202020204" pitchFamily="34" charset="0"/>
              </a:rPr>
              <a:t>&gt; + &lt;</a:t>
            </a:r>
            <a:r>
              <a:rPr lang="en-CA" altLang="ro-RO" i="1" dirty="0">
                <a:latin typeface="Arial" panose="020B0604020202020204" pitchFamily="34" charset="0"/>
              </a:rPr>
              <a:t>string or variable name two</a:t>
            </a:r>
            <a:r>
              <a:rPr lang="en-CA" altLang="ro-RO" dirty="0">
                <a:latin typeface="Arial" panose="020B0604020202020204" pitchFamily="34" charset="0"/>
              </a:rPr>
              <a:t>&gt;..);</a:t>
            </a:r>
          </a:p>
          <a:p>
            <a:pPr marL="406400" lvl="1" indent="0">
              <a:lnSpc>
                <a:spcPct val="80000"/>
              </a:lnSpc>
              <a:buNone/>
              <a:tabLst>
                <a:tab pos="406400" algn="l"/>
              </a:tabLst>
            </a:pPr>
            <a:r>
              <a:rPr lang="ro-RO" altLang="ro-RO" dirty="0" smtClean="0">
                <a:latin typeface="Arial" panose="020B0604020202020204" pitchFamily="34" charset="0"/>
              </a:rPr>
              <a:t>SAU</a:t>
            </a:r>
            <a:endParaRPr lang="en-CA" altLang="ro-RO" dirty="0">
              <a:latin typeface="Arial" panose="020B0604020202020204" pitchFamily="34" charset="0"/>
            </a:endParaRPr>
          </a:p>
          <a:p>
            <a:pPr marL="406400" lvl="1" indent="0">
              <a:lnSpc>
                <a:spcPct val="80000"/>
              </a:lnSpc>
              <a:buNone/>
              <a:tabLst>
                <a:tab pos="406400" algn="l"/>
              </a:tabLst>
            </a:pPr>
            <a:r>
              <a:rPr lang="en-CA" altLang="ro-RO" dirty="0" err="1">
                <a:latin typeface="Arial" panose="020B0604020202020204" pitchFamily="34" charset="0"/>
              </a:rPr>
              <a:t>System.out.println</a:t>
            </a:r>
            <a:r>
              <a:rPr lang="en-CA" altLang="ro-RO" dirty="0">
                <a:latin typeface="Arial" panose="020B0604020202020204" pitchFamily="34" charset="0"/>
              </a:rPr>
              <a:t>(&lt;</a:t>
            </a:r>
            <a:r>
              <a:rPr lang="en-CA" altLang="ro-RO" i="1" dirty="0">
                <a:latin typeface="Arial" panose="020B0604020202020204" pitchFamily="34" charset="0"/>
              </a:rPr>
              <a:t>string or variable name one</a:t>
            </a:r>
            <a:r>
              <a:rPr lang="en-CA" altLang="ro-RO" dirty="0">
                <a:latin typeface="Arial" panose="020B0604020202020204" pitchFamily="34" charset="0"/>
              </a:rPr>
              <a:t>&gt; + &lt;</a:t>
            </a:r>
            <a:r>
              <a:rPr lang="en-CA" altLang="ro-RO" i="1" dirty="0">
                <a:latin typeface="Arial" panose="020B0604020202020204" pitchFamily="34" charset="0"/>
              </a:rPr>
              <a:t>string or variable name two</a:t>
            </a:r>
            <a:r>
              <a:rPr lang="en-CA" altLang="ro-RO" dirty="0">
                <a:latin typeface="Arial" panose="020B0604020202020204" pitchFamily="34" charset="0"/>
              </a:rPr>
              <a:t>&gt;..);</a:t>
            </a:r>
          </a:p>
          <a:p>
            <a:pPr marL="406400" lvl="1" indent="0">
              <a:lnSpc>
                <a:spcPct val="80000"/>
              </a:lnSpc>
              <a:buNone/>
              <a:tabLst>
                <a:tab pos="406400" algn="l"/>
              </a:tabLst>
            </a:pPr>
            <a:endParaRPr lang="en-CA" altLang="ro-RO" dirty="0">
              <a:latin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tabLst>
                <a:tab pos="406400" algn="l"/>
              </a:tabLst>
            </a:pPr>
            <a:r>
              <a:rPr lang="en-CA" altLang="ro-RO" b="1" dirty="0" smtClean="0"/>
              <a:t>Example </a:t>
            </a:r>
            <a:endParaRPr lang="en-CA" altLang="ro-RO" dirty="0">
              <a:latin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buNone/>
              <a:tabLst>
                <a:tab pos="406400" algn="l"/>
              </a:tabLst>
            </a:pPr>
            <a:r>
              <a:rPr lang="en-CA" altLang="ro-RO" sz="1800" dirty="0">
                <a:latin typeface="Arial" panose="020B0604020202020204" pitchFamily="34" charset="0"/>
              </a:rPr>
              <a:t>public class OutputExample1</a:t>
            </a:r>
          </a:p>
          <a:p>
            <a:pPr marL="0" indent="0">
              <a:lnSpc>
                <a:spcPct val="80000"/>
              </a:lnSpc>
              <a:buNone/>
              <a:tabLst>
                <a:tab pos="406400" algn="l"/>
              </a:tabLst>
            </a:pPr>
            <a:r>
              <a:rPr lang="en-CA" altLang="ro-RO" sz="1800" dirty="0">
                <a:latin typeface="Arial" panose="020B0604020202020204" pitchFamily="34" charset="0"/>
              </a:rPr>
              <a:t>{</a:t>
            </a:r>
          </a:p>
          <a:p>
            <a:pPr marL="0" indent="0">
              <a:lnSpc>
                <a:spcPct val="80000"/>
              </a:lnSpc>
              <a:buNone/>
              <a:tabLst>
                <a:tab pos="406400" algn="l"/>
              </a:tabLst>
            </a:pPr>
            <a:r>
              <a:rPr lang="en-CA" altLang="ro-RO" sz="1800" dirty="0">
                <a:latin typeface="Arial" panose="020B0604020202020204" pitchFamily="34" charset="0"/>
              </a:rPr>
              <a:t>      public static void main (String [] </a:t>
            </a:r>
            <a:r>
              <a:rPr lang="en-CA" altLang="ro-RO" sz="1800" dirty="0" err="1">
                <a:latin typeface="Arial" panose="020B0604020202020204" pitchFamily="34" charset="0"/>
              </a:rPr>
              <a:t>args</a:t>
            </a:r>
            <a:r>
              <a:rPr lang="en-CA" altLang="ro-RO" sz="1800" dirty="0">
                <a:latin typeface="Arial" panose="020B0604020202020204" pitchFamily="34" charset="0"/>
              </a:rPr>
              <a:t>)</a:t>
            </a:r>
          </a:p>
          <a:p>
            <a:pPr marL="0" indent="0">
              <a:lnSpc>
                <a:spcPct val="80000"/>
              </a:lnSpc>
              <a:buNone/>
              <a:tabLst>
                <a:tab pos="406400" algn="l"/>
              </a:tabLst>
            </a:pPr>
            <a:r>
              <a:rPr lang="en-CA" altLang="ro-RO" sz="1800" dirty="0">
                <a:latin typeface="Arial" panose="020B0604020202020204" pitchFamily="34" charset="0"/>
              </a:rPr>
              <a:t>      {</a:t>
            </a:r>
          </a:p>
          <a:p>
            <a:pPr marL="0" indent="0">
              <a:lnSpc>
                <a:spcPct val="80000"/>
              </a:lnSpc>
              <a:buNone/>
              <a:tabLst>
                <a:tab pos="406400" algn="l"/>
              </a:tabLst>
            </a:pPr>
            <a:r>
              <a:rPr lang="en-CA" altLang="ro-RO" sz="1800" dirty="0">
                <a:latin typeface="Arial" panose="020B0604020202020204" pitchFamily="34" charset="0"/>
              </a:rPr>
              <a:t>           </a:t>
            </a:r>
            <a:r>
              <a:rPr lang="en-CA" altLang="ro-RO" sz="1800" dirty="0" err="1">
                <a:latin typeface="Arial" panose="020B0604020202020204" pitchFamily="34" charset="0"/>
              </a:rPr>
              <a:t>int</a:t>
            </a:r>
            <a:r>
              <a:rPr lang="en-CA" altLang="ro-RO" sz="1800" dirty="0">
                <a:latin typeface="Arial" panose="020B0604020202020204" pitchFamily="34" charset="0"/>
              </a:rPr>
              <a:t> </a:t>
            </a:r>
            <a:r>
              <a:rPr lang="en-CA" altLang="ro-RO" sz="1800" dirty="0" err="1">
                <a:latin typeface="Arial" panose="020B0604020202020204" pitchFamily="34" charset="0"/>
              </a:rPr>
              <a:t>num</a:t>
            </a:r>
            <a:r>
              <a:rPr lang="en-CA" altLang="ro-RO" sz="1800" dirty="0">
                <a:latin typeface="Arial" panose="020B0604020202020204" pitchFamily="34" charset="0"/>
              </a:rPr>
              <a:t> = 123;   </a:t>
            </a:r>
          </a:p>
          <a:p>
            <a:pPr marL="406400" lvl="1" indent="0">
              <a:lnSpc>
                <a:spcPct val="80000"/>
              </a:lnSpc>
              <a:buNone/>
              <a:tabLst>
                <a:tab pos="406400" algn="l"/>
              </a:tabLst>
            </a:pPr>
            <a:r>
              <a:rPr lang="en-CA" altLang="ro-RO" dirty="0">
                <a:latin typeface="Arial" panose="020B0604020202020204" pitchFamily="34" charset="0"/>
              </a:rPr>
              <a:t>     </a:t>
            </a:r>
            <a:r>
              <a:rPr lang="en-CA" altLang="ro-RO" dirty="0" err="1">
                <a:latin typeface="Arial" panose="020B0604020202020204" pitchFamily="34" charset="0"/>
              </a:rPr>
              <a:t>System.out.println</a:t>
            </a:r>
            <a:r>
              <a:rPr lang="en-CA" altLang="ro-RO" dirty="0" smtClean="0">
                <a:latin typeface="Arial" panose="020B0604020202020204" pitchFamily="34" charset="0"/>
              </a:rPr>
              <a:t>(„</a:t>
            </a:r>
            <a:r>
              <a:rPr lang="ro-RO" altLang="ro-RO" dirty="0" smtClean="0">
                <a:latin typeface="Arial" panose="020B0604020202020204" pitchFamily="34" charset="0"/>
              </a:rPr>
              <a:t>Primul program</a:t>
            </a:r>
            <a:r>
              <a:rPr lang="en-CA" altLang="ro-RO" dirty="0" smtClean="0">
                <a:latin typeface="Arial" panose="020B0604020202020204" pitchFamily="34" charset="0"/>
              </a:rPr>
              <a:t>!");</a:t>
            </a:r>
            <a:endParaRPr lang="en-CA" altLang="ro-RO" dirty="0">
              <a:latin typeface="Arial" panose="020B0604020202020204" pitchFamily="34" charset="0"/>
            </a:endParaRPr>
          </a:p>
          <a:p>
            <a:pPr marL="406400" lvl="1" indent="0">
              <a:lnSpc>
                <a:spcPct val="80000"/>
              </a:lnSpc>
              <a:buNone/>
              <a:tabLst>
                <a:tab pos="406400" algn="l"/>
              </a:tabLst>
            </a:pPr>
            <a:r>
              <a:rPr lang="en-CA" altLang="ro-RO" dirty="0">
                <a:latin typeface="Arial" panose="020B0604020202020204" pitchFamily="34" charset="0"/>
              </a:rPr>
              <a:t>     </a:t>
            </a:r>
            <a:r>
              <a:rPr lang="en-CA" altLang="ro-RO" dirty="0" err="1">
                <a:latin typeface="Arial" panose="020B0604020202020204" pitchFamily="34" charset="0"/>
              </a:rPr>
              <a:t>System.out.print</a:t>
            </a:r>
            <a:r>
              <a:rPr lang="en-CA" altLang="ro-RO" dirty="0">
                <a:latin typeface="Arial" panose="020B0604020202020204" pitchFamily="34" charset="0"/>
              </a:rPr>
              <a:t>(</a:t>
            </a:r>
            <a:r>
              <a:rPr lang="en-CA" altLang="ro-RO" dirty="0" err="1">
                <a:latin typeface="Arial" panose="020B0604020202020204" pitchFamily="34" charset="0"/>
              </a:rPr>
              <a:t>num</a:t>
            </a:r>
            <a:r>
              <a:rPr lang="en-CA" altLang="ro-RO" dirty="0">
                <a:latin typeface="Arial" panose="020B0604020202020204" pitchFamily="34" charset="0"/>
              </a:rPr>
              <a:t>);    </a:t>
            </a:r>
          </a:p>
          <a:p>
            <a:pPr marL="406400" lvl="1" indent="0">
              <a:lnSpc>
                <a:spcPct val="80000"/>
              </a:lnSpc>
              <a:buNone/>
              <a:tabLst>
                <a:tab pos="406400" algn="l"/>
              </a:tabLst>
            </a:pPr>
            <a:r>
              <a:rPr lang="en-CA" altLang="ro-RO" dirty="0">
                <a:latin typeface="Arial" panose="020B0604020202020204" pitchFamily="34" charset="0"/>
              </a:rPr>
              <a:t>     </a:t>
            </a:r>
            <a:r>
              <a:rPr lang="en-CA" altLang="ro-RO" dirty="0" err="1">
                <a:latin typeface="Arial" panose="020B0604020202020204" pitchFamily="34" charset="0"/>
              </a:rPr>
              <a:t>System.out.println</a:t>
            </a:r>
            <a:r>
              <a:rPr lang="en-CA" altLang="ro-RO" dirty="0">
                <a:latin typeface="Arial" panose="020B0604020202020204" pitchFamily="34" charset="0"/>
              </a:rPr>
              <a:t>("</a:t>
            </a:r>
            <a:r>
              <a:rPr lang="en-CA" altLang="ro-RO" dirty="0" err="1">
                <a:latin typeface="Arial" panose="020B0604020202020204" pitchFamily="34" charset="0"/>
              </a:rPr>
              <a:t>num</a:t>
            </a:r>
            <a:r>
              <a:rPr lang="en-CA" altLang="ro-RO" dirty="0">
                <a:latin typeface="Arial" panose="020B0604020202020204" pitchFamily="34" charset="0"/>
              </a:rPr>
              <a:t>="+</a:t>
            </a:r>
            <a:r>
              <a:rPr lang="en-CA" altLang="ro-RO" dirty="0" err="1">
                <a:latin typeface="Arial" panose="020B0604020202020204" pitchFamily="34" charset="0"/>
              </a:rPr>
              <a:t>num</a:t>
            </a:r>
            <a:r>
              <a:rPr lang="en-CA" altLang="ro-RO" dirty="0">
                <a:latin typeface="Arial" panose="020B0604020202020204" pitchFamily="34" charset="0"/>
              </a:rPr>
              <a:t>);</a:t>
            </a:r>
          </a:p>
          <a:p>
            <a:pPr marL="406400" lvl="1" indent="0">
              <a:lnSpc>
                <a:spcPct val="80000"/>
              </a:lnSpc>
              <a:buNone/>
              <a:tabLst>
                <a:tab pos="406400" algn="l"/>
              </a:tabLst>
            </a:pPr>
            <a:r>
              <a:rPr lang="en-CA" altLang="ro-RO" dirty="0">
                <a:latin typeface="Arial" panose="020B0604020202020204" pitchFamily="34" charset="0"/>
              </a:rPr>
              <a:t>}</a:t>
            </a:r>
          </a:p>
          <a:p>
            <a:pPr marL="0" indent="0">
              <a:lnSpc>
                <a:spcPct val="80000"/>
              </a:lnSpc>
              <a:buNone/>
              <a:tabLst>
                <a:tab pos="406400" algn="l"/>
              </a:tabLst>
            </a:pPr>
            <a:r>
              <a:rPr lang="en-CA" altLang="ro-RO" sz="1800" dirty="0">
                <a:latin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10398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0843527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8491</TotalTime>
  <Words>3341</Words>
  <Application>Microsoft Office PowerPoint</Application>
  <PresentationFormat>Widescreen</PresentationFormat>
  <Paragraphs>579</Paragraphs>
  <Slides>60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7" baseType="lpstr">
      <vt:lpstr>Arial Unicode MS</vt:lpstr>
      <vt:lpstr>Arial</vt:lpstr>
      <vt:lpstr>Calibri</vt:lpstr>
      <vt:lpstr>Calibri Light</vt:lpstr>
      <vt:lpstr>Courier New</vt:lpstr>
      <vt:lpstr>Times New Roman</vt:lpstr>
      <vt:lpstr>Retrospect</vt:lpstr>
      <vt:lpstr>Programare Java</vt:lpstr>
      <vt:lpstr>Java Vs. Java Script</vt:lpstr>
      <vt:lpstr>Java: Istoric</vt:lpstr>
      <vt:lpstr>Java: Istoric (2)</vt:lpstr>
      <vt:lpstr>Java: Istoric (3)</vt:lpstr>
      <vt:lpstr>Java Istoric (4)</vt:lpstr>
      <vt:lpstr>Java Istoric (5)</vt:lpstr>
      <vt:lpstr>Java: Istoric (6)</vt:lpstr>
      <vt:lpstr>Java: Istoric (7)</vt:lpstr>
      <vt:lpstr>Java: Istoric (8)</vt:lpstr>
      <vt:lpstr>Java: Write Once, Run Anywhere</vt:lpstr>
      <vt:lpstr>Java: Write Once, Run Anywhere</vt:lpstr>
      <vt:lpstr>Java: Write Once, Run Anywhere (2)</vt:lpstr>
      <vt:lpstr>Java: Write Once, Run Anywhere (3)</vt:lpstr>
      <vt:lpstr>Compiled Programs With Different  Operating Systems</vt:lpstr>
      <vt:lpstr>Scurt istoric</vt:lpstr>
      <vt:lpstr>Istoricul limbajului Java</vt:lpstr>
      <vt:lpstr>Caracteristici ale limbajului</vt:lpstr>
      <vt:lpstr>Reprezentarea informaţiilor cu obiecte</vt:lpstr>
      <vt:lpstr>Clase de obiecte</vt:lpstr>
      <vt:lpstr>Încapsularea informaţiilor în interiorul obiectelor </vt:lpstr>
      <vt:lpstr>O vedere la nivel înalt a traducerii / executării programelor Java</vt:lpstr>
      <vt:lpstr>O vedere la nivel înalt a traducerii / executării programelor Java (2)</vt:lpstr>
      <vt:lpstr>Ce versiune Java?</vt:lpstr>
      <vt:lpstr>Cel mai mic program Java compilabil și executabil</vt:lpstr>
      <vt:lpstr>Crearea, compilarea și rularea programelor Java</vt:lpstr>
      <vt:lpstr>Compilarea</vt:lpstr>
      <vt:lpstr>Rularea programului</vt:lpstr>
      <vt:lpstr>Running The Java Compiler At Home</vt:lpstr>
      <vt:lpstr>Observații</vt:lpstr>
      <vt:lpstr>Exemplu: Hello World Program</vt:lpstr>
      <vt:lpstr>Tipuri primitive de date</vt:lpstr>
      <vt:lpstr>PowerPoint Presentation</vt:lpstr>
      <vt:lpstr>Tipuri referinţă </vt:lpstr>
      <vt:lpstr>Tipul referinţă către un tablou</vt:lpstr>
      <vt:lpstr>Operatori (la fel ca în C/C++) </vt:lpstr>
      <vt:lpstr>Declararea variabilelor </vt:lpstr>
      <vt:lpstr>Clasa de memorare</vt:lpstr>
      <vt:lpstr>Variabile dinamice</vt:lpstr>
      <vt:lpstr>Tablouri de variabile</vt:lpstr>
      <vt:lpstr>Iniţializarea tablourilor.</vt:lpstr>
      <vt:lpstr>Lungimea tablourilor</vt:lpstr>
      <vt:lpstr>Referirea elementelor din tablou</vt:lpstr>
      <vt:lpstr>PowerPoint Presentation</vt:lpstr>
      <vt:lpstr>Alocarea şi eliberarea tablourilor </vt:lpstr>
      <vt:lpstr>Conversii</vt:lpstr>
      <vt:lpstr>Conversii de trunchiere a valorii</vt:lpstr>
      <vt:lpstr>Conversii pe tipuri referinţă</vt:lpstr>
      <vt:lpstr>Conversii la operaţia de atribuire</vt:lpstr>
      <vt:lpstr>Conversiile posibile la atribuirea unei valori de tipul T la o variabilă de tipul S. </vt:lpstr>
      <vt:lpstr>Conversii explicite</vt:lpstr>
      <vt:lpstr>Cazurile posibile la convertirea unei referinţe de tip T într-o referinţă de tip S</vt:lpstr>
      <vt:lpstr>Conversii de promovare aritmetică</vt:lpstr>
      <vt:lpstr>Declararea unei class</vt:lpstr>
      <vt:lpstr>PowerPoint Presentation</vt:lpstr>
      <vt:lpstr>Variabilele unei clase </vt:lpstr>
      <vt:lpstr>PowerPoint Presentation</vt:lpstr>
      <vt:lpstr>PowerPoint Presentation</vt:lpstr>
      <vt:lpstr>Ieșirea unui program Java</vt:lpstr>
      <vt:lpstr>PowerPoint Presentation</vt:lpstr>
    </vt:vector>
  </TitlesOfParts>
  <Company>UPT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Programare Java</dc:title>
  <dc:creator>Manuela Panoiu</dc:creator>
  <cp:lastModifiedBy>Manuela Panoiu</cp:lastModifiedBy>
  <cp:revision>20</cp:revision>
  <dcterms:created xsi:type="dcterms:W3CDTF">2020-09-23T04:54:53Z</dcterms:created>
  <dcterms:modified xsi:type="dcterms:W3CDTF">2020-10-06T11:49:15Z</dcterms:modified>
</cp:coreProperties>
</file>