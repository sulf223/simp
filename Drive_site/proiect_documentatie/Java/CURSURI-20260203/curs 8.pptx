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9" r:id="rId18"/>
    <p:sldId id="280" r:id="rId19"/>
    <p:sldId id="281" r:id="rId20"/>
    <p:sldId id="282" r:id="rId21"/>
    <p:sldId id="283" r:id="rId22"/>
    <p:sldId id="284" r:id="rId23"/>
    <p:sldId id="285" r:id="rId24"/>
    <p:sldId id="286" r:id="rId25"/>
    <p:sldId id="287" r:id="rId26"/>
    <p:sldId id="288" r:id="rId27"/>
    <p:sldId id="289" r:id="rId28"/>
    <p:sldId id="291" r:id="rId29"/>
    <p:sldId id="292" r:id="rId30"/>
    <p:sldId id="293" r:id="rId31"/>
    <p:sldId id="272" r:id="rId32"/>
    <p:sldId id="273" r:id="rId33"/>
    <p:sldId id="274" r:id="rId34"/>
    <p:sldId id="275" r:id="rId35"/>
    <p:sldId id="276" r:id="rId36"/>
    <p:sldId id="277" r:id="rId37"/>
    <p:sldId id="278" r:id="rId38"/>
    <p:sldId id="294" r:id="rId39"/>
    <p:sldId id="295" r:id="rId40"/>
    <p:sldId id="297" r:id="rId41"/>
    <p:sldId id="296" r:id="rId42"/>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2F14943-37B5-4CFA-B649-A4684FD757DA}" type="datetimeFigureOut">
              <a:rPr lang="ro-RO" smtClean="0"/>
              <a:t>29.10.2020</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123682A1-CD90-4AA9-A37E-776F4ABAB9AE}" type="slidenum">
              <a:rPr lang="ro-RO" smtClean="0"/>
              <a:t>‹#›</a:t>
            </a:fld>
            <a:endParaRPr lang="ro-R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760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2F14943-37B5-4CFA-B649-A4684FD757DA}" type="datetimeFigureOut">
              <a:rPr lang="ro-RO" smtClean="0"/>
              <a:t>29.10.2020</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123682A1-CD90-4AA9-A37E-776F4ABAB9AE}" type="slidenum">
              <a:rPr lang="ro-RO" smtClean="0"/>
              <a:t>‹#›</a:t>
            </a:fld>
            <a:endParaRPr lang="ro-RO"/>
          </a:p>
        </p:txBody>
      </p:sp>
    </p:spTree>
    <p:extLst>
      <p:ext uri="{BB962C8B-B14F-4D97-AF65-F5344CB8AC3E}">
        <p14:creationId xmlns:p14="http://schemas.microsoft.com/office/powerpoint/2010/main" val="1994329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2F14943-37B5-4CFA-B649-A4684FD757DA}" type="datetimeFigureOut">
              <a:rPr lang="ro-RO" smtClean="0"/>
              <a:t>29.10.2020</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123682A1-CD90-4AA9-A37E-776F4ABAB9AE}" type="slidenum">
              <a:rPr lang="ro-RO" smtClean="0"/>
              <a:t>‹#›</a:t>
            </a:fld>
            <a:endParaRPr lang="ro-R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9521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2F14943-37B5-4CFA-B649-A4684FD757DA}" type="datetimeFigureOut">
              <a:rPr lang="ro-RO" smtClean="0"/>
              <a:t>29.10.2020</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123682A1-CD90-4AA9-A37E-776F4ABAB9AE}" type="slidenum">
              <a:rPr lang="ro-RO" smtClean="0"/>
              <a:t>‹#›</a:t>
            </a:fld>
            <a:endParaRPr lang="ro-RO"/>
          </a:p>
        </p:txBody>
      </p:sp>
    </p:spTree>
    <p:extLst>
      <p:ext uri="{BB962C8B-B14F-4D97-AF65-F5344CB8AC3E}">
        <p14:creationId xmlns:p14="http://schemas.microsoft.com/office/powerpoint/2010/main" val="2957062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2F14943-37B5-4CFA-B649-A4684FD757DA}" type="datetimeFigureOut">
              <a:rPr lang="ro-RO" smtClean="0"/>
              <a:t>29.10.2020</a:t>
            </a:fld>
            <a:endParaRPr lang="ro-RO"/>
          </a:p>
        </p:txBody>
      </p:sp>
      <p:sp>
        <p:nvSpPr>
          <p:cNvPr id="8" name="Footer Placeholder 7"/>
          <p:cNvSpPr>
            <a:spLocks noGrp="1"/>
          </p:cNvSpPr>
          <p:nvPr>
            <p:ph type="ftr" sz="quarter" idx="11"/>
          </p:nvPr>
        </p:nvSpPr>
        <p:spPr/>
        <p:txBody>
          <a:bodyPr/>
          <a:lstStyle/>
          <a:p>
            <a:endParaRPr lang="ro-RO"/>
          </a:p>
        </p:txBody>
      </p:sp>
      <p:sp>
        <p:nvSpPr>
          <p:cNvPr id="9" name="Slide Number Placeholder 8"/>
          <p:cNvSpPr>
            <a:spLocks noGrp="1"/>
          </p:cNvSpPr>
          <p:nvPr>
            <p:ph type="sldNum" sz="quarter" idx="12"/>
          </p:nvPr>
        </p:nvSpPr>
        <p:spPr/>
        <p:txBody>
          <a:bodyPr/>
          <a:lstStyle/>
          <a:p>
            <a:fld id="{123682A1-CD90-4AA9-A37E-776F4ABAB9AE}" type="slidenum">
              <a:rPr lang="ro-RO" smtClean="0"/>
              <a:t>‹#›</a:t>
            </a:fld>
            <a:endParaRPr lang="ro-RO"/>
          </a:p>
        </p:txBody>
      </p:sp>
    </p:spTree>
    <p:extLst>
      <p:ext uri="{BB962C8B-B14F-4D97-AF65-F5344CB8AC3E}">
        <p14:creationId xmlns:p14="http://schemas.microsoft.com/office/powerpoint/2010/main" val="3574219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2F14943-37B5-4CFA-B649-A4684FD757DA}" type="datetimeFigureOut">
              <a:rPr lang="ro-RO" smtClean="0"/>
              <a:t>29.10.2020</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123682A1-CD90-4AA9-A37E-776F4ABAB9AE}" type="slidenum">
              <a:rPr lang="ro-RO" smtClean="0"/>
              <a:t>‹#›</a:t>
            </a:fld>
            <a:endParaRPr lang="ro-RO"/>
          </a:p>
        </p:txBody>
      </p:sp>
    </p:spTree>
    <p:extLst>
      <p:ext uri="{BB962C8B-B14F-4D97-AF65-F5344CB8AC3E}">
        <p14:creationId xmlns:p14="http://schemas.microsoft.com/office/powerpoint/2010/main" val="2153350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2F14943-37B5-4CFA-B649-A4684FD757DA}" type="datetimeFigureOut">
              <a:rPr lang="ro-RO" smtClean="0"/>
              <a:t>29.10.2020</a:t>
            </a:fld>
            <a:endParaRPr lang="ro-R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o-RO"/>
          </a:p>
        </p:txBody>
      </p:sp>
      <p:sp>
        <p:nvSpPr>
          <p:cNvPr id="9" name="Slide Number Placeholder 8"/>
          <p:cNvSpPr>
            <a:spLocks noGrp="1"/>
          </p:cNvSpPr>
          <p:nvPr>
            <p:ph type="sldNum" sz="quarter" idx="12"/>
          </p:nvPr>
        </p:nvSpPr>
        <p:spPr/>
        <p:txBody>
          <a:bodyPr/>
          <a:lstStyle/>
          <a:p>
            <a:fld id="{123682A1-CD90-4AA9-A37E-776F4ABAB9AE}" type="slidenum">
              <a:rPr lang="ro-RO" smtClean="0"/>
              <a:t>‹#›</a:t>
            </a:fld>
            <a:endParaRPr lang="ro-RO"/>
          </a:p>
        </p:txBody>
      </p:sp>
    </p:spTree>
    <p:extLst>
      <p:ext uri="{BB962C8B-B14F-4D97-AF65-F5344CB8AC3E}">
        <p14:creationId xmlns:p14="http://schemas.microsoft.com/office/powerpoint/2010/main" val="2766872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F14943-37B5-4CFA-B649-A4684FD757DA}" type="datetimeFigureOut">
              <a:rPr lang="ro-RO" smtClean="0"/>
              <a:t>29.10.2020</a:t>
            </a:fld>
            <a:endParaRPr lang="ro-R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o-R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23682A1-CD90-4AA9-A37E-776F4ABAB9AE}" type="slidenum">
              <a:rPr lang="ro-RO" smtClean="0"/>
              <a:t>‹#›</a:t>
            </a:fld>
            <a:endParaRPr lang="ro-RO"/>
          </a:p>
        </p:txBody>
      </p:sp>
    </p:spTree>
    <p:extLst>
      <p:ext uri="{BB962C8B-B14F-4D97-AF65-F5344CB8AC3E}">
        <p14:creationId xmlns:p14="http://schemas.microsoft.com/office/powerpoint/2010/main" val="158629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F14943-37B5-4CFA-B649-A4684FD757DA}" type="datetimeFigureOut">
              <a:rPr lang="ro-RO" smtClean="0"/>
              <a:t>29.10.2020</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123682A1-CD90-4AA9-A37E-776F4ABAB9AE}" type="slidenum">
              <a:rPr lang="ro-RO" smtClean="0"/>
              <a:t>‹#›</a:t>
            </a:fld>
            <a:endParaRPr lang="ro-RO"/>
          </a:p>
        </p:txBody>
      </p:sp>
    </p:spTree>
    <p:extLst>
      <p:ext uri="{BB962C8B-B14F-4D97-AF65-F5344CB8AC3E}">
        <p14:creationId xmlns:p14="http://schemas.microsoft.com/office/powerpoint/2010/main" val="2905005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2F14943-37B5-4CFA-B649-A4684FD757DA}" type="datetimeFigureOut">
              <a:rPr lang="ro-RO" smtClean="0"/>
              <a:t>29.10.2020</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123682A1-CD90-4AA9-A37E-776F4ABAB9AE}" type="slidenum">
              <a:rPr lang="ro-RO" smtClean="0"/>
              <a:t>‹#›</a:t>
            </a:fld>
            <a:endParaRPr lang="ro-RO"/>
          </a:p>
        </p:txBody>
      </p:sp>
    </p:spTree>
    <p:extLst>
      <p:ext uri="{BB962C8B-B14F-4D97-AF65-F5344CB8AC3E}">
        <p14:creationId xmlns:p14="http://schemas.microsoft.com/office/powerpoint/2010/main" val="4058000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2F14943-37B5-4CFA-B649-A4684FD757DA}" type="datetimeFigureOut">
              <a:rPr lang="ro-RO" smtClean="0"/>
              <a:t>29.10.2020</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123682A1-CD90-4AA9-A37E-776F4ABAB9AE}" type="slidenum">
              <a:rPr lang="ro-RO" smtClean="0"/>
              <a:t>‹#›</a:t>
            </a:fld>
            <a:endParaRPr lang="ro-RO"/>
          </a:p>
        </p:txBody>
      </p:sp>
    </p:spTree>
    <p:extLst>
      <p:ext uri="{BB962C8B-B14F-4D97-AF65-F5344CB8AC3E}">
        <p14:creationId xmlns:p14="http://schemas.microsoft.com/office/powerpoint/2010/main" val="3388403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2F14943-37B5-4CFA-B649-A4684FD757DA}" type="datetimeFigureOut">
              <a:rPr lang="ro-RO" smtClean="0"/>
              <a:t>29.10.2020</a:t>
            </a:fld>
            <a:endParaRPr lang="ro-R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o-R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23682A1-CD90-4AA9-A37E-776F4ABAB9AE}" type="slidenum">
              <a:rPr lang="ro-RO" smtClean="0"/>
              <a:t>‹#›</a:t>
            </a:fld>
            <a:endParaRPr lang="ro-RO"/>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16528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Interfete</a:t>
            </a:r>
            <a:r>
              <a:rPr lang="en-US" dirty="0" smtClean="0"/>
              <a:t> </a:t>
            </a:r>
            <a:r>
              <a:rPr lang="en-US" dirty="0" err="1" smtClean="0"/>
              <a:t>grafice</a:t>
            </a:r>
            <a:r>
              <a:rPr lang="en-US" dirty="0" smtClean="0"/>
              <a:t> in Java</a:t>
            </a:r>
            <a:endParaRPr lang="ro-RO" dirty="0"/>
          </a:p>
        </p:txBody>
      </p:sp>
      <p:sp>
        <p:nvSpPr>
          <p:cNvPr id="3" name="Subtitle 2"/>
          <p:cNvSpPr>
            <a:spLocks noGrp="1"/>
          </p:cNvSpPr>
          <p:nvPr>
            <p:ph type="subTitle" idx="1"/>
          </p:nvPr>
        </p:nvSpPr>
        <p:spPr/>
        <p:txBody>
          <a:bodyPr/>
          <a:lstStyle/>
          <a:p>
            <a:endParaRPr lang="ro-RO" dirty="0"/>
          </a:p>
        </p:txBody>
      </p:sp>
    </p:spTree>
    <p:extLst>
      <p:ext uri="{BB962C8B-B14F-4D97-AF65-F5344CB8AC3E}">
        <p14:creationId xmlns:p14="http://schemas.microsoft.com/office/powerpoint/2010/main" val="20318590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Abstract </a:t>
            </a:r>
            <a:r>
              <a:rPr lang="ro-RO" b="1" dirty="0" err="1"/>
              <a:t>Windowing</a:t>
            </a:r>
            <a:r>
              <a:rPr lang="ro-RO" b="1" dirty="0"/>
              <a:t> </a:t>
            </a:r>
            <a:r>
              <a:rPr lang="ro-RO" b="1" dirty="0" err="1"/>
              <a:t>Toolkit</a:t>
            </a:r>
            <a:endParaRPr lang="ro-RO" b="1" dirty="0"/>
          </a:p>
        </p:txBody>
      </p:sp>
      <p:sp>
        <p:nvSpPr>
          <p:cNvPr id="3" name="Content Placeholder 2"/>
          <p:cNvSpPr>
            <a:spLocks noGrp="1"/>
          </p:cNvSpPr>
          <p:nvPr>
            <p:ph idx="1"/>
          </p:nvPr>
        </p:nvSpPr>
        <p:spPr/>
        <p:txBody>
          <a:bodyPr>
            <a:normAutofit lnSpcReduction="10000"/>
          </a:bodyPr>
          <a:lstStyle/>
          <a:p>
            <a:r>
              <a:rPr lang="ro-RO" dirty="0"/>
              <a:t>Abstract </a:t>
            </a:r>
            <a:r>
              <a:rPr lang="ro-RO" dirty="0" err="1"/>
              <a:t>Windowing</a:t>
            </a:r>
            <a:r>
              <a:rPr lang="ro-RO" dirty="0"/>
              <a:t> </a:t>
            </a:r>
            <a:r>
              <a:rPr lang="ro-RO" dirty="0" err="1"/>
              <a:t>Toolkit</a:t>
            </a:r>
            <a:r>
              <a:rPr lang="ro-RO" dirty="0"/>
              <a:t>, pe scurt AWT, este un set de clase cu ajutorul cărora </a:t>
            </a:r>
            <a:r>
              <a:rPr lang="ro-RO" dirty="0" err="1"/>
              <a:t>puteţi</a:t>
            </a:r>
            <a:r>
              <a:rPr lang="ro-RO" dirty="0"/>
              <a:t> crea o </a:t>
            </a:r>
            <a:r>
              <a:rPr lang="ro-RO" dirty="0" err="1"/>
              <a:t>interfaţă</a:t>
            </a:r>
            <a:r>
              <a:rPr lang="ro-RO" dirty="0"/>
              <a:t> grafică utilizator care să </a:t>
            </a:r>
            <a:r>
              <a:rPr lang="ro-RO" dirty="0" err="1"/>
              <a:t>reacţioneze</a:t>
            </a:r>
            <a:r>
              <a:rPr lang="ro-RO" dirty="0"/>
              <a:t> la datele de intrare primite de la mouse </a:t>
            </a:r>
            <a:r>
              <a:rPr lang="ro-RO" dirty="0" err="1"/>
              <a:t>şi</a:t>
            </a:r>
            <a:r>
              <a:rPr lang="ro-RO" dirty="0"/>
              <a:t> tastatură.</a:t>
            </a:r>
          </a:p>
          <a:p>
            <a:r>
              <a:rPr lang="ro-RO" dirty="0" smtClean="0"/>
              <a:t>Folosind </a:t>
            </a:r>
            <a:r>
              <a:rPr lang="ro-RO" dirty="0"/>
              <a:t>AWT, o </a:t>
            </a:r>
            <a:r>
              <a:rPr lang="ro-RO" dirty="0" err="1"/>
              <a:t>interfaţă</a:t>
            </a:r>
            <a:r>
              <a:rPr lang="ro-RO" dirty="0"/>
              <a:t> este compusă din următoarele:</a:t>
            </a:r>
          </a:p>
          <a:p>
            <a:pPr lvl="0"/>
            <a:r>
              <a:rPr lang="ro-RO" i="1" dirty="0"/>
              <a:t>Componente.</a:t>
            </a:r>
            <a:r>
              <a:rPr lang="ro-RO" dirty="0"/>
              <a:t> Orice poate fi plasat pe o </a:t>
            </a:r>
            <a:r>
              <a:rPr lang="ro-RO" dirty="0" err="1"/>
              <a:t>interfaţă</a:t>
            </a:r>
            <a:r>
              <a:rPr lang="ro-RO" dirty="0"/>
              <a:t> utilizator, cum ar fi butoane, liste derulante, meniuri pop-</a:t>
            </a:r>
            <a:r>
              <a:rPr lang="ro-RO" dirty="0" err="1"/>
              <a:t>up</a:t>
            </a:r>
            <a:r>
              <a:rPr lang="ro-RO" dirty="0"/>
              <a:t>, casete de validare sau câmpuri de text.</a:t>
            </a:r>
          </a:p>
          <a:p>
            <a:pPr lvl="0"/>
            <a:r>
              <a:rPr lang="ro-RO" i="1" dirty="0"/>
              <a:t>Containere.</a:t>
            </a:r>
            <a:r>
              <a:rPr lang="ro-RO" dirty="0"/>
              <a:t> Acestea sunt componente care pot </a:t>
            </a:r>
            <a:r>
              <a:rPr lang="ro-RO" dirty="0" err="1"/>
              <a:t>conţine</a:t>
            </a:r>
            <a:r>
              <a:rPr lang="ro-RO" dirty="0"/>
              <a:t> alte componente. </a:t>
            </a:r>
            <a:r>
              <a:rPr lang="ro-RO" dirty="0" err="1"/>
              <a:t>Aţi</a:t>
            </a:r>
            <a:r>
              <a:rPr lang="ro-RO" dirty="0"/>
              <a:t> folosit deja un astfel de container - fereastra </a:t>
            </a:r>
            <a:r>
              <a:rPr lang="ro-RO" dirty="0" err="1"/>
              <a:t>Applet</a:t>
            </a:r>
            <a:r>
              <a:rPr lang="ro-RO" dirty="0"/>
              <a:t>; alte exemple ar fi panouri, casete de dialog sau ferestre independente.</a:t>
            </a:r>
          </a:p>
          <a:p>
            <a:r>
              <a:rPr lang="ro-RO" i="1" dirty="0"/>
              <a:t>Administratori de dispunere.</a:t>
            </a:r>
            <a:r>
              <a:rPr lang="ro-RO" dirty="0"/>
              <a:t> Obiecte care definesc modul cum sunt aranjate (dispuse) componentele într-un container. </a:t>
            </a:r>
            <a:endParaRPr lang="en-US" dirty="0" smtClean="0"/>
          </a:p>
          <a:p>
            <a:r>
              <a:rPr lang="ro-RO" b="1" dirty="0">
                <a:solidFill>
                  <a:srgbClr val="FF0000"/>
                </a:solidFill>
              </a:rPr>
              <a:t>import </a:t>
            </a:r>
            <a:r>
              <a:rPr lang="ro-RO" b="1" dirty="0" err="1">
                <a:solidFill>
                  <a:srgbClr val="FF0000"/>
                </a:solidFill>
              </a:rPr>
              <a:t>java.awt</a:t>
            </a:r>
            <a:r>
              <a:rPr lang="ro-RO" b="1" dirty="0">
                <a:solidFill>
                  <a:srgbClr val="FF0000"/>
                </a:solidFill>
              </a:rPr>
              <a:t>.*;</a:t>
            </a:r>
          </a:p>
          <a:p>
            <a:endParaRPr lang="ro-RO" dirty="0"/>
          </a:p>
        </p:txBody>
      </p:sp>
    </p:spTree>
    <p:extLst>
      <p:ext uri="{BB962C8B-B14F-4D97-AF65-F5344CB8AC3E}">
        <p14:creationId xmlns:p14="http://schemas.microsoft.com/office/powerpoint/2010/main" val="31335332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Componentele </a:t>
            </a:r>
            <a:r>
              <a:rPr lang="ro-RO" b="1" dirty="0" err="1"/>
              <a:t>interfetei</a:t>
            </a:r>
            <a:r>
              <a:rPr lang="ro-RO" b="1" dirty="0"/>
              <a:t> </a:t>
            </a:r>
            <a:r>
              <a:rPr lang="ro-RO" b="1" dirty="0" smtClean="0"/>
              <a:t>utilizator</a:t>
            </a:r>
            <a:endParaRPr lang="ro-RO" dirty="0"/>
          </a:p>
        </p:txBody>
      </p:sp>
      <p:sp>
        <p:nvSpPr>
          <p:cNvPr id="3" name="Content Placeholder 2"/>
          <p:cNvSpPr>
            <a:spLocks noGrp="1"/>
          </p:cNvSpPr>
          <p:nvPr>
            <p:ph idx="1"/>
          </p:nvPr>
        </p:nvSpPr>
        <p:spPr/>
        <p:txBody>
          <a:bodyPr>
            <a:normAutofit fontScale="92500" lnSpcReduction="20000"/>
          </a:bodyPr>
          <a:lstStyle/>
          <a:p>
            <a:r>
              <a:rPr lang="ro-RO" b="1" dirty="0"/>
              <a:t>Adăugarea componentelor într-un container</a:t>
            </a:r>
          </a:p>
          <a:p>
            <a:r>
              <a:rPr lang="ro-RO" dirty="0"/>
              <a:t>O componentă este adăugată într-un container astfel:</a:t>
            </a:r>
          </a:p>
          <a:p>
            <a:pPr lvl="0"/>
            <a:r>
              <a:rPr lang="ro-RO" dirty="0" err="1"/>
              <a:t>Creaţi</a:t>
            </a:r>
            <a:r>
              <a:rPr lang="ro-RO" dirty="0"/>
              <a:t> componenta.</a:t>
            </a:r>
          </a:p>
          <a:p>
            <a:pPr lvl="0"/>
            <a:r>
              <a:rPr lang="ro-RO" dirty="0" err="1"/>
              <a:t>Apelaţi</a:t>
            </a:r>
            <a:r>
              <a:rPr lang="ro-RO" dirty="0"/>
              <a:t> metoda </a:t>
            </a:r>
            <a:r>
              <a:rPr lang="ro-RO" b="1" dirty="0" err="1"/>
              <a:t>add</a:t>
            </a:r>
            <a:r>
              <a:rPr lang="ro-RO" b="1" dirty="0"/>
              <a:t>()</a:t>
            </a:r>
            <a:r>
              <a:rPr lang="ro-RO" dirty="0"/>
              <a:t> a containerului, pentru componenta respectivă.</a:t>
            </a:r>
          </a:p>
          <a:p>
            <a:r>
              <a:rPr lang="ro-RO" b="1" dirty="0"/>
              <a:t>Etichete </a:t>
            </a:r>
          </a:p>
          <a:p>
            <a:r>
              <a:rPr lang="en-US" dirty="0" smtClean="0"/>
              <a:t>P</a:t>
            </a:r>
            <a:r>
              <a:rPr lang="ro-RO" dirty="0" err="1" smtClean="0"/>
              <a:t>entru</a:t>
            </a:r>
            <a:r>
              <a:rPr lang="ro-RO" dirty="0" smtClean="0"/>
              <a:t> </a:t>
            </a:r>
            <a:r>
              <a:rPr lang="ro-RO" dirty="0"/>
              <a:t>a crea o etichetă </a:t>
            </a:r>
            <a:r>
              <a:rPr lang="ro-RO" dirty="0" err="1"/>
              <a:t>folosiţi</a:t>
            </a:r>
            <a:r>
              <a:rPr lang="ro-RO" dirty="0"/>
              <a:t> unul dintre următorii constructori:</a:t>
            </a:r>
          </a:p>
          <a:p>
            <a:pPr lvl="0"/>
            <a:r>
              <a:rPr lang="ro-RO" b="1" dirty="0" err="1"/>
              <a:t>Label</a:t>
            </a:r>
            <a:r>
              <a:rPr lang="ro-RO" b="1" dirty="0"/>
              <a:t>()</a:t>
            </a:r>
            <a:r>
              <a:rPr lang="ro-RO" dirty="0"/>
              <a:t> creează o etichetă goală (vidă), cu textul aliniat la stânga.</a:t>
            </a:r>
          </a:p>
          <a:p>
            <a:pPr lvl="0"/>
            <a:r>
              <a:rPr lang="ro-RO" b="1" dirty="0" err="1"/>
              <a:t>Label</a:t>
            </a:r>
            <a:r>
              <a:rPr lang="ro-RO" b="1" dirty="0"/>
              <a:t> </a:t>
            </a:r>
            <a:r>
              <a:rPr lang="ro-RO" b="1" i="1" dirty="0"/>
              <a:t>(</a:t>
            </a:r>
            <a:r>
              <a:rPr lang="ro-RO" b="1" i="1" dirty="0" err="1"/>
              <a:t>String</a:t>
            </a:r>
            <a:r>
              <a:rPr lang="ro-RO" b="1" i="1" dirty="0"/>
              <a:t>)</a:t>
            </a:r>
            <a:r>
              <a:rPr lang="ro-RO" dirty="0"/>
              <a:t> creează o etichetă cu </a:t>
            </a:r>
            <a:r>
              <a:rPr lang="ro-RO" dirty="0" err="1"/>
              <a:t>şirul</a:t>
            </a:r>
            <a:r>
              <a:rPr lang="ro-RO" dirty="0"/>
              <a:t> de text dat, aliniat, de asemenea, la stânga.</a:t>
            </a:r>
          </a:p>
          <a:p>
            <a:pPr lvl="0"/>
            <a:r>
              <a:rPr lang="ro-RO" b="1" dirty="0" err="1"/>
              <a:t>Label</a:t>
            </a:r>
            <a:r>
              <a:rPr lang="ro-RO" b="1" dirty="0"/>
              <a:t> (</a:t>
            </a:r>
            <a:r>
              <a:rPr lang="ro-RO" b="1" i="1" dirty="0" err="1"/>
              <a:t>String</a:t>
            </a:r>
            <a:r>
              <a:rPr lang="ro-RO" b="1" i="1" dirty="0"/>
              <a:t>, </a:t>
            </a:r>
            <a:r>
              <a:rPr lang="ro-RO" b="1" i="1" dirty="0" err="1"/>
              <a:t>int</a:t>
            </a:r>
            <a:r>
              <a:rPr lang="ro-RO" b="1" dirty="0"/>
              <a:t>)</a:t>
            </a:r>
            <a:r>
              <a:rPr lang="ro-RO" dirty="0"/>
              <a:t> creează o etichetă cu </a:t>
            </a:r>
            <a:r>
              <a:rPr lang="ro-RO" dirty="0" err="1"/>
              <a:t>şirul</a:t>
            </a:r>
            <a:r>
              <a:rPr lang="ro-RO" dirty="0"/>
              <a:t> de text dat </a:t>
            </a:r>
            <a:r>
              <a:rPr lang="ro-RO" dirty="0" err="1"/>
              <a:t>şi</a:t>
            </a:r>
            <a:r>
              <a:rPr lang="ro-RO" dirty="0"/>
              <a:t> alinierea indicată de argumentul întreg. Pentru stabilirea alinierii se folosesc următoarele variabile de clasă: </a:t>
            </a:r>
            <a:r>
              <a:rPr lang="ro-RO" dirty="0" err="1"/>
              <a:t>Label.RIGHT</a:t>
            </a:r>
            <a:r>
              <a:rPr lang="ro-RO" dirty="0"/>
              <a:t>, </a:t>
            </a:r>
            <a:r>
              <a:rPr lang="ro-RO" dirty="0" err="1"/>
              <a:t>Label.LEFT</a:t>
            </a:r>
            <a:r>
              <a:rPr lang="ro-RO" dirty="0"/>
              <a:t>, </a:t>
            </a:r>
            <a:r>
              <a:rPr lang="ro-RO" dirty="0" err="1"/>
              <a:t>Label.CENTER</a:t>
            </a:r>
            <a:r>
              <a:rPr lang="ro-RO" dirty="0"/>
              <a:t>.</a:t>
            </a:r>
          </a:p>
          <a:p>
            <a:endParaRPr lang="ro-RO" dirty="0"/>
          </a:p>
        </p:txBody>
      </p:sp>
    </p:spTree>
    <p:extLst>
      <p:ext uri="{BB962C8B-B14F-4D97-AF65-F5344CB8AC3E}">
        <p14:creationId xmlns:p14="http://schemas.microsoft.com/office/powerpoint/2010/main" val="2777652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ro-RO" dirty="0"/>
          </a:p>
        </p:txBody>
      </p:sp>
      <p:sp>
        <p:nvSpPr>
          <p:cNvPr id="3" name="Content Placeholder 2"/>
          <p:cNvSpPr>
            <a:spLocks noGrp="1"/>
          </p:cNvSpPr>
          <p:nvPr>
            <p:ph idx="1"/>
          </p:nvPr>
        </p:nvSpPr>
        <p:spPr/>
        <p:txBody>
          <a:bodyPr/>
          <a:lstStyle/>
          <a:p>
            <a:r>
              <a:rPr lang="ro-RO" b="1" dirty="0"/>
              <a:t>Butoane</a:t>
            </a:r>
          </a:p>
          <a:p>
            <a:r>
              <a:rPr lang="ro-RO" dirty="0"/>
              <a:t>Butoanele (zone pe care se poate efectua clic) pot fi create folosind clasa </a:t>
            </a:r>
            <a:r>
              <a:rPr lang="ro-RO" dirty="0" err="1"/>
              <a:t>Button</a:t>
            </a:r>
            <a:r>
              <a:rPr lang="ro-RO" dirty="0"/>
              <a:t>. Butoanele sunt folosite într-o </a:t>
            </a:r>
            <a:r>
              <a:rPr lang="ro-RO" dirty="0" err="1"/>
              <a:t>interfaţă</a:t>
            </a:r>
            <a:r>
              <a:rPr lang="ro-RO" dirty="0"/>
              <a:t> pentru a </a:t>
            </a:r>
            <a:r>
              <a:rPr lang="ro-RO" dirty="0" err="1"/>
              <a:t>declanşa</a:t>
            </a:r>
            <a:r>
              <a:rPr lang="ro-RO" dirty="0"/>
              <a:t> o </a:t>
            </a:r>
            <a:r>
              <a:rPr lang="ro-RO" dirty="0" err="1"/>
              <a:t>acţiune</a:t>
            </a:r>
            <a:r>
              <a:rPr lang="ro-RO" dirty="0"/>
              <a:t>, cum este butonul </a:t>
            </a:r>
            <a:r>
              <a:rPr lang="ro-RO" dirty="0" err="1"/>
              <a:t>Quit</a:t>
            </a:r>
            <a:r>
              <a:rPr lang="ro-RO" dirty="0"/>
              <a:t> (Terminare) folosit pentru a părăsi un program.</a:t>
            </a:r>
          </a:p>
          <a:p>
            <a:r>
              <a:rPr lang="ro-RO" dirty="0"/>
              <a:t>Pentru a crea un buton, </a:t>
            </a:r>
            <a:r>
              <a:rPr lang="ro-RO" dirty="0" err="1"/>
              <a:t>folosiţi</a:t>
            </a:r>
            <a:r>
              <a:rPr lang="ro-RO" dirty="0"/>
              <a:t> unul dintre constructorii:</a:t>
            </a:r>
          </a:p>
          <a:p>
            <a:pPr lvl="0"/>
            <a:r>
              <a:rPr lang="ro-RO" b="1" dirty="0" err="1"/>
              <a:t>Button</a:t>
            </a:r>
            <a:r>
              <a:rPr lang="ro-RO" b="1" dirty="0"/>
              <a:t>()</a:t>
            </a:r>
            <a:r>
              <a:rPr lang="ro-RO" dirty="0"/>
              <a:t> creează un buton care nu </a:t>
            </a:r>
            <a:r>
              <a:rPr lang="ro-RO" dirty="0" err="1"/>
              <a:t>conţine</a:t>
            </a:r>
            <a:r>
              <a:rPr lang="ro-RO" dirty="0"/>
              <a:t> nici un text pentru explicarea </a:t>
            </a:r>
            <a:r>
              <a:rPr lang="ro-RO" dirty="0" err="1"/>
              <a:t>funcţiei</a:t>
            </a:r>
            <a:r>
              <a:rPr lang="ro-RO" dirty="0"/>
              <a:t> sale.</a:t>
            </a:r>
          </a:p>
          <a:p>
            <a:pPr lvl="0"/>
            <a:r>
              <a:rPr lang="ro-RO" b="1" dirty="0" err="1"/>
              <a:t>Button</a:t>
            </a:r>
            <a:r>
              <a:rPr lang="ro-RO" b="1" i="1" dirty="0"/>
              <a:t>(</a:t>
            </a:r>
            <a:r>
              <a:rPr lang="ro-RO" b="1" i="1" dirty="0" err="1"/>
              <a:t>String</a:t>
            </a:r>
            <a:r>
              <a:rPr lang="ro-RO" b="1" i="1" dirty="0"/>
              <a:t>)</a:t>
            </a:r>
            <a:r>
              <a:rPr lang="ro-RO" dirty="0"/>
              <a:t> creează un buton pe care este </a:t>
            </a:r>
            <a:r>
              <a:rPr lang="ro-RO" dirty="0" err="1"/>
              <a:t>afişat</a:t>
            </a:r>
            <a:r>
              <a:rPr lang="ro-RO" dirty="0"/>
              <a:t> </a:t>
            </a:r>
            <a:r>
              <a:rPr lang="ro-RO" dirty="0" err="1"/>
              <a:t>şirul</a:t>
            </a:r>
            <a:r>
              <a:rPr lang="ro-RO" dirty="0"/>
              <a:t> de text primit ca argument.</a:t>
            </a:r>
          </a:p>
          <a:p>
            <a:r>
              <a:rPr lang="ro-RO" dirty="0"/>
              <a:t>După crearea unui buton, </a:t>
            </a:r>
            <a:r>
              <a:rPr lang="ro-RO" dirty="0" err="1"/>
              <a:t>puteţi</a:t>
            </a:r>
            <a:r>
              <a:rPr lang="ro-RO" dirty="0"/>
              <a:t> să îi </a:t>
            </a:r>
            <a:r>
              <a:rPr lang="ro-RO" dirty="0" err="1"/>
              <a:t>modificaţi</a:t>
            </a:r>
            <a:r>
              <a:rPr lang="ro-RO" dirty="0"/>
              <a:t> eticheta folosind metoda </a:t>
            </a:r>
            <a:r>
              <a:rPr lang="ro-RO" b="1" dirty="0" err="1"/>
              <a:t>setLabel</a:t>
            </a:r>
            <a:r>
              <a:rPr lang="ro-RO" b="1" dirty="0"/>
              <a:t> (</a:t>
            </a:r>
            <a:r>
              <a:rPr lang="ro-RO" b="1" dirty="0" err="1"/>
              <a:t>String</a:t>
            </a:r>
            <a:r>
              <a:rPr lang="ro-RO" b="1" dirty="0"/>
              <a:t>)</a:t>
            </a:r>
            <a:r>
              <a:rPr lang="ro-RO" dirty="0"/>
              <a:t> sau </a:t>
            </a:r>
            <a:r>
              <a:rPr lang="ro-RO" dirty="0" err="1"/>
              <a:t>puteţi</a:t>
            </a:r>
            <a:r>
              <a:rPr lang="ro-RO" dirty="0"/>
              <a:t> afla textul scris folosind metoda </a:t>
            </a:r>
            <a:r>
              <a:rPr lang="ro-RO" b="1" dirty="0" err="1"/>
              <a:t>getLabel</a:t>
            </a:r>
            <a:r>
              <a:rPr lang="ro-RO" dirty="0"/>
              <a:t>()</a:t>
            </a:r>
          </a:p>
          <a:p>
            <a:endParaRPr lang="ro-RO" dirty="0"/>
          </a:p>
        </p:txBody>
      </p:sp>
    </p:spTree>
    <p:extLst>
      <p:ext uri="{BB962C8B-B14F-4D97-AF65-F5344CB8AC3E}">
        <p14:creationId xmlns:p14="http://schemas.microsoft.com/office/powerpoint/2010/main" val="2280138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Casete de validare</a:t>
            </a:r>
            <a:br>
              <a:rPr lang="ro-RO" b="1" dirty="0"/>
            </a:br>
            <a:endParaRPr lang="ro-RO" dirty="0"/>
          </a:p>
        </p:txBody>
      </p:sp>
      <p:sp>
        <p:nvSpPr>
          <p:cNvPr id="3" name="Content Placeholder 2"/>
          <p:cNvSpPr>
            <a:spLocks noGrp="1"/>
          </p:cNvSpPr>
          <p:nvPr>
            <p:ph idx="1"/>
          </p:nvPr>
        </p:nvSpPr>
        <p:spPr>
          <a:xfrm>
            <a:off x="553583" y="1804087"/>
            <a:ext cx="10058400" cy="4547287"/>
          </a:xfrm>
        </p:spPr>
        <p:txBody>
          <a:bodyPr>
            <a:normAutofit fontScale="85000" lnSpcReduction="20000"/>
          </a:bodyPr>
          <a:lstStyle/>
          <a:p>
            <a:r>
              <a:rPr lang="ro-RO" dirty="0"/>
              <a:t> </a:t>
            </a:r>
            <a:r>
              <a:rPr lang="ro-RO" b="1" dirty="0" smtClean="0"/>
              <a:t>Casetele </a:t>
            </a:r>
            <a:r>
              <a:rPr lang="ro-RO" b="1" dirty="0"/>
              <a:t>de validare</a:t>
            </a:r>
            <a:r>
              <a:rPr lang="ro-RO" dirty="0"/>
              <a:t> (</a:t>
            </a:r>
            <a:r>
              <a:rPr lang="ro-RO" dirty="0" err="1"/>
              <a:t>check</a:t>
            </a:r>
            <a:r>
              <a:rPr lang="ro-RO" dirty="0"/>
              <a:t> </a:t>
            </a:r>
            <a:r>
              <a:rPr lang="ro-RO" dirty="0" err="1"/>
              <a:t>boxes</a:t>
            </a:r>
            <a:r>
              <a:rPr lang="ro-RO" dirty="0"/>
              <a:t>) sunt mici casete, etichetate sau nu, care pot fi validate („bifate") sau goale</a:t>
            </a:r>
            <a:r>
              <a:rPr lang="ro-RO" dirty="0" smtClean="0"/>
              <a:t>.</a:t>
            </a:r>
            <a:endParaRPr lang="en-US" dirty="0" smtClean="0"/>
          </a:p>
          <a:p>
            <a:r>
              <a:rPr lang="en-US" dirty="0" smtClean="0"/>
              <a:t>I</a:t>
            </a:r>
            <a:r>
              <a:rPr lang="ro-RO" dirty="0" smtClean="0"/>
              <a:t>n </a:t>
            </a:r>
            <a:r>
              <a:rPr lang="ro-RO" dirty="0"/>
              <a:t>mod normal, casetele de validare sunt </a:t>
            </a:r>
            <a:r>
              <a:rPr lang="ro-RO" b="1" dirty="0" smtClean="0"/>
              <a:t>neexclusive</a:t>
            </a:r>
            <a:endParaRPr lang="en-US" b="1" dirty="0" smtClean="0"/>
          </a:p>
          <a:p>
            <a:r>
              <a:rPr lang="ro-RO" dirty="0"/>
              <a:t>Aceste componente pot fi organizate </a:t>
            </a:r>
            <a:r>
              <a:rPr lang="ro-RO" dirty="0" err="1"/>
              <a:t>şi</a:t>
            </a:r>
            <a:r>
              <a:rPr lang="ro-RO" dirty="0"/>
              <a:t> în grupuri de validare, care mai sunt denumite </a:t>
            </a:r>
            <a:r>
              <a:rPr lang="ro-RO" dirty="0" err="1"/>
              <a:t>şi</a:t>
            </a:r>
            <a:r>
              <a:rPr lang="ro-RO" dirty="0"/>
              <a:t> </a:t>
            </a:r>
            <a:r>
              <a:rPr lang="ro-RO" b="1" dirty="0"/>
              <a:t>butoane radio</a:t>
            </a:r>
            <a:r>
              <a:rPr lang="ro-RO" dirty="0"/>
              <a:t> (radio </a:t>
            </a:r>
            <a:r>
              <a:rPr lang="ro-RO" dirty="0" err="1"/>
              <a:t>buttons</a:t>
            </a:r>
            <a:r>
              <a:rPr lang="ro-RO" dirty="0" smtClean="0"/>
              <a:t>).</a:t>
            </a:r>
            <a:endParaRPr lang="en-US" dirty="0" smtClean="0"/>
          </a:p>
          <a:p>
            <a:pPr lvl="0"/>
            <a:r>
              <a:rPr lang="ro-RO" b="1" dirty="0" err="1"/>
              <a:t>Checkbox</a:t>
            </a:r>
            <a:r>
              <a:rPr lang="ro-RO" b="1" dirty="0"/>
              <a:t>()</a:t>
            </a:r>
            <a:r>
              <a:rPr lang="ro-RO" dirty="0"/>
              <a:t> creează o casetă de validare neetichetată, care nu este validată.</a:t>
            </a:r>
          </a:p>
          <a:p>
            <a:pPr lvl="0"/>
            <a:r>
              <a:rPr lang="ro-RO" b="1" dirty="0" err="1"/>
              <a:t>Checkbox</a:t>
            </a:r>
            <a:r>
              <a:rPr lang="ro-RO" b="1" dirty="0"/>
              <a:t>(</a:t>
            </a:r>
            <a:r>
              <a:rPr lang="ro-RO" b="1" i="1" dirty="0" err="1"/>
              <a:t>String</a:t>
            </a:r>
            <a:r>
              <a:rPr lang="ro-RO" b="1" i="1" dirty="0"/>
              <a:t>)</a:t>
            </a:r>
            <a:r>
              <a:rPr lang="ro-RO" dirty="0"/>
              <a:t> creează o casetă de validare nevalidată </a:t>
            </a:r>
            <a:r>
              <a:rPr lang="ro-RO" dirty="0" err="1"/>
              <a:t>şi</a:t>
            </a:r>
            <a:r>
              <a:rPr lang="ro-RO" dirty="0"/>
              <a:t> care are ca etichetă </a:t>
            </a:r>
            <a:r>
              <a:rPr lang="ro-RO" dirty="0" err="1"/>
              <a:t>şirul</a:t>
            </a:r>
            <a:r>
              <a:rPr lang="ro-RO" dirty="0"/>
              <a:t> dat</a:t>
            </a:r>
            <a:r>
              <a:rPr lang="ro-RO" dirty="0" smtClean="0"/>
              <a:t>.</a:t>
            </a:r>
            <a:endParaRPr lang="en-US" dirty="0" smtClean="0"/>
          </a:p>
          <a:p>
            <a:pPr lvl="0"/>
            <a:r>
              <a:rPr lang="en-US" dirty="0" smtClean="0"/>
              <a:t>M</a:t>
            </a:r>
            <a:r>
              <a:rPr lang="ro-RO" dirty="0" err="1" smtClean="0"/>
              <a:t>etoda</a:t>
            </a:r>
            <a:r>
              <a:rPr lang="ro-RO" dirty="0" smtClean="0"/>
              <a:t> </a:t>
            </a:r>
            <a:r>
              <a:rPr lang="ro-RO" b="1" dirty="0" err="1"/>
              <a:t>setState</a:t>
            </a:r>
            <a:r>
              <a:rPr lang="ro-RO" dirty="0"/>
              <a:t> (boolean</a:t>
            </a:r>
            <a:r>
              <a:rPr lang="ro-RO" i="1" dirty="0"/>
              <a:t>)</a:t>
            </a:r>
            <a:r>
              <a:rPr lang="ro-RO" dirty="0"/>
              <a:t> </a:t>
            </a:r>
            <a:r>
              <a:rPr lang="ro-RO" dirty="0" smtClean="0"/>
              <a:t>modifica </a:t>
            </a:r>
            <a:r>
              <a:rPr lang="ro-RO" dirty="0"/>
              <a:t>starea </a:t>
            </a:r>
            <a:r>
              <a:rPr lang="ro-RO" dirty="0" smtClean="0"/>
              <a:t>acestuia</a:t>
            </a:r>
            <a:endParaRPr lang="en-US" dirty="0" smtClean="0"/>
          </a:p>
          <a:p>
            <a:r>
              <a:rPr lang="ro-RO" dirty="0"/>
              <a:t>Metoda </a:t>
            </a:r>
            <a:r>
              <a:rPr lang="ro-RO" b="1" dirty="0" err="1"/>
              <a:t>getState</a:t>
            </a:r>
            <a:r>
              <a:rPr lang="ro-RO" dirty="0"/>
              <a:t>() returnează o valoare Boolean care indică starea de validare a casetei</a:t>
            </a:r>
            <a:r>
              <a:rPr lang="ro-RO" dirty="0" smtClean="0"/>
              <a:t>.</a:t>
            </a:r>
            <a:endParaRPr lang="en-US" dirty="0" smtClean="0"/>
          </a:p>
          <a:p>
            <a:r>
              <a:rPr lang="ro-RO" b="1" dirty="0" err="1" smtClean="0"/>
              <a:t>CheckboxGroup</a:t>
            </a:r>
            <a:endParaRPr lang="en-US" b="1" dirty="0" smtClean="0"/>
          </a:p>
          <a:p>
            <a:r>
              <a:rPr lang="ro-RO" dirty="0" err="1"/>
              <a:t>CheckboxGroup</a:t>
            </a:r>
            <a:r>
              <a:rPr lang="ro-RO" dirty="0"/>
              <a:t> radio = </a:t>
            </a:r>
            <a:r>
              <a:rPr lang="ro-RO" dirty="0" err="1"/>
              <a:t>new</a:t>
            </a:r>
            <a:r>
              <a:rPr lang="ro-RO" dirty="0"/>
              <a:t> </a:t>
            </a:r>
            <a:r>
              <a:rPr lang="ro-RO" dirty="0" err="1"/>
              <a:t>CheckboxGroup</a:t>
            </a:r>
            <a:r>
              <a:rPr lang="ro-RO" dirty="0"/>
              <a:t>();</a:t>
            </a:r>
          </a:p>
          <a:p>
            <a:r>
              <a:rPr lang="ro-RO" dirty="0"/>
              <a:t>Obiectul </a:t>
            </a:r>
            <a:r>
              <a:rPr lang="ro-RO" b="1" dirty="0" err="1"/>
              <a:t>CheckboxGroup</a:t>
            </a:r>
            <a:r>
              <a:rPr lang="ro-RO" b="1" dirty="0"/>
              <a:t> </a:t>
            </a:r>
            <a:r>
              <a:rPr lang="ro-RO" dirty="0"/>
              <a:t>păstrează starea tuturor casetelor de validare din grupul său. Acest obiect va fi folosit ca argument suplimentar pentru constructorul </a:t>
            </a:r>
            <a:r>
              <a:rPr lang="ro-RO" b="1" dirty="0" err="1"/>
              <a:t>Checkbox</a:t>
            </a:r>
            <a:r>
              <a:rPr lang="ro-RO" dirty="0"/>
              <a:t>.</a:t>
            </a:r>
          </a:p>
          <a:p>
            <a:r>
              <a:rPr lang="ro-RO" b="1" dirty="0" err="1"/>
              <a:t>Checkbox</a:t>
            </a:r>
            <a:r>
              <a:rPr lang="ro-RO" b="1" dirty="0"/>
              <a:t> </a:t>
            </a:r>
            <a:r>
              <a:rPr lang="ro-RO" dirty="0"/>
              <a:t>(</a:t>
            </a:r>
            <a:r>
              <a:rPr lang="ro-RO" i="1" dirty="0" err="1"/>
              <a:t>String</a:t>
            </a:r>
            <a:r>
              <a:rPr lang="ro-RO" i="1" dirty="0"/>
              <a:t>, </a:t>
            </a:r>
            <a:r>
              <a:rPr lang="ro-RO" i="1" dirty="0" err="1"/>
              <a:t>GrupCaseteValidare</a:t>
            </a:r>
            <a:r>
              <a:rPr lang="ro-RO" i="1" dirty="0"/>
              <a:t>, boolean</a:t>
            </a:r>
            <a:r>
              <a:rPr lang="ro-RO" i="1" dirty="0" smtClean="0"/>
              <a:t>)</a:t>
            </a:r>
            <a:endParaRPr lang="ro-RO" dirty="0"/>
          </a:p>
          <a:p>
            <a:endParaRPr lang="ro-RO" dirty="0"/>
          </a:p>
        </p:txBody>
      </p:sp>
    </p:spTree>
    <p:extLst>
      <p:ext uri="{BB962C8B-B14F-4D97-AF65-F5344CB8AC3E}">
        <p14:creationId xmlns:p14="http://schemas.microsoft.com/office/powerpoint/2010/main" val="494516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Liste de </a:t>
            </a:r>
            <a:r>
              <a:rPr lang="ro-RO" b="1" dirty="0" err="1"/>
              <a:t>opţiuni</a:t>
            </a:r>
            <a:r>
              <a:rPr lang="ro-RO" b="1" dirty="0"/>
              <a:t/>
            </a:r>
            <a:br>
              <a:rPr lang="ro-RO" b="1" dirty="0"/>
            </a:br>
            <a:endParaRPr lang="ro-RO" dirty="0"/>
          </a:p>
        </p:txBody>
      </p:sp>
      <p:sp>
        <p:nvSpPr>
          <p:cNvPr id="3" name="Content Placeholder 2"/>
          <p:cNvSpPr>
            <a:spLocks noGrp="1"/>
          </p:cNvSpPr>
          <p:nvPr>
            <p:ph idx="1"/>
          </p:nvPr>
        </p:nvSpPr>
        <p:spPr/>
        <p:txBody>
          <a:bodyPr/>
          <a:lstStyle/>
          <a:p>
            <a:r>
              <a:rPr lang="ro-RO" i="1" dirty="0"/>
              <a:t>Listele de </a:t>
            </a:r>
            <a:r>
              <a:rPr lang="ro-RO" i="1" dirty="0" err="1"/>
              <a:t>opţiuni</a:t>
            </a:r>
            <a:r>
              <a:rPr lang="ro-RO" dirty="0"/>
              <a:t> (</a:t>
            </a:r>
            <a:r>
              <a:rPr lang="ro-RO" dirty="0" err="1"/>
              <a:t>choice</a:t>
            </a:r>
            <a:r>
              <a:rPr lang="ro-RO" dirty="0"/>
              <a:t> </a:t>
            </a:r>
            <a:r>
              <a:rPr lang="ro-RO" dirty="0" err="1"/>
              <a:t>lists</a:t>
            </a:r>
            <a:r>
              <a:rPr lang="ro-RO" dirty="0"/>
              <a:t>), create din clasa </a:t>
            </a:r>
            <a:r>
              <a:rPr lang="ro-RO" b="1" dirty="0" err="1"/>
              <a:t>Choice</a:t>
            </a:r>
            <a:r>
              <a:rPr lang="ro-RO" dirty="0"/>
              <a:t>, sunt componente care permit alegerea unei </a:t>
            </a:r>
            <a:r>
              <a:rPr lang="ro-RO" dirty="0" smtClean="0"/>
              <a:t>sin</a:t>
            </a:r>
            <a:endParaRPr lang="en-US" dirty="0" smtClean="0"/>
          </a:p>
          <a:p>
            <a:r>
              <a:rPr lang="ro-RO" dirty="0" err="1"/>
              <a:t>Choice</a:t>
            </a:r>
            <a:r>
              <a:rPr lang="ro-RO" dirty="0"/>
              <a:t> sex = </a:t>
            </a:r>
            <a:r>
              <a:rPr lang="ro-RO" dirty="0" err="1"/>
              <a:t>new</a:t>
            </a:r>
            <a:r>
              <a:rPr lang="ro-RO" dirty="0"/>
              <a:t> </a:t>
            </a:r>
            <a:r>
              <a:rPr lang="ro-RO" dirty="0" err="1"/>
              <a:t>Choice</a:t>
            </a:r>
            <a:r>
              <a:rPr lang="ro-RO" dirty="0"/>
              <a:t>();</a:t>
            </a:r>
          </a:p>
          <a:p>
            <a:r>
              <a:rPr lang="ro-RO" dirty="0"/>
              <a:t>Elementele se adaugă într-o listă de </a:t>
            </a:r>
            <a:r>
              <a:rPr lang="ro-RO" dirty="0" err="1"/>
              <a:t>opţiuni</a:t>
            </a:r>
            <a:r>
              <a:rPr lang="ro-RO" dirty="0"/>
              <a:t> folosind metoda </a:t>
            </a:r>
            <a:r>
              <a:rPr lang="ro-RO" dirty="0" err="1"/>
              <a:t>addItem</a:t>
            </a:r>
            <a:r>
              <a:rPr lang="ro-RO" dirty="0"/>
              <a:t>(</a:t>
            </a:r>
            <a:r>
              <a:rPr lang="ro-RO" dirty="0" err="1"/>
              <a:t>String</a:t>
            </a:r>
            <a:r>
              <a:rPr lang="ro-RO" dirty="0"/>
              <a:t>) a obiectului. Următoarele </a:t>
            </a:r>
            <a:r>
              <a:rPr lang="ro-RO" dirty="0" err="1"/>
              <a:t>instrucţiuni</a:t>
            </a:r>
            <a:r>
              <a:rPr lang="ro-RO" dirty="0"/>
              <a:t> adaugă două elemente în lista de </a:t>
            </a:r>
            <a:r>
              <a:rPr lang="ro-RO" dirty="0" err="1"/>
              <a:t>opţiuni</a:t>
            </a:r>
            <a:r>
              <a:rPr lang="ro-RO" dirty="0"/>
              <a:t> sex:</a:t>
            </a:r>
          </a:p>
          <a:p>
            <a:r>
              <a:rPr lang="ro-RO" dirty="0" err="1"/>
              <a:t>sex.addItem</a:t>
            </a:r>
            <a:r>
              <a:rPr lang="ro-RO" dirty="0"/>
              <a:t>("Masculin");</a:t>
            </a:r>
          </a:p>
          <a:p>
            <a:r>
              <a:rPr lang="ro-RO" dirty="0" err="1"/>
              <a:t>sex.addItem</a:t>
            </a:r>
            <a:r>
              <a:rPr lang="ro-RO" dirty="0"/>
              <a:t>("Feminin");</a:t>
            </a:r>
          </a:p>
          <a:p>
            <a:r>
              <a:rPr lang="ro-RO" dirty="0" err="1"/>
              <a:t>Puteţi</a:t>
            </a:r>
            <a:r>
              <a:rPr lang="ro-RO" dirty="0"/>
              <a:t> continua să </a:t>
            </a:r>
            <a:r>
              <a:rPr lang="ro-RO" dirty="0" err="1"/>
              <a:t>folosiţi</a:t>
            </a:r>
            <a:r>
              <a:rPr lang="ro-RO" dirty="0"/>
              <a:t> metoda </a:t>
            </a:r>
            <a:r>
              <a:rPr lang="ro-RO" dirty="0" err="1"/>
              <a:t>addItem</a:t>
            </a:r>
            <a:r>
              <a:rPr lang="ro-RO" dirty="0"/>
              <a:t>() pentru a adăuga </a:t>
            </a:r>
            <a:r>
              <a:rPr lang="ro-RO" dirty="0" err="1"/>
              <a:t>opţiuni</a:t>
            </a:r>
            <a:r>
              <a:rPr lang="ro-RO" dirty="0"/>
              <a:t> în listă chiar </a:t>
            </a:r>
            <a:r>
              <a:rPr lang="ro-RO" dirty="0" err="1"/>
              <a:t>şi</a:t>
            </a:r>
            <a:r>
              <a:rPr lang="ro-RO" dirty="0"/>
              <a:t> după ce lista a fost introdusă într-un container.</a:t>
            </a:r>
          </a:p>
          <a:p>
            <a:r>
              <a:rPr lang="ro-RO" dirty="0" err="1" smtClean="0"/>
              <a:t>gure</a:t>
            </a:r>
            <a:r>
              <a:rPr lang="ro-RO" dirty="0" smtClean="0"/>
              <a:t> </a:t>
            </a:r>
            <a:r>
              <a:rPr lang="ro-RO" dirty="0" err="1"/>
              <a:t>opţiuni</a:t>
            </a:r>
            <a:r>
              <a:rPr lang="ro-RO" dirty="0"/>
              <a:t> dintr-o listă derulantă (</a:t>
            </a:r>
            <a:r>
              <a:rPr lang="ro-RO" dirty="0" err="1"/>
              <a:t>pull-down</a:t>
            </a:r>
            <a:r>
              <a:rPr lang="ro-RO" dirty="0"/>
              <a:t> </a:t>
            </a:r>
            <a:r>
              <a:rPr lang="ro-RO" dirty="0" err="1"/>
              <a:t>list</a:t>
            </a:r>
            <a:r>
              <a:rPr lang="ro-RO" dirty="0"/>
              <a:t>). </a:t>
            </a:r>
            <a:endParaRPr lang="ro-RO" dirty="0"/>
          </a:p>
        </p:txBody>
      </p:sp>
    </p:spTree>
    <p:extLst>
      <p:ext uri="{BB962C8B-B14F-4D97-AF65-F5344CB8AC3E}">
        <p14:creationId xmlns:p14="http://schemas.microsoft.com/office/powerpoint/2010/main" val="44001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Câmpuri de text</a:t>
            </a:r>
          </a:p>
        </p:txBody>
      </p:sp>
      <p:sp>
        <p:nvSpPr>
          <p:cNvPr id="3" name="Content Placeholder 2"/>
          <p:cNvSpPr>
            <a:spLocks noGrp="1"/>
          </p:cNvSpPr>
          <p:nvPr>
            <p:ph idx="1"/>
          </p:nvPr>
        </p:nvSpPr>
        <p:spPr/>
        <p:txBody>
          <a:bodyPr>
            <a:normAutofit fontScale="92500" lnSpcReduction="10000"/>
          </a:bodyPr>
          <a:lstStyle/>
          <a:p>
            <a:r>
              <a:rPr lang="ro-RO" dirty="0"/>
              <a:t>Câmpurile de text (text </a:t>
            </a:r>
            <a:r>
              <a:rPr lang="ro-RO" dirty="0" err="1"/>
              <a:t>fields</a:t>
            </a:r>
            <a:r>
              <a:rPr lang="ro-RO" dirty="0"/>
              <a:t>) sunt folosite pentru a crea componente în care textul poate fi modificat de utilizator. Aceste componente sunt create din clasa </a:t>
            </a:r>
            <a:r>
              <a:rPr lang="ro-RO" b="1" dirty="0" err="1"/>
              <a:t>TextField</a:t>
            </a:r>
            <a:r>
              <a:rPr lang="ro-RO" dirty="0"/>
              <a:t>.</a:t>
            </a:r>
          </a:p>
          <a:p>
            <a:r>
              <a:rPr lang="ro-RO" dirty="0"/>
              <a:t>Pentru a crea un câmp de text, </a:t>
            </a:r>
            <a:r>
              <a:rPr lang="ro-RO" dirty="0" err="1"/>
              <a:t>folosiţi</a:t>
            </a:r>
            <a:r>
              <a:rPr lang="ro-RO" dirty="0"/>
              <a:t> unul din următorii constructori:</a:t>
            </a:r>
          </a:p>
          <a:p>
            <a:pPr lvl="0"/>
            <a:r>
              <a:rPr lang="ro-RO" b="1" dirty="0" err="1"/>
              <a:t>TextField</a:t>
            </a:r>
            <a:r>
              <a:rPr lang="ro-RO" b="1" dirty="0"/>
              <a:t>()</a:t>
            </a:r>
            <a:r>
              <a:rPr lang="ro-RO" dirty="0"/>
              <a:t> creează un câmp gol, fără o </a:t>
            </a:r>
            <a:r>
              <a:rPr lang="ro-RO" dirty="0" err="1"/>
              <a:t>lăţime</a:t>
            </a:r>
            <a:r>
              <a:rPr lang="ro-RO" dirty="0"/>
              <a:t> specificată.</a:t>
            </a:r>
          </a:p>
          <a:p>
            <a:pPr lvl="0"/>
            <a:r>
              <a:rPr lang="ro-RO" b="1" dirty="0" err="1"/>
              <a:t>TextField</a:t>
            </a:r>
            <a:r>
              <a:rPr lang="ro-RO" b="1" dirty="0"/>
              <a:t>(</a:t>
            </a:r>
            <a:r>
              <a:rPr lang="ro-RO" b="1" dirty="0" err="1"/>
              <a:t>int</a:t>
            </a:r>
            <a:r>
              <a:rPr lang="ro-RO" b="1" dirty="0"/>
              <a:t>)</a:t>
            </a:r>
            <a:r>
              <a:rPr lang="ro-RO" dirty="0"/>
              <a:t> creează un câmp gol, care are o </a:t>
            </a:r>
            <a:r>
              <a:rPr lang="ro-RO" dirty="0" err="1"/>
              <a:t>lăţime</a:t>
            </a:r>
            <a:r>
              <a:rPr lang="ro-RO" dirty="0"/>
              <a:t> suficientă pentru a </a:t>
            </a:r>
            <a:r>
              <a:rPr lang="ro-RO" dirty="0" err="1"/>
              <a:t>afişa</a:t>
            </a:r>
            <a:r>
              <a:rPr lang="ro-RO" dirty="0"/>
              <a:t> numărul specificat de caractere. </a:t>
            </a:r>
          </a:p>
          <a:p>
            <a:pPr lvl="0"/>
            <a:r>
              <a:rPr lang="ro-RO" b="1" dirty="0" err="1"/>
              <a:t>TextField</a:t>
            </a:r>
            <a:r>
              <a:rPr lang="ro-RO" b="1" dirty="0"/>
              <a:t>(</a:t>
            </a:r>
            <a:r>
              <a:rPr lang="ro-RO" b="1" dirty="0" err="1"/>
              <a:t>String</a:t>
            </a:r>
            <a:r>
              <a:rPr lang="ro-RO" b="1" dirty="0"/>
              <a:t>)</a:t>
            </a:r>
            <a:r>
              <a:rPr lang="ro-RO" dirty="0"/>
              <a:t> creează un câmp completat cu </a:t>
            </a:r>
            <a:r>
              <a:rPr lang="ro-RO" dirty="0" err="1"/>
              <a:t>şirul</a:t>
            </a:r>
            <a:r>
              <a:rPr lang="ro-RO" dirty="0"/>
              <a:t> dat </a:t>
            </a:r>
            <a:r>
              <a:rPr lang="ro-RO" dirty="0" err="1"/>
              <a:t>şi</a:t>
            </a:r>
            <a:r>
              <a:rPr lang="ro-RO" dirty="0"/>
              <a:t> fără o </a:t>
            </a:r>
            <a:r>
              <a:rPr lang="ro-RO" dirty="0" err="1"/>
              <a:t>lăţime</a:t>
            </a:r>
            <a:r>
              <a:rPr lang="ro-RO" dirty="0"/>
              <a:t> specificată.</a:t>
            </a:r>
          </a:p>
          <a:p>
            <a:pPr lvl="0"/>
            <a:r>
              <a:rPr lang="ro-RO" b="1" dirty="0" err="1"/>
              <a:t>TextField</a:t>
            </a:r>
            <a:r>
              <a:rPr lang="ro-RO" b="1" dirty="0"/>
              <a:t> (</a:t>
            </a:r>
            <a:r>
              <a:rPr lang="ro-RO" b="1" i="1" dirty="0" err="1"/>
              <a:t>String</a:t>
            </a:r>
            <a:r>
              <a:rPr lang="ro-RO" b="1" i="1" dirty="0"/>
              <a:t>, </a:t>
            </a:r>
            <a:r>
              <a:rPr lang="ro-RO" b="1" i="1" dirty="0" err="1"/>
              <a:t>int</a:t>
            </a:r>
            <a:r>
              <a:rPr lang="ro-RO" b="1" i="1" dirty="0"/>
              <a:t>)</a:t>
            </a:r>
            <a:r>
              <a:rPr lang="ro-RO" dirty="0"/>
              <a:t> creează câmp completat cu </a:t>
            </a:r>
            <a:r>
              <a:rPr lang="ro-RO" dirty="0" err="1"/>
              <a:t>şirul</a:t>
            </a:r>
            <a:r>
              <a:rPr lang="ro-RO" dirty="0"/>
              <a:t> dat </a:t>
            </a:r>
            <a:r>
              <a:rPr lang="ro-RO" dirty="0" err="1"/>
              <a:t>şi</a:t>
            </a:r>
            <a:r>
              <a:rPr lang="ro-RO" dirty="0"/>
              <a:t> cu </a:t>
            </a:r>
            <a:r>
              <a:rPr lang="ro-RO" dirty="0" err="1"/>
              <a:t>lăţimea</a:t>
            </a:r>
            <a:r>
              <a:rPr lang="ro-RO" dirty="0"/>
              <a:t> specificata de argumentul întreg.</a:t>
            </a:r>
          </a:p>
          <a:p>
            <a:r>
              <a:rPr lang="ro-RO" dirty="0" err="1"/>
              <a:t>TextField</a:t>
            </a:r>
            <a:r>
              <a:rPr lang="ro-RO" dirty="0"/>
              <a:t> nume = </a:t>
            </a:r>
            <a:r>
              <a:rPr lang="ro-RO" dirty="0" err="1"/>
              <a:t>new</a:t>
            </a:r>
            <a:r>
              <a:rPr lang="ro-RO" dirty="0"/>
              <a:t> </a:t>
            </a:r>
            <a:r>
              <a:rPr lang="ro-RO" dirty="0" err="1"/>
              <a:t>TextField</a:t>
            </a:r>
            <a:r>
              <a:rPr lang="ro-RO" dirty="0"/>
              <a:t>(30) ;</a:t>
            </a:r>
          </a:p>
          <a:p>
            <a:r>
              <a:rPr lang="ro-RO" dirty="0" err="1"/>
              <a:t>TextField</a:t>
            </a:r>
            <a:r>
              <a:rPr lang="ro-RO" dirty="0"/>
              <a:t> nume = </a:t>
            </a:r>
            <a:r>
              <a:rPr lang="ro-RO" dirty="0" err="1"/>
              <a:t>new</a:t>
            </a:r>
            <a:r>
              <a:rPr lang="ro-RO" dirty="0"/>
              <a:t> </a:t>
            </a:r>
            <a:r>
              <a:rPr lang="ro-RO" dirty="0" err="1"/>
              <a:t>TextField</a:t>
            </a:r>
            <a:r>
              <a:rPr lang="ro-RO" dirty="0"/>
              <a:t>("Ion I. Ionescu", 30);</a:t>
            </a:r>
          </a:p>
          <a:p>
            <a:endParaRPr lang="ro-RO" dirty="0"/>
          </a:p>
        </p:txBody>
      </p:sp>
    </p:spTree>
    <p:extLst>
      <p:ext uri="{BB962C8B-B14F-4D97-AF65-F5344CB8AC3E}">
        <p14:creationId xmlns:p14="http://schemas.microsoft.com/office/powerpoint/2010/main" val="2910494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Zone de text</a:t>
            </a:r>
          </a:p>
        </p:txBody>
      </p:sp>
      <p:sp>
        <p:nvSpPr>
          <p:cNvPr id="3" name="Content Placeholder 2"/>
          <p:cNvSpPr>
            <a:spLocks noGrp="1"/>
          </p:cNvSpPr>
          <p:nvPr>
            <p:ph idx="1"/>
          </p:nvPr>
        </p:nvSpPr>
        <p:spPr/>
        <p:txBody>
          <a:bodyPr>
            <a:normAutofit fontScale="92500" lnSpcReduction="10000"/>
          </a:bodyPr>
          <a:lstStyle/>
          <a:p>
            <a:r>
              <a:rPr lang="ro-RO" b="1" dirty="0"/>
              <a:t>Zonele de text</a:t>
            </a:r>
            <a:r>
              <a:rPr lang="ro-RO" dirty="0"/>
              <a:t> (text </a:t>
            </a:r>
            <a:r>
              <a:rPr lang="ro-RO" dirty="0" err="1"/>
              <a:t>areas</a:t>
            </a:r>
            <a:r>
              <a:rPr lang="ro-RO" dirty="0"/>
              <a:t>), create din clasa </a:t>
            </a:r>
            <a:r>
              <a:rPr lang="ro-RO" b="1" dirty="0" err="1"/>
              <a:t>textArea</a:t>
            </a:r>
            <a:r>
              <a:rPr lang="ro-RO" dirty="0"/>
              <a:t>, sunt câmpuri de text modificabile care pot </a:t>
            </a:r>
            <a:r>
              <a:rPr lang="ro-RO" dirty="0" err="1"/>
              <a:t>conţine</a:t>
            </a:r>
            <a:r>
              <a:rPr lang="ro-RO" dirty="0"/>
              <a:t> mai multe linii de text. Zonele de text posedă bare de defilare orizontale </a:t>
            </a:r>
            <a:r>
              <a:rPr lang="ro-RO" dirty="0" err="1"/>
              <a:t>şi</a:t>
            </a:r>
            <a:r>
              <a:rPr lang="ro-RO" dirty="0"/>
              <a:t> verticale, care permit utilizatorului să parcurgă întreg textul </a:t>
            </a:r>
            <a:r>
              <a:rPr lang="ro-RO" dirty="0" err="1"/>
              <a:t>conţinut</a:t>
            </a:r>
            <a:r>
              <a:rPr lang="ro-RO" dirty="0"/>
              <a:t> în componentă.</a:t>
            </a:r>
          </a:p>
          <a:p>
            <a:r>
              <a:rPr lang="ro-RO" dirty="0"/>
              <a:t>Pentru a crea o zonă de text </a:t>
            </a:r>
            <a:r>
              <a:rPr lang="ro-RO" dirty="0" err="1"/>
              <a:t>puteţi</a:t>
            </a:r>
            <a:r>
              <a:rPr lang="ro-RO" dirty="0"/>
              <a:t> folosi unul din următorii constructori:</a:t>
            </a:r>
          </a:p>
          <a:p>
            <a:pPr lvl="0"/>
            <a:r>
              <a:rPr lang="ro-RO" b="1" dirty="0" err="1"/>
              <a:t>TextArea</a:t>
            </a:r>
            <a:r>
              <a:rPr lang="ro-RO" b="1" dirty="0"/>
              <a:t>()</a:t>
            </a:r>
            <a:r>
              <a:rPr lang="ro-RO" dirty="0"/>
              <a:t> creează o zonă de text goală, cu </a:t>
            </a:r>
            <a:r>
              <a:rPr lang="ro-RO" dirty="0" err="1"/>
              <a:t>înălţime</a:t>
            </a:r>
            <a:r>
              <a:rPr lang="ro-RO" dirty="0"/>
              <a:t> </a:t>
            </a:r>
            <a:r>
              <a:rPr lang="ro-RO" dirty="0" err="1"/>
              <a:t>şi</a:t>
            </a:r>
            <a:r>
              <a:rPr lang="ro-RO" dirty="0"/>
              <a:t> </a:t>
            </a:r>
            <a:r>
              <a:rPr lang="ro-RO" dirty="0" err="1"/>
              <a:t>lăţime</a:t>
            </a:r>
            <a:r>
              <a:rPr lang="ro-RO" dirty="0"/>
              <a:t> nespecificate.</a:t>
            </a:r>
          </a:p>
          <a:p>
            <a:pPr lvl="0"/>
            <a:r>
              <a:rPr lang="ro-RO" b="1" dirty="0" err="1"/>
              <a:t>TextArea</a:t>
            </a:r>
            <a:r>
              <a:rPr lang="ro-RO" b="1" dirty="0"/>
              <a:t> (</a:t>
            </a:r>
            <a:r>
              <a:rPr lang="ro-RO" b="1" dirty="0" err="1"/>
              <a:t>i</a:t>
            </a:r>
            <a:r>
              <a:rPr lang="ro-RO" b="1" i="1" dirty="0" err="1"/>
              <a:t>nt</a:t>
            </a:r>
            <a:r>
              <a:rPr lang="ro-RO" b="1" i="1" dirty="0"/>
              <a:t>, </a:t>
            </a:r>
            <a:r>
              <a:rPr lang="ro-RO" b="1" i="1" dirty="0" err="1"/>
              <a:t>int</a:t>
            </a:r>
            <a:r>
              <a:rPr lang="ro-RO" b="1" i="1" dirty="0"/>
              <a:t>)</a:t>
            </a:r>
            <a:r>
              <a:rPr lang="ro-RO" dirty="0"/>
              <a:t> creează o zonă goală, care </a:t>
            </a:r>
            <a:r>
              <a:rPr lang="ro-RO" dirty="0" err="1"/>
              <a:t>conţine</a:t>
            </a:r>
            <a:r>
              <a:rPr lang="ro-RO" dirty="0"/>
              <a:t> numărul de rânduri dat de primul argument </a:t>
            </a:r>
            <a:r>
              <a:rPr lang="ro-RO" dirty="0" err="1"/>
              <a:t>şi</a:t>
            </a:r>
            <a:r>
              <a:rPr lang="ro-RO" dirty="0"/>
              <a:t> are </a:t>
            </a:r>
            <a:r>
              <a:rPr lang="ro-RO" dirty="0" err="1"/>
              <a:t>lăţimea</a:t>
            </a:r>
            <a:r>
              <a:rPr lang="ro-RO" dirty="0"/>
              <a:t> în caractere dată de al doilea argument.</a:t>
            </a:r>
          </a:p>
          <a:p>
            <a:pPr lvl="0"/>
            <a:r>
              <a:rPr lang="ro-RO" b="1" dirty="0" err="1"/>
              <a:t>TextArea</a:t>
            </a:r>
            <a:r>
              <a:rPr lang="ro-RO" b="1" dirty="0"/>
              <a:t> (</a:t>
            </a:r>
            <a:r>
              <a:rPr lang="ro-RO" b="1" i="1" dirty="0" err="1"/>
              <a:t>String</a:t>
            </a:r>
            <a:r>
              <a:rPr lang="ro-RO" b="1" i="1" dirty="0"/>
              <a:t>)</a:t>
            </a:r>
            <a:r>
              <a:rPr lang="ro-RO" dirty="0"/>
              <a:t> creează o zonă de text care </a:t>
            </a:r>
            <a:r>
              <a:rPr lang="ro-RO" dirty="0" err="1"/>
              <a:t>conţine</a:t>
            </a:r>
            <a:r>
              <a:rPr lang="ro-RO" dirty="0"/>
              <a:t> </a:t>
            </a:r>
            <a:r>
              <a:rPr lang="ro-RO" dirty="0" err="1"/>
              <a:t>şirul</a:t>
            </a:r>
            <a:r>
              <a:rPr lang="ro-RO" dirty="0"/>
              <a:t> specificat </a:t>
            </a:r>
            <a:r>
              <a:rPr lang="ro-RO" dirty="0" err="1"/>
              <a:t>şi</a:t>
            </a:r>
            <a:r>
              <a:rPr lang="ro-RO" dirty="0"/>
              <a:t> are </a:t>
            </a:r>
            <a:r>
              <a:rPr lang="ro-RO" dirty="0" err="1"/>
              <a:t>lăţimea</a:t>
            </a:r>
            <a:r>
              <a:rPr lang="ro-RO" dirty="0"/>
              <a:t> </a:t>
            </a:r>
            <a:r>
              <a:rPr lang="ro-RO" dirty="0" err="1"/>
              <a:t>şi</a:t>
            </a:r>
            <a:r>
              <a:rPr lang="ro-RO" dirty="0"/>
              <a:t> </a:t>
            </a:r>
            <a:r>
              <a:rPr lang="ro-RO" dirty="0" err="1"/>
              <a:t>înălţimea</a:t>
            </a:r>
            <a:r>
              <a:rPr lang="ro-RO" dirty="0"/>
              <a:t> nespecificate.</a:t>
            </a:r>
          </a:p>
          <a:p>
            <a:pPr lvl="0"/>
            <a:r>
              <a:rPr lang="ro-RO" b="1" dirty="0" err="1"/>
              <a:t>TextArea</a:t>
            </a:r>
            <a:r>
              <a:rPr lang="ro-RO" b="1" dirty="0"/>
              <a:t>(</a:t>
            </a:r>
            <a:r>
              <a:rPr lang="ro-RO" b="1" dirty="0" err="1"/>
              <a:t>String</a:t>
            </a:r>
            <a:r>
              <a:rPr lang="ro-RO" b="1" dirty="0"/>
              <a:t>, </a:t>
            </a:r>
            <a:r>
              <a:rPr lang="ro-RO" b="1" i="1" dirty="0" err="1"/>
              <a:t>int</a:t>
            </a:r>
            <a:r>
              <a:rPr lang="ro-RO" b="1" i="1" dirty="0"/>
              <a:t>, </a:t>
            </a:r>
            <a:r>
              <a:rPr lang="ro-RO" b="1" i="1" dirty="0" err="1"/>
              <a:t>int</a:t>
            </a:r>
            <a:r>
              <a:rPr lang="ro-RO" b="1" i="1" dirty="0"/>
              <a:t>)</a:t>
            </a:r>
            <a:r>
              <a:rPr lang="ro-RO" dirty="0"/>
              <a:t> creează o zonă de text care </a:t>
            </a:r>
            <a:r>
              <a:rPr lang="ro-RO" dirty="0" err="1"/>
              <a:t>conţine</a:t>
            </a:r>
            <a:r>
              <a:rPr lang="ro-RO" dirty="0"/>
              <a:t> </a:t>
            </a:r>
            <a:r>
              <a:rPr lang="ro-RO" dirty="0" err="1"/>
              <a:t>şirul</a:t>
            </a:r>
            <a:r>
              <a:rPr lang="ro-RO" dirty="0"/>
              <a:t> specificat, numărul de rânduri fiind dat de primul argument, iar </a:t>
            </a:r>
            <a:r>
              <a:rPr lang="ro-RO" dirty="0" err="1"/>
              <a:t>lăţimea</a:t>
            </a:r>
            <a:r>
              <a:rPr lang="ro-RO" dirty="0"/>
              <a:t> în caractere de al doilea argument. </a:t>
            </a:r>
          </a:p>
          <a:p>
            <a:r>
              <a:rPr lang="ro-RO" dirty="0"/>
              <a:t> </a:t>
            </a:r>
          </a:p>
          <a:p>
            <a:endParaRPr lang="ro-RO" dirty="0"/>
          </a:p>
        </p:txBody>
      </p:sp>
    </p:spTree>
    <p:extLst>
      <p:ext uri="{BB962C8B-B14F-4D97-AF65-F5344CB8AC3E}">
        <p14:creationId xmlns:p14="http://schemas.microsoft.com/office/powerpoint/2010/main" val="3044308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b="1" dirty="0"/>
              <a:t>Liste de </a:t>
            </a:r>
            <a:r>
              <a:rPr lang="ro-RO" b="1" dirty="0" smtClean="0"/>
              <a:t>derulare</a:t>
            </a:r>
            <a:endParaRPr lang="ro-RO" dirty="0"/>
          </a:p>
        </p:txBody>
      </p:sp>
      <p:sp>
        <p:nvSpPr>
          <p:cNvPr id="3" name="Content Placeholder 2"/>
          <p:cNvSpPr>
            <a:spLocks noGrp="1"/>
          </p:cNvSpPr>
          <p:nvPr>
            <p:ph idx="1"/>
          </p:nvPr>
        </p:nvSpPr>
        <p:spPr/>
        <p:txBody>
          <a:bodyPr/>
          <a:lstStyle/>
          <a:p>
            <a:r>
              <a:rPr lang="ro-RO" b="1" dirty="0"/>
              <a:t>Listele de derulare</a:t>
            </a:r>
            <a:r>
              <a:rPr lang="ro-RO" dirty="0"/>
              <a:t> (</a:t>
            </a:r>
            <a:r>
              <a:rPr lang="ro-RO" dirty="0" err="1"/>
              <a:t>scrolling</a:t>
            </a:r>
            <a:r>
              <a:rPr lang="ro-RO" dirty="0"/>
              <a:t> </a:t>
            </a:r>
            <a:r>
              <a:rPr lang="ro-RO" dirty="0" err="1"/>
              <a:t>lists</a:t>
            </a:r>
            <a:r>
              <a:rPr lang="ro-RO" dirty="0"/>
              <a:t>), create din clasa </a:t>
            </a:r>
            <a:r>
              <a:rPr lang="ro-RO" b="1" dirty="0" err="1" smtClean="0"/>
              <a:t>List</a:t>
            </a:r>
            <a:endParaRPr lang="en-US" b="1" dirty="0" smtClean="0"/>
          </a:p>
          <a:p>
            <a:pPr lvl="0"/>
            <a:r>
              <a:rPr lang="ro-RO" dirty="0"/>
              <a:t>Lista de derulare poate fi configurată </a:t>
            </a:r>
            <a:r>
              <a:rPr lang="ro-RO" dirty="0" err="1"/>
              <a:t>aşa</a:t>
            </a:r>
            <a:r>
              <a:rPr lang="ro-RO" dirty="0"/>
              <a:t> încât să poată fi selectate mai multe </a:t>
            </a:r>
            <a:r>
              <a:rPr lang="ro-RO" dirty="0" err="1"/>
              <a:t>opţiuni</a:t>
            </a:r>
            <a:r>
              <a:rPr lang="ro-RO" dirty="0"/>
              <a:t> la un moment dat.</a:t>
            </a:r>
          </a:p>
          <a:p>
            <a:r>
              <a:rPr lang="ro-RO" dirty="0"/>
              <a:t>Listele de derulare se prezintă asemănător unei zone de text în care sunt </a:t>
            </a:r>
            <a:r>
              <a:rPr lang="ro-RO" dirty="0" err="1"/>
              <a:t>afişate</a:t>
            </a:r>
            <a:r>
              <a:rPr lang="ro-RO" dirty="0"/>
              <a:t> mai multe </a:t>
            </a:r>
            <a:r>
              <a:rPr lang="ro-RO" dirty="0" err="1"/>
              <a:t>opţiuni</a:t>
            </a:r>
            <a:endParaRPr lang="en-US" b="1" dirty="0" smtClean="0"/>
          </a:p>
          <a:p>
            <a:pPr lvl="0"/>
            <a:r>
              <a:rPr lang="ro-RO" b="1" dirty="0" err="1"/>
              <a:t>List</a:t>
            </a:r>
            <a:r>
              <a:rPr lang="ro-RO" b="1" dirty="0"/>
              <a:t>()</a:t>
            </a:r>
            <a:r>
              <a:rPr lang="ro-RO" dirty="0"/>
              <a:t> creează o listă de parcurgere vidă care permite selectarea unui singur element la un moment dat.</a:t>
            </a:r>
          </a:p>
          <a:p>
            <a:r>
              <a:rPr lang="ro-RO" b="1" dirty="0" err="1"/>
              <a:t>List</a:t>
            </a:r>
            <a:r>
              <a:rPr lang="ro-RO" b="1" dirty="0"/>
              <a:t>(</a:t>
            </a:r>
            <a:r>
              <a:rPr lang="ro-RO" b="1" dirty="0" err="1"/>
              <a:t>int</a:t>
            </a:r>
            <a:r>
              <a:rPr lang="ro-RO" b="1" dirty="0"/>
              <a:t>, boolean)</a:t>
            </a:r>
            <a:r>
              <a:rPr lang="ro-RO" dirty="0"/>
              <a:t> creează o listă de derulare care posedă numărul de elemente vizibile indicat de primul </a:t>
            </a:r>
            <a:r>
              <a:rPr lang="ro-RO" dirty="0" smtClean="0"/>
              <a:t>argument</a:t>
            </a:r>
            <a:endParaRPr lang="en-US" dirty="0" smtClean="0"/>
          </a:p>
          <a:p>
            <a:r>
              <a:rPr lang="ro-RO" dirty="0"/>
              <a:t>După crearea unui obiect </a:t>
            </a:r>
            <a:r>
              <a:rPr lang="ro-RO" dirty="0" err="1"/>
              <a:t>List</a:t>
            </a:r>
            <a:r>
              <a:rPr lang="ro-RO" dirty="0"/>
              <a:t> se </a:t>
            </a:r>
            <a:r>
              <a:rPr lang="ro-RO" dirty="0" err="1"/>
              <a:t>foloseşte</a:t>
            </a:r>
            <a:r>
              <a:rPr lang="ro-RO" dirty="0"/>
              <a:t> metoda </a:t>
            </a:r>
            <a:r>
              <a:rPr lang="ro-RO" b="1" dirty="0" err="1"/>
              <a:t>addItem</a:t>
            </a:r>
            <a:r>
              <a:rPr lang="ro-RO" dirty="0"/>
              <a:t>(</a:t>
            </a:r>
            <a:r>
              <a:rPr lang="ro-RO" i="1" dirty="0" err="1"/>
              <a:t>String</a:t>
            </a:r>
            <a:r>
              <a:rPr lang="ro-RO" i="1" dirty="0"/>
              <a:t>)</a:t>
            </a:r>
            <a:r>
              <a:rPr lang="ro-RO" dirty="0"/>
              <a:t> </a:t>
            </a:r>
            <a:endParaRPr lang="ro-RO" dirty="0"/>
          </a:p>
        </p:txBody>
      </p:sp>
    </p:spTree>
    <p:extLst>
      <p:ext uri="{BB962C8B-B14F-4D97-AF65-F5344CB8AC3E}">
        <p14:creationId xmlns:p14="http://schemas.microsoft.com/office/powerpoint/2010/main" val="1425127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Bare de derulare </a:t>
            </a:r>
            <a:r>
              <a:rPr lang="ro-RO" b="1" dirty="0" err="1"/>
              <a:t>şi</a:t>
            </a:r>
            <a:r>
              <a:rPr lang="ro-RO" b="1" dirty="0"/>
              <a:t> </a:t>
            </a:r>
            <a:r>
              <a:rPr lang="ro-RO" b="1" dirty="0" smtClean="0"/>
              <a:t>glisoare</a:t>
            </a:r>
            <a:endParaRPr lang="ro-RO" dirty="0"/>
          </a:p>
        </p:txBody>
      </p:sp>
      <p:sp>
        <p:nvSpPr>
          <p:cNvPr id="3" name="Content Placeholder 2"/>
          <p:cNvSpPr>
            <a:spLocks noGrp="1"/>
          </p:cNvSpPr>
          <p:nvPr>
            <p:ph idx="1"/>
          </p:nvPr>
        </p:nvSpPr>
        <p:spPr>
          <a:xfrm>
            <a:off x="172995" y="1845734"/>
            <a:ext cx="10982685" cy="4023360"/>
          </a:xfrm>
        </p:spPr>
        <p:txBody>
          <a:bodyPr>
            <a:noAutofit/>
          </a:bodyPr>
          <a:lstStyle/>
          <a:p>
            <a:pPr>
              <a:spcBef>
                <a:spcPts val="600"/>
              </a:spcBef>
            </a:pPr>
            <a:r>
              <a:rPr lang="ro-RO" sz="1600" i="1" dirty="0"/>
              <a:t>Barele de derulare</a:t>
            </a:r>
            <a:r>
              <a:rPr lang="ro-RO" sz="1600" dirty="0"/>
              <a:t> (</a:t>
            </a:r>
            <a:r>
              <a:rPr lang="ro-RO" sz="1600" b="1" dirty="0" err="1"/>
              <a:t>scrollbars</a:t>
            </a:r>
            <a:r>
              <a:rPr lang="ro-RO" sz="1600" dirty="0"/>
              <a:t>) sunt componente care permit selectarea unei valori prin deplasarea unei casete între două </a:t>
            </a:r>
            <a:r>
              <a:rPr lang="ro-RO" sz="1600" dirty="0" err="1"/>
              <a:t>săgeţi</a:t>
            </a:r>
            <a:r>
              <a:rPr lang="ro-RO" sz="1600" dirty="0"/>
              <a:t>. O bară de derulare poate fi orizontală sau verticală.</a:t>
            </a:r>
          </a:p>
          <a:p>
            <a:pPr>
              <a:spcBef>
                <a:spcPts val="600"/>
              </a:spcBef>
            </a:pPr>
            <a:r>
              <a:rPr lang="ro-RO" sz="1600" dirty="0"/>
              <a:t>Pentru a crea o bară de derulare </a:t>
            </a:r>
            <a:r>
              <a:rPr lang="ro-RO" sz="1600" dirty="0" err="1"/>
              <a:t>puteţi</a:t>
            </a:r>
            <a:r>
              <a:rPr lang="ro-RO" sz="1600" dirty="0"/>
              <a:t> folosi următorii constructori:</a:t>
            </a:r>
          </a:p>
          <a:p>
            <a:pPr lvl="0">
              <a:spcBef>
                <a:spcPts val="600"/>
              </a:spcBef>
            </a:pPr>
            <a:r>
              <a:rPr lang="ro-RO" sz="1600" b="1" dirty="0" err="1"/>
              <a:t>Scrollbar</a:t>
            </a:r>
            <a:r>
              <a:rPr lang="ro-RO" sz="1600" b="1" dirty="0"/>
              <a:t>()</a:t>
            </a:r>
            <a:r>
              <a:rPr lang="ro-RO" sz="1600" dirty="0"/>
              <a:t> creează o bară de derulare verticală care are valorile maximă </a:t>
            </a:r>
            <a:r>
              <a:rPr lang="ro-RO" sz="1600" dirty="0" err="1"/>
              <a:t>şi</a:t>
            </a:r>
            <a:r>
              <a:rPr lang="ro-RO" sz="1600" dirty="0"/>
              <a:t> minimă setate </a:t>
            </a:r>
            <a:r>
              <a:rPr lang="ro-RO" sz="1600" dirty="0" err="1"/>
              <a:t>iniţial</a:t>
            </a:r>
            <a:r>
              <a:rPr lang="ro-RO" sz="1600" dirty="0"/>
              <a:t> la 0.</a:t>
            </a:r>
          </a:p>
          <a:p>
            <a:pPr lvl="0">
              <a:spcBef>
                <a:spcPts val="600"/>
              </a:spcBef>
            </a:pPr>
            <a:r>
              <a:rPr lang="ro-RO" sz="1600" b="1" dirty="0" err="1"/>
              <a:t>Scrollbar</a:t>
            </a:r>
            <a:r>
              <a:rPr lang="ro-RO" sz="1600" b="1" dirty="0"/>
              <a:t>(</a:t>
            </a:r>
            <a:r>
              <a:rPr lang="ro-RO" sz="1600" b="1" i="1" dirty="0" err="1"/>
              <a:t>int</a:t>
            </a:r>
            <a:r>
              <a:rPr lang="ro-RO" sz="1600" b="1" dirty="0"/>
              <a:t>)</a:t>
            </a:r>
            <a:r>
              <a:rPr lang="ro-RO" sz="1600" dirty="0"/>
              <a:t> creează o bară de derulare care are valorile maximă </a:t>
            </a:r>
            <a:r>
              <a:rPr lang="ro-RO" sz="1600" dirty="0" err="1"/>
              <a:t>şi</a:t>
            </a:r>
            <a:r>
              <a:rPr lang="ro-RO" sz="1600" dirty="0"/>
              <a:t> minimă setate la 0, iar orientarea este dată de valoarea întreagă. Argumentul poate lua următoarele valori, care sunt variabile de clasă: </a:t>
            </a:r>
            <a:r>
              <a:rPr lang="ro-RO" sz="1600" b="1" dirty="0" err="1"/>
              <a:t>Scrollbar.HORIZONTAL</a:t>
            </a:r>
            <a:r>
              <a:rPr lang="ro-RO" sz="1600" dirty="0"/>
              <a:t> </a:t>
            </a:r>
            <a:r>
              <a:rPr lang="ro-RO" sz="1600" dirty="0" err="1"/>
              <a:t>şi</a:t>
            </a:r>
            <a:r>
              <a:rPr lang="ro-RO" sz="1600" dirty="0"/>
              <a:t> </a:t>
            </a:r>
            <a:r>
              <a:rPr lang="ro-RO" sz="1600" b="1" dirty="0" err="1"/>
              <a:t>Scrollbar.VERTICAL</a:t>
            </a:r>
            <a:r>
              <a:rPr lang="ro-RO" sz="1600" dirty="0"/>
              <a:t>.</a:t>
            </a:r>
          </a:p>
          <a:p>
            <a:pPr>
              <a:spcBef>
                <a:spcPts val="600"/>
              </a:spcBef>
            </a:pPr>
            <a:r>
              <a:rPr lang="ro-RO" sz="1600" dirty="0" err="1"/>
              <a:t>Puteţi</a:t>
            </a:r>
            <a:r>
              <a:rPr lang="ro-RO" sz="1600" dirty="0"/>
              <a:t> folosi, de asemenea, un al treilea constructor, care </a:t>
            </a:r>
            <a:r>
              <a:rPr lang="ro-RO" sz="1600" dirty="0" err="1"/>
              <a:t>primeşte</a:t>
            </a:r>
            <a:r>
              <a:rPr lang="ro-RO" sz="1600" dirty="0"/>
              <a:t> cinci argumente:</a:t>
            </a:r>
          </a:p>
          <a:p>
            <a:pPr>
              <a:spcBef>
                <a:spcPts val="600"/>
              </a:spcBef>
            </a:pPr>
            <a:r>
              <a:rPr lang="ro-RO" sz="1600" b="1" dirty="0" err="1"/>
              <a:t>Scrollbar</a:t>
            </a:r>
            <a:r>
              <a:rPr lang="ro-RO" sz="1600" dirty="0"/>
              <a:t> ( </a:t>
            </a:r>
            <a:r>
              <a:rPr lang="ro-RO" sz="1600" i="1" dirty="0" err="1"/>
              <a:t>int</a:t>
            </a:r>
            <a:r>
              <a:rPr lang="ro-RO" sz="1600" i="1" dirty="0"/>
              <a:t>, </a:t>
            </a:r>
            <a:r>
              <a:rPr lang="ro-RO" sz="1600" i="1" dirty="0" err="1"/>
              <a:t>int</a:t>
            </a:r>
            <a:r>
              <a:rPr lang="ro-RO" sz="1600" i="1" dirty="0"/>
              <a:t>, </a:t>
            </a:r>
            <a:r>
              <a:rPr lang="ro-RO" sz="1600" i="1" dirty="0" err="1"/>
              <a:t>int</a:t>
            </a:r>
            <a:r>
              <a:rPr lang="ro-RO" sz="1600" i="1" dirty="0"/>
              <a:t>,</a:t>
            </a:r>
            <a:r>
              <a:rPr lang="ro-RO" sz="1600" dirty="0"/>
              <a:t> </a:t>
            </a:r>
            <a:r>
              <a:rPr lang="ro-RO" sz="1600" i="1" dirty="0" err="1"/>
              <a:t>int</a:t>
            </a:r>
            <a:r>
              <a:rPr lang="ro-RO" sz="1600" i="1" dirty="0"/>
              <a:t>, </a:t>
            </a:r>
            <a:r>
              <a:rPr lang="ro-RO" sz="1600" i="1" dirty="0" err="1"/>
              <a:t>int</a:t>
            </a:r>
            <a:r>
              <a:rPr lang="ro-RO" sz="1600" dirty="0"/>
              <a:t>). Argumentele acestei metode sunt, în ordine, următoarele:</a:t>
            </a:r>
          </a:p>
          <a:p>
            <a:pPr lvl="0">
              <a:spcBef>
                <a:spcPts val="600"/>
              </a:spcBef>
            </a:pPr>
            <a:r>
              <a:rPr lang="ro-RO" sz="1600" dirty="0"/>
              <a:t>Orientarea, care este </a:t>
            </a:r>
            <a:r>
              <a:rPr lang="ro-RO" sz="1600" dirty="0" err="1"/>
              <a:t>Scrollbar.HORIZONTAL</a:t>
            </a:r>
            <a:r>
              <a:rPr lang="ro-RO" sz="1600" dirty="0"/>
              <a:t> sau </a:t>
            </a:r>
            <a:r>
              <a:rPr lang="ro-RO" sz="1600" dirty="0" err="1"/>
              <a:t>Scrollbar.VERTICAL</a:t>
            </a:r>
            <a:r>
              <a:rPr lang="ro-RO" sz="1600" dirty="0"/>
              <a:t>.</a:t>
            </a:r>
          </a:p>
          <a:p>
            <a:pPr lvl="0">
              <a:spcBef>
                <a:spcPts val="600"/>
              </a:spcBef>
            </a:pPr>
            <a:r>
              <a:rPr lang="ro-RO" sz="1600" dirty="0"/>
              <a:t>Valoarea </a:t>
            </a:r>
            <a:r>
              <a:rPr lang="ro-RO" sz="1600" dirty="0" err="1"/>
              <a:t>iniţială</a:t>
            </a:r>
            <a:r>
              <a:rPr lang="ro-RO" sz="1600" dirty="0"/>
              <a:t> a barei de derulare, care trebuie să se afle între valorile minimă </a:t>
            </a:r>
            <a:r>
              <a:rPr lang="ro-RO" sz="1600" dirty="0" err="1"/>
              <a:t>şi</a:t>
            </a:r>
            <a:r>
              <a:rPr lang="ro-RO" sz="1600" dirty="0"/>
              <a:t> maximă ale barei sau să fie egală cu una dintre acestea.</a:t>
            </a:r>
          </a:p>
          <a:p>
            <a:pPr lvl="0">
              <a:spcBef>
                <a:spcPts val="600"/>
              </a:spcBef>
            </a:pPr>
            <a:r>
              <a:rPr lang="ro-RO" sz="1600" dirty="0" err="1"/>
              <a:t>Lăţimea</a:t>
            </a:r>
            <a:r>
              <a:rPr lang="ro-RO" sz="1600" dirty="0"/>
              <a:t> sau </a:t>
            </a:r>
            <a:r>
              <a:rPr lang="ro-RO" sz="1600" dirty="0" err="1"/>
              <a:t>înălţimea</a:t>
            </a:r>
            <a:r>
              <a:rPr lang="ro-RO" sz="1600" dirty="0"/>
              <a:t> generală a casetei folosite pentru modificarea valorii barei de derulare. Aceasta poate fi egală cu 0 atunci când se </a:t>
            </a:r>
            <a:r>
              <a:rPr lang="ro-RO" sz="1600" dirty="0" err="1"/>
              <a:t>foloseşte</a:t>
            </a:r>
            <a:r>
              <a:rPr lang="ro-RO" sz="1600" dirty="0"/>
              <a:t> dimensiunea prestabilită.</a:t>
            </a:r>
          </a:p>
          <a:p>
            <a:pPr lvl="0">
              <a:spcBef>
                <a:spcPts val="600"/>
              </a:spcBef>
            </a:pPr>
            <a:r>
              <a:rPr lang="ro-RO" sz="1600" dirty="0"/>
              <a:t>Valoarea minimă a barei de derulare.</a:t>
            </a:r>
          </a:p>
          <a:p>
            <a:pPr lvl="0">
              <a:spcBef>
                <a:spcPts val="600"/>
              </a:spcBef>
            </a:pPr>
            <a:r>
              <a:rPr lang="ro-RO" sz="1600" dirty="0"/>
              <a:t>Valoarea maximă a barei de derulare. </a:t>
            </a:r>
          </a:p>
          <a:p>
            <a:pPr>
              <a:spcBef>
                <a:spcPts val="600"/>
              </a:spcBef>
            </a:pPr>
            <a:endParaRPr lang="ro-RO" sz="1600" dirty="0"/>
          </a:p>
        </p:txBody>
      </p:sp>
    </p:spTree>
    <p:extLst>
      <p:ext uri="{BB962C8B-B14F-4D97-AF65-F5344CB8AC3E}">
        <p14:creationId xmlns:p14="http://schemas.microsoft.com/office/powerpoint/2010/main" val="1926174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err="1"/>
              <a:t>Suprafeţe</a:t>
            </a:r>
            <a:r>
              <a:rPr lang="ro-RO" b="1" dirty="0"/>
              <a:t> de </a:t>
            </a:r>
            <a:r>
              <a:rPr lang="ro-RO" b="1" dirty="0" smtClean="0"/>
              <a:t>desenare</a:t>
            </a:r>
            <a:endParaRPr lang="ro-RO" dirty="0"/>
          </a:p>
        </p:txBody>
      </p:sp>
      <p:sp>
        <p:nvSpPr>
          <p:cNvPr id="3" name="Content Placeholder 2"/>
          <p:cNvSpPr>
            <a:spLocks noGrp="1"/>
          </p:cNvSpPr>
          <p:nvPr>
            <p:ph idx="1"/>
          </p:nvPr>
        </p:nvSpPr>
        <p:spPr>
          <a:xfrm>
            <a:off x="520631" y="2076394"/>
            <a:ext cx="10058400" cy="4023360"/>
          </a:xfrm>
        </p:spPr>
        <p:txBody>
          <a:bodyPr/>
          <a:lstStyle/>
          <a:p>
            <a:r>
              <a:rPr lang="ro-RO" i="1" dirty="0" err="1"/>
              <a:t>Suprafeţele</a:t>
            </a:r>
            <a:r>
              <a:rPr lang="ro-RO" i="1" dirty="0"/>
              <a:t> de desenare</a:t>
            </a:r>
            <a:r>
              <a:rPr lang="ro-RO" dirty="0"/>
              <a:t> (</a:t>
            </a:r>
            <a:r>
              <a:rPr lang="ro-RO" dirty="0" err="1"/>
              <a:t>canvas</a:t>
            </a:r>
            <a:r>
              <a:rPr lang="ro-RO" dirty="0"/>
              <a:t>) sunt componente folosite, în principal, drept loc de </a:t>
            </a:r>
            <a:r>
              <a:rPr lang="ro-RO" dirty="0" err="1"/>
              <a:t>afişare</a:t>
            </a:r>
            <a:r>
              <a:rPr lang="ro-RO" dirty="0"/>
              <a:t> pentru imagini sau </a:t>
            </a:r>
            <a:r>
              <a:rPr lang="ro-RO" dirty="0" err="1"/>
              <a:t>animaţie</a:t>
            </a:r>
            <a:r>
              <a:rPr lang="ro-RO" dirty="0"/>
              <a:t>. </a:t>
            </a:r>
            <a:r>
              <a:rPr lang="ro-RO" dirty="0" err="1"/>
              <a:t>Puteţi</a:t>
            </a:r>
            <a:r>
              <a:rPr lang="ro-RO" dirty="0"/>
              <a:t> desena </a:t>
            </a:r>
            <a:r>
              <a:rPr lang="ro-RO" dirty="0" err="1"/>
              <a:t>şi</a:t>
            </a:r>
            <a:r>
              <a:rPr lang="ro-RO" dirty="0"/>
              <a:t> pe alte componente, însă obiectele </a:t>
            </a:r>
            <a:r>
              <a:rPr lang="ro-RO" dirty="0" err="1"/>
              <a:t>Canvas</a:t>
            </a:r>
            <a:r>
              <a:rPr lang="ro-RO" dirty="0"/>
              <a:t> sunt cele mai simplu de folosit în acest scop.</a:t>
            </a:r>
          </a:p>
          <a:p>
            <a:r>
              <a:rPr lang="ro-RO" dirty="0"/>
              <a:t>Pentru a folosi o </a:t>
            </a:r>
            <a:r>
              <a:rPr lang="ro-RO" dirty="0" err="1"/>
              <a:t>suprafaţă</a:t>
            </a:r>
            <a:r>
              <a:rPr lang="ro-RO" dirty="0"/>
              <a:t> de desenare trebuie să </a:t>
            </a:r>
            <a:r>
              <a:rPr lang="ro-RO" dirty="0" err="1"/>
              <a:t>creaţi</a:t>
            </a:r>
            <a:r>
              <a:rPr lang="ro-RO" dirty="0"/>
              <a:t> o subclasă a clasei </a:t>
            </a:r>
            <a:r>
              <a:rPr lang="ro-RO" dirty="0" err="1"/>
              <a:t>Canvas</a:t>
            </a:r>
            <a:r>
              <a:rPr lang="ro-RO" dirty="0"/>
              <a:t>. Această subclasă se poate ocupa de toate </a:t>
            </a:r>
            <a:r>
              <a:rPr lang="ro-RO" dirty="0" err="1"/>
              <a:t>operaţiunile</a:t>
            </a:r>
            <a:r>
              <a:rPr lang="ro-RO" dirty="0"/>
              <a:t> de desenare care trebuie să aibă loc, în metoda sa </a:t>
            </a:r>
            <a:r>
              <a:rPr lang="ro-RO" dirty="0" err="1"/>
              <a:t>paint</a:t>
            </a:r>
            <a:r>
              <a:rPr lang="ro-RO" dirty="0"/>
              <a:t>().</a:t>
            </a:r>
          </a:p>
          <a:p>
            <a:r>
              <a:rPr lang="ro-RO" dirty="0"/>
              <a:t>O dată creată o subclasă </a:t>
            </a:r>
            <a:r>
              <a:rPr lang="ro-RO" dirty="0" err="1"/>
              <a:t>Canvas</a:t>
            </a:r>
            <a:r>
              <a:rPr lang="ro-RO" dirty="0"/>
              <a:t>, aceasta poate fi folosită în program prin apelarea constructorului său </a:t>
            </a:r>
            <a:r>
              <a:rPr lang="ro-RO" dirty="0" err="1"/>
              <a:t>şi</a:t>
            </a:r>
            <a:r>
              <a:rPr lang="ro-RO" dirty="0"/>
              <a:t> prin adăugarea noului obiect </a:t>
            </a:r>
            <a:r>
              <a:rPr lang="ro-RO" dirty="0" err="1"/>
              <a:t>Canvas</a:t>
            </a:r>
            <a:r>
              <a:rPr lang="ro-RO" dirty="0"/>
              <a:t> într-un container.</a:t>
            </a:r>
          </a:p>
          <a:p>
            <a:r>
              <a:rPr lang="ro-RO" b="1" dirty="0"/>
              <a:t> </a:t>
            </a:r>
            <a:endParaRPr lang="ro-RO" dirty="0"/>
          </a:p>
        </p:txBody>
      </p:sp>
    </p:spTree>
    <p:extLst>
      <p:ext uri="{BB962C8B-B14F-4D97-AF65-F5344CB8AC3E}">
        <p14:creationId xmlns:p14="http://schemas.microsoft.com/office/powerpoint/2010/main" val="134632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o-RO" b="1" dirty="0"/>
              <a:t>Aranjarea componentelor într-o </a:t>
            </a:r>
            <a:r>
              <a:rPr lang="ro-RO" b="1" dirty="0" err="1"/>
              <a:t>interfaţă</a:t>
            </a:r>
            <a:r>
              <a:rPr lang="ro-RO" b="1" dirty="0"/>
              <a:t> utilizator</a:t>
            </a:r>
            <a:r>
              <a:rPr lang="ro-RO" dirty="0"/>
              <a:t/>
            </a:r>
            <a:br>
              <a:rPr lang="ro-RO" dirty="0"/>
            </a:br>
            <a:endParaRPr lang="ro-RO" dirty="0"/>
          </a:p>
        </p:txBody>
      </p:sp>
      <p:sp>
        <p:nvSpPr>
          <p:cNvPr id="3" name="Content Placeholder 2"/>
          <p:cNvSpPr>
            <a:spLocks noGrp="1"/>
          </p:cNvSpPr>
          <p:nvPr>
            <p:ph idx="1"/>
          </p:nvPr>
        </p:nvSpPr>
        <p:spPr/>
        <p:txBody>
          <a:bodyPr/>
          <a:lstStyle/>
          <a:p>
            <a:r>
              <a:rPr lang="ro-RO" b="1" dirty="0"/>
              <a:t>Dispunerea componentelor </a:t>
            </a:r>
            <a:r>
              <a:rPr lang="ro-RO" b="1" dirty="0" err="1"/>
              <a:t>interfeţei</a:t>
            </a:r>
            <a:endParaRPr lang="ro-RO" b="1" dirty="0"/>
          </a:p>
          <a:p>
            <a:r>
              <a:rPr lang="ro-RO" dirty="0"/>
              <a:t>Un administrator de dispunere determină modul cum vor fi aranjate (dispuse) componentele adăugate într-un container.</a:t>
            </a:r>
          </a:p>
          <a:p>
            <a:r>
              <a:rPr lang="ro-RO" dirty="0"/>
              <a:t>Administratorul de dispunere implicit este clasa </a:t>
            </a:r>
            <a:r>
              <a:rPr lang="ro-RO" b="1" dirty="0" err="1"/>
              <a:t>FlowLayout</a:t>
            </a:r>
            <a:r>
              <a:rPr lang="ro-RO" dirty="0"/>
              <a:t>. Această componentă permite dispunerea </a:t>
            </a:r>
            <a:r>
              <a:rPr lang="ro-RO" dirty="0" err="1"/>
              <a:t>secvenţială</a:t>
            </a:r>
            <a:r>
              <a:rPr lang="ro-RO" dirty="0"/>
              <a:t> a obiectelor, de la stânga la dreapta, în ordinea în care acestea sunt adăugate în container. Atunci când nu mai este loc pe un rând, celelalte obiecte se dispun în continuare pe rândul următor, continuând </a:t>
            </a:r>
            <a:r>
              <a:rPr lang="ro-RO" dirty="0" err="1"/>
              <a:t>secvenţa</a:t>
            </a:r>
            <a:r>
              <a:rPr lang="ro-RO" dirty="0"/>
              <a:t> de la stânga la dreapta.</a:t>
            </a:r>
          </a:p>
          <a:p>
            <a:r>
              <a:rPr lang="ro-RO" dirty="0"/>
              <a:t>Biblioteca AWT </a:t>
            </a:r>
            <a:r>
              <a:rPr lang="ro-RO" dirty="0" err="1"/>
              <a:t>conţine</a:t>
            </a:r>
            <a:r>
              <a:rPr lang="ro-RO" dirty="0"/>
              <a:t> cinci administratori de dispunere principali: </a:t>
            </a:r>
            <a:r>
              <a:rPr lang="ro-RO" b="1" dirty="0" err="1"/>
              <a:t>FlowLayout</a:t>
            </a:r>
            <a:r>
              <a:rPr lang="ro-RO" dirty="0"/>
              <a:t>, </a:t>
            </a:r>
            <a:r>
              <a:rPr lang="ro-RO" b="1" dirty="0" err="1"/>
              <a:t>GridLayout</a:t>
            </a:r>
            <a:r>
              <a:rPr lang="ro-RO" dirty="0"/>
              <a:t>, </a:t>
            </a:r>
            <a:r>
              <a:rPr lang="ro-RO" b="1" dirty="0" err="1"/>
              <a:t>BorderLayout</a:t>
            </a:r>
            <a:r>
              <a:rPr lang="ro-RO" dirty="0"/>
              <a:t>, </a:t>
            </a:r>
            <a:r>
              <a:rPr lang="ro-RO" b="1" dirty="0" err="1"/>
              <a:t>CardLayout</a:t>
            </a:r>
            <a:r>
              <a:rPr lang="ro-RO" b="1" dirty="0"/>
              <a:t> </a:t>
            </a:r>
            <a:r>
              <a:rPr lang="ro-RO" dirty="0" err="1"/>
              <a:t>şi</a:t>
            </a:r>
            <a:r>
              <a:rPr lang="ro-RO" dirty="0"/>
              <a:t> </a:t>
            </a:r>
            <a:r>
              <a:rPr lang="ro-RO" b="1" dirty="0" err="1"/>
              <a:t>GridBagLayout</a:t>
            </a:r>
            <a:r>
              <a:rPr lang="ro-RO" dirty="0"/>
              <a:t>. Pentru a crea un administrator de dispunere pentru un container, se creează o </a:t>
            </a:r>
            <a:r>
              <a:rPr lang="ro-RO" dirty="0" err="1"/>
              <a:t>instanţă</a:t>
            </a:r>
            <a:r>
              <a:rPr lang="ro-RO" dirty="0"/>
              <a:t> a clasei container folosind o </a:t>
            </a:r>
            <a:r>
              <a:rPr lang="ro-RO" dirty="0" err="1"/>
              <a:t>instrucţiune</a:t>
            </a:r>
            <a:r>
              <a:rPr lang="ro-RO" dirty="0"/>
              <a:t> de genul:</a:t>
            </a:r>
          </a:p>
          <a:p>
            <a:r>
              <a:rPr lang="ro-RO" dirty="0" err="1"/>
              <a:t>FlowLayout</a:t>
            </a:r>
            <a:r>
              <a:rPr lang="ro-RO" dirty="0"/>
              <a:t> </a:t>
            </a:r>
            <a:r>
              <a:rPr lang="ro-RO" dirty="0" err="1"/>
              <a:t>flo</a:t>
            </a:r>
            <a:r>
              <a:rPr lang="ro-RO" dirty="0"/>
              <a:t> = </a:t>
            </a:r>
            <a:r>
              <a:rPr lang="ro-RO" dirty="0" err="1"/>
              <a:t>new</a:t>
            </a:r>
            <a:r>
              <a:rPr lang="ro-RO" dirty="0"/>
              <a:t> </a:t>
            </a:r>
            <a:r>
              <a:rPr lang="ro-RO" dirty="0" err="1"/>
              <a:t>FlowLayout</a:t>
            </a:r>
            <a:r>
              <a:rPr lang="ro-RO" dirty="0"/>
              <a:t>();</a:t>
            </a:r>
          </a:p>
          <a:p>
            <a:endParaRPr lang="ro-RO" dirty="0"/>
          </a:p>
        </p:txBody>
      </p:sp>
    </p:spTree>
    <p:extLst>
      <p:ext uri="{BB962C8B-B14F-4D97-AF65-F5344CB8AC3E}">
        <p14:creationId xmlns:p14="http://schemas.microsoft.com/office/powerpoint/2010/main" val="271848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Dispunerea </a:t>
            </a:r>
            <a:r>
              <a:rPr lang="ro-RO" b="1" dirty="0" err="1"/>
              <a:t>secvenţială</a:t>
            </a:r>
            <a:r>
              <a:rPr lang="ro-RO" b="1" dirty="0"/>
              <a:t/>
            </a:r>
            <a:br>
              <a:rPr lang="ro-RO" b="1" dirty="0"/>
            </a:br>
            <a:endParaRPr lang="ro-RO" dirty="0"/>
          </a:p>
        </p:txBody>
      </p:sp>
      <p:sp>
        <p:nvSpPr>
          <p:cNvPr id="3" name="Content Placeholder 2"/>
          <p:cNvSpPr>
            <a:spLocks noGrp="1"/>
          </p:cNvSpPr>
          <p:nvPr>
            <p:ph idx="1"/>
          </p:nvPr>
        </p:nvSpPr>
        <p:spPr/>
        <p:txBody>
          <a:bodyPr/>
          <a:lstStyle/>
          <a:p>
            <a:r>
              <a:rPr lang="ro-RO" dirty="0" err="1"/>
              <a:t>FlowLayout</a:t>
            </a:r>
            <a:r>
              <a:rPr lang="ro-RO" dirty="0"/>
              <a:t> este cea mai simplă clasă de administrare a dispunerii. Ea aranjează componentele într-o manieră asemănătoare dispunerii cuvintelor într-o pagină - de la stânga la dreapta până la capătul rândului, apoi în continuare pe rândul următor.</a:t>
            </a:r>
          </a:p>
          <a:p>
            <a:r>
              <a:rPr lang="ro-RO" dirty="0"/>
              <a:t>În mod prestabilit, dacă </a:t>
            </a:r>
            <a:r>
              <a:rPr lang="ro-RO" dirty="0" err="1"/>
              <a:t>folosiţi</a:t>
            </a:r>
            <a:r>
              <a:rPr lang="ro-RO" dirty="0"/>
              <a:t> constructorul </a:t>
            </a:r>
            <a:r>
              <a:rPr lang="ro-RO" dirty="0" err="1"/>
              <a:t>FlowLayout</a:t>
            </a:r>
            <a:r>
              <a:rPr lang="ro-RO" dirty="0"/>
              <a:t>() fără argumente, componentele de pe fiecare rând vor fi centrate. Dacă </a:t>
            </a:r>
            <a:r>
              <a:rPr lang="ro-RO" dirty="0" err="1"/>
              <a:t>doriţi</a:t>
            </a:r>
            <a:r>
              <a:rPr lang="ro-RO" dirty="0"/>
              <a:t> ca acestea să fie aliniate la marginea din stânga sau din dreapta a containerului, trebuie folosite drept argument pentru constructor variabilele de clasă </a:t>
            </a:r>
            <a:r>
              <a:rPr lang="ro-RO" dirty="0" err="1"/>
              <a:t>FlowLayout.LEFT</a:t>
            </a:r>
            <a:r>
              <a:rPr lang="ro-RO" cap="small" dirty="0"/>
              <a:t> </a:t>
            </a:r>
            <a:r>
              <a:rPr lang="ro-RO" dirty="0"/>
              <a:t>sau </a:t>
            </a:r>
            <a:r>
              <a:rPr lang="ro-RO" dirty="0" err="1"/>
              <a:t>FlowLayout.RIGHT</a:t>
            </a:r>
            <a:r>
              <a:rPr lang="ro-RO" dirty="0"/>
              <a:t>:</a:t>
            </a:r>
          </a:p>
          <a:p>
            <a:r>
              <a:rPr lang="ro-RO" dirty="0" err="1"/>
              <a:t>FlowLayout</a:t>
            </a:r>
            <a:r>
              <a:rPr lang="ro-RO" dirty="0"/>
              <a:t> dreapta = </a:t>
            </a:r>
            <a:r>
              <a:rPr lang="ro-RO" dirty="0" err="1"/>
              <a:t>new</a:t>
            </a:r>
            <a:r>
              <a:rPr lang="ro-RO" dirty="0"/>
              <a:t> </a:t>
            </a:r>
            <a:r>
              <a:rPr lang="ro-RO" dirty="0" err="1"/>
              <a:t>FlowLayout</a:t>
            </a:r>
            <a:r>
              <a:rPr lang="ro-RO" dirty="0"/>
              <a:t>(</a:t>
            </a:r>
            <a:r>
              <a:rPr lang="ro-RO" dirty="0" err="1"/>
              <a:t>FlowLayout.RIGHT</a:t>
            </a:r>
            <a:r>
              <a:rPr lang="ro-RO" dirty="0"/>
              <a:t>);</a:t>
            </a:r>
          </a:p>
          <a:p>
            <a:r>
              <a:rPr lang="ro-RO" dirty="0"/>
              <a:t>Variabila de clasă </a:t>
            </a:r>
            <a:r>
              <a:rPr lang="ro-RO" dirty="0" err="1"/>
              <a:t>FlowLayout.CENTER</a:t>
            </a:r>
            <a:r>
              <a:rPr lang="ro-RO" dirty="0"/>
              <a:t> este folosită pentru dispunerea pe centru a componentelor.</a:t>
            </a:r>
          </a:p>
          <a:p>
            <a:endParaRPr lang="ro-RO" dirty="0"/>
          </a:p>
        </p:txBody>
      </p:sp>
    </p:spTree>
    <p:extLst>
      <p:ext uri="{BB962C8B-B14F-4D97-AF65-F5344CB8AC3E}">
        <p14:creationId xmlns:p14="http://schemas.microsoft.com/office/powerpoint/2010/main" val="1855745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Dispunerea tabelară</a:t>
            </a:r>
            <a:br>
              <a:rPr lang="ro-RO" b="1" dirty="0"/>
            </a:br>
            <a:endParaRPr lang="ro-RO" dirty="0"/>
          </a:p>
        </p:txBody>
      </p:sp>
      <p:sp>
        <p:nvSpPr>
          <p:cNvPr id="3" name="Content Placeholder 2"/>
          <p:cNvSpPr>
            <a:spLocks noGrp="1"/>
          </p:cNvSpPr>
          <p:nvPr>
            <p:ph idx="1"/>
          </p:nvPr>
        </p:nvSpPr>
        <p:spPr/>
        <p:txBody>
          <a:bodyPr>
            <a:normAutofit fontScale="85000" lnSpcReduction="20000"/>
          </a:bodyPr>
          <a:lstStyle/>
          <a:p>
            <a:r>
              <a:rPr lang="ro-RO" dirty="0"/>
              <a:t>Administratori de dispunere tabelară (</a:t>
            </a:r>
            <a:r>
              <a:rPr lang="ro-RO" dirty="0" err="1"/>
              <a:t>grid</a:t>
            </a:r>
            <a:r>
              <a:rPr lang="ro-RO" dirty="0"/>
              <a:t>) aranjează componentele într-un caroiaj (tabel) format din rânduri </a:t>
            </a:r>
            <a:r>
              <a:rPr lang="ro-RO" dirty="0" err="1"/>
              <a:t>şi</a:t>
            </a:r>
            <a:r>
              <a:rPr lang="ro-RO" dirty="0"/>
              <a:t> coloane.</a:t>
            </a:r>
          </a:p>
          <a:p>
            <a:r>
              <a:rPr lang="ro-RO" dirty="0"/>
              <a:t>Componentele sunt adăugate începând cu celula aflată cel mai în stânga pe primul rând al tabelului </a:t>
            </a:r>
            <a:r>
              <a:rPr lang="ro-RO" dirty="0" err="1"/>
              <a:t>şi</a:t>
            </a:r>
            <a:r>
              <a:rPr lang="ro-RO" dirty="0"/>
              <a:t> continuând spre dreapta. După completarea tuturor celulelor de pe primul rând se continua cu cel de-al doilea rând, de la stânga la dreapta, </a:t>
            </a:r>
            <a:r>
              <a:rPr lang="ro-RO" dirty="0" err="1"/>
              <a:t>şi</a:t>
            </a:r>
            <a:r>
              <a:rPr lang="ro-RO" dirty="0"/>
              <a:t> </a:t>
            </a:r>
            <a:r>
              <a:rPr lang="ro-RO" dirty="0" err="1"/>
              <a:t>aşa</a:t>
            </a:r>
            <a:r>
              <a:rPr lang="ro-RO" dirty="0"/>
              <a:t> mai departe.</a:t>
            </a:r>
          </a:p>
          <a:p>
            <a:r>
              <a:rPr lang="ro-RO" dirty="0"/>
              <a:t>Dispunerea tabelară este stabilită pornind de la clasa </a:t>
            </a:r>
            <a:r>
              <a:rPr lang="ro-RO" b="1" dirty="0" err="1"/>
              <a:t>GridLayout</a:t>
            </a:r>
            <a:r>
              <a:rPr lang="ro-RO" dirty="0"/>
              <a:t>. Constructorul </a:t>
            </a:r>
            <a:r>
              <a:rPr lang="ro-RO" b="1" dirty="0" err="1"/>
              <a:t>GridLayout</a:t>
            </a:r>
            <a:r>
              <a:rPr lang="ro-RO" dirty="0"/>
              <a:t> </a:t>
            </a:r>
            <a:r>
              <a:rPr lang="ro-RO" dirty="0" err="1"/>
              <a:t>primeşte</a:t>
            </a:r>
            <a:r>
              <a:rPr lang="ro-RO" dirty="0"/>
              <a:t> două argumente - numărul de rânduri </a:t>
            </a:r>
            <a:r>
              <a:rPr lang="ro-RO" dirty="0" err="1"/>
              <a:t>şi</a:t>
            </a:r>
            <a:r>
              <a:rPr lang="ro-RO" dirty="0"/>
              <a:t> numărul de coloane din tabel. Următoarea </a:t>
            </a:r>
            <a:r>
              <a:rPr lang="ro-RO" dirty="0" err="1"/>
              <a:t>instrucţiune</a:t>
            </a:r>
            <a:r>
              <a:rPr lang="ro-RO" dirty="0"/>
              <a:t> creează un administrator de dispunere tabelară pentru 10 rânduri </a:t>
            </a:r>
            <a:r>
              <a:rPr lang="ro-RO" dirty="0" err="1"/>
              <a:t>şi</a:t>
            </a:r>
            <a:r>
              <a:rPr lang="ro-RO" dirty="0"/>
              <a:t> 3 coloane:</a:t>
            </a:r>
          </a:p>
          <a:p>
            <a:r>
              <a:rPr lang="ro-RO" dirty="0" err="1"/>
              <a:t>GridLayout</a:t>
            </a:r>
            <a:r>
              <a:rPr lang="ro-RO" dirty="0"/>
              <a:t> gr = </a:t>
            </a:r>
            <a:r>
              <a:rPr lang="ro-RO" dirty="0" err="1"/>
              <a:t>new</a:t>
            </a:r>
            <a:r>
              <a:rPr lang="ro-RO" dirty="0"/>
              <a:t> </a:t>
            </a:r>
            <a:r>
              <a:rPr lang="ro-RO" dirty="0" err="1"/>
              <a:t>GridLayout</a:t>
            </a:r>
            <a:r>
              <a:rPr lang="ro-RO" dirty="0"/>
              <a:t>(10,3);</a:t>
            </a:r>
          </a:p>
          <a:p>
            <a:r>
              <a:rPr lang="ro-RO" dirty="0"/>
              <a:t>Ca </a:t>
            </a:r>
            <a:r>
              <a:rPr lang="ro-RO" dirty="0" err="1"/>
              <a:t>şi</a:t>
            </a:r>
            <a:r>
              <a:rPr lang="ro-RO" dirty="0"/>
              <a:t> în cazul dispunerii </a:t>
            </a:r>
            <a:r>
              <a:rPr lang="ro-RO" dirty="0" err="1"/>
              <a:t>secvenţiale</a:t>
            </a:r>
            <a:r>
              <a:rPr lang="ro-RO" dirty="0"/>
              <a:t>, dacă se folosesc două argumente suplimentare, </a:t>
            </a:r>
            <a:r>
              <a:rPr lang="ro-RO" dirty="0" err="1"/>
              <a:t>puteţi</a:t>
            </a:r>
            <a:r>
              <a:rPr lang="ro-RO" dirty="0"/>
              <a:t> specifica </a:t>
            </a:r>
            <a:r>
              <a:rPr lang="ro-RO" dirty="0" err="1"/>
              <a:t>spaţiul</a:t>
            </a:r>
            <a:r>
              <a:rPr lang="ro-RO" dirty="0"/>
              <a:t> pe orizontală </a:t>
            </a:r>
            <a:r>
              <a:rPr lang="ro-RO" dirty="0" err="1"/>
              <a:t>şi</a:t>
            </a:r>
            <a:r>
              <a:rPr lang="ro-RO" dirty="0"/>
              <a:t> pe verticală care trebuie lăsat între componente. Următoarea </a:t>
            </a:r>
            <a:r>
              <a:rPr lang="ro-RO" dirty="0" err="1"/>
              <a:t>instrucţiune</a:t>
            </a:r>
            <a:r>
              <a:rPr lang="ro-RO" dirty="0"/>
              <a:t> creează un tabel cu 10 rânduri, 3 coloane, un </a:t>
            </a:r>
            <a:r>
              <a:rPr lang="ro-RO" dirty="0" err="1"/>
              <a:t>spaţiu</a:t>
            </a:r>
            <a:r>
              <a:rPr lang="ro-RO" dirty="0"/>
              <a:t> pe orizontală de 5 pixeli </a:t>
            </a:r>
            <a:r>
              <a:rPr lang="ro-RO" dirty="0" err="1"/>
              <a:t>şi</a:t>
            </a:r>
            <a:r>
              <a:rPr lang="ro-RO" dirty="0"/>
              <a:t> un </a:t>
            </a:r>
            <a:r>
              <a:rPr lang="ro-RO" dirty="0" err="1"/>
              <a:t>spaţiu</a:t>
            </a:r>
            <a:r>
              <a:rPr lang="ro-RO" dirty="0"/>
              <a:t> pe verticală de 8 pixeli:</a:t>
            </a:r>
          </a:p>
          <a:p>
            <a:r>
              <a:rPr lang="ro-RO" dirty="0" err="1"/>
              <a:t>GridLayout</a:t>
            </a:r>
            <a:r>
              <a:rPr lang="ro-RO" dirty="0"/>
              <a:t> gr2 = </a:t>
            </a:r>
            <a:r>
              <a:rPr lang="ro-RO" dirty="0" err="1"/>
              <a:t>new</a:t>
            </a:r>
            <a:r>
              <a:rPr lang="ro-RO" dirty="0"/>
              <a:t> </a:t>
            </a:r>
            <a:r>
              <a:rPr lang="ro-RO" dirty="0" err="1"/>
              <a:t>GridLayout</a:t>
            </a:r>
            <a:r>
              <a:rPr lang="ro-RO" dirty="0"/>
              <a:t>(10, 3, 5, 8);</a:t>
            </a:r>
          </a:p>
          <a:p>
            <a:r>
              <a:rPr lang="ro-RO" dirty="0" err="1"/>
              <a:t>Spaţiul</a:t>
            </a:r>
            <a:r>
              <a:rPr lang="ro-RO" dirty="0"/>
              <a:t> între componentele dispunerii tabelare este implicit 0 pixeli, atât pe orizontală cât si pe verticală.</a:t>
            </a:r>
          </a:p>
          <a:p>
            <a:endParaRPr lang="ro-RO" dirty="0"/>
          </a:p>
        </p:txBody>
      </p:sp>
    </p:spTree>
    <p:extLst>
      <p:ext uri="{BB962C8B-B14F-4D97-AF65-F5344CB8AC3E}">
        <p14:creationId xmlns:p14="http://schemas.microsoft.com/office/powerpoint/2010/main" val="1320520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49643"/>
            <a:ext cx="10058400" cy="987717"/>
          </a:xfrm>
        </p:spPr>
        <p:txBody>
          <a:bodyPr>
            <a:normAutofit fontScale="90000"/>
          </a:bodyPr>
          <a:lstStyle/>
          <a:p>
            <a:r>
              <a:rPr lang="ro-RO" b="1" dirty="0"/>
              <a:t>Dispunerea marginală</a:t>
            </a:r>
            <a:r>
              <a:rPr lang="ro-RO" dirty="0"/>
              <a:t> </a:t>
            </a:r>
            <a:br>
              <a:rPr lang="ro-RO" dirty="0"/>
            </a:br>
            <a:endParaRPr lang="ro-RO" dirty="0"/>
          </a:p>
        </p:txBody>
      </p:sp>
      <p:sp>
        <p:nvSpPr>
          <p:cNvPr id="3" name="Content Placeholder 2"/>
          <p:cNvSpPr>
            <a:spLocks noGrp="1"/>
          </p:cNvSpPr>
          <p:nvPr>
            <p:ph idx="1"/>
          </p:nvPr>
        </p:nvSpPr>
        <p:spPr>
          <a:xfrm>
            <a:off x="446491" y="1582123"/>
            <a:ext cx="10058400" cy="4023360"/>
          </a:xfrm>
        </p:spPr>
        <p:txBody>
          <a:bodyPr>
            <a:noAutofit/>
          </a:bodyPr>
          <a:lstStyle/>
          <a:p>
            <a:pPr>
              <a:spcBef>
                <a:spcPts val="600"/>
              </a:spcBef>
            </a:pPr>
            <a:r>
              <a:rPr lang="ro-RO" sz="1600" dirty="0"/>
              <a:t> </a:t>
            </a:r>
          </a:p>
          <a:p>
            <a:pPr>
              <a:spcBef>
                <a:spcPts val="600"/>
              </a:spcBef>
            </a:pPr>
            <a:r>
              <a:rPr lang="ro-RO" sz="1600" i="1" dirty="0"/>
              <a:t>Dispunerile marginale</a:t>
            </a:r>
            <a:r>
              <a:rPr lang="ro-RO" sz="1600" dirty="0"/>
              <a:t> (</a:t>
            </a:r>
            <a:r>
              <a:rPr lang="ro-RO" sz="1600" dirty="0" err="1"/>
              <a:t>border</a:t>
            </a:r>
            <a:r>
              <a:rPr lang="ro-RO" sz="1600" dirty="0"/>
              <a:t> </a:t>
            </a:r>
            <a:r>
              <a:rPr lang="ro-RO" sz="1600" dirty="0" err="1"/>
              <a:t>layouts</a:t>
            </a:r>
            <a:r>
              <a:rPr lang="ro-RO" sz="1600" dirty="0"/>
              <a:t>), create pornind de la clasa </a:t>
            </a:r>
            <a:r>
              <a:rPr lang="ro-RO" sz="1600" b="1" dirty="0" err="1"/>
              <a:t>BorderLayout</a:t>
            </a:r>
            <a:r>
              <a:rPr lang="ro-RO" sz="1600" dirty="0"/>
              <a:t>, împart un container în cinci </a:t>
            </a:r>
            <a:r>
              <a:rPr lang="ro-RO" sz="1600" dirty="0" err="1"/>
              <a:t>secţiuni</a:t>
            </a:r>
            <a:r>
              <a:rPr lang="ro-RO" sz="1600" dirty="0"/>
              <a:t>: nord, sud, est, vest </a:t>
            </a:r>
            <a:r>
              <a:rPr lang="ro-RO" sz="1600" dirty="0" err="1"/>
              <a:t>şi</a:t>
            </a:r>
            <a:r>
              <a:rPr lang="ro-RO" sz="1600" dirty="0"/>
              <a:t> centru. </a:t>
            </a:r>
          </a:p>
          <a:p>
            <a:pPr>
              <a:spcBef>
                <a:spcPts val="600"/>
              </a:spcBef>
            </a:pPr>
            <a:r>
              <a:rPr lang="ro-RO" sz="1600" dirty="0"/>
              <a:t>Folosind dispunerea marginală, componentele din cele patru puncte cardinale vor ocupa </a:t>
            </a:r>
            <a:r>
              <a:rPr lang="ro-RO" sz="1600" dirty="0" err="1"/>
              <a:t>spaţiul</a:t>
            </a:r>
            <a:r>
              <a:rPr lang="ro-RO" sz="1600" dirty="0"/>
              <a:t> de care au nevoie, iar centrul </a:t>
            </a:r>
            <a:r>
              <a:rPr lang="ro-RO" sz="1600" dirty="0" err="1"/>
              <a:t>obţine</a:t>
            </a:r>
            <a:r>
              <a:rPr lang="ro-RO" sz="1600" dirty="0"/>
              <a:t> </a:t>
            </a:r>
            <a:r>
              <a:rPr lang="ro-RO" sz="1600" dirty="0" err="1"/>
              <a:t>spaţiul</a:t>
            </a:r>
            <a:r>
              <a:rPr lang="ro-RO" sz="1600" dirty="0"/>
              <a:t> rămas disponibil. De obicei, acest aranjament are ca rezultat o componentă centrală de dimensiuni mari, înconjurată de patru componente mai „</a:t>
            </a:r>
            <a:r>
              <a:rPr lang="ro-RO" sz="1600" dirty="0" err="1"/>
              <a:t>subţiri</a:t>
            </a:r>
            <a:r>
              <a:rPr lang="ro-RO" sz="1600" dirty="0"/>
              <a:t>".</a:t>
            </a:r>
          </a:p>
          <a:p>
            <a:pPr>
              <a:spcBef>
                <a:spcPts val="600"/>
              </a:spcBef>
            </a:pPr>
            <a:r>
              <a:rPr lang="ro-RO" sz="1600" dirty="0"/>
              <a:t>Dispunerea marginală se </a:t>
            </a:r>
            <a:r>
              <a:rPr lang="ro-RO" sz="1600" dirty="0" err="1"/>
              <a:t>obţine</a:t>
            </a:r>
            <a:r>
              <a:rPr lang="ro-RO" sz="1600" dirty="0"/>
              <a:t> folosind unul dintre constructorii </a:t>
            </a:r>
            <a:r>
              <a:rPr lang="ro-RO" sz="1600" b="1" dirty="0" err="1"/>
              <a:t>Borderlayout</a:t>
            </a:r>
            <a:r>
              <a:rPr lang="ro-RO" sz="1600" dirty="0"/>
              <a:t>() sau </a:t>
            </a:r>
            <a:r>
              <a:rPr lang="ro-RO" sz="1600" b="1" dirty="0" err="1"/>
              <a:t>BorderLayout</a:t>
            </a:r>
            <a:r>
              <a:rPr lang="ro-RO" sz="1600" dirty="0"/>
              <a:t>(</a:t>
            </a:r>
            <a:r>
              <a:rPr lang="ro-RO" sz="1600" i="1" dirty="0" err="1"/>
              <a:t>int</a:t>
            </a:r>
            <a:r>
              <a:rPr lang="ro-RO" sz="1600" i="1" dirty="0"/>
              <a:t>, </a:t>
            </a:r>
            <a:r>
              <a:rPr lang="ro-RO" sz="1600" i="1" dirty="0" err="1"/>
              <a:t>int</a:t>
            </a:r>
            <a:r>
              <a:rPr lang="ro-RO" sz="1600" i="1" dirty="0"/>
              <a:t>).</a:t>
            </a:r>
            <a:r>
              <a:rPr lang="ro-RO" sz="1600" dirty="0"/>
              <a:t> Primul constructor creează o dispunere marginală fără nici un </a:t>
            </a:r>
            <a:r>
              <a:rPr lang="ro-RO" sz="1600" dirty="0" err="1"/>
              <a:t>spaţiu</a:t>
            </a:r>
            <a:r>
              <a:rPr lang="ro-RO" sz="1600" dirty="0"/>
              <a:t> între componente. Al doilea constructor specifică </a:t>
            </a:r>
            <a:r>
              <a:rPr lang="ro-RO" sz="1600" dirty="0" err="1"/>
              <a:t>spaţiul</a:t>
            </a:r>
            <a:r>
              <a:rPr lang="ro-RO" sz="1600" dirty="0"/>
              <a:t> pe orizontală, respectiv pe verticală.</a:t>
            </a:r>
          </a:p>
          <a:p>
            <a:pPr>
              <a:spcBef>
                <a:spcPts val="600"/>
              </a:spcBef>
            </a:pPr>
            <a:r>
              <a:rPr lang="ro-RO" sz="1600" dirty="0"/>
              <a:t>După ce </a:t>
            </a:r>
            <a:r>
              <a:rPr lang="ro-RO" sz="1600" dirty="0" err="1"/>
              <a:t>aţi</a:t>
            </a:r>
            <a:r>
              <a:rPr lang="ro-RO" sz="1600" dirty="0"/>
              <a:t> creat o dispunere marginală </a:t>
            </a:r>
            <a:r>
              <a:rPr lang="ro-RO" sz="1600" dirty="0" err="1"/>
              <a:t>şi</a:t>
            </a:r>
            <a:r>
              <a:rPr lang="ro-RO" sz="1600" dirty="0"/>
              <a:t> </a:t>
            </a:r>
            <a:r>
              <a:rPr lang="ro-RO" sz="1600" dirty="0" err="1"/>
              <a:t>aţi</a:t>
            </a:r>
            <a:r>
              <a:rPr lang="ro-RO" sz="1600" dirty="0"/>
              <a:t> stabilit-o drept administrator curent de dispunere pentru un container, componentele sunt adăugate folosind o altă apelare a metodei </a:t>
            </a:r>
            <a:r>
              <a:rPr lang="ro-RO" sz="1600" b="1" dirty="0" err="1"/>
              <a:t>add</a:t>
            </a:r>
            <a:r>
              <a:rPr lang="ro-RO" sz="1600" dirty="0"/>
              <a:t>() decât cele folosite anterior:</a:t>
            </a:r>
          </a:p>
          <a:p>
            <a:pPr>
              <a:spcBef>
                <a:spcPts val="600"/>
              </a:spcBef>
            </a:pPr>
            <a:r>
              <a:rPr lang="ro-RO" sz="1600" b="1" dirty="0" err="1"/>
              <a:t>add</a:t>
            </a:r>
            <a:r>
              <a:rPr lang="ro-RO" sz="1600" dirty="0"/>
              <a:t>(</a:t>
            </a:r>
            <a:r>
              <a:rPr lang="ro-RO" sz="1600" dirty="0" err="1"/>
              <a:t>String</a:t>
            </a:r>
            <a:r>
              <a:rPr lang="ro-RO" sz="1600" dirty="0"/>
              <a:t>, </a:t>
            </a:r>
            <a:r>
              <a:rPr lang="ro-RO" sz="1600" i="1" dirty="0"/>
              <a:t>componenta)</a:t>
            </a:r>
            <a:endParaRPr lang="ro-RO" sz="1600" dirty="0"/>
          </a:p>
          <a:p>
            <a:pPr>
              <a:spcBef>
                <a:spcPts val="600"/>
              </a:spcBef>
            </a:pPr>
            <a:r>
              <a:rPr lang="ro-RO" sz="1600" dirty="0"/>
              <a:t>Al doilea argument al acestei metode este componenta care trebuie adăugată în container. Primul argument este un </a:t>
            </a:r>
            <a:r>
              <a:rPr lang="ro-RO" sz="1600" dirty="0" err="1"/>
              <a:t>şir</a:t>
            </a:r>
            <a:r>
              <a:rPr lang="ro-RO" sz="1600" dirty="0"/>
              <a:t> care indică zona unde va fi plasată componenta. Există cinci valori posibile: "</a:t>
            </a:r>
            <a:r>
              <a:rPr lang="ro-RO" sz="1600" dirty="0" err="1"/>
              <a:t>North</a:t>
            </a:r>
            <a:r>
              <a:rPr lang="ro-RO" sz="1600" dirty="0"/>
              <a:t>" (nord), "South" (sud), "</a:t>
            </a:r>
            <a:r>
              <a:rPr lang="ro-RO" sz="1600" dirty="0" err="1"/>
              <a:t>East</a:t>
            </a:r>
            <a:r>
              <a:rPr lang="ro-RO" sz="1600" dirty="0"/>
              <a:t>" (est), "West" (vest) </a:t>
            </a:r>
            <a:r>
              <a:rPr lang="ro-RO" sz="1600" dirty="0" err="1"/>
              <a:t>şi</a:t>
            </a:r>
            <a:r>
              <a:rPr lang="ro-RO" sz="1600" dirty="0"/>
              <a:t> "Center" Centru).</a:t>
            </a:r>
          </a:p>
          <a:p>
            <a:pPr>
              <a:spcBef>
                <a:spcPts val="600"/>
              </a:spcBef>
            </a:pPr>
            <a:r>
              <a:rPr lang="ro-RO" sz="1600" dirty="0"/>
              <a:t>Următoarea </a:t>
            </a:r>
            <a:r>
              <a:rPr lang="ro-RO" sz="1600" dirty="0" err="1"/>
              <a:t>instrucţiune</a:t>
            </a:r>
            <a:r>
              <a:rPr lang="ro-RO" sz="1600" dirty="0"/>
              <a:t> adaugă un buton, denumit </a:t>
            </a:r>
            <a:r>
              <a:rPr lang="ro-RO" sz="1600" dirty="0" err="1"/>
              <a:t>butonTenninare</a:t>
            </a:r>
            <a:r>
              <a:rPr lang="ro-RO" sz="1600" dirty="0"/>
              <a:t>, în </a:t>
            </a:r>
            <a:r>
              <a:rPr lang="ro-RO" sz="1600" dirty="0" err="1"/>
              <a:t>porţiunea</a:t>
            </a:r>
            <a:r>
              <a:rPr lang="ro-RO" sz="1600" dirty="0"/>
              <a:t> nordică: </a:t>
            </a:r>
            <a:r>
              <a:rPr lang="ro-RO" sz="1600" dirty="0" err="1"/>
              <a:t>add</a:t>
            </a:r>
            <a:r>
              <a:rPr lang="ro-RO" sz="1600" dirty="0"/>
              <a:t>( "</a:t>
            </a:r>
            <a:r>
              <a:rPr lang="ro-RO" sz="1600" dirty="0" err="1"/>
              <a:t>North</a:t>
            </a:r>
            <a:r>
              <a:rPr lang="ro-RO" sz="1600" dirty="0"/>
              <a:t>" , </a:t>
            </a:r>
            <a:r>
              <a:rPr lang="ro-RO" sz="1600" dirty="0" err="1"/>
              <a:t>butonTerminare</a:t>
            </a:r>
            <a:r>
              <a:rPr lang="ro-RO" sz="1600" dirty="0"/>
              <a:t>) ; </a:t>
            </a:r>
          </a:p>
          <a:p>
            <a:pPr>
              <a:spcBef>
                <a:spcPts val="600"/>
              </a:spcBef>
            </a:pPr>
            <a:endParaRPr lang="ro-RO" sz="1600" dirty="0"/>
          </a:p>
        </p:txBody>
      </p:sp>
    </p:spTree>
    <p:extLst>
      <p:ext uri="{BB962C8B-B14F-4D97-AF65-F5344CB8AC3E}">
        <p14:creationId xmlns:p14="http://schemas.microsoft.com/office/powerpoint/2010/main" val="2509917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Combinarea administratorilor de dispunere</a:t>
            </a:r>
            <a:endParaRPr lang="ro-RO" dirty="0"/>
          </a:p>
        </p:txBody>
      </p:sp>
      <p:sp>
        <p:nvSpPr>
          <p:cNvPr id="3" name="Content Placeholder 2"/>
          <p:cNvSpPr>
            <a:spLocks noGrp="1"/>
          </p:cNvSpPr>
          <p:nvPr>
            <p:ph idx="1"/>
          </p:nvPr>
        </p:nvSpPr>
        <p:spPr>
          <a:xfrm>
            <a:off x="471204" y="1903398"/>
            <a:ext cx="10058400" cy="4023360"/>
          </a:xfrm>
        </p:spPr>
        <p:txBody>
          <a:bodyPr>
            <a:noAutofit/>
          </a:bodyPr>
          <a:lstStyle/>
          <a:p>
            <a:pPr>
              <a:spcBef>
                <a:spcPts val="600"/>
              </a:spcBef>
            </a:pPr>
            <a:r>
              <a:rPr lang="ro-RO" sz="1800" dirty="0"/>
              <a:t>Pentru a găsi dispunerea potrivită, de cele mai multe ori trebuie </a:t>
            </a:r>
            <a:r>
              <a:rPr lang="ro-RO" sz="1800" dirty="0" err="1"/>
              <a:t>folositi</a:t>
            </a:r>
            <a:r>
              <a:rPr lang="ro-RO" sz="1800" dirty="0"/>
              <a:t> mai </a:t>
            </a:r>
            <a:r>
              <a:rPr lang="ro-RO" sz="1800" dirty="0" err="1"/>
              <a:t>multi</a:t>
            </a:r>
            <a:r>
              <a:rPr lang="ro-RO" sz="1800" dirty="0"/>
              <a:t> administratori pentru </a:t>
            </a:r>
            <a:r>
              <a:rPr lang="ro-RO" sz="1800" dirty="0" err="1"/>
              <a:t>aceeaşi</a:t>
            </a:r>
            <a:r>
              <a:rPr lang="ro-RO" sz="1800" dirty="0"/>
              <a:t> </a:t>
            </a:r>
            <a:r>
              <a:rPr lang="ro-RO" sz="1800" dirty="0" err="1"/>
              <a:t>interfaţă</a:t>
            </a:r>
            <a:r>
              <a:rPr lang="ro-RO" sz="1800" dirty="0"/>
              <a:t>. Acest lucru se poate face adăugând mai multe containere într-un container principal, fiecare dispunând de propriul administrator de dispunere.</a:t>
            </a:r>
          </a:p>
          <a:p>
            <a:pPr>
              <a:spcBef>
                <a:spcPts val="600"/>
              </a:spcBef>
            </a:pPr>
            <a:r>
              <a:rPr lang="ro-RO" sz="1800" dirty="0"/>
              <a:t>Aceste containere se numesc panouri (</a:t>
            </a:r>
            <a:r>
              <a:rPr lang="ro-RO" sz="1800" b="1" dirty="0" err="1"/>
              <a:t>panels</a:t>
            </a:r>
            <a:r>
              <a:rPr lang="ro-RO" sz="1800" dirty="0"/>
              <a:t>) </a:t>
            </a:r>
            <a:r>
              <a:rPr lang="ro-RO" sz="1800" dirty="0" err="1"/>
              <a:t>şi</a:t>
            </a:r>
            <a:r>
              <a:rPr lang="ro-RO" sz="1800" dirty="0"/>
              <a:t> sunt derivate din clasa </a:t>
            </a:r>
            <a:r>
              <a:rPr lang="ro-RO" sz="1800" b="1" dirty="0"/>
              <a:t>Panel</a:t>
            </a:r>
            <a:r>
              <a:rPr lang="ro-RO" sz="1800" dirty="0"/>
              <a:t>. Panourile sunt containere folosite pentru a grupa diferite componente. Când </a:t>
            </a:r>
            <a:r>
              <a:rPr lang="ro-RO" sz="1800" dirty="0" err="1"/>
              <a:t>lucraţi</a:t>
            </a:r>
            <a:r>
              <a:rPr lang="ro-RO" sz="1800" dirty="0"/>
              <a:t> cu panouri trebuie să </a:t>
            </a:r>
            <a:r>
              <a:rPr lang="ro-RO" sz="1800" dirty="0" err="1"/>
              <a:t>ţine</a:t>
            </a:r>
            <a:r>
              <a:rPr lang="ro-RO" sz="1800" dirty="0"/>
              <a:t> cont de următoarele:</a:t>
            </a:r>
          </a:p>
          <a:p>
            <a:pPr>
              <a:spcBef>
                <a:spcPts val="600"/>
              </a:spcBef>
            </a:pPr>
            <a:r>
              <a:rPr lang="ro-RO" sz="1800" dirty="0"/>
              <a:t>Panoul se umple cu componente înainte de a fi introdus într-un container mai mare;</a:t>
            </a:r>
          </a:p>
          <a:p>
            <a:pPr>
              <a:spcBef>
                <a:spcPts val="600"/>
              </a:spcBef>
            </a:pPr>
            <a:r>
              <a:rPr lang="ro-RO" sz="1800" dirty="0"/>
              <a:t>Panoul posedă propriul administrator de dispunere.</a:t>
            </a:r>
          </a:p>
          <a:p>
            <a:pPr>
              <a:spcBef>
                <a:spcPts val="600"/>
              </a:spcBef>
            </a:pPr>
            <a:r>
              <a:rPr lang="ro-RO" sz="1800" dirty="0"/>
              <a:t>Crearea unui panou:</a:t>
            </a:r>
          </a:p>
          <a:p>
            <a:pPr>
              <a:spcBef>
                <a:spcPts val="600"/>
              </a:spcBef>
            </a:pPr>
            <a:r>
              <a:rPr lang="ro-RO" sz="1800" dirty="0"/>
              <a:t>Panel panou=</a:t>
            </a:r>
            <a:r>
              <a:rPr lang="ro-RO" sz="1800" dirty="0" err="1"/>
              <a:t>new</a:t>
            </a:r>
            <a:r>
              <a:rPr lang="ro-RO" sz="1800" dirty="0"/>
              <a:t> Panel();</a:t>
            </a:r>
          </a:p>
          <a:p>
            <a:pPr>
              <a:spcBef>
                <a:spcPts val="600"/>
              </a:spcBef>
            </a:pPr>
            <a:r>
              <a:rPr lang="ro-RO" sz="1800" dirty="0"/>
              <a:t>Panoului i se atribuie o metodă de dispunere prin apelarea metodei </a:t>
            </a:r>
            <a:r>
              <a:rPr lang="ro-RO" sz="1800" dirty="0" err="1"/>
              <a:t>setLayout</a:t>
            </a:r>
            <a:r>
              <a:rPr lang="ro-RO" sz="1800" dirty="0"/>
              <a:t>(), ca în exemplul:</a:t>
            </a:r>
          </a:p>
          <a:p>
            <a:pPr>
              <a:spcBef>
                <a:spcPts val="600"/>
              </a:spcBef>
            </a:pPr>
            <a:r>
              <a:rPr lang="ro-RO" sz="1800" dirty="0" err="1"/>
              <a:t>BorderLayout</a:t>
            </a:r>
            <a:r>
              <a:rPr lang="ro-RO" sz="1800" dirty="0"/>
              <a:t> b1=</a:t>
            </a:r>
            <a:r>
              <a:rPr lang="ro-RO" sz="1800" dirty="0" err="1"/>
              <a:t>new</a:t>
            </a:r>
            <a:r>
              <a:rPr lang="ro-RO" sz="1800" dirty="0"/>
              <a:t> </a:t>
            </a:r>
            <a:r>
              <a:rPr lang="ro-RO" sz="1800" dirty="0" err="1"/>
              <a:t>BorderLayout</a:t>
            </a:r>
            <a:r>
              <a:rPr lang="ro-RO" sz="1800" dirty="0"/>
              <a:t>();</a:t>
            </a:r>
          </a:p>
          <a:p>
            <a:pPr>
              <a:spcBef>
                <a:spcPts val="600"/>
              </a:spcBef>
            </a:pPr>
            <a:r>
              <a:rPr lang="ro-RO" sz="1800" dirty="0" err="1"/>
              <a:t>panou.setLayout</a:t>
            </a:r>
            <a:r>
              <a:rPr lang="ro-RO" sz="1800" dirty="0"/>
              <a:t>(b1);</a:t>
            </a:r>
          </a:p>
          <a:p>
            <a:pPr>
              <a:spcBef>
                <a:spcPts val="600"/>
              </a:spcBef>
            </a:pPr>
            <a:r>
              <a:rPr lang="ro-RO" sz="1800" dirty="0"/>
              <a:t>Componentele se adaugă apoi folosind metoda </a:t>
            </a:r>
            <a:r>
              <a:rPr lang="ro-RO" sz="1800" b="1" dirty="0" err="1"/>
              <a:t>add</a:t>
            </a:r>
            <a:r>
              <a:rPr lang="ro-RO" sz="1800" dirty="0"/>
              <a:t>().</a:t>
            </a:r>
          </a:p>
          <a:p>
            <a:pPr>
              <a:spcBef>
                <a:spcPts val="600"/>
              </a:spcBef>
            </a:pPr>
            <a:endParaRPr lang="ro-RO" sz="1800" dirty="0"/>
          </a:p>
        </p:txBody>
      </p:sp>
    </p:spTree>
    <p:extLst>
      <p:ext uri="{BB962C8B-B14F-4D97-AF65-F5344CB8AC3E}">
        <p14:creationId xmlns:p14="http://schemas.microsoft.com/office/powerpoint/2010/main" val="3988121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118" y="0"/>
            <a:ext cx="10058400" cy="1450757"/>
          </a:xfrm>
        </p:spPr>
        <p:txBody>
          <a:bodyPr/>
          <a:lstStyle/>
          <a:p>
            <a:r>
              <a:rPr lang="ro-RO" b="1" dirty="0"/>
              <a:t>Tratarea </a:t>
            </a:r>
            <a:r>
              <a:rPr lang="ro-RO" b="1" dirty="0" smtClean="0"/>
              <a:t>evenimentelor</a:t>
            </a:r>
            <a:endParaRPr lang="ro-RO" dirty="0"/>
          </a:p>
        </p:txBody>
      </p:sp>
      <p:sp>
        <p:nvSpPr>
          <p:cNvPr id="3" name="Content Placeholder 2"/>
          <p:cNvSpPr>
            <a:spLocks noGrp="1"/>
          </p:cNvSpPr>
          <p:nvPr>
            <p:ph idx="1"/>
          </p:nvPr>
        </p:nvSpPr>
        <p:spPr>
          <a:xfrm>
            <a:off x="553582" y="1936350"/>
            <a:ext cx="10058400" cy="4023360"/>
          </a:xfrm>
        </p:spPr>
        <p:txBody>
          <a:bodyPr/>
          <a:lstStyle/>
          <a:p>
            <a:r>
              <a:rPr lang="ro-RO" b="1" dirty="0"/>
              <a:t>Tipuri de evenimente</a:t>
            </a:r>
          </a:p>
          <a:p>
            <a:pPr lvl="0"/>
            <a:r>
              <a:rPr lang="ro-RO" i="1" dirty="0"/>
              <a:t>Clicuri cu mouse-ul. </a:t>
            </a:r>
            <a:r>
              <a:rPr lang="ro-RO" dirty="0"/>
              <a:t>Apăsarea butonului mouse-ului (mouse </a:t>
            </a:r>
            <a:r>
              <a:rPr lang="ro-RO" dirty="0" err="1"/>
              <a:t>down</a:t>
            </a:r>
            <a:r>
              <a:rPr lang="ro-RO" dirty="0"/>
              <a:t>), eliberarea acestuia (mouse </a:t>
            </a:r>
            <a:r>
              <a:rPr lang="ro-RO" dirty="0" err="1"/>
              <a:t>up</a:t>
            </a:r>
            <a:r>
              <a:rPr lang="ro-RO" dirty="0"/>
              <a:t>) sau apăsarea </a:t>
            </a:r>
            <a:r>
              <a:rPr lang="ro-RO" dirty="0" err="1"/>
              <a:t>şi</a:t>
            </a:r>
            <a:r>
              <a:rPr lang="ro-RO" dirty="0"/>
              <a:t> eliberarea butonului pe </a:t>
            </a:r>
            <a:r>
              <a:rPr lang="ro-RO" dirty="0" err="1"/>
              <a:t>aceeaşi</a:t>
            </a:r>
            <a:r>
              <a:rPr lang="ro-RO" dirty="0"/>
              <a:t> </a:t>
            </a:r>
            <a:r>
              <a:rPr lang="ro-RO" dirty="0" err="1"/>
              <a:t>poziţie</a:t>
            </a:r>
            <a:r>
              <a:rPr lang="ro-RO" dirty="0"/>
              <a:t> (mouse clic).</a:t>
            </a:r>
          </a:p>
          <a:p>
            <a:pPr lvl="0"/>
            <a:r>
              <a:rPr lang="ro-RO" i="1" dirty="0" err="1"/>
              <a:t>Mişcări</a:t>
            </a:r>
            <a:r>
              <a:rPr lang="ro-RO" i="1" dirty="0"/>
              <a:t> ale mouse-ului.</a:t>
            </a:r>
            <a:r>
              <a:rPr lang="ro-RO" dirty="0"/>
              <a:t> Cursorul mouse-ului care </a:t>
            </a:r>
            <a:r>
              <a:rPr lang="ro-RO" dirty="0" err="1"/>
              <a:t>părăseşte</a:t>
            </a:r>
            <a:r>
              <a:rPr lang="ro-RO" dirty="0"/>
              <a:t> sau pătrunde pe </a:t>
            </a:r>
            <a:r>
              <a:rPr lang="ro-RO" dirty="0" err="1"/>
              <a:t>suprafaţa</a:t>
            </a:r>
            <a:r>
              <a:rPr lang="ro-RO" dirty="0"/>
              <a:t> ocupată de o componentă a </a:t>
            </a:r>
            <a:r>
              <a:rPr lang="ro-RO" dirty="0" err="1"/>
              <a:t>interfeţei</a:t>
            </a:r>
            <a:r>
              <a:rPr lang="ro-RO" dirty="0"/>
              <a:t> sau tragerea cu mouse-ul (drag - </a:t>
            </a:r>
            <a:r>
              <a:rPr lang="ro-RO" dirty="0" err="1"/>
              <a:t>mişcările</a:t>
            </a:r>
            <a:r>
              <a:rPr lang="ro-RO" dirty="0"/>
              <a:t> efectuate de cursor atunci când butonul mouse-ului este apăsat).</a:t>
            </a:r>
          </a:p>
          <a:p>
            <a:pPr lvl="0"/>
            <a:r>
              <a:rPr lang="ro-RO" i="1" dirty="0"/>
              <a:t>Apăsări de taste.</a:t>
            </a:r>
            <a:r>
              <a:rPr lang="ro-RO" dirty="0"/>
              <a:t> Apăsarea tastei, eliberarea tastei, tastarea (apăsarea </a:t>
            </a:r>
            <a:r>
              <a:rPr lang="ro-RO" dirty="0" err="1"/>
              <a:t>şi</a:t>
            </a:r>
            <a:r>
              <a:rPr lang="ro-RO" dirty="0"/>
              <a:t> eliberarea unei taste).</a:t>
            </a:r>
          </a:p>
          <a:p>
            <a:pPr lvl="0"/>
            <a:r>
              <a:rPr lang="ro-RO" i="1" dirty="0"/>
              <a:t>Evenimente ale </a:t>
            </a:r>
            <a:r>
              <a:rPr lang="ro-RO" i="1" dirty="0" err="1"/>
              <a:t>interfeţei</a:t>
            </a:r>
            <a:r>
              <a:rPr lang="ro-RO" i="1" dirty="0"/>
              <a:t> utilizator.</a:t>
            </a:r>
            <a:r>
              <a:rPr lang="ro-RO" dirty="0"/>
              <a:t> </a:t>
            </a:r>
            <a:r>
              <a:rPr lang="ro-RO" dirty="0" err="1"/>
              <a:t>Execuţia</a:t>
            </a:r>
            <a:r>
              <a:rPr lang="ro-RO" dirty="0"/>
              <a:t> de clicuri pe butoane, derularea listelor, </a:t>
            </a:r>
            <a:r>
              <a:rPr lang="ro-RO" dirty="0" err="1"/>
              <a:t>afişarea</a:t>
            </a:r>
            <a:r>
              <a:rPr lang="ro-RO" dirty="0"/>
              <a:t> meniurilor derulante </a:t>
            </a:r>
            <a:r>
              <a:rPr lang="ro-RO" dirty="0" err="1"/>
              <a:t>şi</a:t>
            </a:r>
            <a:r>
              <a:rPr lang="ro-RO" dirty="0"/>
              <a:t> </a:t>
            </a:r>
            <a:r>
              <a:rPr lang="ro-RO" dirty="0" err="1"/>
              <a:t>aşa</a:t>
            </a:r>
            <a:r>
              <a:rPr lang="ro-RO" dirty="0"/>
              <a:t> mai departe.</a:t>
            </a:r>
          </a:p>
          <a:p>
            <a:endParaRPr lang="ro-RO" dirty="0"/>
          </a:p>
        </p:txBody>
      </p:sp>
    </p:spTree>
    <p:extLst>
      <p:ext uri="{BB962C8B-B14F-4D97-AF65-F5344CB8AC3E}">
        <p14:creationId xmlns:p14="http://schemas.microsoft.com/office/powerpoint/2010/main" val="2969320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Metoda </a:t>
            </a:r>
            <a:r>
              <a:rPr lang="ro-RO" b="1" dirty="0" err="1"/>
              <a:t>handleEvent</a:t>
            </a:r>
            <a:r>
              <a:rPr lang="ro-RO" b="1" dirty="0"/>
              <a:t> ()</a:t>
            </a:r>
            <a:r>
              <a:rPr lang="ro-RO" dirty="0"/>
              <a:t/>
            </a:r>
            <a:br>
              <a:rPr lang="ro-RO" dirty="0"/>
            </a:br>
            <a:endParaRPr lang="ro-RO" dirty="0"/>
          </a:p>
        </p:txBody>
      </p:sp>
      <p:sp>
        <p:nvSpPr>
          <p:cNvPr id="3" name="Content Placeholder 2"/>
          <p:cNvSpPr>
            <a:spLocks noGrp="1"/>
          </p:cNvSpPr>
          <p:nvPr>
            <p:ph idx="1"/>
          </p:nvPr>
        </p:nvSpPr>
        <p:spPr/>
        <p:txBody>
          <a:bodyPr>
            <a:normAutofit fontScale="92500" lnSpcReduction="20000"/>
          </a:bodyPr>
          <a:lstStyle/>
          <a:p>
            <a:r>
              <a:rPr lang="ro-RO" dirty="0"/>
              <a:t> </a:t>
            </a:r>
          </a:p>
          <a:p>
            <a:r>
              <a:rPr lang="ro-RO" dirty="0"/>
              <a:t>Tratarea evenimentelor reprezintă domeniul în care au apărut cele mai multe modificări în trecerea de la Java 1.02 la Java 2. Evenimentele sunt generate </a:t>
            </a:r>
            <a:r>
              <a:rPr lang="ro-RO" dirty="0" err="1"/>
              <a:t>şi</a:t>
            </a:r>
            <a:r>
              <a:rPr lang="ro-RO" dirty="0"/>
              <a:t> executate aproximativ în </a:t>
            </a:r>
            <a:r>
              <a:rPr lang="ro-RO" dirty="0" err="1"/>
              <a:t>acelaşi</a:t>
            </a:r>
            <a:r>
              <a:rPr lang="ro-RO" dirty="0"/>
              <a:t> mod, indiferent de versiunea de limbaj pe care o </a:t>
            </a:r>
            <a:r>
              <a:rPr lang="ro-RO" dirty="0" err="1"/>
              <a:t>folosiţi</a:t>
            </a:r>
            <a:r>
              <a:rPr lang="ro-RO" dirty="0"/>
              <a:t>; </a:t>
            </a:r>
            <a:r>
              <a:rPr lang="ro-RO" dirty="0" err="1"/>
              <a:t>diferenţa</a:t>
            </a:r>
            <a:r>
              <a:rPr lang="ro-RO" dirty="0"/>
              <a:t> constă în modul cum acestea sunt </a:t>
            </a:r>
            <a:r>
              <a:rPr lang="ro-RO" dirty="0" err="1"/>
              <a:t>recepţionate</a:t>
            </a:r>
            <a:r>
              <a:rPr lang="ro-RO" dirty="0"/>
              <a:t> </a:t>
            </a:r>
            <a:r>
              <a:rPr lang="ro-RO" dirty="0" err="1"/>
              <a:t>şi</a:t>
            </a:r>
            <a:r>
              <a:rPr lang="ro-RO" dirty="0"/>
              <a:t> procesate.</a:t>
            </a:r>
          </a:p>
          <a:p>
            <a:r>
              <a:rPr lang="ro-RO" dirty="0"/>
              <a:t>În Java 1.02, toate evenimentele care apar în ciclul de </a:t>
            </a:r>
            <a:r>
              <a:rPr lang="ro-RO" dirty="0" err="1"/>
              <a:t>viaţă</a:t>
            </a:r>
            <a:r>
              <a:rPr lang="ro-RO" dirty="0"/>
              <a:t> al unui program sunt tratate de o metodă denumită </a:t>
            </a:r>
            <a:r>
              <a:rPr lang="ro-RO" b="1" dirty="0" err="1"/>
              <a:t>handleEvent</a:t>
            </a:r>
            <a:r>
              <a:rPr lang="ro-RO" dirty="0"/>
              <a:t>(). Aceasta este definită în clasa </a:t>
            </a:r>
            <a:r>
              <a:rPr lang="ro-RO" b="1" dirty="0"/>
              <a:t>Component</a:t>
            </a:r>
            <a:r>
              <a:rPr lang="ro-RO" dirty="0"/>
              <a:t>, care este </a:t>
            </a:r>
            <a:r>
              <a:rPr lang="ro-RO" dirty="0" err="1"/>
              <a:t>moştenită</a:t>
            </a:r>
            <a:r>
              <a:rPr lang="ro-RO" dirty="0"/>
              <a:t> de </a:t>
            </a:r>
            <a:r>
              <a:rPr lang="ro-RO" dirty="0" err="1"/>
              <a:t>java.applet.Applet</a:t>
            </a:r>
            <a:r>
              <a:rPr lang="ro-RO" dirty="0"/>
              <a:t>, devenind astfel disponibilă tuturor </a:t>
            </a:r>
            <a:r>
              <a:rPr lang="ro-RO" dirty="0" err="1"/>
              <a:t>applet</a:t>
            </a:r>
            <a:r>
              <a:rPr lang="ro-RO" dirty="0"/>
              <a:t>-urilor.</a:t>
            </a:r>
          </a:p>
          <a:p>
            <a:r>
              <a:rPr lang="ro-RO" dirty="0"/>
              <a:t>Atunci când un eveniment este transmis metodei </a:t>
            </a:r>
            <a:r>
              <a:rPr lang="ro-RO" b="1" dirty="0" err="1"/>
              <a:t>handleEvent</a:t>
            </a:r>
            <a:r>
              <a:rPr lang="ro-RO" dirty="0"/>
              <a:t> (), aceasta apelează apoi o metodă specifică de tratare a evenimentului, în </a:t>
            </a:r>
            <a:r>
              <a:rPr lang="ro-RO" dirty="0" err="1"/>
              <a:t>funcţie</a:t>
            </a:r>
            <a:r>
              <a:rPr lang="ro-RO" dirty="0"/>
              <a:t> de tipul acestuia. Exemple de astfel de metode specifice sunt </a:t>
            </a:r>
            <a:r>
              <a:rPr lang="ro-RO" dirty="0" err="1"/>
              <a:t>mouseDown</a:t>
            </a:r>
            <a:r>
              <a:rPr lang="ro-RO" dirty="0"/>
              <a:t>(), </a:t>
            </a:r>
            <a:r>
              <a:rPr lang="ro-RO" dirty="0" err="1"/>
              <a:t>mouseUp</a:t>
            </a:r>
            <a:r>
              <a:rPr lang="ro-RO" dirty="0"/>
              <a:t>() sau </a:t>
            </a:r>
            <a:r>
              <a:rPr lang="ro-RO" dirty="0" err="1"/>
              <a:t>keyDown</a:t>
            </a:r>
            <a:r>
              <a:rPr lang="ro-RO" dirty="0"/>
              <a:t>().</a:t>
            </a:r>
          </a:p>
          <a:p>
            <a:r>
              <a:rPr lang="ro-RO" dirty="0"/>
              <a:t>Pentru a trata un eveniment, va trebui să </a:t>
            </a:r>
            <a:r>
              <a:rPr lang="ro-RO" dirty="0" err="1"/>
              <a:t>suprascrieţi</a:t>
            </a:r>
            <a:r>
              <a:rPr lang="ro-RO" dirty="0"/>
              <a:t> una dintre aceste metode specifice. Apoi, la </a:t>
            </a:r>
            <a:r>
              <a:rPr lang="ro-RO" dirty="0" err="1"/>
              <a:t>apariţia</a:t>
            </a:r>
            <a:r>
              <a:rPr lang="ro-RO" dirty="0"/>
              <a:t> evenimentului respectiv, metoda respectivă va fi apelată. De exemplu, </a:t>
            </a:r>
            <a:r>
              <a:rPr lang="ro-RO" dirty="0" err="1"/>
              <a:t>puteţi</a:t>
            </a:r>
            <a:r>
              <a:rPr lang="ro-RO" dirty="0"/>
              <a:t> suprascrie metoda </a:t>
            </a:r>
            <a:r>
              <a:rPr lang="ro-RO" dirty="0" err="1"/>
              <a:t>mouseDown</a:t>
            </a:r>
            <a:r>
              <a:rPr lang="ro-RO" dirty="0"/>
              <a:t>() pentru a </a:t>
            </a:r>
            <a:r>
              <a:rPr lang="ro-RO" dirty="0" err="1"/>
              <a:t>afişa</a:t>
            </a:r>
            <a:r>
              <a:rPr lang="ro-RO" dirty="0"/>
              <a:t> un </a:t>
            </a:r>
            <a:r>
              <a:rPr lang="ro-RO" dirty="0" smtClean="0"/>
              <a:t>mesaj. </a:t>
            </a:r>
            <a:r>
              <a:rPr lang="ro-RO" dirty="0"/>
              <a:t>Atunci când apare un eveniment de acest tip (apăsarea butonului mouse-ului), mesajul va fi </a:t>
            </a:r>
            <a:r>
              <a:rPr lang="ro-RO" dirty="0" err="1"/>
              <a:t>afişat</a:t>
            </a:r>
            <a:r>
              <a:rPr lang="ro-RO" dirty="0"/>
              <a:t>.</a:t>
            </a:r>
          </a:p>
        </p:txBody>
      </p:sp>
    </p:spTree>
    <p:extLst>
      <p:ext uri="{BB962C8B-B14F-4D97-AF65-F5344CB8AC3E}">
        <p14:creationId xmlns:p14="http://schemas.microsoft.com/office/powerpoint/2010/main" val="4125053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Tratarea clicurilor de </a:t>
            </a:r>
            <a:r>
              <a:rPr lang="ro-RO" b="1" dirty="0" smtClean="0"/>
              <a:t>mouse</a:t>
            </a:r>
            <a:endParaRPr lang="ro-RO" dirty="0"/>
          </a:p>
        </p:txBody>
      </p:sp>
      <p:sp>
        <p:nvSpPr>
          <p:cNvPr id="3" name="Content Placeholder 2"/>
          <p:cNvSpPr>
            <a:spLocks noGrp="1"/>
          </p:cNvSpPr>
          <p:nvPr>
            <p:ph idx="1"/>
          </p:nvPr>
        </p:nvSpPr>
        <p:spPr/>
        <p:txBody>
          <a:bodyPr/>
          <a:lstStyle/>
          <a:p>
            <a:r>
              <a:rPr lang="ro-RO" b="1" dirty="0"/>
              <a:t>Evenimentele mouse </a:t>
            </a:r>
            <a:r>
              <a:rPr lang="ro-RO" b="1" dirty="0" err="1"/>
              <a:t>down</a:t>
            </a:r>
            <a:r>
              <a:rPr lang="ro-RO" b="1" dirty="0"/>
              <a:t> </a:t>
            </a:r>
            <a:r>
              <a:rPr lang="ro-RO" b="1" dirty="0" err="1"/>
              <a:t>şi</a:t>
            </a:r>
            <a:r>
              <a:rPr lang="ro-RO" b="1" dirty="0"/>
              <a:t> mouse </a:t>
            </a:r>
            <a:r>
              <a:rPr lang="ro-RO" b="1" dirty="0" err="1"/>
              <a:t>up</a:t>
            </a:r>
            <a:endParaRPr lang="ro-RO" b="1" dirty="0"/>
          </a:p>
          <a:p>
            <a:r>
              <a:rPr lang="ro-RO" dirty="0"/>
              <a:t>public boolean </a:t>
            </a:r>
            <a:r>
              <a:rPr lang="ro-RO" dirty="0" err="1"/>
              <a:t>mouseDown</a:t>
            </a:r>
            <a:r>
              <a:rPr lang="ro-RO" dirty="0"/>
              <a:t>(Event </a:t>
            </a:r>
            <a:r>
              <a:rPr lang="ro-RO" dirty="0" err="1"/>
              <a:t>evt</a:t>
            </a:r>
            <a:r>
              <a:rPr lang="ro-RO" dirty="0"/>
              <a:t>, </a:t>
            </a:r>
            <a:r>
              <a:rPr lang="ro-RO" dirty="0" err="1"/>
              <a:t>int</a:t>
            </a:r>
            <a:r>
              <a:rPr lang="ro-RO" dirty="0"/>
              <a:t> x, </a:t>
            </a:r>
            <a:r>
              <a:rPr lang="ro-RO" dirty="0" err="1"/>
              <a:t>int</a:t>
            </a:r>
            <a:r>
              <a:rPr lang="ro-RO" dirty="0"/>
              <a:t> y) {</a:t>
            </a:r>
          </a:p>
          <a:p>
            <a:r>
              <a:rPr lang="ro-RO" dirty="0"/>
              <a:t>//. . . </a:t>
            </a:r>
          </a:p>
          <a:p>
            <a:r>
              <a:rPr lang="ro-RO" dirty="0"/>
              <a:t>}</a:t>
            </a:r>
          </a:p>
          <a:p>
            <a:r>
              <a:rPr lang="ro-RO" dirty="0"/>
              <a:t>Metoda </a:t>
            </a:r>
            <a:r>
              <a:rPr lang="ro-RO" b="1" dirty="0" err="1"/>
              <a:t>mouseDown</a:t>
            </a:r>
            <a:r>
              <a:rPr lang="ro-RO" b="1" dirty="0"/>
              <a:t>()</a:t>
            </a:r>
            <a:r>
              <a:rPr lang="ro-RO" dirty="0"/>
              <a:t> (ca </a:t>
            </a:r>
            <a:r>
              <a:rPr lang="ro-RO" dirty="0" err="1"/>
              <a:t>şi</a:t>
            </a:r>
            <a:r>
              <a:rPr lang="ro-RO" dirty="0"/>
              <a:t> metoda </a:t>
            </a:r>
            <a:r>
              <a:rPr lang="ro-RO" b="1" dirty="0" err="1"/>
              <a:t>mouseUp</a:t>
            </a:r>
            <a:r>
              <a:rPr lang="ro-RO" b="1" dirty="0"/>
              <a:t>()</a:t>
            </a:r>
            <a:r>
              <a:rPr lang="ro-RO" dirty="0"/>
              <a:t>) </a:t>
            </a:r>
            <a:r>
              <a:rPr lang="ro-RO" dirty="0" err="1"/>
              <a:t>primeşte</a:t>
            </a:r>
            <a:r>
              <a:rPr lang="ro-RO" dirty="0"/>
              <a:t> trei parametri: evenimentul în sine </a:t>
            </a:r>
            <a:r>
              <a:rPr lang="ro-RO" dirty="0" err="1"/>
              <a:t>şi</a:t>
            </a:r>
            <a:r>
              <a:rPr lang="ro-RO" dirty="0"/>
              <a:t> coordonatele x </a:t>
            </a:r>
            <a:r>
              <a:rPr lang="ro-RO" dirty="0" err="1"/>
              <a:t>şi</a:t>
            </a:r>
            <a:r>
              <a:rPr lang="ro-RO" dirty="0"/>
              <a:t> y unde a apărut evenimentul respectiv.</a:t>
            </a:r>
          </a:p>
          <a:p>
            <a:r>
              <a:rPr lang="ro-RO" dirty="0"/>
              <a:t>Argumentul </a:t>
            </a:r>
            <a:r>
              <a:rPr lang="ro-RO" b="1" dirty="0" err="1"/>
              <a:t>evt</a:t>
            </a:r>
            <a:r>
              <a:rPr lang="ro-RO" dirty="0"/>
              <a:t> reprezintă o </a:t>
            </a:r>
            <a:r>
              <a:rPr lang="ro-RO" dirty="0" err="1"/>
              <a:t>instanţă</a:t>
            </a:r>
            <a:r>
              <a:rPr lang="ro-RO" dirty="0"/>
              <a:t> a clasei Event. </a:t>
            </a:r>
            <a:endParaRPr lang="en-US" dirty="0"/>
          </a:p>
          <a:p>
            <a:r>
              <a:rPr lang="ro-RO" dirty="0"/>
              <a:t>Toate evenimentele generează o </a:t>
            </a:r>
            <a:r>
              <a:rPr lang="ro-RO" dirty="0" err="1"/>
              <a:t>instanţă</a:t>
            </a:r>
            <a:r>
              <a:rPr lang="ro-RO" dirty="0"/>
              <a:t> a clasei Event, care </a:t>
            </a:r>
            <a:r>
              <a:rPr lang="ro-RO" dirty="0" err="1"/>
              <a:t>conţine</a:t>
            </a:r>
            <a:r>
              <a:rPr lang="ro-RO" dirty="0"/>
              <a:t> </a:t>
            </a:r>
            <a:r>
              <a:rPr lang="ro-RO" dirty="0" err="1"/>
              <a:t>informaţii</a:t>
            </a:r>
            <a:r>
              <a:rPr lang="ro-RO" dirty="0"/>
              <a:t> privind locul </a:t>
            </a:r>
            <a:r>
              <a:rPr lang="ro-RO" dirty="0" err="1"/>
              <a:t>şi</a:t>
            </a:r>
            <a:r>
              <a:rPr lang="ro-RO" dirty="0"/>
              <a:t> perioada când a avut loc evenimentul, tipul lui, precum </a:t>
            </a:r>
            <a:r>
              <a:rPr lang="ro-RO" dirty="0" err="1"/>
              <a:t>şi</a:t>
            </a:r>
            <a:r>
              <a:rPr lang="ro-RO" dirty="0"/>
              <a:t> alte </a:t>
            </a:r>
            <a:r>
              <a:rPr lang="ro-RO" dirty="0" err="1"/>
              <a:t>informaţii</a:t>
            </a:r>
            <a:r>
              <a:rPr lang="ro-RO" dirty="0"/>
              <a:t>. </a:t>
            </a:r>
            <a:endParaRPr lang="ro-RO" dirty="0"/>
          </a:p>
        </p:txBody>
      </p:sp>
    </p:spTree>
    <p:extLst>
      <p:ext uri="{BB962C8B-B14F-4D97-AF65-F5344CB8AC3E}">
        <p14:creationId xmlns:p14="http://schemas.microsoft.com/office/powerpoint/2010/main" val="3668780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Tratarea </a:t>
            </a:r>
            <a:r>
              <a:rPr lang="ro-RO" b="1" dirty="0" err="1"/>
              <a:t>mişcărilor</a:t>
            </a:r>
            <a:r>
              <a:rPr lang="ro-RO" b="1" dirty="0"/>
              <a:t> mouse-ului</a:t>
            </a:r>
          </a:p>
        </p:txBody>
      </p:sp>
      <p:sp>
        <p:nvSpPr>
          <p:cNvPr id="3" name="Content Placeholder 2"/>
          <p:cNvSpPr>
            <a:spLocks noGrp="1"/>
          </p:cNvSpPr>
          <p:nvPr>
            <p:ph idx="1"/>
          </p:nvPr>
        </p:nvSpPr>
        <p:spPr/>
        <p:txBody>
          <a:bodyPr/>
          <a:lstStyle/>
          <a:p>
            <a:r>
              <a:rPr lang="ro-RO" b="1" dirty="0"/>
              <a:t>Evenimentele mouse drag </a:t>
            </a:r>
            <a:r>
              <a:rPr lang="ro-RO" b="1" dirty="0" err="1"/>
              <a:t>şi</a:t>
            </a:r>
            <a:r>
              <a:rPr lang="ro-RO" b="1" dirty="0"/>
              <a:t> mouse </a:t>
            </a:r>
            <a:r>
              <a:rPr lang="ro-RO" b="1" dirty="0" err="1"/>
              <a:t>move</a:t>
            </a:r>
            <a:endParaRPr lang="ro-RO" b="1" dirty="0"/>
          </a:p>
          <a:p>
            <a:r>
              <a:rPr lang="ro-RO" dirty="0"/>
              <a:t> public boolean </a:t>
            </a:r>
            <a:r>
              <a:rPr lang="ro-RO" dirty="0" err="1"/>
              <a:t>mouseMove</a:t>
            </a:r>
            <a:r>
              <a:rPr lang="ro-RO" dirty="0"/>
              <a:t>(Event </a:t>
            </a:r>
            <a:r>
              <a:rPr lang="ro-RO" dirty="0" err="1"/>
              <a:t>evt</a:t>
            </a:r>
            <a:r>
              <a:rPr lang="ro-RO" dirty="0"/>
              <a:t>, </a:t>
            </a:r>
            <a:r>
              <a:rPr lang="ro-RO" dirty="0" err="1"/>
              <a:t>int</a:t>
            </a:r>
            <a:r>
              <a:rPr lang="ro-RO" dirty="0"/>
              <a:t> x, </a:t>
            </a:r>
            <a:r>
              <a:rPr lang="ro-RO" dirty="0" err="1"/>
              <a:t>int</a:t>
            </a:r>
            <a:r>
              <a:rPr lang="ro-RO" dirty="0"/>
              <a:t> y) {</a:t>
            </a:r>
          </a:p>
          <a:p>
            <a:r>
              <a:rPr lang="ro-RO" dirty="0"/>
              <a:t>// ...</a:t>
            </a:r>
          </a:p>
          <a:p>
            <a:r>
              <a:rPr lang="ro-RO" dirty="0"/>
              <a:t>}</a:t>
            </a:r>
          </a:p>
          <a:p>
            <a:r>
              <a:rPr lang="ro-RO" dirty="0"/>
              <a:t>public boolean </a:t>
            </a:r>
            <a:r>
              <a:rPr lang="ro-RO" dirty="0" err="1"/>
              <a:t>mouseDrag</a:t>
            </a:r>
            <a:r>
              <a:rPr lang="ro-RO" dirty="0"/>
              <a:t>(Event </a:t>
            </a:r>
            <a:r>
              <a:rPr lang="ro-RO" dirty="0" err="1"/>
              <a:t>evt</a:t>
            </a:r>
            <a:r>
              <a:rPr lang="ro-RO" dirty="0"/>
              <a:t>, </a:t>
            </a:r>
            <a:r>
              <a:rPr lang="ro-RO" dirty="0" err="1"/>
              <a:t>int</a:t>
            </a:r>
            <a:r>
              <a:rPr lang="ro-RO" dirty="0"/>
              <a:t> x, </a:t>
            </a:r>
            <a:r>
              <a:rPr lang="ro-RO" dirty="0" err="1"/>
              <a:t>int</a:t>
            </a:r>
            <a:r>
              <a:rPr lang="ro-RO" dirty="0"/>
              <a:t> y) {</a:t>
            </a:r>
          </a:p>
          <a:p>
            <a:r>
              <a:rPr lang="ro-RO" dirty="0"/>
              <a:t>// ... </a:t>
            </a:r>
          </a:p>
          <a:p>
            <a:r>
              <a:rPr lang="ro-RO" dirty="0"/>
              <a:t>}</a:t>
            </a:r>
          </a:p>
          <a:p>
            <a:endParaRPr lang="ro-RO" dirty="0"/>
          </a:p>
        </p:txBody>
      </p:sp>
    </p:spTree>
    <p:extLst>
      <p:ext uri="{BB962C8B-B14F-4D97-AF65-F5344CB8AC3E}">
        <p14:creationId xmlns:p14="http://schemas.microsoft.com/office/powerpoint/2010/main" val="1684599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Evenimentele mouse </a:t>
            </a:r>
            <a:r>
              <a:rPr lang="ro-RO" b="1" dirty="0" err="1"/>
              <a:t>enter</a:t>
            </a:r>
            <a:r>
              <a:rPr lang="ro-RO" b="1" dirty="0"/>
              <a:t> </a:t>
            </a:r>
            <a:r>
              <a:rPr lang="ro-RO" b="1" dirty="0" err="1"/>
              <a:t>şi</a:t>
            </a:r>
            <a:r>
              <a:rPr lang="ro-RO" b="1" dirty="0"/>
              <a:t> mouse </a:t>
            </a:r>
            <a:r>
              <a:rPr lang="ro-RO" b="1" dirty="0" err="1"/>
              <a:t>exit</a:t>
            </a:r>
            <a:r>
              <a:rPr lang="ro-RO" b="1" dirty="0"/>
              <a:t/>
            </a:r>
            <a:br>
              <a:rPr lang="ro-RO" b="1" dirty="0"/>
            </a:br>
            <a:endParaRPr lang="ro-RO" dirty="0"/>
          </a:p>
        </p:txBody>
      </p:sp>
      <p:sp>
        <p:nvSpPr>
          <p:cNvPr id="3" name="Content Placeholder 2"/>
          <p:cNvSpPr>
            <a:spLocks noGrp="1"/>
          </p:cNvSpPr>
          <p:nvPr>
            <p:ph idx="1"/>
          </p:nvPr>
        </p:nvSpPr>
        <p:spPr/>
        <p:txBody>
          <a:bodyPr/>
          <a:lstStyle/>
          <a:p>
            <a:r>
              <a:rPr lang="ro-RO" dirty="0"/>
              <a:t>public boolean </a:t>
            </a:r>
            <a:r>
              <a:rPr lang="ro-RO" dirty="0" err="1"/>
              <a:t>mouseEnter</a:t>
            </a:r>
            <a:r>
              <a:rPr lang="ro-RO" dirty="0"/>
              <a:t>(Event </a:t>
            </a:r>
            <a:r>
              <a:rPr lang="ro-RO" dirty="0" err="1"/>
              <a:t>evt</a:t>
            </a:r>
            <a:r>
              <a:rPr lang="ro-RO" dirty="0"/>
              <a:t>, </a:t>
            </a:r>
            <a:r>
              <a:rPr lang="ro-RO" dirty="0" err="1"/>
              <a:t>int</a:t>
            </a:r>
            <a:r>
              <a:rPr lang="ro-RO" dirty="0"/>
              <a:t> x, </a:t>
            </a:r>
            <a:r>
              <a:rPr lang="ro-RO" dirty="0" err="1"/>
              <a:t>int</a:t>
            </a:r>
            <a:r>
              <a:rPr lang="ro-RO" dirty="0"/>
              <a:t> y) {</a:t>
            </a:r>
          </a:p>
          <a:p>
            <a:r>
              <a:rPr lang="ro-RO" dirty="0"/>
              <a:t>// . . . </a:t>
            </a:r>
          </a:p>
          <a:p>
            <a:r>
              <a:rPr lang="ro-RO" dirty="0"/>
              <a:t>}</a:t>
            </a:r>
          </a:p>
          <a:p>
            <a:r>
              <a:rPr lang="ro-RO" dirty="0"/>
              <a:t>public boolean </a:t>
            </a:r>
            <a:r>
              <a:rPr lang="ro-RO" dirty="0" err="1"/>
              <a:t>mouseExit</a:t>
            </a:r>
            <a:r>
              <a:rPr lang="ro-RO" dirty="0"/>
              <a:t>(Event </a:t>
            </a:r>
            <a:r>
              <a:rPr lang="ro-RO" dirty="0" err="1"/>
              <a:t>evt</a:t>
            </a:r>
            <a:r>
              <a:rPr lang="ro-RO" dirty="0"/>
              <a:t>, </a:t>
            </a:r>
            <a:r>
              <a:rPr lang="ro-RO" dirty="0" err="1"/>
              <a:t>int</a:t>
            </a:r>
            <a:r>
              <a:rPr lang="ro-RO" dirty="0"/>
              <a:t> x, </a:t>
            </a:r>
            <a:r>
              <a:rPr lang="ro-RO" dirty="0" err="1"/>
              <a:t>int</a:t>
            </a:r>
            <a:r>
              <a:rPr lang="ro-RO" dirty="0"/>
              <a:t> y) {</a:t>
            </a:r>
          </a:p>
          <a:p>
            <a:r>
              <a:rPr lang="ro-RO" dirty="0"/>
              <a:t>// ...</a:t>
            </a:r>
          </a:p>
          <a:p>
            <a:r>
              <a:rPr lang="ro-RO" dirty="0"/>
              <a:t>}</a:t>
            </a:r>
          </a:p>
        </p:txBody>
      </p:sp>
    </p:spTree>
    <p:extLst>
      <p:ext uri="{BB962C8B-B14F-4D97-AF65-F5344CB8AC3E}">
        <p14:creationId xmlns:p14="http://schemas.microsoft.com/office/powerpoint/2010/main" val="2596911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Tratarea evenimentelor de tastatură</a:t>
            </a:r>
            <a:br>
              <a:rPr lang="ro-RO" b="1" dirty="0"/>
            </a:br>
            <a:endParaRPr lang="ro-RO" dirty="0"/>
          </a:p>
        </p:txBody>
      </p:sp>
      <p:sp>
        <p:nvSpPr>
          <p:cNvPr id="3" name="Content Placeholder 2"/>
          <p:cNvSpPr>
            <a:spLocks noGrp="1"/>
          </p:cNvSpPr>
          <p:nvPr>
            <p:ph idx="1"/>
          </p:nvPr>
        </p:nvSpPr>
        <p:spPr/>
        <p:txBody>
          <a:bodyPr/>
          <a:lstStyle/>
          <a:p>
            <a:r>
              <a:rPr lang="ro-RO" dirty="0"/>
              <a:t>Un eveniment de tastatură este generat ori de câte ori utilizatorul apasă o tastă. </a:t>
            </a:r>
            <a:endParaRPr lang="en-US" dirty="0" smtClean="0"/>
          </a:p>
          <a:p>
            <a:r>
              <a:rPr lang="ro-RO" dirty="0"/>
              <a:t>Pentru ca evenimentul de tastatură sa fie </a:t>
            </a:r>
            <a:r>
              <a:rPr lang="ro-RO" dirty="0" err="1"/>
              <a:t>recepţionat</a:t>
            </a:r>
            <a:r>
              <a:rPr lang="ro-RO" dirty="0"/>
              <a:t> de o componentă, aceasta trebuie să fie selectată (</a:t>
            </a:r>
            <a:r>
              <a:rPr lang="ro-RO" b="1" dirty="0" err="1"/>
              <a:t>focused</a:t>
            </a:r>
            <a:r>
              <a:rPr lang="ro-RO" dirty="0"/>
              <a:t> - „în centrul </a:t>
            </a:r>
            <a:r>
              <a:rPr lang="ro-RO" dirty="0" err="1"/>
              <a:t>atenţiei</a:t>
            </a:r>
            <a:r>
              <a:rPr lang="ro-RO" dirty="0"/>
              <a:t>"; cu alte cuvinte, să fie acea componentă a </a:t>
            </a:r>
            <a:r>
              <a:rPr lang="ro-RO" dirty="0" err="1"/>
              <a:t>interfeţei</a:t>
            </a:r>
            <a:r>
              <a:rPr lang="ro-RO" dirty="0"/>
              <a:t> selectată pentru a primi datele de intrare). </a:t>
            </a:r>
            <a:endParaRPr lang="en-US" dirty="0" smtClean="0"/>
          </a:p>
          <a:p>
            <a:r>
              <a:rPr lang="ro-RO" dirty="0"/>
              <a:t>Pentru a indica explicit că o componentă este selectată pentru a primi date de intrare (input focus), poate fi apelată metoda </a:t>
            </a:r>
            <a:r>
              <a:rPr lang="ro-RO" b="1" dirty="0" err="1"/>
              <a:t>requestFocus</a:t>
            </a:r>
            <a:r>
              <a:rPr lang="ro-RO" b="1" dirty="0"/>
              <a:t>()</a:t>
            </a:r>
            <a:r>
              <a:rPr lang="ro-RO" dirty="0"/>
              <a:t> a componentei, fără argumente</a:t>
            </a:r>
            <a:r>
              <a:rPr lang="ro-RO" dirty="0" smtClean="0"/>
              <a:t>.</a:t>
            </a:r>
            <a:endParaRPr lang="en-US" dirty="0" smtClean="0"/>
          </a:p>
          <a:p>
            <a:r>
              <a:rPr lang="ro-RO" b="1" dirty="0"/>
              <a:t>Evenimentele </a:t>
            </a:r>
            <a:r>
              <a:rPr lang="ro-RO" b="1" dirty="0" err="1"/>
              <a:t>key</a:t>
            </a:r>
            <a:r>
              <a:rPr lang="ro-RO" b="1" dirty="0"/>
              <a:t> </a:t>
            </a:r>
            <a:r>
              <a:rPr lang="ro-RO" b="1" dirty="0" err="1"/>
              <a:t>down</a:t>
            </a:r>
            <a:r>
              <a:rPr lang="ro-RO" b="1" dirty="0"/>
              <a:t> </a:t>
            </a:r>
            <a:r>
              <a:rPr lang="ro-RO" b="1" dirty="0" err="1"/>
              <a:t>şi</a:t>
            </a:r>
            <a:r>
              <a:rPr lang="ro-RO" b="1" dirty="0"/>
              <a:t> </a:t>
            </a:r>
            <a:r>
              <a:rPr lang="ro-RO" b="1" dirty="0" err="1"/>
              <a:t>key</a:t>
            </a:r>
            <a:r>
              <a:rPr lang="ro-RO" b="1" dirty="0"/>
              <a:t> </a:t>
            </a:r>
            <a:r>
              <a:rPr lang="ro-RO" b="1" dirty="0" err="1"/>
              <a:t>up</a:t>
            </a:r>
            <a:endParaRPr lang="ro-RO" b="1" dirty="0"/>
          </a:p>
          <a:p>
            <a:r>
              <a:rPr lang="ro-RO" dirty="0"/>
              <a:t>public boolean </a:t>
            </a:r>
            <a:r>
              <a:rPr lang="ro-RO" dirty="0" err="1"/>
              <a:t>keyDown</a:t>
            </a:r>
            <a:r>
              <a:rPr lang="ro-RO" dirty="0"/>
              <a:t>(Event </a:t>
            </a:r>
            <a:r>
              <a:rPr lang="ro-RO" dirty="0" err="1"/>
              <a:t>evt</a:t>
            </a:r>
            <a:r>
              <a:rPr lang="ro-RO" dirty="0"/>
              <a:t>, </a:t>
            </a:r>
            <a:r>
              <a:rPr lang="ro-RO" dirty="0" err="1"/>
              <a:t>int</a:t>
            </a:r>
            <a:r>
              <a:rPr lang="ro-RO" dirty="0"/>
              <a:t> tasta) {</a:t>
            </a:r>
          </a:p>
          <a:p>
            <a:r>
              <a:rPr lang="ro-RO" dirty="0"/>
              <a:t>// ... </a:t>
            </a:r>
          </a:p>
          <a:p>
            <a:r>
              <a:rPr lang="ro-RO" dirty="0"/>
              <a:t>}</a:t>
            </a:r>
          </a:p>
          <a:p>
            <a:endParaRPr lang="ro-RO" dirty="0"/>
          </a:p>
        </p:txBody>
      </p:sp>
    </p:spTree>
    <p:extLst>
      <p:ext uri="{BB962C8B-B14F-4D97-AF65-F5344CB8AC3E}">
        <p14:creationId xmlns:p14="http://schemas.microsoft.com/office/powerpoint/2010/main" val="2426954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Taste prestabilite</a:t>
            </a:r>
            <a:br>
              <a:rPr lang="ro-RO" b="1" dirty="0"/>
            </a:br>
            <a:endParaRPr lang="ro-RO" dirty="0"/>
          </a:p>
        </p:txBody>
      </p:sp>
      <p:sp>
        <p:nvSpPr>
          <p:cNvPr id="3" name="Content Placeholder 2"/>
          <p:cNvSpPr>
            <a:spLocks noGrp="1"/>
          </p:cNvSpPr>
          <p:nvPr>
            <p:ph idx="1"/>
          </p:nvPr>
        </p:nvSpPr>
        <p:spPr/>
        <p:txBody>
          <a:bodyPr>
            <a:normAutofit fontScale="70000" lnSpcReduction="20000"/>
          </a:bodyPr>
          <a:lstStyle/>
          <a:p>
            <a:pPr>
              <a:spcBef>
                <a:spcPts val="0"/>
              </a:spcBef>
            </a:pPr>
            <a:r>
              <a:rPr lang="ro-RO" dirty="0"/>
              <a:t>Tastele standard definite în clasa Event.</a:t>
            </a:r>
          </a:p>
          <a:p>
            <a:pPr>
              <a:spcBef>
                <a:spcPts val="0"/>
              </a:spcBef>
            </a:pPr>
            <a:r>
              <a:rPr lang="ro-RO" dirty="0"/>
              <a:t> </a:t>
            </a:r>
            <a:r>
              <a:rPr lang="ro-RO" b="1" i="1" u="sng" dirty="0" smtClean="0"/>
              <a:t>       </a:t>
            </a:r>
            <a:r>
              <a:rPr lang="ro-RO" b="1" i="1" u="sng" dirty="0"/>
              <a:t>Variabila de clasă		   Tasta reprezentată</a:t>
            </a:r>
            <a:r>
              <a:rPr lang="ro-RO" b="1" u="sng" dirty="0"/>
              <a:t>              .   </a:t>
            </a:r>
          </a:p>
          <a:p>
            <a:pPr>
              <a:spcBef>
                <a:spcPts val="0"/>
              </a:spcBef>
            </a:pPr>
            <a:r>
              <a:rPr lang="ro-RO" dirty="0" err="1"/>
              <a:t>Event.HOME</a:t>
            </a:r>
            <a:r>
              <a:rPr lang="ro-RO" dirty="0"/>
              <a:t>			</a:t>
            </a:r>
            <a:r>
              <a:rPr lang="ro-RO" dirty="0" smtClean="0"/>
              <a:t>Tasta </a:t>
            </a:r>
            <a:r>
              <a:rPr lang="ro-RO" dirty="0"/>
              <a:t>Home</a:t>
            </a:r>
          </a:p>
          <a:p>
            <a:pPr>
              <a:spcBef>
                <a:spcPts val="0"/>
              </a:spcBef>
            </a:pPr>
            <a:r>
              <a:rPr lang="ro-RO" dirty="0" err="1"/>
              <a:t>Event.END</a:t>
            </a:r>
            <a:r>
              <a:rPr lang="ro-RO" dirty="0"/>
              <a:t>				Tasta </a:t>
            </a:r>
            <a:r>
              <a:rPr lang="ro-RO" dirty="0" err="1"/>
              <a:t>End</a:t>
            </a:r>
            <a:endParaRPr lang="ro-RO" dirty="0"/>
          </a:p>
          <a:p>
            <a:pPr>
              <a:spcBef>
                <a:spcPts val="0"/>
              </a:spcBef>
            </a:pPr>
            <a:r>
              <a:rPr lang="ro-RO" dirty="0" err="1"/>
              <a:t>Event.PGUP</a:t>
            </a:r>
            <a:r>
              <a:rPr lang="ro-RO" dirty="0"/>
              <a:t>			</a:t>
            </a:r>
            <a:r>
              <a:rPr lang="ro-RO" dirty="0" smtClean="0"/>
              <a:t>Tasta </a:t>
            </a:r>
            <a:r>
              <a:rPr lang="ro-RO" dirty="0"/>
              <a:t>Page </a:t>
            </a:r>
            <a:r>
              <a:rPr lang="ro-RO" dirty="0" err="1"/>
              <a:t>Up</a:t>
            </a:r>
            <a:endParaRPr lang="ro-RO" dirty="0"/>
          </a:p>
          <a:p>
            <a:pPr>
              <a:spcBef>
                <a:spcPts val="0"/>
              </a:spcBef>
            </a:pPr>
            <a:r>
              <a:rPr lang="ro-RO" dirty="0" err="1"/>
              <a:t>Event.PGDN</a:t>
            </a:r>
            <a:r>
              <a:rPr lang="ro-RO" dirty="0"/>
              <a:t>			</a:t>
            </a:r>
            <a:r>
              <a:rPr lang="ro-RO" dirty="0" smtClean="0"/>
              <a:t>Tasta </a:t>
            </a:r>
            <a:r>
              <a:rPr lang="ro-RO" dirty="0"/>
              <a:t>Page </a:t>
            </a:r>
            <a:r>
              <a:rPr lang="ro-RO" dirty="0" err="1"/>
              <a:t>Down</a:t>
            </a:r>
            <a:endParaRPr lang="ro-RO" dirty="0"/>
          </a:p>
          <a:p>
            <a:pPr>
              <a:spcBef>
                <a:spcPts val="0"/>
              </a:spcBef>
            </a:pPr>
            <a:r>
              <a:rPr lang="ro-RO" dirty="0" err="1"/>
              <a:t>Event.UP</a:t>
            </a:r>
            <a:r>
              <a:rPr lang="ro-RO" dirty="0"/>
              <a:t>				Tasta </a:t>
            </a:r>
            <a:r>
              <a:rPr lang="ro-RO" dirty="0" err="1"/>
              <a:t>Up</a:t>
            </a:r>
            <a:endParaRPr lang="ro-RO" dirty="0"/>
          </a:p>
          <a:p>
            <a:pPr>
              <a:spcBef>
                <a:spcPts val="0"/>
              </a:spcBef>
            </a:pPr>
            <a:r>
              <a:rPr lang="ro-RO" dirty="0" err="1"/>
              <a:t>Event.DOWN</a:t>
            </a:r>
            <a:r>
              <a:rPr lang="ro-RO" dirty="0"/>
              <a:t>			</a:t>
            </a:r>
            <a:r>
              <a:rPr lang="ro-RO" dirty="0" smtClean="0"/>
              <a:t>Tasta </a:t>
            </a:r>
            <a:r>
              <a:rPr lang="ro-RO" dirty="0" err="1"/>
              <a:t>Down</a:t>
            </a:r>
            <a:endParaRPr lang="ro-RO" dirty="0"/>
          </a:p>
          <a:p>
            <a:pPr>
              <a:spcBef>
                <a:spcPts val="0"/>
              </a:spcBef>
            </a:pPr>
            <a:r>
              <a:rPr lang="ro-RO" b="1" dirty="0" err="1"/>
              <a:t>Event.LEFT</a:t>
            </a:r>
            <a:r>
              <a:rPr lang="ro-RO" b="1" dirty="0"/>
              <a:t>				</a:t>
            </a:r>
            <a:r>
              <a:rPr lang="en-US" b="1" dirty="0" smtClean="0"/>
              <a:t>T</a:t>
            </a:r>
            <a:r>
              <a:rPr lang="ro-RO" b="1" dirty="0" err="1" smtClean="0"/>
              <a:t>astaLeft</a:t>
            </a:r>
            <a:endParaRPr lang="ro-RO" b="1" dirty="0"/>
          </a:p>
          <a:p>
            <a:pPr>
              <a:spcBef>
                <a:spcPts val="0"/>
              </a:spcBef>
            </a:pPr>
            <a:r>
              <a:rPr lang="ro-RO" dirty="0" err="1"/>
              <a:t>Event.RIGHT</a:t>
            </a:r>
            <a:r>
              <a:rPr lang="ro-RO" dirty="0"/>
              <a:t>			</a:t>
            </a:r>
            <a:r>
              <a:rPr lang="ro-RO" dirty="0" smtClean="0"/>
              <a:t>Tasta </a:t>
            </a:r>
            <a:r>
              <a:rPr lang="ro-RO" dirty="0" err="1"/>
              <a:t>Right</a:t>
            </a:r>
            <a:endParaRPr lang="ro-RO" dirty="0"/>
          </a:p>
          <a:p>
            <a:pPr>
              <a:spcBef>
                <a:spcPts val="0"/>
              </a:spcBef>
            </a:pPr>
            <a:r>
              <a:rPr lang="ro-RO" dirty="0"/>
              <a:t>Event.F1 				Tasta F1</a:t>
            </a:r>
          </a:p>
          <a:p>
            <a:pPr>
              <a:spcBef>
                <a:spcPts val="0"/>
              </a:spcBef>
            </a:pPr>
            <a:r>
              <a:rPr lang="ro-RO" dirty="0"/>
              <a:t>Event.F2				Tasta F2</a:t>
            </a:r>
          </a:p>
          <a:p>
            <a:pPr>
              <a:spcBef>
                <a:spcPts val="0"/>
              </a:spcBef>
            </a:pPr>
            <a:r>
              <a:rPr lang="ro-RO" dirty="0"/>
              <a:t>Event.P3				Tasta F3</a:t>
            </a:r>
          </a:p>
          <a:p>
            <a:pPr>
              <a:spcBef>
                <a:spcPts val="0"/>
              </a:spcBef>
            </a:pPr>
            <a:r>
              <a:rPr lang="ro-RO" dirty="0"/>
              <a:t>Event.F4				Tasta F4</a:t>
            </a:r>
          </a:p>
          <a:p>
            <a:pPr>
              <a:spcBef>
                <a:spcPts val="0"/>
              </a:spcBef>
            </a:pPr>
            <a:r>
              <a:rPr lang="ro-RO" dirty="0"/>
              <a:t>Event.F5				TastaF5</a:t>
            </a:r>
          </a:p>
          <a:p>
            <a:pPr>
              <a:spcBef>
                <a:spcPts val="0"/>
              </a:spcBef>
            </a:pPr>
            <a:r>
              <a:rPr lang="ro-RO" dirty="0"/>
              <a:t>Event.F6				Tasta F6</a:t>
            </a:r>
          </a:p>
          <a:p>
            <a:pPr>
              <a:spcBef>
                <a:spcPts val="0"/>
              </a:spcBef>
            </a:pPr>
            <a:r>
              <a:rPr lang="ro-RO" dirty="0"/>
              <a:t>Event.F7				Tasta F7</a:t>
            </a:r>
          </a:p>
          <a:p>
            <a:pPr>
              <a:spcBef>
                <a:spcPts val="0"/>
              </a:spcBef>
            </a:pPr>
            <a:r>
              <a:rPr lang="ro-RO" dirty="0"/>
              <a:t>Event.F8				Tasta F8</a:t>
            </a:r>
          </a:p>
          <a:p>
            <a:pPr>
              <a:spcBef>
                <a:spcPts val="0"/>
              </a:spcBef>
            </a:pPr>
            <a:r>
              <a:rPr lang="ro-RO" dirty="0"/>
              <a:t>Event.F9				Tasta F9</a:t>
            </a:r>
          </a:p>
          <a:p>
            <a:pPr>
              <a:spcBef>
                <a:spcPts val="0"/>
              </a:spcBef>
            </a:pPr>
            <a:r>
              <a:rPr lang="ro-RO" dirty="0"/>
              <a:t>Event.F10				Tasta F10</a:t>
            </a:r>
          </a:p>
          <a:p>
            <a:pPr>
              <a:spcBef>
                <a:spcPts val="0"/>
              </a:spcBef>
            </a:pPr>
            <a:r>
              <a:rPr lang="ro-RO" dirty="0"/>
              <a:t>Event.F11				TastaF11</a:t>
            </a:r>
          </a:p>
          <a:p>
            <a:pPr>
              <a:spcBef>
                <a:spcPts val="0"/>
              </a:spcBef>
            </a:pPr>
            <a:r>
              <a:rPr lang="ro-RO" dirty="0"/>
              <a:t>Event.F12				TastaF12</a:t>
            </a:r>
          </a:p>
          <a:p>
            <a:pPr>
              <a:spcBef>
                <a:spcPts val="0"/>
              </a:spcBef>
            </a:pPr>
            <a:endParaRPr lang="ro-RO" dirty="0"/>
          </a:p>
        </p:txBody>
      </p:sp>
      <p:sp>
        <p:nvSpPr>
          <p:cNvPr id="4" name="Rectangle 3"/>
          <p:cNvSpPr/>
          <p:nvPr/>
        </p:nvSpPr>
        <p:spPr>
          <a:xfrm>
            <a:off x="6126480" y="2934084"/>
            <a:ext cx="6096000" cy="923330"/>
          </a:xfrm>
          <a:prstGeom prst="rect">
            <a:avLst/>
          </a:prstGeom>
        </p:spPr>
        <p:txBody>
          <a:bodyPr>
            <a:spAutoFit/>
          </a:bodyPr>
          <a:lstStyle/>
          <a:p>
            <a:pPr algn="just">
              <a:spcAft>
                <a:spcPts val="0"/>
              </a:spcAft>
            </a:pPr>
            <a:r>
              <a:rPr lang="ro-RO" dirty="0" err="1" smtClean="0">
                <a:effectLst/>
                <a:latin typeface="Courier New" panose="02070309020205020404" pitchFamily="49" charset="0"/>
                <a:ea typeface="Times New Roman" panose="02020603050405020304" pitchFamily="18" charset="0"/>
              </a:rPr>
              <a:t>if</a:t>
            </a:r>
            <a:r>
              <a:rPr lang="ro-RO" dirty="0" smtClean="0">
                <a:effectLst/>
                <a:latin typeface="Courier New" panose="02070309020205020404" pitchFamily="49" charset="0"/>
                <a:ea typeface="Times New Roman" panose="02020603050405020304" pitchFamily="18" charset="0"/>
              </a:rPr>
              <a:t> (tasta = </a:t>
            </a:r>
            <a:r>
              <a:rPr lang="ro-RO" dirty="0" err="1" smtClean="0">
                <a:effectLst/>
                <a:latin typeface="Courier New" panose="02070309020205020404" pitchFamily="49" charset="0"/>
                <a:ea typeface="Times New Roman" panose="02020603050405020304" pitchFamily="18" charset="0"/>
              </a:rPr>
              <a:t>Event.UP</a:t>
            </a:r>
            <a:r>
              <a:rPr lang="ro-RO" dirty="0" smtClean="0">
                <a:effectLst/>
                <a:latin typeface="Courier New" panose="02070309020205020404" pitchFamily="49" charset="0"/>
                <a:ea typeface="Times New Roman" panose="02020603050405020304" pitchFamily="18" charset="0"/>
              </a:rPr>
              <a:t>) { </a:t>
            </a:r>
            <a:endParaRPr lang="ro-RO" dirty="0" smtClean="0">
              <a:effectLst/>
              <a:latin typeface="Times New Roman" panose="02020603050405020304" pitchFamily="18" charset="0"/>
              <a:ea typeface="Times New Roman" panose="02020603050405020304" pitchFamily="18" charset="0"/>
            </a:endParaRPr>
          </a:p>
          <a:p>
            <a:pPr indent="449580" algn="just">
              <a:spcAft>
                <a:spcPts val="0"/>
              </a:spcAft>
            </a:pPr>
            <a:r>
              <a:rPr lang="ro-RO" dirty="0" smtClean="0">
                <a:effectLst/>
                <a:latin typeface="Courier New" panose="02070309020205020404" pitchFamily="49" charset="0"/>
                <a:ea typeface="Times New Roman" panose="02020603050405020304" pitchFamily="18" charset="0"/>
              </a:rPr>
              <a:t>// ...</a:t>
            </a:r>
            <a:endParaRPr lang="ro-RO" dirty="0" smtClean="0">
              <a:effectLst/>
              <a:latin typeface="Times New Roman" panose="02020603050405020304" pitchFamily="18" charset="0"/>
              <a:ea typeface="Times New Roman" panose="02020603050405020304" pitchFamily="18" charset="0"/>
            </a:endParaRPr>
          </a:p>
          <a:p>
            <a:pPr algn="just">
              <a:spcAft>
                <a:spcPts val="0"/>
              </a:spcAft>
            </a:pPr>
            <a:r>
              <a:rPr lang="ro-RO" dirty="0" smtClean="0">
                <a:effectLst/>
                <a:latin typeface="Courier New" panose="02070309020205020404" pitchFamily="49" charset="0"/>
                <a:ea typeface="Times New Roman" panose="02020603050405020304" pitchFamily="18" charset="0"/>
              </a:rPr>
              <a:t>}</a:t>
            </a:r>
            <a:endParaRPr lang="ro-RO"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91671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Tratarea evenimentelor componentelor</a:t>
            </a:r>
            <a:br>
              <a:rPr lang="ro-RO" b="1" dirty="0"/>
            </a:br>
            <a:endParaRPr lang="ro-RO" dirty="0"/>
          </a:p>
        </p:txBody>
      </p:sp>
      <p:sp>
        <p:nvSpPr>
          <p:cNvPr id="3" name="Content Placeholder 2"/>
          <p:cNvSpPr>
            <a:spLocks noGrp="1"/>
          </p:cNvSpPr>
          <p:nvPr>
            <p:ph idx="1"/>
          </p:nvPr>
        </p:nvSpPr>
        <p:spPr/>
        <p:txBody>
          <a:bodyPr>
            <a:normAutofit fontScale="92500" lnSpcReduction="10000"/>
          </a:bodyPr>
          <a:lstStyle/>
          <a:p>
            <a:r>
              <a:rPr lang="ro-RO" dirty="0"/>
              <a:t>Următoarele evenimente pot fi generate prin </a:t>
            </a:r>
            <a:r>
              <a:rPr lang="ro-RO" dirty="0" err="1"/>
              <a:t>interacţiunea</a:t>
            </a:r>
            <a:r>
              <a:rPr lang="ro-RO" dirty="0"/>
              <a:t> cu componentele </a:t>
            </a:r>
            <a:r>
              <a:rPr lang="ro-RO" dirty="0" err="1"/>
              <a:t>interfeţei</a:t>
            </a:r>
            <a:r>
              <a:rPr lang="ro-RO" dirty="0"/>
              <a:t>:</a:t>
            </a:r>
          </a:p>
          <a:p>
            <a:pPr lvl="0"/>
            <a:r>
              <a:rPr lang="ro-RO" i="1" dirty="0"/>
              <a:t>Evenimente de </a:t>
            </a:r>
            <a:r>
              <a:rPr lang="ro-RO" i="1" dirty="0" err="1"/>
              <a:t>acţiune</a:t>
            </a:r>
            <a:r>
              <a:rPr lang="ro-RO" dirty="0"/>
              <a:t> (</a:t>
            </a:r>
            <a:r>
              <a:rPr lang="ro-RO" dirty="0" err="1"/>
              <a:t>action</a:t>
            </a:r>
            <a:r>
              <a:rPr lang="ro-RO" dirty="0"/>
              <a:t> </a:t>
            </a:r>
            <a:r>
              <a:rPr lang="ro-RO" dirty="0" err="1"/>
              <a:t>events</a:t>
            </a:r>
            <a:r>
              <a:rPr lang="ro-RO" dirty="0"/>
              <a:t>). Sunt principalele evenimente ale </a:t>
            </a:r>
            <a:r>
              <a:rPr lang="ro-RO" dirty="0" err="1"/>
              <a:t>majorităţii</a:t>
            </a:r>
            <a:r>
              <a:rPr lang="ro-RO" dirty="0"/>
              <a:t> componentelor </a:t>
            </a:r>
            <a:r>
              <a:rPr lang="ro-RO" dirty="0" err="1"/>
              <a:t>interfeţei</a:t>
            </a:r>
            <a:r>
              <a:rPr lang="ro-RO" dirty="0"/>
              <a:t>, prin care se indică faptul că acestea au fost "activate". Evenimentele de </a:t>
            </a:r>
            <a:r>
              <a:rPr lang="ro-RO" dirty="0" err="1"/>
              <a:t>acţiune</a:t>
            </a:r>
            <a:r>
              <a:rPr lang="ro-RO" dirty="0"/>
              <a:t> sunt generate atunci când este apăsat un buton, când se selectează sau se </a:t>
            </a:r>
            <a:r>
              <a:rPr lang="ro-RO" dirty="0" err="1"/>
              <a:t>deselectează</a:t>
            </a:r>
            <a:r>
              <a:rPr lang="ro-RO" dirty="0"/>
              <a:t> o casetă de validare sau un buton radio, când se alege o </a:t>
            </a:r>
            <a:r>
              <a:rPr lang="ro-RO" dirty="0" err="1"/>
              <a:t>opţiune</a:t>
            </a:r>
            <a:r>
              <a:rPr lang="ro-RO" dirty="0"/>
              <a:t> dintr-un meniu sau când utilizatorul apasă tasta </a:t>
            </a:r>
            <a:r>
              <a:rPr lang="ro-RO" dirty="0" err="1"/>
              <a:t>Return</a:t>
            </a:r>
            <a:r>
              <a:rPr lang="ro-RO" dirty="0"/>
              <a:t> sau </a:t>
            </a:r>
            <a:r>
              <a:rPr lang="ro-RO" dirty="0" err="1"/>
              <a:t>Enter</a:t>
            </a:r>
            <a:r>
              <a:rPr lang="ro-RO" dirty="0"/>
              <a:t> într-un câmp de text.</a:t>
            </a:r>
          </a:p>
          <a:p>
            <a:pPr lvl="0"/>
            <a:r>
              <a:rPr lang="ro-RO" i="1" dirty="0"/>
              <a:t>Evenimente de selectare sau deselectare a listelor</a:t>
            </a:r>
            <a:r>
              <a:rPr lang="ro-RO" dirty="0"/>
              <a:t> (</a:t>
            </a:r>
            <a:r>
              <a:rPr lang="ro-RO" dirty="0" err="1"/>
              <a:t>list</a:t>
            </a:r>
            <a:r>
              <a:rPr lang="ro-RO" dirty="0"/>
              <a:t> select/</a:t>
            </a:r>
            <a:r>
              <a:rPr lang="ro-RO" dirty="0" err="1"/>
              <a:t>deselect</a:t>
            </a:r>
            <a:r>
              <a:rPr lang="ro-RO" dirty="0"/>
              <a:t> </a:t>
            </a:r>
            <a:r>
              <a:rPr lang="ro-RO" dirty="0" err="1"/>
              <a:t>events</a:t>
            </a:r>
            <a:r>
              <a:rPr lang="ro-RO" dirty="0"/>
              <a:t>). Aceste evenimente sunt generate atunci când se selectează o casetă de validare sau o </a:t>
            </a:r>
            <a:r>
              <a:rPr lang="ro-RO" dirty="0" err="1"/>
              <a:t>opţiune</a:t>
            </a:r>
            <a:r>
              <a:rPr lang="ro-RO" dirty="0"/>
              <a:t> dintr-un meniu (listă). Aceste exemple </a:t>
            </a:r>
            <a:r>
              <a:rPr lang="ro-RO" dirty="0" err="1"/>
              <a:t>declanşează</a:t>
            </a:r>
            <a:r>
              <a:rPr lang="ro-RO" dirty="0"/>
              <a:t>, de asemenea un eveniment de </a:t>
            </a:r>
            <a:r>
              <a:rPr lang="ro-RO" dirty="0" err="1"/>
              <a:t>acţiune</a:t>
            </a:r>
            <a:r>
              <a:rPr lang="ro-RO" dirty="0"/>
              <a:t>.</a:t>
            </a:r>
          </a:p>
          <a:p>
            <a:pPr lvl="0"/>
            <a:r>
              <a:rPr lang="ro-RO" i="1" dirty="0"/>
              <a:t>Evenimente de primire sau cedare a </a:t>
            </a:r>
            <a:r>
              <a:rPr lang="ro-RO" i="1" dirty="0" err="1"/>
              <a:t>selecţiei</a:t>
            </a:r>
            <a:r>
              <a:rPr lang="ro-RO" dirty="0"/>
              <a:t> (got/</a:t>
            </a:r>
            <a:r>
              <a:rPr lang="ro-RO" dirty="0" err="1"/>
              <a:t>lost</a:t>
            </a:r>
            <a:r>
              <a:rPr lang="ro-RO" dirty="0"/>
              <a:t> focus </a:t>
            </a:r>
            <a:r>
              <a:rPr lang="ro-RO" dirty="0" err="1"/>
              <a:t>events</a:t>
            </a:r>
            <a:r>
              <a:rPr lang="ro-RO" dirty="0"/>
              <a:t>). Aceste evenimente pot fi generate de orice componentă, fie ca răspuns la un clic de mouse, fie la </a:t>
            </a:r>
            <a:r>
              <a:rPr lang="ro-RO" dirty="0" err="1"/>
              <a:t>selecţionarea</a:t>
            </a:r>
            <a:r>
              <a:rPr lang="ro-RO" dirty="0"/>
              <a:t> prin tasta Tab. Primirea </a:t>
            </a:r>
            <a:r>
              <a:rPr lang="ro-RO" dirty="0" err="1"/>
              <a:t>selecţiei</a:t>
            </a:r>
            <a:r>
              <a:rPr lang="ro-RO" dirty="0"/>
              <a:t> (got focus) înseamnă că acea componentă este </a:t>
            </a:r>
            <a:r>
              <a:rPr lang="ro-RO" dirty="0" err="1"/>
              <a:t>selecţionată</a:t>
            </a:r>
            <a:r>
              <a:rPr lang="ro-RO" dirty="0"/>
              <a:t> </a:t>
            </a:r>
            <a:r>
              <a:rPr lang="ro-RO" dirty="0" err="1"/>
              <a:t>şi</a:t>
            </a:r>
            <a:r>
              <a:rPr lang="ro-RO" dirty="0"/>
              <a:t> poate fi activată sau poate primi date de intrare. Cedarea </a:t>
            </a:r>
            <a:r>
              <a:rPr lang="ro-RO" dirty="0" err="1"/>
              <a:t>selecţiei</a:t>
            </a:r>
            <a:r>
              <a:rPr lang="ro-RO" dirty="0"/>
              <a:t> (</a:t>
            </a:r>
            <a:r>
              <a:rPr lang="ro-RO" dirty="0" err="1"/>
              <a:t>lost</a:t>
            </a:r>
            <a:r>
              <a:rPr lang="ro-RO" dirty="0"/>
              <a:t> focus) înseamnă că s-a </a:t>
            </a:r>
            <a:r>
              <a:rPr lang="ro-RO" dirty="0" err="1"/>
              <a:t>selecţionat</a:t>
            </a:r>
            <a:r>
              <a:rPr lang="ro-RO" dirty="0"/>
              <a:t> o altă componentă.</a:t>
            </a:r>
          </a:p>
          <a:p>
            <a:endParaRPr lang="ro-RO" dirty="0"/>
          </a:p>
        </p:txBody>
      </p:sp>
    </p:spTree>
    <p:extLst>
      <p:ext uri="{BB962C8B-B14F-4D97-AF65-F5344CB8AC3E}">
        <p14:creationId xmlns:p14="http://schemas.microsoft.com/office/powerpoint/2010/main" val="3500425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Tratarea evenimentelor de </a:t>
            </a:r>
            <a:r>
              <a:rPr lang="ro-RO" b="1" dirty="0" err="1"/>
              <a:t>acţiune</a:t>
            </a:r>
            <a:r>
              <a:rPr lang="ro-RO" b="1" dirty="0"/>
              <a:t/>
            </a:r>
            <a:br>
              <a:rPr lang="ro-RO" b="1" dirty="0"/>
            </a:br>
            <a:endParaRPr lang="ro-RO" dirty="0"/>
          </a:p>
        </p:txBody>
      </p:sp>
      <p:sp>
        <p:nvSpPr>
          <p:cNvPr id="3" name="Content Placeholder 2"/>
          <p:cNvSpPr>
            <a:spLocks noGrp="1"/>
          </p:cNvSpPr>
          <p:nvPr>
            <p:ph idx="1"/>
          </p:nvPr>
        </p:nvSpPr>
        <p:spPr/>
        <p:txBody>
          <a:bodyPr/>
          <a:lstStyle/>
          <a:p>
            <a:r>
              <a:rPr lang="ro-RO" dirty="0"/>
              <a:t>public boolean </a:t>
            </a:r>
            <a:r>
              <a:rPr lang="ro-RO" dirty="0" err="1"/>
              <a:t>action</a:t>
            </a:r>
            <a:r>
              <a:rPr lang="ro-RO" dirty="0"/>
              <a:t>(Event </a:t>
            </a:r>
            <a:r>
              <a:rPr lang="ro-RO" dirty="0" err="1"/>
              <a:t>evt</a:t>
            </a:r>
            <a:r>
              <a:rPr lang="ro-RO" dirty="0"/>
              <a:t>, </a:t>
            </a:r>
            <a:r>
              <a:rPr lang="ro-RO" dirty="0" err="1"/>
              <a:t>Object</a:t>
            </a:r>
            <a:r>
              <a:rPr lang="ro-RO" dirty="0"/>
              <a:t> </a:t>
            </a:r>
            <a:r>
              <a:rPr lang="ro-RO" dirty="0" err="1"/>
              <a:t>arg</a:t>
            </a:r>
            <a:r>
              <a:rPr lang="ro-RO" dirty="0"/>
              <a:t>) {</a:t>
            </a:r>
          </a:p>
          <a:p>
            <a:r>
              <a:rPr lang="ro-RO" dirty="0"/>
              <a:t>// ...</a:t>
            </a:r>
          </a:p>
          <a:p>
            <a:r>
              <a:rPr lang="ro-RO" dirty="0"/>
              <a:t> }</a:t>
            </a:r>
          </a:p>
          <a:p>
            <a:r>
              <a:rPr lang="ro-RO" b="1" i="1" u="sng" dirty="0"/>
              <a:t>Componente		Tip de argument		Ce </a:t>
            </a:r>
            <a:r>
              <a:rPr lang="ro-RO" b="1" i="1" u="sng" dirty="0" err="1"/>
              <a:t>conţine</a:t>
            </a:r>
            <a:endParaRPr lang="ro-RO" b="1" i="1" dirty="0"/>
          </a:p>
          <a:p>
            <a:r>
              <a:rPr lang="ro-RO" dirty="0"/>
              <a:t>Butoane			</a:t>
            </a:r>
            <a:r>
              <a:rPr lang="ro-RO" dirty="0" err="1"/>
              <a:t>String</a:t>
            </a:r>
            <a:r>
              <a:rPr lang="ro-RO" dirty="0"/>
              <a:t>		</a:t>
            </a:r>
            <a:r>
              <a:rPr lang="ro-RO" dirty="0" smtClean="0"/>
              <a:t>Eticheta </a:t>
            </a:r>
            <a:r>
              <a:rPr lang="ro-RO" dirty="0"/>
              <a:t>butonului </a:t>
            </a:r>
          </a:p>
          <a:p>
            <a:r>
              <a:rPr lang="ro-RO" dirty="0"/>
              <a:t>Casete de validare   		Boolean		Întotdeauna </a:t>
            </a:r>
            <a:r>
              <a:rPr lang="ro-RO" dirty="0" err="1"/>
              <a:t>true</a:t>
            </a:r>
            <a:r>
              <a:rPr lang="ro-RO" dirty="0"/>
              <a:t> </a:t>
            </a:r>
          </a:p>
          <a:p>
            <a:r>
              <a:rPr lang="ro-RO" dirty="0"/>
              <a:t>Butoane radio			Boolean		Întotdeauna </a:t>
            </a:r>
            <a:r>
              <a:rPr lang="ro-RO" dirty="0" err="1"/>
              <a:t>true</a:t>
            </a:r>
            <a:endParaRPr lang="ro-RO" dirty="0"/>
          </a:p>
          <a:p>
            <a:r>
              <a:rPr lang="ro-RO" dirty="0"/>
              <a:t>Meniuri de </a:t>
            </a:r>
            <a:r>
              <a:rPr lang="ro-RO" dirty="0" err="1"/>
              <a:t>opţiuni</a:t>
            </a:r>
            <a:r>
              <a:rPr lang="ro-RO" dirty="0"/>
              <a:t>		</a:t>
            </a:r>
            <a:r>
              <a:rPr lang="ro-RO" dirty="0" err="1"/>
              <a:t>String</a:t>
            </a:r>
            <a:r>
              <a:rPr lang="ro-RO" dirty="0"/>
              <a:t>		</a:t>
            </a:r>
            <a:r>
              <a:rPr lang="ro-RO" dirty="0" smtClean="0"/>
              <a:t>Eticheta </a:t>
            </a:r>
            <a:r>
              <a:rPr lang="ro-RO" dirty="0"/>
              <a:t>elementului selectat </a:t>
            </a:r>
          </a:p>
          <a:p>
            <a:r>
              <a:rPr lang="ro-RO" dirty="0"/>
              <a:t>Câmpuri de text		</a:t>
            </a:r>
            <a:r>
              <a:rPr lang="en-US" dirty="0" smtClean="0"/>
              <a:t>	</a:t>
            </a:r>
            <a:r>
              <a:rPr lang="ro-RO" dirty="0" err="1" smtClean="0"/>
              <a:t>String</a:t>
            </a:r>
            <a:r>
              <a:rPr lang="ro-RO" dirty="0"/>
              <a:t>		</a:t>
            </a:r>
            <a:r>
              <a:rPr lang="ro-RO" dirty="0" smtClean="0"/>
              <a:t>Textul </a:t>
            </a:r>
            <a:r>
              <a:rPr lang="ro-RO" dirty="0"/>
              <a:t>din cadrul câmpului</a:t>
            </a:r>
          </a:p>
          <a:p>
            <a:endParaRPr lang="ro-RO" dirty="0"/>
          </a:p>
        </p:txBody>
      </p:sp>
    </p:spTree>
    <p:extLst>
      <p:ext uri="{BB962C8B-B14F-4D97-AF65-F5344CB8AC3E}">
        <p14:creationId xmlns:p14="http://schemas.microsoft.com/office/powerpoint/2010/main" val="3517812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ro-RO"/>
          </a:p>
        </p:txBody>
      </p:sp>
      <p:sp>
        <p:nvSpPr>
          <p:cNvPr id="3" name="Content Placeholder 2"/>
          <p:cNvSpPr>
            <a:spLocks noGrp="1"/>
          </p:cNvSpPr>
          <p:nvPr>
            <p:ph idx="1"/>
          </p:nvPr>
        </p:nvSpPr>
        <p:spPr/>
        <p:txBody>
          <a:bodyPr>
            <a:normAutofit/>
          </a:bodyPr>
          <a:lstStyle/>
          <a:p>
            <a:pPr>
              <a:spcBef>
                <a:spcPts val="0"/>
              </a:spcBef>
            </a:pPr>
            <a:r>
              <a:rPr lang="ro-RO" dirty="0"/>
              <a:t>public boolean </a:t>
            </a:r>
            <a:r>
              <a:rPr lang="ro-RO" dirty="0" err="1"/>
              <a:t>action</a:t>
            </a:r>
            <a:r>
              <a:rPr lang="ro-RO" dirty="0"/>
              <a:t>(Event </a:t>
            </a:r>
            <a:r>
              <a:rPr lang="ro-RO" dirty="0" err="1"/>
              <a:t>evt</a:t>
            </a:r>
            <a:r>
              <a:rPr lang="ro-RO" dirty="0"/>
              <a:t>, </a:t>
            </a:r>
            <a:r>
              <a:rPr lang="ro-RO" dirty="0" err="1"/>
              <a:t>Object</a:t>
            </a:r>
            <a:r>
              <a:rPr lang="ro-RO" dirty="0"/>
              <a:t> </a:t>
            </a:r>
            <a:r>
              <a:rPr lang="ro-RO" dirty="0" err="1"/>
              <a:t>arg</a:t>
            </a:r>
            <a:r>
              <a:rPr lang="ro-RO" dirty="0"/>
              <a:t>) { </a:t>
            </a:r>
          </a:p>
          <a:p>
            <a:pPr>
              <a:spcBef>
                <a:spcPts val="0"/>
              </a:spcBef>
            </a:pPr>
            <a:r>
              <a:rPr lang="ro-RO" dirty="0" err="1"/>
              <a:t>if</a:t>
            </a:r>
            <a:r>
              <a:rPr lang="ro-RO" dirty="0"/>
              <a:t> (</a:t>
            </a:r>
            <a:r>
              <a:rPr lang="ro-RO" dirty="0" err="1"/>
              <a:t>evt.target</a:t>
            </a:r>
            <a:r>
              <a:rPr lang="ro-RO" dirty="0"/>
              <a:t> </a:t>
            </a:r>
            <a:r>
              <a:rPr lang="ro-RO" dirty="0" err="1"/>
              <a:t>instanceof</a:t>
            </a:r>
            <a:r>
              <a:rPr lang="ro-RO" dirty="0"/>
              <a:t> </a:t>
            </a:r>
            <a:r>
              <a:rPr lang="ro-RO" dirty="0" err="1"/>
              <a:t>Button</a:t>
            </a:r>
            <a:r>
              <a:rPr lang="ro-RO" dirty="0"/>
              <a:t>) {</a:t>
            </a:r>
          </a:p>
          <a:p>
            <a:pPr>
              <a:spcBef>
                <a:spcPts val="0"/>
              </a:spcBef>
            </a:pPr>
            <a:r>
              <a:rPr lang="ro-RO" dirty="0" err="1"/>
              <a:t>String</a:t>
            </a:r>
            <a:r>
              <a:rPr lang="ro-RO" dirty="0"/>
              <a:t> eticheta = (</a:t>
            </a:r>
            <a:r>
              <a:rPr lang="ro-RO" dirty="0" err="1"/>
              <a:t>String</a:t>
            </a:r>
            <a:r>
              <a:rPr lang="ro-RO" dirty="0"/>
              <a:t>)</a:t>
            </a:r>
            <a:r>
              <a:rPr lang="ro-RO" dirty="0" err="1"/>
              <a:t>arg</a:t>
            </a:r>
            <a:r>
              <a:rPr lang="ro-RO" dirty="0"/>
              <a:t>;</a:t>
            </a:r>
          </a:p>
          <a:p>
            <a:pPr>
              <a:spcBef>
                <a:spcPts val="0"/>
              </a:spcBef>
            </a:pPr>
            <a:r>
              <a:rPr lang="ro-RO" dirty="0" err="1"/>
              <a:t>if</a:t>
            </a:r>
            <a:r>
              <a:rPr lang="ro-RO" dirty="0"/>
              <a:t> (</a:t>
            </a:r>
            <a:r>
              <a:rPr lang="ro-RO" dirty="0" err="1"/>
              <a:t>eticheta.equals</a:t>
            </a:r>
            <a:r>
              <a:rPr lang="ro-RO" dirty="0"/>
              <a:t>("OK"))</a:t>
            </a:r>
          </a:p>
          <a:p>
            <a:pPr>
              <a:spcBef>
                <a:spcPts val="0"/>
              </a:spcBef>
            </a:pPr>
            <a:r>
              <a:rPr lang="ro-RO" dirty="0"/>
              <a:t>// </a:t>
            </a:r>
            <a:r>
              <a:rPr lang="ro-RO" dirty="0" err="1"/>
              <a:t>trateaza</a:t>
            </a:r>
            <a:r>
              <a:rPr lang="ro-RO" dirty="0"/>
              <a:t> butonul OK </a:t>
            </a:r>
          </a:p>
          <a:p>
            <a:pPr>
              <a:spcBef>
                <a:spcPts val="0"/>
              </a:spcBef>
            </a:pPr>
            <a:r>
              <a:rPr lang="ro-RO" dirty="0" err="1"/>
              <a:t>else</a:t>
            </a:r>
            <a:r>
              <a:rPr lang="ro-RO" dirty="0"/>
              <a:t> </a:t>
            </a:r>
            <a:r>
              <a:rPr lang="ro-RO" dirty="0" err="1"/>
              <a:t>if</a:t>
            </a:r>
            <a:r>
              <a:rPr lang="ro-RO" dirty="0"/>
              <a:t> (</a:t>
            </a:r>
            <a:r>
              <a:rPr lang="ro-RO" dirty="0" err="1"/>
              <a:t>eticheta.equals</a:t>
            </a:r>
            <a:r>
              <a:rPr lang="ro-RO" dirty="0"/>
              <a:t> ("Anulare"))</a:t>
            </a:r>
          </a:p>
          <a:p>
            <a:pPr>
              <a:spcBef>
                <a:spcPts val="0"/>
              </a:spcBef>
            </a:pPr>
            <a:r>
              <a:rPr lang="ro-RO" dirty="0"/>
              <a:t>// </a:t>
            </a:r>
            <a:r>
              <a:rPr lang="ro-RO" dirty="0" err="1"/>
              <a:t>trateaza</a:t>
            </a:r>
            <a:r>
              <a:rPr lang="ro-RO" dirty="0"/>
              <a:t> butonul Anulare </a:t>
            </a:r>
          </a:p>
          <a:p>
            <a:pPr>
              <a:spcBef>
                <a:spcPts val="0"/>
              </a:spcBef>
            </a:pPr>
            <a:r>
              <a:rPr lang="ro-RO" dirty="0" err="1"/>
              <a:t>else</a:t>
            </a:r>
            <a:r>
              <a:rPr lang="ro-RO" dirty="0"/>
              <a:t> </a:t>
            </a:r>
            <a:r>
              <a:rPr lang="ro-RO" dirty="0" err="1"/>
              <a:t>if</a:t>
            </a:r>
            <a:r>
              <a:rPr lang="ro-RO" dirty="0"/>
              <a:t> (</a:t>
            </a:r>
            <a:r>
              <a:rPr lang="ro-RO" dirty="0" err="1"/>
              <a:t>eticheta.equals</a:t>
            </a:r>
            <a:r>
              <a:rPr lang="ro-RO" dirty="0"/>
              <a:t>("Navigare"))</a:t>
            </a:r>
          </a:p>
          <a:p>
            <a:pPr>
              <a:spcBef>
                <a:spcPts val="0"/>
              </a:spcBef>
            </a:pPr>
            <a:r>
              <a:rPr lang="ro-RO" dirty="0"/>
              <a:t>// </a:t>
            </a:r>
            <a:r>
              <a:rPr lang="ro-RO" dirty="0" err="1"/>
              <a:t>trateaza</a:t>
            </a:r>
            <a:r>
              <a:rPr lang="ro-RO" dirty="0"/>
              <a:t> butonul Navigare</a:t>
            </a:r>
          </a:p>
          <a:p>
            <a:pPr>
              <a:spcBef>
                <a:spcPts val="0"/>
              </a:spcBef>
            </a:pPr>
            <a:r>
              <a:rPr lang="ro-RO" dirty="0"/>
              <a:t> </a:t>
            </a:r>
          </a:p>
          <a:p>
            <a:pPr>
              <a:spcBef>
                <a:spcPts val="0"/>
              </a:spcBef>
            </a:pPr>
            <a:r>
              <a:rPr lang="ro-RO" dirty="0"/>
              <a:t>		// ...</a:t>
            </a:r>
          </a:p>
          <a:p>
            <a:pPr>
              <a:spcBef>
                <a:spcPts val="0"/>
              </a:spcBef>
            </a:pPr>
            <a:r>
              <a:rPr lang="ro-RO" dirty="0"/>
              <a:t>	</a:t>
            </a:r>
            <a:r>
              <a:rPr lang="en-US" dirty="0"/>
              <a:t>}</a:t>
            </a:r>
            <a:endParaRPr lang="ro-RO" dirty="0"/>
          </a:p>
          <a:p>
            <a:pPr>
              <a:spcBef>
                <a:spcPts val="0"/>
              </a:spcBef>
            </a:pPr>
            <a:r>
              <a:rPr lang="en-US" dirty="0"/>
              <a:t>}</a:t>
            </a:r>
            <a:endParaRPr lang="ro-RO" dirty="0"/>
          </a:p>
        </p:txBody>
      </p:sp>
    </p:spTree>
    <p:extLst>
      <p:ext uri="{BB962C8B-B14F-4D97-AF65-F5344CB8AC3E}">
        <p14:creationId xmlns:p14="http://schemas.microsoft.com/office/powerpoint/2010/main" val="28844203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Tratarea evenimentelor de selectare</a:t>
            </a:r>
            <a:br>
              <a:rPr lang="ro-RO" b="1" dirty="0"/>
            </a:br>
            <a:endParaRPr lang="ro-RO" dirty="0"/>
          </a:p>
        </p:txBody>
      </p:sp>
      <p:sp>
        <p:nvSpPr>
          <p:cNvPr id="3" name="Content Placeholder 2"/>
          <p:cNvSpPr>
            <a:spLocks noGrp="1"/>
          </p:cNvSpPr>
          <p:nvPr>
            <p:ph idx="1"/>
          </p:nvPr>
        </p:nvSpPr>
        <p:spPr>
          <a:xfrm>
            <a:off x="380588" y="1862209"/>
            <a:ext cx="10058400" cy="4023360"/>
          </a:xfrm>
        </p:spPr>
        <p:txBody>
          <a:bodyPr/>
          <a:lstStyle/>
          <a:p>
            <a:r>
              <a:rPr lang="ro-RO" dirty="0"/>
              <a:t>public boolean </a:t>
            </a:r>
            <a:r>
              <a:rPr lang="ro-RO" dirty="0" err="1"/>
              <a:t>gotFocus</a:t>
            </a:r>
            <a:r>
              <a:rPr lang="ro-RO" dirty="0"/>
              <a:t>(Event </a:t>
            </a:r>
            <a:r>
              <a:rPr lang="ro-RO" dirty="0" err="1"/>
              <a:t>evt</a:t>
            </a:r>
            <a:r>
              <a:rPr lang="ro-RO" dirty="0"/>
              <a:t>, </a:t>
            </a:r>
            <a:r>
              <a:rPr lang="ro-RO" dirty="0" err="1"/>
              <a:t>Object</a:t>
            </a:r>
            <a:r>
              <a:rPr lang="ro-RO" dirty="0"/>
              <a:t> </a:t>
            </a:r>
            <a:r>
              <a:rPr lang="ro-RO" dirty="0" err="1"/>
              <a:t>arg</a:t>
            </a:r>
            <a:r>
              <a:rPr lang="ro-RO" dirty="0"/>
              <a:t>) {</a:t>
            </a:r>
          </a:p>
          <a:p>
            <a:r>
              <a:rPr lang="ro-RO" dirty="0"/>
              <a:t>// ... </a:t>
            </a:r>
          </a:p>
          <a:p>
            <a:r>
              <a:rPr lang="ro-RO" dirty="0" smtClean="0"/>
              <a:t>}</a:t>
            </a:r>
            <a:endParaRPr lang="en-US" dirty="0" smtClean="0"/>
          </a:p>
          <a:p>
            <a:endParaRPr lang="ro-RO" dirty="0"/>
          </a:p>
          <a:p>
            <a:r>
              <a:rPr lang="ro-RO" dirty="0"/>
              <a:t> public boolean </a:t>
            </a:r>
            <a:r>
              <a:rPr lang="ro-RO" dirty="0" err="1"/>
              <a:t>lostFocus</a:t>
            </a:r>
            <a:r>
              <a:rPr lang="ro-RO" dirty="0"/>
              <a:t>(Event </a:t>
            </a:r>
            <a:r>
              <a:rPr lang="ro-RO" dirty="0" err="1"/>
              <a:t>evt</a:t>
            </a:r>
            <a:r>
              <a:rPr lang="ro-RO" dirty="0"/>
              <a:t>, </a:t>
            </a:r>
            <a:r>
              <a:rPr lang="ro-RO" dirty="0" err="1"/>
              <a:t>Object</a:t>
            </a:r>
            <a:r>
              <a:rPr lang="ro-RO" dirty="0"/>
              <a:t> </a:t>
            </a:r>
            <a:r>
              <a:rPr lang="ro-RO" dirty="0" err="1"/>
              <a:t>arg</a:t>
            </a:r>
            <a:r>
              <a:rPr lang="ro-RO" dirty="0"/>
              <a:t>) {</a:t>
            </a:r>
          </a:p>
          <a:p>
            <a:r>
              <a:rPr lang="ro-RO" dirty="0"/>
              <a:t>// ... </a:t>
            </a:r>
          </a:p>
          <a:p>
            <a:r>
              <a:rPr lang="ro-RO" dirty="0"/>
              <a:t>}</a:t>
            </a:r>
          </a:p>
          <a:p>
            <a:endParaRPr lang="ro-RO" dirty="0"/>
          </a:p>
        </p:txBody>
      </p:sp>
    </p:spTree>
    <p:extLst>
      <p:ext uri="{BB962C8B-B14F-4D97-AF65-F5344CB8AC3E}">
        <p14:creationId xmlns:p14="http://schemas.microsoft.com/office/powerpoint/2010/main" val="2843639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Evenimente ale zonelor de text</a:t>
            </a:r>
            <a:br>
              <a:rPr lang="ro-RO" b="1" dirty="0"/>
            </a:br>
            <a:endParaRPr lang="ro-RO" dirty="0"/>
          </a:p>
        </p:txBody>
      </p:sp>
      <p:sp>
        <p:nvSpPr>
          <p:cNvPr id="3" name="Content Placeholder 2"/>
          <p:cNvSpPr>
            <a:spLocks noGrp="1"/>
          </p:cNvSpPr>
          <p:nvPr>
            <p:ph idx="1"/>
          </p:nvPr>
        </p:nvSpPr>
        <p:spPr/>
        <p:txBody>
          <a:bodyPr/>
          <a:lstStyle/>
          <a:p>
            <a:r>
              <a:rPr lang="ro-RO" dirty="0"/>
              <a:t>Zonele de text prezintă </a:t>
            </a:r>
            <a:r>
              <a:rPr lang="ro-RO" dirty="0" err="1"/>
              <a:t>aceleaşi</a:t>
            </a:r>
            <a:r>
              <a:rPr lang="ro-RO" dirty="0"/>
              <a:t> evenimente ca </a:t>
            </a:r>
            <a:r>
              <a:rPr lang="ro-RO" dirty="0" err="1"/>
              <a:t>şi</a:t>
            </a:r>
            <a:r>
              <a:rPr lang="ro-RO" dirty="0"/>
              <a:t> câmpurile de text. </a:t>
            </a:r>
            <a:r>
              <a:rPr lang="ro-RO" dirty="0" err="1"/>
              <a:t>Puteţi</a:t>
            </a:r>
            <a:r>
              <a:rPr lang="ro-RO" dirty="0"/>
              <a:t> folosi metodele </a:t>
            </a:r>
            <a:r>
              <a:rPr lang="ro-RO" dirty="0" err="1"/>
              <a:t>gotFocus</a:t>
            </a:r>
            <a:r>
              <a:rPr lang="ro-RO" dirty="0"/>
              <a:t>() </a:t>
            </a:r>
            <a:r>
              <a:rPr lang="ro-RO" dirty="0" err="1"/>
              <a:t>şi</a:t>
            </a:r>
            <a:r>
              <a:rPr lang="ro-RO" dirty="0"/>
              <a:t> </a:t>
            </a:r>
            <a:r>
              <a:rPr lang="ro-RO" dirty="0" err="1"/>
              <a:t>lostFocus</a:t>
            </a:r>
            <a:r>
              <a:rPr lang="ro-RO" dirty="0"/>
              <a:t>() pentru a intercepta evenimentele de primire/cedare a </a:t>
            </a:r>
            <a:r>
              <a:rPr lang="ro-RO" dirty="0" err="1"/>
              <a:t>selecţei</a:t>
            </a:r>
            <a:r>
              <a:rPr lang="ro-RO" dirty="0"/>
              <a:t>:</a:t>
            </a:r>
          </a:p>
          <a:p>
            <a:r>
              <a:rPr lang="ro-RO" dirty="0"/>
              <a:t>public boolean </a:t>
            </a:r>
            <a:r>
              <a:rPr lang="ro-RO" dirty="0" err="1"/>
              <a:t>gotFocus</a:t>
            </a:r>
            <a:r>
              <a:rPr lang="ro-RO" dirty="0"/>
              <a:t>(Event </a:t>
            </a:r>
            <a:r>
              <a:rPr lang="ro-RO" dirty="0" err="1"/>
              <a:t>evt</a:t>
            </a:r>
            <a:r>
              <a:rPr lang="ro-RO" dirty="0"/>
              <a:t>, </a:t>
            </a:r>
            <a:r>
              <a:rPr lang="ro-RO" dirty="0" err="1"/>
              <a:t>Object</a:t>
            </a:r>
            <a:r>
              <a:rPr lang="ro-RO" dirty="0"/>
              <a:t> </a:t>
            </a:r>
            <a:r>
              <a:rPr lang="ro-RO" dirty="0" err="1"/>
              <a:t>arg</a:t>
            </a:r>
            <a:r>
              <a:rPr lang="ro-RO" dirty="0"/>
              <a:t>) { </a:t>
            </a:r>
          </a:p>
          <a:p>
            <a:r>
              <a:rPr lang="ro-RO" dirty="0"/>
              <a:t>// . ..</a:t>
            </a:r>
          </a:p>
          <a:p>
            <a:r>
              <a:rPr lang="ro-RO" dirty="0"/>
              <a:t>}</a:t>
            </a:r>
          </a:p>
          <a:p>
            <a:r>
              <a:rPr lang="ro-RO" dirty="0"/>
              <a:t>public. boolean </a:t>
            </a:r>
            <a:r>
              <a:rPr lang="ro-RO" dirty="0" err="1"/>
              <a:t>lostFocus</a:t>
            </a:r>
            <a:r>
              <a:rPr lang="ro-RO" dirty="0"/>
              <a:t>(Event </a:t>
            </a:r>
            <a:r>
              <a:rPr lang="ro-RO" dirty="0" err="1"/>
              <a:t>evt</a:t>
            </a:r>
            <a:r>
              <a:rPr lang="ro-RO" dirty="0"/>
              <a:t>, </a:t>
            </a:r>
            <a:r>
              <a:rPr lang="ro-RO" dirty="0" err="1"/>
              <a:t>Object</a:t>
            </a:r>
            <a:r>
              <a:rPr lang="ro-RO" dirty="0"/>
              <a:t> </a:t>
            </a:r>
            <a:r>
              <a:rPr lang="ro-RO" dirty="0" err="1"/>
              <a:t>arg</a:t>
            </a:r>
            <a:r>
              <a:rPr lang="ro-RO" dirty="0"/>
              <a:t>) {</a:t>
            </a:r>
          </a:p>
          <a:p>
            <a:r>
              <a:rPr lang="ro-RO" dirty="0"/>
              <a:t> // ...</a:t>
            </a:r>
          </a:p>
          <a:p>
            <a:r>
              <a:rPr lang="ro-RO" dirty="0"/>
              <a:t>}</a:t>
            </a:r>
          </a:p>
          <a:p>
            <a:endParaRPr lang="ro-RO" dirty="0"/>
          </a:p>
        </p:txBody>
      </p:sp>
    </p:spTree>
    <p:extLst>
      <p:ext uri="{BB962C8B-B14F-4D97-AF65-F5344CB8AC3E}">
        <p14:creationId xmlns:p14="http://schemas.microsoft.com/office/powerpoint/2010/main" val="53436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Evenimente ale listelor derulante</a:t>
            </a:r>
          </a:p>
        </p:txBody>
      </p:sp>
      <p:sp>
        <p:nvSpPr>
          <p:cNvPr id="3" name="Content Placeholder 2"/>
          <p:cNvSpPr>
            <a:spLocks noGrp="1"/>
          </p:cNvSpPr>
          <p:nvPr>
            <p:ph idx="1"/>
          </p:nvPr>
        </p:nvSpPr>
        <p:spPr/>
        <p:txBody>
          <a:bodyPr/>
          <a:lstStyle/>
          <a:p>
            <a:r>
              <a:rPr lang="ro-RO" dirty="0"/>
              <a:t>Listele derulante generează trei tipuri de evenimente diferite; selectarea sau deselectarea unui element individual al listei are ca efect un eveniment de selectare/deselectare listă, iar dublul clic executat pe un element al listei are ca efect un eveniment de </a:t>
            </a:r>
            <a:r>
              <a:rPr lang="ro-RO" dirty="0" err="1"/>
              <a:t>acţiune</a:t>
            </a:r>
            <a:r>
              <a:rPr lang="ro-RO" dirty="0"/>
              <a:t>.</a:t>
            </a:r>
          </a:p>
          <a:p>
            <a:r>
              <a:rPr lang="ro-RO" dirty="0" err="1"/>
              <a:t>Puteţi</a:t>
            </a:r>
            <a:r>
              <a:rPr lang="ro-RO" dirty="0"/>
              <a:t> suprascrie metoda </a:t>
            </a:r>
            <a:r>
              <a:rPr lang="ro-RO" dirty="0" err="1"/>
              <a:t>action</a:t>
            </a:r>
            <a:r>
              <a:rPr lang="ro-RO" dirty="0"/>
              <a:t>() pentru a trata elementul din listă pe care s-a efectuat dublu-clic. Pentru </a:t>
            </a:r>
            <a:r>
              <a:rPr lang="ro-RO" dirty="0" err="1"/>
              <a:t>selecţiile</a:t>
            </a:r>
            <a:r>
              <a:rPr lang="ro-RO" dirty="0"/>
              <a:t> </a:t>
            </a:r>
            <a:r>
              <a:rPr lang="ro-RO" dirty="0" err="1"/>
              <a:t>şi</a:t>
            </a:r>
            <a:r>
              <a:rPr lang="ro-RO" dirty="0"/>
              <a:t> </a:t>
            </a:r>
            <a:r>
              <a:rPr lang="ro-RO" dirty="0" err="1"/>
              <a:t>deselecţiile</a:t>
            </a:r>
            <a:r>
              <a:rPr lang="ro-RO" dirty="0"/>
              <a:t> din listă, </a:t>
            </a:r>
            <a:r>
              <a:rPr lang="ro-RO" dirty="0" err="1"/>
              <a:t>puteţi</a:t>
            </a:r>
            <a:r>
              <a:rPr lang="ro-RO" dirty="0"/>
              <a:t> să </a:t>
            </a:r>
            <a:r>
              <a:rPr lang="ro-RO" dirty="0" err="1"/>
              <a:t>suprascrieţi</a:t>
            </a:r>
            <a:r>
              <a:rPr lang="ro-RO" dirty="0"/>
              <a:t> metoda </a:t>
            </a:r>
            <a:r>
              <a:rPr lang="ro-RO" dirty="0" err="1"/>
              <a:t>handleEvent</a:t>
            </a:r>
            <a:r>
              <a:rPr lang="ro-RO" dirty="0"/>
              <a:t>() </a:t>
            </a:r>
            <a:r>
              <a:rPr lang="ro-RO" dirty="0" err="1"/>
              <a:t>şi</a:t>
            </a:r>
            <a:r>
              <a:rPr lang="ro-RO" dirty="0"/>
              <a:t> să </a:t>
            </a:r>
            <a:r>
              <a:rPr lang="ro-RO" dirty="0" err="1"/>
              <a:t>testaţi</a:t>
            </a:r>
            <a:r>
              <a:rPr lang="ro-RO" dirty="0"/>
              <a:t> identificatorii de eveniment LIST_SELECT </a:t>
            </a:r>
            <a:r>
              <a:rPr lang="ro-RO" dirty="0" err="1"/>
              <a:t>şi</a:t>
            </a:r>
            <a:r>
              <a:rPr lang="ro-RO" dirty="0"/>
              <a:t> LIST_DESELECT</a:t>
            </a:r>
            <a:r>
              <a:rPr lang="ro-RO" cap="small" dirty="0"/>
              <a:t>.</a:t>
            </a:r>
            <a:endParaRPr lang="ro-RO" dirty="0"/>
          </a:p>
          <a:p>
            <a:endParaRPr lang="ro-RO" dirty="0"/>
          </a:p>
        </p:txBody>
      </p:sp>
    </p:spTree>
    <p:extLst>
      <p:ext uri="{BB962C8B-B14F-4D97-AF65-F5344CB8AC3E}">
        <p14:creationId xmlns:p14="http://schemas.microsoft.com/office/powerpoint/2010/main" val="3312751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Evenimente ale barelor de derulare</a:t>
            </a:r>
            <a:br>
              <a:rPr lang="ro-RO" b="1" dirty="0"/>
            </a:br>
            <a:endParaRPr lang="ro-RO" dirty="0"/>
          </a:p>
        </p:txBody>
      </p:sp>
      <p:graphicFrame>
        <p:nvGraphicFramePr>
          <p:cNvPr id="4" name="Content Placeholder 3"/>
          <p:cNvGraphicFramePr>
            <a:graphicFrameLocks noGrp="1"/>
          </p:cNvGraphicFramePr>
          <p:nvPr>
            <p:ph idx="1"/>
          </p:nvPr>
        </p:nvGraphicFramePr>
        <p:xfrm>
          <a:off x="2999740" y="2851785"/>
          <a:ext cx="6252845" cy="2011680"/>
        </p:xfrm>
        <a:graphic>
          <a:graphicData uri="http://schemas.openxmlformats.org/drawingml/2006/table">
            <a:tbl>
              <a:tblPr>
                <a:tableStyleId>{5C22544A-7EE6-4342-B048-85BDC9FD1C3A}</a:tableStyleId>
              </a:tblPr>
              <a:tblGrid>
                <a:gridCol w="3126105"/>
                <a:gridCol w="3126740"/>
              </a:tblGrid>
              <a:tr h="0">
                <a:tc>
                  <a:txBody>
                    <a:bodyPr/>
                    <a:lstStyle/>
                    <a:p>
                      <a:pPr algn="just">
                        <a:spcAft>
                          <a:spcPts val="0"/>
                        </a:spcAft>
                      </a:pPr>
                      <a:r>
                        <a:rPr lang="ro-RO" sz="1200" u="sng" kern="0">
                          <a:effectLst/>
                        </a:rPr>
                        <a:t>Identificatorul evenimentului</a:t>
                      </a:r>
                      <a:endParaRPr lang="ro-RO" sz="1000" b="1" kern="0">
                        <a:effectLst/>
                        <a:latin typeface="Times New Roman" panose="02020603050405020304" pitchFamily="18" charset="0"/>
                      </a:endParaRPr>
                    </a:p>
                  </a:txBody>
                  <a:tcPr marL="68580" marR="68580" marT="0" marB="0"/>
                </a:tc>
                <a:tc>
                  <a:txBody>
                    <a:bodyPr/>
                    <a:lstStyle/>
                    <a:p>
                      <a:pPr algn="just">
                        <a:spcAft>
                          <a:spcPts val="0"/>
                        </a:spcAft>
                      </a:pPr>
                      <a:r>
                        <a:rPr lang="ro-RO" sz="1200" u="sng">
                          <a:effectLst/>
                        </a:rPr>
                        <a:t>Ce reprezintă</a:t>
                      </a:r>
                      <a:endParaRPr lang="ro-RO" sz="1200">
                        <a:effectLst/>
                        <a:latin typeface="Times New Roman" panose="02020603050405020304" pitchFamily="18" charset="0"/>
                        <a:ea typeface="Times New Roman" panose="02020603050405020304" pitchFamily="18" charset="0"/>
                      </a:endParaRPr>
                    </a:p>
                  </a:txBody>
                  <a:tcPr marL="68580" marR="68580" marT="0" marB="0"/>
                </a:tc>
              </a:tr>
              <a:tr h="0">
                <a:tc>
                  <a:txBody>
                    <a:bodyPr/>
                    <a:lstStyle/>
                    <a:p>
                      <a:pPr algn="just">
                        <a:spcAft>
                          <a:spcPts val="0"/>
                        </a:spcAft>
                      </a:pPr>
                      <a:r>
                        <a:rPr lang="ro-RO" sz="1200">
                          <a:effectLst/>
                        </a:rPr>
                        <a:t>SCROLL_ABSOLUTE 			</a:t>
                      </a:r>
                      <a:endParaRPr lang="ro-RO"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0"/>
                        </a:spcAft>
                      </a:pPr>
                      <a:r>
                        <a:rPr lang="ro-RO" sz="1200">
                          <a:effectLst/>
                        </a:rPr>
                        <a:t>Generat la deplasarea casetei barei de derulare</a:t>
                      </a:r>
                      <a:endParaRPr lang="ro-RO" sz="1200">
                        <a:effectLst/>
                        <a:latin typeface="Times New Roman" panose="02020603050405020304" pitchFamily="18" charset="0"/>
                        <a:ea typeface="Times New Roman" panose="02020603050405020304" pitchFamily="18" charset="0"/>
                      </a:endParaRPr>
                    </a:p>
                  </a:txBody>
                  <a:tcPr marL="68580" marR="68580" marT="0" marB="0"/>
                </a:tc>
              </a:tr>
              <a:tr h="0">
                <a:tc>
                  <a:txBody>
                    <a:bodyPr/>
                    <a:lstStyle/>
                    <a:p>
                      <a:pPr algn="just">
                        <a:spcAft>
                          <a:spcPts val="0"/>
                        </a:spcAft>
                      </a:pPr>
                      <a:r>
                        <a:rPr lang="ro-RO" sz="1200">
                          <a:effectLst/>
                        </a:rPr>
                        <a:t>SCROLL_LINE_DOWN             	</a:t>
                      </a:r>
                      <a:endParaRPr lang="ro-RO"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0"/>
                        </a:spcAft>
                      </a:pPr>
                      <a:r>
                        <a:rPr lang="ro-RO" sz="1200">
                          <a:effectLst/>
                        </a:rPr>
                        <a:t>Generat la selectarea butonului din capătul de jos sau din stânga al barei de derulare</a:t>
                      </a:r>
                      <a:endParaRPr lang="ro-RO" sz="1200">
                        <a:effectLst/>
                        <a:latin typeface="Times New Roman" panose="02020603050405020304" pitchFamily="18" charset="0"/>
                        <a:ea typeface="Times New Roman" panose="02020603050405020304" pitchFamily="18" charset="0"/>
                      </a:endParaRPr>
                    </a:p>
                  </a:txBody>
                  <a:tcPr marL="68580" marR="68580" marT="0" marB="0"/>
                </a:tc>
              </a:tr>
              <a:tr h="0">
                <a:tc>
                  <a:txBody>
                    <a:bodyPr/>
                    <a:lstStyle/>
                    <a:p>
                      <a:pPr algn="just">
                        <a:spcAft>
                          <a:spcPts val="0"/>
                        </a:spcAft>
                      </a:pPr>
                      <a:r>
                        <a:rPr lang="ro-RO" sz="1200">
                          <a:effectLst/>
                        </a:rPr>
                        <a:t>SCROLL_LINE_UP                </a:t>
                      </a:r>
                      <a:endParaRPr lang="ro-RO"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0"/>
                        </a:spcAft>
                      </a:pPr>
                      <a:r>
                        <a:rPr lang="ro-RO" sz="1200">
                          <a:effectLst/>
                        </a:rPr>
                        <a:t>Generat la selectarea butonului din capătul de sus sau din dreapta al barei de derulare</a:t>
                      </a:r>
                      <a:endParaRPr lang="ro-RO" sz="1200">
                        <a:effectLst/>
                        <a:latin typeface="Times New Roman" panose="02020603050405020304" pitchFamily="18" charset="0"/>
                        <a:ea typeface="Times New Roman" panose="02020603050405020304" pitchFamily="18" charset="0"/>
                      </a:endParaRPr>
                    </a:p>
                  </a:txBody>
                  <a:tcPr marL="68580" marR="68580" marT="0" marB="0"/>
                </a:tc>
              </a:tr>
              <a:tr h="0">
                <a:tc>
                  <a:txBody>
                    <a:bodyPr/>
                    <a:lstStyle/>
                    <a:p>
                      <a:pPr algn="just">
                        <a:spcAft>
                          <a:spcPts val="0"/>
                        </a:spcAft>
                      </a:pPr>
                      <a:r>
                        <a:rPr lang="ro-RO" sz="1200">
                          <a:effectLst/>
                        </a:rPr>
                        <a:t>SCROLL_PAGE_DOWN              </a:t>
                      </a:r>
                      <a:endParaRPr lang="ro-RO"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0"/>
                        </a:spcAft>
                      </a:pPr>
                      <a:r>
                        <a:rPr lang="ro-RO" sz="1200">
                          <a:effectLst/>
                        </a:rPr>
                        <a:t>Generat la selectarea spaţiului aflat dedesubtul (sau la stânga) casetei barei de derulare</a:t>
                      </a:r>
                      <a:endParaRPr lang="ro-RO" sz="1200">
                        <a:effectLst/>
                        <a:latin typeface="Times New Roman" panose="02020603050405020304" pitchFamily="18" charset="0"/>
                        <a:ea typeface="Times New Roman" panose="02020603050405020304" pitchFamily="18" charset="0"/>
                      </a:endParaRPr>
                    </a:p>
                  </a:txBody>
                  <a:tcPr marL="68580" marR="68580" marT="0" marB="0"/>
                </a:tc>
              </a:tr>
              <a:tr h="0">
                <a:tc>
                  <a:txBody>
                    <a:bodyPr/>
                    <a:lstStyle/>
                    <a:p>
                      <a:pPr algn="just">
                        <a:spcAft>
                          <a:spcPts val="0"/>
                        </a:spcAft>
                      </a:pPr>
                      <a:r>
                        <a:rPr lang="ro-RO" sz="1200">
                          <a:effectLst/>
                        </a:rPr>
                        <a:t>SCROLL_PAGE_UP                </a:t>
                      </a:r>
                      <a:endParaRPr lang="ro-RO"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0"/>
                        </a:spcAft>
                      </a:pPr>
                      <a:r>
                        <a:rPr lang="ro-RO" sz="1200" dirty="0">
                          <a:effectLst/>
                        </a:rPr>
                        <a:t>Generat la selectarea </a:t>
                      </a:r>
                      <a:r>
                        <a:rPr lang="ro-RO" sz="1200" dirty="0" err="1">
                          <a:effectLst/>
                        </a:rPr>
                        <a:t>spaţiului</a:t>
                      </a:r>
                      <a:r>
                        <a:rPr lang="ro-RO" sz="1200" dirty="0">
                          <a:effectLst/>
                        </a:rPr>
                        <a:t> aflat deasupra (sau la dreapta) casetei barei de derulare</a:t>
                      </a:r>
                      <a:endParaRPr lang="ro-RO" sz="1200" dirty="0">
                        <a:effectLst/>
                        <a:latin typeface="Times New Roman" panose="02020603050405020304" pitchFamily="18" charset="0"/>
                        <a:ea typeface="Times New Roman" panose="02020603050405020304" pitchFamily="18" charset="0"/>
                      </a:endParaRPr>
                    </a:p>
                  </a:txBody>
                  <a:tcPr marL="68580" marR="68580" marT="0" marB="0"/>
                </a:tc>
              </a:tr>
            </a:tbl>
          </a:graphicData>
        </a:graphic>
      </p:graphicFrame>
      <p:sp>
        <p:nvSpPr>
          <p:cNvPr id="6" name="Rectangle 5"/>
          <p:cNvSpPr/>
          <p:nvPr/>
        </p:nvSpPr>
        <p:spPr>
          <a:xfrm>
            <a:off x="1565189" y="1673994"/>
            <a:ext cx="9028670" cy="646331"/>
          </a:xfrm>
          <a:prstGeom prst="rect">
            <a:avLst/>
          </a:prstGeom>
        </p:spPr>
        <p:txBody>
          <a:bodyPr wrap="square">
            <a:spAutoFit/>
          </a:bodyPr>
          <a:lstStyle/>
          <a:p>
            <a:r>
              <a:rPr lang="ro-RO" dirty="0" smtClean="0">
                <a:effectLst/>
                <a:latin typeface="Times New Roman" panose="02020603050405020304" pitchFamily="18" charset="0"/>
                <a:ea typeface="Times New Roman" panose="02020603050405020304" pitchFamily="18" charset="0"/>
              </a:rPr>
              <a:t>Numai pentru diferitele tipuri de </a:t>
            </a:r>
            <a:r>
              <a:rPr lang="ro-RO" dirty="0" err="1" smtClean="0">
                <a:effectLst/>
                <a:latin typeface="Times New Roman" panose="02020603050405020304" pitchFamily="18" charset="0"/>
                <a:ea typeface="Times New Roman" panose="02020603050405020304" pitchFamily="18" charset="0"/>
              </a:rPr>
              <a:t>mişcări</a:t>
            </a:r>
            <a:r>
              <a:rPr lang="ro-RO" dirty="0" smtClean="0">
                <a:effectLst/>
                <a:latin typeface="Times New Roman" panose="02020603050405020304" pitchFamily="18" charset="0"/>
                <a:ea typeface="Times New Roman" panose="02020603050405020304" pitchFamily="18" charset="0"/>
              </a:rPr>
              <a:t> ale acestora este generată o întreagă gamă de evenimente. Pentru toate acestea va trebui să </a:t>
            </a:r>
            <a:r>
              <a:rPr lang="ro-RO" dirty="0" err="1" smtClean="0">
                <a:effectLst/>
                <a:latin typeface="Times New Roman" panose="02020603050405020304" pitchFamily="18" charset="0"/>
                <a:ea typeface="Times New Roman" panose="02020603050405020304" pitchFamily="18" charset="0"/>
              </a:rPr>
              <a:t>folosiţi</a:t>
            </a:r>
            <a:r>
              <a:rPr lang="ro-RO" dirty="0" smtClean="0">
                <a:effectLst/>
                <a:latin typeface="Times New Roman" panose="02020603050405020304" pitchFamily="18" charset="0"/>
                <a:ea typeface="Times New Roman" panose="02020603050405020304" pitchFamily="18" charset="0"/>
              </a:rPr>
              <a:t> metoda </a:t>
            </a:r>
            <a:r>
              <a:rPr lang="ro-RO" dirty="0" err="1" smtClean="0">
                <a:effectLst/>
                <a:latin typeface="Times New Roman" panose="02020603050405020304" pitchFamily="18" charset="0"/>
                <a:ea typeface="Times New Roman" panose="02020603050405020304" pitchFamily="18" charset="0"/>
              </a:rPr>
              <a:t>handleEvent</a:t>
            </a:r>
            <a:r>
              <a:rPr lang="ro-RO" dirty="0" smtClean="0">
                <a:effectLst/>
                <a:latin typeface="Times New Roman" panose="02020603050405020304" pitchFamily="18" charset="0"/>
                <a:ea typeface="Times New Roman" panose="02020603050405020304" pitchFamily="18" charset="0"/>
              </a:rPr>
              <a:t>().</a:t>
            </a:r>
            <a:endParaRPr lang="ro-RO" dirty="0"/>
          </a:p>
        </p:txBody>
      </p:sp>
    </p:spTree>
    <p:extLst>
      <p:ext uri="{BB962C8B-B14F-4D97-AF65-F5344CB8AC3E}">
        <p14:creationId xmlns:p14="http://schemas.microsoft.com/office/powerpoint/2010/main" val="1199363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b="1" dirty="0"/>
              <a:t>Ferestre, cadre </a:t>
            </a:r>
            <a:r>
              <a:rPr lang="ro-RO" b="1" dirty="0" err="1"/>
              <a:t>şi</a:t>
            </a:r>
            <a:r>
              <a:rPr lang="ro-RO" b="1" dirty="0"/>
              <a:t> casete de </a:t>
            </a:r>
            <a:r>
              <a:rPr lang="ro-RO" b="1" dirty="0" smtClean="0"/>
              <a:t>dialog</a:t>
            </a:r>
            <a:r>
              <a:rPr lang="en-US" b="1" dirty="0" smtClean="0"/>
              <a:t>. </a:t>
            </a:r>
            <a:r>
              <a:rPr lang="ro-RO" b="1" dirty="0"/>
              <a:t>Clasele </a:t>
            </a:r>
            <a:r>
              <a:rPr lang="ro-RO" b="1" dirty="0" err="1" smtClean="0"/>
              <a:t>Window</a:t>
            </a:r>
            <a:endParaRPr lang="ro-RO" dirty="0"/>
          </a:p>
        </p:txBody>
      </p:sp>
      <p:sp>
        <p:nvSpPr>
          <p:cNvPr id="3" name="Content Placeholder 2"/>
          <p:cNvSpPr>
            <a:spLocks noGrp="1"/>
          </p:cNvSpPr>
          <p:nvPr>
            <p:ph idx="1"/>
          </p:nvPr>
        </p:nvSpPr>
        <p:spPr/>
        <p:txBody>
          <a:bodyPr>
            <a:normAutofit fontScale="92500" lnSpcReduction="20000"/>
          </a:bodyPr>
          <a:lstStyle/>
          <a:p>
            <a:r>
              <a:rPr lang="ro-RO" dirty="0"/>
              <a:t>Clasele AWT care produc ferestre sau casete de dialog </a:t>
            </a:r>
            <a:r>
              <a:rPr lang="ro-RO" dirty="0" err="1"/>
              <a:t>moştenesc</a:t>
            </a:r>
            <a:r>
              <a:rPr lang="ro-RO" dirty="0"/>
              <a:t> o clasă comună, </a:t>
            </a:r>
            <a:r>
              <a:rPr lang="ro-RO" b="1" dirty="0" err="1"/>
              <a:t>Window</a:t>
            </a:r>
            <a:r>
              <a:rPr lang="ro-RO" dirty="0"/>
              <a:t>. Clasa </a:t>
            </a:r>
            <a:r>
              <a:rPr lang="ro-RO" b="1" dirty="0" err="1"/>
              <a:t>Window</a:t>
            </a:r>
            <a:r>
              <a:rPr lang="ro-RO" dirty="0"/>
              <a:t> </a:t>
            </a:r>
            <a:r>
              <a:rPr lang="ro-RO" dirty="0" err="1"/>
              <a:t>moşteneşte</a:t>
            </a:r>
            <a:r>
              <a:rPr lang="ro-RO" dirty="0"/>
              <a:t> clasa </a:t>
            </a:r>
            <a:r>
              <a:rPr lang="ro-RO" b="1" dirty="0"/>
              <a:t>Container</a:t>
            </a:r>
            <a:r>
              <a:rPr lang="ro-RO" dirty="0"/>
              <a:t>, ca </a:t>
            </a:r>
            <a:r>
              <a:rPr lang="ro-RO" dirty="0" err="1"/>
              <a:t>şi</a:t>
            </a:r>
            <a:r>
              <a:rPr lang="ro-RO" dirty="0"/>
              <a:t> componentele panou </a:t>
            </a:r>
            <a:r>
              <a:rPr lang="ro-RO" dirty="0" err="1"/>
              <a:t>şi</a:t>
            </a:r>
            <a:r>
              <a:rPr lang="ro-RO" dirty="0"/>
              <a:t> </a:t>
            </a:r>
            <a:r>
              <a:rPr lang="ro-RO" dirty="0" err="1"/>
              <a:t>applet</a:t>
            </a:r>
            <a:r>
              <a:rPr lang="ro-RO" dirty="0"/>
              <a:t>, </a:t>
            </a:r>
            <a:r>
              <a:rPr lang="ro-RO" dirty="0" err="1"/>
              <a:t>şi</a:t>
            </a:r>
            <a:r>
              <a:rPr lang="ro-RO" dirty="0"/>
              <a:t> oferă un comportament generic pentru toate elementele derivate din ferestre.</a:t>
            </a:r>
          </a:p>
          <a:p>
            <a:r>
              <a:rPr lang="ro-RO" dirty="0"/>
              <a:t>De obicei nu se folosesc </a:t>
            </a:r>
            <a:r>
              <a:rPr lang="ro-RO" dirty="0" err="1"/>
              <a:t>instanţe</a:t>
            </a:r>
            <a:r>
              <a:rPr lang="ro-RO" dirty="0"/>
              <a:t> ale clasei </a:t>
            </a:r>
            <a:r>
              <a:rPr lang="ro-RO" b="1" dirty="0" err="1"/>
              <a:t>Window</a:t>
            </a:r>
            <a:r>
              <a:rPr lang="ro-RO" dirty="0"/>
              <a:t>, ci ale celor două subclase principale ale sale: </a:t>
            </a:r>
            <a:r>
              <a:rPr lang="ro-RO" b="1" dirty="0" err="1"/>
              <a:t>Frame</a:t>
            </a:r>
            <a:r>
              <a:rPr lang="ro-RO" dirty="0"/>
              <a:t> </a:t>
            </a:r>
            <a:r>
              <a:rPr lang="ro-RO" dirty="0" err="1"/>
              <a:t>şi</a:t>
            </a:r>
            <a:r>
              <a:rPr lang="ro-RO" dirty="0"/>
              <a:t> </a:t>
            </a:r>
            <a:r>
              <a:rPr lang="ro-RO" b="1" dirty="0"/>
              <a:t>Dialog</a:t>
            </a:r>
            <a:r>
              <a:rPr lang="ro-RO" dirty="0"/>
              <a:t>.</a:t>
            </a:r>
          </a:p>
          <a:p>
            <a:r>
              <a:rPr lang="ro-RO" dirty="0"/>
              <a:t>Clasa </a:t>
            </a:r>
            <a:r>
              <a:rPr lang="ro-RO" b="1" dirty="0" err="1"/>
              <a:t>Frame</a:t>
            </a:r>
            <a:r>
              <a:rPr lang="ro-RO" dirty="0"/>
              <a:t> (cadru) oferă o fereastră care </a:t>
            </a:r>
            <a:r>
              <a:rPr lang="ro-RO" dirty="0" err="1"/>
              <a:t>conţine</a:t>
            </a:r>
            <a:r>
              <a:rPr lang="ro-RO" dirty="0"/>
              <a:t> o bară de titlu, butoane de închidere </a:t>
            </a:r>
            <a:r>
              <a:rPr lang="ro-RO" dirty="0" err="1"/>
              <a:t>şi</a:t>
            </a:r>
            <a:r>
              <a:rPr lang="ro-RO" dirty="0"/>
              <a:t> alte elemente specifice unei ferestre pentru un anumit sistem. De asemenea, cadrele permit adăugarea unor bare de meniuri. Clasa </a:t>
            </a:r>
            <a:r>
              <a:rPr lang="ro-RO" b="1" dirty="0"/>
              <a:t>Dialog</a:t>
            </a:r>
            <a:r>
              <a:rPr lang="ro-RO" dirty="0"/>
              <a:t> este o variantă mai limitată a clasei </a:t>
            </a:r>
            <a:r>
              <a:rPr lang="ro-RO" b="1" dirty="0" err="1"/>
              <a:t>Frame</a:t>
            </a:r>
            <a:r>
              <a:rPr lang="ro-RO" dirty="0"/>
              <a:t>, care, de obicei, nu are un titlu. </a:t>
            </a:r>
            <a:r>
              <a:rPr lang="ro-RO" b="1" dirty="0" err="1"/>
              <a:t>FileDialog</a:t>
            </a:r>
            <a:r>
              <a:rPr lang="ro-RO" dirty="0"/>
              <a:t>, o subclasă a clasei </a:t>
            </a:r>
            <a:r>
              <a:rPr lang="ro-RO" b="1" dirty="0"/>
              <a:t>Dialog</a:t>
            </a:r>
            <a:r>
              <a:rPr lang="ro-RO" dirty="0"/>
              <a:t>, oferă o casetă de dialog standard pentru alegerea unui </a:t>
            </a:r>
            <a:r>
              <a:rPr lang="ro-RO" dirty="0" err="1"/>
              <a:t>fişier</a:t>
            </a:r>
            <a:r>
              <a:rPr lang="ro-RO" dirty="0"/>
              <a:t> (de obicei, aceasta poate fi folosită doar în cadrul </a:t>
            </a:r>
            <a:r>
              <a:rPr lang="ro-RO" dirty="0" err="1"/>
              <a:t>aplicaţiilor</a:t>
            </a:r>
            <a:r>
              <a:rPr lang="ro-RO" dirty="0"/>
              <a:t> Java, deoarece </a:t>
            </a:r>
            <a:r>
              <a:rPr lang="ro-RO" dirty="0" err="1"/>
              <a:t>applet</a:t>
            </a:r>
            <a:r>
              <a:rPr lang="ro-RO" dirty="0"/>
              <a:t>-urile impun </a:t>
            </a:r>
            <a:r>
              <a:rPr lang="ro-RO" dirty="0" err="1"/>
              <a:t>restricţii</a:t>
            </a:r>
            <a:r>
              <a:rPr lang="ro-RO" dirty="0"/>
              <a:t> de securitate).</a:t>
            </a:r>
          </a:p>
          <a:p>
            <a:r>
              <a:rPr lang="ro-RO" dirty="0"/>
              <a:t>Pentru a adăuga o fereastră sau o casetă de dialog în </a:t>
            </a:r>
            <a:r>
              <a:rPr lang="ro-RO" dirty="0" err="1"/>
              <a:t>applet-ul</a:t>
            </a:r>
            <a:r>
              <a:rPr lang="ro-RO" dirty="0"/>
              <a:t> sau </a:t>
            </a:r>
            <a:r>
              <a:rPr lang="ro-RO" dirty="0" err="1"/>
              <a:t>aplicaţia</a:t>
            </a:r>
            <a:r>
              <a:rPr lang="ro-RO" dirty="0"/>
              <a:t> dumneavoastră trebuie să </a:t>
            </a:r>
            <a:r>
              <a:rPr lang="ro-RO" dirty="0" err="1"/>
              <a:t>creaţi</a:t>
            </a:r>
            <a:r>
              <a:rPr lang="ro-RO" dirty="0"/>
              <a:t> subclase ale claselor </a:t>
            </a:r>
            <a:r>
              <a:rPr lang="ro-RO" b="1" dirty="0" err="1"/>
              <a:t>Frame</a:t>
            </a:r>
            <a:r>
              <a:rPr lang="ro-RO" dirty="0"/>
              <a:t> sau </a:t>
            </a:r>
            <a:r>
              <a:rPr lang="ro-RO" b="1" dirty="0"/>
              <a:t>Dialog</a:t>
            </a:r>
            <a:r>
              <a:rPr lang="ro-RO" dirty="0"/>
              <a:t>.</a:t>
            </a:r>
          </a:p>
          <a:p>
            <a:r>
              <a:rPr lang="ro-RO" dirty="0"/>
              <a:t> </a:t>
            </a:r>
          </a:p>
          <a:p>
            <a:endParaRPr lang="ro-RO" dirty="0"/>
          </a:p>
        </p:txBody>
      </p:sp>
    </p:spTree>
    <p:extLst>
      <p:ext uri="{BB962C8B-B14F-4D97-AF65-F5344CB8AC3E}">
        <p14:creationId xmlns:p14="http://schemas.microsoft.com/office/powerpoint/2010/main" val="7558294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Cadre</a:t>
            </a:r>
          </a:p>
        </p:txBody>
      </p:sp>
      <p:sp>
        <p:nvSpPr>
          <p:cNvPr id="3" name="Content Placeholder 2"/>
          <p:cNvSpPr>
            <a:spLocks noGrp="1"/>
          </p:cNvSpPr>
          <p:nvPr>
            <p:ph idx="1"/>
          </p:nvPr>
        </p:nvSpPr>
        <p:spPr/>
        <p:txBody>
          <a:bodyPr/>
          <a:lstStyle/>
          <a:p>
            <a:r>
              <a:rPr lang="ro-RO" b="1" i="1" dirty="0"/>
              <a:t>Cadrele</a:t>
            </a:r>
            <a:r>
              <a:rPr lang="ro-RO" dirty="0"/>
              <a:t> (</a:t>
            </a:r>
            <a:r>
              <a:rPr lang="ro-RO" dirty="0" err="1" smtClean="0"/>
              <a:t>frame</a:t>
            </a:r>
            <a:endParaRPr lang="en-US" dirty="0" smtClean="0"/>
          </a:p>
          <a:p>
            <a:r>
              <a:rPr lang="ro-RO" dirty="0"/>
              <a:t>Un cadru reprezintă o fereastră specifică unei anumite platforme, care </a:t>
            </a:r>
            <a:r>
              <a:rPr lang="ro-RO" dirty="0" err="1"/>
              <a:t>conţine</a:t>
            </a:r>
            <a:r>
              <a:rPr lang="ro-RO" dirty="0"/>
              <a:t> un titlu, o bară de meniuri, butoane de închidere </a:t>
            </a:r>
            <a:r>
              <a:rPr lang="ro-RO" dirty="0" err="1"/>
              <a:t>şi</a:t>
            </a:r>
            <a:r>
              <a:rPr lang="ro-RO" dirty="0"/>
              <a:t> de redimensionare </a:t>
            </a:r>
            <a:r>
              <a:rPr lang="ro-RO" dirty="0" err="1"/>
              <a:t>şi</a:t>
            </a:r>
            <a:r>
              <a:rPr lang="ro-RO" dirty="0"/>
              <a:t> alte elemente specifice unei ferestre.</a:t>
            </a:r>
          </a:p>
          <a:p>
            <a:r>
              <a:rPr lang="ro-RO" dirty="0"/>
              <a:t>Pentru a crea un cadru se </a:t>
            </a:r>
            <a:r>
              <a:rPr lang="ro-RO" dirty="0" err="1"/>
              <a:t>foloseşte</a:t>
            </a:r>
            <a:r>
              <a:rPr lang="ro-RO" dirty="0"/>
              <a:t> unul din următorii constructori:</a:t>
            </a:r>
          </a:p>
          <a:p>
            <a:pPr lvl="0"/>
            <a:r>
              <a:rPr lang="ro-RO" b="1" dirty="0" err="1"/>
              <a:t>new</a:t>
            </a:r>
            <a:r>
              <a:rPr lang="ro-RO" b="1" dirty="0"/>
              <a:t> </a:t>
            </a:r>
            <a:r>
              <a:rPr lang="ro-RO" b="1" dirty="0" err="1"/>
              <a:t>Frame</a:t>
            </a:r>
            <a:r>
              <a:rPr lang="ro-RO" b="1" dirty="0"/>
              <a:t> ()</a:t>
            </a:r>
            <a:r>
              <a:rPr lang="ro-RO" dirty="0"/>
              <a:t> creează un cadru simplu, fără titlu.</a:t>
            </a:r>
          </a:p>
          <a:p>
            <a:r>
              <a:rPr lang="ro-RO" b="1" dirty="0" err="1"/>
              <a:t>new</a:t>
            </a:r>
            <a:r>
              <a:rPr lang="ro-RO" b="1" dirty="0"/>
              <a:t> </a:t>
            </a:r>
            <a:r>
              <a:rPr lang="ro-RO" b="1" dirty="0" err="1"/>
              <a:t>Frame</a:t>
            </a:r>
            <a:r>
              <a:rPr lang="ro-RO" b="1" dirty="0"/>
              <a:t> (</a:t>
            </a:r>
            <a:r>
              <a:rPr lang="ro-RO" b="1" i="1" dirty="0" err="1"/>
              <a:t>String</a:t>
            </a:r>
            <a:r>
              <a:rPr lang="ro-RO" b="1" i="1" dirty="0"/>
              <a:t>)</a:t>
            </a:r>
            <a:r>
              <a:rPr lang="ro-RO" dirty="0"/>
              <a:t> creează un cadru simplu, cu titlul dat de </a:t>
            </a:r>
            <a:r>
              <a:rPr lang="ro-RO" dirty="0" err="1"/>
              <a:t>şirul</a:t>
            </a:r>
            <a:r>
              <a:rPr lang="ro-RO" dirty="0"/>
              <a:t> primit ca </a:t>
            </a:r>
            <a:r>
              <a:rPr lang="ro-RO" dirty="0" err="1"/>
              <a:t>argument.</a:t>
            </a:r>
            <a:r>
              <a:rPr lang="ro-RO" dirty="0" err="1" smtClean="0"/>
              <a:t>s</a:t>
            </a:r>
            <a:r>
              <a:rPr lang="ro-RO" dirty="0"/>
              <a:t>) sunt ferestre </a:t>
            </a:r>
            <a:r>
              <a:rPr lang="ro-RO" dirty="0" smtClean="0"/>
              <a:t>independente</a:t>
            </a:r>
            <a:endParaRPr lang="en-US" dirty="0" smtClean="0"/>
          </a:p>
          <a:p>
            <a:r>
              <a:rPr lang="ro-RO" dirty="0"/>
              <a:t>Deoarece cadrele </a:t>
            </a:r>
            <a:r>
              <a:rPr lang="ro-RO" dirty="0" err="1"/>
              <a:t>moştenesc</a:t>
            </a:r>
            <a:r>
              <a:rPr lang="ro-RO" dirty="0"/>
              <a:t> clasa </a:t>
            </a:r>
            <a:r>
              <a:rPr lang="ro-RO" b="1" dirty="0" err="1"/>
              <a:t>Window</a:t>
            </a:r>
            <a:r>
              <a:rPr lang="ro-RO" dirty="0"/>
              <a:t>, care </a:t>
            </a:r>
            <a:r>
              <a:rPr lang="ro-RO" dirty="0" err="1"/>
              <a:t>moşteneşte</a:t>
            </a:r>
            <a:r>
              <a:rPr lang="ro-RO" dirty="0"/>
              <a:t> clasa </a:t>
            </a:r>
            <a:r>
              <a:rPr lang="ro-RO" b="1" dirty="0"/>
              <a:t>Container</a:t>
            </a:r>
            <a:r>
              <a:rPr lang="ro-RO" dirty="0"/>
              <a:t>, care </a:t>
            </a:r>
            <a:r>
              <a:rPr lang="ro-RO" dirty="0" err="1"/>
              <a:t>moşteneşte</a:t>
            </a:r>
            <a:r>
              <a:rPr lang="ro-RO" dirty="0"/>
              <a:t> clasa </a:t>
            </a:r>
            <a:r>
              <a:rPr lang="ro-RO" b="1" dirty="0"/>
              <a:t>Component</a:t>
            </a:r>
            <a:r>
              <a:rPr lang="ro-RO" dirty="0"/>
              <a:t>, cadrele sunt create </a:t>
            </a:r>
            <a:r>
              <a:rPr lang="ro-RO" dirty="0" err="1"/>
              <a:t>şi</a:t>
            </a:r>
            <a:r>
              <a:rPr lang="ro-RO" dirty="0"/>
              <a:t> folosite cam în </a:t>
            </a:r>
            <a:r>
              <a:rPr lang="ro-RO" dirty="0" err="1"/>
              <a:t>acelaşi</a:t>
            </a:r>
            <a:r>
              <a:rPr lang="ro-RO" dirty="0"/>
              <a:t> fel cu celelalte componente AWT. </a:t>
            </a:r>
            <a:endParaRPr lang="en-US" dirty="0" smtClean="0"/>
          </a:p>
          <a:p>
            <a:r>
              <a:rPr lang="ro-RO" dirty="0"/>
              <a:t>Dispunerea prestabilită pentru cadre este </a:t>
            </a:r>
            <a:r>
              <a:rPr lang="ro-RO" b="1" dirty="0" err="1"/>
              <a:t>BorderLayout</a:t>
            </a:r>
            <a:r>
              <a:rPr lang="ro-RO" b="1" dirty="0"/>
              <a:t>.</a:t>
            </a:r>
            <a:endParaRPr lang="ro-RO" dirty="0"/>
          </a:p>
        </p:txBody>
      </p:sp>
    </p:spTree>
    <p:extLst>
      <p:ext uri="{BB962C8B-B14F-4D97-AF65-F5344CB8AC3E}">
        <p14:creationId xmlns:p14="http://schemas.microsoft.com/office/powerpoint/2010/main" val="2583416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Exemple</a:t>
            </a:r>
            <a:endParaRPr lang="ro-RO" dirty="0"/>
          </a:p>
        </p:txBody>
      </p:sp>
      <p:sp>
        <p:nvSpPr>
          <p:cNvPr id="3" name="Content Placeholder 2"/>
          <p:cNvSpPr>
            <a:spLocks noGrp="1"/>
          </p:cNvSpPr>
          <p:nvPr>
            <p:ph idx="1"/>
          </p:nvPr>
        </p:nvSpPr>
        <p:spPr/>
        <p:txBody>
          <a:bodyPr>
            <a:normAutofit lnSpcReduction="10000"/>
          </a:bodyPr>
          <a:lstStyle/>
          <a:p>
            <a:r>
              <a:rPr lang="ro-RO" dirty="0" err="1"/>
              <a:t>win</a:t>
            </a:r>
            <a:r>
              <a:rPr lang="ro-RO" dirty="0"/>
              <a:t> = </a:t>
            </a:r>
            <a:r>
              <a:rPr lang="ro-RO" dirty="0" err="1"/>
              <a:t>new</a:t>
            </a:r>
            <a:r>
              <a:rPr lang="ro-RO" dirty="0"/>
              <a:t> </a:t>
            </a:r>
            <a:r>
              <a:rPr lang="ro-RO" dirty="0" err="1"/>
              <a:t>Frame</a:t>
            </a:r>
            <a:r>
              <a:rPr lang="ro-RO" dirty="0"/>
              <a:t>("Fereastra mea") ;</a:t>
            </a:r>
          </a:p>
          <a:p>
            <a:r>
              <a:rPr lang="ro-RO" dirty="0" err="1"/>
              <a:t>win.setLayout</a:t>
            </a:r>
            <a:r>
              <a:rPr lang="ro-RO" dirty="0"/>
              <a:t>(</a:t>
            </a:r>
            <a:r>
              <a:rPr lang="ro-RO" dirty="0" err="1"/>
              <a:t>new</a:t>
            </a:r>
            <a:r>
              <a:rPr lang="ro-RO" dirty="0"/>
              <a:t> </a:t>
            </a:r>
            <a:r>
              <a:rPr lang="ro-RO" dirty="0" err="1"/>
              <a:t>BorderLayout</a:t>
            </a:r>
            <a:r>
              <a:rPr lang="ro-RO" dirty="0"/>
              <a:t>(10, 20));</a:t>
            </a:r>
          </a:p>
          <a:p>
            <a:r>
              <a:rPr lang="ro-RO" dirty="0" err="1"/>
              <a:t>win.add</a:t>
            </a:r>
            <a:r>
              <a:rPr lang="ro-RO" dirty="0"/>
              <a:t>("</a:t>
            </a:r>
            <a:r>
              <a:rPr lang="ro-RO" dirty="0" err="1"/>
              <a:t>North</a:t>
            </a:r>
            <a:r>
              <a:rPr lang="ro-RO" dirty="0"/>
              <a:t>", </a:t>
            </a:r>
            <a:r>
              <a:rPr lang="ro-RO" dirty="0" err="1"/>
              <a:t>new</a:t>
            </a:r>
            <a:r>
              <a:rPr lang="ro-RO" dirty="0"/>
              <a:t> </a:t>
            </a:r>
            <a:r>
              <a:rPr lang="ro-RO" dirty="0" err="1"/>
              <a:t>Button</a:t>
            </a:r>
            <a:r>
              <a:rPr lang="ro-RO" dirty="0"/>
              <a:t>("Start")) ;</a:t>
            </a:r>
          </a:p>
          <a:p>
            <a:r>
              <a:rPr lang="ro-RO" dirty="0" err="1"/>
              <a:t>win.add</a:t>
            </a:r>
            <a:r>
              <a:rPr lang="ro-RO" dirty="0"/>
              <a:t>("Center", </a:t>
            </a:r>
            <a:r>
              <a:rPr lang="ro-RO" dirty="0" err="1"/>
              <a:t>new</a:t>
            </a:r>
            <a:r>
              <a:rPr lang="ro-RO" dirty="0"/>
              <a:t> </a:t>
            </a:r>
            <a:r>
              <a:rPr lang="ro-RO" dirty="0" err="1"/>
              <a:t>Button</a:t>
            </a:r>
            <a:r>
              <a:rPr lang="ro-RO" dirty="0"/>
              <a:t>("Mutare"));</a:t>
            </a:r>
          </a:p>
          <a:p>
            <a:r>
              <a:rPr lang="ro-RO" dirty="0"/>
              <a:t>Pentru a stabili dimensiunea noului cadru se </a:t>
            </a:r>
            <a:r>
              <a:rPr lang="ro-RO" dirty="0" err="1"/>
              <a:t>foloseşte</a:t>
            </a:r>
            <a:r>
              <a:rPr lang="ro-RO" dirty="0"/>
              <a:t> metoda </a:t>
            </a:r>
            <a:r>
              <a:rPr lang="ro-RO" b="1" dirty="0" err="1"/>
              <a:t>resize</a:t>
            </a:r>
            <a:r>
              <a:rPr lang="ro-RO" dirty="0"/>
              <a:t> </a:t>
            </a:r>
            <a:r>
              <a:rPr lang="ro-RO" dirty="0" smtClean="0"/>
              <a:t>()</a:t>
            </a:r>
            <a:r>
              <a:rPr lang="en-US" dirty="0" smtClean="0"/>
              <a:t>:</a:t>
            </a:r>
          </a:p>
          <a:p>
            <a:r>
              <a:rPr lang="ro-RO" dirty="0" err="1"/>
              <a:t>win.resize</a:t>
            </a:r>
            <a:r>
              <a:rPr lang="ro-RO" dirty="0"/>
              <a:t>(100, 200);</a:t>
            </a:r>
          </a:p>
          <a:p>
            <a:r>
              <a:rPr lang="ro-RO" dirty="0"/>
              <a:t>Metoda </a:t>
            </a:r>
            <a:r>
              <a:rPr lang="ro-RO" b="1" dirty="0" err="1"/>
              <a:t>pack</a:t>
            </a:r>
            <a:r>
              <a:rPr lang="ro-RO" dirty="0"/>
              <a:t>(), care nu </a:t>
            </a:r>
            <a:r>
              <a:rPr lang="ro-RO" dirty="0" err="1"/>
              <a:t>primeşte</a:t>
            </a:r>
            <a:r>
              <a:rPr lang="ro-RO" dirty="0"/>
              <a:t> argumente, creează o fereastră de cea mai mică dimensiune posibilă</a:t>
            </a:r>
            <a:r>
              <a:rPr lang="ro-RO" dirty="0" smtClean="0"/>
              <a:t>,</a:t>
            </a:r>
            <a:endParaRPr lang="en-US" dirty="0" smtClean="0"/>
          </a:p>
          <a:p>
            <a:r>
              <a:rPr lang="en-US" dirty="0" err="1" smtClean="0"/>
              <a:t>Pentru</a:t>
            </a:r>
            <a:r>
              <a:rPr lang="en-US" dirty="0" smtClean="0"/>
              <a:t> a </a:t>
            </a:r>
            <a:r>
              <a:rPr lang="en-US" dirty="0" err="1" smtClean="0"/>
              <a:t>afisa</a:t>
            </a:r>
            <a:r>
              <a:rPr lang="en-US" dirty="0" smtClean="0"/>
              <a:t> o </a:t>
            </a:r>
            <a:r>
              <a:rPr lang="en-US" dirty="0" err="1" smtClean="0"/>
              <a:t>fereastra</a:t>
            </a:r>
            <a:r>
              <a:rPr lang="en-US" dirty="0" smtClean="0"/>
              <a:t> se </a:t>
            </a:r>
            <a:r>
              <a:rPr lang="en-US" dirty="0" err="1" smtClean="0"/>
              <a:t>foloseste</a:t>
            </a:r>
            <a:r>
              <a:rPr lang="en-US" dirty="0" smtClean="0"/>
              <a:t> </a:t>
            </a:r>
            <a:r>
              <a:rPr lang="en-US" dirty="0" err="1" smtClean="0"/>
              <a:t>metoda</a:t>
            </a:r>
            <a:r>
              <a:rPr lang="en-US" dirty="0" smtClean="0"/>
              <a:t> show():</a:t>
            </a:r>
          </a:p>
          <a:p>
            <a:r>
              <a:rPr lang="ro-RO" dirty="0" err="1"/>
              <a:t>win.show</a:t>
            </a:r>
            <a:r>
              <a:rPr lang="ro-RO" dirty="0"/>
              <a:t>() ;</a:t>
            </a:r>
          </a:p>
          <a:p>
            <a:endParaRPr lang="ro-RO" dirty="0"/>
          </a:p>
        </p:txBody>
      </p:sp>
    </p:spTree>
    <p:extLst>
      <p:ext uri="{BB962C8B-B14F-4D97-AF65-F5344CB8AC3E}">
        <p14:creationId xmlns:p14="http://schemas.microsoft.com/office/powerpoint/2010/main" val="27233401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Casete de dialog</a:t>
            </a:r>
            <a:br>
              <a:rPr lang="ro-RO" b="1" dirty="0"/>
            </a:br>
            <a:endParaRPr lang="ro-RO" dirty="0"/>
          </a:p>
        </p:txBody>
      </p:sp>
      <p:sp>
        <p:nvSpPr>
          <p:cNvPr id="3" name="Content Placeholder 2"/>
          <p:cNvSpPr>
            <a:spLocks noGrp="1"/>
          </p:cNvSpPr>
          <p:nvPr>
            <p:ph idx="1"/>
          </p:nvPr>
        </p:nvSpPr>
        <p:spPr/>
        <p:txBody>
          <a:bodyPr/>
          <a:lstStyle/>
          <a:p>
            <a:r>
              <a:rPr lang="en-US" dirty="0"/>
              <a:t>S</a:t>
            </a:r>
            <a:r>
              <a:rPr lang="ro-RO" dirty="0" smtClean="0"/>
              <a:t>unt </a:t>
            </a:r>
            <a:r>
              <a:rPr lang="ro-RO" dirty="0"/>
              <a:t>destinate pentru a fi folosite drept ferestre temporare – adică pentru a vă prezenta mesaje de avertizare, pentru a vă cere anumite </a:t>
            </a:r>
            <a:r>
              <a:rPr lang="ro-RO" dirty="0" err="1"/>
              <a:t>informaţii</a:t>
            </a:r>
            <a:r>
              <a:rPr lang="ro-RO" dirty="0"/>
              <a:t> </a:t>
            </a:r>
            <a:r>
              <a:rPr lang="ro-RO" dirty="0" err="1"/>
              <a:t>şi</a:t>
            </a:r>
            <a:r>
              <a:rPr lang="ro-RO" dirty="0"/>
              <a:t> </a:t>
            </a:r>
            <a:r>
              <a:rPr lang="ro-RO" dirty="0" err="1"/>
              <a:t>aşa</a:t>
            </a:r>
            <a:r>
              <a:rPr lang="ro-RO" dirty="0"/>
              <a:t> mai departe.</a:t>
            </a:r>
          </a:p>
          <a:p>
            <a:r>
              <a:rPr lang="ro-RO" dirty="0" smtClean="0"/>
              <a:t>AWT </a:t>
            </a:r>
            <a:r>
              <a:rPr lang="ro-RO" dirty="0"/>
              <a:t>oferă două tipuri de casete de dialog: clasa </a:t>
            </a:r>
            <a:r>
              <a:rPr lang="ro-RO" b="1" dirty="0"/>
              <a:t>Dialog</a:t>
            </a:r>
            <a:r>
              <a:rPr lang="ro-RO" dirty="0"/>
              <a:t>, care produce o casetă de dialog generică, </a:t>
            </a:r>
            <a:r>
              <a:rPr lang="ro-RO" dirty="0" err="1"/>
              <a:t>şi</a:t>
            </a:r>
            <a:r>
              <a:rPr lang="ro-RO" dirty="0"/>
              <a:t> </a:t>
            </a:r>
            <a:r>
              <a:rPr lang="ro-RO" b="1" dirty="0" err="1"/>
              <a:t>FileDialog</a:t>
            </a:r>
            <a:r>
              <a:rPr lang="ro-RO" dirty="0"/>
              <a:t>, care produce o casetă de dialog pentru căutarea de </a:t>
            </a:r>
            <a:r>
              <a:rPr lang="ro-RO" dirty="0" err="1"/>
              <a:t>fişiere</a:t>
            </a:r>
            <a:r>
              <a:rPr lang="ro-RO" dirty="0"/>
              <a:t>, specifică platformei respective</a:t>
            </a:r>
            <a:r>
              <a:rPr lang="ro-RO" dirty="0" smtClean="0"/>
              <a:t>.</a:t>
            </a:r>
            <a:endParaRPr lang="en-US" dirty="0" smtClean="0"/>
          </a:p>
          <a:p>
            <a:r>
              <a:rPr lang="ro-RO" dirty="0"/>
              <a:t>Ele pot fi definite </a:t>
            </a:r>
            <a:r>
              <a:rPr lang="ro-RO" dirty="0" err="1"/>
              <a:t>aşa</a:t>
            </a:r>
            <a:r>
              <a:rPr lang="ro-RO" dirty="0"/>
              <a:t> încât să nu fie redimensionabile sau pot fi definite drept </a:t>
            </a:r>
            <a:r>
              <a:rPr lang="ro-RO" b="1" i="1" dirty="0"/>
              <a:t>modale</a:t>
            </a:r>
            <a:r>
              <a:rPr lang="ro-RO" i="1" dirty="0"/>
              <a:t>.</a:t>
            </a:r>
            <a:endParaRPr lang="ro-RO" dirty="0"/>
          </a:p>
          <a:p>
            <a:endParaRPr lang="ro-RO" dirty="0"/>
          </a:p>
        </p:txBody>
      </p:sp>
    </p:spTree>
    <p:extLst>
      <p:ext uri="{BB962C8B-B14F-4D97-AF65-F5344CB8AC3E}">
        <p14:creationId xmlns:p14="http://schemas.microsoft.com/office/powerpoint/2010/main" val="4289247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Obiecte dialog</a:t>
            </a:r>
            <a:br>
              <a:rPr lang="ro-RO" b="1" dirty="0"/>
            </a:br>
            <a:endParaRPr lang="ro-RO" dirty="0"/>
          </a:p>
        </p:txBody>
      </p:sp>
      <p:sp>
        <p:nvSpPr>
          <p:cNvPr id="3" name="Content Placeholder 2"/>
          <p:cNvSpPr>
            <a:spLocks noGrp="1"/>
          </p:cNvSpPr>
          <p:nvPr>
            <p:ph idx="1"/>
          </p:nvPr>
        </p:nvSpPr>
        <p:spPr/>
        <p:txBody>
          <a:bodyPr/>
          <a:lstStyle/>
          <a:p>
            <a:r>
              <a:rPr lang="ro-RO" dirty="0"/>
              <a:t>Casetele de dialog se creează </a:t>
            </a:r>
            <a:r>
              <a:rPr lang="ro-RO" dirty="0" err="1"/>
              <a:t>şi</a:t>
            </a:r>
            <a:r>
              <a:rPr lang="ro-RO" dirty="0"/>
              <a:t> se folosesc asemănător ferestrelor. Pentru crearea unei casete de dialog generice se </a:t>
            </a:r>
            <a:r>
              <a:rPr lang="ro-RO" dirty="0" err="1"/>
              <a:t>foloseşte</a:t>
            </a:r>
            <a:r>
              <a:rPr lang="ro-RO" dirty="0"/>
              <a:t> unul din următorii constructori:</a:t>
            </a:r>
          </a:p>
          <a:p>
            <a:pPr lvl="0"/>
            <a:r>
              <a:rPr lang="ro-RO" b="1" i="1" dirty="0"/>
              <a:t>Dialog (</a:t>
            </a:r>
            <a:r>
              <a:rPr lang="ro-RO" b="1" i="1" dirty="0" err="1"/>
              <a:t>Frame</a:t>
            </a:r>
            <a:r>
              <a:rPr lang="ro-RO" b="1" i="1" dirty="0"/>
              <a:t>, boolean)</a:t>
            </a:r>
            <a:r>
              <a:rPr lang="ro-RO" dirty="0"/>
              <a:t> creează o casetă de dialog invizibilă, </a:t>
            </a:r>
            <a:r>
              <a:rPr lang="ro-RO" dirty="0" err="1"/>
              <a:t>ataşată</a:t>
            </a:r>
            <a:r>
              <a:rPr lang="ro-RO" dirty="0"/>
              <a:t> cadrului curent, fie modală (</a:t>
            </a:r>
            <a:r>
              <a:rPr lang="ro-RO" dirty="0" err="1"/>
              <a:t>true</a:t>
            </a:r>
            <a:r>
              <a:rPr lang="ro-RO" dirty="0"/>
              <a:t>), fie </a:t>
            </a:r>
            <a:r>
              <a:rPr lang="ro-RO" dirty="0" err="1"/>
              <a:t>nemodală</a:t>
            </a:r>
            <a:r>
              <a:rPr lang="ro-RO" dirty="0"/>
              <a:t> (false).</a:t>
            </a:r>
          </a:p>
          <a:p>
            <a:pPr lvl="0"/>
            <a:r>
              <a:rPr lang="ro-RO" b="1" i="1" dirty="0"/>
              <a:t>Dialog(</a:t>
            </a:r>
            <a:r>
              <a:rPr lang="ro-RO" b="1" i="1" dirty="0" err="1"/>
              <a:t>Frame</a:t>
            </a:r>
            <a:r>
              <a:rPr lang="ro-RO" b="1" i="1" dirty="0"/>
              <a:t>, </a:t>
            </a:r>
            <a:r>
              <a:rPr lang="ro-RO" b="1" i="1" dirty="0" err="1"/>
              <a:t>String</a:t>
            </a:r>
            <a:r>
              <a:rPr lang="ro-RO" b="1" i="1" dirty="0"/>
              <a:t>, boolean)</a:t>
            </a:r>
            <a:r>
              <a:rPr lang="ro-RO" dirty="0"/>
              <a:t> creează o casetă de dialog invizibilă, cu titlul dat de argumentul </a:t>
            </a:r>
            <a:r>
              <a:rPr lang="ro-RO" dirty="0" err="1"/>
              <a:t>şir</a:t>
            </a:r>
            <a:r>
              <a:rPr lang="ro-RO" dirty="0"/>
              <a:t>, </a:t>
            </a:r>
            <a:r>
              <a:rPr lang="ro-RO" dirty="0" err="1"/>
              <a:t>ataşată</a:t>
            </a:r>
            <a:r>
              <a:rPr lang="ro-RO" dirty="0"/>
              <a:t> cadrului curent, modală (</a:t>
            </a:r>
            <a:r>
              <a:rPr lang="ro-RO" dirty="0" err="1"/>
              <a:t>true</a:t>
            </a:r>
            <a:r>
              <a:rPr lang="ro-RO" dirty="0"/>
              <a:t>) sau nu (false). </a:t>
            </a:r>
          </a:p>
          <a:p>
            <a:r>
              <a:rPr lang="ro-RO" b="1" i="1" dirty="0"/>
              <a:t>Fereastra de dialog</a:t>
            </a:r>
            <a:r>
              <a:rPr lang="ro-RO" i="1" dirty="0"/>
              <a:t>,</a:t>
            </a:r>
            <a:r>
              <a:rPr lang="ro-RO" dirty="0"/>
              <a:t> ca </a:t>
            </a:r>
            <a:r>
              <a:rPr lang="ro-RO" dirty="0" err="1"/>
              <a:t>şi</a:t>
            </a:r>
            <a:r>
              <a:rPr lang="ro-RO" dirty="0"/>
              <a:t> cadrul de fereastră (</a:t>
            </a:r>
            <a:r>
              <a:rPr lang="ro-RO" dirty="0" err="1"/>
              <a:t>frame</a:t>
            </a:r>
            <a:r>
              <a:rPr lang="ro-RO" dirty="0"/>
              <a:t>), este un panou pe care se pot dispune </a:t>
            </a:r>
            <a:r>
              <a:rPr lang="ro-RO" dirty="0" err="1"/>
              <a:t>şi</a:t>
            </a:r>
            <a:r>
              <a:rPr lang="ro-RO" dirty="0"/>
              <a:t> desena componente de </a:t>
            </a:r>
            <a:r>
              <a:rPr lang="ro-RO" dirty="0" err="1"/>
              <a:t>interfaţă</a:t>
            </a:r>
            <a:r>
              <a:rPr lang="ro-RO" dirty="0"/>
              <a:t> sau pe care se pot realiza </a:t>
            </a:r>
            <a:r>
              <a:rPr lang="ro-RO" dirty="0" err="1"/>
              <a:t>operaţii</a:t>
            </a:r>
            <a:r>
              <a:rPr lang="ro-RO" dirty="0"/>
              <a:t> grafice, la fel cum s-ar proceda cu oricare alt panou. Ca </a:t>
            </a:r>
            <a:r>
              <a:rPr lang="ro-RO" dirty="0" err="1"/>
              <a:t>şi</a:t>
            </a:r>
            <a:r>
              <a:rPr lang="ro-RO" dirty="0"/>
              <a:t> alte ferestre, </a:t>
            </a:r>
            <a:r>
              <a:rPr lang="ro-RO" dirty="0" err="1"/>
              <a:t>şi</a:t>
            </a:r>
            <a:r>
              <a:rPr lang="ro-RO" dirty="0"/>
              <a:t> cea de dialog este </a:t>
            </a:r>
            <a:r>
              <a:rPr lang="ro-RO" dirty="0" err="1"/>
              <a:t>iniţial</a:t>
            </a:r>
            <a:r>
              <a:rPr lang="ro-RO" dirty="0"/>
              <a:t> invizibilă, însă o </a:t>
            </a:r>
            <a:r>
              <a:rPr lang="ro-RO" dirty="0" err="1"/>
              <a:t>puteţi</a:t>
            </a:r>
            <a:r>
              <a:rPr lang="ro-RO" dirty="0"/>
              <a:t> </a:t>
            </a:r>
            <a:r>
              <a:rPr lang="ro-RO" dirty="0" err="1"/>
              <a:t>afişa</a:t>
            </a:r>
            <a:r>
              <a:rPr lang="ro-RO" dirty="0"/>
              <a:t> sau ascunde folosind metodele </a:t>
            </a:r>
            <a:r>
              <a:rPr lang="ro-RO" b="1" dirty="0"/>
              <a:t>show</a:t>
            </a:r>
            <a:r>
              <a:rPr lang="ro-RO" dirty="0"/>
              <a:t>() , respectiv </a:t>
            </a:r>
            <a:r>
              <a:rPr lang="ro-RO" b="1" dirty="0" err="1"/>
              <a:t>hide</a:t>
            </a:r>
            <a:r>
              <a:rPr lang="ro-RO" dirty="0"/>
              <a:t>().</a:t>
            </a:r>
          </a:p>
          <a:p>
            <a:endParaRPr lang="ro-RO" dirty="0"/>
          </a:p>
        </p:txBody>
      </p:sp>
    </p:spTree>
    <p:extLst>
      <p:ext uri="{BB962C8B-B14F-4D97-AF65-F5344CB8AC3E}">
        <p14:creationId xmlns:p14="http://schemas.microsoft.com/office/powerpoint/2010/main" val="1956679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Casete de dialog pentru sistemul de </a:t>
            </a:r>
            <a:r>
              <a:rPr lang="ro-RO" b="1" dirty="0" err="1"/>
              <a:t>fişiere</a:t>
            </a:r>
            <a:endParaRPr lang="ro-RO" b="1" dirty="0"/>
          </a:p>
        </p:txBody>
      </p:sp>
      <p:sp>
        <p:nvSpPr>
          <p:cNvPr id="3" name="Content Placeholder 2"/>
          <p:cNvSpPr>
            <a:spLocks noGrp="1"/>
          </p:cNvSpPr>
          <p:nvPr>
            <p:ph idx="1"/>
          </p:nvPr>
        </p:nvSpPr>
        <p:spPr/>
        <p:txBody>
          <a:bodyPr/>
          <a:lstStyle/>
          <a:p>
            <a:r>
              <a:rPr lang="ro-RO" dirty="0"/>
              <a:t>Clasa </a:t>
            </a:r>
            <a:r>
              <a:rPr lang="ro-RO" b="1" dirty="0" err="1"/>
              <a:t>FileDialog</a:t>
            </a:r>
            <a:r>
              <a:rPr lang="ro-RO" dirty="0"/>
              <a:t> permite crearea unei casete de dialog de tip File Open/</a:t>
            </a:r>
            <a:r>
              <a:rPr lang="ro-RO" dirty="0" err="1"/>
              <a:t>Save</a:t>
            </a:r>
            <a:r>
              <a:rPr lang="ro-RO" dirty="0"/>
              <a:t> (pentru deschiderea sau salvarea </a:t>
            </a:r>
            <a:r>
              <a:rPr lang="ro-RO" dirty="0" err="1"/>
              <a:t>fişierelor</a:t>
            </a:r>
            <a:r>
              <a:rPr lang="ro-RO" dirty="0"/>
              <a:t>), care vă permite să </a:t>
            </a:r>
            <a:r>
              <a:rPr lang="ro-RO" dirty="0" err="1"/>
              <a:t>accesaţi</a:t>
            </a:r>
            <a:r>
              <a:rPr lang="ro-RO" dirty="0"/>
              <a:t> sistemul local de </a:t>
            </a:r>
            <a:r>
              <a:rPr lang="ro-RO" dirty="0" err="1"/>
              <a:t>fişiere</a:t>
            </a:r>
            <a:r>
              <a:rPr lang="ro-RO" dirty="0"/>
              <a:t>. </a:t>
            </a:r>
            <a:endParaRPr lang="en-US" dirty="0" smtClean="0"/>
          </a:p>
          <a:p>
            <a:r>
              <a:rPr lang="ro-RO" dirty="0"/>
              <a:t>Pentru a crea o casetă de dialog pentru </a:t>
            </a:r>
            <a:r>
              <a:rPr lang="ro-RO" dirty="0" err="1"/>
              <a:t>fişiere</a:t>
            </a:r>
            <a:r>
              <a:rPr lang="ro-RO" dirty="0"/>
              <a:t>, </a:t>
            </a:r>
            <a:r>
              <a:rPr lang="ro-RO" dirty="0" err="1"/>
              <a:t>folosiţi</a:t>
            </a:r>
            <a:r>
              <a:rPr lang="ro-RO" dirty="0"/>
              <a:t> unul din următorii constructori:</a:t>
            </a:r>
          </a:p>
          <a:p>
            <a:pPr lvl="0"/>
            <a:r>
              <a:rPr lang="ro-RO" b="1" i="1" dirty="0" err="1"/>
              <a:t>FileDialog</a:t>
            </a:r>
            <a:r>
              <a:rPr lang="ro-RO" b="1" i="1" dirty="0"/>
              <a:t>(</a:t>
            </a:r>
            <a:r>
              <a:rPr lang="ro-RO" b="1" i="1" dirty="0" err="1"/>
              <a:t>Frame</a:t>
            </a:r>
            <a:r>
              <a:rPr lang="ro-RO" b="1" i="1" dirty="0"/>
              <a:t>, </a:t>
            </a:r>
            <a:r>
              <a:rPr lang="ro-RO" b="1" i="1" dirty="0" err="1"/>
              <a:t>String</a:t>
            </a:r>
            <a:r>
              <a:rPr lang="ro-RO" b="1" i="1" dirty="0"/>
              <a:t>)</a:t>
            </a:r>
            <a:r>
              <a:rPr lang="ro-RO" dirty="0"/>
              <a:t> creează o casetă de dialog </a:t>
            </a:r>
            <a:r>
              <a:rPr lang="ro-RO" dirty="0" err="1"/>
              <a:t>ataşată</a:t>
            </a:r>
            <a:r>
              <a:rPr lang="ro-RO" dirty="0"/>
              <a:t> unui cadru dat </a:t>
            </a:r>
            <a:r>
              <a:rPr lang="ro-RO" dirty="0" err="1"/>
              <a:t>şi</a:t>
            </a:r>
            <a:r>
              <a:rPr lang="ro-RO" dirty="0"/>
              <a:t> cu un titlu dat, pentru încărcarea unui </a:t>
            </a:r>
            <a:r>
              <a:rPr lang="ro-RO" dirty="0" err="1"/>
              <a:t>fişier</a:t>
            </a:r>
            <a:r>
              <a:rPr lang="ro-RO" dirty="0"/>
              <a:t>.</a:t>
            </a:r>
          </a:p>
          <a:p>
            <a:pPr lvl="0"/>
            <a:r>
              <a:rPr lang="ro-RO" b="1" i="1" dirty="0" err="1"/>
              <a:t>FileDialog</a:t>
            </a:r>
            <a:r>
              <a:rPr lang="ro-RO" b="1" i="1" dirty="0"/>
              <a:t>(</a:t>
            </a:r>
            <a:r>
              <a:rPr lang="ro-RO" b="1" i="1" dirty="0" err="1"/>
              <a:t>Frame</a:t>
            </a:r>
            <a:r>
              <a:rPr lang="ro-RO" b="1" i="1" dirty="0"/>
              <a:t>, </a:t>
            </a:r>
            <a:r>
              <a:rPr lang="ro-RO" b="1" i="1" dirty="0" err="1"/>
              <a:t>String</a:t>
            </a:r>
            <a:r>
              <a:rPr lang="ro-RO" b="1" i="1" dirty="0"/>
              <a:t>, </a:t>
            </a:r>
            <a:r>
              <a:rPr lang="ro-RO" b="1" i="1" dirty="0" err="1"/>
              <a:t>int</a:t>
            </a:r>
            <a:r>
              <a:rPr lang="ro-RO" b="1" i="1" dirty="0"/>
              <a:t>)</a:t>
            </a:r>
            <a:r>
              <a:rPr lang="ro-RO" dirty="0"/>
              <a:t> creează tot o casetă de dialog, însă argumentul întreg este folosit pentru a stabili dacă este vorba despre o casetă de dialog pentru încărcarea sau pentru salvarea unui </a:t>
            </a:r>
            <a:r>
              <a:rPr lang="ro-RO" dirty="0" err="1"/>
              <a:t>fişier</a:t>
            </a:r>
            <a:r>
              <a:rPr lang="ro-RO" dirty="0"/>
              <a:t>. (Singura </a:t>
            </a:r>
            <a:r>
              <a:rPr lang="ro-RO" dirty="0" err="1"/>
              <a:t>diferenţă</a:t>
            </a:r>
            <a:r>
              <a:rPr lang="ro-RO" dirty="0"/>
              <a:t> este eticheta butoanelor; de fapt, această casetă de dialog nu deschide sau nu salvează nimic.) </a:t>
            </a:r>
            <a:r>
              <a:rPr lang="ro-RO" dirty="0" err="1"/>
              <a:t>Opţiunile</a:t>
            </a:r>
            <a:r>
              <a:rPr lang="ro-RO" dirty="0"/>
              <a:t> pentru acest argument sunt </a:t>
            </a:r>
            <a:r>
              <a:rPr lang="ro-RO" b="1" dirty="0" err="1"/>
              <a:t>FileDialog.LOAD</a:t>
            </a:r>
            <a:r>
              <a:rPr lang="ro-RO" dirty="0"/>
              <a:t> sau </a:t>
            </a:r>
            <a:r>
              <a:rPr lang="ro-RO" b="1" dirty="0" err="1"/>
              <a:t>FileDialog.SAVE</a:t>
            </a:r>
            <a:r>
              <a:rPr lang="ro-RO" dirty="0"/>
              <a:t>.</a:t>
            </a:r>
          </a:p>
          <a:p>
            <a:endParaRPr lang="ro-RO" dirty="0"/>
          </a:p>
        </p:txBody>
      </p:sp>
    </p:spTree>
    <p:extLst>
      <p:ext uri="{BB962C8B-B14F-4D97-AF65-F5344CB8AC3E}">
        <p14:creationId xmlns:p14="http://schemas.microsoft.com/office/powerpoint/2010/main" val="2111266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Evenimente de fereastră</a:t>
            </a:r>
            <a:br>
              <a:rPr lang="ro-RO" b="1" dirty="0"/>
            </a:br>
            <a:endParaRPr lang="ro-RO" dirty="0"/>
          </a:p>
        </p:txBody>
      </p:sp>
      <p:sp>
        <p:nvSpPr>
          <p:cNvPr id="3" name="Content Placeholder 2"/>
          <p:cNvSpPr>
            <a:spLocks noGrp="1"/>
          </p:cNvSpPr>
          <p:nvPr>
            <p:ph idx="1"/>
          </p:nvPr>
        </p:nvSpPr>
        <p:spPr/>
        <p:txBody>
          <a:bodyPr/>
          <a:lstStyle/>
          <a:p>
            <a:r>
              <a:rPr lang="ro-RO" dirty="0"/>
              <a:t>Evenimentele de fereastră apar atunci când starea unei ferestre se modifică: de exemplu, când este mutată, redimensionată, minimizată, restabilită, mutată în prim-plan sau închisă. </a:t>
            </a:r>
            <a:endParaRPr lang="en-US" dirty="0" smtClean="0"/>
          </a:p>
          <a:p>
            <a:r>
              <a:rPr lang="ro-RO" dirty="0"/>
              <a:t>metoda </a:t>
            </a:r>
            <a:r>
              <a:rPr lang="ro-RO" b="1" dirty="0" err="1"/>
              <a:t>handleEvent</a:t>
            </a:r>
            <a:r>
              <a:rPr lang="ro-RO" dirty="0"/>
              <a:t>() </a:t>
            </a:r>
            <a:endParaRPr lang="ro-RO" dirty="0"/>
          </a:p>
        </p:txBody>
      </p:sp>
      <p:graphicFrame>
        <p:nvGraphicFramePr>
          <p:cNvPr id="6" name="Table 5"/>
          <p:cNvGraphicFramePr>
            <a:graphicFrameLocks noGrp="1"/>
          </p:cNvGraphicFramePr>
          <p:nvPr>
            <p:extLst>
              <p:ext uri="{D42A27DB-BD31-4B8C-83A1-F6EECF244321}">
                <p14:modId xmlns:p14="http://schemas.microsoft.com/office/powerpoint/2010/main" val="2114483109"/>
              </p:ext>
            </p:extLst>
          </p:nvPr>
        </p:nvGraphicFramePr>
        <p:xfrm>
          <a:off x="2999740" y="3095625"/>
          <a:ext cx="8384952" cy="3017520"/>
        </p:xfrm>
        <a:graphic>
          <a:graphicData uri="http://schemas.openxmlformats.org/drawingml/2006/table">
            <a:tbl>
              <a:tblPr>
                <a:tableStyleId>{5C22544A-7EE6-4342-B048-85BDC9FD1C3A}</a:tableStyleId>
              </a:tblPr>
              <a:tblGrid>
                <a:gridCol w="2749569"/>
                <a:gridCol w="5635383"/>
              </a:tblGrid>
              <a:tr h="0">
                <a:tc>
                  <a:txBody>
                    <a:bodyPr/>
                    <a:lstStyle/>
                    <a:p>
                      <a:pPr>
                        <a:spcAft>
                          <a:spcPts val="0"/>
                        </a:spcAft>
                      </a:pPr>
                      <a:r>
                        <a:rPr lang="ro-RO" sz="1800" dirty="0">
                          <a:effectLst/>
                        </a:rPr>
                        <a:t>Numele evenimentului</a:t>
                      </a:r>
                      <a:endParaRPr lang="ro-RO" sz="2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ro-RO" sz="1800">
                          <a:effectLst/>
                        </a:rPr>
                        <a:t>Când apare</a:t>
                      </a:r>
                      <a:endParaRPr lang="ro-RO" sz="2800">
                        <a:effectLst/>
                        <a:latin typeface="Times New Roman" panose="02020603050405020304" pitchFamily="18" charset="0"/>
                        <a:ea typeface="Times New Roman" panose="02020603050405020304" pitchFamily="18" charset="0"/>
                      </a:endParaRPr>
                    </a:p>
                  </a:txBody>
                  <a:tcPr marL="68580" marR="68580" marT="0" marB="0"/>
                </a:tc>
              </a:tr>
              <a:tr h="0">
                <a:tc>
                  <a:txBody>
                    <a:bodyPr/>
                    <a:lstStyle/>
                    <a:p>
                      <a:pPr>
                        <a:spcAft>
                          <a:spcPts val="0"/>
                        </a:spcAft>
                      </a:pPr>
                      <a:r>
                        <a:rPr lang="ro-RO" sz="1800" dirty="0">
                          <a:effectLst/>
                        </a:rPr>
                        <a:t>WINDOW_DESTROY</a:t>
                      </a:r>
                      <a:endParaRPr lang="ro-RO" sz="2800" dirty="0">
                        <a:effectLst/>
                      </a:endParaRPr>
                    </a:p>
                    <a:p>
                      <a:pPr>
                        <a:spcAft>
                          <a:spcPts val="0"/>
                        </a:spcAft>
                      </a:pPr>
                      <a:r>
                        <a:rPr lang="ro-RO" sz="1800" dirty="0">
                          <a:effectLst/>
                        </a:rPr>
                        <a:t> </a:t>
                      </a:r>
                      <a:endParaRPr lang="ro-RO" sz="2800" dirty="0">
                        <a:effectLst/>
                      </a:endParaRPr>
                    </a:p>
                    <a:p>
                      <a:pPr>
                        <a:spcAft>
                          <a:spcPts val="0"/>
                        </a:spcAft>
                      </a:pPr>
                      <a:r>
                        <a:rPr lang="ro-RO" sz="1800" dirty="0">
                          <a:effectLst/>
                        </a:rPr>
                        <a:t>WINDOW_EXPOSE</a:t>
                      </a:r>
                      <a:endParaRPr lang="ro-RO" sz="2800" dirty="0">
                        <a:effectLst/>
                      </a:endParaRPr>
                    </a:p>
                    <a:p>
                      <a:pPr>
                        <a:spcAft>
                          <a:spcPts val="0"/>
                        </a:spcAft>
                      </a:pPr>
                      <a:r>
                        <a:rPr lang="ro-RO" sz="1800" dirty="0">
                          <a:effectLst/>
                        </a:rPr>
                        <a:t> </a:t>
                      </a:r>
                      <a:endParaRPr lang="ro-RO" sz="2800" dirty="0">
                        <a:effectLst/>
                      </a:endParaRPr>
                    </a:p>
                    <a:p>
                      <a:pPr>
                        <a:spcAft>
                          <a:spcPts val="0"/>
                        </a:spcAft>
                      </a:pPr>
                      <a:r>
                        <a:rPr lang="ro-RO" sz="1800" dirty="0">
                          <a:effectLst/>
                        </a:rPr>
                        <a:t>WINDOW_ICONIFY</a:t>
                      </a:r>
                      <a:endParaRPr lang="ro-RO" sz="2800" dirty="0">
                        <a:effectLst/>
                      </a:endParaRPr>
                    </a:p>
                    <a:p>
                      <a:pPr>
                        <a:spcAft>
                          <a:spcPts val="0"/>
                        </a:spcAft>
                      </a:pPr>
                      <a:r>
                        <a:rPr lang="ro-RO" sz="1800" dirty="0">
                          <a:effectLst/>
                        </a:rPr>
                        <a:t> </a:t>
                      </a:r>
                      <a:endParaRPr lang="ro-RO" sz="2800" dirty="0">
                        <a:effectLst/>
                      </a:endParaRPr>
                    </a:p>
                    <a:p>
                      <a:pPr>
                        <a:spcAft>
                          <a:spcPts val="0"/>
                        </a:spcAft>
                      </a:pPr>
                      <a:r>
                        <a:rPr lang="ro-RO" sz="1800" dirty="0">
                          <a:effectLst/>
                        </a:rPr>
                        <a:t>WINDOW_DEICONIFY</a:t>
                      </a:r>
                      <a:endParaRPr lang="ro-RO" sz="2800" dirty="0">
                        <a:effectLst/>
                      </a:endParaRPr>
                    </a:p>
                    <a:p>
                      <a:pPr>
                        <a:spcAft>
                          <a:spcPts val="0"/>
                        </a:spcAft>
                      </a:pPr>
                      <a:r>
                        <a:rPr lang="ro-RO" sz="1800" dirty="0">
                          <a:effectLst/>
                        </a:rPr>
                        <a:t> </a:t>
                      </a:r>
                      <a:endParaRPr lang="ro-RO" sz="2800" dirty="0">
                        <a:effectLst/>
                      </a:endParaRPr>
                    </a:p>
                    <a:p>
                      <a:pPr>
                        <a:spcAft>
                          <a:spcPts val="0"/>
                        </a:spcAft>
                      </a:pPr>
                      <a:r>
                        <a:rPr lang="ro-RO" sz="1800" dirty="0">
                          <a:effectLst/>
                        </a:rPr>
                        <a:t>WINDOW_MOVED</a:t>
                      </a:r>
                      <a:endParaRPr lang="ro-RO" sz="2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0"/>
                        </a:spcAft>
                      </a:pPr>
                      <a:r>
                        <a:rPr lang="ro-RO" sz="1800" dirty="0">
                          <a:effectLst/>
                        </a:rPr>
                        <a:t>Generat atunci când o fereastră este închisă folosind butonul </a:t>
                      </a:r>
                      <a:r>
                        <a:rPr lang="ro-RO" sz="1800" dirty="0" err="1">
                          <a:effectLst/>
                        </a:rPr>
                        <a:t>Close</a:t>
                      </a:r>
                      <a:r>
                        <a:rPr lang="ro-RO" sz="1800" dirty="0">
                          <a:effectLst/>
                        </a:rPr>
                        <a:t> sau </a:t>
                      </a:r>
                      <a:r>
                        <a:rPr lang="ro-RO" sz="1800" dirty="0" err="1">
                          <a:effectLst/>
                        </a:rPr>
                        <a:t>opţiunea</a:t>
                      </a:r>
                      <a:r>
                        <a:rPr lang="ro-RO" sz="1800" dirty="0">
                          <a:effectLst/>
                        </a:rPr>
                        <a:t> de meniu </a:t>
                      </a:r>
                      <a:r>
                        <a:rPr lang="ro-RO" sz="1800" dirty="0" err="1">
                          <a:effectLst/>
                        </a:rPr>
                        <a:t>Close</a:t>
                      </a:r>
                      <a:endParaRPr lang="ro-RO" sz="1800" dirty="0">
                        <a:effectLst/>
                      </a:endParaRPr>
                    </a:p>
                    <a:p>
                      <a:pPr>
                        <a:spcAft>
                          <a:spcPts val="0"/>
                        </a:spcAft>
                      </a:pPr>
                      <a:r>
                        <a:rPr lang="ro-RO" sz="1800" dirty="0">
                          <a:effectLst/>
                        </a:rPr>
                        <a:t>Generat atunci când fereastra este adusă în prim-plan din spatele altor ferestre</a:t>
                      </a:r>
                      <a:endParaRPr lang="ro-RO" sz="2800" dirty="0">
                        <a:effectLst/>
                      </a:endParaRPr>
                    </a:p>
                    <a:p>
                      <a:pPr>
                        <a:spcAft>
                          <a:spcPts val="0"/>
                        </a:spcAft>
                      </a:pPr>
                      <a:r>
                        <a:rPr lang="ro-RO" sz="1800" dirty="0">
                          <a:effectLst/>
                        </a:rPr>
                        <a:t> </a:t>
                      </a:r>
                    </a:p>
                    <a:p>
                      <a:pPr>
                        <a:spcAft>
                          <a:spcPts val="0"/>
                        </a:spcAft>
                      </a:pPr>
                      <a:r>
                        <a:rPr lang="ro-RO" sz="1800" dirty="0">
                          <a:effectLst/>
                        </a:rPr>
                        <a:t>Generat atunci când fereastra este minimizată (redusă la dimensiunea unei pictograme)</a:t>
                      </a:r>
                    </a:p>
                    <a:p>
                      <a:pPr>
                        <a:spcAft>
                          <a:spcPts val="0"/>
                        </a:spcAft>
                      </a:pPr>
                      <a:r>
                        <a:rPr lang="ro-RO" sz="1800" dirty="0">
                          <a:effectLst/>
                        </a:rPr>
                        <a:t>Generat atunci când fereastra este restabilită (când se revine de la starea de pictogramă)</a:t>
                      </a:r>
                      <a:endParaRPr lang="ro-RO" sz="2800" dirty="0">
                        <a:effectLst/>
                      </a:endParaRPr>
                    </a:p>
                    <a:p>
                      <a:pPr>
                        <a:spcAft>
                          <a:spcPts val="0"/>
                        </a:spcAft>
                      </a:pPr>
                      <a:r>
                        <a:rPr lang="ro-RO" sz="1800" dirty="0">
                          <a:effectLst/>
                        </a:rPr>
                        <a:t>Generat atunci când fereastra este mutată</a:t>
                      </a:r>
                      <a:endParaRPr lang="ro-RO" sz="2800" dirty="0">
                        <a:effectLst/>
                        <a:latin typeface="Times New Roman" panose="02020603050405020304" pitchFamily="18" charset="0"/>
                        <a:ea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0755915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Meniuri</a:t>
            </a:r>
            <a:br>
              <a:rPr lang="ro-RO" b="1" dirty="0"/>
            </a:br>
            <a:endParaRPr lang="ro-RO" dirty="0"/>
          </a:p>
        </p:txBody>
      </p:sp>
      <p:sp>
        <p:nvSpPr>
          <p:cNvPr id="3" name="Content Placeholder 2"/>
          <p:cNvSpPr>
            <a:spLocks noGrp="1"/>
          </p:cNvSpPr>
          <p:nvPr>
            <p:ph idx="1"/>
          </p:nvPr>
        </p:nvSpPr>
        <p:spPr/>
        <p:txBody>
          <a:bodyPr/>
          <a:lstStyle/>
          <a:p>
            <a:r>
              <a:rPr lang="ro-RO" dirty="0"/>
              <a:t> </a:t>
            </a:r>
          </a:p>
          <a:p>
            <a:r>
              <a:rPr lang="ro-RO" dirty="0"/>
              <a:t>O bară de meniuri (</a:t>
            </a:r>
            <a:r>
              <a:rPr lang="ro-RO" dirty="0" err="1"/>
              <a:t>menu</a:t>
            </a:r>
            <a:r>
              <a:rPr lang="ro-RO" dirty="0"/>
              <a:t> bar) este o </a:t>
            </a:r>
            <a:r>
              <a:rPr lang="ro-RO" dirty="0" err="1"/>
              <a:t>colecţie</a:t>
            </a:r>
            <a:r>
              <a:rPr lang="ro-RO" dirty="0"/>
              <a:t> de meniuri. Un meniu, în schimb, </a:t>
            </a:r>
            <a:r>
              <a:rPr lang="ro-RO" dirty="0" err="1"/>
              <a:t>conţine</a:t>
            </a:r>
            <a:r>
              <a:rPr lang="ro-RO" dirty="0"/>
              <a:t> o </a:t>
            </a:r>
            <a:r>
              <a:rPr lang="ro-RO" dirty="0" err="1"/>
              <a:t>colecţie</a:t>
            </a:r>
            <a:r>
              <a:rPr lang="ro-RO" dirty="0"/>
              <a:t> de </a:t>
            </a:r>
            <a:r>
              <a:rPr lang="ro-RO" dirty="0" err="1"/>
              <a:t>opţiuni</a:t>
            </a:r>
            <a:r>
              <a:rPr lang="ro-RO" dirty="0"/>
              <a:t>, care pot avea denumiri </a:t>
            </a:r>
            <a:r>
              <a:rPr lang="ro-RO" dirty="0" err="1"/>
              <a:t>şi</a:t>
            </a:r>
            <a:r>
              <a:rPr lang="ro-RO" dirty="0"/>
              <a:t>, </a:t>
            </a:r>
            <a:r>
              <a:rPr lang="ro-RO" dirty="0" err="1"/>
              <a:t>opţional</a:t>
            </a:r>
            <a:r>
              <a:rPr lang="ro-RO" dirty="0"/>
              <a:t>, prescurtări (</a:t>
            </a:r>
            <a:r>
              <a:rPr lang="ro-RO" dirty="0" err="1"/>
              <a:t>shortcuts</a:t>
            </a:r>
            <a:r>
              <a:rPr lang="ro-RO" dirty="0"/>
              <a:t>). Biblioteca AWT oferă clase pentru toate aceste elemente de meniu, cum ar fi </a:t>
            </a:r>
            <a:r>
              <a:rPr lang="ro-RO" b="1" dirty="0" err="1"/>
              <a:t>MenuBar</a:t>
            </a:r>
            <a:r>
              <a:rPr lang="ro-RO" dirty="0"/>
              <a:t>, </a:t>
            </a:r>
            <a:r>
              <a:rPr lang="ro-RO" b="1" dirty="0" err="1"/>
              <a:t>Menu</a:t>
            </a:r>
            <a:r>
              <a:rPr lang="ro-RO" dirty="0"/>
              <a:t> </a:t>
            </a:r>
            <a:r>
              <a:rPr lang="ro-RO" dirty="0" err="1"/>
              <a:t>şi</a:t>
            </a:r>
            <a:r>
              <a:rPr lang="ro-RO" dirty="0"/>
              <a:t> </a:t>
            </a:r>
            <a:r>
              <a:rPr lang="ro-RO" b="1" dirty="0" err="1"/>
              <a:t>MenuItem</a:t>
            </a:r>
            <a:r>
              <a:rPr lang="ro-RO" dirty="0"/>
              <a:t>.</a:t>
            </a:r>
          </a:p>
        </p:txBody>
      </p:sp>
    </p:spTree>
    <p:extLst>
      <p:ext uri="{BB962C8B-B14F-4D97-AF65-F5344CB8AC3E}">
        <p14:creationId xmlns:p14="http://schemas.microsoft.com/office/powerpoint/2010/main" val="27784226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Bare de meniuri </a:t>
            </a:r>
            <a:r>
              <a:rPr lang="ro-RO" b="1" dirty="0" err="1"/>
              <a:t>şi</a:t>
            </a:r>
            <a:r>
              <a:rPr lang="ro-RO" b="1" dirty="0"/>
              <a:t> meniuri</a:t>
            </a:r>
          </a:p>
        </p:txBody>
      </p:sp>
      <p:sp>
        <p:nvSpPr>
          <p:cNvPr id="3" name="Content Placeholder 2"/>
          <p:cNvSpPr>
            <a:spLocks noGrp="1"/>
          </p:cNvSpPr>
          <p:nvPr>
            <p:ph idx="1"/>
          </p:nvPr>
        </p:nvSpPr>
        <p:spPr/>
        <p:txBody>
          <a:bodyPr>
            <a:normAutofit fontScale="92500" lnSpcReduction="20000"/>
          </a:bodyPr>
          <a:lstStyle/>
          <a:p>
            <a:r>
              <a:rPr lang="ro-RO" dirty="0" err="1"/>
              <a:t>MenuBar</a:t>
            </a:r>
            <a:r>
              <a:rPr lang="ro-RO" dirty="0"/>
              <a:t> </a:t>
            </a:r>
            <a:r>
              <a:rPr lang="ro-RO" dirty="0" err="1"/>
              <a:t>mbar</a:t>
            </a:r>
            <a:r>
              <a:rPr lang="ro-RO" dirty="0"/>
              <a:t> = </a:t>
            </a:r>
            <a:r>
              <a:rPr lang="ro-RO" dirty="0" err="1"/>
              <a:t>new</a:t>
            </a:r>
            <a:r>
              <a:rPr lang="ro-RO" dirty="0"/>
              <a:t> </a:t>
            </a:r>
            <a:r>
              <a:rPr lang="ro-RO" dirty="0" err="1"/>
              <a:t>Menubar</a:t>
            </a:r>
            <a:r>
              <a:rPr lang="ro-RO" dirty="0"/>
              <a:t>();</a:t>
            </a:r>
          </a:p>
          <a:p>
            <a:r>
              <a:rPr lang="ro-RO" dirty="0" err="1"/>
              <a:t>fereastra.setMenuBar</a:t>
            </a:r>
            <a:r>
              <a:rPr lang="ro-RO" dirty="0"/>
              <a:t>(</a:t>
            </a:r>
            <a:r>
              <a:rPr lang="ro-RO" dirty="0" err="1"/>
              <a:t>mbar</a:t>
            </a:r>
            <a:r>
              <a:rPr lang="ro-RO" dirty="0"/>
              <a:t>);</a:t>
            </a:r>
          </a:p>
          <a:p>
            <a:r>
              <a:rPr lang="ro-RO" dirty="0" err="1"/>
              <a:t>Menu</a:t>
            </a:r>
            <a:r>
              <a:rPr lang="ro-RO" dirty="0"/>
              <a:t> </a:t>
            </a:r>
            <a:r>
              <a:rPr lang="ro-RO" dirty="0" err="1"/>
              <a:t>meniulMeu</a:t>
            </a:r>
            <a:r>
              <a:rPr lang="ro-RO" dirty="0"/>
              <a:t> = </a:t>
            </a:r>
            <a:r>
              <a:rPr lang="ro-RO" dirty="0" err="1"/>
              <a:t>new</a:t>
            </a:r>
            <a:r>
              <a:rPr lang="ro-RO" dirty="0"/>
              <a:t> </a:t>
            </a:r>
            <a:r>
              <a:rPr lang="ro-RO" dirty="0" err="1"/>
              <a:t>Menu</a:t>
            </a:r>
            <a:r>
              <a:rPr lang="ro-RO" dirty="0"/>
              <a:t>("File") ;</a:t>
            </a:r>
          </a:p>
          <a:p>
            <a:r>
              <a:rPr lang="ro-RO" dirty="0" err="1"/>
              <a:t>mbar.add</a:t>
            </a:r>
            <a:r>
              <a:rPr lang="ro-RO" dirty="0"/>
              <a:t>(</a:t>
            </a:r>
            <a:r>
              <a:rPr lang="ro-RO" dirty="0" err="1"/>
              <a:t>meniulMeu</a:t>
            </a:r>
            <a:r>
              <a:rPr lang="ro-RO" dirty="0"/>
              <a:t>) ;</a:t>
            </a:r>
          </a:p>
          <a:p>
            <a:r>
              <a:rPr lang="ro-RO" b="1" dirty="0"/>
              <a:t>Elemente de meniu</a:t>
            </a:r>
          </a:p>
          <a:p>
            <a:pPr lvl="0"/>
            <a:r>
              <a:rPr lang="ro-RO" dirty="0" err="1"/>
              <a:t>nstanţe</a:t>
            </a:r>
            <a:r>
              <a:rPr lang="ro-RO" dirty="0"/>
              <a:t> ale clasei </a:t>
            </a:r>
            <a:r>
              <a:rPr lang="ro-RO" b="1" dirty="0" err="1"/>
              <a:t>MenuItem</a:t>
            </a:r>
            <a:r>
              <a:rPr lang="ro-RO" dirty="0"/>
              <a:t>, pentru elemente de meniu </a:t>
            </a:r>
            <a:r>
              <a:rPr lang="ro-RO" dirty="0" err="1"/>
              <a:t>obişnuite</a:t>
            </a:r>
            <a:endParaRPr lang="ro-RO" dirty="0"/>
          </a:p>
          <a:p>
            <a:pPr lvl="0"/>
            <a:r>
              <a:rPr lang="ro-RO" dirty="0" err="1"/>
              <a:t>Instanţe</a:t>
            </a:r>
            <a:r>
              <a:rPr lang="ro-RO" dirty="0"/>
              <a:t> ale clasei </a:t>
            </a:r>
            <a:r>
              <a:rPr lang="ro-RO" b="1" dirty="0" err="1"/>
              <a:t>CheckBoxMenuItem</a:t>
            </a:r>
            <a:r>
              <a:rPr lang="ro-RO" dirty="0"/>
              <a:t>, pentru elemente de meniu care au stările activat/dezactivat</a:t>
            </a:r>
          </a:p>
          <a:p>
            <a:pPr lvl="0"/>
            <a:r>
              <a:rPr lang="ro-RO" dirty="0"/>
              <a:t>Alte meniuri, care </a:t>
            </a:r>
            <a:r>
              <a:rPr lang="ro-RO" dirty="0" err="1"/>
              <a:t>conţin</a:t>
            </a:r>
            <a:r>
              <a:rPr lang="ro-RO" dirty="0"/>
              <a:t> propriile elemente de meniu</a:t>
            </a:r>
          </a:p>
          <a:p>
            <a:pPr lvl="0"/>
            <a:r>
              <a:rPr lang="ro-RO" dirty="0"/>
              <a:t>Separatori, pentru liniile care separă grupuri de elemente de meniu</a:t>
            </a:r>
          </a:p>
          <a:p>
            <a:r>
              <a:rPr lang="ro-RO" b="1" dirty="0"/>
              <a:t> </a:t>
            </a:r>
            <a:endParaRPr lang="ro-RO" dirty="0"/>
          </a:p>
          <a:p>
            <a:endParaRPr lang="ro-RO" dirty="0"/>
          </a:p>
        </p:txBody>
      </p:sp>
    </p:spTree>
    <p:extLst>
      <p:ext uri="{BB962C8B-B14F-4D97-AF65-F5344CB8AC3E}">
        <p14:creationId xmlns:p14="http://schemas.microsoft.com/office/powerpoint/2010/main" val="14127679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Crearea elementelor de meniu</a:t>
            </a:r>
            <a:br>
              <a:rPr lang="ro-RO" b="1" dirty="0"/>
            </a:br>
            <a:endParaRPr lang="ro-RO" dirty="0"/>
          </a:p>
        </p:txBody>
      </p:sp>
      <p:sp>
        <p:nvSpPr>
          <p:cNvPr id="3" name="Content Placeholder 2"/>
          <p:cNvSpPr>
            <a:spLocks noGrp="1"/>
          </p:cNvSpPr>
          <p:nvPr>
            <p:ph idx="1"/>
          </p:nvPr>
        </p:nvSpPr>
        <p:spPr/>
        <p:txBody>
          <a:bodyPr>
            <a:normAutofit fontScale="70000" lnSpcReduction="20000"/>
          </a:bodyPr>
          <a:lstStyle/>
          <a:p>
            <a:r>
              <a:rPr lang="ro-RO" dirty="0"/>
              <a:t>Elementele (</a:t>
            </a:r>
            <a:r>
              <a:rPr lang="ro-RO" dirty="0" err="1"/>
              <a:t>opţiunile</a:t>
            </a:r>
            <a:r>
              <a:rPr lang="ro-RO" dirty="0"/>
              <a:t>) de meniu </a:t>
            </a:r>
            <a:r>
              <a:rPr lang="ro-RO" dirty="0" err="1"/>
              <a:t>obişnuite</a:t>
            </a:r>
            <a:r>
              <a:rPr lang="ro-RO" dirty="0"/>
              <a:t> sunt create </a:t>
            </a:r>
            <a:r>
              <a:rPr lang="ro-RO" dirty="0" err="1"/>
              <a:t>şi</a:t>
            </a:r>
            <a:r>
              <a:rPr lang="ro-RO" dirty="0"/>
              <a:t> adăugate într-un meniu folosind clasa </a:t>
            </a:r>
            <a:r>
              <a:rPr lang="ro-RO" b="1" dirty="0" err="1"/>
              <a:t>MenuItem</a:t>
            </a:r>
            <a:r>
              <a:rPr lang="ro-RO" dirty="0"/>
              <a:t>. Mai întâi se creează o nouă </a:t>
            </a:r>
            <a:r>
              <a:rPr lang="ro-RO" dirty="0" err="1"/>
              <a:t>instanţă</a:t>
            </a:r>
            <a:r>
              <a:rPr lang="ro-RO" dirty="0"/>
              <a:t> a clasei </a:t>
            </a:r>
            <a:r>
              <a:rPr lang="ro-RO" b="1" dirty="0" err="1"/>
              <a:t>MenuItem</a:t>
            </a:r>
            <a:r>
              <a:rPr lang="ro-RO" dirty="0"/>
              <a:t>, după care se adaugă o componentă </a:t>
            </a:r>
            <a:r>
              <a:rPr lang="ro-RO" b="1" dirty="0" err="1"/>
              <a:t>Menu</a:t>
            </a:r>
            <a:r>
              <a:rPr lang="ro-RO" dirty="0"/>
              <a:t> folosind metoda </a:t>
            </a:r>
            <a:r>
              <a:rPr lang="ro-RO" b="1" dirty="0" err="1"/>
              <a:t>add</a:t>
            </a:r>
            <a:r>
              <a:rPr lang="ro-RO" dirty="0"/>
              <a:t>():</a:t>
            </a:r>
          </a:p>
          <a:p>
            <a:r>
              <a:rPr lang="ro-RO" dirty="0" err="1"/>
              <a:t>Menu</a:t>
            </a:r>
            <a:r>
              <a:rPr lang="ro-RO" dirty="0"/>
              <a:t> </a:t>
            </a:r>
            <a:r>
              <a:rPr lang="ro-RO" dirty="0" err="1"/>
              <a:t>meniulMeu</a:t>
            </a:r>
            <a:r>
              <a:rPr lang="ro-RO" dirty="0"/>
              <a:t> = </a:t>
            </a:r>
            <a:r>
              <a:rPr lang="ro-RO" dirty="0" err="1"/>
              <a:t>new</a:t>
            </a:r>
            <a:r>
              <a:rPr lang="ro-RO" dirty="0"/>
              <a:t> </a:t>
            </a:r>
            <a:r>
              <a:rPr lang="ro-RO" dirty="0" err="1"/>
              <a:t>Menu</a:t>
            </a:r>
            <a:r>
              <a:rPr lang="ro-RO" dirty="0"/>
              <a:t>("Utilitare");</a:t>
            </a:r>
          </a:p>
          <a:p>
            <a:r>
              <a:rPr lang="ro-RO" dirty="0" err="1"/>
              <a:t>MenuItem</a:t>
            </a:r>
            <a:r>
              <a:rPr lang="ro-RO" dirty="0"/>
              <a:t> m1= </a:t>
            </a:r>
            <a:r>
              <a:rPr lang="ro-RO" dirty="0" err="1"/>
              <a:t>new</a:t>
            </a:r>
            <a:r>
              <a:rPr lang="ro-RO" dirty="0"/>
              <a:t> </a:t>
            </a:r>
            <a:r>
              <a:rPr lang="ro-RO" dirty="0" err="1"/>
              <a:t>MenuItem</a:t>
            </a:r>
            <a:r>
              <a:rPr lang="ro-RO" dirty="0"/>
              <a:t>("Info")</a:t>
            </a:r>
          </a:p>
          <a:p>
            <a:r>
              <a:rPr lang="ro-RO" dirty="0" err="1"/>
              <a:t>meniulMeu.add</a:t>
            </a:r>
            <a:r>
              <a:rPr lang="ro-RO" dirty="0"/>
              <a:t>(m1) ;</a:t>
            </a:r>
          </a:p>
          <a:p>
            <a:r>
              <a:rPr lang="ro-RO" dirty="0" err="1"/>
              <a:t>meniulMeu.add</a:t>
            </a:r>
            <a:r>
              <a:rPr lang="ro-RO" dirty="0"/>
              <a:t>(</a:t>
            </a:r>
            <a:r>
              <a:rPr lang="ro-RO" dirty="0" err="1"/>
              <a:t>new</a:t>
            </a:r>
            <a:r>
              <a:rPr lang="ro-RO" dirty="0"/>
              <a:t> </a:t>
            </a:r>
            <a:r>
              <a:rPr lang="ro-RO" dirty="0" err="1"/>
              <a:t>MenuItem</a:t>
            </a:r>
            <a:r>
              <a:rPr lang="ro-RO" dirty="0"/>
              <a:t>("Culori")) ;</a:t>
            </a:r>
          </a:p>
          <a:p>
            <a:r>
              <a:rPr lang="ro-RO" dirty="0" err="1"/>
              <a:t>Submeniurile</a:t>
            </a:r>
            <a:r>
              <a:rPr lang="ro-RO" dirty="0"/>
              <a:t> pot fi adăugate prin simpla creare a unei noi </a:t>
            </a:r>
            <a:r>
              <a:rPr lang="ro-RO" dirty="0" err="1"/>
              <a:t>instanţe</a:t>
            </a:r>
            <a:r>
              <a:rPr lang="ro-RO" dirty="0"/>
              <a:t> a clasei </a:t>
            </a:r>
            <a:r>
              <a:rPr lang="ro-RO" b="1" dirty="0" err="1"/>
              <a:t>Menu</a:t>
            </a:r>
            <a:r>
              <a:rPr lang="ro-RO" dirty="0"/>
              <a:t> </a:t>
            </a:r>
            <a:r>
              <a:rPr lang="ro-RO" dirty="0" err="1"/>
              <a:t>şi</a:t>
            </a:r>
            <a:r>
              <a:rPr lang="ro-RO" dirty="0"/>
              <a:t> adăugarea în primul meniu. După aceasta, </a:t>
            </a:r>
            <a:r>
              <a:rPr lang="ro-RO" dirty="0" err="1"/>
              <a:t>puteţi</a:t>
            </a:r>
            <a:r>
              <a:rPr lang="ro-RO" dirty="0"/>
              <a:t> adăuga elemente în acest meniu:</a:t>
            </a:r>
          </a:p>
          <a:p>
            <a:r>
              <a:rPr lang="ro-RO" dirty="0" err="1"/>
              <a:t>Menu</a:t>
            </a:r>
            <a:r>
              <a:rPr lang="ro-RO" dirty="0"/>
              <a:t> </a:t>
            </a:r>
            <a:r>
              <a:rPr lang="ro-RO" dirty="0" err="1"/>
              <a:t>submeniu</a:t>
            </a:r>
            <a:r>
              <a:rPr lang="ro-RO" dirty="0"/>
              <a:t> = </a:t>
            </a:r>
            <a:r>
              <a:rPr lang="ro-RO" dirty="0" err="1"/>
              <a:t>new</a:t>
            </a:r>
            <a:r>
              <a:rPr lang="ro-RO" dirty="0"/>
              <a:t> </a:t>
            </a:r>
            <a:r>
              <a:rPr lang="ro-RO" dirty="0" err="1"/>
              <a:t>Menu</a:t>
            </a:r>
            <a:r>
              <a:rPr lang="ro-RO" dirty="0"/>
              <a:t>("Dimensiuni") ;</a:t>
            </a:r>
          </a:p>
          <a:p>
            <a:r>
              <a:rPr lang="ro-RO" dirty="0" err="1"/>
              <a:t>meniulMeu.add</a:t>
            </a:r>
            <a:r>
              <a:rPr lang="ro-RO" dirty="0"/>
              <a:t>(</a:t>
            </a:r>
            <a:r>
              <a:rPr lang="ro-RO" dirty="0" err="1"/>
              <a:t>submeniu</a:t>
            </a:r>
            <a:r>
              <a:rPr lang="ro-RO" dirty="0"/>
              <a:t>) ;</a:t>
            </a:r>
          </a:p>
          <a:p>
            <a:r>
              <a:rPr lang="ro-RO" dirty="0" err="1"/>
              <a:t>submeniu.add</a:t>
            </a:r>
            <a:r>
              <a:rPr lang="ro-RO" dirty="0"/>
              <a:t>(</a:t>
            </a:r>
            <a:r>
              <a:rPr lang="ro-RO" dirty="0" err="1"/>
              <a:t>new</a:t>
            </a:r>
            <a:r>
              <a:rPr lang="ro-RO" dirty="0"/>
              <a:t> </a:t>
            </a:r>
            <a:r>
              <a:rPr lang="ro-RO" dirty="0" err="1"/>
              <a:t>Menultem</a:t>
            </a:r>
            <a:r>
              <a:rPr lang="ro-RO" dirty="0"/>
              <a:t>("Mic")) ;</a:t>
            </a:r>
          </a:p>
          <a:p>
            <a:r>
              <a:rPr lang="ro-RO" dirty="0" err="1"/>
              <a:t>submeniu.add</a:t>
            </a:r>
            <a:r>
              <a:rPr lang="ro-RO" dirty="0"/>
              <a:t>(</a:t>
            </a:r>
            <a:r>
              <a:rPr lang="ro-RO" dirty="0" err="1"/>
              <a:t>new</a:t>
            </a:r>
            <a:r>
              <a:rPr lang="ro-RO" dirty="0"/>
              <a:t> </a:t>
            </a:r>
            <a:r>
              <a:rPr lang="ro-RO" dirty="0" err="1"/>
              <a:t>Menultem</a:t>
            </a:r>
            <a:r>
              <a:rPr lang="ro-RO" dirty="0"/>
              <a:t>("Mediu")) ;</a:t>
            </a:r>
          </a:p>
          <a:p>
            <a:r>
              <a:rPr lang="ro-RO" dirty="0" err="1"/>
              <a:t>submeniu.add</a:t>
            </a:r>
            <a:r>
              <a:rPr lang="ro-RO" dirty="0"/>
              <a:t>(</a:t>
            </a:r>
            <a:r>
              <a:rPr lang="ro-RO" dirty="0" err="1"/>
              <a:t>new</a:t>
            </a:r>
            <a:r>
              <a:rPr lang="ro-RO" dirty="0"/>
              <a:t> </a:t>
            </a:r>
            <a:r>
              <a:rPr lang="ro-RO" dirty="0" err="1"/>
              <a:t>Menultemf"Mare</a:t>
            </a:r>
            <a:r>
              <a:rPr lang="ro-RO" dirty="0"/>
              <a:t>"));</a:t>
            </a:r>
          </a:p>
        </p:txBody>
      </p:sp>
    </p:spTree>
    <p:extLst>
      <p:ext uri="{BB962C8B-B14F-4D97-AF65-F5344CB8AC3E}">
        <p14:creationId xmlns:p14="http://schemas.microsoft.com/office/powerpoint/2010/main" val="2063452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Crearea unor </a:t>
            </a:r>
            <a:r>
              <a:rPr lang="ro-RO" b="1" dirty="0" err="1"/>
              <a:t>aplicaţii</a:t>
            </a:r>
            <a:r>
              <a:rPr lang="ro-RO" b="1" dirty="0"/>
              <a:t> AWT independente</a:t>
            </a:r>
          </a:p>
        </p:txBody>
      </p:sp>
      <p:sp>
        <p:nvSpPr>
          <p:cNvPr id="3" name="Content Placeholder 2"/>
          <p:cNvSpPr>
            <a:spLocks noGrp="1"/>
          </p:cNvSpPr>
          <p:nvPr>
            <p:ph idx="1"/>
          </p:nvPr>
        </p:nvSpPr>
        <p:spPr>
          <a:xfrm>
            <a:off x="388826" y="1727450"/>
            <a:ext cx="10058400" cy="4023360"/>
          </a:xfrm>
        </p:spPr>
        <p:txBody>
          <a:bodyPr>
            <a:normAutofit fontScale="92500"/>
          </a:bodyPr>
          <a:lstStyle/>
          <a:p>
            <a:pPr>
              <a:spcBef>
                <a:spcPts val="0"/>
              </a:spcBef>
            </a:pPr>
            <a:r>
              <a:rPr lang="ro-RO" dirty="0"/>
              <a:t>Pentru crearea unei </a:t>
            </a:r>
            <a:r>
              <a:rPr lang="ro-RO" dirty="0" err="1"/>
              <a:t>aplicaţii</a:t>
            </a:r>
            <a:r>
              <a:rPr lang="ro-RO" dirty="0"/>
              <a:t> Java </a:t>
            </a:r>
            <a:r>
              <a:rPr lang="ro-RO" b="1" i="1" dirty="0"/>
              <a:t>clasa </a:t>
            </a:r>
            <a:r>
              <a:rPr lang="ro-RO" b="1" i="1" dirty="0" err="1"/>
              <a:t>aplicaţiei</a:t>
            </a:r>
            <a:r>
              <a:rPr lang="ro-RO" b="1" i="1" dirty="0"/>
              <a:t> principale trebuie să </a:t>
            </a:r>
            <a:r>
              <a:rPr lang="ro-RO" b="1" i="1" dirty="0" err="1"/>
              <a:t>moştenească</a:t>
            </a:r>
            <a:r>
              <a:rPr lang="ro-RO" b="1" i="1" dirty="0"/>
              <a:t> clasa </a:t>
            </a:r>
            <a:r>
              <a:rPr lang="ro-RO" b="1" i="1" dirty="0" err="1"/>
              <a:t>Frame</a:t>
            </a:r>
            <a:r>
              <a:rPr lang="ro-RO" b="1" i="1" dirty="0"/>
              <a:t>.</a:t>
            </a:r>
            <a:r>
              <a:rPr lang="ro-RO" dirty="0"/>
              <a:t> </a:t>
            </a:r>
            <a:endParaRPr lang="en-US" dirty="0" smtClean="0"/>
          </a:p>
          <a:p>
            <a:pPr>
              <a:spcBef>
                <a:spcPts val="0"/>
              </a:spcBef>
            </a:pPr>
            <a:r>
              <a:rPr lang="ro-RO" dirty="0"/>
              <a:t>import java.awt.* </a:t>
            </a:r>
            <a:r>
              <a:rPr lang="ro-RO" dirty="0" smtClean="0"/>
              <a:t>;</a:t>
            </a:r>
            <a:endParaRPr lang="en-US" dirty="0" smtClean="0"/>
          </a:p>
          <a:p>
            <a:pPr>
              <a:spcBef>
                <a:spcPts val="0"/>
              </a:spcBef>
            </a:pPr>
            <a:endParaRPr lang="ro-RO" dirty="0"/>
          </a:p>
          <a:p>
            <a:pPr marL="0" indent="449580" algn="just">
              <a:spcBef>
                <a:spcPts val="0"/>
              </a:spcBef>
              <a:spcAft>
                <a:spcPts val="0"/>
              </a:spcAft>
            </a:pPr>
            <a:r>
              <a:rPr lang="ro-RO" sz="1700" dirty="0" err="1">
                <a:solidFill>
                  <a:schemeClr val="tx1"/>
                </a:solidFill>
                <a:latin typeface="Courier New" panose="02070309020205020404" pitchFamily="49" charset="0"/>
                <a:ea typeface="Times New Roman" panose="02020603050405020304" pitchFamily="18" charset="0"/>
              </a:rPr>
              <a:t>class</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AplicatieAWT</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extends</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Frame</a:t>
            </a:r>
            <a:r>
              <a:rPr lang="ro-RO" sz="1700" dirty="0">
                <a:solidFill>
                  <a:schemeClr val="tx1"/>
                </a:solidFill>
                <a:latin typeface="Courier New" panose="02070309020205020404" pitchFamily="49" charset="0"/>
                <a:ea typeface="Times New Roman" panose="02020603050405020304" pitchFamily="18" charset="0"/>
              </a:rPr>
              <a:t> { </a:t>
            </a:r>
          </a:p>
          <a:p>
            <a:pPr marL="0" indent="449580" algn="just">
              <a:spcBef>
                <a:spcPts val="0"/>
              </a:spcBef>
              <a:spcAft>
                <a:spcPts val="0"/>
              </a:spcAft>
            </a:pPr>
            <a:r>
              <a:rPr lang="ro-RO" sz="1700" dirty="0" err="1">
                <a:solidFill>
                  <a:schemeClr val="tx1"/>
                </a:solidFill>
                <a:latin typeface="Courier New" panose="02070309020205020404" pitchFamily="49" charset="0"/>
                <a:ea typeface="Times New Roman" panose="02020603050405020304" pitchFamily="18" charset="0"/>
              </a:rPr>
              <a:t>AplicatieAWT</a:t>
            </a:r>
            <a:r>
              <a:rPr lang="ro-RO" sz="1700" dirty="0">
                <a:solidFill>
                  <a:schemeClr val="tx1"/>
                </a:solidFill>
                <a:latin typeface="Courier New" panose="02070309020205020404" pitchFamily="49" charset="0"/>
                <a:ea typeface="Times New Roman" panose="02020603050405020304" pitchFamily="18" charset="0"/>
              </a:rPr>
              <a:t>(</a:t>
            </a:r>
            <a:r>
              <a:rPr lang="ro-RO" sz="1700" dirty="0" err="1">
                <a:solidFill>
                  <a:schemeClr val="tx1"/>
                </a:solidFill>
                <a:latin typeface="Courier New" panose="02070309020205020404" pitchFamily="49" charset="0"/>
                <a:ea typeface="Times New Roman" panose="02020603050405020304" pitchFamily="18" charset="0"/>
              </a:rPr>
              <a:t>String</a:t>
            </a:r>
            <a:r>
              <a:rPr lang="ro-RO" sz="1700" dirty="0">
                <a:solidFill>
                  <a:schemeClr val="tx1"/>
                </a:solidFill>
                <a:latin typeface="Courier New" panose="02070309020205020404" pitchFamily="49" charset="0"/>
                <a:ea typeface="Times New Roman" panose="02020603050405020304" pitchFamily="18" charset="0"/>
              </a:rPr>
              <a:t> titlu) { </a:t>
            </a:r>
          </a:p>
          <a:p>
            <a:pPr marL="0" indent="449580" algn="just">
              <a:spcBef>
                <a:spcPts val="0"/>
              </a:spcBef>
              <a:spcAft>
                <a:spcPts val="0"/>
              </a:spcAft>
            </a:pPr>
            <a:r>
              <a:rPr lang="ro-RO" sz="1700" dirty="0">
                <a:solidFill>
                  <a:schemeClr val="tx1"/>
                </a:solidFill>
                <a:latin typeface="Courier New" panose="02070309020205020404" pitchFamily="49" charset="0"/>
                <a:ea typeface="Times New Roman" panose="02020603050405020304" pitchFamily="18" charset="0"/>
              </a:rPr>
              <a:t>super(titlu) ;</a:t>
            </a:r>
          </a:p>
          <a:p>
            <a:pPr marL="0" indent="449580" algn="just">
              <a:spcBef>
                <a:spcPts val="0"/>
              </a:spcBef>
              <a:spcAft>
                <a:spcPts val="0"/>
              </a:spcAft>
            </a:pPr>
            <a:r>
              <a:rPr lang="ro-RO" sz="1700" dirty="0" err="1">
                <a:solidFill>
                  <a:schemeClr val="tx1"/>
                </a:solidFill>
                <a:latin typeface="Courier New" panose="02070309020205020404" pitchFamily="49" charset="0"/>
                <a:ea typeface="Times New Roman" panose="02020603050405020304" pitchFamily="18" charset="0"/>
              </a:rPr>
              <a:t>setLayout</a:t>
            </a:r>
            <a:r>
              <a:rPr lang="ro-RO" sz="1700" dirty="0">
                <a:solidFill>
                  <a:schemeClr val="tx1"/>
                </a:solidFill>
                <a:latin typeface="Courier New" panose="02070309020205020404" pitchFamily="49" charset="0"/>
                <a:ea typeface="Times New Roman" panose="02020603050405020304" pitchFamily="18" charset="0"/>
              </a:rPr>
              <a:t>(</a:t>
            </a:r>
            <a:r>
              <a:rPr lang="ro-RO" sz="1700" dirty="0" err="1">
                <a:solidFill>
                  <a:schemeClr val="tx1"/>
                </a:solidFill>
                <a:latin typeface="Courier New" panose="02070309020205020404" pitchFamily="49" charset="0"/>
                <a:ea typeface="Times New Roman" panose="02020603050405020304" pitchFamily="18" charset="0"/>
              </a:rPr>
              <a:t>new</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FlowLayout</a:t>
            </a:r>
            <a:r>
              <a:rPr lang="ro-RO" sz="1700" dirty="0">
                <a:solidFill>
                  <a:schemeClr val="tx1"/>
                </a:solidFill>
                <a:latin typeface="Courier New" panose="02070309020205020404" pitchFamily="49" charset="0"/>
                <a:ea typeface="Times New Roman" panose="02020603050405020304" pitchFamily="18" charset="0"/>
              </a:rPr>
              <a:t>()) ;</a:t>
            </a:r>
          </a:p>
          <a:p>
            <a:pPr marL="0" indent="449580" algn="just">
              <a:spcBef>
                <a:spcPts val="0"/>
              </a:spcBef>
              <a:spcAft>
                <a:spcPts val="0"/>
              </a:spcAft>
            </a:pPr>
            <a:r>
              <a:rPr lang="ro-RO" sz="1700" dirty="0" err="1">
                <a:solidFill>
                  <a:schemeClr val="tx1"/>
                </a:solidFill>
                <a:latin typeface="Courier New" panose="02070309020205020404" pitchFamily="49" charset="0"/>
                <a:ea typeface="Times New Roman" panose="02020603050405020304" pitchFamily="18" charset="0"/>
              </a:rPr>
              <a:t>add</a:t>
            </a:r>
            <a:r>
              <a:rPr lang="ro-RO" sz="1700" dirty="0">
                <a:solidFill>
                  <a:schemeClr val="tx1"/>
                </a:solidFill>
                <a:latin typeface="Courier New" panose="02070309020205020404" pitchFamily="49" charset="0"/>
                <a:ea typeface="Times New Roman" panose="02020603050405020304" pitchFamily="18" charset="0"/>
              </a:rPr>
              <a:t>(</a:t>
            </a:r>
            <a:r>
              <a:rPr lang="ro-RO" sz="1700" dirty="0" err="1">
                <a:solidFill>
                  <a:schemeClr val="tx1"/>
                </a:solidFill>
                <a:latin typeface="Courier New" panose="02070309020205020404" pitchFamily="49" charset="0"/>
                <a:ea typeface="Times New Roman" panose="02020603050405020304" pitchFamily="18" charset="0"/>
              </a:rPr>
              <a:t>new</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Button</a:t>
            </a:r>
            <a:r>
              <a:rPr lang="ro-RO" sz="1700" dirty="0">
                <a:solidFill>
                  <a:schemeClr val="tx1"/>
                </a:solidFill>
                <a:latin typeface="Courier New" panose="02070309020205020404" pitchFamily="49" charset="0"/>
                <a:ea typeface="Times New Roman" panose="02020603050405020304" pitchFamily="18" charset="0"/>
              </a:rPr>
              <a:t>("OK")) ;</a:t>
            </a:r>
          </a:p>
          <a:p>
            <a:pPr marL="0" indent="449580" algn="just">
              <a:spcBef>
                <a:spcPts val="0"/>
              </a:spcBef>
              <a:spcAft>
                <a:spcPts val="0"/>
              </a:spcAft>
            </a:pPr>
            <a:r>
              <a:rPr lang="ro-RO" sz="1700" dirty="0" err="1">
                <a:solidFill>
                  <a:schemeClr val="tx1"/>
                </a:solidFill>
                <a:latin typeface="Courier New" panose="02070309020205020404" pitchFamily="49" charset="0"/>
                <a:ea typeface="Times New Roman" panose="02020603050405020304" pitchFamily="18" charset="0"/>
              </a:rPr>
              <a:t>add</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new</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Button</a:t>
            </a:r>
            <a:r>
              <a:rPr lang="ro-RO" sz="1700" dirty="0">
                <a:solidFill>
                  <a:schemeClr val="tx1"/>
                </a:solidFill>
                <a:latin typeface="Courier New" panose="02070309020205020404" pitchFamily="49" charset="0"/>
                <a:ea typeface="Times New Roman" panose="02020603050405020304" pitchFamily="18" charset="0"/>
              </a:rPr>
              <a:t>("</a:t>
            </a:r>
            <a:r>
              <a:rPr lang="ro-RO" sz="1700" dirty="0" err="1">
                <a:solidFill>
                  <a:schemeClr val="tx1"/>
                </a:solidFill>
                <a:latin typeface="Courier New" panose="02070309020205020404" pitchFamily="49" charset="0"/>
                <a:ea typeface="Times New Roman" panose="02020603050405020304" pitchFamily="18" charset="0"/>
              </a:rPr>
              <a:t>Reset</a:t>
            </a:r>
            <a:r>
              <a:rPr lang="ro-RO" sz="1700" dirty="0">
                <a:solidFill>
                  <a:schemeClr val="tx1"/>
                </a:solidFill>
                <a:latin typeface="Courier New" panose="02070309020205020404" pitchFamily="49" charset="0"/>
                <a:ea typeface="Times New Roman" panose="02020603050405020304" pitchFamily="18" charset="0"/>
              </a:rPr>
              <a:t>"));</a:t>
            </a:r>
          </a:p>
          <a:p>
            <a:pPr marL="0" indent="449580" algn="just">
              <a:spcBef>
                <a:spcPts val="0"/>
              </a:spcBef>
              <a:spcAft>
                <a:spcPts val="0"/>
              </a:spcAft>
            </a:pPr>
            <a:r>
              <a:rPr lang="ro-RO" sz="1700" dirty="0" err="1">
                <a:solidFill>
                  <a:schemeClr val="tx1"/>
                </a:solidFill>
                <a:latin typeface="Courier New" panose="02070309020205020404" pitchFamily="49" charset="0"/>
                <a:ea typeface="Times New Roman" panose="02020603050405020304" pitchFamily="18" charset="0"/>
              </a:rPr>
              <a:t>add</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new</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Button</a:t>
            </a:r>
            <a:r>
              <a:rPr lang="ro-RO" sz="1700" dirty="0">
                <a:solidFill>
                  <a:schemeClr val="tx1"/>
                </a:solidFill>
                <a:latin typeface="Courier New" panose="02070309020205020404" pitchFamily="49" charset="0"/>
                <a:ea typeface="Times New Roman" panose="02020603050405020304" pitchFamily="18" charset="0"/>
              </a:rPr>
              <a:t>("</a:t>
            </a:r>
            <a:r>
              <a:rPr lang="ro-RO" sz="1700" dirty="0" err="1">
                <a:solidFill>
                  <a:schemeClr val="tx1"/>
                </a:solidFill>
                <a:latin typeface="Courier New" panose="02070309020205020404" pitchFamily="49" charset="0"/>
                <a:ea typeface="Times New Roman" panose="02020603050405020304" pitchFamily="18" charset="0"/>
              </a:rPr>
              <a:t>Cancel</a:t>
            </a:r>
            <a:r>
              <a:rPr lang="ro-RO" sz="1700" dirty="0">
                <a:solidFill>
                  <a:schemeClr val="tx1"/>
                </a:solidFill>
                <a:latin typeface="Courier New" panose="02070309020205020404" pitchFamily="49" charset="0"/>
                <a:ea typeface="Times New Roman" panose="02020603050405020304" pitchFamily="18" charset="0"/>
              </a:rPr>
              <a:t>”)) ;</a:t>
            </a:r>
          </a:p>
          <a:p>
            <a:pPr marL="0" indent="449580" algn="just">
              <a:spcBef>
                <a:spcPts val="0"/>
              </a:spcBef>
              <a:spcAft>
                <a:spcPts val="0"/>
              </a:spcAft>
            </a:pPr>
            <a:r>
              <a:rPr lang="ro-RO" sz="1700" dirty="0">
                <a:solidFill>
                  <a:schemeClr val="tx1"/>
                </a:solidFill>
                <a:latin typeface="Courier New" panose="02070309020205020404" pitchFamily="49" charset="0"/>
                <a:ea typeface="Times New Roman" panose="02020603050405020304" pitchFamily="18" charset="0"/>
              </a:rPr>
              <a:t>} </a:t>
            </a:r>
          </a:p>
          <a:p>
            <a:pPr marL="0" indent="449580" algn="just">
              <a:spcBef>
                <a:spcPts val="0"/>
              </a:spcBef>
              <a:spcAft>
                <a:spcPts val="0"/>
              </a:spcAft>
            </a:pPr>
            <a:r>
              <a:rPr lang="ro-RO" sz="1700" dirty="0">
                <a:solidFill>
                  <a:schemeClr val="tx1"/>
                </a:solidFill>
                <a:latin typeface="Courier New" panose="02070309020205020404" pitchFamily="49" charset="0"/>
                <a:ea typeface="Times New Roman" panose="02020603050405020304" pitchFamily="18" charset="0"/>
              </a:rPr>
              <a:t>public static </a:t>
            </a:r>
            <a:r>
              <a:rPr lang="ro-RO" sz="1700" dirty="0" err="1">
                <a:solidFill>
                  <a:schemeClr val="tx1"/>
                </a:solidFill>
                <a:latin typeface="Courier New" panose="02070309020205020404" pitchFamily="49" charset="0"/>
                <a:ea typeface="Times New Roman" panose="02020603050405020304" pitchFamily="18" charset="0"/>
              </a:rPr>
              <a:t>void</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main</a:t>
            </a:r>
            <a:r>
              <a:rPr lang="ro-RO" sz="1700" dirty="0">
                <a:solidFill>
                  <a:schemeClr val="tx1"/>
                </a:solidFill>
                <a:latin typeface="Courier New" panose="02070309020205020404" pitchFamily="49" charset="0"/>
                <a:ea typeface="Times New Roman" panose="02020603050405020304" pitchFamily="18" charset="0"/>
              </a:rPr>
              <a:t>(</a:t>
            </a:r>
            <a:r>
              <a:rPr lang="ro-RO" sz="1700" dirty="0" err="1">
                <a:solidFill>
                  <a:schemeClr val="tx1"/>
                </a:solidFill>
                <a:latin typeface="Courier New" panose="02070309020205020404" pitchFamily="49" charset="0"/>
                <a:ea typeface="Times New Roman" panose="02020603050405020304" pitchFamily="18" charset="0"/>
              </a:rPr>
              <a:t>String</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args</a:t>
            </a:r>
            <a:r>
              <a:rPr lang="ro-RO" sz="1700" dirty="0">
                <a:solidFill>
                  <a:schemeClr val="tx1"/>
                </a:solidFill>
                <a:latin typeface="Courier New" panose="02070309020205020404" pitchFamily="49" charset="0"/>
                <a:ea typeface="Times New Roman" panose="02020603050405020304" pitchFamily="18" charset="0"/>
              </a:rPr>
              <a:t>[ ]) {</a:t>
            </a:r>
          </a:p>
          <a:p>
            <a:pPr marL="0" indent="449580" algn="just">
              <a:spcBef>
                <a:spcPts val="0"/>
              </a:spcBef>
              <a:spcAft>
                <a:spcPts val="0"/>
              </a:spcAft>
            </a:pPr>
            <a:r>
              <a:rPr lang="ro-RO" sz="1700" dirty="0" err="1">
                <a:solidFill>
                  <a:schemeClr val="tx1"/>
                </a:solidFill>
                <a:latin typeface="Courier New" panose="02070309020205020404" pitchFamily="49" charset="0"/>
                <a:ea typeface="Times New Roman" panose="02020603050405020304" pitchFamily="18" charset="0"/>
              </a:rPr>
              <a:t>AplicatieAWT</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apl</a:t>
            </a:r>
            <a:r>
              <a:rPr lang="ro-RO" sz="1700" dirty="0">
                <a:solidFill>
                  <a:schemeClr val="tx1"/>
                </a:solidFill>
                <a:latin typeface="Courier New" panose="02070309020205020404" pitchFamily="49" charset="0"/>
                <a:ea typeface="Times New Roman" panose="02020603050405020304" pitchFamily="18" charset="0"/>
              </a:rPr>
              <a:t> = </a:t>
            </a:r>
            <a:r>
              <a:rPr lang="ro-RO" sz="1700" dirty="0" err="1">
                <a:solidFill>
                  <a:schemeClr val="tx1"/>
                </a:solidFill>
                <a:latin typeface="Courier New" panose="02070309020205020404" pitchFamily="49" charset="0"/>
                <a:ea typeface="Times New Roman" panose="02020603050405020304" pitchFamily="18" charset="0"/>
              </a:rPr>
              <a:t>new</a:t>
            </a:r>
            <a:r>
              <a:rPr lang="ro-RO" sz="1700" dirty="0">
                <a:solidFill>
                  <a:schemeClr val="tx1"/>
                </a:solidFill>
                <a:latin typeface="Courier New" panose="02070309020205020404" pitchFamily="49" charset="0"/>
                <a:ea typeface="Times New Roman" panose="02020603050405020304" pitchFamily="18" charset="0"/>
              </a:rPr>
              <a:t> </a:t>
            </a:r>
            <a:r>
              <a:rPr lang="ro-RO" sz="1700" dirty="0" err="1">
                <a:solidFill>
                  <a:schemeClr val="tx1"/>
                </a:solidFill>
                <a:latin typeface="Courier New" panose="02070309020205020404" pitchFamily="49" charset="0"/>
                <a:ea typeface="Times New Roman" panose="02020603050405020304" pitchFamily="18" charset="0"/>
              </a:rPr>
              <a:t>AplicatieAWT</a:t>
            </a:r>
            <a:r>
              <a:rPr lang="ro-RO" sz="1700" dirty="0">
                <a:solidFill>
                  <a:schemeClr val="tx1"/>
                </a:solidFill>
                <a:latin typeface="Courier New" panose="02070309020205020404" pitchFamily="49" charset="0"/>
                <a:ea typeface="Times New Roman" panose="02020603050405020304" pitchFamily="18" charset="0"/>
              </a:rPr>
              <a:t>("Prima </a:t>
            </a:r>
            <a:r>
              <a:rPr lang="ro-RO" sz="1700" dirty="0" err="1">
                <a:solidFill>
                  <a:schemeClr val="tx1"/>
                </a:solidFill>
                <a:latin typeface="Courier New" panose="02070309020205020404" pitchFamily="49" charset="0"/>
                <a:ea typeface="Times New Roman" panose="02020603050405020304" pitchFamily="18" charset="0"/>
              </a:rPr>
              <a:t>aplicatie</a:t>
            </a:r>
            <a:r>
              <a:rPr lang="ro-RO" sz="1700" dirty="0">
                <a:solidFill>
                  <a:schemeClr val="tx1"/>
                </a:solidFill>
                <a:latin typeface="Courier New" panose="02070309020205020404" pitchFamily="49" charset="0"/>
                <a:ea typeface="Times New Roman" panose="02020603050405020304" pitchFamily="18" charset="0"/>
              </a:rPr>
              <a:t>") ;</a:t>
            </a:r>
          </a:p>
          <a:p>
            <a:pPr marL="0" indent="449580" algn="just">
              <a:spcBef>
                <a:spcPts val="0"/>
              </a:spcBef>
              <a:spcAft>
                <a:spcPts val="0"/>
              </a:spcAft>
            </a:pPr>
            <a:r>
              <a:rPr lang="ro-RO" sz="1700" dirty="0" err="1">
                <a:solidFill>
                  <a:schemeClr val="tx1"/>
                </a:solidFill>
                <a:latin typeface="Courier New" panose="02070309020205020404" pitchFamily="49" charset="0"/>
                <a:ea typeface="Times New Roman" panose="02020603050405020304" pitchFamily="18" charset="0"/>
              </a:rPr>
              <a:t>apl.resize</a:t>
            </a:r>
            <a:r>
              <a:rPr lang="ro-RO" sz="1700" dirty="0">
                <a:solidFill>
                  <a:schemeClr val="tx1"/>
                </a:solidFill>
                <a:latin typeface="Courier New" panose="02070309020205020404" pitchFamily="49" charset="0"/>
                <a:ea typeface="Times New Roman" panose="02020603050405020304" pitchFamily="18" charset="0"/>
              </a:rPr>
              <a:t>(300, 300);</a:t>
            </a:r>
          </a:p>
          <a:p>
            <a:pPr marL="0" indent="449580" algn="just">
              <a:spcBef>
                <a:spcPts val="0"/>
              </a:spcBef>
              <a:spcAft>
                <a:spcPts val="0"/>
              </a:spcAft>
            </a:pPr>
            <a:r>
              <a:rPr lang="ro-RO" sz="1700" dirty="0" err="1">
                <a:solidFill>
                  <a:schemeClr val="tx1"/>
                </a:solidFill>
                <a:latin typeface="Courier New" panose="02070309020205020404" pitchFamily="49" charset="0"/>
                <a:ea typeface="Times New Roman" panose="02020603050405020304" pitchFamily="18" charset="0"/>
              </a:rPr>
              <a:t>apl.show</a:t>
            </a:r>
            <a:r>
              <a:rPr lang="ro-RO" sz="1700" dirty="0">
                <a:solidFill>
                  <a:schemeClr val="tx1"/>
                </a:solidFill>
                <a:latin typeface="Courier New" panose="02070309020205020404" pitchFamily="49" charset="0"/>
                <a:ea typeface="Times New Roman" panose="02020603050405020304" pitchFamily="18" charset="0"/>
              </a:rPr>
              <a:t>() ;</a:t>
            </a:r>
          </a:p>
          <a:p>
            <a:pPr marL="0" indent="449580" algn="just">
              <a:spcBef>
                <a:spcPts val="0"/>
              </a:spcBef>
              <a:spcAft>
                <a:spcPts val="0"/>
              </a:spcAft>
            </a:pPr>
            <a:r>
              <a:rPr lang="ro-RO" sz="1700" dirty="0">
                <a:solidFill>
                  <a:schemeClr val="tx1"/>
                </a:solidFill>
                <a:latin typeface="Courier New" panose="02070309020205020404" pitchFamily="49" charset="0"/>
                <a:ea typeface="Times New Roman" panose="02020603050405020304" pitchFamily="18" charset="0"/>
              </a:rPr>
              <a:t>}</a:t>
            </a:r>
          </a:p>
          <a:p>
            <a:pPr marL="0" indent="449580" algn="just">
              <a:spcBef>
                <a:spcPts val="0"/>
              </a:spcBef>
              <a:spcAft>
                <a:spcPts val="0"/>
              </a:spcAft>
            </a:pPr>
            <a:r>
              <a:rPr lang="ro-RO" sz="1700" dirty="0">
                <a:solidFill>
                  <a:schemeClr val="tx1"/>
                </a:solidFill>
                <a:latin typeface="Courier New" panose="02070309020205020404" pitchFamily="49" charset="0"/>
                <a:ea typeface="Times New Roman" panose="02020603050405020304" pitchFamily="18" charset="0"/>
              </a:rPr>
              <a:t>}</a:t>
            </a:r>
          </a:p>
          <a:p>
            <a:pPr>
              <a:spcBef>
                <a:spcPts val="0"/>
              </a:spcBef>
            </a:pPr>
            <a:endParaRPr lang="ro-RO" dirty="0"/>
          </a:p>
        </p:txBody>
      </p:sp>
      <p:sp>
        <p:nvSpPr>
          <p:cNvPr id="4" name="Rectangle 3"/>
          <p:cNvSpPr/>
          <p:nvPr/>
        </p:nvSpPr>
        <p:spPr>
          <a:xfrm>
            <a:off x="5972432" y="5089091"/>
            <a:ext cx="6071286" cy="1323439"/>
          </a:xfrm>
          <a:prstGeom prst="rect">
            <a:avLst/>
          </a:prstGeom>
        </p:spPr>
        <p:txBody>
          <a:bodyPr wrap="square">
            <a:spAutoFit/>
          </a:bodyPr>
          <a:lstStyle/>
          <a:p>
            <a:pPr algn="just">
              <a:spcAft>
                <a:spcPts val="0"/>
              </a:spcAft>
            </a:pPr>
            <a:r>
              <a:rPr lang="ro-RO" sz="1600" dirty="0" smtClean="0">
                <a:effectLst/>
                <a:latin typeface="Courier New" panose="02070309020205020404" pitchFamily="49" charset="0"/>
                <a:ea typeface="Times New Roman" panose="02020603050405020304" pitchFamily="18" charset="0"/>
              </a:rPr>
              <a:t>public </a:t>
            </a:r>
            <a:r>
              <a:rPr lang="ro-RO" sz="1600" dirty="0" err="1" smtClean="0">
                <a:effectLst/>
                <a:latin typeface="Courier New" panose="02070309020205020404" pitchFamily="49" charset="0"/>
                <a:ea typeface="Times New Roman" panose="02020603050405020304" pitchFamily="18" charset="0"/>
              </a:rPr>
              <a:t>void</a:t>
            </a:r>
            <a:r>
              <a:rPr lang="ro-RO" sz="1600" dirty="0" smtClean="0">
                <a:effectLst/>
                <a:latin typeface="Courier New" panose="02070309020205020404" pitchFamily="49" charset="0"/>
                <a:ea typeface="Times New Roman" panose="02020603050405020304" pitchFamily="18" charset="0"/>
              </a:rPr>
              <a:t> </a:t>
            </a:r>
            <a:r>
              <a:rPr lang="ro-RO" sz="1600" dirty="0" err="1" smtClean="0">
                <a:effectLst/>
                <a:latin typeface="Courier New" panose="02070309020205020404" pitchFamily="49" charset="0"/>
                <a:ea typeface="Times New Roman" panose="02020603050405020304" pitchFamily="18" charset="0"/>
              </a:rPr>
              <a:t>închidereFereastra</a:t>
            </a:r>
            <a:r>
              <a:rPr lang="ro-RO" sz="1600" dirty="0" smtClean="0">
                <a:effectLst/>
                <a:latin typeface="Courier New" panose="02070309020205020404" pitchFamily="49" charset="0"/>
                <a:ea typeface="Times New Roman" panose="02020603050405020304" pitchFamily="18" charset="0"/>
              </a:rPr>
              <a:t>(</a:t>
            </a:r>
            <a:r>
              <a:rPr lang="ro-RO" sz="1600" dirty="0" err="1" smtClean="0">
                <a:effectLst/>
                <a:latin typeface="Courier New" panose="02070309020205020404" pitchFamily="49" charset="0"/>
                <a:ea typeface="Times New Roman" panose="02020603050405020304" pitchFamily="18" charset="0"/>
              </a:rPr>
              <a:t>WindowEvent</a:t>
            </a:r>
            <a:r>
              <a:rPr lang="ro-RO" sz="1600" dirty="0" smtClean="0">
                <a:effectLst/>
                <a:latin typeface="Courier New" panose="02070309020205020404" pitchFamily="49" charset="0"/>
                <a:ea typeface="Times New Roman" panose="02020603050405020304" pitchFamily="18" charset="0"/>
              </a:rPr>
              <a:t> e) {</a:t>
            </a:r>
            <a:endParaRPr lang="ro-RO" sz="1600" dirty="0" smtClean="0">
              <a:effectLst/>
              <a:latin typeface="Times New Roman" panose="02020603050405020304" pitchFamily="18" charset="0"/>
              <a:ea typeface="Times New Roman" panose="02020603050405020304" pitchFamily="18" charset="0"/>
            </a:endParaRPr>
          </a:p>
          <a:p>
            <a:pPr indent="449580" algn="just">
              <a:spcAft>
                <a:spcPts val="0"/>
              </a:spcAft>
            </a:pPr>
            <a:r>
              <a:rPr lang="ro-RO" sz="1600" dirty="0" err="1" smtClean="0">
                <a:effectLst/>
                <a:latin typeface="Courier New" panose="02070309020205020404" pitchFamily="49" charset="0"/>
                <a:ea typeface="Times New Roman" panose="02020603050405020304" pitchFamily="18" charset="0"/>
              </a:rPr>
              <a:t>fr.hide</a:t>
            </a:r>
            <a:r>
              <a:rPr lang="ro-RO" sz="1600" dirty="0" smtClean="0">
                <a:effectLst/>
                <a:latin typeface="Courier New" panose="02070309020205020404" pitchFamily="49" charset="0"/>
                <a:ea typeface="Times New Roman" panose="02020603050405020304" pitchFamily="18" charset="0"/>
              </a:rPr>
              <a:t>() ;</a:t>
            </a:r>
            <a:endParaRPr lang="ro-RO" sz="1600" dirty="0" smtClean="0">
              <a:effectLst/>
              <a:latin typeface="Times New Roman" panose="02020603050405020304" pitchFamily="18" charset="0"/>
              <a:ea typeface="Times New Roman" panose="02020603050405020304" pitchFamily="18" charset="0"/>
            </a:endParaRPr>
          </a:p>
          <a:p>
            <a:pPr indent="449580" algn="just">
              <a:spcAft>
                <a:spcPts val="0"/>
              </a:spcAft>
            </a:pPr>
            <a:r>
              <a:rPr lang="ro-RO" sz="1600" dirty="0" err="1" smtClean="0">
                <a:effectLst/>
                <a:latin typeface="Courier New" panose="02070309020205020404" pitchFamily="49" charset="0"/>
                <a:ea typeface="Times New Roman" panose="02020603050405020304" pitchFamily="18" charset="0"/>
              </a:rPr>
              <a:t>fr.destroy</a:t>
            </a:r>
            <a:r>
              <a:rPr lang="ro-RO" sz="1600" dirty="0" smtClean="0">
                <a:effectLst/>
                <a:latin typeface="Courier New" panose="02070309020205020404" pitchFamily="49" charset="0"/>
                <a:ea typeface="Times New Roman" panose="02020603050405020304" pitchFamily="18" charset="0"/>
              </a:rPr>
              <a:t>() ;</a:t>
            </a:r>
            <a:endParaRPr lang="ro-RO" sz="1600" dirty="0" smtClean="0">
              <a:effectLst/>
              <a:latin typeface="Times New Roman" panose="02020603050405020304" pitchFamily="18" charset="0"/>
              <a:ea typeface="Times New Roman" panose="02020603050405020304" pitchFamily="18" charset="0"/>
            </a:endParaRPr>
          </a:p>
          <a:p>
            <a:pPr indent="449580" algn="just">
              <a:spcAft>
                <a:spcPts val="0"/>
              </a:spcAft>
            </a:pPr>
            <a:r>
              <a:rPr lang="ro-RO" sz="1600" dirty="0" err="1" smtClean="0">
                <a:effectLst/>
                <a:latin typeface="Courier New" panose="02070309020205020404" pitchFamily="49" charset="0"/>
                <a:ea typeface="Times New Roman" panose="02020603050405020304" pitchFamily="18" charset="0"/>
              </a:rPr>
              <a:t>System.exit</a:t>
            </a:r>
            <a:r>
              <a:rPr lang="ro-RO" sz="1600" dirty="0" smtClean="0">
                <a:effectLst/>
                <a:latin typeface="Courier New" panose="02070309020205020404" pitchFamily="49" charset="0"/>
                <a:ea typeface="Times New Roman" panose="02020603050405020304" pitchFamily="18" charset="0"/>
              </a:rPr>
              <a:t>(0) ;</a:t>
            </a:r>
            <a:endParaRPr lang="ro-RO" sz="1600" dirty="0" smtClean="0">
              <a:effectLst/>
              <a:latin typeface="Times New Roman" panose="02020603050405020304" pitchFamily="18" charset="0"/>
              <a:ea typeface="Times New Roman" panose="02020603050405020304" pitchFamily="18" charset="0"/>
            </a:endParaRPr>
          </a:p>
          <a:p>
            <a:pPr algn="just">
              <a:spcAft>
                <a:spcPts val="0"/>
              </a:spcAft>
            </a:pPr>
            <a:r>
              <a:rPr lang="ro-RO" sz="1600" dirty="0" smtClean="0">
                <a:effectLst/>
                <a:latin typeface="Courier New" panose="02070309020205020404" pitchFamily="49" charset="0"/>
                <a:ea typeface="Times New Roman" panose="02020603050405020304" pitchFamily="18" charset="0"/>
              </a:rPr>
              <a:t>}</a:t>
            </a:r>
            <a:endParaRPr lang="ro-RO"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119657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108</TotalTime>
  <Words>3886</Words>
  <Application>Microsoft Office PowerPoint</Application>
  <PresentationFormat>Widescreen</PresentationFormat>
  <Paragraphs>361</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Calibri Light</vt:lpstr>
      <vt:lpstr>Courier New</vt:lpstr>
      <vt:lpstr>Times New Roman</vt:lpstr>
      <vt:lpstr>Retrospect</vt:lpstr>
      <vt:lpstr>Interfete grafice in Java</vt:lpstr>
      <vt:lpstr>Abstract Windowing Toolkit</vt:lpstr>
      <vt:lpstr>Componentele interfetei utilizator</vt:lpstr>
      <vt:lpstr>PowerPoint Presentation</vt:lpstr>
      <vt:lpstr>Casete de validare </vt:lpstr>
      <vt:lpstr>Liste de opţiuni </vt:lpstr>
      <vt:lpstr>Câmpuri de text</vt:lpstr>
      <vt:lpstr>Zone de text</vt:lpstr>
      <vt:lpstr>Liste de derulare</vt:lpstr>
      <vt:lpstr>Bare de derulare şi glisoare</vt:lpstr>
      <vt:lpstr>Suprafeţe de desenare</vt:lpstr>
      <vt:lpstr>Aranjarea componentelor într-o interfaţă utilizator </vt:lpstr>
      <vt:lpstr>Dispunerea secvenţială </vt:lpstr>
      <vt:lpstr>Dispunerea tabelară </vt:lpstr>
      <vt:lpstr>Dispunerea marginală  </vt:lpstr>
      <vt:lpstr>Combinarea administratorilor de dispunere</vt:lpstr>
      <vt:lpstr>Tratarea evenimentelor</vt:lpstr>
      <vt:lpstr>Metoda handleEvent () </vt:lpstr>
      <vt:lpstr>Tratarea clicurilor de mouse</vt:lpstr>
      <vt:lpstr>Tratarea mişcărilor mouse-ului</vt:lpstr>
      <vt:lpstr>Evenimentele mouse enter şi mouse exit </vt:lpstr>
      <vt:lpstr>Tratarea evenimentelor de tastatură </vt:lpstr>
      <vt:lpstr>Taste prestabilite </vt:lpstr>
      <vt:lpstr>Tratarea evenimentelor componentelor </vt:lpstr>
      <vt:lpstr>Tratarea evenimentelor de acţiune </vt:lpstr>
      <vt:lpstr>PowerPoint Presentation</vt:lpstr>
      <vt:lpstr>Tratarea evenimentelor de selectare </vt:lpstr>
      <vt:lpstr>Evenimente ale zonelor de text </vt:lpstr>
      <vt:lpstr>Evenimente ale listelor derulante</vt:lpstr>
      <vt:lpstr>Evenimente ale barelor de derulare </vt:lpstr>
      <vt:lpstr>Ferestre, cadre şi casete de dialog. Clasele Window</vt:lpstr>
      <vt:lpstr>Cadre</vt:lpstr>
      <vt:lpstr>Exemple</vt:lpstr>
      <vt:lpstr>Casete de dialog </vt:lpstr>
      <vt:lpstr>Obiecte dialog </vt:lpstr>
      <vt:lpstr>Casete de dialog pentru sistemul de fişiere</vt:lpstr>
      <vt:lpstr>Evenimente de fereastră </vt:lpstr>
      <vt:lpstr>Meniuri </vt:lpstr>
      <vt:lpstr>Bare de meniuri şi meniuri</vt:lpstr>
      <vt:lpstr>Crearea elementelor de meniu </vt:lpstr>
      <vt:lpstr>Crearea unor aplicaţii AWT independente</vt:lpstr>
    </vt:vector>
  </TitlesOfParts>
  <Company>UPT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Interfete grafice in Java</dc:title>
  <dc:creator>Manuela Panoiu</dc:creator>
  <cp:lastModifiedBy>Manuela Panoiu</cp:lastModifiedBy>
  <cp:revision>10</cp:revision>
  <dcterms:created xsi:type="dcterms:W3CDTF">2020-10-29T07:59:16Z</dcterms:created>
  <dcterms:modified xsi:type="dcterms:W3CDTF">2020-10-29T09:47:28Z</dcterms:modified>
</cp:coreProperties>
</file>