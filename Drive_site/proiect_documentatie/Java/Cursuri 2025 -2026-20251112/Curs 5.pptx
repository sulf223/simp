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41"/>
  </p:notesMasterIdLst>
  <p:sldIdLst>
    <p:sldId id="468" r:id="rId2"/>
    <p:sldId id="500" r:id="rId3"/>
    <p:sldId id="519" r:id="rId4"/>
    <p:sldId id="520" r:id="rId5"/>
    <p:sldId id="521" r:id="rId6"/>
    <p:sldId id="522" r:id="rId7"/>
    <p:sldId id="473" r:id="rId8"/>
    <p:sldId id="474" r:id="rId9"/>
    <p:sldId id="475" r:id="rId10"/>
    <p:sldId id="476" r:id="rId11"/>
    <p:sldId id="477" r:id="rId12"/>
    <p:sldId id="478" r:id="rId13"/>
    <p:sldId id="485" r:id="rId14"/>
    <p:sldId id="486" r:id="rId15"/>
    <p:sldId id="505" r:id="rId16"/>
    <p:sldId id="506" r:id="rId17"/>
    <p:sldId id="507" r:id="rId18"/>
    <p:sldId id="508" r:id="rId19"/>
    <p:sldId id="509" r:id="rId20"/>
    <p:sldId id="510" r:id="rId21"/>
    <p:sldId id="492" r:id="rId22"/>
    <p:sldId id="493" r:id="rId23"/>
    <p:sldId id="511" r:id="rId24"/>
    <p:sldId id="523" r:id="rId25"/>
    <p:sldId id="524" r:id="rId26"/>
    <p:sldId id="512" r:id="rId27"/>
    <p:sldId id="525" r:id="rId28"/>
    <p:sldId id="513" r:id="rId29"/>
    <p:sldId id="527" r:id="rId30"/>
    <p:sldId id="526" r:id="rId31"/>
    <p:sldId id="514" r:id="rId32"/>
    <p:sldId id="515" r:id="rId33"/>
    <p:sldId id="516" r:id="rId34"/>
    <p:sldId id="529" r:id="rId35"/>
    <p:sldId id="517" r:id="rId36"/>
    <p:sldId id="518" r:id="rId37"/>
    <p:sldId id="530" r:id="rId38"/>
    <p:sldId id="531" r:id="rId39"/>
    <p:sldId id="532" r:id="rId40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9999"/>
    <a:srgbClr val="FFFFFF"/>
    <a:srgbClr val="CCCC33"/>
    <a:srgbClr val="337F7F"/>
    <a:srgbClr val="93BBBB"/>
    <a:srgbClr val="1919FF"/>
    <a:srgbClr val="19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32787"/>
    <p:restoredTop sz="90929"/>
  </p:normalViewPr>
  <p:slideViewPr>
    <p:cSldViewPr>
      <p:cViewPr varScale="1">
        <p:scale>
          <a:sx n="80" d="100"/>
          <a:sy n="80" d="100"/>
        </p:scale>
        <p:origin x="66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3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894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44800" y="533400"/>
            <a:ext cx="345440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noProof="0"/>
              <a:t>Click to edit Master text styles</a:t>
            </a:r>
          </a:p>
          <a:p>
            <a:pPr lvl="1"/>
            <a:r>
              <a:rPr lang="en-US" altLang="ro-RO" noProof="0"/>
              <a:t>Second level</a:t>
            </a:r>
          </a:p>
          <a:p>
            <a:pPr lvl="2"/>
            <a:r>
              <a:rPr lang="en-US" altLang="ro-RO" noProof="0"/>
              <a:t>Third level</a:t>
            </a:r>
          </a:p>
          <a:p>
            <a:pPr lvl="3"/>
            <a:r>
              <a:rPr lang="en-US" altLang="ro-RO" noProof="0"/>
              <a:t>Fourth level</a:t>
            </a:r>
          </a:p>
          <a:p>
            <a:pPr lvl="4"/>
            <a:r>
              <a:rPr lang="en-US" altLang="ro-RO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 smtClean="0"/>
            </a:lvl1pPr>
          </a:lstStyle>
          <a:p>
            <a:pPr>
              <a:defRPr/>
            </a:pPr>
            <a:fld id="{55FBA24D-6BC3-499C-A744-83776E7BAEC5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065272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60F2C0-68F4-4102-94E8-A7CFC0B753BD}" type="slidenum">
              <a:rPr lang="en-US" altLang="ro-RO" sz="1200" i="0"/>
              <a:pPr/>
              <a:t>1</a:t>
            </a:fld>
            <a:endParaRPr lang="en-US" altLang="ro-RO" sz="1200" i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2141983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515373-66AB-44EB-953B-99A939CA2A70}" type="slidenum">
              <a:rPr lang="en-US" altLang="ro-RO" sz="1200" i="0"/>
              <a:pPr/>
              <a:t>2</a:t>
            </a:fld>
            <a:endParaRPr lang="en-US" altLang="ro-RO" sz="1200" i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400707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FBA24D-6BC3-499C-A744-83776E7BAEC5}" type="slidenum">
              <a:rPr lang="en-US" altLang="ro-RO" smtClean="0"/>
              <a:pPr>
                <a:defRPr/>
              </a:pPr>
              <a:t>5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830642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0B38-4E8E-335E-2A91-4DAE6880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A47E0-742D-9609-9F4B-7B2A62626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3C766-982C-EFB7-4FCA-0CA762610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EF7D5-3C31-A4B6-142D-C25C6C100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FBA24D-6BC3-499C-A744-83776E7BAEC5}" type="slidenum">
              <a:rPr lang="en-US" altLang="ro-RO" smtClean="0"/>
              <a:pPr>
                <a:defRPr/>
              </a:pPr>
              <a:t>6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925093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3AD747-A426-4B1E-84FB-9BFD61928328}" type="slidenum">
              <a:rPr lang="en-US" altLang="ro-RO" sz="1200" i="0"/>
              <a:pPr/>
              <a:t>7</a:t>
            </a:fld>
            <a:endParaRPr lang="en-US" altLang="ro-RO" sz="1200" i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302401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BF1A73-C8E3-4068-868D-65568A99D81D}" type="slidenum">
              <a:rPr lang="en-US" altLang="ro-RO" sz="1200" i="0"/>
              <a:pPr/>
              <a:t>8</a:t>
            </a:fld>
            <a:endParaRPr lang="en-US" altLang="ro-RO" sz="1200" i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1745737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13F7A4-1109-43C5-AC28-5E7B35DC3886}" type="slidenum">
              <a:rPr lang="en-US" altLang="ro-RO" sz="1200" i="0"/>
              <a:pPr/>
              <a:t>9</a:t>
            </a:fld>
            <a:endParaRPr lang="en-US" altLang="ro-RO" sz="1200" i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1028952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5336D7-9739-4128-A62E-AA35CAAA1B8B}" type="slidenum">
              <a:rPr lang="en-US" altLang="ro-RO" sz="1200" i="0"/>
              <a:pPr/>
              <a:t>10</a:t>
            </a:fld>
            <a:endParaRPr lang="en-US" altLang="ro-RO" sz="1200" i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3225993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D66B24-C61E-4850-AF44-F244307AB150}" type="slidenum">
              <a:rPr lang="en-US" altLang="ro-RO" sz="1200" i="0"/>
              <a:pPr/>
              <a:t>11</a:t>
            </a:fld>
            <a:endParaRPr lang="en-US" altLang="ro-RO" sz="1200" i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714463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321406-CBA6-4F38-9D14-358DC98BCA28}" type="slidenum">
              <a:rPr lang="en-US" altLang="ro-RO" sz="1200" i="0"/>
              <a:pPr/>
              <a:t>12</a:t>
            </a:fld>
            <a:endParaRPr lang="en-US" altLang="ro-RO" sz="1200" i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444671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EA1859-A8ED-4DF6-81D5-A0B7D303BEBC}" type="slidenum">
              <a:rPr lang="en-US" altLang="ro-RO" sz="1200" i="0"/>
              <a:pPr/>
              <a:t>13</a:t>
            </a:fld>
            <a:endParaRPr lang="en-US" altLang="ro-RO" sz="1200" i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3825927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D3939E-FF84-4AAC-816C-0171FE09728B}" type="slidenum">
              <a:rPr lang="en-US" altLang="ro-RO" sz="1200" i="0"/>
              <a:pPr/>
              <a:t>14</a:t>
            </a:fld>
            <a:endParaRPr lang="en-US" altLang="ro-RO" sz="1200" i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2076382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9235EB-3C9C-4CF2-934D-B7C7306C401F}" type="slidenum">
              <a:rPr lang="en-US" altLang="ro-RO" sz="1200" i="0"/>
              <a:pPr/>
              <a:t>15</a:t>
            </a:fld>
            <a:endParaRPr lang="en-US" altLang="ro-RO" sz="1200" i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203277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6747ED-76B9-4BAB-B59D-9BB29909BA4D}" type="slidenum">
              <a:rPr lang="en-US" altLang="ro-RO" sz="1200" i="0"/>
              <a:pPr/>
              <a:t>16</a:t>
            </a:fld>
            <a:endParaRPr lang="en-US" altLang="ro-RO" sz="1200" i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1167006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3DCC90-5E54-4595-9D00-B9CD3BDAC3F3}" type="slidenum">
              <a:rPr lang="en-US" altLang="ro-RO" sz="1200" i="0"/>
              <a:pPr/>
              <a:t>17</a:t>
            </a:fld>
            <a:endParaRPr lang="en-US" altLang="ro-RO" sz="1200" i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3098440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02C77A-6B83-439E-9DF3-E52ED0F495BC}" type="slidenum">
              <a:rPr lang="en-US" altLang="ro-RO" sz="1200" i="0"/>
              <a:pPr/>
              <a:t>18</a:t>
            </a:fld>
            <a:endParaRPr lang="en-US" altLang="ro-RO" sz="1200" i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338190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9CC442-963D-403B-916B-44DB46681CA5}" type="slidenum">
              <a:rPr lang="en-US" altLang="ro-RO" sz="1200" i="0"/>
              <a:pPr/>
              <a:t>19</a:t>
            </a:fld>
            <a:endParaRPr lang="en-US" altLang="ro-RO" sz="1200" i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2856522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CF43D28-B690-4E6C-A93F-D3F808AFC77C}" type="slidenum">
              <a:rPr lang="en-US" altLang="ro-RO" sz="1200" i="0"/>
              <a:pPr/>
              <a:t>20</a:t>
            </a:fld>
            <a:endParaRPr lang="en-US" altLang="ro-RO" sz="1200" i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1370442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CB5547-0378-4DB9-B07A-3B4162A5FB8D}" type="slidenum">
              <a:rPr lang="en-US" altLang="ro-RO" sz="1200" i="0"/>
              <a:pPr/>
              <a:t>21</a:t>
            </a:fld>
            <a:endParaRPr lang="en-US" altLang="ro-RO" sz="1200" i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878008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C79567-6AA6-4C05-BCC0-430BCBEDF1EA}" type="slidenum">
              <a:rPr lang="en-US" altLang="ro-RO" sz="1200" i="0"/>
              <a:pPr/>
              <a:t>22</a:t>
            </a:fld>
            <a:endParaRPr lang="en-US" altLang="ro-RO" sz="1200" i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328179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7FBF7-9045-4CC4-9356-A5B8225F6BB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15258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971C1-2283-457F-8A23-72966DBBC6D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19241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A26B3-C8F0-466A-8A3E-DBCFE94800CC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75706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1A5D8-BA80-4CDA-97FF-2BBF57850DF5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146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EBFF0-65B4-400A-A747-163352E1D1D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7291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BA898-5E9D-419B-BFC4-AB95E085F059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4172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3DB90-AFB0-487E-91F8-EAC0B0BF3B7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2761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1C91A0E-FADA-4DCF-B0C7-F0C7C4B90C5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28790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06634-D620-410A-A73C-B33E37C1A3DA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02124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AA059-1D98-43BB-B1F6-5A388BD5252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54719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89450-AD40-442F-8BB6-78C7108C320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54182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3FCFBE-2AA3-4A12-8A7A-978BD096749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8" r:id="rId2"/>
    <p:sldLayoutId id="2147483684" r:id="rId3"/>
    <p:sldLayoutId id="2147483679" r:id="rId4"/>
    <p:sldLayoutId id="2147483680" r:id="rId5"/>
    <p:sldLayoutId id="2147483681" r:id="rId6"/>
    <p:sldLayoutId id="2147483685" r:id="rId7"/>
    <p:sldLayoutId id="2147483686" r:id="rId8"/>
    <p:sldLayoutId id="2147483687" r:id="rId9"/>
    <p:sldLayoutId id="2147483682" r:id="rId10"/>
    <p:sldLayoutId id="2147483688" r:id="rId11"/>
  </p:sldLayoutIdLst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fontAlgn="base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616200"/>
            <a:ext cx="9144000" cy="1143000"/>
          </a:xfr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dirty="0">
                <a:solidFill>
                  <a:srgbClr val="FF0000"/>
                </a:solidFill>
              </a:rPr>
              <a:t>Obiecte si clase</a:t>
            </a:r>
            <a:endParaRPr lang="en-US" altLang="ro-RO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 dirty="0" err="1">
                <a:solidFill>
                  <a:srgbClr val="FF0000"/>
                </a:solidFill>
              </a:rPr>
              <a:t>Definirea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propriilor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clase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/>
              <a:t>Forma standard a </a:t>
            </a:r>
            <a:r>
              <a:rPr lang="en-US" altLang="ro-RO" sz="2400" i="0" dirty="0" err="1"/>
              <a:t>definiției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</a:t>
            </a:r>
            <a:r>
              <a:rPr lang="en-US" altLang="ro-RO" sz="2400" i="0" dirty="0"/>
              <a:t> Java </a:t>
            </a:r>
            <a:r>
              <a:rPr lang="en-US" altLang="ro-RO" sz="2400" i="0" dirty="0" err="1"/>
              <a:t>arată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astfel</a:t>
            </a:r>
            <a:r>
              <a:rPr lang="en-US" altLang="ro-RO" sz="2400" i="0" dirty="0"/>
              <a:t>: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962025" y="1676400"/>
            <a:ext cx="7483475" cy="1250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012825" y="1758950"/>
            <a:ext cx="75692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1600" b="1" i="0" dirty="0">
                <a:latin typeface="Courier New" panose="02070309020205020404" pitchFamily="49" charset="0"/>
              </a:rPr>
              <a:t>public class </a:t>
            </a:r>
            <a:r>
              <a:rPr lang="en-US" altLang="ro-RO" sz="1600" dirty="0"/>
              <a:t>name</a:t>
            </a:r>
            <a:r>
              <a:rPr lang="en-US" altLang="ro-RO" sz="1600" b="1" i="0" dirty="0">
                <a:latin typeface="Courier New" panose="02070309020205020404" pitchFamily="49" charset="0"/>
              </a:rPr>
              <a:t> extends </a:t>
            </a:r>
            <a:r>
              <a:rPr lang="en-US" altLang="ro-RO" sz="1600" dirty="0"/>
              <a:t>superclass</a:t>
            </a:r>
            <a:r>
              <a:rPr lang="en-US" altLang="ro-RO" sz="1600" b="1" i="0" dirty="0">
                <a:latin typeface="Courier New" panose="02070309020205020404" pitchFamily="49" charset="0"/>
              </a:rPr>
              <a:t> {</a:t>
            </a:r>
          </a:p>
          <a:p>
            <a:endParaRPr lang="en-US" altLang="ro-RO" sz="800" b="1" i="0" dirty="0">
              <a:latin typeface="Courier New" panose="02070309020205020404" pitchFamily="49" charset="0"/>
            </a:endParaRPr>
          </a:p>
          <a:p>
            <a:r>
              <a:rPr lang="en-US" altLang="ro-RO" sz="1600" b="1" i="0" dirty="0">
                <a:latin typeface="Courier New" panose="02070309020205020404" pitchFamily="49" charset="0"/>
              </a:rPr>
              <a:t>    </a:t>
            </a:r>
            <a:r>
              <a:rPr lang="en-US" altLang="ro-RO" sz="1600" dirty="0"/>
              <a:t>class body</a:t>
            </a:r>
            <a:endParaRPr lang="en-US" altLang="ro-RO" sz="1000" b="1" i="0" dirty="0">
              <a:latin typeface="Courier New" panose="02070309020205020404" pitchFamily="49" charset="0"/>
            </a:endParaRPr>
          </a:p>
          <a:p>
            <a:endParaRPr lang="en-US" altLang="ro-RO" sz="800" b="1" i="0" dirty="0">
              <a:latin typeface="Courier New" panose="02070309020205020404" pitchFamily="49" charset="0"/>
            </a:endParaRPr>
          </a:p>
          <a:p>
            <a:r>
              <a:rPr lang="en-US" altLang="ro-RO" sz="1600" b="1" i="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45478" name="Rectangle 6"/>
          <p:cNvSpPr>
            <a:spLocks noChangeArrowheads="1"/>
          </p:cNvSpPr>
          <p:nvPr/>
        </p:nvSpPr>
        <p:spPr bwMode="auto">
          <a:xfrm>
            <a:off x="454025" y="3819525"/>
            <a:ext cx="8128000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Clauza</a:t>
            </a:r>
            <a:r>
              <a:rPr lang="en-US" altLang="ro-RO" sz="2400" i="0" dirty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extends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pe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linia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antet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specifică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numele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superclasei</a:t>
            </a:r>
            <a:r>
              <a:rPr lang="en-US" altLang="ro-RO" sz="2400" i="0" dirty="0"/>
              <a:t>. </a:t>
            </a:r>
            <a:r>
              <a:rPr lang="en-US" altLang="ro-RO" sz="2400" i="0" dirty="0" err="1"/>
              <a:t>Dacă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clauza</a:t>
            </a:r>
            <a:r>
              <a:rPr lang="en-US" altLang="ro-RO" sz="2400" i="0" dirty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extends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lipsește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noua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devine</a:t>
            </a:r>
            <a:r>
              <a:rPr lang="en-US" altLang="ro-RO" sz="2400" i="0" dirty="0"/>
              <a:t> o </a:t>
            </a:r>
            <a:r>
              <a:rPr lang="en-US" altLang="ro-RO" sz="2400" i="0" dirty="0" err="1"/>
              <a:t>subclasă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directă</a:t>
            </a:r>
            <a:r>
              <a:rPr lang="en-US" altLang="ro-RO" sz="2400" i="0" dirty="0"/>
              <a:t> a </a:t>
            </a:r>
            <a:r>
              <a:rPr lang="ro-RO" altLang="ro-RO" sz="2400" i="0" dirty="0" err="1"/>
              <a:t>Object</a:t>
            </a:r>
            <a:r>
              <a:rPr lang="en-US" altLang="ro-RO" sz="2400" i="0" dirty="0"/>
              <a:t>, care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rădăcina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ierarhiei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clase</a:t>
            </a:r>
            <a:r>
              <a:rPr lang="en-US" altLang="ro-RO" sz="2400" i="0" dirty="0"/>
              <a:t> Java</a:t>
            </a:r>
          </a:p>
        </p:txBody>
      </p:sp>
      <p:sp>
        <p:nvSpPr>
          <p:cNvPr id="745479" name="Rectangle 7"/>
          <p:cNvSpPr>
            <a:spLocks noChangeArrowheads="1"/>
          </p:cNvSpPr>
          <p:nvPr/>
        </p:nvSpPr>
        <p:spPr bwMode="auto">
          <a:xfrm>
            <a:off x="482600" y="5245100"/>
            <a:ext cx="812800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Corpul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unei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format </a:t>
            </a:r>
            <a:r>
              <a:rPr lang="en-US" altLang="ro-RO" sz="2400" i="0" dirty="0" err="1"/>
              <a:t>dintr</a:t>
            </a:r>
            <a:r>
              <a:rPr lang="en-US" altLang="ro-RO" sz="2400" i="0" dirty="0"/>
              <a:t>-un set de </a:t>
            </a:r>
            <a:r>
              <a:rPr lang="en-US" altLang="ro-RO" sz="2400" i="0" dirty="0" err="1"/>
              <a:t>definiții</a:t>
            </a:r>
            <a:r>
              <a:rPr lang="en-US" altLang="ro-RO" sz="2400" i="0" dirty="0"/>
              <a:t> Java care </a:t>
            </a:r>
            <a:r>
              <a:rPr lang="en-US" altLang="ro-RO" sz="2400" i="0" dirty="0" err="1"/>
              <a:t>sunt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denumite</a:t>
            </a:r>
            <a:r>
              <a:rPr lang="en-US" altLang="ro-RO" sz="2400" i="0" dirty="0"/>
              <a:t> generic </a:t>
            </a:r>
            <a:r>
              <a:rPr lang="en-US" altLang="ro-RO" sz="2400" b="1" dirty="0" err="1"/>
              <a:t>intrări</a:t>
            </a:r>
            <a:r>
              <a:rPr lang="en-US" altLang="ro-RO" sz="2400" i="0" dirty="0"/>
              <a:t>. </a:t>
            </a:r>
            <a:r>
              <a:rPr lang="en-US" altLang="ro-RO" sz="2400" i="0" dirty="0" err="1"/>
              <a:t>Cele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mai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frecvente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intrări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sunt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constructori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metode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variabile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instanță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și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constante</a:t>
            </a:r>
            <a:endParaRPr lang="en-US" altLang="ro-RO" sz="2400" i="0" dirty="0"/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833438" y="3048000"/>
            <a:ext cx="7777162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</a:pPr>
            <a:r>
              <a:rPr lang="en-US" altLang="ro-RO" sz="2400" i="0" dirty="0" err="1"/>
              <a:t>Fiecare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publică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trebuie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stocată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într</a:t>
            </a:r>
            <a:r>
              <a:rPr lang="en-US" altLang="ro-RO" sz="2400" i="0" dirty="0"/>
              <a:t>-un </a:t>
            </a:r>
            <a:r>
              <a:rPr lang="en-US" altLang="ro-RO" sz="2400" i="0" dirty="0" err="1"/>
              <a:t>fișier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separat</a:t>
            </a:r>
            <a:r>
              <a:rPr lang="en-US" altLang="ro-RO" sz="2400" i="0" dirty="0"/>
              <a:t> al </a:t>
            </a:r>
            <a:r>
              <a:rPr lang="en-US" altLang="ro-RO" sz="2400" i="0" dirty="0" err="1"/>
              <a:t>cărui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numele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urmat</a:t>
            </a:r>
            <a:r>
              <a:rPr lang="en-US" altLang="ro-RO" sz="2400" i="0" dirty="0"/>
              <a:t> de</a:t>
            </a:r>
            <a:r>
              <a:rPr lang="en-US" altLang="ro-RO" sz="2000" b="1" i="0" dirty="0">
                <a:latin typeface="Courier New" panose="02070309020205020404" pitchFamily="49" charset="0"/>
              </a:rPr>
              <a:t>.java</a:t>
            </a:r>
            <a:r>
              <a:rPr lang="en-US" altLang="ro-RO" sz="2400" i="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78" grpId="0" build="p" autoUpdateAnimBg="0"/>
      <p:bldP spid="74547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792F2-18E8-0F37-EAA1-36373076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GB" sz="3100">
                <a:solidFill>
                  <a:srgbClr val="FFFFFF"/>
                </a:solidFill>
              </a:rPr>
              <a:t>Ce este un constructor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705B-9B13-B294-A35E-897D8BC3D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361264"/>
            <a:ext cx="5976663" cy="6135472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600" dirty="0"/>
              <a:t>Un constructor </a:t>
            </a:r>
            <a:r>
              <a:rPr lang="en-GB" sz="1600" dirty="0" err="1"/>
              <a:t>este</a:t>
            </a:r>
            <a:r>
              <a:rPr lang="en-GB" sz="1600" dirty="0"/>
              <a:t> o </a:t>
            </a:r>
            <a:r>
              <a:rPr lang="en-GB" sz="1600" dirty="0" err="1"/>
              <a:t>metodă</a:t>
            </a:r>
            <a:r>
              <a:rPr lang="en-GB" sz="1600" dirty="0"/>
              <a:t> </a:t>
            </a:r>
            <a:r>
              <a:rPr lang="en-GB" sz="1600" dirty="0" err="1"/>
              <a:t>specială</a:t>
            </a:r>
            <a:r>
              <a:rPr lang="en-GB" sz="1600" dirty="0"/>
              <a:t> care are </a:t>
            </a:r>
            <a:r>
              <a:rPr lang="en-GB" sz="1600" dirty="0" err="1"/>
              <a:t>același</a:t>
            </a:r>
            <a:r>
              <a:rPr lang="en-GB" sz="1600" dirty="0"/>
              <a:t> </a:t>
            </a:r>
            <a:r>
              <a:rPr lang="en-GB" sz="1600" dirty="0" err="1"/>
              <a:t>nume</a:t>
            </a:r>
            <a:r>
              <a:rPr lang="en-GB" sz="1600" dirty="0"/>
              <a:t> ca </a:t>
            </a:r>
            <a:r>
              <a:rPr lang="en-GB" sz="1600" dirty="0" err="1"/>
              <a:t>și</a:t>
            </a:r>
            <a:r>
              <a:rPr lang="en-GB" sz="1600" dirty="0"/>
              <a:t> </a:t>
            </a:r>
            <a:r>
              <a:rPr lang="en-GB" sz="1600" dirty="0" err="1"/>
              <a:t>clasa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600" dirty="0"/>
              <a:t>Este </a:t>
            </a:r>
            <a:r>
              <a:rPr lang="en-GB" sz="1600" dirty="0" err="1"/>
              <a:t>apelat</a:t>
            </a:r>
            <a:r>
              <a:rPr lang="en-GB" sz="1600" dirty="0"/>
              <a:t> automat </a:t>
            </a:r>
            <a:r>
              <a:rPr lang="en-GB" sz="1600" dirty="0" err="1"/>
              <a:t>atunci</a:t>
            </a:r>
            <a:r>
              <a:rPr lang="en-GB" sz="1600" dirty="0"/>
              <a:t> </a:t>
            </a:r>
            <a:r>
              <a:rPr lang="en-GB" sz="1600" dirty="0" err="1"/>
              <a:t>când</a:t>
            </a:r>
            <a:r>
              <a:rPr lang="en-GB" sz="1600" dirty="0"/>
              <a:t> se </a:t>
            </a:r>
            <a:r>
              <a:rPr lang="en-GB" sz="1600" dirty="0" err="1"/>
              <a:t>creează</a:t>
            </a:r>
            <a:r>
              <a:rPr lang="en-GB" sz="1600" dirty="0"/>
              <a:t> un </a:t>
            </a:r>
            <a:r>
              <a:rPr lang="en-GB" sz="1600" dirty="0" err="1"/>
              <a:t>obiect</a:t>
            </a:r>
            <a:r>
              <a:rPr lang="en-GB" sz="1600" dirty="0"/>
              <a:t> (</a:t>
            </a:r>
            <a:r>
              <a:rPr lang="en-GB" sz="1600" dirty="0" err="1"/>
              <a:t>prin</a:t>
            </a:r>
            <a:r>
              <a:rPr lang="en-GB" sz="1600" dirty="0"/>
              <a:t> new).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600" dirty="0"/>
              <a:t>Nu are tip de </a:t>
            </a:r>
            <a:r>
              <a:rPr lang="en-GB" sz="1600" dirty="0" err="1"/>
              <a:t>retur</a:t>
            </a:r>
            <a:r>
              <a:rPr lang="en-GB" sz="1600" dirty="0"/>
              <a:t> (</a:t>
            </a:r>
            <a:r>
              <a:rPr lang="en-GB" sz="1600" dirty="0" err="1"/>
              <a:t>nici</a:t>
            </a:r>
            <a:r>
              <a:rPr lang="en-GB" sz="1600" dirty="0"/>
              <a:t> </a:t>
            </a:r>
            <a:r>
              <a:rPr lang="en-GB" sz="1600" dirty="0" err="1"/>
              <a:t>măcar</a:t>
            </a:r>
            <a:r>
              <a:rPr lang="en-GB" sz="1600" dirty="0"/>
              <a:t> void).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600" dirty="0" err="1"/>
              <a:t>Poate</a:t>
            </a:r>
            <a:r>
              <a:rPr lang="en-GB" sz="1600" dirty="0"/>
              <a:t> </a:t>
            </a:r>
            <a:r>
              <a:rPr lang="en-GB" sz="1600" dirty="0" err="1"/>
              <a:t>avea</a:t>
            </a:r>
            <a:r>
              <a:rPr lang="en-GB" sz="1600" dirty="0"/>
              <a:t> </a:t>
            </a:r>
            <a:r>
              <a:rPr lang="en-GB" sz="1600" dirty="0" err="1"/>
              <a:t>parametri</a:t>
            </a:r>
            <a:r>
              <a:rPr lang="en-GB" sz="1600" dirty="0"/>
              <a:t>, </a:t>
            </a:r>
            <a:r>
              <a:rPr lang="en-GB" sz="1600" dirty="0" err="1"/>
              <a:t>pentru</a:t>
            </a:r>
            <a:r>
              <a:rPr lang="en-GB" sz="1600" dirty="0"/>
              <a:t> </a:t>
            </a:r>
            <a:r>
              <a:rPr lang="en-GB" sz="1600" dirty="0" err="1"/>
              <a:t>inițializarea</a:t>
            </a:r>
            <a:r>
              <a:rPr lang="en-GB" sz="1600" dirty="0"/>
              <a:t> </a:t>
            </a:r>
            <a:r>
              <a:rPr lang="en-GB" sz="1600" dirty="0" err="1"/>
              <a:t>atributelor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600" dirty="0" err="1"/>
              <a:t>Dacă</a:t>
            </a:r>
            <a:r>
              <a:rPr lang="en-GB" sz="1600" dirty="0"/>
              <a:t> nu </a:t>
            </a:r>
            <a:r>
              <a:rPr lang="en-GB" sz="1600" dirty="0" err="1"/>
              <a:t>este</a:t>
            </a:r>
            <a:r>
              <a:rPr lang="en-GB" sz="1600" dirty="0"/>
              <a:t> </a:t>
            </a:r>
            <a:r>
              <a:rPr lang="en-GB" sz="1600" dirty="0" err="1"/>
              <a:t>definit</a:t>
            </a:r>
            <a:r>
              <a:rPr lang="en-GB" sz="1600" dirty="0"/>
              <a:t> explicit, Java </a:t>
            </a:r>
            <a:r>
              <a:rPr lang="en-GB" sz="1600" dirty="0" err="1"/>
              <a:t>creează</a:t>
            </a:r>
            <a:r>
              <a:rPr lang="en-GB" sz="1600" dirty="0"/>
              <a:t> un constructor implicit </a:t>
            </a:r>
            <a:r>
              <a:rPr lang="en-GB" sz="1600" dirty="0" err="1"/>
              <a:t>fără</a:t>
            </a:r>
            <a:r>
              <a:rPr lang="en-GB" sz="1600" dirty="0"/>
              <a:t> </a:t>
            </a:r>
            <a:r>
              <a:rPr lang="en-GB" sz="1600" dirty="0" err="1"/>
              <a:t>parametri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Masina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String model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anFabricatie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Constructorul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clasei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Masina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Masina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m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model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anFabricatie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"Model: "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model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", An: "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anFabricatie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Crearea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unui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obiect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Masina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Masina m1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Masina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"Dacia Duster"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2022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m1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71549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0D67E-4CE5-3FCF-64ED-9B153DC17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GB" sz="3100">
                <a:solidFill>
                  <a:srgbClr val="FFFFFF"/>
                </a:solidFill>
              </a:rPr>
              <a:t>Tipuri de constructori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26A0-EA8A-3CB1-EA3A-47FD80BDD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lang="en-GB" b="1" dirty="0"/>
              <a:t>Constructor implicit (default)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Creat</a:t>
            </a:r>
            <a:r>
              <a:rPr lang="en-GB" dirty="0"/>
              <a:t> automat </a:t>
            </a:r>
            <a:r>
              <a:rPr lang="en-GB" dirty="0" err="1"/>
              <a:t>dacă</a:t>
            </a:r>
            <a:r>
              <a:rPr lang="en-GB" dirty="0"/>
              <a:t> nu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definit</a:t>
            </a:r>
            <a:r>
              <a:rPr lang="en-GB" dirty="0"/>
              <a:t> </a:t>
            </a:r>
            <a:r>
              <a:rPr lang="en-GB" dirty="0" err="1"/>
              <a:t>niciunul</a:t>
            </a:r>
            <a:r>
              <a:rPr lang="en-GB" dirty="0"/>
              <a:t>.</a:t>
            </a:r>
          </a:p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Demo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b="1" dirty="0">
                <a:highlight>
                  <a:srgbClr val="FFFFFF"/>
                </a:highlight>
              </a:rPr>
              <a:t>Constructor </a:t>
            </a:r>
            <a:r>
              <a:rPr lang="en-GB" b="1" dirty="0" err="1">
                <a:highlight>
                  <a:srgbClr val="FFFFFF"/>
                </a:highlight>
              </a:rPr>
              <a:t>definit</a:t>
            </a:r>
            <a:r>
              <a:rPr lang="en-GB" b="1" dirty="0">
                <a:highlight>
                  <a:srgbClr val="FFFFFF"/>
                </a:highlight>
              </a:rPr>
              <a:t> de </a:t>
            </a:r>
            <a:r>
              <a:rPr lang="en-GB" b="1" dirty="0" err="1">
                <a:highlight>
                  <a:srgbClr val="FFFFFF"/>
                </a:highlight>
              </a:rPr>
              <a:t>utilizator</a:t>
            </a:r>
            <a:br>
              <a:rPr lang="en-GB" dirty="0">
                <a:highlight>
                  <a:srgbClr val="FFFFFF"/>
                </a:highlight>
              </a:rPr>
            </a:br>
            <a:r>
              <a:rPr lang="en-GB" dirty="0">
                <a:highlight>
                  <a:srgbClr val="FFFFFF"/>
                </a:highlight>
              </a:rPr>
              <a:t>→ </a:t>
            </a:r>
            <a:r>
              <a:rPr lang="en-GB" dirty="0" err="1">
                <a:highlight>
                  <a:srgbClr val="FFFFFF"/>
                </a:highlight>
              </a:rPr>
              <a:t>Scris</a:t>
            </a:r>
            <a:r>
              <a:rPr lang="en-GB" dirty="0">
                <a:highlight>
                  <a:srgbClr val="FFFFFF"/>
                </a:highlight>
              </a:rPr>
              <a:t> explicit </a:t>
            </a:r>
            <a:r>
              <a:rPr lang="en-GB" dirty="0" err="1">
                <a:highlight>
                  <a:srgbClr val="FFFFFF"/>
                </a:highlight>
              </a:rPr>
              <a:t>pentru</a:t>
            </a:r>
            <a:r>
              <a:rPr lang="en-GB" dirty="0">
                <a:highlight>
                  <a:srgbClr val="FFFFFF"/>
                </a:highlight>
              </a:rPr>
              <a:t> a </a:t>
            </a:r>
            <a:r>
              <a:rPr lang="en-GB" dirty="0" err="1">
                <a:highlight>
                  <a:srgbClr val="FFFFFF"/>
                </a:highlight>
              </a:rPr>
              <a:t>inițializa</a:t>
            </a:r>
            <a:r>
              <a:rPr lang="en-GB" dirty="0">
                <a:highlight>
                  <a:srgbClr val="FFFFFF"/>
                </a:highlight>
              </a:rPr>
              <a:t> </a:t>
            </a:r>
            <a:r>
              <a:rPr lang="en-GB" dirty="0" err="1">
                <a:highlight>
                  <a:srgbClr val="FFFFFF"/>
                </a:highlight>
              </a:rPr>
              <a:t>câmpuri</a:t>
            </a:r>
            <a:r>
              <a:rPr lang="en-GB" dirty="0">
                <a:highlight>
                  <a:srgbClr val="FFFFFF"/>
                </a:highlight>
              </a:rPr>
              <a:t>.</a:t>
            </a:r>
          </a:p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Demo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...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825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951AE-F874-49AF-460A-3E268BAC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9BE240D-C8BF-1FF9-6D2E-11A5B1F1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AB794D-8861-25DD-F294-F0A6FE344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9F48B-250E-8C85-F50A-0A4570B1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GB" sz="3100" dirty="0" err="1">
                <a:solidFill>
                  <a:srgbClr val="FFFFFF"/>
                </a:solidFill>
              </a:rPr>
              <a:t>Tipuri</a:t>
            </a:r>
            <a:r>
              <a:rPr lang="en-GB" sz="3100" dirty="0">
                <a:solidFill>
                  <a:srgbClr val="FFFFFF"/>
                </a:solidFill>
              </a:rPr>
              <a:t> de </a:t>
            </a:r>
            <a:r>
              <a:rPr lang="en-GB" sz="3100" dirty="0" err="1">
                <a:solidFill>
                  <a:srgbClr val="FFFFFF"/>
                </a:solidFill>
              </a:rPr>
              <a:t>constructori</a:t>
            </a:r>
            <a:endParaRPr lang="en-GB" sz="31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3BFA8-E8C8-5BC7-10CB-0CBD88454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1D6C-4749-2809-66AB-FAB867D9E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010" y="433272"/>
            <a:ext cx="5335968" cy="599145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/>
              <a:t>Constructor </a:t>
            </a:r>
            <a:r>
              <a:rPr lang="en-GB" sz="1600" b="1" dirty="0" err="1"/>
              <a:t>supraincarcat</a:t>
            </a:r>
            <a:r>
              <a:rPr lang="en-GB" sz="1600" b="1" dirty="0"/>
              <a:t> (overloaded)</a:t>
            </a:r>
            <a:br>
              <a:rPr lang="en-GB" sz="1600" dirty="0"/>
            </a:br>
            <a:r>
              <a:rPr lang="en-GB" sz="1600" dirty="0"/>
              <a:t>→ Se pot </a:t>
            </a:r>
            <a:r>
              <a:rPr lang="en-GB" sz="1600" dirty="0" err="1"/>
              <a:t>defini</a:t>
            </a:r>
            <a:r>
              <a:rPr lang="en-GB" sz="1600" dirty="0"/>
              <a:t> </a:t>
            </a:r>
            <a:r>
              <a:rPr lang="en-GB" sz="1600" dirty="0" err="1"/>
              <a:t>mai</a:t>
            </a:r>
            <a:r>
              <a:rPr lang="en-GB" sz="1600" dirty="0"/>
              <a:t> </a:t>
            </a:r>
            <a:r>
              <a:rPr lang="en-GB" sz="1600" dirty="0" err="1"/>
              <a:t>mulți</a:t>
            </a:r>
            <a:r>
              <a:rPr lang="en-GB" sz="1600" dirty="0"/>
              <a:t> </a:t>
            </a:r>
            <a:r>
              <a:rPr lang="en-GB" sz="1600" dirty="0" err="1"/>
              <a:t>constructori</a:t>
            </a:r>
            <a:r>
              <a:rPr lang="en-GB" sz="1600" dirty="0"/>
              <a:t> cu </a:t>
            </a:r>
            <a:r>
              <a:rPr lang="en-GB" sz="1600" dirty="0" err="1"/>
              <a:t>liste</a:t>
            </a:r>
            <a:r>
              <a:rPr lang="en-GB" sz="1600" dirty="0"/>
              <a:t> </a:t>
            </a:r>
            <a:r>
              <a:rPr lang="en-GB" sz="1600" dirty="0" err="1"/>
              <a:t>diferite</a:t>
            </a:r>
            <a:r>
              <a:rPr lang="en-GB" sz="1600" dirty="0"/>
              <a:t> de </a:t>
            </a:r>
            <a:r>
              <a:rPr lang="en-GB" sz="1600" dirty="0" err="1"/>
              <a:t>parametri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Constructor implicit (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fără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parametri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x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y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Constructor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definit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de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utilizator</a:t>
            </a:r>
            <a:endParaRPr lang="en-GB" sz="16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x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y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System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n-NO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"("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", "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y 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")"</a:t>
            </a:r>
            <a:r>
              <a:rPr lang="nn-NO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n-NO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p1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(0,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p2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5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7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(5, 7)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6071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A47FF-A45B-7253-0C75-4B4F82CC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C83BBD-76F2-8704-360A-435CD3FD8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2B164-B5E0-F053-DD99-9E5788FA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ABC6F-E12D-55CD-4FE9-BE39BC33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GB" sz="3100" dirty="0" err="1">
                <a:solidFill>
                  <a:srgbClr val="FFFFFF"/>
                </a:solidFill>
              </a:rPr>
              <a:t>Tipuri</a:t>
            </a:r>
            <a:r>
              <a:rPr lang="en-GB" sz="3100" dirty="0">
                <a:solidFill>
                  <a:srgbClr val="FFFFFF"/>
                </a:solidFill>
              </a:rPr>
              <a:t> de </a:t>
            </a:r>
            <a:r>
              <a:rPr lang="en-GB" sz="3100" dirty="0" err="1">
                <a:solidFill>
                  <a:srgbClr val="FFFFFF"/>
                </a:solidFill>
              </a:rPr>
              <a:t>constructori</a:t>
            </a:r>
            <a:endParaRPr lang="en-GB" sz="31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EB05D-A441-E9E3-46DF-AB501C364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13D54-F226-BF61-3906-1B114953E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5218211" cy="5991456"/>
          </a:xfrm>
        </p:spPr>
        <p:txBody>
          <a:bodyPr anchor="ctr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De </a:t>
            </a:r>
            <a:r>
              <a:rPr lang="en-GB" b="1" dirty="0" err="1"/>
              <a:t>copiere</a:t>
            </a:r>
            <a:r>
              <a:rPr lang="en-GB" b="1" dirty="0"/>
              <a:t> (copy constructor)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→ </a:t>
            </a:r>
            <a:r>
              <a:rPr lang="es-ES" dirty="0"/>
              <a:t>creat manual, copiază atributele dintr-un alt obiect al aceleiași clase.</a:t>
            </a: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Constructor standard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b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x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y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b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Constructor de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copiere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altPunct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0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this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altPunct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0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this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altPunct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System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n-NO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"("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", "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y 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nn-NO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")"</a:t>
            </a:r>
            <a:r>
              <a:rPr lang="nn-NO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n-NO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p1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5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7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p2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Punct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p1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copierea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valorilor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din p1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p2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(5, 7)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35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-2130" y="332656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 dirty="0" err="1">
                <a:solidFill>
                  <a:srgbClr val="FF0000"/>
                </a:solidFill>
              </a:rPr>
              <a:t>Reprezentarea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informațiilor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despre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Studenti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6988" y="1844824"/>
            <a:ext cx="8610600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20000"/>
              </a:spcAft>
              <a:buFontTx/>
              <a:buChar char="•"/>
            </a:pPr>
            <a:r>
              <a:rPr lang="en-US" altLang="ro-RO" sz="2400" i="0" dirty="0" err="1"/>
              <a:t>Înțelegerea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structurii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unei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mai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ușoară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contextul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unui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exemplu</a:t>
            </a:r>
            <a:r>
              <a:rPr lang="en-US" altLang="ro-RO" sz="2400" i="0" dirty="0"/>
              <a:t> specific. </a:t>
            </a:r>
            <a:r>
              <a:rPr lang="ro-RO" altLang="ro-RO" sz="2400" i="0" dirty="0"/>
              <a:t>În continuare se arată </a:t>
            </a:r>
            <a:r>
              <a:rPr lang="en-US" altLang="ro-RO" sz="2400" i="0" dirty="0" err="1"/>
              <a:t>definiția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unei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numită</a:t>
            </a:r>
            <a:r>
              <a:rPr lang="en-US" altLang="ro-RO" sz="2400" i="0" dirty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Student</a:t>
            </a:r>
            <a:r>
              <a:rPr lang="en-US" altLang="ro-RO" sz="2400" i="0" dirty="0"/>
              <a:t>, care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utilizată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pentru</a:t>
            </a:r>
            <a:r>
              <a:rPr lang="en-US" altLang="ro-RO" sz="2400" i="0" dirty="0"/>
              <a:t> a </a:t>
            </a:r>
            <a:r>
              <a:rPr lang="en-US" altLang="ro-RO" sz="2400" i="0" dirty="0" err="1"/>
              <a:t>urmări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următoarele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informații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despre</a:t>
            </a:r>
            <a:r>
              <a:rPr lang="en-US" altLang="ro-RO" sz="2400" i="0" dirty="0"/>
              <a:t> un student :</a:t>
            </a:r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err="1"/>
              <a:t>Numele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studentului</a:t>
            </a:r>
            <a:endParaRPr lang="en-US" altLang="ro-RO" sz="2000" i="0" dirty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err="1"/>
              <a:t>Numărul</a:t>
            </a:r>
            <a:r>
              <a:rPr lang="en-US" altLang="ro-RO" sz="2000" i="0" dirty="0"/>
              <a:t> de </a:t>
            </a:r>
            <a:r>
              <a:rPr lang="en-US" altLang="ro-RO" sz="2000" i="0" dirty="0" err="1"/>
              <a:t>identificare</a:t>
            </a:r>
            <a:r>
              <a:rPr lang="en-US" altLang="ro-RO" sz="2000" i="0" dirty="0"/>
              <a:t> din </a:t>
            </a:r>
            <a:r>
              <a:rPr lang="en-US" altLang="ro-RO" sz="2000" i="0" dirty="0" err="1"/>
              <a:t>șase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cifre</a:t>
            </a:r>
            <a:r>
              <a:rPr lang="en-US" altLang="ro-RO" sz="2000" i="0" dirty="0"/>
              <a:t> al </a:t>
            </a:r>
            <a:r>
              <a:rPr lang="en-US" altLang="ro-RO" sz="2000" i="0" dirty="0" err="1"/>
              <a:t>elevului</a:t>
            </a:r>
            <a:endParaRPr lang="en-US" altLang="ro-RO" sz="2000" i="0" dirty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err="1"/>
              <a:t>Numărul</a:t>
            </a:r>
            <a:r>
              <a:rPr lang="en-US" altLang="ro-RO" sz="2000" i="0" dirty="0"/>
              <a:t> de </a:t>
            </a:r>
            <a:r>
              <a:rPr lang="ro-RO" altLang="ro-RO" sz="2000" i="0" dirty="0"/>
              <a:t>credite </a:t>
            </a:r>
            <a:r>
              <a:rPr lang="en-US" altLang="ro-RO" sz="2000" i="0" dirty="0" err="1"/>
              <a:t>pe</a:t>
            </a:r>
            <a:r>
              <a:rPr lang="en-US" altLang="ro-RO" sz="2000" i="0" dirty="0"/>
              <a:t> care le-a </a:t>
            </a:r>
            <a:r>
              <a:rPr lang="ro-RO" altLang="ro-RO" sz="2000" i="0" dirty="0"/>
              <a:t>obținut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studentul</a:t>
            </a:r>
            <a:endParaRPr lang="en-US" altLang="ro-RO" sz="2000" i="0" dirty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/>
              <a:t>Un </a:t>
            </a:r>
            <a:r>
              <a:rPr lang="ro-RO" altLang="ro-RO" sz="2000" i="0" dirty="0"/>
              <a:t>indicator </a:t>
            </a:r>
            <a:r>
              <a:rPr lang="en-US" altLang="ro-RO" sz="2000" i="0" dirty="0"/>
              <a:t>care </a:t>
            </a:r>
            <a:r>
              <a:rPr lang="en-US" altLang="ro-RO" sz="2000" i="0" dirty="0" err="1"/>
              <a:t>indică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dacă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studentul</a:t>
            </a:r>
            <a:r>
              <a:rPr lang="en-US" altLang="ro-RO" sz="2000" i="0" dirty="0"/>
              <a:t> a </a:t>
            </a:r>
            <a:r>
              <a:rPr lang="en-US" altLang="ro-RO" sz="2000" i="0" dirty="0" err="1"/>
              <a:t>plătit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toate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taxele</a:t>
            </a:r>
            <a:r>
              <a:rPr lang="en-US" altLang="ro-RO" sz="2000" i="0" dirty="0"/>
              <a:t> </a:t>
            </a:r>
            <a:r>
              <a:rPr lang="en-US" altLang="ro-RO" sz="2000" i="0" dirty="0" err="1"/>
              <a:t>universitare</a:t>
            </a:r>
            <a:endParaRPr lang="en-US" altLang="ro-RO" sz="2000" i="0" dirty="0"/>
          </a:p>
        </p:txBody>
      </p:sp>
      <p:sp>
        <p:nvSpPr>
          <p:cNvPr id="690180" name="Rectangle 4"/>
          <p:cNvSpPr>
            <a:spLocks noChangeArrowheads="1"/>
          </p:cNvSpPr>
          <p:nvPr/>
        </p:nvSpPr>
        <p:spPr bwMode="auto">
          <a:xfrm>
            <a:off x="323528" y="4437112"/>
            <a:ext cx="864096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Fiecare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dintre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aceste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valori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stocată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într</a:t>
            </a:r>
            <a:r>
              <a:rPr lang="en-US" altLang="ro-RO" sz="2400" i="0" dirty="0"/>
              <a:t>-o </a:t>
            </a:r>
            <a:r>
              <a:rPr lang="en-US" altLang="ro-RO" sz="2400" i="0" dirty="0" err="1"/>
              <a:t>variabilă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instanță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tipul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corespunzător</a:t>
            </a:r>
            <a:r>
              <a:rPr lang="en-US" altLang="ro-RO" sz="2400" i="0" dirty="0"/>
              <a:t>.</a:t>
            </a:r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În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conformitate</a:t>
            </a:r>
            <a:r>
              <a:rPr lang="en-US" altLang="ro-RO" sz="2400" i="0" dirty="0"/>
              <a:t> cu </a:t>
            </a:r>
            <a:r>
              <a:rPr lang="en-US" altLang="ro-RO" sz="2400" i="0" dirty="0" err="1"/>
              <a:t>convenția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modernă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orientată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obiect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aceste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variabile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instanță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sunt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declarate</a:t>
            </a:r>
            <a:r>
              <a:rPr lang="en-US" altLang="ro-RO" sz="2400" i="0" dirty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private</a:t>
            </a:r>
            <a:r>
              <a:rPr lang="en-US" altLang="ro-RO" sz="2400" i="0" dirty="0"/>
              <a:t>. </a:t>
            </a:r>
            <a:r>
              <a:rPr lang="en-US" altLang="ro-RO" sz="2400" i="0" dirty="0" err="1"/>
              <a:t>Prin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urmare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acces</a:t>
            </a:r>
            <a:r>
              <a:rPr lang="ro-RO" altLang="ro-RO" sz="2400" i="0" dirty="0" err="1"/>
              <a:t>ul</a:t>
            </a:r>
            <a:r>
              <a:rPr lang="en-US" altLang="ro-RO" sz="2400" i="0" dirty="0"/>
              <a:t> la </a:t>
            </a:r>
            <a:r>
              <a:rPr lang="en-US" altLang="ro-RO" sz="2400" i="0" dirty="0" err="1"/>
              <a:t>aceste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valori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ro-RO" altLang="ro-RO" sz="2400" i="0" dirty="0"/>
              <a:t>inter</a:t>
            </a:r>
            <a:r>
              <a:rPr lang="en-US" altLang="ro-RO" sz="2400" i="0" dirty="0" err="1"/>
              <a:t>mediat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metode</a:t>
            </a:r>
            <a:r>
              <a:rPr lang="en-US" altLang="ro-RO" sz="2400" i="0" dirty="0"/>
              <a:t> d</a:t>
            </a:r>
            <a:r>
              <a:rPr lang="ro-RO" altLang="ro-RO" sz="2400" i="0" dirty="0"/>
              <a:t>in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clasa</a:t>
            </a:r>
            <a:r>
              <a:rPr lang="en-US" altLang="ro-RO" sz="2400" i="0" dirty="0"/>
              <a:t> Student.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80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472622" y="1281325"/>
            <a:ext cx="8351837" cy="518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Clasa Student ține evidența următoarelor date despre un student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numele studentului, numărul de identificare, 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numarul de credite obtinute de student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si, daca studentul are platite toate taxele.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Toate aceste informații sunt complet private pentru clasă.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alte clase pot obține aceste informații numai utilizând diverse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metode definite de clasă.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public class Student {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Creează un nou obiect Student cu numele și ID-ul specificat.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nl-NL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@param name </a:t>
            </a: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este n</a:t>
            </a:r>
            <a:r>
              <a:rPr lang="nl-NL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umele studentului ca șir</a:t>
            </a: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it-IT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@param </a:t>
            </a: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ID este n</a:t>
            </a:r>
            <a:r>
              <a:rPr lang="it-IT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umărul de identificare al elevului ca int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Student(String name, int id)</a:t>
            </a:r>
            <a:r>
              <a:rPr lang="ro-RO" altLang="ro-RO" sz="800" b="1" i="0" noProof="1"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numeStudent = name;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studentID = id;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  <a:endParaRPr lang="en-US" altLang="ro-RO" sz="1600" b="1" i="0" dirty="0">
              <a:latin typeface="Courier New" panose="02070309020205020404" pitchFamily="49" charset="0"/>
            </a:endParaRP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31300" cy="10874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2230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>
                <a:solidFill>
                  <a:srgbClr val="FF0000"/>
                </a:solidFill>
              </a:rPr>
              <a:t>Clasa </a:t>
            </a:r>
            <a:r>
              <a:rPr lang="en-US" altLang="ro-RO" sz="36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2232" name="Group 8"/>
          <p:cNvGrpSpPr>
            <a:grpSpLocks/>
          </p:cNvGrpSpPr>
          <p:nvPr/>
        </p:nvGrpSpPr>
        <p:grpSpPr bwMode="auto">
          <a:xfrm>
            <a:off x="431800" y="1219200"/>
            <a:ext cx="7994650" cy="2595563"/>
            <a:chOff x="272" y="768"/>
            <a:chExt cx="5036" cy="1635"/>
          </a:xfrm>
        </p:grpSpPr>
        <p:sp>
          <p:nvSpPr>
            <p:cNvPr id="33812" name="Rectangle 9"/>
            <p:cNvSpPr>
              <a:spLocks noChangeArrowheads="1"/>
            </p:cNvSpPr>
            <p:nvPr/>
          </p:nvSpPr>
          <p:spPr bwMode="auto">
            <a:xfrm>
              <a:off x="272" y="1096"/>
              <a:ext cx="5036" cy="13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13" name="AutoShape 10"/>
            <p:cNvSpPr>
              <a:spLocks noChangeArrowheads="1"/>
            </p:cNvSpPr>
            <p:nvPr/>
          </p:nvSpPr>
          <p:spPr bwMode="auto">
            <a:xfrm>
              <a:off x="2688" y="768"/>
              <a:ext cx="2249" cy="240"/>
            </a:xfrm>
            <a:prstGeom prst="wedgeRectCallout">
              <a:avLst>
                <a:gd name="adj1" fmla="val -44796"/>
                <a:gd name="adj2" fmla="val 80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pt-BR" altLang="ro-RO" dirty="0"/>
                <a:t>Acest comentariu descrie clasa în ansamblu</a:t>
              </a:r>
              <a:r>
                <a:rPr lang="en-US" altLang="ro-RO" dirty="0"/>
                <a:t>. </a:t>
              </a:r>
            </a:p>
          </p:txBody>
        </p:sp>
      </p:grpSp>
      <p:grpSp>
        <p:nvGrpSpPr>
          <p:cNvPr id="692235" name="Group 11"/>
          <p:cNvGrpSpPr>
            <a:grpSpLocks/>
          </p:cNvGrpSpPr>
          <p:nvPr/>
        </p:nvGrpSpPr>
        <p:grpSpPr bwMode="auto">
          <a:xfrm>
            <a:off x="431800" y="3940175"/>
            <a:ext cx="8407400" cy="354013"/>
            <a:chOff x="272" y="2482"/>
            <a:chExt cx="5036" cy="223"/>
          </a:xfrm>
        </p:grpSpPr>
        <p:sp>
          <p:nvSpPr>
            <p:cNvPr id="33810" name="Rectangle 12"/>
            <p:cNvSpPr>
              <a:spLocks noChangeArrowheads="1"/>
            </p:cNvSpPr>
            <p:nvPr/>
          </p:nvSpPr>
          <p:spPr bwMode="auto">
            <a:xfrm>
              <a:off x="272" y="2482"/>
              <a:ext cx="1770" cy="1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11" name="AutoShape 13"/>
            <p:cNvSpPr>
              <a:spLocks noChangeArrowheads="1"/>
            </p:cNvSpPr>
            <p:nvPr/>
          </p:nvSpPr>
          <p:spPr bwMode="auto">
            <a:xfrm>
              <a:off x="2160" y="2490"/>
              <a:ext cx="3148" cy="215"/>
            </a:xfrm>
            <a:prstGeom prst="wedgeRectCallout">
              <a:avLst>
                <a:gd name="adj1" fmla="val -53463"/>
                <a:gd name="adj2" fmla="val -1790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dirty="0" err="1"/>
                <a:t>Antetul</a:t>
              </a:r>
              <a:r>
                <a:rPr lang="en-US" altLang="ro-RO" dirty="0"/>
                <a:t> </a:t>
              </a:r>
              <a:r>
                <a:rPr lang="en-US" altLang="ro-RO" dirty="0" err="1"/>
                <a:t>clasei</a:t>
              </a:r>
              <a:r>
                <a:rPr lang="en-US" altLang="ro-RO" dirty="0"/>
                <a:t> </a:t>
              </a:r>
              <a:r>
                <a:rPr lang="en-US" altLang="ro-RO" dirty="0" err="1"/>
                <a:t>definește</a:t>
              </a:r>
              <a:r>
                <a:rPr lang="en-US" altLang="ro-RO" dirty="0"/>
                <a:t> 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Student</a:t>
              </a:r>
              <a:r>
                <a:rPr lang="en-US" altLang="ro-RO" dirty="0"/>
                <a:t> ca o </a:t>
              </a:r>
              <a:r>
                <a:rPr lang="en-US" altLang="ro-RO" dirty="0" err="1"/>
                <a:t>subclasă</a:t>
              </a:r>
              <a:r>
                <a:rPr lang="en-US" altLang="ro-RO" dirty="0"/>
                <a:t> </a:t>
              </a:r>
              <a:r>
                <a:rPr lang="en-US" altLang="ro-RO" dirty="0" err="1"/>
                <a:t>directă</a:t>
              </a:r>
              <a:r>
                <a:rPr lang="en-US" altLang="ro-RO" dirty="0"/>
                <a:t> a </a:t>
              </a:r>
              <a:r>
                <a:rPr lang="ro-RO" altLang="ro-RO" dirty="0"/>
                <a:t>clasei </a:t>
              </a:r>
              <a:r>
                <a:rPr lang="en-US" altLang="ro-RO" b="1" i="0" dirty="0">
                  <a:latin typeface="Courier New" panose="02070309020205020404" pitchFamily="49" charset="0"/>
                </a:rPr>
                <a:t>Object</a:t>
              </a:r>
              <a:endParaRPr lang="en-US" altLang="ro-RO" dirty="0"/>
            </a:p>
          </p:txBody>
        </p:sp>
      </p:grpSp>
      <p:grpSp>
        <p:nvGrpSpPr>
          <p:cNvPr id="692238" name="Group 14"/>
          <p:cNvGrpSpPr>
            <a:grpSpLocks/>
          </p:cNvGrpSpPr>
          <p:nvPr/>
        </p:nvGrpSpPr>
        <p:grpSpPr bwMode="auto">
          <a:xfrm>
            <a:off x="431800" y="4394200"/>
            <a:ext cx="8343900" cy="1577975"/>
            <a:chOff x="272" y="2768"/>
            <a:chExt cx="5256" cy="994"/>
          </a:xfrm>
        </p:grpSpPr>
        <p:sp>
          <p:nvSpPr>
            <p:cNvPr id="33808" name="Rectangle 15"/>
            <p:cNvSpPr>
              <a:spLocks noChangeArrowheads="1"/>
            </p:cNvSpPr>
            <p:nvPr/>
          </p:nvSpPr>
          <p:spPr bwMode="auto">
            <a:xfrm>
              <a:off x="272" y="2768"/>
              <a:ext cx="4925" cy="7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09" name="AutoShape 16"/>
            <p:cNvSpPr>
              <a:spLocks noChangeArrowheads="1"/>
            </p:cNvSpPr>
            <p:nvPr/>
          </p:nvSpPr>
          <p:spPr bwMode="auto">
            <a:xfrm>
              <a:off x="3570" y="3547"/>
              <a:ext cx="1958" cy="215"/>
            </a:xfrm>
            <a:prstGeom prst="wedgeRectCallout">
              <a:avLst>
                <a:gd name="adj1" fmla="val -34393"/>
                <a:gd name="adj2" fmla="val -12428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dirty="0" err="1"/>
                <a:t>Acest</a:t>
              </a:r>
              <a:r>
                <a:rPr lang="en-US" altLang="ro-RO" dirty="0"/>
                <a:t> </a:t>
              </a:r>
              <a:r>
                <a:rPr lang="en-US" altLang="ro-RO" dirty="0" err="1"/>
                <a:t>comentariu</a:t>
              </a:r>
              <a:r>
                <a:rPr lang="en-US" altLang="ro-RO" dirty="0"/>
                <a:t> </a:t>
              </a:r>
              <a:r>
                <a:rPr lang="en-US" altLang="ro-RO" dirty="0" err="1"/>
                <a:t>descrie</a:t>
              </a:r>
              <a:r>
                <a:rPr lang="en-US" altLang="ro-RO" dirty="0"/>
                <a:t> </a:t>
              </a:r>
              <a:r>
                <a:rPr lang="en-US" altLang="ro-RO" dirty="0" err="1"/>
                <a:t>constructorul</a:t>
              </a:r>
              <a:r>
                <a:rPr lang="en-US" altLang="ro-RO" dirty="0"/>
                <a:t>.</a:t>
              </a:r>
            </a:p>
          </p:txBody>
        </p:sp>
      </p:grpSp>
      <p:grpSp>
        <p:nvGrpSpPr>
          <p:cNvPr id="692241" name="Group 17"/>
          <p:cNvGrpSpPr>
            <a:grpSpLocks/>
          </p:cNvGrpSpPr>
          <p:nvPr/>
        </p:nvGrpSpPr>
        <p:grpSpPr bwMode="auto">
          <a:xfrm>
            <a:off x="736600" y="5521325"/>
            <a:ext cx="8039737" cy="950913"/>
            <a:chOff x="464" y="3478"/>
            <a:chExt cx="4374" cy="599"/>
          </a:xfrm>
        </p:grpSpPr>
        <p:sp>
          <p:nvSpPr>
            <p:cNvPr id="33806" name="Rectangle 18"/>
            <p:cNvSpPr>
              <a:spLocks noChangeArrowheads="1"/>
            </p:cNvSpPr>
            <p:nvPr/>
          </p:nvSpPr>
          <p:spPr bwMode="auto">
            <a:xfrm>
              <a:off x="464" y="3478"/>
              <a:ext cx="2901" cy="5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07" name="AutoShape 19"/>
            <p:cNvSpPr>
              <a:spLocks noChangeArrowheads="1"/>
            </p:cNvSpPr>
            <p:nvPr/>
          </p:nvSpPr>
          <p:spPr bwMode="auto">
            <a:xfrm>
              <a:off x="2781" y="3861"/>
              <a:ext cx="2057" cy="215"/>
            </a:xfrm>
            <a:prstGeom prst="wedgeRectCallout">
              <a:avLst>
                <a:gd name="adj1" fmla="val -54667"/>
                <a:gd name="adj2" fmla="val -50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dirty="0" err="1"/>
                <a:t>Constructorul</a:t>
              </a:r>
              <a:r>
                <a:rPr lang="en-US" altLang="ro-RO" dirty="0"/>
                <a:t> </a:t>
              </a:r>
              <a:r>
                <a:rPr lang="ro-RO" altLang="ro-RO" dirty="0" err="1"/>
                <a:t>actualizeaza</a:t>
              </a:r>
              <a:r>
                <a:rPr lang="ro-RO" altLang="ro-RO" dirty="0"/>
                <a:t> </a:t>
              </a:r>
              <a:r>
                <a:rPr lang="en-US" altLang="ro-RO" dirty="0" err="1"/>
                <a:t>variabilele</a:t>
              </a:r>
              <a:r>
                <a:rPr lang="en-US" altLang="ro-RO" dirty="0"/>
                <a:t> de </a:t>
              </a:r>
              <a:r>
                <a:rPr lang="en-US" altLang="ro-RO" dirty="0" err="1"/>
                <a:t>instanță</a:t>
              </a:r>
              <a:r>
                <a:rPr lang="en-US" altLang="ro-RO" dirty="0"/>
                <a:t>.</a:t>
              </a:r>
            </a:p>
          </p:txBody>
        </p:sp>
      </p:grpSp>
      <p:sp>
        <p:nvSpPr>
          <p:cNvPr id="33804" name="Text Box 2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3805" name="Text Box 21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1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auto">
          <a:xfrm>
            <a:off x="398463" y="1295400"/>
            <a:ext cx="8351837" cy="516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The Student class keeps track of the following pieces of data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about a student: the student's name, ID number, the number of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credite the student has earned toward graduation, and whether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the student is paid up with respect to university bills.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All of this information is entirely private to the class.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Clients can obtain this information only by using the various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methods defined by the class.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public class Student {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new Student object with the specified name and ID.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name The student's name as a String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id The student's ID number as an int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Student(String name, int id)</a:t>
            </a:r>
            <a:r>
              <a:rPr lang="ro-RO" altLang="ro-RO" sz="800" b="1" i="0" noProof="1"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numeStudent = name;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studentID = id;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  <a:endParaRPr lang="en-US" altLang="ro-RO" sz="1600" b="1" i="0" dirty="0">
              <a:latin typeface="Courier New" panose="02070309020205020404" pitchFamily="49" charset="0"/>
            </a:endParaRPr>
          </a:p>
        </p:txBody>
      </p:sp>
      <p:grpSp>
        <p:nvGrpSpPr>
          <p:cNvPr id="694276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35859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5860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Furnizeaza numele acestui student.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Numele acestui student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String getName()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numeStudent;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Furnizeaza ID ul acestui student.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ID ul acestui student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int getID()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studentID;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Actualizeaza (seteaza) numarul de credite.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@param credite Noul număr de unități câștigate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void setCredite(int credite)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crediteObtinute = credite;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35845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4281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400" dirty="0">
                <a:solidFill>
                  <a:srgbClr val="FF0000"/>
                </a:solidFill>
              </a:rPr>
              <a:t>Clasa </a:t>
            </a:r>
            <a:r>
              <a:rPr lang="en-US" altLang="ro-RO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4283" name="Group 11"/>
          <p:cNvGrpSpPr>
            <a:grpSpLocks/>
          </p:cNvGrpSpPr>
          <p:nvPr/>
        </p:nvGrpSpPr>
        <p:grpSpPr bwMode="auto">
          <a:xfrm>
            <a:off x="431800" y="1143000"/>
            <a:ext cx="8382000" cy="3505200"/>
            <a:chOff x="272" y="720"/>
            <a:chExt cx="5280" cy="2208"/>
          </a:xfrm>
        </p:grpSpPr>
        <p:sp>
          <p:nvSpPr>
            <p:cNvPr id="35856" name="Rectangle 12"/>
            <p:cNvSpPr>
              <a:spLocks noChangeArrowheads="1"/>
            </p:cNvSpPr>
            <p:nvPr/>
          </p:nvSpPr>
          <p:spPr bwMode="auto">
            <a:xfrm>
              <a:off x="272" y="720"/>
              <a:ext cx="3164" cy="220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5857" name="AutoShape 13"/>
            <p:cNvSpPr>
              <a:spLocks noChangeArrowheads="1"/>
            </p:cNvSpPr>
            <p:nvPr/>
          </p:nvSpPr>
          <p:spPr bwMode="auto">
            <a:xfrm>
              <a:off x="3696" y="1056"/>
              <a:ext cx="1856" cy="683"/>
            </a:xfrm>
            <a:prstGeom prst="wedgeRectCallout">
              <a:avLst>
                <a:gd name="adj1" fmla="val -64468"/>
                <a:gd name="adj2" fmla="val -4765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5858" name="Rectangle 14"/>
            <p:cNvSpPr>
              <a:spLocks noChangeArrowheads="1"/>
            </p:cNvSpPr>
            <p:nvPr/>
          </p:nvSpPr>
          <p:spPr bwMode="auto">
            <a:xfrm>
              <a:off x="3696" y="1026"/>
              <a:ext cx="1845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Aceste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metode</a:t>
              </a:r>
              <a:r>
                <a:rPr lang="en-US" altLang="ro-RO" dirty="0"/>
                <a:t> </a:t>
              </a:r>
              <a:r>
                <a:rPr lang="ro-RO" altLang="ro-RO" dirty="0" err="1"/>
                <a:t>furnizeaza</a:t>
              </a:r>
              <a:r>
                <a:rPr lang="ro-RO" altLang="ro-RO" dirty="0"/>
                <a:t> </a:t>
              </a:r>
              <a:r>
                <a:rPr lang="en-US" altLang="ro-RO" dirty="0" err="1"/>
                <a:t>valoarea</a:t>
              </a:r>
              <a:r>
                <a:rPr lang="en-US" altLang="ro-RO" dirty="0"/>
                <a:t> </a:t>
              </a:r>
              <a:r>
                <a:rPr lang="en-US" altLang="ro-RO" dirty="0" err="1"/>
                <a:t>unei</a:t>
              </a:r>
              <a:r>
                <a:rPr lang="en-US" altLang="ro-RO" dirty="0"/>
                <a:t> </a:t>
              </a:r>
              <a:r>
                <a:rPr lang="en-US" altLang="ro-RO" dirty="0" err="1"/>
                <a:t>variabile</a:t>
              </a:r>
              <a:r>
                <a:rPr lang="en-US" altLang="ro-RO" dirty="0"/>
                <a:t> de </a:t>
              </a:r>
              <a:r>
                <a:rPr lang="en-US" altLang="ro-RO" dirty="0" err="1"/>
                <a:t>instanță</a:t>
              </a:r>
              <a:r>
                <a:rPr lang="en-US" altLang="ro-RO" dirty="0"/>
                <a:t> </a:t>
              </a:r>
              <a:r>
                <a:rPr lang="en-US" altLang="ro-RO" dirty="0" err="1"/>
                <a:t>și</a:t>
              </a:r>
              <a:r>
                <a:rPr lang="en-US" altLang="ro-RO" dirty="0"/>
                <a:t> se </a:t>
              </a:r>
              <a:r>
                <a:rPr lang="en-US" altLang="ro-RO" dirty="0" err="1"/>
                <a:t>numesc</a:t>
              </a:r>
              <a:r>
                <a:rPr lang="en-US" altLang="ro-RO" dirty="0"/>
                <a:t> </a:t>
              </a:r>
              <a:r>
                <a:rPr lang="en-US" altLang="ro-RO" b="1" dirty="0"/>
                <a:t>getters</a:t>
              </a:r>
              <a:r>
                <a:rPr lang="en-US" altLang="ro-RO" dirty="0"/>
                <a:t>. </a:t>
              </a:r>
              <a:r>
                <a:rPr lang="en-US" altLang="ro-RO" dirty="0" err="1"/>
                <a:t>Deoarece</a:t>
              </a:r>
              <a:r>
                <a:rPr lang="en-US" altLang="ro-RO" dirty="0"/>
                <a:t> </a:t>
              </a:r>
              <a:r>
                <a:rPr lang="en-US" altLang="ro-RO" dirty="0" err="1"/>
                <a:t>numele</a:t>
              </a:r>
              <a:r>
                <a:rPr lang="en-US" altLang="ro-RO" dirty="0"/>
                <a:t> </a:t>
              </a:r>
              <a:r>
                <a:rPr lang="en-US" altLang="ro-RO" dirty="0" err="1"/>
                <a:t>studentului</a:t>
              </a:r>
              <a:r>
                <a:rPr lang="en-US" altLang="ro-RO" dirty="0"/>
                <a:t> </a:t>
              </a:r>
              <a:r>
                <a:rPr lang="en-US" altLang="ro-RO" dirty="0" err="1"/>
                <a:t>și</a:t>
              </a:r>
              <a:r>
                <a:rPr lang="en-US" altLang="ro-RO" dirty="0"/>
                <a:t> </a:t>
              </a:r>
              <a:r>
                <a:rPr lang="en-US" altLang="ro-RO" dirty="0" err="1"/>
                <a:t>numărul</a:t>
              </a:r>
              <a:r>
                <a:rPr lang="en-US" altLang="ro-RO" dirty="0"/>
                <a:t> de </a:t>
              </a:r>
              <a:r>
                <a:rPr lang="en-US" altLang="ro-RO" dirty="0" err="1"/>
                <a:t>identificare</a:t>
              </a:r>
              <a:r>
                <a:rPr lang="en-US" altLang="ro-RO" dirty="0"/>
                <a:t> </a:t>
              </a:r>
              <a:r>
                <a:rPr lang="en-US" altLang="ro-RO" dirty="0" err="1"/>
                <a:t>sunt</a:t>
              </a:r>
              <a:r>
                <a:rPr lang="en-US" altLang="ro-RO" dirty="0"/>
                <a:t> fixate, nu </a:t>
              </a:r>
              <a:r>
                <a:rPr lang="en-US" altLang="ro-RO" dirty="0" err="1"/>
                <a:t>există</a:t>
              </a:r>
              <a:r>
                <a:rPr lang="en-US" altLang="ro-RO" dirty="0"/>
                <a:t> </a:t>
              </a:r>
              <a:r>
                <a:rPr lang="ro-RO" altLang="ro-RO" b="1" dirty="0" err="1"/>
                <a:t>setters</a:t>
              </a:r>
              <a:r>
                <a:rPr lang="ro-RO" altLang="ro-RO" dirty="0"/>
                <a:t> </a:t>
              </a:r>
              <a:r>
                <a:rPr lang="en-US" altLang="ro-RO" dirty="0" err="1"/>
                <a:t>corespunzători</a:t>
              </a:r>
              <a:r>
                <a:rPr lang="en-US" altLang="ro-RO" dirty="0"/>
                <a:t>.</a:t>
              </a:r>
            </a:p>
          </p:txBody>
        </p:sp>
      </p:grpSp>
      <p:grpSp>
        <p:nvGrpSpPr>
          <p:cNvPr id="694287" name="Group 15"/>
          <p:cNvGrpSpPr>
            <a:grpSpLocks/>
          </p:cNvGrpSpPr>
          <p:nvPr/>
        </p:nvGrpSpPr>
        <p:grpSpPr bwMode="auto">
          <a:xfrm>
            <a:off x="439738" y="3676650"/>
            <a:ext cx="8170862" cy="2708275"/>
            <a:chOff x="277" y="2316"/>
            <a:chExt cx="5147" cy="1706"/>
          </a:xfrm>
        </p:grpSpPr>
        <p:sp>
          <p:nvSpPr>
            <p:cNvPr id="35853" name="Rectangle 16"/>
            <p:cNvSpPr>
              <a:spLocks noChangeArrowheads="1"/>
            </p:cNvSpPr>
            <p:nvPr/>
          </p:nvSpPr>
          <p:spPr bwMode="auto">
            <a:xfrm>
              <a:off x="277" y="2926"/>
              <a:ext cx="3964" cy="10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5854" name="AutoShape 17"/>
            <p:cNvSpPr>
              <a:spLocks noChangeArrowheads="1"/>
            </p:cNvSpPr>
            <p:nvPr/>
          </p:nvSpPr>
          <p:spPr bwMode="auto">
            <a:xfrm>
              <a:off x="3696" y="2316"/>
              <a:ext cx="1728" cy="431"/>
            </a:xfrm>
            <a:prstGeom prst="wedgeRectCallout">
              <a:avLst>
                <a:gd name="adj1" fmla="val -40565"/>
                <a:gd name="adj2" fmla="val 88514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5855" name="Rectangle 18"/>
            <p:cNvSpPr>
              <a:spLocks noChangeArrowheads="1"/>
            </p:cNvSpPr>
            <p:nvPr/>
          </p:nvSpPr>
          <p:spPr bwMode="auto">
            <a:xfrm>
              <a:off x="3696" y="2336"/>
              <a:ext cx="17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Această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metodă</a:t>
              </a:r>
              <a:r>
                <a:rPr lang="en-US" altLang="ro-RO" dirty="0"/>
                <a:t> </a:t>
              </a:r>
              <a:r>
                <a:rPr lang="en-US" altLang="ro-RO" dirty="0" err="1"/>
                <a:t>modifică</a:t>
              </a:r>
              <a:r>
                <a:rPr lang="en-US" altLang="ro-RO" dirty="0"/>
                <a:t> </a:t>
              </a:r>
              <a:r>
                <a:rPr lang="en-US" altLang="ro-RO" dirty="0" err="1"/>
                <a:t>valoarea</a:t>
              </a:r>
              <a:r>
                <a:rPr lang="en-US" altLang="ro-RO" dirty="0"/>
                <a:t> </a:t>
              </a:r>
              <a:r>
                <a:rPr lang="en-US" altLang="ro-RO" dirty="0" err="1"/>
                <a:t>unei</a:t>
              </a:r>
              <a:r>
                <a:rPr lang="en-US" altLang="ro-RO" dirty="0"/>
                <a:t> </a:t>
              </a:r>
              <a:r>
                <a:rPr lang="en-US" altLang="ro-RO" dirty="0" err="1"/>
                <a:t>variabile</a:t>
              </a:r>
              <a:r>
                <a:rPr lang="en-US" altLang="ro-RO" dirty="0"/>
                <a:t> de </a:t>
              </a:r>
              <a:r>
                <a:rPr lang="en-US" altLang="ro-RO" dirty="0" err="1"/>
                <a:t>instanță</a:t>
              </a:r>
              <a:r>
                <a:rPr lang="en-US" altLang="ro-RO" dirty="0"/>
                <a:t> </a:t>
              </a:r>
              <a:r>
                <a:rPr lang="en-US" altLang="ro-RO" dirty="0" err="1"/>
                <a:t>și</a:t>
              </a:r>
              <a:r>
                <a:rPr lang="en-US" altLang="ro-RO" dirty="0"/>
                <a:t> se </a:t>
              </a:r>
              <a:r>
                <a:rPr lang="en-US" altLang="ro-RO" dirty="0" err="1"/>
                <a:t>numește</a:t>
              </a:r>
              <a:r>
                <a:rPr lang="en-US" altLang="ro-RO" dirty="0"/>
                <a:t> </a:t>
              </a:r>
              <a:r>
                <a:rPr lang="en-US" altLang="ro-RO" b="1" dirty="0"/>
                <a:t>setter</a:t>
              </a:r>
              <a:r>
                <a:rPr lang="en-US" altLang="ro-RO" dirty="0"/>
                <a:t>.</a:t>
              </a:r>
            </a:p>
          </p:txBody>
        </p:sp>
      </p:grpSp>
      <p:sp>
        <p:nvSpPr>
          <p:cNvPr id="35851" name="Text Box 1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5852" name="Text Box 20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2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98450" y="960438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696323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516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Gets the name of this student.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The name of this student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String getName()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numeStudent;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Gets the ID number of this student.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The ID number of this student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int getID()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studentID;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Sets the number of credite earned.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@param credite The new number of credite earned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void setCredite(int credite)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crediteObtinute = credite;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696324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37903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7904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Furnizeaza creditele obtinute de acest student.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Numărul de credite pe care le-a obtinut acest student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int getCredite()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crediteObtinute;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actualizeaza informatia referitoare la plata taxelor.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@param flag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poate fi </a:t>
              </a:r>
              <a:r>
                <a:rPr lang="en-US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true sau false care indică starea achitată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void setPlatit(boolean flag)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platit = flag;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Furnizeaza informatia despre plata taxelor.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daca studentul a platit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boolean estePlatit()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platit;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37893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7894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6329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936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400" dirty="0">
                <a:solidFill>
                  <a:srgbClr val="FF0000"/>
                </a:solidFill>
              </a:rPr>
              <a:t>Clasa </a:t>
            </a:r>
            <a:r>
              <a:rPr lang="en-US" altLang="ro-RO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7896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6331" name="Group 11"/>
          <p:cNvGrpSpPr>
            <a:grpSpLocks/>
          </p:cNvGrpSpPr>
          <p:nvPr/>
        </p:nvGrpSpPr>
        <p:grpSpPr bwMode="auto">
          <a:xfrm>
            <a:off x="439738" y="4421188"/>
            <a:ext cx="8399462" cy="1963737"/>
            <a:chOff x="277" y="2785"/>
            <a:chExt cx="5147" cy="1237"/>
          </a:xfrm>
        </p:grpSpPr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>
              <a:off x="277" y="2926"/>
              <a:ext cx="3411" cy="10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7901" name="AutoShape 13"/>
            <p:cNvSpPr>
              <a:spLocks noChangeArrowheads="1"/>
            </p:cNvSpPr>
            <p:nvPr/>
          </p:nvSpPr>
          <p:spPr bwMode="auto">
            <a:xfrm>
              <a:off x="3696" y="2785"/>
              <a:ext cx="1728" cy="671"/>
            </a:xfrm>
            <a:prstGeom prst="wedgeRectCallout">
              <a:avLst>
                <a:gd name="adj1" fmla="val -56481"/>
                <a:gd name="adj2" fmla="val -290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7902" name="Rectangle 14"/>
            <p:cNvSpPr>
              <a:spLocks noChangeArrowheads="1"/>
            </p:cNvSpPr>
            <p:nvPr/>
          </p:nvSpPr>
          <p:spPr bwMode="auto">
            <a:xfrm>
              <a:off x="3696" y="2805"/>
              <a:ext cx="1728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Numele</a:t>
              </a:r>
              <a:r>
                <a:rPr lang="en-US" altLang="ro-RO" dirty="0"/>
                <a:t> </a:t>
              </a:r>
              <a:r>
                <a:rPr lang="en-US" altLang="ro-RO" dirty="0" err="1"/>
                <a:t>pentru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metodele</a:t>
              </a:r>
              <a:r>
                <a:rPr lang="en-US" altLang="ro-RO" dirty="0"/>
                <a:t> getter </a:t>
              </a:r>
              <a:r>
                <a:rPr lang="en-US" altLang="ro-RO" dirty="0" err="1"/>
                <a:t>încep</a:t>
              </a:r>
              <a:r>
                <a:rPr lang="en-US" altLang="ro-RO" dirty="0"/>
                <a:t> de </a:t>
              </a:r>
              <a:r>
                <a:rPr lang="en-US" altLang="ro-RO" dirty="0" err="1"/>
                <a:t>obicei</a:t>
              </a:r>
              <a:r>
                <a:rPr lang="en-US" altLang="ro-RO" dirty="0"/>
                <a:t> cu </a:t>
              </a:r>
              <a:r>
                <a:rPr lang="en-US" altLang="ro-RO" dirty="0" err="1"/>
                <a:t>prefixul</a:t>
              </a:r>
              <a:r>
                <a:rPr lang="en-US" altLang="ro-RO" dirty="0"/>
                <a:t> 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get</a:t>
              </a:r>
              <a:r>
                <a:rPr lang="en-US" altLang="ro-RO" dirty="0"/>
                <a:t>. </a:t>
              </a:r>
              <a:r>
                <a:rPr lang="en-US" altLang="ro-RO" dirty="0" err="1"/>
                <a:t>Singura</a:t>
              </a:r>
              <a:r>
                <a:rPr lang="en-US" altLang="ro-RO" dirty="0"/>
                <a:t> </a:t>
              </a:r>
              <a:r>
                <a:rPr lang="en-US" altLang="ro-RO" dirty="0" err="1"/>
                <a:t>excepție</a:t>
              </a:r>
              <a:r>
                <a:rPr lang="en-US" altLang="ro-RO" dirty="0"/>
                <a:t> </a:t>
              </a:r>
              <a:r>
                <a:rPr lang="en-US" altLang="ro-RO" dirty="0" err="1"/>
                <a:t>este</a:t>
              </a:r>
              <a:r>
                <a:rPr lang="en-US" altLang="ro-RO" dirty="0"/>
                <a:t> </a:t>
              </a:r>
              <a:r>
                <a:rPr lang="en-US" altLang="ro-RO" dirty="0" err="1"/>
                <a:t>pentru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metodele</a:t>
              </a:r>
              <a:r>
                <a:rPr lang="en-US" altLang="ro-RO" dirty="0"/>
                <a:t> getter care </a:t>
              </a:r>
              <a:r>
                <a:rPr lang="en-US" altLang="ro-RO" dirty="0" err="1"/>
                <a:t>returnează</a:t>
              </a:r>
              <a:r>
                <a:rPr lang="en-US" altLang="ro-RO" dirty="0"/>
                <a:t> un </a:t>
              </a:r>
              <a:r>
                <a:rPr lang="en-US" altLang="ro-RO" sz="1200" b="1" i="0" dirty="0" err="1">
                  <a:latin typeface="Courier New" panose="02070309020205020404" pitchFamily="49" charset="0"/>
                </a:rPr>
                <a:t>boolean</a:t>
              </a:r>
              <a:r>
                <a:rPr lang="en-US" altLang="ro-RO" dirty="0"/>
                <a:t>, </a:t>
              </a:r>
              <a:r>
                <a:rPr lang="en-US" altLang="ro-RO" dirty="0" err="1"/>
                <a:t>caz</a:t>
              </a:r>
              <a:r>
                <a:rPr lang="en-US" altLang="ro-RO" dirty="0"/>
                <a:t> </a:t>
              </a:r>
              <a:r>
                <a:rPr lang="en-US" altLang="ro-RO" dirty="0" err="1"/>
                <a:t>în</a:t>
              </a:r>
              <a:r>
                <a:rPr lang="en-US" altLang="ro-RO" dirty="0"/>
                <a:t> care </a:t>
              </a:r>
              <a:r>
                <a:rPr lang="en-US" altLang="ro-RO" dirty="0" err="1"/>
                <a:t>numele</a:t>
              </a:r>
              <a:r>
                <a:rPr lang="en-US" altLang="ro-RO" dirty="0"/>
                <a:t> </a:t>
              </a:r>
              <a:r>
                <a:rPr lang="en-US" altLang="ro-RO" dirty="0" err="1"/>
                <a:t>începe</a:t>
              </a:r>
              <a:r>
                <a:rPr lang="en-US" altLang="ro-RO" dirty="0"/>
                <a:t> de </a:t>
              </a:r>
              <a:r>
                <a:rPr lang="en-US" altLang="ro-RO" dirty="0" err="1"/>
                <a:t>obicei</a:t>
              </a:r>
              <a:r>
                <a:rPr lang="en-US" altLang="ro-RO" dirty="0"/>
                <a:t> cu </a:t>
              </a:r>
              <a:r>
                <a:rPr lang="ro-RO" altLang="ro-RO" dirty="0" err="1"/>
                <a:t>is</a:t>
              </a:r>
              <a:r>
                <a:rPr lang="en-US" altLang="ro-RO" dirty="0"/>
                <a:t>.</a:t>
              </a:r>
            </a:p>
          </p:txBody>
        </p:sp>
      </p:grpSp>
      <p:sp>
        <p:nvSpPr>
          <p:cNvPr id="37898" name="Text Box 1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7899" name="Text Box 16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3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04800" y="1076325"/>
            <a:ext cx="88265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398463" y="1168400"/>
            <a:ext cx="8351837" cy="516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Gets the number of credite earned.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The number of credite this student has earned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int getCredite()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crediteObtinute;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Sets whether the student is paid up.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@param flag The value true or false indicating paid-up status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void setPlatit(boolean flag)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platit = flag;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Returns whether the student is paid up.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Whether the student is paid up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boolean estePlatit()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platit;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698372" name="Group 4"/>
          <p:cNvGrpSpPr>
            <a:grpSpLocks/>
          </p:cNvGrpSpPr>
          <p:nvPr/>
        </p:nvGrpSpPr>
        <p:grpSpPr bwMode="auto">
          <a:xfrm>
            <a:off x="381000" y="1143000"/>
            <a:ext cx="8418513" cy="5257800"/>
            <a:chOff x="240" y="720"/>
            <a:chExt cx="5303" cy="3312"/>
          </a:xfrm>
        </p:grpSpPr>
        <p:sp>
          <p:nvSpPr>
            <p:cNvPr id="39958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9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92" cy="2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Creează un șir care identifică acest student.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Șirul folosit pentru afișarea acestui student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String toString()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numeStudent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+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"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(#"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+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studentID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+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")";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endParaRPr lang="ro-RO" altLang="ro-RO" sz="10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Constante Public  */</a:t>
              </a:r>
            </a:p>
            <a:p>
              <a:pPr>
                <a:lnSpc>
                  <a:spcPct val="90000"/>
                </a:lnSpc>
              </a:pPr>
              <a:endParaRPr lang="ro-RO" altLang="ro-RO" sz="10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 </a:t>
              </a:r>
              <a:r>
                <a:rPr lang="pt-BR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Numărul de credite necesare pentru absolvire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static final int CREDITE_NECESARE_ABSOLVIRE = 180;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Variabile de instanta private */</a:t>
              </a:r>
            </a:p>
            <a:p>
              <a:pPr>
                <a:lnSpc>
                  <a:spcPct val="90000"/>
                </a:lnSpc>
              </a:pPr>
              <a:endParaRPr lang="ro-RO" altLang="ro-RO" sz="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String numeStudent;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Numele studentului         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studentID;     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ID student                 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crediteObtinute;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Numar de credite obtinute  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boolean platit;    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Daca studentul a platit taxe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}</a:t>
              </a:r>
            </a:p>
          </p:txBody>
        </p:sp>
      </p:grpSp>
      <p:sp>
        <p:nvSpPr>
          <p:cNvPr id="39941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9942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8377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477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400" dirty="0">
                <a:solidFill>
                  <a:srgbClr val="FF0000"/>
                </a:solidFill>
              </a:rPr>
              <a:t>Clasa </a:t>
            </a:r>
            <a:r>
              <a:rPr lang="en-US" altLang="ro-RO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9944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8379" name="Group 11"/>
          <p:cNvGrpSpPr>
            <a:grpSpLocks/>
          </p:cNvGrpSpPr>
          <p:nvPr/>
        </p:nvGrpSpPr>
        <p:grpSpPr bwMode="auto">
          <a:xfrm>
            <a:off x="406400" y="1155700"/>
            <a:ext cx="8724900" cy="1679575"/>
            <a:chOff x="256" y="728"/>
            <a:chExt cx="5296" cy="1058"/>
          </a:xfrm>
        </p:grpSpPr>
        <p:sp>
          <p:nvSpPr>
            <p:cNvPr id="39955" name="Rectangle 12"/>
            <p:cNvSpPr>
              <a:spLocks noChangeArrowheads="1"/>
            </p:cNvSpPr>
            <p:nvPr/>
          </p:nvSpPr>
          <p:spPr bwMode="auto">
            <a:xfrm>
              <a:off x="256" y="728"/>
              <a:ext cx="3968" cy="105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6" name="AutoShape 13"/>
            <p:cNvSpPr>
              <a:spLocks noChangeArrowheads="1"/>
            </p:cNvSpPr>
            <p:nvPr/>
          </p:nvSpPr>
          <p:spPr bwMode="auto">
            <a:xfrm>
              <a:off x="4320" y="892"/>
              <a:ext cx="1217" cy="840"/>
            </a:xfrm>
            <a:prstGeom prst="wedgeRectCallout">
              <a:avLst>
                <a:gd name="adj1" fmla="val -57560"/>
                <a:gd name="adj2" fmla="val 2556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9957" name="Rectangle 14"/>
            <p:cNvSpPr>
              <a:spLocks noChangeArrowheads="1"/>
            </p:cNvSpPr>
            <p:nvPr/>
          </p:nvSpPr>
          <p:spPr bwMode="auto">
            <a:xfrm>
              <a:off x="4320" y="912"/>
              <a:ext cx="1232" cy="8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Metoda</a:t>
              </a:r>
              <a:r>
                <a:rPr lang="en-US" altLang="ro-RO" dirty="0"/>
                <a:t> </a:t>
              </a:r>
              <a:r>
                <a:rPr lang="en-US" altLang="ro-RO" sz="1200" b="1" i="0" dirty="0" err="1">
                  <a:latin typeface="Courier New" panose="02070309020205020404" pitchFamily="49" charset="0"/>
                </a:rPr>
                <a:t>toString</a:t>
              </a:r>
              <a:r>
                <a:rPr lang="en-US" altLang="ro-RO" dirty="0"/>
                <a:t>  </a:t>
              </a:r>
              <a:r>
                <a:rPr lang="en-US" altLang="ro-RO" dirty="0" err="1"/>
                <a:t>spune</a:t>
              </a:r>
              <a:r>
                <a:rPr lang="en-US" altLang="ro-RO" dirty="0"/>
                <a:t> </a:t>
              </a:r>
              <a:r>
                <a:rPr lang="ro-RO" altLang="ro-RO" dirty="0"/>
                <a:t>mediului </a:t>
              </a:r>
              <a:r>
                <a:rPr lang="en-US" altLang="ro-RO" dirty="0"/>
                <a:t>Java cum </a:t>
              </a:r>
              <a:r>
                <a:rPr lang="en-US" altLang="ro-RO" dirty="0" err="1"/>
                <a:t>să</a:t>
              </a:r>
              <a:r>
                <a:rPr lang="en-US" altLang="ro-RO" dirty="0"/>
                <a:t> </a:t>
              </a:r>
              <a:r>
                <a:rPr lang="en-US" altLang="ro-RO" dirty="0" err="1"/>
                <a:t>afișeze</a:t>
              </a:r>
              <a:r>
                <a:rPr lang="en-US" altLang="ro-RO" dirty="0"/>
                <a:t> o </a:t>
              </a:r>
              <a:r>
                <a:rPr lang="en-US" altLang="ro-RO" dirty="0" err="1"/>
                <a:t>valoare</a:t>
              </a:r>
              <a:r>
                <a:rPr lang="en-US" altLang="ro-RO" dirty="0"/>
                <a:t> a </a:t>
              </a:r>
              <a:r>
                <a:rPr lang="en-US" altLang="ro-RO" dirty="0" err="1"/>
                <a:t>acestei</a:t>
              </a:r>
              <a:r>
                <a:rPr lang="en-US" altLang="ro-RO" dirty="0"/>
                <a:t> </a:t>
              </a:r>
              <a:r>
                <a:rPr lang="en-US" altLang="ro-RO" dirty="0" err="1"/>
                <a:t>clase</a:t>
              </a:r>
              <a:r>
                <a:rPr lang="en-US" altLang="ro-RO" dirty="0"/>
                <a:t>. </a:t>
              </a:r>
              <a:r>
                <a:rPr lang="en-US" altLang="ro-RO" dirty="0" err="1"/>
                <a:t>Toate</a:t>
              </a:r>
              <a:r>
                <a:rPr lang="en-US" altLang="ro-RO" dirty="0"/>
                <a:t> </a:t>
              </a:r>
              <a:r>
                <a:rPr lang="en-US" altLang="ro-RO" dirty="0" err="1"/>
                <a:t>clasele</a:t>
              </a:r>
              <a:r>
                <a:rPr lang="ro-RO" altLang="ro-RO" dirty="0"/>
                <a:t> </a:t>
              </a:r>
              <a:r>
                <a:rPr lang="en-US" altLang="ro-RO" dirty="0" err="1"/>
                <a:t>ar</a:t>
              </a:r>
              <a:r>
                <a:rPr lang="en-US" altLang="ro-RO" dirty="0"/>
                <a:t> </a:t>
              </a:r>
              <a:r>
                <a:rPr lang="en-US" altLang="ro-RO" dirty="0" err="1"/>
                <a:t>trebui</a:t>
              </a:r>
              <a:r>
                <a:rPr lang="en-US" altLang="ro-RO" dirty="0"/>
                <a:t> </a:t>
              </a:r>
              <a:r>
                <a:rPr lang="en-US" altLang="ro-RO" dirty="0" err="1"/>
                <a:t>să</a:t>
              </a:r>
              <a:r>
                <a:rPr lang="en-US" altLang="ro-RO" dirty="0"/>
                <a:t> </a:t>
              </a:r>
              <a:r>
                <a:rPr lang="ro-RO" altLang="ro-RO" dirty="0"/>
                <a:t>suprascrie (</a:t>
              </a:r>
              <a:r>
                <a:rPr lang="ro-RO" altLang="ro-RO" dirty="0" err="1"/>
                <a:t>override</a:t>
              </a:r>
              <a:r>
                <a:rPr lang="ro-RO" altLang="ro-RO" dirty="0"/>
                <a:t>) </a:t>
              </a:r>
              <a:r>
                <a:rPr lang="ro-RO" altLang="ro-RO" sz="1200" b="1" i="0" dirty="0" err="1">
                  <a:latin typeface="Courier New" panose="02070309020205020404" pitchFamily="49" charset="0"/>
                </a:rPr>
                <a:t>to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String</a:t>
              </a:r>
            </a:p>
          </p:txBody>
        </p:sp>
      </p:grpSp>
      <p:grpSp>
        <p:nvGrpSpPr>
          <p:cNvPr id="698383" name="Group 15"/>
          <p:cNvGrpSpPr>
            <a:grpSpLocks/>
          </p:cNvGrpSpPr>
          <p:nvPr/>
        </p:nvGrpSpPr>
        <p:grpSpPr bwMode="auto">
          <a:xfrm>
            <a:off x="412750" y="2946400"/>
            <a:ext cx="8366125" cy="1036638"/>
            <a:chOff x="260" y="1856"/>
            <a:chExt cx="5270" cy="653"/>
          </a:xfrm>
        </p:grpSpPr>
        <p:sp>
          <p:nvSpPr>
            <p:cNvPr id="39953" name="Rectangle 16"/>
            <p:cNvSpPr>
              <a:spLocks noChangeArrowheads="1"/>
            </p:cNvSpPr>
            <p:nvPr/>
          </p:nvSpPr>
          <p:spPr bwMode="auto">
            <a:xfrm>
              <a:off x="260" y="2168"/>
              <a:ext cx="4797" cy="3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4" name="AutoShape 17"/>
            <p:cNvSpPr>
              <a:spLocks noChangeArrowheads="1"/>
            </p:cNvSpPr>
            <p:nvPr/>
          </p:nvSpPr>
          <p:spPr bwMode="auto">
            <a:xfrm>
              <a:off x="3642" y="1856"/>
              <a:ext cx="1888" cy="240"/>
            </a:xfrm>
            <a:prstGeom prst="wedgeRectCallout">
              <a:avLst>
                <a:gd name="adj1" fmla="val -40574"/>
                <a:gd name="adj2" fmla="val 73333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ro-RO" dirty="0" err="1"/>
                <a:t>Clasele</a:t>
              </a:r>
              <a:r>
                <a:rPr lang="en-US" altLang="ro-RO" dirty="0"/>
                <a:t> </a:t>
              </a:r>
              <a:r>
                <a:rPr lang="en-US" altLang="ro-RO" dirty="0" err="1"/>
                <a:t>exportă</a:t>
              </a:r>
              <a:r>
                <a:rPr lang="en-US" altLang="ro-RO" dirty="0"/>
                <a:t> </a:t>
              </a:r>
              <a:r>
                <a:rPr lang="en-US" altLang="ro-RO" dirty="0" err="1"/>
                <a:t>adesea</a:t>
              </a:r>
              <a:r>
                <a:rPr lang="en-US" altLang="ro-RO" dirty="0"/>
                <a:t> </a:t>
              </a:r>
              <a:r>
                <a:rPr lang="en-US" altLang="ro-RO" dirty="0" err="1"/>
                <a:t>constante</a:t>
              </a:r>
              <a:endParaRPr lang="en-US" altLang="ro-RO" dirty="0"/>
            </a:p>
          </p:txBody>
        </p:sp>
      </p:grpSp>
      <p:grpSp>
        <p:nvGrpSpPr>
          <p:cNvPr id="698386" name="Group 18"/>
          <p:cNvGrpSpPr>
            <a:grpSpLocks/>
          </p:cNvGrpSpPr>
          <p:nvPr/>
        </p:nvGrpSpPr>
        <p:grpSpPr bwMode="auto">
          <a:xfrm>
            <a:off x="406400" y="4089400"/>
            <a:ext cx="8382000" cy="2368550"/>
            <a:chOff x="256" y="2576"/>
            <a:chExt cx="5280" cy="1492"/>
          </a:xfrm>
        </p:grpSpPr>
        <p:sp>
          <p:nvSpPr>
            <p:cNvPr id="39950" name="Rectangle 19"/>
            <p:cNvSpPr>
              <a:spLocks noChangeArrowheads="1"/>
            </p:cNvSpPr>
            <p:nvPr/>
          </p:nvSpPr>
          <p:spPr bwMode="auto">
            <a:xfrm>
              <a:off x="256" y="2576"/>
              <a:ext cx="5280" cy="8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1" name="AutoShape 20"/>
            <p:cNvSpPr>
              <a:spLocks noChangeArrowheads="1"/>
            </p:cNvSpPr>
            <p:nvPr/>
          </p:nvSpPr>
          <p:spPr bwMode="auto">
            <a:xfrm>
              <a:off x="3627" y="3554"/>
              <a:ext cx="1903" cy="496"/>
            </a:xfrm>
            <a:prstGeom prst="wedgeRectCallout">
              <a:avLst>
                <a:gd name="adj1" fmla="val -41065"/>
                <a:gd name="adj2" fmla="val -75204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9952" name="Rectangle 21"/>
            <p:cNvSpPr>
              <a:spLocks noChangeArrowheads="1"/>
            </p:cNvSpPr>
            <p:nvPr/>
          </p:nvSpPr>
          <p:spPr bwMode="auto">
            <a:xfrm>
              <a:off x="3608" y="3548"/>
              <a:ext cx="192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Aceste</a:t>
              </a:r>
              <a:r>
                <a:rPr lang="en-US" altLang="ro-RO" dirty="0"/>
                <a:t> </a:t>
              </a:r>
              <a:r>
                <a:rPr lang="en-US" altLang="ro-RO" dirty="0" err="1"/>
                <a:t>declarații</a:t>
              </a:r>
              <a:r>
                <a:rPr lang="en-US" altLang="ro-RO" dirty="0"/>
                <a:t> </a:t>
              </a:r>
              <a:r>
                <a:rPr lang="en-US" altLang="ro-RO" dirty="0" err="1"/>
                <a:t>definesc</a:t>
              </a:r>
              <a:r>
                <a:rPr lang="en-US" altLang="ro-RO" dirty="0"/>
                <a:t> </a:t>
              </a:r>
              <a:r>
                <a:rPr lang="en-US" altLang="ro-RO" dirty="0" err="1"/>
                <a:t>variabilele</a:t>
              </a:r>
              <a:r>
                <a:rPr lang="en-US" altLang="ro-RO" dirty="0"/>
                <a:t> de </a:t>
              </a:r>
              <a:r>
                <a:rPr lang="en-US" altLang="ro-RO" dirty="0" err="1"/>
                <a:t>instanță</a:t>
              </a:r>
              <a:r>
                <a:rPr lang="en-US" altLang="ro-RO" dirty="0"/>
                <a:t> care </a:t>
              </a:r>
              <a:r>
                <a:rPr lang="en-US" altLang="ro-RO" dirty="0" err="1"/>
                <a:t>mențin</a:t>
              </a:r>
              <a:r>
                <a:rPr lang="en-US" altLang="ro-RO" dirty="0"/>
                <a:t> </a:t>
              </a:r>
              <a:r>
                <a:rPr lang="en-US" altLang="ro-RO" dirty="0" err="1"/>
                <a:t>starea</a:t>
              </a:r>
              <a:r>
                <a:rPr lang="en-US" altLang="ro-RO" dirty="0"/>
                <a:t> </a:t>
              </a:r>
              <a:r>
                <a:rPr lang="en-US" altLang="ro-RO" dirty="0" err="1"/>
                <a:t>internă</a:t>
              </a:r>
              <a:r>
                <a:rPr lang="en-US" altLang="ro-RO" dirty="0"/>
                <a:t> a </a:t>
              </a:r>
              <a:r>
                <a:rPr lang="en-US" altLang="ro-RO" dirty="0" err="1"/>
                <a:t>clasei</a:t>
              </a:r>
              <a:r>
                <a:rPr lang="en-US" altLang="ro-RO" dirty="0"/>
                <a:t>. </a:t>
              </a:r>
              <a:r>
                <a:rPr lang="en-US" altLang="ro-RO" dirty="0" err="1"/>
                <a:t>Toate</a:t>
              </a:r>
              <a:r>
                <a:rPr lang="en-US" altLang="ro-RO" dirty="0"/>
                <a:t> </a:t>
              </a:r>
              <a:r>
                <a:rPr lang="en-US" altLang="ro-RO" dirty="0" err="1"/>
                <a:t>variabilele</a:t>
              </a:r>
              <a:r>
                <a:rPr lang="en-US" altLang="ro-RO" dirty="0"/>
                <a:t> de </a:t>
              </a:r>
              <a:r>
                <a:rPr lang="en-US" altLang="ro-RO" dirty="0" err="1"/>
                <a:t>instanță</a:t>
              </a:r>
              <a:r>
                <a:rPr lang="en-US" altLang="ro-RO" dirty="0"/>
                <a:t> </a:t>
              </a:r>
              <a:r>
                <a:rPr lang="en-US" altLang="ro-RO" dirty="0" err="1"/>
                <a:t>utilizate</a:t>
              </a:r>
              <a:r>
                <a:rPr lang="en-US" altLang="ro-RO" dirty="0"/>
                <a:t> </a:t>
              </a:r>
              <a:r>
                <a:rPr lang="en-US" altLang="ro-RO" dirty="0" err="1"/>
                <a:t>sunt</a:t>
              </a:r>
              <a:r>
                <a:rPr lang="en-US" altLang="ro-RO" dirty="0"/>
                <a:t> private.</a:t>
              </a:r>
            </a:p>
          </p:txBody>
        </p:sp>
      </p:grpSp>
      <p:sp>
        <p:nvSpPr>
          <p:cNvPr id="39948" name="Text Box 2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9949" name="Text Box 23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4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1489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>
                <a:solidFill>
                  <a:srgbClr val="FF0000"/>
                </a:solidFill>
              </a:rPr>
              <a:t>Utilizarea clasei </a:t>
            </a:r>
            <a:r>
              <a:rPr lang="ro-RO" altLang="ro-RO" sz="4000" b="1" dirty="0">
                <a:solidFill>
                  <a:srgbClr val="FF0000"/>
                </a:solidFill>
              </a:rPr>
              <a:t>Student </a:t>
            </a:r>
            <a:endParaRPr lang="en-US" altLang="ro-RO" b="1" dirty="0">
              <a:solidFill>
                <a:srgbClr val="FF0000"/>
              </a:solidFill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După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ați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definit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clasa</a:t>
            </a:r>
            <a:r>
              <a:rPr lang="en-US" altLang="ro-RO" sz="2400" i="0" dirty="0"/>
              <a:t> Student, </a:t>
            </a:r>
            <a:r>
              <a:rPr lang="en-US" altLang="ro-RO" sz="2400" i="0" dirty="0" err="1"/>
              <a:t>puteți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utiliza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apoi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constructorul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acesteia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pentru</a:t>
            </a:r>
            <a:r>
              <a:rPr lang="en-US" altLang="ro-RO" sz="2400" i="0" dirty="0"/>
              <a:t> a </a:t>
            </a:r>
            <a:r>
              <a:rPr lang="en-US" altLang="ro-RO" sz="2400" i="0" dirty="0" err="1"/>
              <a:t>crea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instanțe</a:t>
            </a:r>
            <a:r>
              <a:rPr lang="en-US" altLang="ro-RO" sz="2400" i="0" dirty="0"/>
              <a:t> ale </a:t>
            </a:r>
            <a:r>
              <a:rPr lang="en-US" altLang="ro-RO" sz="2400" i="0" dirty="0" err="1"/>
              <a:t>acelei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</a:t>
            </a:r>
            <a:r>
              <a:rPr lang="en-US" altLang="ro-RO" sz="2400" i="0" dirty="0"/>
              <a:t>. De </a:t>
            </a:r>
            <a:r>
              <a:rPr lang="en-US" altLang="ro-RO" sz="2400" i="0" dirty="0" err="1"/>
              <a:t>exemplu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puteți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utiliza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următorul</a:t>
            </a:r>
            <a:r>
              <a:rPr lang="en-US" altLang="ro-RO" sz="2400" i="0" dirty="0"/>
              <a:t> cod </a:t>
            </a:r>
            <a:r>
              <a:rPr lang="en-US" altLang="ro-RO" sz="2400" i="0" dirty="0" err="1"/>
              <a:t>pentru</a:t>
            </a:r>
            <a:r>
              <a:rPr lang="en-US" altLang="ro-RO" sz="2400" i="0" dirty="0"/>
              <a:t> a </a:t>
            </a:r>
            <a:r>
              <a:rPr lang="en-US" altLang="ro-RO" sz="2400" i="0" dirty="0" err="1"/>
              <a:t>crea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două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obiecte</a:t>
            </a:r>
            <a:r>
              <a:rPr lang="en-US" altLang="ro-RO" sz="2400" i="0" dirty="0"/>
              <a:t> Student:</a:t>
            </a:r>
            <a:endParaRPr lang="ro-RO" altLang="ro-RO" sz="2400" i="0" dirty="0"/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altLang="ro-RO" sz="2400" i="0" dirty="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914400" y="2587625"/>
            <a:ext cx="7620000" cy="744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1600" b="1" i="0" dirty="0">
                <a:latin typeface="Courier New" panose="02070309020205020404" pitchFamily="49" charset="0"/>
              </a:rPr>
              <a:t>Student </a:t>
            </a:r>
            <a:r>
              <a:rPr lang="en-US" altLang="ro-RO" sz="1600" b="1" i="0" dirty="0" err="1">
                <a:latin typeface="Courier New" panose="02070309020205020404" pitchFamily="49" charset="0"/>
              </a:rPr>
              <a:t>sefLiga</a:t>
            </a:r>
            <a:r>
              <a:rPr lang="en-US" altLang="ro-RO" sz="1600" b="1" i="0" dirty="0">
                <a:latin typeface="Courier New" panose="02070309020205020404" pitchFamily="49" charset="0"/>
              </a:rPr>
              <a:t> = new Student("</a:t>
            </a:r>
            <a:r>
              <a:rPr lang="ro-RO" altLang="ro-RO" sz="1600" b="1" i="0" dirty="0">
                <a:latin typeface="Courier New" panose="02070309020205020404" pitchFamily="49" charset="0"/>
              </a:rPr>
              <a:t>Alex Popa</a:t>
            </a:r>
            <a:r>
              <a:rPr lang="en-US" altLang="ro-RO" sz="1600" b="1" i="0" dirty="0">
                <a:latin typeface="Courier New" panose="02070309020205020404" pitchFamily="49" charset="0"/>
              </a:rPr>
              <a:t>", 123456);</a:t>
            </a:r>
          </a:p>
          <a:p>
            <a:r>
              <a:rPr lang="en-US" altLang="ro-RO" sz="1600" b="1" i="0" dirty="0">
                <a:latin typeface="Courier New" panose="02070309020205020404" pitchFamily="49" charset="0"/>
              </a:rPr>
              <a:t>Student </a:t>
            </a:r>
            <a:r>
              <a:rPr lang="en-US" altLang="ro-RO" sz="1600" b="1" i="0" dirty="0" err="1">
                <a:latin typeface="Courier New" panose="02070309020205020404" pitchFamily="49" charset="0"/>
              </a:rPr>
              <a:t>sefPromotie</a:t>
            </a:r>
            <a:r>
              <a:rPr lang="en-US" altLang="ro-RO" sz="1600" b="1" i="0" dirty="0">
                <a:latin typeface="Courier New" panose="02070309020205020404" pitchFamily="49" charset="0"/>
              </a:rPr>
              <a:t> = new Student("</a:t>
            </a:r>
            <a:r>
              <a:rPr lang="ro-RO" altLang="ro-RO" sz="1600" b="1" i="0" dirty="0">
                <a:latin typeface="Courier New" panose="02070309020205020404" pitchFamily="49" charset="0"/>
              </a:rPr>
              <a:t>Alina Giurgiu</a:t>
            </a:r>
            <a:r>
              <a:rPr lang="en-US" altLang="ro-RO" sz="1600" b="1" i="0" dirty="0">
                <a:latin typeface="Courier New" panose="02070309020205020404" pitchFamily="49" charset="0"/>
              </a:rPr>
              <a:t>", 314159);</a:t>
            </a:r>
          </a:p>
        </p:txBody>
      </p:sp>
      <p:grpSp>
        <p:nvGrpSpPr>
          <p:cNvPr id="700421" name="Group 5"/>
          <p:cNvGrpSpPr>
            <a:grpSpLocks/>
          </p:cNvGrpSpPr>
          <p:nvPr/>
        </p:nvGrpSpPr>
        <p:grpSpPr bwMode="auto">
          <a:xfrm>
            <a:off x="482600" y="3581400"/>
            <a:ext cx="8131175" cy="2930525"/>
            <a:chOff x="304" y="2256"/>
            <a:chExt cx="5122" cy="1846"/>
          </a:xfrm>
        </p:grpSpPr>
        <p:sp>
          <p:nvSpPr>
            <p:cNvPr id="41990" name="Rectangle 6"/>
            <p:cNvSpPr>
              <a:spLocks noChangeArrowheads="1"/>
            </p:cNvSpPr>
            <p:nvPr/>
          </p:nvSpPr>
          <p:spPr bwMode="auto">
            <a:xfrm>
              <a:off x="304" y="2256"/>
              <a:ext cx="5122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50000"/>
                </a:spcAft>
                <a:buFontTx/>
                <a:buChar char="•"/>
              </a:pPr>
              <a:r>
                <a:rPr lang="ro-RO" altLang="ro-RO" sz="2400" i="0" dirty="0"/>
                <a:t>Se pot utiliza oricare dintre metodele prezentate anterior cu aceste doua instanțe ale clasei Student. De ex pentru a actualiza numărul de credite , </a:t>
              </a:r>
              <a:r>
                <a:rPr lang="ro-RO" altLang="ro-RO" sz="2400" i="0" dirty="0" err="1"/>
                <a:t>respectic</a:t>
              </a:r>
              <a:r>
                <a:rPr lang="ro-RO" altLang="ro-RO" sz="2400" i="0" dirty="0"/>
                <a:t> pentru a afla numele</a:t>
              </a:r>
              <a:endParaRPr lang="en-US" altLang="ro-RO" sz="2400" i="0" dirty="0"/>
            </a:p>
          </p:txBody>
        </p:sp>
        <p:sp>
          <p:nvSpPr>
            <p:cNvPr id="41991" name="Rectangle 7"/>
            <p:cNvSpPr>
              <a:spLocks noChangeArrowheads="1"/>
            </p:cNvSpPr>
            <p:nvPr/>
          </p:nvSpPr>
          <p:spPr bwMode="auto">
            <a:xfrm>
              <a:off x="304" y="3379"/>
              <a:ext cx="5122" cy="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50000"/>
                </a:spcAft>
              </a:pPr>
              <a:r>
                <a:rPr lang="en-US" altLang="ro-RO" sz="2400" i="0" dirty="0"/>
                <a:t>	</a:t>
              </a:r>
            </a:p>
          </p:txBody>
        </p:sp>
        <p:sp>
          <p:nvSpPr>
            <p:cNvPr id="41992" name="Rectangle 8"/>
            <p:cNvSpPr>
              <a:spLocks noChangeArrowheads="1"/>
            </p:cNvSpPr>
            <p:nvPr/>
          </p:nvSpPr>
          <p:spPr bwMode="auto">
            <a:xfrm>
              <a:off x="576" y="2987"/>
              <a:ext cx="4800" cy="2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 err="1">
                  <a:latin typeface="Courier New" panose="02070309020205020404" pitchFamily="49" charset="0"/>
                </a:rPr>
                <a:t>sefPromotie.setCredite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(263);</a:t>
              </a:r>
            </a:p>
          </p:txBody>
        </p:sp>
        <p:sp>
          <p:nvSpPr>
            <p:cNvPr id="41993" name="Rectangle 9"/>
            <p:cNvSpPr>
              <a:spLocks noChangeArrowheads="1"/>
            </p:cNvSpPr>
            <p:nvPr/>
          </p:nvSpPr>
          <p:spPr bwMode="auto">
            <a:xfrm>
              <a:off x="576" y="3484"/>
              <a:ext cx="4800" cy="2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 err="1">
                  <a:latin typeface="Courier New" panose="02070309020205020404" pitchFamily="49" charset="0"/>
                </a:rPr>
                <a:t>sefLiga.getName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>
                <a:solidFill>
                  <a:srgbClr val="FF0000"/>
                </a:solidFill>
              </a:rPr>
              <a:t>Numere raționale</a:t>
            </a:r>
            <a:endParaRPr lang="en-US" altLang="ro-RO" dirty="0">
              <a:solidFill>
                <a:schemeClr val="tx1"/>
              </a:solidFill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485775" y="1300843"/>
            <a:ext cx="8128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/>
              <a:t>Ca un </a:t>
            </a:r>
            <a:r>
              <a:rPr lang="en-US" altLang="ro-RO" sz="2400" i="0" dirty="0" err="1"/>
              <a:t>exemplu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mai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elaborat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definiție</a:t>
            </a:r>
            <a:r>
              <a:rPr lang="en-US" altLang="ro-RO" sz="2400" i="0" dirty="0"/>
              <a:t> a </a:t>
            </a:r>
            <a:r>
              <a:rPr lang="ro-RO" altLang="ro-RO" sz="2400" i="0" dirty="0"/>
              <a:t>unei </a:t>
            </a:r>
            <a:r>
              <a:rPr lang="en-US" altLang="ro-RO" sz="2400" i="0" dirty="0" err="1"/>
              <a:t>clase</a:t>
            </a:r>
            <a:r>
              <a:rPr lang="en-US" altLang="ro-RO" sz="2400" i="0" dirty="0"/>
              <a:t>,</a:t>
            </a:r>
            <a:r>
              <a:rPr lang="ro-RO" altLang="ro-RO" sz="2400" i="0" dirty="0"/>
              <a:t> </a:t>
            </a:r>
            <a:r>
              <a:rPr lang="en-US" altLang="ro-RO" sz="2400" i="0" dirty="0"/>
              <a:t>o </a:t>
            </a:r>
            <a:r>
              <a:rPr lang="en-US" altLang="ro-RO" sz="2400" i="0" dirty="0" err="1"/>
              <a:t>clasă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numită</a:t>
            </a:r>
            <a:r>
              <a:rPr lang="en-US" altLang="ro-RO" sz="2400" i="0" dirty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Rational</a:t>
            </a:r>
            <a:r>
              <a:rPr lang="en-US" altLang="ro-RO" sz="2400" i="0" dirty="0"/>
              <a:t> care </a:t>
            </a:r>
            <a:r>
              <a:rPr lang="en-US" altLang="ro-RO" sz="2400" i="0" dirty="0" err="1"/>
              <a:t>reprezintă</a:t>
            </a:r>
            <a:r>
              <a:rPr lang="en-US" altLang="ro-RO" sz="2400" i="0" dirty="0"/>
              <a:t> </a:t>
            </a:r>
            <a:r>
              <a:rPr lang="en-US" altLang="ro-RO" sz="2400" b="1" dirty="0" err="1"/>
              <a:t>numere</a:t>
            </a:r>
            <a:r>
              <a:rPr lang="en-US" altLang="ro-RO" sz="2400" b="1" dirty="0"/>
              <a:t> </a:t>
            </a:r>
            <a:r>
              <a:rPr lang="en-US" altLang="ro-RO" sz="2400" b="1" dirty="0" err="1"/>
              <a:t>raționale</a:t>
            </a:r>
            <a:r>
              <a:rPr lang="en-US" altLang="ro-RO" sz="2400" i="0" dirty="0"/>
              <a:t>, care </a:t>
            </a:r>
            <a:r>
              <a:rPr lang="en-US" altLang="ro-RO" sz="2400" i="0" dirty="0" err="1"/>
              <a:t>sunt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pur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și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simplu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două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numere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întregi</a:t>
            </a:r>
            <a:r>
              <a:rPr lang="en-US" altLang="ro-RO" sz="2400" i="0" dirty="0"/>
              <a:t>.</a:t>
            </a:r>
          </a:p>
        </p:txBody>
      </p:sp>
      <p:sp>
        <p:nvSpPr>
          <p:cNvPr id="714756" name="Rectangle 4"/>
          <p:cNvSpPr>
            <a:spLocks noChangeArrowheads="1"/>
          </p:cNvSpPr>
          <p:nvPr/>
        </p:nvSpPr>
        <p:spPr bwMode="auto">
          <a:xfrm>
            <a:off x="482600" y="2273300"/>
            <a:ext cx="813117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Numerele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raționale</a:t>
            </a:r>
            <a:r>
              <a:rPr lang="en-US" altLang="ro-RO" sz="2400" i="0" dirty="0"/>
              <a:t> pot fi utile </a:t>
            </a:r>
            <a:r>
              <a:rPr lang="en-US" altLang="ro-RO" sz="2400" i="0" dirty="0" err="1"/>
              <a:t>în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cazurile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</a:t>
            </a:r>
            <a:r>
              <a:rPr lang="en-US" altLang="ro-RO" sz="2400" i="0" dirty="0"/>
              <a:t> care </a:t>
            </a:r>
            <a:r>
              <a:rPr lang="en-US" altLang="ro-RO" sz="2400" i="0" dirty="0" err="1"/>
              <a:t>aveți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nevoie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calcul</a:t>
            </a:r>
            <a:r>
              <a:rPr lang="en-US" altLang="ro-RO" sz="2400" i="0" dirty="0"/>
              <a:t> exact cu </a:t>
            </a:r>
            <a:r>
              <a:rPr lang="en-US" altLang="ro-RO" sz="2400" i="0" dirty="0" err="1"/>
              <a:t>fracții</a:t>
            </a:r>
            <a:r>
              <a:rPr lang="en-US" altLang="ro-RO" sz="2400" i="0" dirty="0"/>
              <a:t>. </a:t>
            </a:r>
            <a:r>
              <a:rPr lang="en-US" altLang="ro-RO" sz="2400" i="0" dirty="0" err="1"/>
              <a:t>Chiar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dacă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utilizați</a:t>
            </a:r>
            <a:r>
              <a:rPr lang="en-US" altLang="ro-RO" sz="2400" i="0" dirty="0"/>
              <a:t> un </a:t>
            </a:r>
            <a:r>
              <a:rPr lang="en-US" altLang="ro-RO" sz="2400" i="0" dirty="0" err="1"/>
              <a:t>dublu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numărul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virgulă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mobilă</a:t>
            </a:r>
            <a:r>
              <a:rPr lang="en-US" altLang="ro-RO" sz="2400" i="0" dirty="0"/>
              <a:t> 0,1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reprezentat</a:t>
            </a:r>
            <a:r>
              <a:rPr lang="en-US" altLang="ro-RO" sz="2400" i="0" dirty="0"/>
              <a:t> intern ca o </a:t>
            </a:r>
            <a:r>
              <a:rPr lang="en-US" altLang="ro-RO" sz="2400" i="0" dirty="0" err="1"/>
              <a:t>aproximare</a:t>
            </a:r>
            <a:r>
              <a:rPr lang="en-US" altLang="ro-RO" sz="2400" i="0" dirty="0"/>
              <a:t>. </a:t>
            </a:r>
            <a:r>
              <a:rPr lang="en-US" altLang="ro-RO" sz="2400" i="0" dirty="0" err="1"/>
              <a:t>Numărul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rațional</a:t>
            </a:r>
            <a:r>
              <a:rPr lang="en-US" altLang="ro-RO" sz="2400" i="0" dirty="0"/>
              <a:t> 1/10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exact.</a:t>
            </a:r>
          </a:p>
        </p:txBody>
      </p:sp>
      <p:grpSp>
        <p:nvGrpSpPr>
          <p:cNvPr id="714757" name="Group 5"/>
          <p:cNvGrpSpPr>
            <a:grpSpLocks/>
          </p:cNvGrpSpPr>
          <p:nvPr/>
        </p:nvGrpSpPr>
        <p:grpSpPr bwMode="auto">
          <a:xfrm>
            <a:off x="482600" y="3708400"/>
            <a:ext cx="8131175" cy="2616200"/>
            <a:chOff x="304" y="2336"/>
            <a:chExt cx="5122" cy="1648"/>
          </a:xfrm>
        </p:grpSpPr>
        <p:sp>
          <p:nvSpPr>
            <p:cNvPr id="44038" name="Rectangle 6"/>
            <p:cNvSpPr>
              <a:spLocks noChangeArrowheads="1"/>
            </p:cNvSpPr>
            <p:nvPr/>
          </p:nvSpPr>
          <p:spPr bwMode="auto">
            <a:xfrm>
              <a:off x="304" y="2336"/>
              <a:ext cx="512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50000"/>
                </a:spcAft>
                <a:buFontTx/>
                <a:buChar char="•"/>
              </a:pPr>
              <a:r>
                <a:rPr lang="it-IT" altLang="ro-RO" sz="2400" i="0" dirty="0"/>
                <a:t>Numerele raționale acceptă operațiile aritmetice standard </a:t>
              </a:r>
              <a:r>
                <a:rPr lang="en-US" altLang="ro-RO" sz="2400" i="0" dirty="0"/>
                <a:t>: </a:t>
              </a:r>
            </a:p>
          </p:txBody>
        </p:sp>
        <p:sp>
          <p:nvSpPr>
            <p:cNvPr id="44039" name="Rectangle 7"/>
            <p:cNvSpPr>
              <a:spLocks noChangeArrowheads="1"/>
            </p:cNvSpPr>
            <p:nvPr/>
          </p:nvSpPr>
          <p:spPr bwMode="auto">
            <a:xfrm>
              <a:off x="579" y="2633"/>
              <a:ext cx="4749" cy="13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44040" name="Text Box 8"/>
            <p:cNvSpPr txBox="1">
              <a:spLocks noChangeArrowheads="1"/>
            </p:cNvSpPr>
            <p:nvPr/>
          </p:nvSpPr>
          <p:spPr bwMode="auto">
            <a:xfrm>
              <a:off x="960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41" name="Text Box 9"/>
            <p:cNvSpPr txBox="1">
              <a:spLocks noChangeArrowheads="1"/>
            </p:cNvSpPr>
            <p:nvPr/>
          </p:nvSpPr>
          <p:spPr bwMode="auto">
            <a:xfrm>
              <a:off x="960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>
              <a:off x="979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43" name="Text Box 11"/>
            <p:cNvSpPr txBox="1">
              <a:spLocks noChangeArrowheads="1"/>
            </p:cNvSpPr>
            <p:nvPr/>
          </p:nvSpPr>
          <p:spPr bwMode="auto">
            <a:xfrm>
              <a:off x="1144" y="295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+</a:t>
              </a:r>
            </a:p>
          </p:txBody>
        </p:sp>
        <p:sp>
          <p:nvSpPr>
            <p:cNvPr id="44044" name="Text Box 12"/>
            <p:cNvSpPr txBox="1">
              <a:spLocks noChangeArrowheads="1"/>
            </p:cNvSpPr>
            <p:nvPr/>
          </p:nvSpPr>
          <p:spPr bwMode="auto">
            <a:xfrm>
              <a:off x="1320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45" name="Text Box 13"/>
            <p:cNvSpPr txBox="1">
              <a:spLocks noChangeArrowheads="1"/>
            </p:cNvSpPr>
            <p:nvPr/>
          </p:nvSpPr>
          <p:spPr bwMode="auto">
            <a:xfrm>
              <a:off x="1320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>
              <a:off x="1339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47" name="Text Box 15"/>
            <p:cNvSpPr txBox="1">
              <a:spLocks noChangeArrowheads="1"/>
            </p:cNvSpPr>
            <p:nvPr/>
          </p:nvSpPr>
          <p:spPr bwMode="auto">
            <a:xfrm>
              <a:off x="1512" y="295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sp>
          <p:nvSpPr>
            <p:cNvPr id="44048" name="Text Box 16"/>
            <p:cNvSpPr txBox="1">
              <a:spLocks noChangeArrowheads="1"/>
            </p:cNvSpPr>
            <p:nvPr/>
          </p:nvSpPr>
          <p:spPr bwMode="auto">
            <a:xfrm>
              <a:off x="1704" y="2880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ad +</a:t>
              </a:r>
              <a:r>
                <a:rPr lang="en-US" altLang="ro-RO" sz="1200"/>
                <a:t> </a:t>
              </a:r>
              <a:r>
                <a:rPr lang="en-US" altLang="ro-RO" sz="1600"/>
                <a:t>bc</a:t>
              </a:r>
            </a:p>
          </p:txBody>
        </p:sp>
        <p:sp>
          <p:nvSpPr>
            <p:cNvPr id="44049" name="Line 17"/>
            <p:cNvSpPr>
              <a:spLocks noChangeShapeType="1"/>
            </p:cNvSpPr>
            <p:nvPr/>
          </p:nvSpPr>
          <p:spPr bwMode="auto">
            <a:xfrm>
              <a:off x="1728" y="3056"/>
              <a:ext cx="5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50" name="Text Box 18"/>
            <p:cNvSpPr txBox="1">
              <a:spLocks noChangeArrowheads="1"/>
            </p:cNvSpPr>
            <p:nvPr/>
          </p:nvSpPr>
          <p:spPr bwMode="auto">
            <a:xfrm>
              <a:off x="1704" y="3032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bd</a:t>
              </a:r>
            </a:p>
          </p:txBody>
        </p:sp>
        <p:sp>
          <p:nvSpPr>
            <p:cNvPr id="44051" name="Text Box 19"/>
            <p:cNvSpPr txBox="1">
              <a:spLocks noChangeArrowheads="1"/>
            </p:cNvSpPr>
            <p:nvPr/>
          </p:nvSpPr>
          <p:spPr bwMode="auto">
            <a:xfrm>
              <a:off x="960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52" name="Text Box 20"/>
            <p:cNvSpPr txBox="1">
              <a:spLocks noChangeArrowheads="1"/>
            </p:cNvSpPr>
            <p:nvPr/>
          </p:nvSpPr>
          <p:spPr bwMode="auto">
            <a:xfrm>
              <a:off x="960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53" name="Line 21"/>
            <p:cNvSpPr>
              <a:spLocks noChangeShapeType="1"/>
            </p:cNvSpPr>
            <p:nvPr/>
          </p:nvSpPr>
          <p:spPr bwMode="auto">
            <a:xfrm>
              <a:off x="979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54" name="Text Box 22"/>
            <p:cNvSpPr txBox="1">
              <a:spLocks noChangeArrowheads="1"/>
            </p:cNvSpPr>
            <p:nvPr/>
          </p:nvSpPr>
          <p:spPr bwMode="auto">
            <a:xfrm>
              <a:off x="1144" y="3564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–</a:t>
              </a:r>
            </a:p>
          </p:txBody>
        </p:sp>
        <p:sp>
          <p:nvSpPr>
            <p:cNvPr id="44055" name="Text Box 23"/>
            <p:cNvSpPr txBox="1">
              <a:spLocks noChangeArrowheads="1"/>
            </p:cNvSpPr>
            <p:nvPr/>
          </p:nvSpPr>
          <p:spPr bwMode="auto">
            <a:xfrm>
              <a:off x="1320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56" name="Text Box 24"/>
            <p:cNvSpPr txBox="1">
              <a:spLocks noChangeArrowheads="1"/>
            </p:cNvSpPr>
            <p:nvPr/>
          </p:nvSpPr>
          <p:spPr bwMode="auto">
            <a:xfrm>
              <a:off x="1320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57" name="Line 25"/>
            <p:cNvSpPr>
              <a:spLocks noChangeShapeType="1"/>
            </p:cNvSpPr>
            <p:nvPr/>
          </p:nvSpPr>
          <p:spPr bwMode="auto">
            <a:xfrm>
              <a:off x="1339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58" name="Text Box 26"/>
            <p:cNvSpPr txBox="1">
              <a:spLocks noChangeArrowheads="1"/>
            </p:cNvSpPr>
            <p:nvPr/>
          </p:nvSpPr>
          <p:spPr bwMode="auto">
            <a:xfrm>
              <a:off x="1512" y="357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sp>
          <p:nvSpPr>
            <p:cNvPr id="44059" name="Text Box 27"/>
            <p:cNvSpPr txBox="1">
              <a:spLocks noChangeArrowheads="1"/>
            </p:cNvSpPr>
            <p:nvPr/>
          </p:nvSpPr>
          <p:spPr bwMode="auto">
            <a:xfrm>
              <a:off x="1704" y="3500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ad – bc</a:t>
              </a:r>
            </a:p>
          </p:txBody>
        </p:sp>
        <p:sp>
          <p:nvSpPr>
            <p:cNvPr id="44060" name="Line 28"/>
            <p:cNvSpPr>
              <a:spLocks noChangeShapeType="1"/>
            </p:cNvSpPr>
            <p:nvPr/>
          </p:nvSpPr>
          <p:spPr bwMode="auto">
            <a:xfrm>
              <a:off x="1728" y="3676"/>
              <a:ext cx="5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61" name="Text Box 29"/>
            <p:cNvSpPr txBox="1">
              <a:spLocks noChangeArrowheads="1"/>
            </p:cNvSpPr>
            <p:nvPr/>
          </p:nvSpPr>
          <p:spPr bwMode="auto">
            <a:xfrm>
              <a:off x="1704" y="3652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bd</a:t>
              </a:r>
            </a:p>
          </p:txBody>
        </p:sp>
        <p:sp>
          <p:nvSpPr>
            <p:cNvPr id="44062" name="Text Box 30"/>
            <p:cNvSpPr txBox="1">
              <a:spLocks noChangeArrowheads="1"/>
            </p:cNvSpPr>
            <p:nvPr/>
          </p:nvSpPr>
          <p:spPr bwMode="auto">
            <a:xfrm>
              <a:off x="3632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63" name="Text Box 31"/>
            <p:cNvSpPr txBox="1">
              <a:spLocks noChangeArrowheads="1"/>
            </p:cNvSpPr>
            <p:nvPr/>
          </p:nvSpPr>
          <p:spPr bwMode="auto">
            <a:xfrm>
              <a:off x="3632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64" name="Line 32"/>
            <p:cNvSpPr>
              <a:spLocks noChangeShapeType="1"/>
            </p:cNvSpPr>
            <p:nvPr/>
          </p:nvSpPr>
          <p:spPr bwMode="auto">
            <a:xfrm>
              <a:off x="3651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65" name="Text Box 33"/>
            <p:cNvSpPr txBox="1">
              <a:spLocks noChangeArrowheads="1"/>
            </p:cNvSpPr>
            <p:nvPr/>
          </p:nvSpPr>
          <p:spPr bwMode="auto">
            <a:xfrm>
              <a:off x="3816" y="2960"/>
              <a:ext cx="19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200" i="0">
                  <a:latin typeface="Helvetica" panose="020B0504020202030204" pitchFamily="34" charset="0"/>
                </a:rPr>
                <a:t>x</a:t>
              </a:r>
              <a:endParaRPr lang="en-US" altLang="ro-RO" i="0">
                <a:latin typeface="Helvetica" panose="020B0504020202030204" pitchFamily="34" charset="0"/>
              </a:endParaRPr>
            </a:p>
          </p:txBody>
        </p:sp>
        <p:sp>
          <p:nvSpPr>
            <p:cNvPr id="44066" name="Text Box 34"/>
            <p:cNvSpPr txBox="1">
              <a:spLocks noChangeArrowheads="1"/>
            </p:cNvSpPr>
            <p:nvPr/>
          </p:nvSpPr>
          <p:spPr bwMode="auto">
            <a:xfrm>
              <a:off x="3992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67" name="Text Box 35"/>
            <p:cNvSpPr txBox="1">
              <a:spLocks noChangeArrowheads="1"/>
            </p:cNvSpPr>
            <p:nvPr/>
          </p:nvSpPr>
          <p:spPr bwMode="auto">
            <a:xfrm>
              <a:off x="3992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68" name="Line 36"/>
            <p:cNvSpPr>
              <a:spLocks noChangeShapeType="1"/>
            </p:cNvSpPr>
            <p:nvPr/>
          </p:nvSpPr>
          <p:spPr bwMode="auto">
            <a:xfrm>
              <a:off x="4011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69" name="Text Box 37"/>
            <p:cNvSpPr txBox="1">
              <a:spLocks noChangeArrowheads="1"/>
            </p:cNvSpPr>
            <p:nvPr/>
          </p:nvSpPr>
          <p:spPr bwMode="auto">
            <a:xfrm>
              <a:off x="4184" y="295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sp>
          <p:nvSpPr>
            <p:cNvPr id="44070" name="Text Box 38"/>
            <p:cNvSpPr txBox="1">
              <a:spLocks noChangeArrowheads="1"/>
            </p:cNvSpPr>
            <p:nvPr/>
          </p:nvSpPr>
          <p:spPr bwMode="auto">
            <a:xfrm>
              <a:off x="4376" y="2880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ac</a:t>
              </a:r>
            </a:p>
          </p:txBody>
        </p:sp>
        <p:sp>
          <p:nvSpPr>
            <p:cNvPr id="44071" name="Line 39"/>
            <p:cNvSpPr>
              <a:spLocks noChangeShapeType="1"/>
            </p:cNvSpPr>
            <p:nvPr/>
          </p:nvSpPr>
          <p:spPr bwMode="auto">
            <a:xfrm>
              <a:off x="4400" y="3056"/>
              <a:ext cx="2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72" name="Text Box 40"/>
            <p:cNvSpPr txBox="1">
              <a:spLocks noChangeArrowheads="1"/>
            </p:cNvSpPr>
            <p:nvPr/>
          </p:nvSpPr>
          <p:spPr bwMode="auto">
            <a:xfrm>
              <a:off x="3632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73" name="Text Box 41"/>
            <p:cNvSpPr txBox="1">
              <a:spLocks noChangeArrowheads="1"/>
            </p:cNvSpPr>
            <p:nvPr/>
          </p:nvSpPr>
          <p:spPr bwMode="auto">
            <a:xfrm>
              <a:off x="3632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74" name="Line 42"/>
            <p:cNvSpPr>
              <a:spLocks noChangeShapeType="1"/>
            </p:cNvSpPr>
            <p:nvPr/>
          </p:nvSpPr>
          <p:spPr bwMode="auto">
            <a:xfrm>
              <a:off x="3651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75" name="Text Box 43"/>
            <p:cNvSpPr txBox="1">
              <a:spLocks noChangeArrowheads="1"/>
            </p:cNvSpPr>
            <p:nvPr/>
          </p:nvSpPr>
          <p:spPr bwMode="auto">
            <a:xfrm>
              <a:off x="3992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76" name="Text Box 44"/>
            <p:cNvSpPr txBox="1">
              <a:spLocks noChangeArrowheads="1"/>
            </p:cNvSpPr>
            <p:nvPr/>
          </p:nvSpPr>
          <p:spPr bwMode="auto">
            <a:xfrm>
              <a:off x="3992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77" name="Line 45"/>
            <p:cNvSpPr>
              <a:spLocks noChangeShapeType="1"/>
            </p:cNvSpPr>
            <p:nvPr/>
          </p:nvSpPr>
          <p:spPr bwMode="auto">
            <a:xfrm>
              <a:off x="4011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78" name="Text Box 46"/>
            <p:cNvSpPr txBox="1">
              <a:spLocks noChangeArrowheads="1"/>
            </p:cNvSpPr>
            <p:nvPr/>
          </p:nvSpPr>
          <p:spPr bwMode="auto">
            <a:xfrm>
              <a:off x="4184" y="357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grpSp>
          <p:nvGrpSpPr>
            <p:cNvPr id="44079" name="Group 47"/>
            <p:cNvGrpSpPr>
              <a:grpSpLocks/>
            </p:cNvGrpSpPr>
            <p:nvPr/>
          </p:nvGrpSpPr>
          <p:grpSpPr bwMode="auto">
            <a:xfrm>
              <a:off x="3816" y="3512"/>
              <a:ext cx="192" cy="260"/>
              <a:chOff x="3744" y="3908"/>
              <a:chExt cx="192" cy="260"/>
            </a:xfrm>
          </p:grpSpPr>
          <p:sp>
            <p:nvSpPr>
              <p:cNvPr id="44088" name="Text Box 48"/>
              <p:cNvSpPr txBox="1">
                <a:spLocks noChangeArrowheads="1"/>
              </p:cNvSpPr>
              <p:nvPr/>
            </p:nvSpPr>
            <p:spPr bwMode="auto">
              <a:xfrm>
                <a:off x="3744" y="3956"/>
                <a:ext cx="19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.</a:t>
                </a:r>
              </a:p>
            </p:txBody>
          </p:sp>
          <p:sp>
            <p:nvSpPr>
              <p:cNvPr id="44089" name="Line 49"/>
              <p:cNvSpPr>
                <a:spLocks noChangeShapeType="1"/>
              </p:cNvSpPr>
              <p:nvPr/>
            </p:nvSpPr>
            <p:spPr bwMode="auto">
              <a:xfrm>
                <a:off x="3802" y="4069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44090" name="Text Box 50"/>
              <p:cNvSpPr txBox="1">
                <a:spLocks noChangeArrowheads="1"/>
              </p:cNvSpPr>
              <p:nvPr/>
            </p:nvSpPr>
            <p:spPr bwMode="auto">
              <a:xfrm>
                <a:off x="3744" y="3908"/>
                <a:ext cx="19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.</a:t>
                </a:r>
              </a:p>
            </p:txBody>
          </p:sp>
        </p:grpSp>
        <p:sp>
          <p:nvSpPr>
            <p:cNvPr id="44080" name="Text Box 51"/>
            <p:cNvSpPr txBox="1">
              <a:spLocks noChangeArrowheads="1"/>
            </p:cNvSpPr>
            <p:nvPr/>
          </p:nvSpPr>
          <p:spPr bwMode="auto">
            <a:xfrm>
              <a:off x="4376" y="3024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bd</a:t>
              </a:r>
            </a:p>
          </p:txBody>
        </p:sp>
        <p:sp>
          <p:nvSpPr>
            <p:cNvPr id="44081" name="Text Box 52"/>
            <p:cNvSpPr txBox="1">
              <a:spLocks noChangeArrowheads="1"/>
            </p:cNvSpPr>
            <p:nvPr/>
          </p:nvSpPr>
          <p:spPr bwMode="auto">
            <a:xfrm>
              <a:off x="4376" y="3500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ad</a:t>
              </a:r>
            </a:p>
          </p:txBody>
        </p:sp>
        <p:sp>
          <p:nvSpPr>
            <p:cNvPr id="44082" name="Line 53"/>
            <p:cNvSpPr>
              <a:spLocks noChangeShapeType="1"/>
            </p:cNvSpPr>
            <p:nvPr/>
          </p:nvSpPr>
          <p:spPr bwMode="auto">
            <a:xfrm>
              <a:off x="4400" y="3676"/>
              <a:ext cx="2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83" name="Text Box 54"/>
            <p:cNvSpPr txBox="1">
              <a:spLocks noChangeArrowheads="1"/>
            </p:cNvSpPr>
            <p:nvPr/>
          </p:nvSpPr>
          <p:spPr bwMode="auto">
            <a:xfrm>
              <a:off x="4376" y="3644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bc</a:t>
              </a:r>
            </a:p>
          </p:txBody>
        </p:sp>
        <p:sp>
          <p:nvSpPr>
            <p:cNvPr id="44084" name="Text Box 55"/>
            <p:cNvSpPr txBox="1">
              <a:spLocks noChangeArrowheads="1"/>
            </p:cNvSpPr>
            <p:nvPr/>
          </p:nvSpPr>
          <p:spPr bwMode="auto">
            <a:xfrm>
              <a:off x="768" y="272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>
                  <a:latin typeface="Helvetica" panose="020B0504020202030204" pitchFamily="34" charset="0"/>
                </a:rPr>
                <a:t>Adunare</a:t>
              </a:r>
              <a:r>
                <a:rPr lang="en-US" altLang="ro-RO" sz="1600" i="0" dirty="0">
                  <a:latin typeface="Helvetica" panose="020B0504020202030204" pitchFamily="34" charset="0"/>
                </a:rPr>
                <a:t>:</a:t>
              </a:r>
            </a:p>
          </p:txBody>
        </p:sp>
        <p:sp>
          <p:nvSpPr>
            <p:cNvPr id="44085" name="Text Box 56"/>
            <p:cNvSpPr txBox="1">
              <a:spLocks noChangeArrowheads="1"/>
            </p:cNvSpPr>
            <p:nvPr/>
          </p:nvSpPr>
          <p:spPr bwMode="auto">
            <a:xfrm>
              <a:off x="768" y="336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err="1">
                  <a:latin typeface="Helvetica" panose="020B0504020202030204" pitchFamily="34" charset="0"/>
                </a:rPr>
                <a:t>Scadere</a:t>
              </a:r>
              <a:r>
                <a:rPr lang="en-US" altLang="ro-RO" sz="1600" i="0" dirty="0">
                  <a:latin typeface="Helvetica" panose="020B0504020202030204" pitchFamily="34" charset="0"/>
                </a:rPr>
                <a:t>:</a:t>
              </a:r>
            </a:p>
          </p:txBody>
        </p:sp>
        <p:sp>
          <p:nvSpPr>
            <p:cNvPr id="44086" name="Text Box 57"/>
            <p:cNvSpPr txBox="1">
              <a:spLocks noChangeArrowheads="1"/>
            </p:cNvSpPr>
            <p:nvPr/>
          </p:nvSpPr>
          <p:spPr bwMode="auto">
            <a:xfrm>
              <a:off x="3440" y="272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err="1">
                  <a:latin typeface="Helvetica" panose="020B0504020202030204" pitchFamily="34" charset="0"/>
                </a:rPr>
                <a:t>Inmultire</a:t>
              </a:r>
              <a:r>
                <a:rPr lang="en-US" altLang="ro-RO" sz="1600" i="0" dirty="0">
                  <a:latin typeface="Helvetica" panose="020B0504020202030204" pitchFamily="34" charset="0"/>
                </a:rPr>
                <a:t>:</a:t>
              </a:r>
            </a:p>
          </p:txBody>
        </p:sp>
        <p:sp>
          <p:nvSpPr>
            <p:cNvPr id="44087" name="Text Box 58"/>
            <p:cNvSpPr txBox="1">
              <a:spLocks noChangeArrowheads="1"/>
            </p:cNvSpPr>
            <p:nvPr/>
          </p:nvSpPr>
          <p:spPr bwMode="auto">
            <a:xfrm>
              <a:off x="3440" y="336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err="1">
                  <a:latin typeface="Helvetica" panose="020B0504020202030204" pitchFamily="34" charset="0"/>
                </a:rPr>
                <a:t>Impartire</a:t>
              </a:r>
              <a:r>
                <a:rPr lang="en-US" altLang="ro-RO" sz="1600" i="0" dirty="0">
                  <a:latin typeface="Helvetica" panose="020B0504020202030204" pitchFamily="34" charset="0"/>
                </a:rPr>
                <a:t>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>
                <a:solidFill>
                  <a:srgbClr val="FF0000"/>
                </a:solidFill>
              </a:rPr>
              <a:t>Implementarea clasei </a:t>
            </a:r>
            <a:r>
              <a:rPr lang="en-US" altLang="ro-RO" sz="3600" b="1" dirty="0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endParaRPr lang="en-US" altLang="ro-RO" dirty="0">
              <a:solidFill>
                <a:srgbClr val="FF0000"/>
              </a:solidFill>
            </a:endParaRPr>
          </a:p>
        </p:txBody>
      </p:sp>
      <p:grpSp>
        <p:nvGrpSpPr>
          <p:cNvPr id="716804" name="Group 4"/>
          <p:cNvGrpSpPr>
            <a:grpSpLocks/>
          </p:cNvGrpSpPr>
          <p:nvPr/>
        </p:nvGrpSpPr>
        <p:grpSpPr bwMode="auto">
          <a:xfrm>
            <a:off x="396080" y="1702593"/>
            <a:ext cx="8369300" cy="1854201"/>
            <a:chOff x="154" y="1240"/>
            <a:chExt cx="5272" cy="1168"/>
          </a:xfrm>
        </p:grpSpPr>
        <p:sp>
          <p:nvSpPr>
            <p:cNvPr id="46089" name="Rectangle 5"/>
            <p:cNvSpPr>
              <a:spLocks noChangeArrowheads="1"/>
            </p:cNvSpPr>
            <p:nvPr/>
          </p:nvSpPr>
          <p:spPr bwMode="auto">
            <a:xfrm>
              <a:off x="304" y="1240"/>
              <a:ext cx="5122" cy="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20000"/>
                </a:spcAft>
                <a:buFontTx/>
                <a:buChar char="•"/>
              </a:pPr>
              <a:r>
                <a:rPr lang="en-US" altLang="ro-RO" sz="2400" i="0" dirty="0" err="1"/>
                <a:t>Pe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măsură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ce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citiți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codul</a:t>
              </a:r>
              <a:r>
                <a:rPr lang="en-US" altLang="ro-RO" sz="2400" i="0" dirty="0"/>
                <a:t>, </a:t>
              </a:r>
              <a:r>
                <a:rPr lang="en-US" altLang="ro-RO" sz="2400" i="0" dirty="0" err="1"/>
                <a:t>următoarele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caracteristici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merită</a:t>
              </a:r>
              <a:r>
                <a:rPr lang="en-US" altLang="ro-RO" sz="2400" i="0" dirty="0"/>
                <a:t> o </a:t>
              </a:r>
              <a:r>
                <a:rPr lang="en-US" altLang="ro-RO" sz="2400" i="0" dirty="0" err="1"/>
                <a:t>atenție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specială</a:t>
              </a:r>
              <a:r>
                <a:rPr lang="en-US" altLang="ro-RO" sz="2400" i="0" dirty="0"/>
                <a:t> :</a:t>
              </a:r>
            </a:p>
          </p:txBody>
        </p:sp>
        <p:sp>
          <p:nvSpPr>
            <p:cNvPr id="46090" name="Rectangle 6"/>
            <p:cNvSpPr>
              <a:spLocks noChangeArrowheads="1"/>
            </p:cNvSpPr>
            <p:nvPr/>
          </p:nvSpPr>
          <p:spPr bwMode="auto">
            <a:xfrm>
              <a:off x="154" y="1688"/>
              <a:ext cx="5122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 algn="just">
                <a:lnSpc>
                  <a:spcPct val="85000"/>
                </a:lnSpc>
                <a:spcAft>
                  <a:spcPct val="20000"/>
                </a:spcAft>
                <a:buFontTx/>
                <a:buChar char="–"/>
              </a:pPr>
              <a:r>
                <a:rPr lang="en-US" altLang="ro-RO" sz="2200" dirty="0" err="1"/>
                <a:t>Constructorii</a:t>
              </a:r>
              <a:r>
                <a:rPr lang="en-US" altLang="ro-RO" sz="2200" dirty="0"/>
                <a:t> </a:t>
              </a:r>
              <a:r>
                <a:rPr lang="en-US" altLang="ro-RO" sz="2200" dirty="0" err="1"/>
                <a:t>clasei</a:t>
              </a:r>
              <a:r>
                <a:rPr lang="en-US" altLang="ro-RO" sz="2200" dirty="0"/>
                <a:t> </a:t>
              </a:r>
              <a:r>
                <a:rPr lang="en-US" altLang="ro-RO" sz="2200" dirty="0" err="1"/>
                <a:t>sunt</a:t>
              </a:r>
              <a:r>
                <a:rPr lang="en-US" altLang="ro-RO" sz="2200" dirty="0"/>
                <a:t> </a:t>
              </a:r>
              <a:r>
                <a:rPr lang="en-US" altLang="ro-RO" sz="2200" dirty="0" err="1"/>
                <a:t>supraîncărcați</a:t>
              </a:r>
              <a:r>
                <a:rPr lang="en-US" altLang="ro-RO" sz="2200" dirty="0"/>
                <a:t>.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Apelarea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constructorului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fără</a:t>
              </a:r>
              <a:r>
                <a:rPr lang="en-US" altLang="ro-RO" sz="2200" i="0" dirty="0"/>
                <a:t> argument </a:t>
              </a:r>
              <a:r>
                <a:rPr lang="en-US" altLang="ro-RO" sz="2200" i="0" dirty="0" err="1"/>
                <a:t>creează</a:t>
              </a:r>
              <a:r>
                <a:rPr lang="en-US" altLang="ro-RO" sz="2200" i="0" dirty="0"/>
                <a:t> un </a:t>
              </a:r>
              <a:r>
                <a:rPr lang="ro-RO" altLang="ro-RO" sz="2200" i="0" dirty="0" err="1"/>
                <a:t>numar</a:t>
              </a:r>
              <a:r>
                <a:rPr lang="ro-RO" altLang="ro-RO" sz="2200" i="0" dirty="0"/>
                <a:t> </a:t>
              </a:r>
              <a:r>
                <a:rPr lang="en-US" altLang="ro-RO" sz="2200" i="0" dirty="0" err="1"/>
                <a:t>rațional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inițializat</a:t>
              </a:r>
              <a:r>
                <a:rPr lang="en-US" altLang="ro-RO" sz="2200" i="0" dirty="0"/>
                <a:t> la 0, </a:t>
              </a:r>
              <a:r>
                <a:rPr lang="en-US" altLang="ro-RO" sz="2200" i="0" dirty="0" err="1"/>
                <a:t>apelarea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acestuia</a:t>
              </a:r>
              <a:r>
                <a:rPr lang="en-US" altLang="ro-RO" sz="2200" i="0" dirty="0"/>
                <a:t> cu un argument </a:t>
              </a:r>
              <a:r>
                <a:rPr lang="en-US" altLang="ro-RO" sz="2200" i="0" dirty="0" err="1"/>
                <a:t>creează</a:t>
              </a:r>
              <a:r>
                <a:rPr lang="en-US" altLang="ro-RO" sz="2200" i="0" dirty="0"/>
                <a:t> un </a:t>
              </a:r>
              <a:r>
                <a:rPr lang="en-US" altLang="ro-RO" sz="2200" i="0" dirty="0" err="1"/>
                <a:t>rațional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egal</a:t>
              </a:r>
              <a:r>
                <a:rPr lang="en-US" altLang="ro-RO" sz="2200" i="0" dirty="0"/>
                <a:t> cu </a:t>
              </a:r>
              <a:r>
                <a:rPr lang="en-US" altLang="ro-RO" sz="2200" i="0" dirty="0" err="1"/>
                <a:t>acel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număr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întreg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și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apelarea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acestuia</a:t>
              </a:r>
              <a:r>
                <a:rPr lang="en-US" altLang="ro-RO" sz="2200" i="0" dirty="0"/>
                <a:t> cu </a:t>
              </a:r>
              <a:r>
                <a:rPr lang="en-US" altLang="ro-RO" sz="2200" i="0" dirty="0" err="1"/>
                <a:t>două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argumente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creează</a:t>
              </a:r>
              <a:r>
                <a:rPr lang="en-US" altLang="ro-RO" sz="2200" i="0" dirty="0"/>
                <a:t> o </a:t>
              </a:r>
              <a:r>
                <a:rPr lang="en-US" altLang="ro-RO" sz="2200" i="0" dirty="0" err="1"/>
                <a:t>fracție</a:t>
              </a:r>
              <a:endParaRPr lang="en-US" altLang="ro-RO" sz="2200" i="0" dirty="0"/>
            </a:p>
          </p:txBody>
        </p:sp>
      </p:grpSp>
      <p:sp>
        <p:nvSpPr>
          <p:cNvPr id="716807" name="Rectangle 7"/>
          <p:cNvSpPr>
            <a:spLocks noChangeArrowheads="1"/>
          </p:cNvSpPr>
          <p:nvPr/>
        </p:nvSpPr>
        <p:spPr bwMode="auto">
          <a:xfrm>
            <a:off x="482600" y="3886200"/>
            <a:ext cx="81311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200" dirty="0" err="1"/>
              <a:t>Constructorul</a:t>
            </a:r>
            <a:r>
              <a:rPr lang="en-US" altLang="ro-RO" sz="2200" dirty="0"/>
              <a:t> se </a:t>
            </a:r>
            <a:r>
              <a:rPr lang="en-US" altLang="ro-RO" sz="2200" dirty="0" err="1"/>
              <a:t>asigură</a:t>
            </a:r>
            <a:r>
              <a:rPr lang="en-US" altLang="ro-RO" sz="2200" dirty="0"/>
              <a:t> </a:t>
            </a:r>
            <a:r>
              <a:rPr lang="en-US" altLang="ro-RO" sz="2200" dirty="0" err="1"/>
              <a:t>că</a:t>
            </a:r>
            <a:r>
              <a:rPr lang="en-US" altLang="ro-RO" sz="2200" dirty="0"/>
              <a:t> </a:t>
            </a:r>
            <a:r>
              <a:rPr lang="en-US" altLang="ro-RO" sz="2200" dirty="0" err="1"/>
              <a:t>numărul</a:t>
            </a:r>
            <a:r>
              <a:rPr lang="en-US" altLang="ro-RO" sz="2200" dirty="0"/>
              <a:t> </a:t>
            </a:r>
            <a:r>
              <a:rPr lang="en-US" altLang="ro-RO" sz="2200" dirty="0" err="1"/>
              <a:t>este</a:t>
            </a:r>
            <a:r>
              <a:rPr lang="en-US" altLang="ro-RO" sz="2200" dirty="0"/>
              <a:t> </a:t>
            </a:r>
            <a:r>
              <a:rPr lang="en-US" altLang="ro-RO" sz="2200" dirty="0" err="1"/>
              <a:t>redus</a:t>
            </a:r>
            <a:r>
              <a:rPr lang="en-US" altLang="ro-RO" sz="2200" dirty="0"/>
              <a:t> la </a:t>
            </a:r>
            <a:r>
              <a:rPr lang="en-US" altLang="ro-RO" sz="2200" dirty="0" err="1"/>
              <a:t>termenii</a:t>
            </a:r>
            <a:r>
              <a:rPr lang="en-US" altLang="ro-RO" sz="2200" dirty="0"/>
              <a:t> </a:t>
            </a:r>
            <a:r>
              <a:rPr lang="en-US" altLang="ro-RO" sz="2200" dirty="0" err="1"/>
              <a:t>cei</a:t>
            </a:r>
            <a:r>
              <a:rPr lang="en-US" altLang="ro-RO" sz="2200" dirty="0"/>
              <a:t> </a:t>
            </a:r>
            <a:r>
              <a:rPr lang="en-US" altLang="ro-RO" sz="2200" dirty="0" err="1"/>
              <a:t>mai</a:t>
            </a:r>
            <a:r>
              <a:rPr lang="en-US" altLang="ro-RO" sz="2200" dirty="0"/>
              <a:t> </a:t>
            </a:r>
            <a:r>
              <a:rPr lang="en-US" altLang="ro-RO" sz="2200" dirty="0" err="1"/>
              <a:t>mici</a:t>
            </a:r>
            <a:r>
              <a:rPr lang="en-US" altLang="ro-RO" sz="2200" dirty="0"/>
              <a:t>.</a:t>
            </a:r>
            <a:r>
              <a:rPr lang="ro-RO" altLang="ro-RO" sz="2200" dirty="0"/>
              <a:t> </a:t>
            </a:r>
            <a:r>
              <a:rPr lang="en-US" altLang="ro-RO" sz="2200" i="0" dirty="0"/>
              <a:t>Mai </a:t>
            </a:r>
            <a:r>
              <a:rPr lang="en-US" altLang="ro-RO" sz="2200" i="0" dirty="0" err="1"/>
              <a:t>mult</a:t>
            </a:r>
            <a:r>
              <a:rPr lang="en-US" altLang="ro-RO" sz="2200" i="0" dirty="0"/>
              <a:t>, </a:t>
            </a:r>
            <a:r>
              <a:rPr lang="en-US" altLang="ro-RO" sz="2200" i="0" dirty="0" err="1"/>
              <a:t>deoarece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aceste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valori</a:t>
            </a:r>
            <a:r>
              <a:rPr lang="en-US" altLang="ro-RO" sz="2200" i="0" dirty="0"/>
              <a:t> nu se </a:t>
            </a:r>
            <a:r>
              <a:rPr lang="en-US" altLang="ro-RO" sz="2200" i="0" dirty="0" err="1"/>
              <a:t>schimbă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niciodată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odată</a:t>
            </a:r>
            <a:r>
              <a:rPr lang="en-US" altLang="ro-RO" sz="2200" i="0" dirty="0"/>
              <a:t> cu </a:t>
            </a:r>
            <a:r>
              <a:rPr lang="en-US" altLang="ro-RO" sz="2200" i="0" dirty="0" err="1"/>
              <a:t>crearea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unui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nou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rațional</a:t>
            </a:r>
            <a:r>
              <a:rPr lang="en-US" altLang="ro-RO" sz="2200" i="0" dirty="0"/>
              <a:t>, </a:t>
            </a:r>
            <a:r>
              <a:rPr lang="en-US" altLang="ro-RO" sz="2200" i="0" dirty="0" err="1"/>
              <a:t>această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proprietate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va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rămâne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în</a:t>
            </a:r>
            <a:r>
              <a:rPr lang="en-US" altLang="ro-RO" sz="2200" i="0" dirty="0"/>
              <a:t> </a:t>
            </a:r>
            <a:r>
              <a:rPr lang="en-US" altLang="ro-RO" sz="2200" i="0" dirty="0" err="1"/>
              <a:t>vigoare</a:t>
            </a:r>
            <a:r>
              <a:rPr lang="en-US" altLang="ro-RO" sz="2200" i="0" dirty="0"/>
              <a:t>.</a:t>
            </a:r>
          </a:p>
        </p:txBody>
      </p:sp>
      <p:grpSp>
        <p:nvGrpSpPr>
          <p:cNvPr id="716808" name="Group 8"/>
          <p:cNvGrpSpPr>
            <a:grpSpLocks/>
          </p:cNvGrpSpPr>
          <p:nvPr/>
        </p:nvGrpSpPr>
        <p:grpSpPr bwMode="auto">
          <a:xfrm>
            <a:off x="482600" y="5060950"/>
            <a:ext cx="8131175" cy="1250950"/>
            <a:chOff x="304" y="3188"/>
            <a:chExt cx="5122" cy="788"/>
          </a:xfrm>
        </p:grpSpPr>
        <p:sp>
          <p:nvSpPr>
            <p:cNvPr id="46087" name="Rectangle 9"/>
            <p:cNvSpPr>
              <a:spLocks noChangeArrowheads="1"/>
            </p:cNvSpPr>
            <p:nvPr/>
          </p:nvSpPr>
          <p:spPr bwMode="auto">
            <a:xfrm>
              <a:off x="304" y="3188"/>
              <a:ext cx="5122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 algn="just">
                <a:lnSpc>
                  <a:spcPct val="85000"/>
                </a:lnSpc>
                <a:spcAft>
                  <a:spcPct val="20000"/>
                </a:spcAft>
                <a:buFontTx/>
                <a:buChar char="–"/>
              </a:pPr>
              <a:r>
                <a:rPr lang="en-US" altLang="ro-RO" sz="2200" dirty="0"/>
                <a:t>Opera</a:t>
              </a:r>
              <a:r>
                <a:rPr lang="ro-RO" altLang="ro-RO" sz="2200" dirty="0"/>
                <a:t>țiile sunt efectuate conform sintaxei</a:t>
              </a:r>
              <a:r>
                <a:rPr lang="en-US" altLang="ro-RO" sz="2200" dirty="0"/>
                <a:t>.</a:t>
              </a:r>
              <a:r>
                <a:rPr lang="en-US" altLang="ro-RO" sz="2200" i="0" dirty="0"/>
                <a:t> </a:t>
              </a:r>
              <a:r>
                <a:rPr lang="en-GB" sz="2200" i="0" dirty="0" err="1"/>
                <a:t>Când</a:t>
              </a:r>
              <a:r>
                <a:rPr lang="en-GB" sz="2200" i="0" dirty="0"/>
                <a:t> </a:t>
              </a:r>
              <a:r>
                <a:rPr lang="en-GB" sz="2200" i="0" dirty="0" err="1"/>
                <a:t>aplicați</a:t>
              </a:r>
              <a:r>
                <a:rPr lang="en-GB" sz="2200" i="0" dirty="0"/>
                <a:t> un operator la </a:t>
              </a:r>
              <a:r>
                <a:rPr lang="en-GB" sz="2200" i="0" dirty="0" err="1"/>
                <a:t>două</a:t>
              </a:r>
              <a:r>
                <a:rPr lang="en-GB" sz="2200" i="0" dirty="0"/>
                <a:t> </a:t>
              </a:r>
              <a:r>
                <a:rPr lang="en-GB" sz="2200" i="0" dirty="0" err="1"/>
                <a:t>valori</a:t>
              </a:r>
              <a:r>
                <a:rPr lang="en-GB" sz="2200" i="0" dirty="0"/>
                <a:t> </a:t>
              </a:r>
              <a:r>
                <a:rPr lang="en-GB" sz="2200" i="0" dirty="0" err="1"/>
                <a:t>raționale</a:t>
              </a:r>
              <a:r>
                <a:rPr lang="en-GB" sz="2200" i="0" dirty="0"/>
                <a:t>, </a:t>
              </a:r>
              <a:r>
                <a:rPr lang="en-GB" sz="2200" i="0" dirty="0" err="1"/>
                <a:t>unul</a:t>
              </a:r>
              <a:r>
                <a:rPr lang="en-GB" sz="2200" i="0" dirty="0"/>
                <a:t> </a:t>
              </a:r>
              <a:r>
                <a:rPr lang="en-GB" sz="2200" i="0" dirty="0" err="1"/>
                <a:t>dintre</a:t>
              </a:r>
              <a:r>
                <a:rPr lang="en-GB" sz="2200" i="0" dirty="0"/>
                <a:t> </a:t>
              </a:r>
              <a:r>
                <a:rPr lang="en-GB" sz="2200" i="0" dirty="0" err="1"/>
                <a:t>operanzi</a:t>
              </a:r>
              <a:r>
                <a:rPr lang="en-GB" sz="2200" i="0" dirty="0"/>
                <a:t> </a:t>
              </a:r>
              <a:r>
                <a:rPr lang="en-GB" sz="2200" i="0" dirty="0" err="1"/>
                <a:t>este</a:t>
              </a:r>
              <a:r>
                <a:rPr lang="en-GB" sz="2200" i="0" dirty="0"/>
                <a:t> </a:t>
              </a:r>
              <a:r>
                <a:rPr lang="en-GB" sz="2200" i="0" dirty="0" err="1"/>
                <a:t>receptorul</a:t>
              </a:r>
              <a:r>
                <a:rPr lang="en-GB" sz="2200" i="0" dirty="0"/>
                <a:t>, </a:t>
              </a:r>
              <a:r>
                <a:rPr lang="en-GB" sz="2200" i="0" dirty="0" err="1"/>
                <a:t>iar</a:t>
              </a:r>
              <a:r>
                <a:rPr lang="en-GB" sz="2200" i="0" dirty="0"/>
                <a:t> </a:t>
              </a:r>
              <a:r>
                <a:rPr lang="en-GB" sz="2200" i="0" dirty="0" err="1"/>
                <a:t>celălalt</a:t>
              </a:r>
              <a:r>
                <a:rPr lang="en-GB" sz="2200" i="0" dirty="0"/>
                <a:t> </a:t>
              </a:r>
              <a:r>
                <a:rPr lang="en-GB" sz="2200" i="0" dirty="0" err="1"/>
                <a:t>este</a:t>
              </a:r>
              <a:r>
                <a:rPr lang="en-GB" sz="2200" i="0" dirty="0"/>
                <a:t> </a:t>
              </a:r>
              <a:r>
                <a:rPr lang="en-GB" sz="2200" i="0" dirty="0" err="1"/>
                <a:t>transmis</a:t>
              </a:r>
              <a:r>
                <a:rPr lang="en-GB" sz="2200" i="0" dirty="0"/>
                <a:t> ca argument, ca </a:t>
              </a:r>
              <a:r>
                <a:rPr lang="en-GB" sz="2200" i="0" dirty="0" err="1"/>
                <a:t>în</a:t>
              </a:r>
              <a:endParaRPr lang="en-US" altLang="ro-RO" sz="2200" i="0" dirty="0"/>
            </a:p>
          </p:txBody>
        </p:sp>
        <p:sp>
          <p:nvSpPr>
            <p:cNvPr id="46088" name="Rectangle 10"/>
            <p:cNvSpPr>
              <a:spLocks noChangeArrowheads="1"/>
            </p:cNvSpPr>
            <p:nvPr/>
          </p:nvSpPr>
          <p:spPr bwMode="auto">
            <a:xfrm>
              <a:off x="2388" y="3688"/>
              <a:ext cx="11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000" b="1" i="0">
                  <a:latin typeface="Courier New" panose="02070309020205020404" pitchFamily="49" charset="0"/>
                </a:rPr>
                <a:t>r1.add(r2)</a:t>
              </a:r>
              <a:r>
                <a:rPr lang="en-US" altLang="ro-RO" sz="2400" i="0"/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err="1">
                <a:solidFill>
                  <a:srgbClr val="FF0000"/>
                </a:solidFill>
              </a:rPr>
              <a:t>Cuvantul</a:t>
            </a:r>
            <a:r>
              <a:rPr lang="ro-RO" altLang="ro-RO" sz="4000" dirty="0">
                <a:solidFill>
                  <a:srgbClr val="FF0000"/>
                </a:solidFill>
              </a:rPr>
              <a:t> cheie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3600" b="1" dirty="0">
                <a:solidFill>
                  <a:srgbClr val="FF0000"/>
                </a:solidFill>
                <a:latin typeface="Courier New" panose="02070309020205020404" pitchFamily="49" charset="0"/>
              </a:rPr>
              <a:t>this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482600" y="1358900"/>
            <a:ext cx="81280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Implementarea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clasei</a:t>
            </a:r>
            <a:r>
              <a:rPr lang="en-US" altLang="ro-RO" sz="2400" i="0" dirty="0"/>
              <a:t> </a:t>
            </a:r>
            <a:r>
              <a:rPr lang="en-US" altLang="ro-RO" sz="2400" b="1" i="0" dirty="0"/>
              <a:t>Rational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folosește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cuvântul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cheie</a:t>
            </a:r>
            <a:r>
              <a:rPr lang="en-US" altLang="ro-RO" sz="2400" i="0" dirty="0"/>
              <a:t> Java</a:t>
            </a:r>
            <a:r>
              <a:rPr lang="ro-RO" altLang="ro-RO" sz="2400" i="0" dirty="0"/>
              <a:t> </a:t>
            </a:r>
            <a:r>
              <a:rPr lang="ro-RO" altLang="ro-RO" sz="2400" b="1" i="0" dirty="0" err="1"/>
              <a:t>this</a:t>
            </a:r>
            <a:r>
              <a:rPr lang="en-US" altLang="ro-RO" sz="2400" i="0" dirty="0"/>
              <a:t>, care se </a:t>
            </a:r>
            <a:r>
              <a:rPr lang="en-US" altLang="ro-RO" sz="2400" i="0" dirty="0" err="1"/>
              <a:t>referă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întotdeauna</a:t>
            </a:r>
            <a:r>
              <a:rPr lang="en-US" altLang="ro-RO" sz="2400" i="0" dirty="0"/>
              <a:t> la </a:t>
            </a:r>
            <a:r>
              <a:rPr lang="en-US" altLang="ro-RO" sz="2400" i="0" dirty="0" err="1"/>
              <a:t>obiectul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curent</a:t>
            </a:r>
            <a:r>
              <a:rPr lang="en-US" altLang="ro-RO" sz="2400" i="0" dirty="0"/>
              <a:t>. Cu </a:t>
            </a:r>
            <a:r>
              <a:rPr lang="en-US" altLang="ro-RO" sz="2400" i="0" dirty="0" err="1"/>
              <a:t>toate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acestea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codul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folosește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două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moduri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distincte</a:t>
            </a:r>
            <a:r>
              <a:rPr lang="en-US" altLang="ro-RO" sz="2400" i="0" dirty="0"/>
              <a:t> :</a:t>
            </a:r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altLang="ro-RO" sz="2400" i="0" dirty="0"/>
          </a:p>
        </p:txBody>
      </p:sp>
      <p:grpSp>
        <p:nvGrpSpPr>
          <p:cNvPr id="755721" name="Group 9"/>
          <p:cNvGrpSpPr>
            <a:grpSpLocks/>
          </p:cNvGrpSpPr>
          <p:nvPr/>
        </p:nvGrpSpPr>
        <p:grpSpPr bwMode="auto">
          <a:xfrm>
            <a:off x="876300" y="2453027"/>
            <a:ext cx="7734300" cy="955675"/>
            <a:chOff x="552" y="1448"/>
            <a:chExt cx="4872" cy="602"/>
          </a:xfrm>
        </p:grpSpPr>
        <p:sp>
          <p:nvSpPr>
            <p:cNvPr id="48137" name="Text Box 5"/>
            <p:cNvSpPr txBox="1">
              <a:spLocks noChangeArrowheads="1"/>
            </p:cNvSpPr>
            <p:nvPr/>
          </p:nvSpPr>
          <p:spPr bwMode="auto">
            <a:xfrm>
              <a:off x="770" y="1448"/>
              <a:ext cx="4654" cy="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 dirty="0" err="1"/>
                <a:t>În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primele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două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versiuni</a:t>
              </a:r>
              <a:r>
                <a:rPr lang="en-US" altLang="ro-RO" sz="2200" i="0" dirty="0"/>
                <a:t> ale </a:t>
              </a:r>
              <a:r>
                <a:rPr lang="en-US" altLang="ro-RO" sz="2200" i="0" dirty="0" err="1"/>
                <a:t>constructorului</a:t>
              </a:r>
              <a:r>
                <a:rPr lang="en-US" altLang="ro-RO" sz="2200" i="0" dirty="0"/>
                <a:t>, </a:t>
              </a:r>
              <a:r>
                <a:rPr lang="en-US" altLang="ro-RO" sz="2200" i="0" dirty="0" err="1"/>
                <a:t>cuvântul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cheie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acesta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este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folosit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pentru</a:t>
              </a:r>
              <a:r>
                <a:rPr lang="en-US" altLang="ro-RO" sz="2200" i="0" dirty="0"/>
                <a:t> a </a:t>
              </a:r>
              <a:r>
                <a:rPr lang="en-US" altLang="ro-RO" sz="2200" i="0" dirty="0" err="1"/>
                <a:t>invoca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unul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dintre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ceilalți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constructori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pentru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această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clasă</a:t>
              </a:r>
              <a:r>
                <a:rPr lang="en-US" altLang="ro-RO" sz="2200" i="0" dirty="0"/>
                <a:t>.</a:t>
              </a:r>
            </a:p>
          </p:txBody>
        </p:sp>
        <p:sp>
          <p:nvSpPr>
            <p:cNvPr id="48138" name="Text Box 6"/>
            <p:cNvSpPr txBox="1">
              <a:spLocks noChangeArrowheads="1"/>
            </p:cNvSpPr>
            <p:nvPr/>
          </p:nvSpPr>
          <p:spPr bwMode="auto">
            <a:xfrm>
              <a:off x="552" y="1448"/>
              <a:ext cx="28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/>
                <a:t>1.</a:t>
              </a:r>
            </a:p>
          </p:txBody>
        </p:sp>
      </p:grpSp>
      <p:grpSp>
        <p:nvGrpSpPr>
          <p:cNvPr id="755725" name="Group 13"/>
          <p:cNvGrpSpPr>
            <a:grpSpLocks/>
          </p:cNvGrpSpPr>
          <p:nvPr/>
        </p:nvGrpSpPr>
        <p:grpSpPr bwMode="auto">
          <a:xfrm>
            <a:off x="911537" y="3498850"/>
            <a:ext cx="7734300" cy="1243013"/>
            <a:chOff x="552" y="1448"/>
            <a:chExt cx="4872" cy="783"/>
          </a:xfrm>
        </p:grpSpPr>
        <p:sp>
          <p:nvSpPr>
            <p:cNvPr id="48135" name="Text Box 14"/>
            <p:cNvSpPr txBox="1">
              <a:spLocks noChangeArrowheads="1"/>
            </p:cNvSpPr>
            <p:nvPr/>
          </p:nvSpPr>
          <p:spPr bwMode="auto">
            <a:xfrm>
              <a:off x="770" y="1448"/>
              <a:ext cx="4654" cy="7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 dirty="0" err="1"/>
                <a:t>În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metodele</a:t>
              </a:r>
              <a:r>
                <a:rPr lang="en-US" altLang="ro-RO" sz="2200" i="0" dirty="0"/>
                <a:t> care </a:t>
              </a:r>
              <a:r>
                <a:rPr lang="en-US" altLang="ro-RO" sz="2200" i="0" dirty="0" err="1"/>
                <a:t>implementează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operatorii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aritmetici</a:t>
              </a:r>
              <a:r>
                <a:rPr lang="en-US" altLang="ro-RO" sz="2200" i="0" dirty="0"/>
                <a:t>, </a:t>
              </a:r>
              <a:r>
                <a:rPr lang="en-US" altLang="ro-RO" sz="2200" i="0" dirty="0" err="1"/>
                <a:t>aceasta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este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utilizată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pentru</a:t>
              </a:r>
              <a:r>
                <a:rPr lang="en-US" altLang="ro-RO" sz="2200" i="0" dirty="0"/>
                <a:t> a </a:t>
              </a:r>
              <a:r>
                <a:rPr lang="en-US" altLang="ro-RO" sz="2200" i="0" dirty="0" err="1"/>
                <a:t>sublinia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faptul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că</a:t>
              </a:r>
              <a:r>
                <a:rPr lang="en-US" altLang="ro-RO" sz="2200" i="0" dirty="0"/>
                <a:t> un </a:t>
              </a:r>
              <a:r>
                <a:rPr lang="en-US" altLang="ro-RO" sz="2200" i="0" dirty="0" err="1"/>
                <a:t>câmp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numit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provine</a:t>
              </a:r>
              <a:r>
                <a:rPr lang="en-US" altLang="ro-RO" sz="2200" i="0" dirty="0"/>
                <a:t> din </a:t>
              </a:r>
              <a:r>
                <a:rPr lang="en-US" altLang="ro-RO" sz="2200" i="0" dirty="0" err="1"/>
                <a:t>acest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obiect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mai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degrabă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decât</a:t>
              </a:r>
              <a:r>
                <a:rPr lang="en-US" altLang="ro-RO" sz="2200" i="0" dirty="0"/>
                <a:t> din </a:t>
              </a:r>
              <a:r>
                <a:rPr lang="en-US" altLang="ro-RO" sz="2200" i="0" dirty="0" err="1"/>
                <a:t>una</a:t>
              </a:r>
              <a:r>
                <a:rPr lang="en-US" altLang="ro-RO" sz="2200" i="0" dirty="0"/>
                <a:t> din </a:t>
              </a:r>
              <a:r>
                <a:rPr lang="en-US" altLang="ro-RO" sz="2200" i="0" dirty="0" err="1"/>
                <a:t>celelalte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valori</a:t>
              </a:r>
              <a:r>
                <a:rPr lang="en-US" altLang="ro-RO" sz="2200" i="0" dirty="0"/>
                <a:t> ale </a:t>
              </a:r>
              <a:r>
                <a:rPr lang="en-US" altLang="ro-RO" sz="2200" i="0" dirty="0" err="1"/>
                <a:t>acelei</a:t>
              </a:r>
              <a:r>
                <a:rPr lang="en-US" altLang="ro-RO" sz="2200" i="0" dirty="0"/>
                <a:t> </a:t>
              </a:r>
              <a:r>
                <a:rPr lang="en-US" altLang="ro-RO" sz="2200" i="0" dirty="0" err="1"/>
                <a:t>clase</a:t>
              </a:r>
              <a:r>
                <a:rPr lang="en-US" altLang="ro-RO" sz="2200" i="0" dirty="0"/>
                <a:t>.</a:t>
              </a:r>
            </a:p>
          </p:txBody>
        </p:sp>
        <p:sp>
          <p:nvSpPr>
            <p:cNvPr id="48136" name="Text Box 15"/>
            <p:cNvSpPr txBox="1">
              <a:spLocks noChangeArrowheads="1"/>
            </p:cNvSpPr>
            <p:nvPr/>
          </p:nvSpPr>
          <p:spPr bwMode="auto">
            <a:xfrm>
              <a:off x="552" y="1448"/>
              <a:ext cx="28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/>
                <a:t>2.</a:t>
              </a:r>
            </a:p>
          </p:txBody>
        </p:sp>
      </p:grpSp>
      <p:sp>
        <p:nvSpPr>
          <p:cNvPr id="755728" name="Rectangle 16"/>
          <p:cNvSpPr>
            <a:spLocks noChangeArrowheads="1"/>
          </p:cNvSpPr>
          <p:nvPr/>
        </p:nvSpPr>
        <p:spPr bwMode="auto">
          <a:xfrm>
            <a:off x="517837" y="4741863"/>
            <a:ext cx="81280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/>
              <a:t>Cuvântul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cheie</a:t>
            </a:r>
            <a:r>
              <a:rPr lang="en-US" altLang="ro-RO" sz="2400" i="0" dirty="0"/>
              <a:t> </a:t>
            </a:r>
            <a:r>
              <a:rPr lang="ro-RO" altLang="ro-RO" sz="2000" b="1" i="0" dirty="0" err="1">
                <a:latin typeface="Courier New" panose="02070309020205020404" pitchFamily="49" charset="0"/>
              </a:rPr>
              <a:t>this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este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asemenea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folosit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adesea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pentru</a:t>
            </a:r>
            <a:r>
              <a:rPr lang="en-US" altLang="ro-RO" sz="2400" i="0" dirty="0"/>
              <a:t> a </a:t>
            </a:r>
            <a:r>
              <a:rPr lang="en-US" altLang="ro-RO" sz="2400" i="0" dirty="0" err="1"/>
              <a:t>distinge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între</a:t>
            </a:r>
            <a:r>
              <a:rPr lang="en-US" altLang="ro-RO" sz="2400" i="0" dirty="0"/>
              <a:t> o </a:t>
            </a:r>
            <a:r>
              <a:rPr lang="en-US" altLang="ro-RO" sz="2400" i="0" dirty="0" err="1"/>
              <a:t>variabilă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instanță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și</a:t>
            </a:r>
            <a:r>
              <a:rPr lang="en-US" altLang="ro-RO" sz="2400" i="0" dirty="0"/>
              <a:t> o </a:t>
            </a:r>
            <a:r>
              <a:rPr lang="en-US" altLang="ro-RO" sz="2400" i="0" dirty="0" err="1"/>
              <a:t>variabilă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locală</a:t>
            </a:r>
            <a:r>
              <a:rPr lang="en-US" altLang="ro-RO" sz="2400" i="0" dirty="0"/>
              <a:t> cu </a:t>
            </a:r>
            <a:r>
              <a:rPr lang="en-US" altLang="ro-RO" sz="2400" i="0" dirty="0" err="1"/>
              <a:t>același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nume</a:t>
            </a:r>
            <a:r>
              <a:rPr lang="en-US" altLang="ro-RO" sz="2400" i="0" dirty="0"/>
              <a:t>. </a:t>
            </a:r>
            <a:r>
              <a:rPr lang="en-US" altLang="ro-RO" sz="2400" i="0" dirty="0" err="1"/>
              <a:t>Dacă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includeți</a:t>
            </a:r>
            <a:r>
              <a:rPr lang="en-US" altLang="ro-RO" sz="2400" i="0" dirty="0"/>
              <a:t> </a:t>
            </a:r>
            <a:r>
              <a:rPr lang="ro-RO" altLang="ro-RO" sz="2400" b="1" i="0" dirty="0" err="1"/>
              <a:t>this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înainte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numele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variabilei</a:t>
            </a:r>
            <a:r>
              <a:rPr lang="en-US" altLang="ro-RO" sz="2400" i="0" dirty="0"/>
              <a:t>, </a:t>
            </a:r>
            <a:r>
              <a:rPr lang="en-US" altLang="ro-RO" sz="2400" i="0" dirty="0" err="1"/>
              <a:t>indicați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compilatorului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că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vrei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să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spui</a:t>
            </a:r>
            <a:r>
              <a:rPr lang="en-US" altLang="ro-RO" sz="2400" i="0" dirty="0"/>
              <a:t> </a:t>
            </a:r>
            <a:r>
              <a:rPr lang="en-US" altLang="ro-RO" sz="2400" i="0" dirty="0" err="1"/>
              <a:t>variabila</a:t>
            </a:r>
            <a:r>
              <a:rPr lang="en-US" altLang="ro-RO" sz="2400" i="0" dirty="0"/>
              <a:t> de </a:t>
            </a:r>
            <a:r>
              <a:rPr lang="en-US" altLang="ro-RO" sz="2400" i="0" dirty="0" err="1"/>
              <a:t>instanță</a:t>
            </a:r>
            <a:r>
              <a:rPr lang="en-US" altLang="ro-RO" sz="2400" i="0" dirty="0"/>
              <a:t>.</a:t>
            </a:r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altLang="ro-RO" sz="2400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2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98463" y="1295400"/>
            <a:ext cx="83518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* Clasa Rational este utilizată pentru numere raționale, 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definite ca fiind raportul a două numere întregi.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public class Rational {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 Creeaza un nou  Rational initializat cu zero.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this(0);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Creaza un rational cu numitor 1.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n valoare numarator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Rational(int n)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this(n, 1);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31300" cy="10874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1885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18856" name="Group 8"/>
          <p:cNvGrpSpPr>
            <a:grpSpLocks/>
          </p:cNvGrpSpPr>
          <p:nvPr/>
        </p:nvGrpSpPr>
        <p:grpSpPr bwMode="auto">
          <a:xfrm>
            <a:off x="304800" y="2743200"/>
            <a:ext cx="8382000" cy="3922713"/>
            <a:chOff x="192" y="1728"/>
            <a:chExt cx="5280" cy="2471"/>
          </a:xfrm>
        </p:grpSpPr>
        <p:sp>
          <p:nvSpPr>
            <p:cNvPr id="50187" name="Rectangle 9"/>
            <p:cNvSpPr>
              <a:spLocks noChangeArrowheads="1"/>
            </p:cNvSpPr>
            <p:nvPr/>
          </p:nvSpPr>
          <p:spPr bwMode="auto">
            <a:xfrm>
              <a:off x="192" y="1728"/>
              <a:ext cx="5280" cy="1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0188" name="AutoShape 10"/>
            <p:cNvSpPr>
              <a:spLocks noChangeArrowheads="1"/>
            </p:cNvSpPr>
            <p:nvPr/>
          </p:nvSpPr>
          <p:spPr bwMode="auto">
            <a:xfrm>
              <a:off x="1152" y="3792"/>
              <a:ext cx="4314" cy="288"/>
            </a:xfrm>
            <a:prstGeom prst="wedgeRectCallout">
              <a:avLst>
                <a:gd name="adj1" fmla="val -29556"/>
                <a:gd name="adj2" fmla="val -9652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0189" name="Rectangle 11"/>
            <p:cNvSpPr>
              <a:spLocks noChangeArrowheads="1"/>
            </p:cNvSpPr>
            <p:nvPr/>
          </p:nvSpPr>
          <p:spPr bwMode="auto">
            <a:xfrm>
              <a:off x="1152" y="3794"/>
              <a:ext cx="4320" cy="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GB" dirty="0" err="1"/>
                <a:t>Acești</a:t>
              </a:r>
              <a:r>
                <a:rPr lang="en-GB" dirty="0"/>
                <a:t> </a:t>
              </a:r>
              <a:r>
                <a:rPr lang="en-GB" dirty="0" err="1"/>
                <a:t>constructori</a:t>
              </a:r>
              <a:r>
                <a:rPr lang="en-GB" dirty="0"/>
                <a:t> sunt </a:t>
              </a:r>
              <a:r>
                <a:rPr lang="en-GB" dirty="0" err="1"/>
                <a:t>supraîncărcați</a:t>
              </a:r>
              <a:r>
                <a:rPr lang="en-GB" dirty="0"/>
                <a:t>, </a:t>
              </a:r>
              <a:r>
                <a:rPr lang="en-GB" dirty="0" err="1"/>
                <a:t>astfel</a:t>
              </a:r>
              <a:r>
                <a:rPr lang="en-GB" dirty="0"/>
                <a:t> </a:t>
              </a:r>
              <a:r>
                <a:rPr lang="en-GB" dirty="0" err="1"/>
                <a:t>încât</a:t>
              </a:r>
              <a:r>
                <a:rPr lang="en-GB" dirty="0"/>
                <a:t> </a:t>
              </a:r>
              <a:r>
                <a:rPr lang="en-GB" dirty="0" err="1"/>
                <a:t>există</a:t>
              </a:r>
              <a:r>
                <a:rPr lang="en-GB" dirty="0"/>
                <a:t> </a:t>
              </a:r>
              <a:r>
                <a:rPr lang="en-GB" dirty="0" err="1"/>
                <a:t>mai</a:t>
              </a:r>
              <a:r>
                <a:rPr lang="en-GB" dirty="0"/>
                <a:t> </a:t>
              </a:r>
              <a:r>
                <a:rPr lang="en-GB" dirty="0" err="1"/>
                <a:t>multe</a:t>
              </a:r>
              <a:r>
                <a:rPr lang="en-GB" dirty="0"/>
                <a:t> </a:t>
              </a:r>
              <a:r>
                <a:rPr lang="en-GB" dirty="0" err="1"/>
                <a:t>modalități</a:t>
              </a:r>
              <a:r>
                <a:rPr lang="en-GB" dirty="0"/>
                <a:t> de a </a:t>
              </a:r>
              <a:r>
                <a:rPr lang="en-GB" dirty="0" err="1"/>
                <a:t>crea</a:t>
              </a:r>
              <a:r>
                <a:rPr lang="en-GB" dirty="0"/>
                <a:t> o </a:t>
              </a:r>
              <a:r>
                <a:rPr lang="en-US" altLang="ro-RO" dirty="0"/>
                <a:t> </a:t>
              </a:r>
              <a:r>
                <a:rPr lang="ro-RO" altLang="ro-RO" dirty="0"/>
                <a:t>valoare 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Rational</a:t>
              </a:r>
              <a:r>
                <a:rPr lang="en-US" altLang="ro-RO" dirty="0"/>
                <a:t>. </a:t>
              </a:r>
              <a:r>
                <a:rPr lang="en-GB" dirty="0" err="1"/>
                <a:t>Aceste</a:t>
              </a:r>
              <a:r>
                <a:rPr lang="en-GB" dirty="0"/>
                <a:t> </a:t>
              </a:r>
              <a:r>
                <a:rPr lang="en-GB" dirty="0" err="1"/>
                <a:t>două</a:t>
              </a:r>
              <a:r>
                <a:rPr lang="en-GB" dirty="0"/>
                <a:t> </a:t>
              </a:r>
              <a:r>
                <a:rPr lang="en-GB" dirty="0" err="1"/>
                <a:t>versiuni</a:t>
              </a:r>
              <a:r>
                <a:rPr lang="en-GB" dirty="0"/>
                <a:t> </a:t>
              </a:r>
              <a:r>
                <a:rPr lang="en-GB" dirty="0" err="1"/>
                <a:t>invocă</a:t>
              </a:r>
              <a:r>
                <a:rPr lang="en-GB" dirty="0"/>
                <a:t> </a:t>
              </a:r>
              <a:r>
                <a:rPr lang="en-GB" dirty="0" err="1"/>
                <a:t>constructorul</a:t>
              </a:r>
              <a:r>
                <a:rPr lang="en-GB" dirty="0"/>
                <a:t> principal </a:t>
              </a:r>
              <a:r>
                <a:rPr lang="en-GB" dirty="0" err="1"/>
                <a:t>folosind</a:t>
              </a:r>
              <a:r>
                <a:rPr lang="en-GB" dirty="0"/>
                <a:t> </a:t>
              </a:r>
              <a:r>
                <a:rPr lang="en-GB" dirty="0" err="1"/>
                <a:t>cuvântul</a:t>
              </a:r>
              <a:r>
                <a:rPr lang="en-GB" dirty="0"/>
                <a:t> </a:t>
              </a:r>
              <a:r>
                <a:rPr lang="en-GB" dirty="0" err="1"/>
                <a:t>cheie</a:t>
              </a:r>
              <a:r>
                <a:rPr lang="en-GB" dirty="0"/>
                <a:t> 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this</a:t>
              </a:r>
              <a:r>
                <a:rPr lang="en-US" altLang="ro-RO" dirty="0"/>
                <a:t>.</a:t>
              </a:r>
            </a:p>
          </p:txBody>
        </p:sp>
      </p:grpSp>
      <p:sp>
        <p:nvSpPr>
          <p:cNvPr id="50185" name="Text Box 1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0186" name="Text Box 13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1 of 5</a:t>
            </a:r>
          </a:p>
        </p:txBody>
      </p:sp>
    </p:spTree>
    <p:extLst>
      <p:ext uri="{BB962C8B-B14F-4D97-AF65-F5344CB8AC3E}">
        <p14:creationId xmlns:p14="http://schemas.microsoft.com/office/powerpoint/2010/main" val="1501872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0899" name="Text Box 3"/>
          <p:cNvSpPr txBox="1">
            <a:spLocks noChangeArrowheads="1"/>
          </p:cNvSpPr>
          <p:nvPr/>
        </p:nvSpPr>
        <p:spPr bwMode="auto">
          <a:xfrm>
            <a:off x="398463" y="1295400"/>
            <a:ext cx="8351837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Clasa Rational este utilizată pentru numere raționale, 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are defined to be the quotient of two integers.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public class Rational {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 Creates a new Rational initialized to zero.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this(0);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new Rational from the integer argument.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n The initial value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Rational(int n)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this(n, 1);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720900" name="Group 4"/>
          <p:cNvGrpSpPr>
            <a:grpSpLocks/>
          </p:cNvGrpSpPr>
          <p:nvPr/>
        </p:nvGrpSpPr>
        <p:grpSpPr bwMode="auto">
          <a:xfrm>
            <a:off x="381000" y="1143000"/>
            <a:ext cx="8382000" cy="5276850"/>
            <a:chOff x="240" y="720"/>
            <a:chExt cx="5280" cy="3324"/>
          </a:xfrm>
        </p:grpSpPr>
        <p:sp>
          <p:nvSpPr>
            <p:cNvPr id="52243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2244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Creeaza un Rational de valoare  x / y.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x numarator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y numitor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Rational(int x, int y)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int g = cmmdc(Math.abs(x), Math.abs(y));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num = x / g;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den = Math.abs(y) / g;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if (y &lt; 0) num = -num;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Aduna numarul rational r la acest numar.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numarul care se aduna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suma dintre numarul curent si r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add(Rational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r.den + r.num * this.den,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                 this.den * r.den);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52229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2230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0905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2232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0907" name="Group 11"/>
          <p:cNvGrpSpPr>
            <a:grpSpLocks/>
          </p:cNvGrpSpPr>
          <p:nvPr/>
        </p:nvGrpSpPr>
        <p:grpSpPr bwMode="auto">
          <a:xfrm>
            <a:off x="406400" y="1143000"/>
            <a:ext cx="8407400" cy="2854325"/>
            <a:chOff x="256" y="720"/>
            <a:chExt cx="5296" cy="1798"/>
          </a:xfrm>
        </p:grpSpPr>
        <p:sp>
          <p:nvSpPr>
            <p:cNvPr id="52240" name="Rectangle 12"/>
            <p:cNvSpPr>
              <a:spLocks noChangeArrowheads="1"/>
            </p:cNvSpPr>
            <p:nvPr/>
          </p:nvSpPr>
          <p:spPr bwMode="auto">
            <a:xfrm>
              <a:off x="256" y="720"/>
              <a:ext cx="3965" cy="179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2241" name="AutoShape 13"/>
            <p:cNvSpPr>
              <a:spLocks noChangeArrowheads="1"/>
            </p:cNvSpPr>
            <p:nvPr/>
          </p:nvSpPr>
          <p:spPr bwMode="auto">
            <a:xfrm>
              <a:off x="4320" y="768"/>
              <a:ext cx="1217" cy="900"/>
            </a:xfrm>
            <a:prstGeom prst="wedgeRectCallout">
              <a:avLst>
                <a:gd name="adj1" fmla="val -57560"/>
                <a:gd name="adj2" fmla="val 50444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2242" name="Rectangle 14"/>
            <p:cNvSpPr>
              <a:spLocks noChangeArrowheads="1"/>
            </p:cNvSpPr>
            <p:nvPr/>
          </p:nvSpPr>
          <p:spPr bwMode="auto">
            <a:xfrm>
              <a:off x="4320" y="788"/>
              <a:ext cx="1232" cy="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Constructorul</a:t>
              </a:r>
              <a:r>
                <a:rPr lang="en-US" altLang="ro-RO" dirty="0"/>
                <a:t> </a:t>
              </a:r>
              <a:r>
                <a:rPr lang="en-US" altLang="ro-RO" dirty="0" err="1"/>
                <a:t>primar</a:t>
              </a:r>
              <a:r>
                <a:rPr lang="en-US" altLang="ro-RO" dirty="0"/>
                <a:t> </a:t>
              </a:r>
              <a:r>
                <a:rPr lang="en-US" altLang="ro-RO" dirty="0" err="1"/>
                <a:t>creează</a:t>
              </a:r>
              <a:r>
                <a:rPr lang="en-US" altLang="ro-RO" dirty="0"/>
                <a:t> </a:t>
              </a:r>
              <a:r>
                <a:rPr lang="ro-RO" altLang="ro-RO" dirty="0"/>
                <a:t>un nou </a:t>
              </a:r>
              <a:r>
                <a:rPr lang="ro-RO" altLang="ro-RO" b="1" i="0" dirty="0" err="1"/>
                <a:t>Rational</a:t>
              </a:r>
              <a:r>
                <a:rPr lang="en-US" altLang="ro-RO" dirty="0"/>
                <a:t> </a:t>
              </a:r>
              <a:r>
                <a:rPr lang="ro-RO" altLang="ro-RO" dirty="0"/>
                <a:t>pornind </a:t>
              </a:r>
              <a:r>
                <a:rPr lang="en-US" altLang="ro-RO" dirty="0"/>
                <a:t>de la </a:t>
              </a:r>
              <a:r>
                <a:rPr lang="en-US" altLang="ro-RO" dirty="0" err="1"/>
                <a:t>numărător</a:t>
              </a:r>
              <a:r>
                <a:rPr lang="en-US" altLang="ro-RO" dirty="0"/>
                <a:t> </a:t>
              </a:r>
              <a:r>
                <a:rPr lang="en-US" altLang="ro-RO" dirty="0" err="1"/>
                <a:t>și</a:t>
              </a:r>
              <a:r>
                <a:rPr lang="en-US" altLang="ro-RO" dirty="0"/>
                <a:t> </a:t>
              </a:r>
              <a:r>
                <a:rPr lang="en-US" altLang="ro-RO" dirty="0" err="1"/>
                <a:t>numitor</a:t>
              </a:r>
              <a:r>
                <a:rPr lang="en-US" altLang="ro-RO" dirty="0"/>
                <a:t>. </a:t>
              </a:r>
              <a:r>
                <a:rPr lang="en-US" altLang="ro-RO" dirty="0" err="1"/>
                <a:t>Apelul</a:t>
              </a:r>
              <a:r>
                <a:rPr lang="en-US" altLang="ro-RO" dirty="0"/>
                <a:t> la </a:t>
              </a:r>
              <a:r>
                <a:rPr lang="en-US" altLang="ro-RO" dirty="0" err="1"/>
                <a:t>cmmdc</a:t>
              </a:r>
              <a:r>
                <a:rPr lang="en-US" altLang="ro-RO" dirty="0"/>
                <a:t> </a:t>
              </a:r>
              <a:r>
                <a:rPr lang="en-US" altLang="ro-RO" dirty="0" err="1"/>
                <a:t>asigură</a:t>
              </a:r>
              <a:r>
                <a:rPr lang="en-US" altLang="ro-RO" dirty="0"/>
                <a:t> </a:t>
              </a:r>
              <a:r>
                <a:rPr lang="en-US" altLang="ro-RO" dirty="0" err="1"/>
                <a:t>că</a:t>
              </a:r>
              <a:r>
                <a:rPr lang="en-US" altLang="ro-RO" dirty="0"/>
                <a:t> </a:t>
              </a:r>
              <a:r>
                <a:rPr lang="en-US" altLang="ro-RO" dirty="0" err="1"/>
                <a:t>fracția</a:t>
              </a:r>
              <a:r>
                <a:rPr lang="en-US" altLang="ro-RO" dirty="0"/>
                <a:t> </a:t>
              </a:r>
              <a:r>
                <a:rPr lang="en-US" altLang="ro-RO" dirty="0" err="1"/>
                <a:t>este</a:t>
              </a:r>
              <a:r>
                <a:rPr lang="en-US" altLang="ro-RO" dirty="0"/>
                <a:t> </a:t>
              </a:r>
              <a:r>
                <a:rPr lang="en-US" altLang="ro-RO" dirty="0" err="1"/>
                <a:t>redusă</a:t>
              </a:r>
              <a:r>
                <a:rPr lang="en-US" altLang="ro-RO" dirty="0"/>
                <a:t> la </a:t>
              </a:r>
              <a:r>
                <a:rPr lang="en-US" altLang="ro-RO" dirty="0" err="1"/>
                <a:t>termenii</a:t>
              </a:r>
              <a:r>
                <a:rPr lang="en-US" altLang="ro-RO" dirty="0"/>
                <a:t> </a:t>
              </a:r>
              <a:r>
                <a:rPr lang="en-US" altLang="ro-RO" dirty="0" err="1"/>
                <a:t>cei</a:t>
              </a:r>
              <a:r>
                <a:rPr lang="en-US" altLang="ro-RO" dirty="0"/>
                <a:t> </a:t>
              </a:r>
              <a:r>
                <a:rPr lang="en-US" altLang="ro-RO" dirty="0" err="1"/>
                <a:t>mai</a:t>
              </a:r>
              <a:r>
                <a:rPr lang="en-US" altLang="ro-RO" dirty="0"/>
                <a:t> </a:t>
              </a:r>
              <a:r>
                <a:rPr lang="en-US" altLang="ro-RO" dirty="0" err="1"/>
                <a:t>mici</a:t>
              </a:r>
              <a:r>
                <a:rPr lang="en-US" altLang="ro-RO" dirty="0"/>
                <a:t>.</a:t>
              </a:r>
            </a:p>
          </p:txBody>
        </p:sp>
      </p:grpSp>
      <p:grpSp>
        <p:nvGrpSpPr>
          <p:cNvPr id="720911" name="Group 15"/>
          <p:cNvGrpSpPr>
            <a:grpSpLocks/>
          </p:cNvGrpSpPr>
          <p:nvPr/>
        </p:nvGrpSpPr>
        <p:grpSpPr bwMode="auto">
          <a:xfrm>
            <a:off x="406400" y="2897188"/>
            <a:ext cx="8407400" cy="3543300"/>
            <a:chOff x="256" y="1825"/>
            <a:chExt cx="5296" cy="2232"/>
          </a:xfrm>
        </p:grpSpPr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56" y="2602"/>
              <a:ext cx="4899" cy="145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2238" name="AutoShape 17"/>
            <p:cNvSpPr>
              <a:spLocks noChangeArrowheads="1"/>
            </p:cNvSpPr>
            <p:nvPr/>
          </p:nvSpPr>
          <p:spPr bwMode="auto">
            <a:xfrm>
              <a:off x="4320" y="1825"/>
              <a:ext cx="1217" cy="677"/>
            </a:xfrm>
            <a:prstGeom prst="wedgeRectCallout">
              <a:avLst>
                <a:gd name="adj1" fmla="val -35704"/>
                <a:gd name="adj2" fmla="val 63292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2239" name="Rectangle 18"/>
            <p:cNvSpPr>
              <a:spLocks noChangeArrowheads="1"/>
            </p:cNvSpPr>
            <p:nvPr/>
          </p:nvSpPr>
          <p:spPr bwMode="auto">
            <a:xfrm>
              <a:off x="4320" y="1848"/>
              <a:ext cx="1232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Metoda</a:t>
              </a:r>
              <a:r>
                <a:rPr lang="en-US" altLang="ro-RO" dirty="0"/>
                <a:t> </a:t>
              </a:r>
              <a:r>
                <a:rPr lang="en-US" altLang="ro-RO" b="1" i="0" dirty="0"/>
                <a:t>add</a:t>
              </a:r>
              <a:r>
                <a:rPr lang="en-US" altLang="ro-RO" dirty="0"/>
                <a:t> </a:t>
              </a:r>
              <a:r>
                <a:rPr lang="en-US" altLang="ro-RO" dirty="0" err="1"/>
                <a:t>creează</a:t>
              </a:r>
              <a:r>
                <a:rPr lang="en-US" altLang="ro-RO" dirty="0"/>
                <a:t> un </a:t>
              </a:r>
              <a:r>
                <a:rPr lang="en-US" altLang="ro-RO" dirty="0" err="1"/>
                <a:t>nou</a:t>
              </a:r>
              <a:r>
                <a:rPr lang="en-US" altLang="ro-RO" dirty="0"/>
                <a:t> </a:t>
              </a:r>
              <a:r>
                <a:rPr lang="en-US" altLang="ro-RO" dirty="0" err="1"/>
                <a:t>obiect</a:t>
              </a:r>
              <a:r>
                <a:rPr lang="en-US" altLang="ro-RO" dirty="0"/>
                <a:t> Rational </a:t>
              </a:r>
              <a:r>
                <a:rPr lang="en-US" altLang="ro-RO" dirty="0" err="1"/>
                <a:t>folosind</a:t>
              </a:r>
              <a:r>
                <a:rPr lang="en-US" altLang="ro-RO" dirty="0"/>
                <a:t> </a:t>
              </a:r>
              <a:r>
                <a:rPr lang="en-US" altLang="ro-RO" dirty="0" err="1"/>
                <a:t>regula</a:t>
              </a:r>
              <a:r>
                <a:rPr lang="en-US" altLang="ro-RO" dirty="0"/>
                <a:t> de </a:t>
              </a:r>
              <a:r>
                <a:rPr lang="ro-RO" altLang="ro-RO" dirty="0"/>
                <a:t>adunare</a:t>
              </a:r>
              <a:r>
                <a:rPr lang="en-US" altLang="ro-RO" dirty="0"/>
                <a:t>. </a:t>
              </a:r>
              <a:r>
                <a:rPr lang="en-US" altLang="ro-RO" dirty="0" err="1"/>
                <a:t>Cele</a:t>
              </a:r>
              <a:r>
                <a:rPr lang="en-US" altLang="ro-RO" dirty="0"/>
                <a:t> </a:t>
              </a:r>
              <a:r>
                <a:rPr lang="en-US" altLang="ro-RO" dirty="0" err="1"/>
                <a:t>două</a:t>
              </a:r>
              <a:r>
                <a:rPr lang="en-US" altLang="ro-RO" dirty="0"/>
                <a:t> </a:t>
              </a:r>
              <a:r>
                <a:rPr lang="en-US" altLang="ro-RO" dirty="0" err="1"/>
                <a:t>valori</a:t>
              </a:r>
              <a:r>
                <a:rPr lang="en-US" altLang="ro-RO" dirty="0"/>
                <a:t> </a:t>
              </a:r>
              <a:r>
                <a:rPr lang="en-US" altLang="ro-RO" dirty="0" err="1"/>
                <a:t>raționale</a:t>
              </a:r>
              <a:r>
                <a:rPr lang="en-US" altLang="ro-RO" dirty="0"/>
                <a:t> </a:t>
              </a:r>
              <a:r>
                <a:rPr lang="en-US" altLang="ro-RO" dirty="0" err="1"/>
                <a:t>apar</a:t>
              </a:r>
              <a:r>
                <a:rPr lang="en-US" altLang="ro-RO" dirty="0"/>
                <a:t> </a:t>
              </a:r>
              <a:r>
                <a:rPr lang="en-US" altLang="ro-RO" dirty="0" err="1"/>
                <a:t>în</a:t>
              </a:r>
              <a:r>
                <a:rPr lang="en-US" altLang="ro-RO" dirty="0"/>
                <a:t> </a:t>
              </a:r>
              <a:r>
                <a:rPr lang="ro-RO" altLang="ro-RO" b="1" i="0" dirty="0" err="1"/>
                <a:t>this</a:t>
              </a:r>
              <a:r>
                <a:rPr lang="ro-RO" altLang="ro-RO" dirty="0"/>
                <a:t> </a:t>
              </a:r>
              <a:r>
                <a:rPr lang="en-US" altLang="ro-RO" dirty="0" err="1"/>
                <a:t>și</a:t>
              </a:r>
              <a:r>
                <a:rPr lang="en-US" altLang="ro-RO" dirty="0"/>
                <a:t> </a:t>
              </a:r>
              <a:r>
                <a:rPr lang="en-US" altLang="ro-RO" b="1" i="0" dirty="0"/>
                <a:t>r</a:t>
              </a:r>
            </a:p>
          </p:txBody>
        </p:sp>
      </p:grpSp>
      <p:sp>
        <p:nvSpPr>
          <p:cNvPr id="52235" name="Text Box 1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2236" name="Text Box 20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2 of 5</a:t>
            </a:r>
          </a:p>
        </p:txBody>
      </p:sp>
    </p:spTree>
    <p:extLst>
      <p:ext uri="{BB962C8B-B14F-4D97-AF65-F5344CB8AC3E}">
        <p14:creationId xmlns:p14="http://schemas.microsoft.com/office/powerpoint/2010/main" val="3979433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9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2947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522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new Rational with the value x / y.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x The numerator of the rational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y The denominator of the rational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Rational(int x, int y)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int g = cmmdc(Math.abs(x), Math.abs(y));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num = x / g;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den = Math.abs(y) / g;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if (y &lt; 0) num = -num;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Adds the rational number r to this one and returns the sum.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to be added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sum of the current number and 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add(Rational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r.den + r.num * this.den,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                 this.den * r.den);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722948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54287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4288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29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Scade numarul rational r din acest numar.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este numarul care se va scadea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rezultatul scaderii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subtract(Rational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r.den - r.num * this.den,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                 this.den * r.den);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Multiplica cu r numarul rational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Numarul pentru inmultire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Rezultatul inmultirii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multiply(Rational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r.num, this.den * r.den);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</p:txBody>
        </p:sp>
      </p:grpSp>
      <p:sp>
        <p:nvSpPr>
          <p:cNvPr id="54277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4278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2953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4280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2955" name="Group 11"/>
          <p:cNvGrpSpPr>
            <a:grpSpLocks/>
          </p:cNvGrpSpPr>
          <p:nvPr/>
        </p:nvGrpSpPr>
        <p:grpSpPr bwMode="auto">
          <a:xfrm>
            <a:off x="406400" y="1192213"/>
            <a:ext cx="8382000" cy="5251450"/>
            <a:chOff x="256" y="751"/>
            <a:chExt cx="5280" cy="3308"/>
          </a:xfrm>
        </p:grpSpPr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256" y="751"/>
              <a:ext cx="4899" cy="28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4285" name="AutoShape 13"/>
            <p:cNvSpPr>
              <a:spLocks noChangeArrowheads="1"/>
            </p:cNvSpPr>
            <p:nvPr/>
          </p:nvSpPr>
          <p:spPr bwMode="auto">
            <a:xfrm>
              <a:off x="1034" y="3768"/>
              <a:ext cx="4496" cy="288"/>
            </a:xfrm>
            <a:prstGeom prst="wedgeRectCallout">
              <a:avLst>
                <a:gd name="adj1" fmla="val -31060"/>
                <a:gd name="adj2" fmla="val -9652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1066" y="3770"/>
              <a:ext cx="4470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Aceste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metode</a:t>
              </a:r>
              <a:r>
                <a:rPr lang="en-US" altLang="ro-RO" dirty="0"/>
                <a:t> (</a:t>
              </a:r>
              <a:r>
                <a:rPr lang="en-US" altLang="ro-RO" dirty="0" err="1"/>
                <a:t>împreună</a:t>
              </a:r>
              <a:r>
                <a:rPr lang="en-US" altLang="ro-RO" dirty="0"/>
                <a:t> cu </a:t>
              </a:r>
              <a:r>
                <a:rPr lang="ro-RO" altLang="ro-RO" b="1" i="0" dirty="0"/>
                <a:t>divide</a:t>
              </a:r>
              <a:r>
                <a:rPr lang="ro-RO" altLang="ro-RO" dirty="0"/>
                <a:t> </a:t>
              </a:r>
              <a:r>
                <a:rPr lang="en-US" altLang="ro-RO" dirty="0"/>
                <a:t>din </a:t>
              </a:r>
              <a:r>
                <a:rPr lang="en-US" altLang="ro-RO" dirty="0" err="1"/>
                <a:t>pagina</a:t>
              </a:r>
              <a:r>
                <a:rPr lang="en-US" altLang="ro-RO" dirty="0"/>
                <a:t> </a:t>
              </a:r>
              <a:r>
                <a:rPr lang="en-US" altLang="ro-RO" dirty="0" err="1"/>
                <a:t>următoare</a:t>
              </a:r>
              <a:r>
                <a:rPr lang="en-US" altLang="ro-RO" dirty="0"/>
                <a:t>) </a:t>
              </a:r>
              <a:r>
                <a:rPr lang="en-US" altLang="ro-RO" dirty="0" err="1"/>
                <a:t>funcționează</a:t>
              </a:r>
              <a:r>
                <a:rPr lang="en-US" altLang="ro-RO" dirty="0"/>
                <a:t> la </a:t>
              </a:r>
              <a:r>
                <a:rPr lang="en-US" altLang="ro-RO" dirty="0" err="1"/>
                <a:t>fel</a:t>
              </a:r>
              <a:r>
                <a:rPr lang="en-US" altLang="ro-RO" dirty="0"/>
                <a:t> ca </a:t>
              </a:r>
              <a:r>
                <a:rPr lang="en-US" altLang="ro-RO" dirty="0" err="1"/>
                <a:t>metoda</a:t>
              </a:r>
              <a:r>
                <a:rPr lang="en-US" altLang="ro-RO" dirty="0"/>
                <a:t> </a:t>
              </a:r>
              <a:r>
                <a:rPr lang="en-US" altLang="ro-RO" b="1" i="0" dirty="0"/>
                <a:t>add</a:t>
              </a:r>
              <a:r>
                <a:rPr lang="en-US" altLang="ro-RO" dirty="0"/>
                <a:t>, </a:t>
              </a:r>
              <a:r>
                <a:rPr lang="en-US" altLang="ro-RO" dirty="0" err="1"/>
                <a:t>dar</a:t>
              </a:r>
              <a:r>
                <a:rPr lang="en-US" altLang="ro-RO" dirty="0"/>
                <a:t> </a:t>
              </a:r>
              <a:r>
                <a:rPr lang="en-US" altLang="ro-RO" dirty="0" err="1"/>
                <a:t>utilizează</a:t>
              </a:r>
              <a:r>
                <a:rPr lang="en-US" altLang="ro-RO" dirty="0"/>
                <a:t> o </a:t>
              </a:r>
              <a:r>
                <a:rPr lang="en-US" altLang="ro-RO" dirty="0" err="1"/>
                <a:t>formulă</a:t>
              </a:r>
              <a:r>
                <a:rPr lang="en-US" altLang="ro-RO" dirty="0"/>
                <a:t> </a:t>
              </a:r>
              <a:r>
                <a:rPr lang="en-US" altLang="ro-RO" dirty="0" err="1"/>
                <a:t>diferită</a:t>
              </a:r>
              <a:r>
                <a:rPr lang="en-US" altLang="ro-RO" dirty="0"/>
                <a:t>. </a:t>
              </a:r>
              <a:r>
                <a:rPr lang="en-US" altLang="ro-RO" dirty="0" err="1"/>
                <a:t>Rețineți</a:t>
              </a:r>
              <a:r>
                <a:rPr lang="en-US" altLang="ro-RO" dirty="0"/>
                <a:t> </a:t>
              </a:r>
              <a:r>
                <a:rPr lang="en-US" altLang="ro-RO" dirty="0" err="1"/>
                <a:t>că</a:t>
              </a:r>
              <a:r>
                <a:rPr lang="en-US" altLang="ro-RO" dirty="0"/>
                <a:t> </a:t>
              </a:r>
              <a:r>
                <a:rPr lang="en-US" altLang="ro-RO" dirty="0" err="1"/>
                <a:t>aceste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metode</a:t>
              </a:r>
              <a:r>
                <a:rPr lang="en-US" altLang="ro-RO" dirty="0"/>
                <a:t> au </a:t>
              </a:r>
              <a:r>
                <a:rPr lang="en-US" altLang="ro-RO" dirty="0" err="1"/>
                <a:t>acces</a:t>
              </a:r>
              <a:r>
                <a:rPr lang="en-US" altLang="ro-RO" dirty="0"/>
                <a:t> la </a:t>
              </a:r>
              <a:r>
                <a:rPr lang="en-US" altLang="ro-RO" dirty="0" err="1"/>
                <a:t>componentele</a:t>
              </a:r>
              <a:r>
                <a:rPr lang="en-US" altLang="ro-RO" dirty="0"/>
                <a:t> r.</a:t>
              </a:r>
            </a:p>
          </p:txBody>
        </p:sp>
      </p:grpSp>
      <p:sp>
        <p:nvSpPr>
          <p:cNvPr id="54282" name="Text Box 1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4283" name="Text Box 16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3 of 5</a:t>
            </a:r>
          </a:p>
        </p:txBody>
      </p:sp>
    </p:spTree>
    <p:extLst>
      <p:ext uri="{BB962C8B-B14F-4D97-AF65-F5344CB8AC3E}">
        <p14:creationId xmlns:p14="http://schemas.microsoft.com/office/powerpoint/2010/main" val="12690489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Subtracts the rational number r from this one.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to be subtracted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result of subtracting r from the current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subtract(Rational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r.den - r.num * this.den,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                 this.den * r.den);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Multiplies this number by the rational number r.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used as a multiplier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result of multiplying the current number by 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multiply(Rational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r.num, this.den * r.den);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</p:txBody>
      </p:sp>
      <p:grpSp>
        <p:nvGrpSpPr>
          <p:cNvPr id="724996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56335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6336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imparte numarul rational curent cu r.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numarul utilizat ca divizor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rezultatul impartirii cu r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divide(Rational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r.den, this.den * r.num);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Creeaza o reprezentare ca String.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reprezentarea ca String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String toString()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if (den == 1)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return "" + num;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} else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return num + "/" + den;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}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56325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6326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5001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6328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5003" name="Group 11"/>
          <p:cNvGrpSpPr>
            <a:grpSpLocks/>
          </p:cNvGrpSpPr>
          <p:nvPr/>
        </p:nvGrpSpPr>
        <p:grpSpPr bwMode="auto">
          <a:xfrm>
            <a:off x="714375" y="4408488"/>
            <a:ext cx="7362825" cy="1801812"/>
            <a:chOff x="450" y="2777"/>
            <a:chExt cx="4638" cy="1135"/>
          </a:xfrm>
        </p:grpSpPr>
        <p:sp>
          <p:nvSpPr>
            <p:cNvPr id="56332" name="Rectangle 12"/>
            <p:cNvSpPr>
              <a:spLocks noChangeArrowheads="1"/>
            </p:cNvSpPr>
            <p:nvPr/>
          </p:nvSpPr>
          <p:spPr bwMode="auto">
            <a:xfrm>
              <a:off x="450" y="2777"/>
              <a:ext cx="2369" cy="113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6333" name="AutoShape 13"/>
            <p:cNvSpPr>
              <a:spLocks noChangeArrowheads="1"/>
            </p:cNvSpPr>
            <p:nvPr/>
          </p:nvSpPr>
          <p:spPr bwMode="auto">
            <a:xfrm>
              <a:off x="3312" y="3120"/>
              <a:ext cx="1776" cy="570"/>
            </a:xfrm>
            <a:prstGeom prst="wedgeRectCallout">
              <a:avLst>
                <a:gd name="adj1" fmla="val -77366"/>
                <a:gd name="adj2" fmla="val -6052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6334" name="Rectangle 14"/>
            <p:cNvSpPr>
              <a:spLocks noChangeArrowheads="1"/>
            </p:cNvSpPr>
            <p:nvPr/>
          </p:nvSpPr>
          <p:spPr bwMode="auto">
            <a:xfrm>
              <a:off x="3312" y="3142"/>
              <a:ext cx="172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Această</a:t>
              </a:r>
              <a:r>
                <a:rPr lang="en-US" altLang="ro-RO" dirty="0"/>
                <a:t> </a:t>
              </a:r>
              <a:r>
                <a:rPr lang="en-US" altLang="ro-RO" dirty="0" err="1"/>
                <a:t>metodă</a:t>
              </a:r>
              <a:r>
                <a:rPr lang="en-US" altLang="ro-RO" dirty="0"/>
                <a:t> </a:t>
              </a:r>
              <a:r>
                <a:rPr lang="en-US" altLang="ro-RO" dirty="0" err="1"/>
                <a:t>convertește</a:t>
              </a:r>
              <a:r>
                <a:rPr lang="en-US" altLang="ro-RO" dirty="0"/>
                <a:t> </a:t>
              </a:r>
              <a:r>
                <a:rPr lang="en-US" altLang="ro-RO" dirty="0" err="1"/>
                <a:t>numărul</a:t>
              </a:r>
              <a:r>
                <a:rPr lang="en-US" altLang="ro-RO" dirty="0"/>
                <a:t> </a:t>
              </a:r>
              <a:r>
                <a:rPr lang="en-US" altLang="ro-RO" dirty="0" err="1"/>
                <a:t>rațional</a:t>
              </a:r>
              <a:r>
                <a:rPr lang="en-US" altLang="ro-RO" dirty="0"/>
                <a:t> </a:t>
              </a:r>
              <a:r>
                <a:rPr lang="en-US" altLang="ro-RO" dirty="0" err="1"/>
                <a:t>în</a:t>
              </a:r>
              <a:r>
                <a:rPr lang="en-US" altLang="ro-RO" dirty="0"/>
                <a:t> forma </a:t>
              </a:r>
              <a:r>
                <a:rPr lang="ro-RO" altLang="ro-RO" dirty="0"/>
                <a:t>de </a:t>
              </a:r>
              <a:r>
                <a:rPr lang="en-US" altLang="ro-RO" dirty="0" err="1"/>
                <a:t>șir</a:t>
              </a:r>
              <a:r>
                <a:rPr lang="en-US" altLang="ro-RO" dirty="0"/>
                <a:t>. </a:t>
              </a:r>
              <a:r>
                <a:rPr lang="en-US" altLang="ro-RO" dirty="0" err="1"/>
                <a:t>Dacă</a:t>
              </a:r>
              <a:r>
                <a:rPr lang="en-US" altLang="ro-RO" dirty="0"/>
                <a:t> </a:t>
              </a:r>
              <a:r>
                <a:rPr lang="en-US" altLang="ro-RO" dirty="0" err="1"/>
                <a:t>numitorul</a:t>
              </a:r>
              <a:r>
                <a:rPr lang="en-US" altLang="ro-RO" dirty="0"/>
                <a:t> </a:t>
              </a:r>
              <a:r>
                <a:rPr lang="en-US" altLang="ro-RO" dirty="0" err="1"/>
                <a:t>este</a:t>
              </a:r>
              <a:r>
                <a:rPr lang="en-US" altLang="ro-RO" dirty="0"/>
                <a:t> 1, </a:t>
              </a:r>
              <a:r>
                <a:rPr lang="en-US" altLang="ro-RO" dirty="0" err="1"/>
                <a:t>numărul</a:t>
              </a:r>
              <a:r>
                <a:rPr lang="en-US" altLang="ro-RO" dirty="0"/>
                <a:t> </a:t>
              </a:r>
              <a:r>
                <a:rPr lang="en-US" altLang="ro-RO" dirty="0" err="1"/>
                <a:t>este</a:t>
              </a:r>
              <a:r>
                <a:rPr lang="en-US" altLang="ro-RO" dirty="0"/>
                <a:t> </a:t>
              </a:r>
              <a:r>
                <a:rPr lang="en-US" altLang="ro-RO" dirty="0" err="1"/>
                <a:t>afișat</a:t>
              </a:r>
              <a:r>
                <a:rPr lang="en-US" altLang="ro-RO" dirty="0"/>
                <a:t> ca </a:t>
              </a:r>
              <a:r>
                <a:rPr lang="en-US" altLang="ro-RO" dirty="0" err="1"/>
                <a:t>număr</a:t>
              </a:r>
              <a:r>
                <a:rPr lang="en-US" altLang="ro-RO" dirty="0"/>
                <a:t> </a:t>
              </a:r>
              <a:r>
                <a:rPr lang="en-US" altLang="ro-RO" dirty="0" err="1"/>
                <a:t>întreg</a:t>
              </a:r>
              <a:r>
                <a:rPr lang="en-US" altLang="ro-RO" dirty="0"/>
                <a:t>.</a:t>
              </a:r>
            </a:p>
          </p:txBody>
        </p:sp>
      </p:grpSp>
      <p:sp>
        <p:nvSpPr>
          <p:cNvPr id="56330" name="Text Box 1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6331" name="Text Box 16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4 of 5</a:t>
            </a:r>
          </a:p>
        </p:txBody>
      </p:sp>
    </p:spTree>
    <p:extLst>
      <p:ext uri="{BB962C8B-B14F-4D97-AF65-F5344CB8AC3E}">
        <p14:creationId xmlns:p14="http://schemas.microsoft.com/office/powerpoint/2010/main" val="38415111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Divides this number by the rational number r.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used as a divisor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result of dividing the current number by 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divide(Rational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r.den, this.den * r.num);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string representation of this rational number.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string representation of this rational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String toString()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if (den == 1)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return "" + num;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} else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return num + "/" + den;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}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727044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58386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8387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Calculeaza cmmdc pe baza algoritmului lui euclid.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x primul intreg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y al doilea intreg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@returneaza cmmdc al lui x si y 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cmmdc(int x, int y)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int r = x %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while (r != 0)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x =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y = r;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r = x %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}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 Variabile private de instanta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num;   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 numarator Rational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den;   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 numitor Rational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endParaRPr lang="ro-RO" altLang="ro-RO" sz="10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}</a:t>
              </a:r>
            </a:p>
          </p:txBody>
        </p:sp>
      </p:grpSp>
      <p:sp>
        <p:nvSpPr>
          <p:cNvPr id="58373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8374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7049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8376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7051" name="Group 11"/>
          <p:cNvGrpSpPr>
            <a:grpSpLocks/>
          </p:cNvGrpSpPr>
          <p:nvPr/>
        </p:nvGrpSpPr>
        <p:grpSpPr bwMode="auto">
          <a:xfrm>
            <a:off x="762000" y="2705100"/>
            <a:ext cx="7315200" cy="2247900"/>
            <a:chOff x="480" y="1704"/>
            <a:chExt cx="4608" cy="1416"/>
          </a:xfrm>
        </p:grpSpPr>
        <p:sp>
          <p:nvSpPr>
            <p:cNvPr id="58383" name="Rectangle 12"/>
            <p:cNvSpPr>
              <a:spLocks noChangeArrowheads="1"/>
            </p:cNvSpPr>
            <p:nvPr/>
          </p:nvSpPr>
          <p:spPr bwMode="auto">
            <a:xfrm>
              <a:off x="480" y="1704"/>
              <a:ext cx="2531" cy="141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8384" name="AutoShape 13"/>
            <p:cNvSpPr>
              <a:spLocks noChangeArrowheads="1"/>
            </p:cNvSpPr>
            <p:nvPr/>
          </p:nvSpPr>
          <p:spPr bwMode="auto">
            <a:xfrm>
              <a:off x="3312" y="2047"/>
              <a:ext cx="1776" cy="555"/>
            </a:xfrm>
            <a:prstGeom prst="wedgeRectCallout">
              <a:avLst>
                <a:gd name="adj1" fmla="val -66667"/>
                <a:gd name="adj2" fmla="val -51259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8385" name="Rectangle 14"/>
            <p:cNvSpPr>
              <a:spLocks noChangeArrowheads="1"/>
            </p:cNvSpPr>
            <p:nvPr/>
          </p:nvSpPr>
          <p:spPr bwMode="auto">
            <a:xfrm>
              <a:off x="3312" y="2069"/>
              <a:ext cx="1759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/>
                <a:t>Metoda</a:t>
              </a:r>
              <a:r>
                <a:rPr lang="en-US" altLang="ro-RO" dirty="0"/>
                <a:t> </a:t>
              </a:r>
              <a:r>
                <a:rPr lang="en-US" altLang="ro-RO" b="1" i="0" dirty="0" err="1"/>
                <a:t>cmmdc</a:t>
              </a:r>
              <a:r>
                <a:rPr lang="en-US" altLang="ro-RO" dirty="0"/>
                <a:t> </a:t>
              </a:r>
              <a:r>
                <a:rPr lang="en-US" altLang="ro-RO" dirty="0" err="1"/>
                <a:t>este</a:t>
              </a:r>
              <a:r>
                <a:rPr lang="en-US" altLang="ro-RO" dirty="0"/>
                <a:t> </a:t>
              </a:r>
              <a:r>
                <a:rPr lang="en-US" altLang="ro-RO" dirty="0" err="1"/>
                <a:t>declarată</a:t>
              </a:r>
              <a:r>
                <a:rPr lang="en-US" altLang="ro-RO" dirty="0"/>
                <a:t> </a:t>
              </a:r>
              <a:r>
                <a:rPr lang="en-US" altLang="ro-RO" dirty="0" err="1"/>
                <a:t>privată</a:t>
              </a:r>
              <a:r>
                <a:rPr lang="en-US" altLang="ro-RO" dirty="0"/>
                <a:t> </a:t>
              </a:r>
              <a:r>
                <a:rPr lang="en-US" altLang="ro-RO" dirty="0" err="1"/>
                <a:t>deoarece</a:t>
              </a:r>
              <a:r>
                <a:rPr lang="en-US" altLang="ro-RO" dirty="0"/>
                <a:t> face parte din </a:t>
              </a:r>
              <a:r>
                <a:rPr lang="en-US" altLang="ro-RO" dirty="0" err="1"/>
                <a:t>implementarea</a:t>
              </a:r>
              <a:r>
                <a:rPr lang="en-US" altLang="ro-RO" dirty="0"/>
                <a:t> </a:t>
              </a:r>
              <a:r>
                <a:rPr lang="en-US" altLang="ro-RO" dirty="0" err="1"/>
                <a:t>acestei</a:t>
              </a:r>
              <a:r>
                <a:rPr lang="en-US" altLang="ro-RO" dirty="0"/>
                <a:t> </a:t>
              </a:r>
              <a:r>
                <a:rPr lang="en-US" altLang="ro-RO" dirty="0" err="1"/>
                <a:t>clase</a:t>
              </a:r>
              <a:r>
                <a:rPr lang="en-US" altLang="ro-RO" dirty="0"/>
                <a:t> </a:t>
              </a:r>
              <a:r>
                <a:rPr lang="en-US" altLang="ro-RO" dirty="0" err="1"/>
                <a:t>și</a:t>
              </a:r>
              <a:r>
                <a:rPr lang="en-US" altLang="ro-RO" dirty="0"/>
                <a:t> nu </a:t>
              </a:r>
              <a:r>
                <a:rPr lang="en-US" altLang="ro-RO" dirty="0" err="1"/>
                <a:t>este</a:t>
              </a:r>
              <a:r>
                <a:rPr lang="en-US" altLang="ro-RO" dirty="0"/>
                <a:t> </a:t>
              </a:r>
              <a:r>
                <a:rPr lang="en-US" altLang="ro-RO" dirty="0" err="1"/>
                <a:t>folosită</a:t>
              </a:r>
              <a:r>
                <a:rPr lang="en-US" altLang="ro-RO" dirty="0"/>
                <a:t> </a:t>
              </a:r>
              <a:r>
                <a:rPr lang="en-US" altLang="ro-RO" dirty="0" err="1"/>
                <a:t>niciodată</a:t>
              </a:r>
              <a:r>
                <a:rPr lang="en-US" altLang="ro-RO" dirty="0"/>
                <a:t> </a:t>
              </a:r>
              <a:r>
                <a:rPr lang="en-US" altLang="ro-RO" dirty="0" err="1"/>
                <a:t>în</a:t>
              </a:r>
              <a:r>
                <a:rPr lang="en-US" altLang="ro-RO" dirty="0"/>
                <a:t> </a:t>
              </a:r>
              <a:r>
                <a:rPr lang="en-US" altLang="ro-RO" dirty="0" err="1"/>
                <a:t>afara</a:t>
              </a:r>
              <a:r>
                <a:rPr lang="en-US" altLang="ro-RO" dirty="0"/>
                <a:t> </a:t>
              </a:r>
              <a:r>
                <a:rPr lang="en-US" altLang="ro-RO" dirty="0" err="1"/>
                <a:t>acesteia</a:t>
              </a:r>
              <a:r>
                <a:rPr lang="en-US" altLang="ro-RO" dirty="0"/>
                <a:t>.</a:t>
              </a:r>
            </a:p>
          </p:txBody>
        </p:sp>
      </p:grpSp>
      <p:grpSp>
        <p:nvGrpSpPr>
          <p:cNvPr id="727055" name="Group 15"/>
          <p:cNvGrpSpPr>
            <a:grpSpLocks/>
          </p:cNvGrpSpPr>
          <p:nvPr/>
        </p:nvGrpSpPr>
        <p:grpSpPr bwMode="auto">
          <a:xfrm>
            <a:off x="406400" y="5105400"/>
            <a:ext cx="7670800" cy="1371600"/>
            <a:chOff x="256" y="3216"/>
            <a:chExt cx="4832" cy="864"/>
          </a:xfrm>
        </p:grpSpPr>
        <p:sp>
          <p:nvSpPr>
            <p:cNvPr id="58381" name="Rectangle 16"/>
            <p:cNvSpPr>
              <a:spLocks noChangeArrowheads="1"/>
            </p:cNvSpPr>
            <p:nvPr/>
          </p:nvSpPr>
          <p:spPr bwMode="auto">
            <a:xfrm>
              <a:off x="256" y="3216"/>
              <a:ext cx="4832" cy="5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8382" name="AutoShape 17"/>
            <p:cNvSpPr>
              <a:spLocks noChangeArrowheads="1"/>
            </p:cNvSpPr>
            <p:nvPr/>
          </p:nvSpPr>
          <p:spPr bwMode="auto">
            <a:xfrm>
              <a:off x="1512" y="3888"/>
              <a:ext cx="2736" cy="192"/>
            </a:xfrm>
            <a:prstGeom prst="wedgeRectCallout">
              <a:avLst>
                <a:gd name="adj1" fmla="val -43347"/>
                <a:gd name="adj2" fmla="val -12395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/>
                <a:t>Ca </a:t>
              </a:r>
              <a:r>
                <a:rPr lang="en-US" altLang="ro-RO" dirty="0" err="1"/>
                <a:t>întotdeauna</a:t>
              </a:r>
              <a:r>
                <a:rPr lang="en-US" altLang="ro-RO" dirty="0"/>
                <a:t>, </a:t>
              </a:r>
              <a:r>
                <a:rPr lang="en-US" altLang="ro-RO" dirty="0" err="1"/>
                <a:t>variabilele</a:t>
              </a:r>
              <a:r>
                <a:rPr lang="en-US" altLang="ro-RO" dirty="0"/>
                <a:t> de </a:t>
              </a:r>
              <a:r>
                <a:rPr lang="en-US" altLang="ro-RO" dirty="0" err="1"/>
                <a:t>instanță</a:t>
              </a:r>
              <a:r>
                <a:rPr lang="en-US" altLang="ro-RO" dirty="0"/>
                <a:t> </a:t>
              </a:r>
              <a:r>
                <a:rPr lang="en-US" altLang="ro-RO" dirty="0" err="1"/>
                <a:t>sunt</a:t>
              </a:r>
              <a:r>
                <a:rPr lang="en-US" altLang="ro-RO" dirty="0"/>
                <a:t> private </a:t>
              </a:r>
            </a:p>
          </p:txBody>
        </p:sp>
      </p:grpSp>
      <p:sp>
        <p:nvSpPr>
          <p:cNvPr id="58379" name="Text Box 1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8380" name="Text Box 19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5 of 5</a:t>
            </a:r>
          </a:p>
        </p:txBody>
      </p:sp>
    </p:spTree>
    <p:extLst>
      <p:ext uri="{BB962C8B-B14F-4D97-AF65-F5344CB8AC3E}">
        <p14:creationId xmlns:p14="http://schemas.microsoft.com/office/powerpoint/2010/main" val="20377477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 dirty="0" err="1">
                <a:solidFill>
                  <a:srgbClr val="FF0000"/>
                </a:solidFill>
              </a:rPr>
              <a:t>Simularea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calculului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rațional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ro-RO" altLang="ro-RO" sz="2400" i="0" dirty="0"/>
              <a:t>In continuare se arata modul de calcul al sumei</a:t>
            </a:r>
            <a:r>
              <a:rPr lang="en-US" altLang="ro-RO" sz="2400" i="0" dirty="0"/>
              <a:t>. </a:t>
            </a:r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3352800" y="1981200"/>
            <a:ext cx="485775" cy="869950"/>
            <a:chOff x="2112" y="1612"/>
            <a:chExt cx="306" cy="548"/>
          </a:xfrm>
        </p:grpSpPr>
        <p:sp>
          <p:nvSpPr>
            <p:cNvPr id="60437" name="Rectangle 5"/>
            <p:cNvSpPr>
              <a:spLocks noChangeArrowheads="1"/>
            </p:cNvSpPr>
            <p:nvPr/>
          </p:nvSpPr>
          <p:spPr bwMode="auto">
            <a:xfrm>
              <a:off x="2160" y="16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1</a:t>
              </a:r>
            </a:p>
          </p:txBody>
        </p:sp>
        <p:sp>
          <p:nvSpPr>
            <p:cNvPr id="60438" name="Rectangle 6"/>
            <p:cNvSpPr>
              <a:spLocks noChangeArrowheads="1"/>
            </p:cNvSpPr>
            <p:nvPr/>
          </p:nvSpPr>
          <p:spPr bwMode="auto">
            <a:xfrm>
              <a:off x="2160" y="1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2</a:t>
              </a:r>
            </a:p>
          </p:txBody>
        </p:sp>
        <p:sp>
          <p:nvSpPr>
            <p:cNvPr id="60439" name="Line 7"/>
            <p:cNvSpPr>
              <a:spLocks noChangeShapeType="1"/>
            </p:cNvSpPr>
            <p:nvPr/>
          </p:nvSpPr>
          <p:spPr bwMode="auto">
            <a:xfrm>
              <a:off x="2112" y="1872"/>
              <a:ext cx="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grpSp>
        <p:nvGrpSpPr>
          <p:cNvPr id="60421" name="Group 8"/>
          <p:cNvGrpSpPr>
            <a:grpSpLocks/>
          </p:cNvGrpSpPr>
          <p:nvPr/>
        </p:nvGrpSpPr>
        <p:grpSpPr bwMode="auto">
          <a:xfrm>
            <a:off x="4391025" y="1981200"/>
            <a:ext cx="485775" cy="869950"/>
            <a:chOff x="2766" y="1616"/>
            <a:chExt cx="306" cy="548"/>
          </a:xfrm>
        </p:grpSpPr>
        <p:sp>
          <p:nvSpPr>
            <p:cNvPr id="60434" name="Rectangle 9"/>
            <p:cNvSpPr>
              <a:spLocks noChangeArrowheads="1"/>
            </p:cNvSpPr>
            <p:nvPr/>
          </p:nvSpPr>
          <p:spPr bwMode="auto">
            <a:xfrm>
              <a:off x="2814" y="16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1</a:t>
              </a:r>
            </a:p>
          </p:txBody>
        </p:sp>
        <p:sp>
          <p:nvSpPr>
            <p:cNvPr id="60435" name="Rectangle 10"/>
            <p:cNvSpPr>
              <a:spLocks noChangeArrowheads="1"/>
            </p:cNvSpPr>
            <p:nvPr/>
          </p:nvSpPr>
          <p:spPr bwMode="auto">
            <a:xfrm>
              <a:off x="2814" y="18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3</a:t>
              </a:r>
            </a:p>
          </p:txBody>
        </p:sp>
        <p:sp>
          <p:nvSpPr>
            <p:cNvPr id="60436" name="Line 11"/>
            <p:cNvSpPr>
              <a:spLocks noChangeShapeType="1"/>
            </p:cNvSpPr>
            <p:nvPr/>
          </p:nvSpPr>
          <p:spPr bwMode="auto">
            <a:xfrm>
              <a:off x="2766" y="1876"/>
              <a:ext cx="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grpSp>
        <p:nvGrpSpPr>
          <p:cNvPr id="60422" name="Group 12"/>
          <p:cNvGrpSpPr>
            <a:grpSpLocks/>
          </p:cNvGrpSpPr>
          <p:nvPr/>
        </p:nvGrpSpPr>
        <p:grpSpPr bwMode="auto">
          <a:xfrm>
            <a:off x="5429250" y="1981200"/>
            <a:ext cx="485775" cy="869950"/>
            <a:chOff x="3420" y="1620"/>
            <a:chExt cx="306" cy="548"/>
          </a:xfrm>
        </p:grpSpPr>
        <p:sp>
          <p:nvSpPr>
            <p:cNvPr id="60431" name="Rectangle 13"/>
            <p:cNvSpPr>
              <a:spLocks noChangeArrowheads="1"/>
            </p:cNvSpPr>
            <p:nvPr/>
          </p:nvSpPr>
          <p:spPr bwMode="auto">
            <a:xfrm>
              <a:off x="3468" y="16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1</a:t>
              </a:r>
            </a:p>
          </p:txBody>
        </p:sp>
        <p:sp>
          <p:nvSpPr>
            <p:cNvPr id="60432" name="Rectangle 14"/>
            <p:cNvSpPr>
              <a:spLocks noChangeArrowheads="1"/>
            </p:cNvSpPr>
            <p:nvPr/>
          </p:nvSpPr>
          <p:spPr bwMode="auto">
            <a:xfrm>
              <a:off x="3468" y="18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6</a:t>
              </a:r>
            </a:p>
          </p:txBody>
        </p:sp>
        <p:sp>
          <p:nvSpPr>
            <p:cNvPr id="60433" name="Line 15"/>
            <p:cNvSpPr>
              <a:spLocks noChangeShapeType="1"/>
            </p:cNvSpPr>
            <p:nvPr/>
          </p:nvSpPr>
          <p:spPr bwMode="auto">
            <a:xfrm>
              <a:off x="3420" y="1880"/>
              <a:ext cx="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sp>
        <p:nvSpPr>
          <p:cNvPr id="60423" name="Rectangle 16"/>
          <p:cNvSpPr>
            <a:spLocks noChangeArrowheads="1"/>
          </p:cNvSpPr>
          <p:nvPr/>
        </p:nvSpPr>
        <p:spPr bwMode="auto">
          <a:xfrm>
            <a:off x="3949700" y="2178050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2400" i="0"/>
              <a:t>+</a:t>
            </a:r>
          </a:p>
        </p:txBody>
      </p:sp>
      <p:sp>
        <p:nvSpPr>
          <p:cNvPr id="60424" name="Rectangle 17"/>
          <p:cNvSpPr>
            <a:spLocks noChangeArrowheads="1"/>
          </p:cNvSpPr>
          <p:nvPr/>
        </p:nvSpPr>
        <p:spPr bwMode="auto">
          <a:xfrm>
            <a:off x="4978400" y="2178050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2400" i="0"/>
              <a:t>+</a:t>
            </a:r>
          </a:p>
        </p:txBody>
      </p:sp>
      <p:grpSp>
        <p:nvGrpSpPr>
          <p:cNvPr id="729106" name="Group 18"/>
          <p:cNvGrpSpPr>
            <a:grpSpLocks/>
          </p:cNvGrpSpPr>
          <p:nvPr/>
        </p:nvGrpSpPr>
        <p:grpSpPr bwMode="auto">
          <a:xfrm>
            <a:off x="482600" y="2971800"/>
            <a:ext cx="8131175" cy="2709863"/>
            <a:chOff x="304" y="1872"/>
            <a:chExt cx="5122" cy="1707"/>
          </a:xfrm>
        </p:grpSpPr>
        <p:sp>
          <p:nvSpPr>
            <p:cNvPr id="60426" name="Rectangle 19"/>
            <p:cNvSpPr>
              <a:spLocks noChangeArrowheads="1"/>
            </p:cNvSpPr>
            <p:nvPr/>
          </p:nvSpPr>
          <p:spPr bwMode="auto">
            <a:xfrm>
              <a:off x="304" y="1872"/>
              <a:ext cx="512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20000"/>
                </a:spcAft>
                <a:buFontTx/>
                <a:buChar char="•"/>
              </a:pPr>
              <a:r>
                <a:rPr lang="en-US" altLang="ro-RO" sz="2400" i="0" dirty="0"/>
                <a:t>Cu </a:t>
              </a:r>
              <a:r>
                <a:rPr lang="en-US" altLang="ro-RO" sz="2400" i="0" dirty="0" err="1"/>
                <a:t>aritmetica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rațională</a:t>
              </a:r>
              <a:r>
                <a:rPr lang="en-US" altLang="ro-RO" sz="2400" i="0" dirty="0"/>
                <a:t>, </a:t>
              </a:r>
              <a:r>
                <a:rPr lang="en-US" altLang="ro-RO" sz="2400" i="0" dirty="0" err="1"/>
                <a:t>calculul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este</a:t>
              </a:r>
              <a:r>
                <a:rPr lang="en-US" altLang="ro-RO" sz="2400" i="0" dirty="0"/>
                <a:t> exact. </a:t>
              </a:r>
              <a:r>
                <a:rPr lang="en-US" altLang="ro-RO" sz="2400" i="0" dirty="0" err="1"/>
                <a:t>Dacă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scrieți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același</a:t>
              </a:r>
              <a:r>
                <a:rPr lang="en-US" altLang="ro-RO" sz="2400" i="0" dirty="0"/>
                <a:t> program </a:t>
              </a:r>
              <a:r>
                <a:rPr lang="en-US" altLang="ro-RO" sz="2400" i="0" dirty="0" err="1"/>
                <a:t>folosind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variabile</a:t>
              </a:r>
              <a:r>
                <a:rPr lang="en-US" altLang="ro-RO" sz="2400" i="0" dirty="0"/>
                <a:t> de tip </a:t>
              </a:r>
              <a:r>
                <a:rPr lang="en-US" altLang="ro-RO" sz="2400" b="1" i="0" dirty="0"/>
                <a:t>double</a:t>
              </a:r>
              <a:r>
                <a:rPr lang="en-US" altLang="ro-RO" sz="2400" i="0" dirty="0"/>
                <a:t>, </a:t>
              </a:r>
              <a:r>
                <a:rPr lang="en-US" altLang="ro-RO" sz="2400" i="0" dirty="0" err="1"/>
                <a:t>rezultatul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arată</a:t>
              </a:r>
              <a:r>
                <a:rPr lang="en-US" altLang="ro-RO" sz="2400" i="0" dirty="0"/>
                <a:t> </a:t>
              </a:r>
              <a:r>
                <a:rPr lang="en-US" altLang="ro-RO" sz="2400" i="0" dirty="0" err="1"/>
                <a:t>astfel</a:t>
              </a:r>
              <a:r>
                <a:rPr lang="en-US" altLang="ro-RO" sz="2400" i="0" dirty="0"/>
                <a:t>:</a:t>
              </a:r>
            </a:p>
          </p:txBody>
        </p:sp>
        <p:grpSp>
          <p:nvGrpSpPr>
            <p:cNvPr id="60427" name="Group 20"/>
            <p:cNvGrpSpPr>
              <a:grpSpLocks/>
            </p:cNvGrpSpPr>
            <p:nvPr/>
          </p:nvGrpSpPr>
          <p:grpSpPr bwMode="auto">
            <a:xfrm>
              <a:off x="1178" y="2544"/>
              <a:ext cx="3403" cy="1035"/>
              <a:chOff x="1178" y="2960"/>
              <a:chExt cx="3403" cy="1035"/>
            </a:xfrm>
          </p:grpSpPr>
          <p:pic>
            <p:nvPicPr>
              <p:cNvPr id="60429" name="Picture 21" descr="Console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8" y="2976"/>
                <a:ext cx="3403" cy="10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430" name="Text Box 22"/>
              <p:cNvSpPr txBox="1">
                <a:spLocks noChangeArrowheads="1"/>
              </p:cNvSpPr>
              <p:nvPr/>
            </p:nvSpPr>
            <p:spPr bwMode="auto">
              <a:xfrm>
                <a:off x="1200" y="2960"/>
                <a:ext cx="336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ro-RO" sz="1000" b="1" i="0">
                    <a:solidFill>
                      <a:srgbClr val="333333"/>
                    </a:solidFill>
                    <a:latin typeface="Helvetica" panose="020B0504020202030204" pitchFamily="34" charset="0"/>
                  </a:rPr>
                  <a:t>RoundoffExample</a:t>
                </a:r>
                <a:endParaRPr lang="en-US" altLang="ro-RO" sz="1000" i="0">
                  <a:solidFill>
                    <a:srgbClr val="333333"/>
                  </a:solidFill>
                  <a:latin typeface="Charcoal CY" pitchFamily="84" charset="-52"/>
                </a:endParaRPr>
              </a:p>
            </p:txBody>
          </p:sp>
        </p:grpSp>
        <p:sp>
          <p:nvSpPr>
            <p:cNvPr id="60428" name="Text Box 23"/>
            <p:cNvSpPr txBox="1">
              <a:spLocks noChangeArrowheads="1"/>
            </p:cNvSpPr>
            <p:nvPr/>
          </p:nvSpPr>
          <p:spPr bwMode="auto">
            <a:xfrm>
              <a:off x="1188" y="2680"/>
              <a:ext cx="33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1.0/2.0 + 1.0/3.0 + 1.0/6.0 = 0.999999999999999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>
                <a:solidFill>
                  <a:srgbClr val="FF0000"/>
                </a:solidFill>
              </a:rPr>
              <a:t>Adunarea </a:t>
            </a:r>
            <a:r>
              <a:rPr lang="it-IT" altLang="ro-RO" sz="4000" dirty="0">
                <a:solidFill>
                  <a:srgbClr val="FF0000"/>
                </a:solidFill>
              </a:rPr>
              <a:t>a trei valori raționale</a:t>
            </a:r>
            <a:endParaRPr lang="en-US" altLang="ro-RO" i="1" dirty="0">
              <a:solidFill>
                <a:srgbClr val="FF0000"/>
              </a:solidFill>
            </a:endParaRP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533400" y="1104900"/>
            <a:ext cx="8001000" cy="28432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3784600" y="2908300"/>
            <a:ext cx="4597400" cy="915988"/>
            <a:chOff x="2384" y="1832"/>
            <a:chExt cx="2896" cy="577"/>
          </a:xfrm>
        </p:grpSpPr>
        <p:sp>
          <p:nvSpPr>
            <p:cNvPr id="62731" name="Rectangle 5"/>
            <p:cNvSpPr>
              <a:spLocks noChangeArrowheads="1"/>
            </p:cNvSpPr>
            <p:nvPr/>
          </p:nvSpPr>
          <p:spPr bwMode="auto">
            <a:xfrm>
              <a:off x="3912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732" name="Text Box 6"/>
            <p:cNvSpPr txBox="1">
              <a:spLocks noChangeArrowheads="1"/>
            </p:cNvSpPr>
            <p:nvPr/>
          </p:nvSpPr>
          <p:spPr bwMode="auto">
            <a:xfrm>
              <a:off x="3888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62733" name="Rectangle 7"/>
            <p:cNvSpPr>
              <a:spLocks noChangeArrowheads="1"/>
            </p:cNvSpPr>
            <p:nvPr/>
          </p:nvSpPr>
          <p:spPr bwMode="auto">
            <a:xfrm>
              <a:off x="4656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734" name="Text Box 8"/>
            <p:cNvSpPr txBox="1">
              <a:spLocks noChangeArrowheads="1"/>
            </p:cNvSpPr>
            <p:nvPr/>
          </p:nvSpPr>
          <p:spPr bwMode="auto">
            <a:xfrm>
              <a:off x="4632" y="1832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sum</a:t>
              </a:r>
            </a:p>
          </p:txBody>
        </p:sp>
        <p:sp>
          <p:nvSpPr>
            <p:cNvPr id="62735" name="Rectangle 9"/>
            <p:cNvSpPr>
              <a:spLocks noChangeArrowheads="1"/>
            </p:cNvSpPr>
            <p:nvPr/>
          </p:nvSpPr>
          <p:spPr bwMode="auto">
            <a:xfrm>
              <a:off x="3160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736" name="Text Box 10"/>
            <p:cNvSpPr txBox="1">
              <a:spLocks noChangeArrowheads="1"/>
            </p:cNvSpPr>
            <p:nvPr/>
          </p:nvSpPr>
          <p:spPr bwMode="auto">
            <a:xfrm>
              <a:off x="3136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b</a:t>
              </a:r>
            </a:p>
          </p:txBody>
        </p:sp>
        <p:sp>
          <p:nvSpPr>
            <p:cNvPr id="62737" name="Text Box 11"/>
            <p:cNvSpPr txBox="1">
              <a:spLocks noChangeArrowheads="1"/>
            </p:cNvSpPr>
            <p:nvPr/>
          </p:nvSpPr>
          <p:spPr bwMode="auto">
            <a:xfrm>
              <a:off x="2384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62738" name="Rectangle 12"/>
            <p:cNvSpPr>
              <a:spLocks noChangeArrowheads="1"/>
            </p:cNvSpPr>
            <p:nvPr/>
          </p:nvSpPr>
          <p:spPr bwMode="auto">
            <a:xfrm>
              <a:off x="2408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</p:grpSp>
      <p:sp>
        <p:nvSpPr>
          <p:cNvPr id="62469" name="Text Box 13"/>
          <p:cNvSpPr txBox="1">
            <a:spLocks noChangeArrowheads="1"/>
          </p:cNvSpPr>
          <p:nvPr/>
        </p:nvSpPr>
        <p:spPr bwMode="auto">
          <a:xfrm>
            <a:off x="647700" y="1168400"/>
            <a:ext cx="79629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latin typeface="Courier New" panose="02070309020205020404" pitchFamily="49" charset="0"/>
              </a:rPr>
              <a:t>public void run()</a:t>
            </a:r>
            <a:r>
              <a:rPr lang="ro-RO" altLang="ro-RO" sz="800" b="1" i="0" noProof="1"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a = new Rational(1, 2);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b = new Rational(1, 3);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c = new Rational(1, 6);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sum = a.add(b).add(c);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println(a + " + " + b + " + " + c + " = " + sum);</a:t>
            </a:r>
          </a:p>
          <a:p>
            <a:r>
              <a:rPr lang="en-US" altLang="ro-RO" sz="1600" b="1" i="0" noProof="1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62470" name="Group 14"/>
          <p:cNvGrpSpPr>
            <a:grpSpLocks/>
          </p:cNvGrpSpPr>
          <p:nvPr/>
        </p:nvGrpSpPr>
        <p:grpSpPr bwMode="auto">
          <a:xfrm>
            <a:off x="1815306" y="4872905"/>
            <a:ext cx="5402263" cy="1643063"/>
            <a:chOff x="1178" y="2960"/>
            <a:chExt cx="3403" cy="1035"/>
          </a:xfrm>
        </p:grpSpPr>
        <p:pic>
          <p:nvPicPr>
            <p:cNvPr id="62729" name="Picture 15" descr="Conso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" y="2976"/>
              <a:ext cx="3403" cy="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730" name="Text Box 16"/>
            <p:cNvSpPr txBox="1">
              <a:spLocks noChangeArrowheads="1"/>
            </p:cNvSpPr>
            <p:nvPr/>
          </p:nvSpPr>
          <p:spPr bwMode="auto">
            <a:xfrm>
              <a:off x="1200" y="2960"/>
              <a:ext cx="33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ro-RO" sz="1000" b="1" i="0">
                  <a:solidFill>
                    <a:srgbClr val="333333"/>
                  </a:solidFill>
                  <a:latin typeface="Helvetica" panose="020B0504020202030204" pitchFamily="34" charset="0"/>
                </a:rPr>
                <a:t>TestRational</a:t>
              </a:r>
              <a:endParaRPr lang="en-US" altLang="ro-RO" sz="1000" i="0">
                <a:solidFill>
                  <a:srgbClr val="333333"/>
                </a:solidFill>
                <a:latin typeface="Charcoal CY" pitchFamily="84" charset="-52"/>
              </a:endParaRPr>
            </a:p>
          </p:txBody>
        </p:sp>
      </p:grpSp>
      <p:sp>
        <p:nvSpPr>
          <p:cNvPr id="731153" name="Rectangle 17"/>
          <p:cNvSpPr>
            <a:spLocks noChangeArrowheads="1"/>
          </p:cNvSpPr>
          <p:nvPr/>
        </p:nvSpPr>
        <p:spPr bwMode="auto">
          <a:xfrm>
            <a:off x="1041400" y="14525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4" name="Rectangle 18"/>
          <p:cNvSpPr>
            <a:spLocks noChangeArrowheads="1"/>
          </p:cNvSpPr>
          <p:nvPr/>
        </p:nvSpPr>
        <p:spPr bwMode="auto">
          <a:xfrm>
            <a:off x="1041400" y="16938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5" name="Rectangle 19"/>
          <p:cNvSpPr>
            <a:spLocks noChangeArrowheads="1"/>
          </p:cNvSpPr>
          <p:nvPr/>
        </p:nvSpPr>
        <p:spPr bwMode="auto">
          <a:xfrm>
            <a:off x="1041400" y="19478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6" name="Rectangle 20"/>
          <p:cNvSpPr>
            <a:spLocks noChangeArrowheads="1"/>
          </p:cNvSpPr>
          <p:nvPr/>
        </p:nvSpPr>
        <p:spPr bwMode="auto">
          <a:xfrm>
            <a:off x="1041400" y="21891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7" name="Rectangle 21"/>
          <p:cNvSpPr>
            <a:spLocks noChangeArrowheads="1"/>
          </p:cNvSpPr>
          <p:nvPr/>
        </p:nvSpPr>
        <p:spPr bwMode="auto">
          <a:xfrm>
            <a:off x="2878138" y="2184400"/>
            <a:ext cx="1031875" cy="2301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8" name="Rectangle 22"/>
          <p:cNvSpPr>
            <a:spLocks noChangeArrowheads="1"/>
          </p:cNvSpPr>
          <p:nvPr/>
        </p:nvSpPr>
        <p:spPr bwMode="auto">
          <a:xfrm>
            <a:off x="2879725" y="2179638"/>
            <a:ext cx="1887538" cy="2571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9" name="Rectangle 23"/>
          <p:cNvSpPr>
            <a:spLocks noChangeArrowheads="1"/>
          </p:cNvSpPr>
          <p:nvPr/>
        </p:nvSpPr>
        <p:spPr bwMode="auto">
          <a:xfrm>
            <a:off x="1041400" y="2419350"/>
            <a:ext cx="6099175" cy="2778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grpSp>
        <p:nvGrpSpPr>
          <p:cNvPr id="731160" name="Group 24"/>
          <p:cNvGrpSpPr>
            <a:grpSpLocks/>
          </p:cNvGrpSpPr>
          <p:nvPr/>
        </p:nvGrpSpPr>
        <p:grpSpPr bwMode="auto">
          <a:xfrm>
            <a:off x="2925763" y="3200400"/>
            <a:ext cx="401637" cy="615950"/>
            <a:chOff x="736" y="2871"/>
            <a:chExt cx="253" cy="388"/>
          </a:xfrm>
        </p:grpSpPr>
        <p:sp>
          <p:nvSpPr>
            <p:cNvPr id="62724" name="Rectangle 25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5" name="Rectangle 26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6" name="Line 27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27" name="Text Box 28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5</a:t>
              </a:r>
            </a:p>
          </p:txBody>
        </p:sp>
        <p:sp>
          <p:nvSpPr>
            <p:cNvPr id="62728" name="Text Box 29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grpSp>
        <p:nvGrpSpPr>
          <p:cNvPr id="731166" name="Group 30"/>
          <p:cNvGrpSpPr>
            <a:grpSpLocks/>
          </p:cNvGrpSpPr>
          <p:nvPr/>
        </p:nvGrpSpPr>
        <p:grpSpPr bwMode="auto">
          <a:xfrm>
            <a:off x="4119563" y="3200400"/>
            <a:ext cx="401637" cy="615950"/>
            <a:chOff x="736" y="2871"/>
            <a:chExt cx="253" cy="388"/>
          </a:xfrm>
        </p:grpSpPr>
        <p:sp>
          <p:nvSpPr>
            <p:cNvPr id="62719" name="Rectangle 31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0" name="Rectangle 32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1" name="Line 33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22" name="Text Box 34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23" name="Text Box 35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2</a:t>
              </a:r>
            </a:p>
          </p:txBody>
        </p:sp>
      </p:grpSp>
      <p:grpSp>
        <p:nvGrpSpPr>
          <p:cNvPr id="731172" name="Group 36"/>
          <p:cNvGrpSpPr>
            <a:grpSpLocks/>
          </p:cNvGrpSpPr>
          <p:nvPr/>
        </p:nvGrpSpPr>
        <p:grpSpPr bwMode="auto">
          <a:xfrm>
            <a:off x="5313363" y="3200400"/>
            <a:ext cx="401637" cy="615950"/>
            <a:chOff x="736" y="2871"/>
            <a:chExt cx="253" cy="388"/>
          </a:xfrm>
        </p:grpSpPr>
        <p:sp>
          <p:nvSpPr>
            <p:cNvPr id="62714" name="Rectangle 37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5" name="Rectangle 38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6" name="Line 39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17" name="Text Box 40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18" name="Text Box 41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</a:t>
              </a:r>
            </a:p>
          </p:txBody>
        </p:sp>
      </p:grpSp>
      <p:grpSp>
        <p:nvGrpSpPr>
          <p:cNvPr id="731178" name="Group 42"/>
          <p:cNvGrpSpPr>
            <a:grpSpLocks/>
          </p:cNvGrpSpPr>
          <p:nvPr/>
        </p:nvGrpSpPr>
        <p:grpSpPr bwMode="auto">
          <a:xfrm>
            <a:off x="6507163" y="3200400"/>
            <a:ext cx="401637" cy="615950"/>
            <a:chOff x="736" y="2871"/>
            <a:chExt cx="253" cy="388"/>
          </a:xfrm>
        </p:grpSpPr>
        <p:sp>
          <p:nvSpPr>
            <p:cNvPr id="62709" name="Rectangle 43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0" name="Rectangle 44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1" name="Line 45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12" name="Text Box 46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13" name="Text Box 47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grpSp>
        <p:nvGrpSpPr>
          <p:cNvPr id="731184" name="Group 48"/>
          <p:cNvGrpSpPr>
            <a:grpSpLocks/>
          </p:cNvGrpSpPr>
          <p:nvPr/>
        </p:nvGrpSpPr>
        <p:grpSpPr bwMode="auto">
          <a:xfrm>
            <a:off x="7700963" y="3200400"/>
            <a:ext cx="401637" cy="615950"/>
            <a:chOff x="736" y="2871"/>
            <a:chExt cx="253" cy="388"/>
          </a:xfrm>
        </p:grpSpPr>
        <p:sp>
          <p:nvSpPr>
            <p:cNvPr id="62704" name="Rectangle 49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05" name="Rectangle 50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06" name="Line 51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07" name="Text Box 52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08" name="Text Box 53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</p:grpSp>
      <p:grpSp>
        <p:nvGrpSpPr>
          <p:cNvPr id="731190" name="Group 54"/>
          <p:cNvGrpSpPr>
            <a:grpSpLocks/>
          </p:cNvGrpSpPr>
          <p:nvPr/>
        </p:nvGrpSpPr>
        <p:grpSpPr bwMode="auto">
          <a:xfrm>
            <a:off x="2590800" y="2781300"/>
            <a:ext cx="1066800" cy="1042988"/>
            <a:chOff x="1632" y="1752"/>
            <a:chExt cx="672" cy="657"/>
          </a:xfrm>
        </p:grpSpPr>
        <p:sp>
          <p:nvSpPr>
            <p:cNvPr id="62702" name="Text Box 55"/>
            <p:cNvSpPr txBox="1">
              <a:spLocks noChangeArrowheads="1"/>
            </p:cNvSpPr>
            <p:nvPr/>
          </p:nvSpPr>
          <p:spPr bwMode="auto">
            <a:xfrm>
              <a:off x="1632" y="1752"/>
              <a:ext cx="67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ro-RO"/>
                <a:t>temporary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ro-RO"/>
                <a:t>result</a:t>
              </a:r>
              <a:endParaRPr lang="en-US" altLang="ro-RO" sz="1600" b="1" i="0">
                <a:latin typeface="Courier New" panose="02070309020205020404" pitchFamily="49" charset="0"/>
              </a:endParaRPr>
            </a:p>
          </p:txBody>
        </p:sp>
        <p:sp>
          <p:nvSpPr>
            <p:cNvPr id="62703" name="Rectangle 56"/>
            <p:cNvSpPr>
              <a:spLocks noChangeArrowheads="1"/>
            </p:cNvSpPr>
            <p:nvPr/>
          </p:nvSpPr>
          <p:spPr bwMode="auto">
            <a:xfrm>
              <a:off x="1656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</p:grpSp>
      <p:sp>
        <p:nvSpPr>
          <p:cNvPr id="731193" name="Text Box 57"/>
          <p:cNvSpPr txBox="1">
            <a:spLocks noChangeArrowheads="1"/>
          </p:cNvSpPr>
          <p:nvPr/>
        </p:nvSpPr>
        <p:spPr bwMode="auto">
          <a:xfrm>
            <a:off x="1885950" y="511810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b="1" i="0">
                <a:latin typeface="Courier New" panose="02070309020205020404" pitchFamily="49" charset="0"/>
              </a:rPr>
              <a:t>1/2 + 1/3 + 1/6 = 1</a:t>
            </a:r>
          </a:p>
        </p:txBody>
      </p:sp>
      <p:sp>
        <p:nvSpPr>
          <p:cNvPr id="62485" name="Text Box 58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7848600" y="6400800"/>
            <a:ext cx="1143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simulation</a:t>
            </a:r>
          </a:p>
        </p:txBody>
      </p:sp>
      <p:grpSp>
        <p:nvGrpSpPr>
          <p:cNvPr id="731195" name="Group 59"/>
          <p:cNvGrpSpPr>
            <a:grpSpLocks/>
          </p:cNvGrpSpPr>
          <p:nvPr/>
        </p:nvGrpSpPr>
        <p:grpSpPr bwMode="auto">
          <a:xfrm>
            <a:off x="673100" y="1473200"/>
            <a:ext cx="8077200" cy="2843213"/>
            <a:chOff x="336" y="696"/>
            <a:chExt cx="5088" cy="1791"/>
          </a:xfrm>
        </p:grpSpPr>
        <p:sp>
          <p:nvSpPr>
            <p:cNvPr id="62685" name="Rectangle 60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86" name="Text Box 61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(x),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87" name="Rectangle 62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88" name="Text Box 63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89" name="Rectangle 64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90" name="Text Box 65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91" name="Rectangle 66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92" name="Text Box 67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93" name="Text Box 68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94" name="Rectangle 69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95" name="Rectangle 70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96" name="Rectangle 71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97" name="Line 72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98" name="Text Box 73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99" name="Text Box 74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 dirty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700" name="Text Box 75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01" name="Text Box 76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2</a:t>
              </a:r>
            </a:p>
          </p:txBody>
        </p:sp>
      </p:grpSp>
      <p:sp>
        <p:nvSpPr>
          <p:cNvPr id="731213" name="Rectangle 77"/>
          <p:cNvSpPr>
            <a:spLocks noChangeArrowheads="1"/>
          </p:cNvSpPr>
          <p:nvPr/>
        </p:nvSpPr>
        <p:spPr bwMode="auto">
          <a:xfrm>
            <a:off x="1181100" y="1820863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4" name="Rectangle 78"/>
          <p:cNvSpPr>
            <a:spLocks noChangeArrowheads="1"/>
          </p:cNvSpPr>
          <p:nvPr/>
        </p:nvSpPr>
        <p:spPr bwMode="auto">
          <a:xfrm>
            <a:off x="1181100" y="2074863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5" name="Rectangle 79"/>
          <p:cNvSpPr>
            <a:spLocks noChangeArrowheads="1"/>
          </p:cNvSpPr>
          <p:nvPr/>
        </p:nvSpPr>
        <p:spPr bwMode="auto">
          <a:xfrm>
            <a:off x="1181100" y="2316163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6" name="Rectangle 80"/>
          <p:cNvSpPr>
            <a:spLocks noChangeArrowheads="1"/>
          </p:cNvSpPr>
          <p:nvPr/>
        </p:nvSpPr>
        <p:spPr bwMode="auto">
          <a:xfrm>
            <a:off x="1181100" y="2557463"/>
            <a:ext cx="2784475" cy="2524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7" name="Text Box 81"/>
          <p:cNvSpPr txBox="1">
            <a:spLocks noChangeArrowheads="1"/>
          </p:cNvSpPr>
          <p:nvPr/>
        </p:nvSpPr>
        <p:spPr bwMode="auto">
          <a:xfrm>
            <a:off x="7531100" y="3835400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18" name="Text Box 82"/>
          <p:cNvSpPr txBox="1">
            <a:spLocks noChangeArrowheads="1"/>
          </p:cNvSpPr>
          <p:nvPr/>
        </p:nvSpPr>
        <p:spPr bwMode="auto">
          <a:xfrm>
            <a:off x="1308100" y="3568700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19" name="Text Box 83"/>
          <p:cNvSpPr txBox="1">
            <a:spLocks noChangeArrowheads="1"/>
          </p:cNvSpPr>
          <p:nvPr/>
        </p:nvSpPr>
        <p:spPr bwMode="auto">
          <a:xfrm>
            <a:off x="1308100" y="3848100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2</a:t>
            </a:r>
          </a:p>
        </p:txBody>
      </p:sp>
      <p:grpSp>
        <p:nvGrpSpPr>
          <p:cNvPr id="731220" name="Group 84"/>
          <p:cNvGrpSpPr>
            <a:grpSpLocks/>
          </p:cNvGrpSpPr>
          <p:nvPr/>
        </p:nvGrpSpPr>
        <p:grpSpPr bwMode="auto">
          <a:xfrm>
            <a:off x="673100" y="1474788"/>
            <a:ext cx="8077200" cy="2843212"/>
            <a:chOff x="336" y="696"/>
            <a:chExt cx="5088" cy="1791"/>
          </a:xfrm>
        </p:grpSpPr>
        <p:sp>
          <p:nvSpPr>
            <p:cNvPr id="62668" name="Rectangle 85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69" name="Text Box 86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(x),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70" name="Rectangle 87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1" name="Text Box 88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72" name="Rectangle 89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3" name="Text Box 90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74" name="Rectangle 91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5" name="Text Box 92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76" name="Text Box 93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77" name="Rectangle 94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8" name="Rectangle 95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79" name="Rectangle 96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80" name="Line 97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81" name="Text Box 98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82" name="Text Box 99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 dirty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83" name="Text Box 100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84" name="Text Box 101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</a:t>
              </a:r>
            </a:p>
          </p:txBody>
        </p:sp>
      </p:grpSp>
      <p:sp>
        <p:nvSpPr>
          <p:cNvPr id="731238" name="Rectangle 102"/>
          <p:cNvSpPr>
            <a:spLocks noChangeArrowheads="1"/>
          </p:cNvSpPr>
          <p:nvPr/>
        </p:nvSpPr>
        <p:spPr bwMode="auto">
          <a:xfrm>
            <a:off x="1181100" y="18224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39" name="Rectangle 103"/>
          <p:cNvSpPr>
            <a:spLocks noChangeArrowheads="1"/>
          </p:cNvSpPr>
          <p:nvPr/>
        </p:nvSpPr>
        <p:spPr bwMode="auto">
          <a:xfrm>
            <a:off x="1181100" y="20764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40" name="Rectangle 104"/>
          <p:cNvSpPr>
            <a:spLocks noChangeArrowheads="1"/>
          </p:cNvSpPr>
          <p:nvPr/>
        </p:nvSpPr>
        <p:spPr bwMode="auto">
          <a:xfrm>
            <a:off x="1181100" y="23177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41" name="Rectangle 105"/>
          <p:cNvSpPr>
            <a:spLocks noChangeArrowheads="1"/>
          </p:cNvSpPr>
          <p:nvPr/>
        </p:nvSpPr>
        <p:spPr bwMode="auto">
          <a:xfrm>
            <a:off x="1181100" y="25590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42" name="Text Box 106"/>
          <p:cNvSpPr txBox="1">
            <a:spLocks noChangeArrowheads="1"/>
          </p:cNvSpPr>
          <p:nvPr/>
        </p:nvSpPr>
        <p:spPr bwMode="auto">
          <a:xfrm>
            <a:off x="7531100" y="38369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43" name="Text Box 107"/>
          <p:cNvSpPr txBox="1">
            <a:spLocks noChangeArrowheads="1"/>
          </p:cNvSpPr>
          <p:nvPr/>
        </p:nvSpPr>
        <p:spPr bwMode="auto">
          <a:xfrm>
            <a:off x="1308100" y="35702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44" name="Text Box 108"/>
          <p:cNvSpPr txBox="1">
            <a:spLocks noChangeArrowheads="1"/>
          </p:cNvSpPr>
          <p:nvPr/>
        </p:nvSpPr>
        <p:spPr bwMode="auto">
          <a:xfrm>
            <a:off x="1308100" y="3849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3</a:t>
            </a:r>
          </a:p>
        </p:txBody>
      </p:sp>
      <p:grpSp>
        <p:nvGrpSpPr>
          <p:cNvPr id="731245" name="Group 109"/>
          <p:cNvGrpSpPr>
            <a:grpSpLocks/>
          </p:cNvGrpSpPr>
          <p:nvPr/>
        </p:nvGrpSpPr>
        <p:grpSpPr bwMode="auto">
          <a:xfrm>
            <a:off x="673100" y="1474788"/>
            <a:ext cx="8077200" cy="2843212"/>
            <a:chOff x="336" y="696"/>
            <a:chExt cx="5088" cy="1791"/>
          </a:xfrm>
        </p:grpSpPr>
        <p:sp>
          <p:nvSpPr>
            <p:cNvPr id="62651" name="Rectangle 110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2" name="Text Box 111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(x),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53" name="Rectangle 112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4" name="Text Box 113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55" name="Rectangle 114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6" name="Text Box 115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57" name="Rectangle 116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8" name="Text Box 117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59" name="Text Box 118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60" name="Rectangle 119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61" name="Rectangle 120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62" name="Rectangle 121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63" name="Line 122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64" name="Text Box 123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65" name="Text Box 124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 dirty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66" name="Text Box 125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67" name="Text Box 126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sp>
        <p:nvSpPr>
          <p:cNvPr id="731263" name="Rectangle 127"/>
          <p:cNvSpPr>
            <a:spLocks noChangeArrowheads="1"/>
          </p:cNvSpPr>
          <p:nvPr/>
        </p:nvSpPr>
        <p:spPr bwMode="auto">
          <a:xfrm>
            <a:off x="1181100" y="18224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4" name="Rectangle 128"/>
          <p:cNvSpPr>
            <a:spLocks noChangeArrowheads="1"/>
          </p:cNvSpPr>
          <p:nvPr/>
        </p:nvSpPr>
        <p:spPr bwMode="auto">
          <a:xfrm>
            <a:off x="1181100" y="20764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5" name="Rectangle 129"/>
          <p:cNvSpPr>
            <a:spLocks noChangeArrowheads="1"/>
          </p:cNvSpPr>
          <p:nvPr/>
        </p:nvSpPr>
        <p:spPr bwMode="auto">
          <a:xfrm>
            <a:off x="1181100" y="23177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6" name="Rectangle 130"/>
          <p:cNvSpPr>
            <a:spLocks noChangeArrowheads="1"/>
          </p:cNvSpPr>
          <p:nvPr/>
        </p:nvSpPr>
        <p:spPr bwMode="auto">
          <a:xfrm>
            <a:off x="1181100" y="25590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7" name="Text Box 131"/>
          <p:cNvSpPr txBox="1">
            <a:spLocks noChangeArrowheads="1"/>
          </p:cNvSpPr>
          <p:nvPr/>
        </p:nvSpPr>
        <p:spPr bwMode="auto">
          <a:xfrm>
            <a:off x="7531100" y="38369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68" name="Text Box 132"/>
          <p:cNvSpPr txBox="1">
            <a:spLocks noChangeArrowheads="1"/>
          </p:cNvSpPr>
          <p:nvPr/>
        </p:nvSpPr>
        <p:spPr bwMode="auto">
          <a:xfrm>
            <a:off x="1308100" y="35702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69" name="Text Box 133"/>
          <p:cNvSpPr txBox="1">
            <a:spLocks noChangeArrowheads="1"/>
          </p:cNvSpPr>
          <p:nvPr/>
        </p:nvSpPr>
        <p:spPr bwMode="auto">
          <a:xfrm>
            <a:off x="1308100" y="3849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6</a:t>
            </a:r>
          </a:p>
        </p:txBody>
      </p:sp>
      <p:grpSp>
        <p:nvGrpSpPr>
          <p:cNvPr id="731270" name="Group 134"/>
          <p:cNvGrpSpPr>
            <a:grpSpLocks/>
          </p:cNvGrpSpPr>
          <p:nvPr/>
        </p:nvGrpSpPr>
        <p:grpSpPr bwMode="auto">
          <a:xfrm>
            <a:off x="673100" y="1473200"/>
            <a:ext cx="8077200" cy="2843213"/>
            <a:chOff x="336" y="696"/>
            <a:chExt cx="5088" cy="1791"/>
          </a:xfrm>
        </p:grpSpPr>
        <p:sp>
          <p:nvSpPr>
            <p:cNvPr id="62631" name="Rectangle 135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32" name="Text Box 136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 add(Rational r) {</a:t>
              </a:r>
            </a:p>
            <a:p>
              <a:endParaRPr lang="en-US" altLang="ro-RO" sz="1600" b="1" i="0" dirty="0">
                <a:latin typeface="Courier New" panose="02070309020205020404" pitchFamily="49" charset="0"/>
              </a:endParaRP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return new Rational(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this.num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r.den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+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r.num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this.den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,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                  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this.den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r.den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);</a:t>
              </a:r>
            </a:p>
            <a:p>
              <a:endParaRPr lang="en-US" altLang="ro-RO" sz="800" b="1" i="0" dirty="0">
                <a:latin typeface="Courier New" panose="02070309020205020404" pitchFamily="49" charset="0"/>
              </a:endParaRP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33" name="Text Box 137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34" name="Rectangle 138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35" name="Rectangle 139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36" name="Rectangle 140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37" name="Line 141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38" name="Text Box 142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39" name="Text Box 143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40" name="Text Box 144"/>
            <p:cNvSpPr txBox="1">
              <a:spLocks noChangeArrowheads="1"/>
            </p:cNvSpPr>
            <p:nvPr/>
          </p:nvSpPr>
          <p:spPr bwMode="auto">
            <a:xfrm>
              <a:off x="736" y="201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41" name="Text Box 145"/>
            <p:cNvSpPr txBox="1">
              <a:spLocks noChangeArrowheads="1"/>
            </p:cNvSpPr>
            <p:nvPr/>
          </p:nvSpPr>
          <p:spPr bwMode="auto">
            <a:xfrm>
              <a:off x="736" y="2192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2</a:t>
              </a:r>
            </a:p>
          </p:txBody>
        </p:sp>
        <p:sp>
          <p:nvSpPr>
            <p:cNvPr id="62642" name="Text Box 146"/>
            <p:cNvSpPr txBox="1">
              <a:spLocks noChangeArrowheads="1"/>
            </p:cNvSpPr>
            <p:nvPr/>
          </p:nvSpPr>
          <p:spPr bwMode="auto">
            <a:xfrm>
              <a:off x="4624" y="1836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62643" name="Rectangle 147"/>
            <p:cNvSpPr>
              <a:spLocks noChangeArrowheads="1"/>
            </p:cNvSpPr>
            <p:nvPr/>
          </p:nvSpPr>
          <p:spPr bwMode="auto">
            <a:xfrm>
              <a:off x="4648" y="2020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44" name="Rectangle 148"/>
            <p:cNvSpPr>
              <a:spLocks noChangeArrowheads="1"/>
            </p:cNvSpPr>
            <p:nvPr/>
          </p:nvSpPr>
          <p:spPr bwMode="auto">
            <a:xfrm>
              <a:off x="4960" y="205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45" name="Rectangle 149"/>
            <p:cNvSpPr>
              <a:spLocks noChangeArrowheads="1"/>
            </p:cNvSpPr>
            <p:nvPr/>
          </p:nvSpPr>
          <p:spPr bwMode="auto">
            <a:xfrm>
              <a:off x="4960" y="223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46" name="Line 150"/>
            <p:cNvSpPr>
              <a:spLocks noChangeShapeType="1"/>
            </p:cNvSpPr>
            <p:nvPr/>
          </p:nvSpPr>
          <p:spPr bwMode="auto">
            <a:xfrm>
              <a:off x="4960" y="2211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47" name="Text Box 151"/>
            <p:cNvSpPr txBox="1">
              <a:spLocks noChangeArrowheads="1"/>
            </p:cNvSpPr>
            <p:nvPr/>
          </p:nvSpPr>
          <p:spPr bwMode="auto">
            <a:xfrm>
              <a:off x="4656" y="201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48" name="Text Box 152"/>
            <p:cNvSpPr txBox="1">
              <a:spLocks noChangeArrowheads="1"/>
            </p:cNvSpPr>
            <p:nvPr/>
          </p:nvSpPr>
          <p:spPr bwMode="auto">
            <a:xfrm>
              <a:off x="4656" y="219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49" name="Text Box 153"/>
            <p:cNvSpPr txBox="1">
              <a:spLocks noChangeArrowheads="1"/>
            </p:cNvSpPr>
            <p:nvPr/>
          </p:nvSpPr>
          <p:spPr bwMode="auto">
            <a:xfrm>
              <a:off x="4960" y="2020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50" name="Text Box 154"/>
            <p:cNvSpPr txBox="1">
              <a:spLocks noChangeArrowheads="1"/>
            </p:cNvSpPr>
            <p:nvPr/>
          </p:nvSpPr>
          <p:spPr bwMode="auto">
            <a:xfrm>
              <a:off x="4960" y="219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</a:t>
              </a:r>
            </a:p>
          </p:txBody>
        </p:sp>
      </p:grpSp>
      <p:sp>
        <p:nvSpPr>
          <p:cNvPr id="731291" name="Rectangle 155"/>
          <p:cNvSpPr>
            <a:spLocks noChangeArrowheads="1"/>
          </p:cNvSpPr>
          <p:nvPr/>
        </p:nvSpPr>
        <p:spPr bwMode="auto">
          <a:xfrm>
            <a:off x="1181100" y="2070100"/>
            <a:ext cx="7188200" cy="5445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2" name="Rectangle 156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3" name="Rectangle 157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9999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4" name="Rectangle 158"/>
          <p:cNvSpPr>
            <a:spLocks noChangeArrowheads="1"/>
          </p:cNvSpPr>
          <p:nvPr/>
        </p:nvSpPr>
        <p:spPr bwMode="auto">
          <a:xfrm>
            <a:off x="3757613" y="2311400"/>
            <a:ext cx="2084387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5" name="AutoShape 159"/>
          <p:cNvSpPr>
            <a:spLocks noChangeArrowheads="1"/>
          </p:cNvSpPr>
          <p:nvPr/>
        </p:nvSpPr>
        <p:spPr bwMode="auto">
          <a:xfrm>
            <a:off x="4559300" y="2717800"/>
            <a:ext cx="679450" cy="312738"/>
          </a:xfrm>
          <a:prstGeom prst="wedgeEllipseCallout">
            <a:avLst>
              <a:gd name="adj1" fmla="val 0"/>
              <a:gd name="adj2" fmla="val -9619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6</a:t>
            </a:r>
          </a:p>
        </p:txBody>
      </p:sp>
      <p:sp>
        <p:nvSpPr>
          <p:cNvPr id="731296" name="AutoShape 160"/>
          <p:cNvSpPr>
            <a:spLocks noChangeArrowheads="1"/>
          </p:cNvSpPr>
          <p:nvPr/>
        </p:nvSpPr>
        <p:spPr bwMode="auto">
          <a:xfrm>
            <a:off x="5594350" y="1579563"/>
            <a:ext cx="679450" cy="312737"/>
          </a:xfrm>
          <a:prstGeom prst="wedgeEllipseCallout">
            <a:avLst>
              <a:gd name="adj1" fmla="val 0"/>
              <a:gd name="adj2" fmla="val 10075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5</a:t>
            </a:r>
          </a:p>
        </p:txBody>
      </p:sp>
      <p:grpSp>
        <p:nvGrpSpPr>
          <p:cNvPr id="731297" name="Group 161"/>
          <p:cNvGrpSpPr>
            <a:grpSpLocks/>
          </p:cNvGrpSpPr>
          <p:nvPr/>
        </p:nvGrpSpPr>
        <p:grpSpPr bwMode="auto">
          <a:xfrm>
            <a:off x="812800" y="1881188"/>
            <a:ext cx="8077200" cy="2843212"/>
            <a:chOff x="336" y="696"/>
            <a:chExt cx="5088" cy="1791"/>
          </a:xfrm>
        </p:grpSpPr>
        <p:sp>
          <p:nvSpPr>
            <p:cNvPr id="62614" name="Rectangle 162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15" name="Text Box 163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(x),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16" name="Rectangle 164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17" name="Text Box 165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18" name="Rectangle 166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19" name="Text Box 167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20" name="Rectangle 168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21" name="Text Box 169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22" name="Text Box 170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23" name="Rectangle 171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24" name="Rectangle 172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25" name="Rectangle 173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26" name="Line 174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27" name="Text Box 175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28" name="Text Box 176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29" name="Text Box 177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5</a:t>
              </a:r>
            </a:p>
          </p:txBody>
        </p:sp>
        <p:sp>
          <p:nvSpPr>
            <p:cNvPr id="62630" name="Text Box 178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sp>
        <p:nvSpPr>
          <p:cNvPr id="731315" name="Rectangle 179"/>
          <p:cNvSpPr>
            <a:spLocks noChangeArrowheads="1"/>
          </p:cNvSpPr>
          <p:nvPr/>
        </p:nvSpPr>
        <p:spPr bwMode="auto">
          <a:xfrm>
            <a:off x="1320800" y="22288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6" name="Rectangle 180"/>
          <p:cNvSpPr>
            <a:spLocks noChangeArrowheads="1"/>
          </p:cNvSpPr>
          <p:nvPr/>
        </p:nvSpPr>
        <p:spPr bwMode="auto">
          <a:xfrm>
            <a:off x="1320800" y="24828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7" name="Rectangle 181"/>
          <p:cNvSpPr>
            <a:spLocks noChangeArrowheads="1"/>
          </p:cNvSpPr>
          <p:nvPr/>
        </p:nvSpPr>
        <p:spPr bwMode="auto">
          <a:xfrm>
            <a:off x="1320800" y="27241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8" name="Rectangle 182"/>
          <p:cNvSpPr>
            <a:spLocks noChangeArrowheads="1"/>
          </p:cNvSpPr>
          <p:nvPr/>
        </p:nvSpPr>
        <p:spPr bwMode="auto">
          <a:xfrm>
            <a:off x="1320800" y="29654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9" name="Text Box 183"/>
          <p:cNvSpPr txBox="1">
            <a:spLocks noChangeArrowheads="1"/>
          </p:cNvSpPr>
          <p:nvPr/>
        </p:nvSpPr>
        <p:spPr bwMode="auto">
          <a:xfrm>
            <a:off x="7670800" y="42433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320" name="Text Box 184"/>
          <p:cNvSpPr txBox="1">
            <a:spLocks noChangeArrowheads="1"/>
          </p:cNvSpPr>
          <p:nvPr/>
        </p:nvSpPr>
        <p:spPr bwMode="auto">
          <a:xfrm>
            <a:off x="1447800" y="3976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5</a:t>
            </a:r>
          </a:p>
        </p:txBody>
      </p:sp>
      <p:sp>
        <p:nvSpPr>
          <p:cNvPr id="731321" name="Text Box 185"/>
          <p:cNvSpPr txBox="1">
            <a:spLocks noChangeArrowheads="1"/>
          </p:cNvSpPr>
          <p:nvPr/>
        </p:nvSpPr>
        <p:spPr bwMode="auto">
          <a:xfrm>
            <a:off x="1447800" y="42560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6</a:t>
            </a:r>
          </a:p>
        </p:txBody>
      </p:sp>
      <p:grpSp>
        <p:nvGrpSpPr>
          <p:cNvPr id="731322" name="Group 186"/>
          <p:cNvGrpSpPr>
            <a:grpSpLocks/>
          </p:cNvGrpSpPr>
          <p:nvPr/>
        </p:nvGrpSpPr>
        <p:grpSpPr bwMode="auto">
          <a:xfrm>
            <a:off x="673100" y="1473200"/>
            <a:ext cx="8077200" cy="2843213"/>
            <a:chOff x="336" y="696"/>
            <a:chExt cx="5088" cy="1791"/>
          </a:xfrm>
        </p:grpSpPr>
        <p:sp>
          <p:nvSpPr>
            <p:cNvPr id="62594" name="Rectangle 187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95" name="Text Box 188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public Rational add(Rational r) {</a:t>
              </a:r>
            </a:p>
            <a:p>
              <a:endParaRPr lang="en-US" altLang="ro-RO" sz="1600" b="1" i="0">
                <a:latin typeface="Courier New" panose="02070309020205020404" pitchFamily="49" charset="0"/>
              </a:endParaRPr>
            </a:p>
            <a:p>
              <a:r>
                <a:rPr lang="en-US" altLang="ro-RO" sz="1600" b="1" i="0">
                  <a:latin typeface="Courier New" panose="02070309020205020404" pitchFamily="49" charset="0"/>
                </a:rPr>
                <a:t>   return new Rational( this.num * r.den + r.num * this.den ,</a:t>
              </a:r>
            </a:p>
            <a:p>
              <a:r>
                <a:rPr lang="en-US" altLang="ro-RO" sz="1600" b="1" i="0">
                  <a:latin typeface="Courier New" panose="02070309020205020404" pitchFamily="49" charset="0"/>
                </a:rPr>
                <a:t>                        this.den * r.den );</a:t>
              </a:r>
            </a:p>
            <a:p>
              <a:endParaRPr lang="en-US" altLang="ro-RO" sz="800" b="1" i="0">
                <a:latin typeface="Courier New" panose="02070309020205020404" pitchFamily="49" charset="0"/>
              </a:endParaRPr>
            </a:p>
            <a:p>
              <a:r>
                <a:rPr lang="en-US" altLang="ro-RO" sz="1600" b="1" i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596" name="Text Box 189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597" name="Rectangle 190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98" name="Rectangle 191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599" name="Rectangle 192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00" name="Line 193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01" name="Text Box 194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02" name="Text Box 195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03" name="Text Box 196"/>
            <p:cNvSpPr txBox="1">
              <a:spLocks noChangeArrowheads="1"/>
            </p:cNvSpPr>
            <p:nvPr/>
          </p:nvSpPr>
          <p:spPr bwMode="auto">
            <a:xfrm>
              <a:off x="736" y="201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5</a:t>
              </a:r>
            </a:p>
          </p:txBody>
        </p:sp>
        <p:sp>
          <p:nvSpPr>
            <p:cNvPr id="62604" name="Text Box 197"/>
            <p:cNvSpPr txBox="1">
              <a:spLocks noChangeArrowheads="1"/>
            </p:cNvSpPr>
            <p:nvPr/>
          </p:nvSpPr>
          <p:spPr bwMode="auto">
            <a:xfrm>
              <a:off x="736" y="2192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  <p:sp>
          <p:nvSpPr>
            <p:cNvPr id="62605" name="Text Box 198"/>
            <p:cNvSpPr txBox="1">
              <a:spLocks noChangeArrowheads="1"/>
            </p:cNvSpPr>
            <p:nvPr/>
          </p:nvSpPr>
          <p:spPr bwMode="auto">
            <a:xfrm>
              <a:off x="4624" y="1836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62606" name="Rectangle 199"/>
            <p:cNvSpPr>
              <a:spLocks noChangeArrowheads="1"/>
            </p:cNvSpPr>
            <p:nvPr/>
          </p:nvSpPr>
          <p:spPr bwMode="auto">
            <a:xfrm>
              <a:off x="4648" y="2020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07" name="Rectangle 200"/>
            <p:cNvSpPr>
              <a:spLocks noChangeArrowheads="1"/>
            </p:cNvSpPr>
            <p:nvPr/>
          </p:nvSpPr>
          <p:spPr bwMode="auto">
            <a:xfrm>
              <a:off x="4960" y="205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08" name="Rectangle 201"/>
            <p:cNvSpPr>
              <a:spLocks noChangeArrowheads="1"/>
            </p:cNvSpPr>
            <p:nvPr/>
          </p:nvSpPr>
          <p:spPr bwMode="auto">
            <a:xfrm>
              <a:off x="4960" y="223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09" name="Line 202"/>
            <p:cNvSpPr>
              <a:spLocks noChangeShapeType="1"/>
            </p:cNvSpPr>
            <p:nvPr/>
          </p:nvSpPr>
          <p:spPr bwMode="auto">
            <a:xfrm>
              <a:off x="4960" y="2211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10" name="Text Box 203"/>
            <p:cNvSpPr txBox="1">
              <a:spLocks noChangeArrowheads="1"/>
            </p:cNvSpPr>
            <p:nvPr/>
          </p:nvSpPr>
          <p:spPr bwMode="auto">
            <a:xfrm>
              <a:off x="4656" y="201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11" name="Text Box 204"/>
            <p:cNvSpPr txBox="1">
              <a:spLocks noChangeArrowheads="1"/>
            </p:cNvSpPr>
            <p:nvPr/>
          </p:nvSpPr>
          <p:spPr bwMode="auto">
            <a:xfrm>
              <a:off x="4656" y="219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12" name="Text Box 205"/>
            <p:cNvSpPr txBox="1">
              <a:spLocks noChangeArrowheads="1"/>
            </p:cNvSpPr>
            <p:nvPr/>
          </p:nvSpPr>
          <p:spPr bwMode="auto">
            <a:xfrm>
              <a:off x="4960" y="2020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13" name="Text Box 206"/>
            <p:cNvSpPr txBox="1">
              <a:spLocks noChangeArrowheads="1"/>
            </p:cNvSpPr>
            <p:nvPr/>
          </p:nvSpPr>
          <p:spPr bwMode="auto">
            <a:xfrm>
              <a:off x="4960" y="219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sp>
        <p:nvSpPr>
          <p:cNvPr id="731343" name="Rectangle 207"/>
          <p:cNvSpPr>
            <a:spLocks noChangeArrowheads="1"/>
          </p:cNvSpPr>
          <p:nvPr/>
        </p:nvSpPr>
        <p:spPr bwMode="auto">
          <a:xfrm>
            <a:off x="1181100" y="2070100"/>
            <a:ext cx="7188200" cy="5445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4" name="Rectangle 208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5" name="Rectangle 209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9999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6" name="Rectangle 210"/>
          <p:cNvSpPr>
            <a:spLocks noChangeArrowheads="1"/>
          </p:cNvSpPr>
          <p:nvPr/>
        </p:nvSpPr>
        <p:spPr bwMode="auto">
          <a:xfrm>
            <a:off x="3757613" y="2311400"/>
            <a:ext cx="2084387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7" name="AutoShape 211"/>
          <p:cNvSpPr>
            <a:spLocks noChangeArrowheads="1"/>
          </p:cNvSpPr>
          <p:nvPr/>
        </p:nvSpPr>
        <p:spPr bwMode="auto">
          <a:xfrm>
            <a:off x="4559300" y="2717800"/>
            <a:ext cx="679450" cy="312738"/>
          </a:xfrm>
          <a:prstGeom prst="wedgeEllipseCallout">
            <a:avLst>
              <a:gd name="adj1" fmla="val 0"/>
              <a:gd name="adj2" fmla="val -9619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36</a:t>
            </a:r>
          </a:p>
        </p:txBody>
      </p:sp>
      <p:sp>
        <p:nvSpPr>
          <p:cNvPr id="731348" name="AutoShape 212"/>
          <p:cNvSpPr>
            <a:spLocks noChangeArrowheads="1"/>
          </p:cNvSpPr>
          <p:nvPr/>
        </p:nvSpPr>
        <p:spPr bwMode="auto">
          <a:xfrm>
            <a:off x="5594350" y="1579563"/>
            <a:ext cx="679450" cy="312737"/>
          </a:xfrm>
          <a:prstGeom prst="wedgeEllipseCallout">
            <a:avLst>
              <a:gd name="adj1" fmla="val 0"/>
              <a:gd name="adj2" fmla="val 10075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36</a:t>
            </a:r>
          </a:p>
        </p:txBody>
      </p:sp>
      <p:grpSp>
        <p:nvGrpSpPr>
          <p:cNvPr id="731349" name="Group 213"/>
          <p:cNvGrpSpPr>
            <a:grpSpLocks/>
          </p:cNvGrpSpPr>
          <p:nvPr/>
        </p:nvGrpSpPr>
        <p:grpSpPr bwMode="auto">
          <a:xfrm>
            <a:off x="812800" y="1881188"/>
            <a:ext cx="8077200" cy="2843212"/>
            <a:chOff x="336" y="696"/>
            <a:chExt cx="5088" cy="1791"/>
          </a:xfrm>
        </p:grpSpPr>
        <p:sp>
          <p:nvSpPr>
            <p:cNvPr id="62577" name="Rectangle 214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78" name="Text Box 215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(x),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579" name="Rectangle 216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0" name="Text Box 217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581" name="Rectangle 218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2" name="Text Box 219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583" name="Rectangle 220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4" name="Text Box 221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585" name="Text Box 222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586" name="Rectangle 223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7" name="Rectangle 224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588" name="Rectangle 225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589" name="Line 226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590" name="Text Box 227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591" name="Text Box 228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592" name="Text Box 229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36</a:t>
              </a:r>
            </a:p>
          </p:txBody>
        </p:sp>
        <p:sp>
          <p:nvSpPr>
            <p:cNvPr id="62593" name="Text Box 230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36</a:t>
              </a:r>
            </a:p>
          </p:txBody>
        </p:sp>
      </p:grpSp>
      <p:sp>
        <p:nvSpPr>
          <p:cNvPr id="731367" name="Rectangle 231"/>
          <p:cNvSpPr>
            <a:spLocks noChangeArrowheads="1"/>
          </p:cNvSpPr>
          <p:nvPr/>
        </p:nvSpPr>
        <p:spPr bwMode="auto">
          <a:xfrm>
            <a:off x="1320800" y="22288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68" name="Rectangle 232"/>
          <p:cNvSpPr>
            <a:spLocks noChangeArrowheads="1"/>
          </p:cNvSpPr>
          <p:nvPr/>
        </p:nvSpPr>
        <p:spPr bwMode="auto">
          <a:xfrm>
            <a:off x="1320800" y="24828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69" name="Rectangle 233"/>
          <p:cNvSpPr>
            <a:spLocks noChangeArrowheads="1"/>
          </p:cNvSpPr>
          <p:nvPr/>
        </p:nvSpPr>
        <p:spPr bwMode="auto">
          <a:xfrm>
            <a:off x="1320800" y="27241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70" name="Rectangle 234"/>
          <p:cNvSpPr>
            <a:spLocks noChangeArrowheads="1"/>
          </p:cNvSpPr>
          <p:nvPr/>
        </p:nvSpPr>
        <p:spPr bwMode="auto">
          <a:xfrm>
            <a:off x="1320800" y="29654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71" name="Text Box 235"/>
          <p:cNvSpPr txBox="1">
            <a:spLocks noChangeArrowheads="1"/>
          </p:cNvSpPr>
          <p:nvPr/>
        </p:nvSpPr>
        <p:spPr bwMode="auto">
          <a:xfrm>
            <a:off x="7670800" y="42433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36</a:t>
            </a:r>
          </a:p>
        </p:txBody>
      </p:sp>
      <p:sp>
        <p:nvSpPr>
          <p:cNvPr id="731372" name="Text Box 236"/>
          <p:cNvSpPr txBox="1">
            <a:spLocks noChangeArrowheads="1"/>
          </p:cNvSpPr>
          <p:nvPr/>
        </p:nvSpPr>
        <p:spPr bwMode="auto">
          <a:xfrm>
            <a:off x="1447800" y="3976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373" name="Text Box 237"/>
          <p:cNvSpPr txBox="1">
            <a:spLocks noChangeArrowheads="1"/>
          </p:cNvSpPr>
          <p:nvPr/>
        </p:nvSpPr>
        <p:spPr bwMode="auto">
          <a:xfrm>
            <a:off x="1447800" y="42560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grpSp>
        <p:nvGrpSpPr>
          <p:cNvPr id="731374" name="Group 238"/>
          <p:cNvGrpSpPr>
            <a:grpSpLocks/>
          </p:cNvGrpSpPr>
          <p:nvPr/>
        </p:nvGrpSpPr>
        <p:grpSpPr bwMode="auto">
          <a:xfrm>
            <a:off x="533400" y="1104900"/>
            <a:ext cx="8394700" cy="3771900"/>
            <a:chOff x="424" y="792"/>
            <a:chExt cx="5288" cy="2376"/>
          </a:xfrm>
        </p:grpSpPr>
        <p:sp>
          <p:nvSpPr>
            <p:cNvPr id="62541" name="Rectangle 239"/>
            <p:cNvSpPr>
              <a:spLocks noChangeArrowheads="1"/>
            </p:cNvSpPr>
            <p:nvPr/>
          </p:nvSpPr>
          <p:spPr bwMode="auto">
            <a:xfrm>
              <a:off x="432" y="792"/>
              <a:ext cx="5280" cy="23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42" name="Rectangle 240"/>
            <p:cNvSpPr>
              <a:spLocks noChangeArrowheads="1"/>
            </p:cNvSpPr>
            <p:nvPr/>
          </p:nvSpPr>
          <p:spPr bwMode="auto">
            <a:xfrm>
              <a:off x="424" y="792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grpSp>
          <p:nvGrpSpPr>
            <p:cNvPr id="62543" name="Group 241"/>
            <p:cNvGrpSpPr>
              <a:grpSpLocks/>
            </p:cNvGrpSpPr>
            <p:nvPr/>
          </p:nvGrpSpPr>
          <p:grpSpPr bwMode="auto">
            <a:xfrm>
              <a:off x="2472" y="1928"/>
              <a:ext cx="2896" cy="577"/>
              <a:chOff x="2384" y="1832"/>
              <a:chExt cx="2896" cy="577"/>
            </a:xfrm>
          </p:grpSpPr>
          <p:sp>
            <p:nvSpPr>
              <p:cNvPr id="62569" name="Rectangle 242"/>
              <p:cNvSpPr>
                <a:spLocks noChangeArrowheads="1"/>
              </p:cNvSpPr>
              <p:nvPr/>
            </p:nvSpPr>
            <p:spPr bwMode="auto">
              <a:xfrm>
                <a:off x="3912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  <p:sp>
            <p:nvSpPr>
              <p:cNvPr id="62570" name="Text Box 243"/>
              <p:cNvSpPr txBox="1">
                <a:spLocks noChangeArrowheads="1"/>
              </p:cNvSpPr>
              <p:nvPr/>
            </p:nvSpPr>
            <p:spPr bwMode="auto">
              <a:xfrm>
                <a:off x="3888" y="1832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c</a:t>
                </a:r>
              </a:p>
            </p:txBody>
          </p:sp>
          <p:sp>
            <p:nvSpPr>
              <p:cNvPr id="62571" name="Rectangle 244"/>
              <p:cNvSpPr>
                <a:spLocks noChangeArrowheads="1"/>
              </p:cNvSpPr>
              <p:nvPr/>
            </p:nvSpPr>
            <p:spPr bwMode="auto">
              <a:xfrm>
                <a:off x="4656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  <p:sp>
            <p:nvSpPr>
              <p:cNvPr id="62572" name="Text Box 245"/>
              <p:cNvSpPr txBox="1">
                <a:spLocks noChangeArrowheads="1"/>
              </p:cNvSpPr>
              <p:nvPr/>
            </p:nvSpPr>
            <p:spPr bwMode="auto">
              <a:xfrm>
                <a:off x="4632" y="1832"/>
                <a:ext cx="64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sum</a:t>
                </a:r>
              </a:p>
            </p:txBody>
          </p:sp>
          <p:sp>
            <p:nvSpPr>
              <p:cNvPr id="62573" name="Rectangle 246"/>
              <p:cNvSpPr>
                <a:spLocks noChangeArrowheads="1"/>
              </p:cNvSpPr>
              <p:nvPr/>
            </p:nvSpPr>
            <p:spPr bwMode="auto">
              <a:xfrm>
                <a:off x="3160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  <p:sp>
            <p:nvSpPr>
              <p:cNvPr id="62574" name="Text Box 247"/>
              <p:cNvSpPr txBox="1">
                <a:spLocks noChangeArrowheads="1"/>
              </p:cNvSpPr>
              <p:nvPr/>
            </p:nvSpPr>
            <p:spPr bwMode="auto">
              <a:xfrm>
                <a:off x="3136" y="1832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b</a:t>
                </a:r>
              </a:p>
            </p:txBody>
          </p:sp>
          <p:sp>
            <p:nvSpPr>
              <p:cNvPr id="62575" name="Text Box 248"/>
              <p:cNvSpPr txBox="1">
                <a:spLocks noChangeArrowheads="1"/>
              </p:cNvSpPr>
              <p:nvPr/>
            </p:nvSpPr>
            <p:spPr bwMode="auto">
              <a:xfrm>
                <a:off x="2384" y="1832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62576" name="Rectangle 249"/>
              <p:cNvSpPr>
                <a:spLocks noChangeArrowheads="1"/>
              </p:cNvSpPr>
              <p:nvPr/>
            </p:nvSpPr>
            <p:spPr bwMode="auto">
              <a:xfrm>
                <a:off x="2408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</p:grpSp>
        <p:sp>
          <p:nvSpPr>
            <p:cNvPr id="62544" name="Text Box 250"/>
            <p:cNvSpPr txBox="1">
              <a:spLocks noChangeArrowheads="1"/>
            </p:cNvSpPr>
            <p:nvPr/>
          </p:nvSpPr>
          <p:spPr bwMode="auto">
            <a:xfrm>
              <a:off x="496" y="832"/>
              <a:ext cx="5016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public class TestRational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public static void main (String[] args) {</a:t>
              </a:r>
            </a:p>
            <a:p>
              <a:r>
                <a:rPr lang="en-US" altLang="ro-RO" sz="1600" b="1" i="0" noProof="1">
                  <a:latin typeface="Courier New" panose="02070309020205020404" pitchFamily="49" charset="0"/>
                </a:rPr>
                <a:t>  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Rational a = new Rational(1, 2);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Rational b = new Rational(1, 3);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Rational c = new Rational(1, 6);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Rational sum = a.add(b).add(c);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System.out.println(a + " + " + b + " + " + c + " = " + sum);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}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}</a:t>
              </a:r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grpSp>
          <p:nvGrpSpPr>
            <p:cNvPr id="62545" name="Group 251"/>
            <p:cNvGrpSpPr>
              <a:grpSpLocks/>
            </p:cNvGrpSpPr>
            <p:nvPr/>
          </p:nvGrpSpPr>
          <p:grpSpPr bwMode="auto">
            <a:xfrm>
              <a:off x="2683" y="2112"/>
              <a:ext cx="253" cy="388"/>
              <a:chOff x="736" y="2871"/>
              <a:chExt cx="253" cy="388"/>
            </a:xfrm>
          </p:grpSpPr>
          <p:sp>
            <p:nvSpPr>
              <p:cNvPr id="62564" name="Rectangle 252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5" name="Rectangle 253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6" name="Line 254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67" name="Text Box 255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68" name="Text Box 256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2</a:t>
                </a:r>
              </a:p>
            </p:txBody>
          </p:sp>
        </p:grpSp>
        <p:grpSp>
          <p:nvGrpSpPr>
            <p:cNvPr id="62546" name="Group 257"/>
            <p:cNvGrpSpPr>
              <a:grpSpLocks/>
            </p:cNvGrpSpPr>
            <p:nvPr/>
          </p:nvGrpSpPr>
          <p:grpSpPr bwMode="auto">
            <a:xfrm>
              <a:off x="3435" y="2112"/>
              <a:ext cx="253" cy="388"/>
              <a:chOff x="736" y="2871"/>
              <a:chExt cx="253" cy="388"/>
            </a:xfrm>
          </p:grpSpPr>
          <p:sp>
            <p:nvSpPr>
              <p:cNvPr id="62559" name="Rectangle 258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0" name="Rectangle 259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1" name="Line 260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62" name="Text Box 261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63" name="Text Box 262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3</a:t>
                </a:r>
              </a:p>
            </p:txBody>
          </p:sp>
        </p:grpSp>
        <p:grpSp>
          <p:nvGrpSpPr>
            <p:cNvPr id="62547" name="Group 263"/>
            <p:cNvGrpSpPr>
              <a:grpSpLocks/>
            </p:cNvGrpSpPr>
            <p:nvPr/>
          </p:nvGrpSpPr>
          <p:grpSpPr bwMode="auto">
            <a:xfrm>
              <a:off x="4187" y="2112"/>
              <a:ext cx="253" cy="388"/>
              <a:chOff x="736" y="2871"/>
              <a:chExt cx="253" cy="388"/>
            </a:xfrm>
          </p:grpSpPr>
          <p:sp>
            <p:nvSpPr>
              <p:cNvPr id="62554" name="Rectangle 264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5" name="Rectangle 265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6" name="Line 266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57" name="Text Box 267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58" name="Text Box 268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6</a:t>
                </a:r>
              </a:p>
            </p:txBody>
          </p:sp>
        </p:grpSp>
        <p:grpSp>
          <p:nvGrpSpPr>
            <p:cNvPr id="62548" name="Group 269"/>
            <p:cNvGrpSpPr>
              <a:grpSpLocks/>
            </p:cNvGrpSpPr>
            <p:nvPr/>
          </p:nvGrpSpPr>
          <p:grpSpPr bwMode="auto">
            <a:xfrm>
              <a:off x="4939" y="2112"/>
              <a:ext cx="253" cy="388"/>
              <a:chOff x="736" y="2871"/>
              <a:chExt cx="253" cy="388"/>
            </a:xfrm>
          </p:grpSpPr>
          <p:sp>
            <p:nvSpPr>
              <p:cNvPr id="62549" name="Rectangle 270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0" name="Rectangle 271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1" name="Line 272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52" name="Text Box 273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53" name="Text Box 274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31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3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731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731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6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731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7" dur="500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731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8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9" dur="500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731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53" grpId="0" animBg="1"/>
      <p:bldP spid="731154" grpId="0" animBg="1"/>
      <p:bldP spid="731155" grpId="0" animBg="1"/>
      <p:bldP spid="731156" grpId="0" animBg="1"/>
      <p:bldP spid="731157" grpId="0" animBg="1"/>
      <p:bldP spid="731158" grpId="0" animBg="1"/>
      <p:bldP spid="731159" grpId="0" animBg="1"/>
      <p:bldP spid="731193" grpId="0"/>
      <p:bldP spid="731213" grpId="0" animBg="1"/>
      <p:bldP spid="731214" grpId="0" animBg="1"/>
      <p:bldP spid="731215" grpId="0" animBg="1"/>
      <p:bldP spid="731216" grpId="0" animBg="1"/>
      <p:bldP spid="731217" grpId="0"/>
      <p:bldP spid="731217" grpId="1"/>
      <p:bldP spid="731218" grpId="0"/>
      <p:bldP spid="731218" grpId="1"/>
      <p:bldP spid="731219" grpId="0"/>
      <p:bldP spid="731219" grpId="1"/>
      <p:bldP spid="731238" grpId="0" animBg="1"/>
      <p:bldP spid="731239" grpId="0" animBg="1"/>
      <p:bldP spid="731240" grpId="0" animBg="1"/>
      <p:bldP spid="731241" grpId="0" animBg="1"/>
      <p:bldP spid="731242" grpId="0"/>
      <p:bldP spid="731242" grpId="1"/>
      <p:bldP spid="731243" grpId="0"/>
      <p:bldP spid="731243" grpId="1"/>
      <p:bldP spid="731244" grpId="0"/>
      <p:bldP spid="731244" grpId="1"/>
      <p:bldP spid="731263" grpId="0" animBg="1"/>
      <p:bldP spid="731264" grpId="0" animBg="1"/>
      <p:bldP spid="731265" grpId="0" animBg="1"/>
      <p:bldP spid="731266" grpId="0" animBg="1"/>
      <p:bldP spid="731267" grpId="0"/>
      <p:bldP spid="731267" grpId="1"/>
      <p:bldP spid="731268" grpId="0"/>
      <p:bldP spid="731268" grpId="1"/>
      <p:bldP spid="731269" grpId="0"/>
      <p:bldP spid="731269" grpId="1"/>
      <p:bldP spid="731291" grpId="0" animBg="1"/>
      <p:bldP spid="731292" grpId="0" animBg="1"/>
      <p:bldP spid="731293" grpId="0" animBg="1"/>
      <p:bldP spid="731293" grpId="1" animBg="1"/>
      <p:bldP spid="731294" grpId="0" animBg="1"/>
      <p:bldP spid="731295" grpId="0" animBg="1"/>
      <p:bldP spid="731295" grpId="1" animBg="1"/>
      <p:bldP spid="731296" grpId="0" animBg="1"/>
      <p:bldP spid="731296" grpId="1" animBg="1"/>
      <p:bldP spid="731315" grpId="0" animBg="1"/>
      <p:bldP spid="731316" grpId="0" animBg="1"/>
      <p:bldP spid="731317" grpId="0" animBg="1"/>
      <p:bldP spid="731318" grpId="0" animBg="1"/>
      <p:bldP spid="731319" grpId="0"/>
      <p:bldP spid="731319" grpId="1"/>
      <p:bldP spid="731320" grpId="0"/>
      <p:bldP spid="731320" grpId="1"/>
      <p:bldP spid="731321" grpId="0"/>
      <p:bldP spid="731321" grpId="1"/>
      <p:bldP spid="731343" grpId="0" animBg="1"/>
      <p:bldP spid="731344" grpId="0" animBg="1"/>
      <p:bldP spid="731345" grpId="0" animBg="1"/>
      <p:bldP spid="731345" grpId="1" animBg="1"/>
      <p:bldP spid="731346" grpId="0" animBg="1"/>
      <p:bldP spid="731347" grpId="0" animBg="1"/>
      <p:bldP spid="731347" grpId="1" animBg="1"/>
      <p:bldP spid="731348" grpId="0" animBg="1"/>
      <p:bldP spid="731348" grpId="1" animBg="1"/>
      <p:bldP spid="731367" grpId="0" animBg="1"/>
      <p:bldP spid="731368" grpId="0" animBg="1"/>
      <p:bldP spid="731369" grpId="0" animBg="1"/>
      <p:bldP spid="731370" grpId="0" animBg="1"/>
      <p:bldP spid="731371" grpId="0"/>
      <p:bldP spid="731371" grpId="1"/>
      <p:bldP spid="731372" grpId="0"/>
      <p:bldP spid="731372" grpId="1"/>
      <p:bldP spid="731373" grpId="0"/>
      <p:bldP spid="73137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892168"/>
          </a:xfrm>
        </p:spPr>
        <p:txBody>
          <a:bodyPr>
            <a:normAutofit/>
          </a:bodyPr>
          <a:lstStyle/>
          <a:p>
            <a:r>
              <a:rPr lang="en-US" sz="6800" b="1" err="1"/>
              <a:t>Utilizarea</a:t>
            </a:r>
            <a:r>
              <a:rPr lang="en-US" sz="6800" b="1"/>
              <a:t> </a:t>
            </a:r>
            <a:r>
              <a:rPr lang="en-US" sz="6800" b="1" err="1"/>
              <a:t>claselor</a:t>
            </a:r>
            <a:r>
              <a:rPr lang="en-US" sz="6800" b="1"/>
              <a:t> din </a:t>
            </a:r>
            <a:r>
              <a:rPr lang="en-US" sz="6800" b="1" err="1"/>
              <a:t>pachetul</a:t>
            </a:r>
            <a:r>
              <a:rPr lang="en-US" sz="6800" b="1"/>
              <a:t> </a:t>
            </a:r>
            <a:r>
              <a:rPr lang="en-US" sz="6800" b="1" err="1"/>
              <a:t>java.lang</a:t>
            </a:r>
            <a:r>
              <a:rPr lang="en-US" sz="6800" b="1"/>
              <a:t> </a:t>
            </a:r>
            <a:br>
              <a:rPr lang="ro-RO" sz="6800" b="1"/>
            </a:br>
            <a:endParaRPr lang="ro-RO" sz="6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5225240"/>
            <a:ext cx="7543800" cy="1143000"/>
          </a:xfrm>
        </p:spPr>
        <p:txBody>
          <a:bodyPr>
            <a:normAutofit/>
          </a:bodyPr>
          <a:lstStyle/>
          <a:p>
            <a:endParaRPr lang="ro-RO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59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5778E-44D0-5DF6-50D7-59317E11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ro-RO" sz="3100">
                <a:solidFill>
                  <a:srgbClr val="FFFFFF"/>
                </a:solidFill>
              </a:rPr>
              <a:t>Pachetul java.lang</a:t>
            </a:r>
            <a:endParaRPr lang="en-GB" sz="31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5A09-7A57-9CBD-B9A6-CCCC2F6D8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lang="en-GB" dirty="0" err="1"/>
              <a:t>Pachetul</a:t>
            </a:r>
            <a:r>
              <a:rPr lang="en-GB" dirty="0"/>
              <a:t> </a:t>
            </a:r>
            <a:r>
              <a:rPr lang="en-GB" dirty="0" err="1"/>
              <a:t>java.lang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importat</a:t>
            </a:r>
            <a:r>
              <a:rPr lang="en-GB" dirty="0"/>
              <a:t> </a:t>
            </a:r>
            <a:r>
              <a:rPr lang="en-GB" b="1" dirty="0"/>
              <a:t>automat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program Java.</a:t>
            </a:r>
            <a:endParaRPr lang="ro-RO" dirty="0"/>
          </a:p>
          <a:p>
            <a:br>
              <a:rPr lang="en-GB" dirty="0"/>
            </a:br>
            <a:r>
              <a:rPr lang="en-GB" dirty="0" err="1"/>
              <a:t>Conține</a:t>
            </a:r>
            <a:r>
              <a:rPr lang="en-GB" dirty="0"/>
              <a:t> </a:t>
            </a:r>
            <a:r>
              <a:rPr lang="en-GB" dirty="0" err="1"/>
              <a:t>clase</a:t>
            </a:r>
            <a:r>
              <a:rPr lang="en-GB" dirty="0"/>
              <a:t> de </a:t>
            </a:r>
            <a:r>
              <a:rPr lang="en-GB" dirty="0" err="1"/>
              <a:t>bază</a:t>
            </a:r>
            <a:r>
              <a:rPr lang="en-GB" dirty="0"/>
              <a:t> </a:t>
            </a:r>
            <a:r>
              <a:rPr lang="en-GB" dirty="0" err="1"/>
              <a:t>esențiale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limbaj</a:t>
            </a:r>
            <a:r>
              <a:rPr lang="en-GB" dirty="0"/>
              <a:t>.</a:t>
            </a:r>
            <a:endParaRPr lang="ro-RO" dirty="0"/>
          </a:p>
          <a:p>
            <a:r>
              <a:rPr lang="en-GB" dirty="0"/>
              <a:t>🔹 </a:t>
            </a:r>
            <a:r>
              <a:rPr lang="en-GB" b="1" dirty="0"/>
              <a:t>Clase </a:t>
            </a:r>
            <a:r>
              <a:rPr lang="en-GB" b="1" dirty="0" err="1"/>
              <a:t>importante</a:t>
            </a:r>
            <a:r>
              <a:rPr lang="en-GB" b="1" dirty="0"/>
              <a:t>:</a:t>
            </a:r>
            <a:endParaRPr lang="en-GB" dirty="0"/>
          </a:p>
          <a:p>
            <a:r>
              <a:rPr lang="en-GB" dirty="0"/>
              <a:t>Object – </a:t>
            </a:r>
            <a:r>
              <a:rPr lang="en-GB" dirty="0" err="1"/>
              <a:t>rădăcina</a:t>
            </a:r>
            <a:r>
              <a:rPr lang="en-GB" dirty="0"/>
              <a:t> </a:t>
            </a:r>
            <a:r>
              <a:rPr lang="en-GB" dirty="0" err="1"/>
              <a:t>ierarhiei</a:t>
            </a:r>
            <a:r>
              <a:rPr lang="en-GB" dirty="0"/>
              <a:t> </a:t>
            </a:r>
            <a:r>
              <a:rPr lang="en-GB" dirty="0" err="1"/>
              <a:t>tuturor</a:t>
            </a:r>
            <a:r>
              <a:rPr lang="en-GB" dirty="0"/>
              <a:t> </a:t>
            </a:r>
            <a:r>
              <a:rPr lang="en-GB" dirty="0" err="1"/>
              <a:t>claselor</a:t>
            </a:r>
            <a:r>
              <a:rPr lang="en-GB" dirty="0"/>
              <a:t> Java</a:t>
            </a:r>
          </a:p>
          <a:p>
            <a:r>
              <a:rPr lang="en-GB" dirty="0"/>
              <a:t>String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StringBuffer</a:t>
            </a:r>
            <a:r>
              <a:rPr lang="en-GB" dirty="0"/>
              <a:t> – </a:t>
            </a:r>
            <a:r>
              <a:rPr lang="en-GB" dirty="0" err="1"/>
              <a:t>lucrul</a:t>
            </a:r>
            <a:r>
              <a:rPr lang="en-GB" dirty="0"/>
              <a:t> cu </a:t>
            </a:r>
            <a:r>
              <a:rPr lang="en-GB" dirty="0" err="1"/>
              <a:t>șiruri</a:t>
            </a:r>
            <a:r>
              <a:rPr lang="en-GB" dirty="0"/>
              <a:t> de </a:t>
            </a:r>
            <a:r>
              <a:rPr lang="en-GB" dirty="0" err="1"/>
              <a:t>caractere</a:t>
            </a:r>
            <a:endParaRPr lang="en-GB" dirty="0"/>
          </a:p>
          <a:p>
            <a:r>
              <a:rPr lang="en-GB" dirty="0"/>
              <a:t>Math – </a:t>
            </a:r>
            <a:r>
              <a:rPr lang="en-GB" dirty="0" err="1"/>
              <a:t>funcții</a:t>
            </a:r>
            <a:r>
              <a:rPr lang="en-GB" dirty="0"/>
              <a:t> </a:t>
            </a:r>
            <a:r>
              <a:rPr lang="en-GB" dirty="0" err="1"/>
              <a:t>matematice</a:t>
            </a:r>
            <a:endParaRPr lang="en-GB" dirty="0"/>
          </a:p>
          <a:p>
            <a:r>
              <a:rPr lang="en-GB" dirty="0"/>
              <a:t>Class – </a:t>
            </a:r>
            <a:r>
              <a:rPr lang="en-GB" dirty="0" err="1"/>
              <a:t>informații</a:t>
            </a:r>
            <a:r>
              <a:rPr lang="en-GB" dirty="0"/>
              <a:t> </a:t>
            </a:r>
            <a:r>
              <a:rPr lang="en-GB" dirty="0" err="1"/>
              <a:t>despre</a:t>
            </a:r>
            <a:r>
              <a:rPr lang="en-GB" dirty="0"/>
              <a:t> </a:t>
            </a:r>
            <a:r>
              <a:rPr lang="en-GB" dirty="0" err="1"/>
              <a:t>clase</a:t>
            </a:r>
            <a:r>
              <a:rPr lang="en-GB" dirty="0"/>
              <a:t> la </a:t>
            </a:r>
            <a:r>
              <a:rPr lang="en-GB" dirty="0" err="1"/>
              <a:t>execuție</a:t>
            </a:r>
            <a:r>
              <a:rPr lang="en-GB" dirty="0"/>
              <a:t> (reflection)</a:t>
            </a:r>
          </a:p>
          <a:p>
            <a:r>
              <a:rPr lang="en-GB" b="1" dirty="0" err="1"/>
              <a:t>Clasele</a:t>
            </a:r>
            <a:r>
              <a:rPr lang="en-GB" b="1" dirty="0"/>
              <a:t> </a:t>
            </a:r>
            <a:r>
              <a:rPr lang="en-GB" b="1" dirty="0" err="1"/>
              <a:t>acoperitoare</a:t>
            </a:r>
            <a:r>
              <a:rPr lang="en-GB" b="1" dirty="0"/>
              <a:t> (wrapper)</a:t>
            </a:r>
            <a:r>
              <a:rPr lang="en-GB" dirty="0"/>
              <a:t> – </a:t>
            </a:r>
            <a:r>
              <a:rPr lang="en-GB" dirty="0" err="1"/>
              <a:t>tipuri</a:t>
            </a:r>
            <a:r>
              <a:rPr lang="en-GB" dirty="0"/>
              <a:t> </a:t>
            </a:r>
            <a:r>
              <a:rPr lang="en-GB" dirty="0" err="1"/>
              <a:t>obiect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valorile</a:t>
            </a:r>
            <a:r>
              <a:rPr lang="en-GB" dirty="0"/>
              <a:t> primitive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722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DDCEF-5E47-5B6E-E862-D50FA0B4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86215-D6DD-7B56-986A-4D4C8A1E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ro-RO" sz="3100">
                <a:solidFill>
                  <a:srgbClr val="FFFFFF"/>
                </a:solidFill>
              </a:rPr>
              <a:t>Pachetul java.lang</a:t>
            </a:r>
            <a:endParaRPr lang="en-GB" sz="31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14BA-E7D6-65D5-7F59-01EA90876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lang="en-GB" dirty="0">
                <a:highlight>
                  <a:srgbClr val="FFFFFF"/>
                </a:highlight>
              </a:rPr>
              <a:t>🟢 </a:t>
            </a:r>
            <a:r>
              <a:rPr lang="en-GB" i="1" dirty="0" err="1">
                <a:highlight>
                  <a:srgbClr val="FFFFFF"/>
                </a:highlight>
              </a:rPr>
              <a:t>Importarea</a:t>
            </a:r>
            <a:r>
              <a:rPr lang="en-GB" i="1" dirty="0">
                <a:highlight>
                  <a:srgbClr val="FFFFFF"/>
                </a:highlight>
              </a:rPr>
              <a:t> nu </a:t>
            </a:r>
            <a:r>
              <a:rPr lang="en-GB" i="1" dirty="0" err="1">
                <a:highlight>
                  <a:srgbClr val="FFFFFF"/>
                </a:highlight>
              </a:rPr>
              <a:t>este</a:t>
            </a:r>
            <a:r>
              <a:rPr lang="en-GB" i="1" dirty="0">
                <a:highlight>
                  <a:srgbClr val="FFFFFF"/>
                </a:highlight>
              </a:rPr>
              <a:t> </a:t>
            </a:r>
            <a:r>
              <a:rPr lang="en-GB" i="1" dirty="0" err="1">
                <a:highlight>
                  <a:srgbClr val="FFFFFF"/>
                </a:highlight>
              </a:rPr>
              <a:t>necesară</a:t>
            </a:r>
            <a:r>
              <a:rPr lang="en-GB" i="1" dirty="0">
                <a:highlight>
                  <a:srgbClr val="FFFFFF"/>
                </a:highlight>
              </a:rPr>
              <a:t>:</a:t>
            </a:r>
            <a:endParaRPr lang="en-GB" dirty="0">
              <a:highlight>
                <a:srgbClr val="FFFFFF"/>
              </a:highlight>
            </a:endParaRPr>
          </a:p>
          <a:p>
            <a:endParaRPr lang="ro-RO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r>
              <a:rPr lang="fr-FR" dirty="0">
                <a:solidFill>
                  <a:srgbClr val="008000"/>
                </a:solidFill>
                <a:highlight>
                  <a:srgbClr val="FFFFFF"/>
                </a:highlight>
              </a:rPr>
              <a:t>// Nu este nevoie de import java.lang.*;</a:t>
            </a:r>
          </a:p>
          <a:p>
            <a:r>
              <a:rPr lang="en-GB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</a:rPr>
              <a:t>Exemplu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</a:rPr>
              <a:t>args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i-FI" dirty="0">
                <a:solidFill>
                  <a:srgbClr val="000000"/>
                </a:solidFill>
                <a:highlight>
                  <a:srgbClr val="FFFFFF"/>
                </a:highlight>
              </a:rPr>
              <a:t>        System</a:t>
            </a:r>
            <a:r>
              <a:rPr lang="fi-FI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fi-FI" dirty="0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fi-FI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fi-FI" dirty="0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fi-FI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i-FI" dirty="0">
                <a:solidFill>
                  <a:srgbClr val="808080"/>
                </a:solidFill>
                <a:highlight>
                  <a:srgbClr val="FFFFFF"/>
                </a:highlight>
              </a:rPr>
              <a:t>"Salut, Java!"</a:t>
            </a:r>
            <a:r>
              <a:rPr lang="fi-FI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fi-FI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0603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</a:rPr>
              <a:t>Clasa Object</a:t>
            </a:r>
            <a:endParaRPr lang="ro-RO" sz="31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lang="en-US" dirty="0"/>
              <a:t>Clasa Object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rădăcina</a:t>
            </a:r>
            <a:r>
              <a:rPr lang="en-US" dirty="0"/>
              <a:t> </a:t>
            </a:r>
            <a:r>
              <a:rPr lang="en-US" dirty="0" err="1"/>
              <a:t>ierarhiei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a </a:t>
            </a:r>
            <a:r>
              <a:rPr lang="en-US" dirty="0" err="1"/>
              <a:t>platformei</a:t>
            </a:r>
            <a:r>
              <a:rPr lang="en-US" dirty="0"/>
              <a:t> Java</a:t>
            </a:r>
          </a:p>
          <a:p>
            <a:r>
              <a:rPr lang="en-US" dirty="0"/>
              <a:t>Orice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derivată</a:t>
            </a:r>
            <a:r>
              <a:rPr lang="en-US" dirty="0"/>
              <a:t> direct </a:t>
            </a:r>
            <a:r>
              <a:rPr lang="en-US" dirty="0" err="1"/>
              <a:t>sau</a:t>
            </a:r>
            <a:r>
              <a:rPr lang="en-US" dirty="0"/>
              <a:t> indirect din </a:t>
            </a:r>
            <a:r>
              <a:rPr lang="en-US" dirty="0" err="1"/>
              <a:t>clasa</a:t>
            </a:r>
            <a:r>
              <a:rPr lang="en-US" dirty="0"/>
              <a:t> Object. </a:t>
            </a:r>
            <a:endParaRPr lang="ro-RO" dirty="0"/>
          </a:p>
          <a:p>
            <a:r>
              <a:rPr lang="en-US" dirty="0"/>
              <a:t>Clasa are un </a:t>
            </a:r>
            <a:r>
              <a:rPr lang="en-US" dirty="0" err="1"/>
              <a:t>singur</a:t>
            </a:r>
            <a:r>
              <a:rPr lang="en-US" dirty="0"/>
              <a:t> constructor, Object()</a:t>
            </a:r>
          </a:p>
          <a:p>
            <a:r>
              <a:rPr lang="en-US" b="1" dirty="0" err="1"/>
              <a:t>Metodele</a:t>
            </a:r>
            <a:r>
              <a:rPr lang="en-US" b="1" dirty="0"/>
              <a:t> </a:t>
            </a:r>
            <a:r>
              <a:rPr lang="en-US" b="1" dirty="0" err="1"/>
              <a:t>clasei</a:t>
            </a:r>
            <a:r>
              <a:rPr lang="en-US" b="1" dirty="0"/>
              <a:t> Object </a:t>
            </a:r>
            <a:endParaRPr lang="ro-RO" b="1" dirty="0"/>
          </a:p>
          <a:p>
            <a:pPr lvl="1"/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equals(Object obj) </a:t>
            </a:r>
            <a:r>
              <a:rPr lang="ro-RO" dirty="0"/>
              <a:t> -  </a:t>
            </a:r>
            <a:r>
              <a:rPr lang="en-GB" dirty="0" err="1"/>
              <a:t>compară</a:t>
            </a:r>
            <a:r>
              <a:rPr lang="en-GB" dirty="0"/>
              <a:t> </a:t>
            </a:r>
            <a:r>
              <a:rPr lang="en-GB" dirty="0" err="1"/>
              <a:t>conținutul</a:t>
            </a:r>
            <a:r>
              <a:rPr lang="en-GB" dirty="0"/>
              <a:t> a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obiecte</a:t>
            </a:r>
            <a:endParaRPr lang="en-US" dirty="0"/>
          </a:p>
          <a:p>
            <a:pPr lvl="1"/>
            <a:r>
              <a:rPr lang="en-US" b="1" dirty="0"/>
              <a:t>public String </a:t>
            </a:r>
            <a:r>
              <a:rPr lang="en-US" b="1" dirty="0" err="1"/>
              <a:t>toString</a:t>
            </a:r>
            <a:r>
              <a:rPr lang="en-US" b="1" dirty="0"/>
              <a:t>() </a:t>
            </a:r>
            <a:r>
              <a:rPr lang="ro-RO" b="1" dirty="0"/>
              <a:t> - </a:t>
            </a:r>
            <a:r>
              <a:rPr lang="en-GB" dirty="0" err="1"/>
              <a:t>returnează</a:t>
            </a:r>
            <a:r>
              <a:rPr lang="en-GB" dirty="0"/>
              <a:t> o </a:t>
            </a:r>
            <a:r>
              <a:rPr lang="en-GB" dirty="0" err="1"/>
              <a:t>reprezentare</a:t>
            </a:r>
            <a:r>
              <a:rPr lang="en-GB" dirty="0"/>
              <a:t> </a:t>
            </a:r>
            <a:r>
              <a:rPr lang="en-GB" dirty="0" err="1"/>
              <a:t>textuală</a:t>
            </a:r>
            <a:endParaRPr lang="en-US" b="1" dirty="0"/>
          </a:p>
          <a:p>
            <a:pPr lvl="1"/>
            <a:r>
              <a:rPr lang="en-US" b="1" dirty="0"/>
              <a:t>protected Object clone()</a:t>
            </a:r>
            <a:r>
              <a:rPr lang="ro-RO" b="1" dirty="0"/>
              <a:t> - </a:t>
            </a:r>
            <a:r>
              <a:rPr lang="en-GB" dirty="0" err="1"/>
              <a:t>creează</a:t>
            </a:r>
            <a:r>
              <a:rPr lang="en-GB" dirty="0"/>
              <a:t> o </a:t>
            </a:r>
            <a:r>
              <a:rPr lang="en-GB" dirty="0" err="1"/>
              <a:t>copie</a:t>
            </a:r>
            <a:r>
              <a:rPr lang="en-GB" dirty="0"/>
              <a:t> </a:t>
            </a:r>
            <a:r>
              <a:rPr lang="en-GB" dirty="0" err="1"/>
              <a:t>superficială</a:t>
            </a:r>
            <a:r>
              <a:rPr lang="en-GB" dirty="0"/>
              <a:t> a </a:t>
            </a:r>
            <a:r>
              <a:rPr lang="en-GB" dirty="0" err="1"/>
              <a:t>obiectului</a:t>
            </a:r>
            <a:endParaRPr lang="en-US" b="1" dirty="0"/>
          </a:p>
          <a:p>
            <a:pPr lvl="1"/>
            <a:r>
              <a:rPr lang="en-US" dirty="0"/>
              <a:t>b=</a:t>
            </a:r>
            <a:r>
              <a:rPr lang="en-US" dirty="0" err="1"/>
              <a:t>a.clone</a:t>
            </a:r>
            <a:r>
              <a:rPr lang="en-US" dirty="0"/>
              <a:t>(); </a:t>
            </a:r>
            <a:endParaRPr lang="ro-RO" dirty="0"/>
          </a:p>
          <a:p>
            <a:pPr lvl="1"/>
            <a:r>
              <a:rPr lang="en-GB" b="1" dirty="0"/>
              <a:t>public int </a:t>
            </a:r>
            <a:r>
              <a:rPr lang="en-GB" b="1" dirty="0" err="1"/>
              <a:t>hashCode</a:t>
            </a:r>
            <a:r>
              <a:rPr lang="en-GB" b="1" dirty="0"/>
              <a:t>()</a:t>
            </a:r>
            <a:r>
              <a:rPr lang="ro-RO" b="1" dirty="0"/>
              <a:t> - </a:t>
            </a:r>
            <a:r>
              <a:rPr lang="en-GB" dirty="0" err="1"/>
              <a:t>returnează</a:t>
            </a:r>
            <a:r>
              <a:rPr lang="en-GB" dirty="0"/>
              <a:t> un cod hash (</a:t>
            </a:r>
            <a:r>
              <a:rPr lang="en-GB" dirty="0" err="1"/>
              <a:t>folosit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colecții</a:t>
            </a:r>
            <a:r>
              <a:rPr lang="en-GB" dirty="0"/>
              <a:t>)</a:t>
            </a:r>
            <a:endParaRPr lang="en-GB" b="1" dirty="0"/>
          </a:p>
          <a:p>
            <a:endParaRPr lang="ro-RO" b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1002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9A9AC-8D3D-5135-D78A-DC9BACAA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36AE7-A231-1717-034D-6FD8EDAA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</a:rPr>
              <a:t>Clasa Object</a:t>
            </a:r>
            <a:endParaRPr lang="ro-RO" sz="31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4410A-D1F3-F137-5AF5-FCFD9DA14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548680"/>
            <a:ext cx="5407976" cy="599145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String 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v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this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this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v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Reprezentare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textuală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 a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obiectului</a:t>
            </a:r>
            <a:endParaRPr lang="en-GB" sz="16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toString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1600" dirty="0" err="1">
                <a:solidFill>
                  <a:srgbClr val="808080"/>
                </a:solidFill>
                <a:highlight>
                  <a:srgbClr val="FFFFFF"/>
                </a:highlight>
              </a:rPr>
              <a:t>Persoana</a:t>
            </a:r>
            <a:r>
              <a:rPr lang="en-GB" sz="1600" dirty="0">
                <a:solidFill>
                  <a:srgbClr val="808080"/>
                </a:solidFill>
                <a:highlight>
                  <a:srgbClr val="FFFFFF"/>
                </a:highlight>
              </a:rPr>
              <a:t>: 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8080"/>
                </a:solidFill>
                <a:highlight>
                  <a:srgbClr val="FFFFFF"/>
                </a:highlight>
              </a:rPr>
              <a:t>" ("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8080"/>
                </a:solidFill>
                <a:highlight>
                  <a:srgbClr val="FFFFFF"/>
                </a:highlight>
              </a:rPr>
              <a:t>" ani)"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Comparare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logică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 pe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baza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8000"/>
                </a:solidFill>
                <a:highlight>
                  <a:srgbClr val="FFFFFF"/>
                </a:highlight>
              </a:rPr>
              <a:t>atributelor</a:t>
            </a:r>
            <a:endParaRPr lang="en-GB" sz="160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8000FF"/>
                </a:solidFill>
                <a:highlight>
                  <a:srgbClr val="FFFFFF"/>
                </a:highlight>
              </a:rPr>
              <a:t>boolean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equals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Object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obj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obj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instanceof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p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obj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==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&amp;&amp;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equals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o-RO" sz="16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o-RO" sz="800" dirty="0"/>
          </a:p>
        </p:txBody>
      </p:sp>
    </p:spTree>
    <p:extLst>
      <p:ext uri="{BB962C8B-B14F-4D97-AF65-F5344CB8AC3E}">
        <p14:creationId xmlns:p14="http://schemas.microsoft.com/office/powerpoint/2010/main" val="1100158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 dirty="0" err="1">
                <a:solidFill>
                  <a:srgbClr val="FFFFFF"/>
                </a:solidFill>
              </a:rPr>
              <a:t>Clasele</a:t>
            </a:r>
            <a:r>
              <a:rPr lang="en-US" sz="3100" b="1" dirty="0">
                <a:solidFill>
                  <a:srgbClr val="FFFFFF"/>
                </a:solidFill>
              </a:rPr>
              <a:t> String </a:t>
            </a:r>
            <a:r>
              <a:rPr lang="en-US" sz="3100" b="1" dirty="0" err="1">
                <a:solidFill>
                  <a:srgbClr val="FFFFFF"/>
                </a:solidFill>
              </a:rPr>
              <a:t>şi</a:t>
            </a:r>
            <a:r>
              <a:rPr lang="en-US" sz="3100" b="1" dirty="0">
                <a:solidFill>
                  <a:srgbClr val="FFFFFF"/>
                </a:solidFill>
              </a:rPr>
              <a:t> </a:t>
            </a:r>
            <a:r>
              <a:rPr lang="en-US" sz="3100" b="1" dirty="0" err="1">
                <a:solidFill>
                  <a:srgbClr val="FFFFFF"/>
                </a:solidFill>
              </a:rPr>
              <a:t>StringBuffer</a:t>
            </a:r>
            <a:r>
              <a:rPr lang="en-US" sz="3100" b="1" dirty="0">
                <a:solidFill>
                  <a:srgbClr val="FFFFFF"/>
                </a:solidFill>
              </a:rPr>
              <a:t> </a:t>
            </a:r>
            <a:endParaRPr lang="ro-RO" sz="31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lang="en-GB" dirty="0"/>
              <a:t>Clasa </a:t>
            </a:r>
            <a:r>
              <a:rPr lang="en-GB" b="1" dirty="0"/>
              <a:t>String</a:t>
            </a:r>
            <a:r>
              <a:rPr lang="en-GB" dirty="0"/>
              <a:t> face </a:t>
            </a:r>
            <a:r>
              <a:rPr lang="en-GB" dirty="0" err="1"/>
              <a:t>parte</a:t>
            </a:r>
            <a:r>
              <a:rPr lang="en-GB" dirty="0"/>
              <a:t> din </a:t>
            </a:r>
            <a:r>
              <a:rPr lang="en-GB" dirty="0" err="1"/>
              <a:t>pachetul</a:t>
            </a:r>
            <a:r>
              <a:rPr lang="en-GB" dirty="0"/>
              <a:t> </a:t>
            </a:r>
            <a:r>
              <a:rPr lang="en-GB" dirty="0" err="1"/>
              <a:t>java.lang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folosită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manipularea</a:t>
            </a:r>
            <a:r>
              <a:rPr lang="en-GB" dirty="0"/>
              <a:t> </a:t>
            </a:r>
            <a:r>
              <a:rPr lang="en-GB" dirty="0" err="1"/>
              <a:t>șirurilor</a:t>
            </a:r>
            <a:r>
              <a:rPr lang="en-GB" dirty="0"/>
              <a:t> de </a:t>
            </a:r>
            <a:r>
              <a:rPr lang="en-GB" dirty="0" err="1"/>
              <a:t>caractere</a:t>
            </a:r>
            <a:r>
              <a:rPr lang="en-GB" dirty="0"/>
              <a:t>.</a:t>
            </a:r>
          </a:p>
          <a:p>
            <a:r>
              <a:rPr lang="en-GB" dirty="0" err="1"/>
              <a:t>Obiectele</a:t>
            </a:r>
            <a:r>
              <a:rPr lang="en-GB" dirty="0"/>
              <a:t> de tip String sunt </a:t>
            </a:r>
            <a:r>
              <a:rPr lang="en-GB" b="1" dirty="0" err="1"/>
              <a:t>imutabile</a:t>
            </a:r>
            <a:r>
              <a:rPr lang="en-GB" dirty="0"/>
              <a:t> – o </a:t>
            </a:r>
            <a:r>
              <a:rPr lang="en-GB" dirty="0" err="1"/>
              <a:t>dată</a:t>
            </a:r>
            <a:r>
              <a:rPr lang="en-GB" dirty="0"/>
              <a:t> </a:t>
            </a:r>
            <a:r>
              <a:rPr lang="en-GB" dirty="0" err="1"/>
              <a:t>creat</a:t>
            </a:r>
            <a:r>
              <a:rPr lang="en-GB" dirty="0"/>
              <a:t>, </a:t>
            </a:r>
            <a:r>
              <a:rPr lang="en-GB" dirty="0" err="1"/>
              <a:t>conținutul</a:t>
            </a:r>
            <a:r>
              <a:rPr lang="en-GB" dirty="0"/>
              <a:t> </a:t>
            </a:r>
            <a:r>
              <a:rPr lang="en-GB" dirty="0" err="1"/>
              <a:t>unui</a:t>
            </a:r>
            <a:r>
              <a:rPr lang="en-GB" dirty="0"/>
              <a:t> </a:t>
            </a:r>
            <a:r>
              <a:rPr lang="en-GB" dirty="0" err="1"/>
              <a:t>șir</a:t>
            </a:r>
            <a:r>
              <a:rPr lang="en-GB" dirty="0"/>
              <a:t> nu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modificat</a:t>
            </a:r>
            <a:r>
              <a:rPr lang="en-GB" dirty="0"/>
              <a:t>.</a:t>
            </a:r>
          </a:p>
          <a:p>
            <a:r>
              <a:rPr lang="en-GB" dirty="0"/>
              <a:t>Orice </a:t>
            </a:r>
            <a:r>
              <a:rPr lang="en-GB" dirty="0" err="1"/>
              <a:t>operație</a:t>
            </a:r>
            <a:r>
              <a:rPr lang="en-GB" dirty="0"/>
              <a:t> de </a:t>
            </a:r>
            <a:r>
              <a:rPr lang="en-GB" dirty="0" err="1"/>
              <a:t>concatenare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modificare</a:t>
            </a:r>
            <a:r>
              <a:rPr lang="en-GB" dirty="0"/>
              <a:t> </a:t>
            </a:r>
            <a:r>
              <a:rPr lang="en-GB" dirty="0" err="1"/>
              <a:t>creează</a:t>
            </a:r>
            <a:r>
              <a:rPr lang="en-GB" dirty="0"/>
              <a:t> </a:t>
            </a:r>
            <a:r>
              <a:rPr lang="en-GB" b="1" dirty="0"/>
              <a:t>un nou </a:t>
            </a:r>
            <a:r>
              <a:rPr lang="en-GB" b="1" dirty="0" err="1"/>
              <a:t>obiect</a:t>
            </a:r>
            <a:r>
              <a:rPr lang="en-GB" dirty="0"/>
              <a:t>.</a:t>
            </a:r>
          </a:p>
          <a:p>
            <a:r>
              <a:rPr lang="en-GB" dirty="0"/>
              <a:t>Este </a:t>
            </a:r>
            <a:r>
              <a:rPr lang="en-GB" dirty="0" err="1"/>
              <a:t>potrivită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situații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care </a:t>
            </a:r>
            <a:r>
              <a:rPr lang="en-GB" dirty="0" err="1"/>
              <a:t>conținutul</a:t>
            </a:r>
            <a:r>
              <a:rPr lang="en-GB" dirty="0"/>
              <a:t> </a:t>
            </a:r>
            <a:r>
              <a:rPr lang="en-GB" dirty="0" err="1"/>
              <a:t>textului</a:t>
            </a:r>
            <a:r>
              <a:rPr lang="en-GB" dirty="0"/>
              <a:t> nu se </a:t>
            </a:r>
            <a:r>
              <a:rPr lang="en-GB" dirty="0" err="1"/>
              <a:t>schimbă</a:t>
            </a:r>
            <a:r>
              <a:rPr lang="en-GB" dirty="0"/>
              <a:t> </a:t>
            </a:r>
            <a:r>
              <a:rPr lang="en-GB" dirty="0" err="1"/>
              <a:t>frecvent</a:t>
            </a:r>
            <a:r>
              <a:rPr lang="en-GB" dirty="0"/>
              <a:t>.</a:t>
            </a:r>
          </a:p>
          <a:p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String s1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"Java"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s2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s1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 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este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puternic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s2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Java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este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puternic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97420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4EDE6-C6DC-6140-8CE1-E5304F4A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8D4126-DB9A-8C97-9650-9718A21E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A0E7A-E890-4686-EB28-7EB523E85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CD130-85FD-FC9D-9037-FF48B547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 dirty="0" err="1">
                <a:solidFill>
                  <a:srgbClr val="FFFFFF"/>
                </a:solidFill>
              </a:rPr>
              <a:t>Clasele</a:t>
            </a:r>
            <a:r>
              <a:rPr lang="en-US" sz="3100" b="1" dirty="0">
                <a:solidFill>
                  <a:srgbClr val="FFFFFF"/>
                </a:solidFill>
              </a:rPr>
              <a:t> String </a:t>
            </a:r>
            <a:r>
              <a:rPr lang="en-US" sz="3100" b="1" dirty="0" err="1">
                <a:solidFill>
                  <a:srgbClr val="FFFFFF"/>
                </a:solidFill>
              </a:rPr>
              <a:t>şi</a:t>
            </a:r>
            <a:r>
              <a:rPr lang="en-US" sz="3100" b="1" dirty="0">
                <a:solidFill>
                  <a:srgbClr val="FFFFFF"/>
                </a:solidFill>
              </a:rPr>
              <a:t> </a:t>
            </a:r>
            <a:r>
              <a:rPr lang="en-US" sz="3100" b="1" dirty="0" err="1">
                <a:solidFill>
                  <a:srgbClr val="FFFFFF"/>
                </a:solidFill>
              </a:rPr>
              <a:t>StringBuffer</a:t>
            </a:r>
            <a:r>
              <a:rPr lang="en-US" sz="3100" b="1" dirty="0">
                <a:solidFill>
                  <a:srgbClr val="FFFFFF"/>
                </a:solidFill>
              </a:rPr>
              <a:t> </a:t>
            </a:r>
            <a:endParaRPr lang="ro-RO" sz="31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07343-033A-2D7D-4E94-E16F3790C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C65B-C0D7-5AFF-17B8-A299D3CC5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rPr lang="en-GB" dirty="0"/>
              <a:t>Clasa </a:t>
            </a:r>
            <a:r>
              <a:rPr lang="en-GB" b="1" dirty="0" err="1"/>
              <a:t>StringBuffer</a:t>
            </a:r>
            <a:r>
              <a:rPr lang="en-GB" dirty="0"/>
              <a:t>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lucrul</a:t>
            </a:r>
            <a:r>
              <a:rPr lang="en-GB" dirty="0"/>
              <a:t> cu </a:t>
            </a:r>
            <a:r>
              <a:rPr lang="en-GB" dirty="0" err="1"/>
              <a:t>șiruri</a:t>
            </a:r>
            <a:r>
              <a:rPr lang="en-GB" dirty="0"/>
              <a:t> </a:t>
            </a:r>
            <a:r>
              <a:rPr lang="en-GB" b="1" dirty="0" err="1"/>
              <a:t>modificabile</a:t>
            </a:r>
            <a:r>
              <a:rPr lang="en-GB" dirty="0"/>
              <a:t> (mutable).</a:t>
            </a:r>
          </a:p>
          <a:p>
            <a:r>
              <a:rPr lang="en-GB" dirty="0" err="1"/>
              <a:t>Oferă</a:t>
            </a:r>
            <a:r>
              <a:rPr lang="en-GB" dirty="0"/>
              <a:t> </a:t>
            </a:r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adăugare</a:t>
            </a:r>
            <a:r>
              <a:rPr lang="en-GB" dirty="0"/>
              <a:t>, </a:t>
            </a:r>
            <a:r>
              <a:rPr lang="en-GB" dirty="0" err="1"/>
              <a:t>ștergere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înlocuire</a:t>
            </a:r>
            <a:r>
              <a:rPr lang="en-GB" dirty="0"/>
              <a:t> de text.</a:t>
            </a:r>
          </a:p>
          <a:p>
            <a:r>
              <a:rPr lang="en-GB" dirty="0"/>
              <a:t>Este </a:t>
            </a:r>
            <a:r>
              <a:rPr lang="en-GB" b="1" dirty="0" err="1"/>
              <a:t>sincronizată</a:t>
            </a:r>
            <a:r>
              <a:rPr lang="en-GB" dirty="0"/>
              <a:t>, </a:t>
            </a:r>
            <a:r>
              <a:rPr lang="en-GB" dirty="0" err="1"/>
              <a:t>deci</a:t>
            </a:r>
            <a:r>
              <a:rPr lang="en-GB" dirty="0"/>
              <a:t> </a:t>
            </a:r>
            <a:r>
              <a:rPr lang="en-GB" dirty="0" err="1"/>
              <a:t>sigură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utilizare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aplicații</a:t>
            </a:r>
            <a:r>
              <a:rPr lang="en-GB" dirty="0"/>
              <a:t> cu fire de </a:t>
            </a:r>
            <a:r>
              <a:rPr lang="en-GB" dirty="0" err="1"/>
              <a:t>execuție</a:t>
            </a:r>
            <a:r>
              <a:rPr lang="en-GB" dirty="0"/>
              <a:t> multiple.</a:t>
            </a:r>
          </a:p>
          <a:p>
            <a:r>
              <a:rPr lang="en-GB" dirty="0" err="1"/>
              <a:t>Dacă</a:t>
            </a:r>
            <a:r>
              <a:rPr lang="en-GB" dirty="0"/>
              <a:t> nu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necesară</a:t>
            </a:r>
            <a:r>
              <a:rPr lang="en-GB" dirty="0"/>
              <a:t> </a:t>
            </a:r>
            <a:r>
              <a:rPr lang="en-GB" dirty="0" err="1"/>
              <a:t>sincronizarea</a:t>
            </a:r>
            <a:r>
              <a:rPr lang="en-GB" dirty="0"/>
              <a:t>, se </a:t>
            </a:r>
            <a:r>
              <a:rPr lang="en-GB" dirty="0" err="1"/>
              <a:t>recomandă</a:t>
            </a:r>
            <a:r>
              <a:rPr lang="en-GB" dirty="0"/>
              <a:t> </a:t>
            </a:r>
            <a:r>
              <a:rPr lang="en-GB" dirty="0" err="1"/>
              <a:t>clasa</a:t>
            </a:r>
            <a:r>
              <a:rPr lang="en-GB" dirty="0"/>
              <a:t> </a:t>
            </a:r>
            <a:r>
              <a:rPr lang="en-GB" b="1" dirty="0"/>
              <a:t>StringBuilder</a:t>
            </a:r>
            <a:r>
              <a:rPr lang="en-GB" dirty="0"/>
              <a:t>, care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rapidă</a:t>
            </a:r>
            <a:r>
              <a:rPr lang="en-GB" dirty="0"/>
              <a:t>.</a:t>
            </a:r>
          </a:p>
          <a:p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StringBuffer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sb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StringBuffer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"Java"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sb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append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 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este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puternic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sb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Java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este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puternic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56066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7F1DC-C260-568A-12D0-1F9A8423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8D69974-8A2C-C24E-9A3A-BE329E9CA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455A4-D419-F1A7-6024-F29713EC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4FE5C-4C23-4EA5-C9B7-8E206ADF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 dirty="0" err="1">
                <a:solidFill>
                  <a:srgbClr val="FFFFFF"/>
                </a:solidFill>
              </a:rPr>
              <a:t>Clasele</a:t>
            </a:r>
            <a:r>
              <a:rPr lang="en-US" sz="3100" b="1" dirty="0">
                <a:solidFill>
                  <a:srgbClr val="FFFFFF"/>
                </a:solidFill>
              </a:rPr>
              <a:t> String </a:t>
            </a:r>
            <a:r>
              <a:rPr lang="en-US" sz="3100" b="1" dirty="0" err="1">
                <a:solidFill>
                  <a:srgbClr val="FFFFFF"/>
                </a:solidFill>
              </a:rPr>
              <a:t>şi</a:t>
            </a:r>
            <a:r>
              <a:rPr lang="en-US" sz="3100" b="1" dirty="0">
                <a:solidFill>
                  <a:srgbClr val="FFFFFF"/>
                </a:solidFill>
              </a:rPr>
              <a:t> </a:t>
            </a:r>
            <a:r>
              <a:rPr lang="en-US" sz="3100" b="1" dirty="0" err="1">
                <a:solidFill>
                  <a:srgbClr val="FFFFFF"/>
                </a:solidFill>
              </a:rPr>
              <a:t>StringBuffer</a:t>
            </a:r>
            <a:r>
              <a:rPr lang="en-US" sz="3100" b="1" dirty="0">
                <a:solidFill>
                  <a:srgbClr val="FFFFFF"/>
                </a:solidFill>
              </a:rPr>
              <a:t> </a:t>
            </a:r>
            <a:endParaRPr lang="ro-RO" sz="31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8E294A-1FEC-5B5C-F8E5-F69CDBF5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8174E-4BFF-2318-A3C0-37EBC66F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şirurile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Java, </a:t>
            </a:r>
            <a:r>
              <a:rPr lang="en-US" dirty="0" err="1"/>
              <a:t>inclusiv</a:t>
            </a:r>
            <a:r>
              <a:rPr lang="en-US" dirty="0"/>
              <a:t> </a:t>
            </a:r>
            <a:r>
              <a:rPr lang="en-US" dirty="0" err="1"/>
              <a:t>literalii-şir</a:t>
            </a:r>
            <a:r>
              <a:rPr lang="en-US" dirty="0"/>
              <a:t>, de </a:t>
            </a:r>
            <a:r>
              <a:rPr lang="en-US" dirty="0" err="1"/>
              <a:t>exemplu</a:t>
            </a:r>
            <a:r>
              <a:rPr lang="en-US" dirty="0"/>
              <a:t> "ABCdef123“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din String</a:t>
            </a:r>
          </a:p>
          <a:p>
            <a:pPr lvl="1"/>
            <a:r>
              <a:rPr lang="en-US" dirty="0" err="1"/>
              <a:t>constructorul</a:t>
            </a:r>
            <a:r>
              <a:rPr lang="en-US" dirty="0"/>
              <a:t> String(String s).</a:t>
            </a:r>
          </a:p>
          <a:p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compareTo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anotherString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compareToIgnoreCase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str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length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trim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indexOf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ch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indexOf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ch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fromIndex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indexOf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str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indexOf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str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fromIndex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lastIndexOf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ch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lastIndexOf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ch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fromIndex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substring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beginIndex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substring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beginIndex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endIndex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86157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Exemplu de program:</a:t>
            </a:r>
            <a:endParaRPr lang="ro-RO" sz="31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71" y="605896"/>
            <a:ext cx="5718409" cy="5646208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TestStr 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main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args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String 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"ABCdef#@&amp;"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s4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ch1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byte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tb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String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"Un sir nou"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"s1="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Lungimile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sirurilor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s1="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"Conversie in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litere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mari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s1="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toUpperCase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toUpperCase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"Conversie in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litere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mici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s1="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toLowerCase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toLowerCase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ch1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toCharArray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 convertit in tablou de caractere: 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 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]);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tb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getBytes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 convertit in tablou de octeti: 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603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766" y="908720"/>
            <a:ext cx="5832648" cy="5646208"/>
          </a:xfrm>
        </p:spPr>
        <p:txBody>
          <a:bodyPr anchor="ctr">
            <a:noAutofit/>
          </a:bodyPr>
          <a:lstStyle/>
          <a:p>
            <a:pPr>
              <a:spcBef>
                <a:spcPts val="600"/>
              </a:spcBef>
            </a:pPr>
            <a:r>
              <a:rPr lang="nn-NO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nn-N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nn-NO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 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]+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” “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nn-N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"\nAcelasi tablou convertit in caractere: "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nn-NO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nn-N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nn-NO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 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((</a:t>
            </a:r>
            <a:r>
              <a:rPr lang="nn-N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]);</a:t>
            </a:r>
            <a:endParaRPr lang="nn-N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copyValueOf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"Sirul obtinut din tabloul de caractere: 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</a:p>
          <a:p>
            <a:pPr>
              <a:spcBef>
                <a:spcPts val="600"/>
              </a:spcBef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"Comparatii de siruri: "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compareTo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pt-BR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"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compareTo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compareTo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"s1==s3: 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s1.equals(s3): 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equals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s4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toUpperCase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"s2="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s4="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s4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"s2.equals(s4): 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equals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s4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s2.equalsIgnoreCase(s4): 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equalsIgnoreCase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s4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"Subsirul lui s2 intre pozitiile 3 si 8: 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substring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8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"Subsirul lui s2 de la pozitia 3 la sfarsit: "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substring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en-US" sz="14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endParaRPr lang="ro-RO" sz="1400" dirty="0"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2398089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</a:rPr>
              <a:t>Clasa Class</a:t>
            </a:r>
            <a:endParaRPr lang="ro-RO" sz="31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8059" y="44624"/>
            <a:ext cx="6102453" cy="6813376"/>
          </a:xfrm>
        </p:spPr>
        <p:txBody>
          <a:bodyPr anchor="ctr">
            <a:normAutofit/>
          </a:bodyPr>
          <a:lstStyle/>
          <a:p>
            <a:r>
              <a:rPr lang="en-GB" sz="1800" dirty="0"/>
              <a:t>🔹 </a:t>
            </a:r>
            <a:r>
              <a:rPr lang="en-GB" sz="1800" dirty="0" err="1"/>
              <a:t>Permite</a:t>
            </a:r>
            <a:r>
              <a:rPr lang="en-GB" sz="1800" dirty="0"/>
              <a:t> </a:t>
            </a:r>
            <a:r>
              <a:rPr lang="en-GB" sz="1800" b="1" dirty="0" err="1"/>
              <a:t>accesul</a:t>
            </a:r>
            <a:r>
              <a:rPr lang="en-GB" sz="1800" b="1" dirty="0"/>
              <a:t> la </a:t>
            </a:r>
            <a:r>
              <a:rPr lang="en-GB" sz="1800" b="1" dirty="0" err="1"/>
              <a:t>informații</a:t>
            </a:r>
            <a:r>
              <a:rPr lang="en-GB" sz="1800" b="1" dirty="0"/>
              <a:t> </a:t>
            </a:r>
            <a:r>
              <a:rPr lang="en-GB" sz="1800" b="1" dirty="0" err="1"/>
              <a:t>despre</a:t>
            </a:r>
            <a:r>
              <a:rPr lang="en-GB" sz="1800" b="1" dirty="0"/>
              <a:t> </a:t>
            </a:r>
            <a:r>
              <a:rPr lang="en-GB" sz="1800" b="1" dirty="0" err="1"/>
              <a:t>clase</a:t>
            </a:r>
            <a:r>
              <a:rPr lang="en-GB" sz="1800" b="1" dirty="0"/>
              <a:t> la </a:t>
            </a:r>
            <a:r>
              <a:rPr lang="en-GB" sz="1800" b="1" dirty="0" err="1"/>
              <a:t>execuție</a:t>
            </a:r>
            <a:r>
              <a:rPr lang="en-GB" sz="1800" dirty="0"/>
              <a:t> </a:t>
            </a:r>
            <a:endParaRPr lang="ro-RO" sz="1800" dirty="0"/>
          </a:p>
          <a:p>
            <a:pPr>
              <a:spcBef>
                <a:spcPts val="0"/>
              </a:spcBef>
            </a:pPr>
            <a:br>
              <a:rPr lang="en-GB" sz="1800" dirty="0"/>
            </a:br>
            <a:r>
              <a:rPr lang="en-GB" sz="1800" dirty="0"/>
              <a:t>🔹 Se </a:t>
            </a:r>
            <a:r>
              <a:rPr lang="en-GB" sz="1800" dirty="0" err="1"/>
              <a:t>obține</a:t>
            </a:r>
            <a:r>
              <a:rPr lang="en-GB" sz="1800" dirty="0"/>
              <a:t> cu </a:t>
            </a:r>
            <a:r>
              <a:rPr lang="en-GB" sz="1800" dirty="0" err="1"/>
              <a:t>metoda</a:t>
            </a:r>
            <a:r>
              <a:rPr lang="en-GB" sz="1800" dirty="0"/>
              <a:t> </a:t>
            </a:r>
            <a:r>
              <a:rPr lang="en-GB" sz="1800" dirty="0" err="1">
                <a:latin typeface="Courier New" panose="02070309020205020404" pitchFamily="49" charset="0"/>
              </a:rPr>
              <a:t>getClass</a:t>
            </a:r>
            <a:r>
              <a:rPr lang="en-GB" sz="1800" dirty="0">
                <a:latin typeface="Courier New" panose="02070309020205020404" pitchFamily="49" charset="0"/>
              </a:rPr>
              <a:t>()</a:t>
            </a:r>
            <a:r>
              <a:rPr lang="en-GB" sz="1800" dirty="0"/>
              <a:t> </a:t>
            </a:r>
            <a:r>
              <a:rPr lang="en-GB" sz="1800" dirty="0" err="1"/>
              <a:t>sau</a:t>
            </a:r>
            <a:r>
              <a:rPr lang="en-GB" sz="1800" dirty="0"/>
              <a:t> </a:t>
            </a:r>
            <a:r>
              <a:rPr lang="en-GB" sz="1800" dirty="0" err="1"/>
              <a:t>prin</a:t>
            </a:r>
            <a:r>
              <a:rPr lang="en-GB" sz="1800" dirty="0"/>
              <a:t> </a:t>
            </a:r>
            <a:r>
              <a:rPr lang="en-GB" sz="1800" dirty="0" err="1">
                <a:latin typeface="Courier New" panose="02070309020205020404" pitchFamily="49" charset="0"/>
              </a:rPr>
              <a:t>Class.forName</a:t>
            </a:r>
            <a:r>
              <a:rPr lang="en-GB" sz="1800" dirty="0">
                <a:latin typeface="Courier New" panose="02070309020205020404" pitchFamily="49" charset="0"/>
              </a:rPr>
              <a:t>()</a:t>
            </a:r>
            <a:r>
              <a:rPr lang="en-GB" sz="1800" dirty="0"/>
              <a:t>.</a:t>
            </a:r>
            <a:endParaRPr lang="ro-RO" sz="1800" dirty="0"/>
          </a:p>
          <a:p>
            <a:r>
              <a:rPr lang="en-GB" sz="1800" dirty="0"/>
              <a:t>📘 </a:t>
            </a:r>
            <a:r>
              <a:rPr lang="en-GB" sz="1800" i="1" dirty="0"/>
              <a:t>Metode </a:t>
            </a:r>
            <a:r>
              <a:rPr lang="en-GB" sz="1800" i="1" dirty="0" err="1"/>
              <a:t>uzuale</a:t>
            </a:r>
            <a:r>
              <a:rPr lang="en-GB" sz="1800" i="1" dirty="0"/>
              <a:t>:</a:t>
            </a:r>
          </a:p>
          <a:p>
            <a:endParaRPr lang="en-GB" sz="1800" i="1" dirty="0"/>
          </a:p>
          <a:p>
            <a:endParaRPr lang="en-GB" sz="1800" i="1" dirty="0"/>
          </a:p>
          <a:p>
            <a:endParaRPr lang="en-GB" sz="1800" i="1" dirty="0"/>
          </a:p>
          <a:p>
            <a:endParaRPr lang="en-GB" sz="1800" i="1" dirty="0"/>
          </a:p>
          <a:p>
            <a:endParaRPr lang="en-GB" sz="1800" i="1" dirty="0"/>
          </a:p>
          <a:p>
            <a:endParaRPr lang="en-GB" sz="1800" i="1" dirty="0"/>
          </a:p>
          <a:p>
            <a:endParaRPr lang="ro-RO" sz="1800" i="1" dirty="0"/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String s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"Salut"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Class c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getClass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();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System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println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getName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());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//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java.lang.String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highlight>
                <a:srgbClr val="FFFFFF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System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println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getSuperclass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());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// class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java.lang.Object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highlight>
                <a:srgbClr val="FFFFFF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ro-RO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9F7C5A-7AC1-7DB1-961E-7C942BAB4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532959"/>
              </p:ext>
            </p:extLst>
          </p:nvPr>
        </p:nvGraphicFramePr>
        <p:xfrm>
          <a:off x="3108904" y="1844824"/>
          <a:ext cx="5918483" cy="2698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4027">
                  <a:extLst>
                    <a:ext uri="{9D8B030D-6E8A-4147-A177-3AD203B41FA5}">
                      <a16:colId xmlns:a16="http://schemas.microsoft.com/office/drawing/2014/main" val="2224984635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1356260403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 err="1">
                          <a:effectLst/>
                        </a:rPr>
                        <a:t>Metodă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 err="1">
                          <a:effectLst/>
                        </a:rPr>
                        <a:t>Descriere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136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getName()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numele complet al clasei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278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isInterface()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verifică dacă e interfață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459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getSuperclass()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 err="1">
                          <a:effectLst/>
                        </a:rPr>
                        <a:t>returnează</a:t>
                      </a:r>
                      <a:r>
                        <a:rPr lang="en-GB" sz="1800" kern="100" dirty="0">
                          <a:effectLst/>
                        </a:rPr>
                        <a:t> </a:t>
                      </a:r>
                      <a:r>
                        <a:rPr lang="en-GB" sz="1800" kern="100" dirty="0" err="1">
                          <a:effectLst/>
                        </a:rPr>
                        <a:t>superclasa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578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 err="1">
                          <a:effectLst/>
                        </a:rPr>
                        <a:t>isPrimitive</a:t>
                      </a:r>
                      <a:r>
                        <a:rPr lang="en-GB" sz="1800" kern="100" dirty="0">
                          <a:effectLst/>
                        </a:rPr>
                        <a:t>()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 err="1">
                          <a:effectLst/>
                        </a:rPr>
                        <a:t>verifică</a:t>
                      </a:r>
                      <a:r>
                        <a:rPr lang="en-GB" sz="1800" kern="100" dirty="0">
                          <a:effectLst/>
                        </a:rPr>
                        <a:t> </a:t>
                      </a:r>
                      <a:r>
                        <a:rPr lang="en-GB" sz="1800" kern="100" dirty="0" err="1">
                          <a:effectLst/>
                        </a:rPr>
                        <a:t>dacă</a:t>
                      </a:r>
                      <a:r>
                        <a:rPr lang="en-GB" sz="1800" kern="100" dirty="0">
                          <a:effectLst/>
                        </a:rPr>
                        <a:t> e tip </a:t>
                      </a:r>
                      <a:r>
                        <a:rPr lang="en-GB" sz="1800" kern="100" dirty="0" err="1">
                          <a:effectLst/>
                        </a:rPr>
                        <a:t>primitiv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0695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 err="1"/>
                        <a:t>isAssignableFrom</a:t>
                      </a:r>
                      <a:r>
                        <a:rPr lang="en-US" sz="1800" dirty="0"/>
                        <a:t>(Class </a:t>
                      </a:r>
                      <a:r>
                        <a:rPr lang="en-US" sz="1800" dirty="0" err="1"/>
                        <a:t>cls</a:t>
                      </a:r>
                      <a:r>
                        <a:rPr lang="en-US" sz="1800" dirty="0"/>
                        <a:t>) 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 err="1"/>
                        <a:t>verifica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relațiile</a:t>
                      </a:r>
                      <a:r>
                        <a:rPr lang="en-GB" sz="1800" dirty="0"/>
                        <a:t> de </a:t>
                      </a:r>
                      <a:r>
                        <a:rPr lang="en-GB" sz="1800" dirty="0" err="1"/>
                        <a:t>moștenire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sau</a:t>
                      </a:r>
                      <a:r>
                        <a:rPr lang="en-GB" sz="1800" dirty="0"/>
                        <a:t> de </a:t>
                      </a:r>
                      <a:r>
                        <a:rPr lang="en-GB" sz="1800" dirty="0" err="1"/>
                        <a:t>implementare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între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două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clase</a:t>
                      </a:r>
                      <a:r>
                        <a:rPr lang="en-GB" sz="1800" dirty="0"/>
                        <a:t>/</a:t>
                      </a:r>
                      <a:r>
                        <a:rPr lang="en-GB" sz="1800" dirty="0" err="1"/>
                        <a:t>interfețe</a:t>
                      </a:r>
                      <a:r>
                        <a:rPr lang="en-GB" sz="1800" dirty="0"/>
                        <a:t>.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677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4414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D20D3-FDE2-2AB6-B00B-CEEB4264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GB" sz="3100">
                <a:solidFill>
                  <a:srgbClr val="FFFFFF"/>
                </a:solidFill>
              </a:rPr>
              <a:t>Clasa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AB57-D2FC-D024-9A1A-B4EFA24D2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9846" y="605896"/>
            <a:ext cx="5964154" cy="5646208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Animal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{}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Caine </a:t>
            </a:r>
            <a:r>
              <a:rPr lang="en-GB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Animal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{}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TestClass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args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       Class c1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Animal</a:t>
            </a:r>
            <a:r>
              <a:rPr lang="en-GB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 err="1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       Class c2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Caine</a:t>
            </a:r>
            <a:r>
              <a:rPr lang="en-GB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 err="1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c1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isAssignableFrom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c2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));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>
                <a:solidFill>
                  <a:srgbClr val="008000"/>
                </a:solidFill>
                <a:highlight>
                  <a:srgbClr val="FFFFFF"/>
                </a:highlight>
              </a:rPr>
              <a:t>// true</a:t>
            </a:r>
          </a:p>
          <a:p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c2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isAssignableFrom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c1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));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>
                <a:solidFill>
                  <a:srgbClr val="008000"/>
                </a:solidFill>
                <a:highlight>
                  <a:srgbClr val="FFFFFF"/>
                </a:highlight>
              </a:rPr>
              <a:t>// false</a:t>
            </a:r>
          </a:p>
          <a:p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8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2247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5191952" cy="5646208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/* Testarea clasei Class */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TestClass 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main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args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s1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Primul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sir"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"al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doilea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sir"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Object obj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Object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 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cls2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cls3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getClass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getName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toString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getClass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isAssignableFrom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cls2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obj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getClass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isAssignableFrom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isAssignableFrom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getSuperclass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getSuperclass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isPrimitive</a:t>
            </a: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r>
              <a:rPr lang="ro-RO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ro-RO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2230759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Clasele</a:t>
            </a:r>
            <a:r>
              <a:rPr lang="en-US" b="1" dirty="0"/>
              <a:t> </a:t>
            </a:r>
            <a:r>
              <a:rPr lang="en-US" b="1" dirty="0" err="1"/>
              <a:t>acoperitoare</a:t>
            </a:r>
            <a:r>
              <a:rPr lang="en-US" b="1" dirty="0"/>
              <a:t> de tip</a:t>
            </a:r>
            <a:br>
              <a:rPr lang="ro-RO" b="1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10" y="1484784"/>
            <a:ext cx="7543800" cy="3017520"/>
          </a:xfrm>
        </p:spPr>
        <p:txBody>
          <a:bodyPr/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pachetul</a:t>
            </a:r>
            <a:r>
              <a:rPr lang="en-US" dirty="0"/>
              <a:t> </a:t>
            </a:r>
            <a:r>
              <a:rPr lang="en-US" dirty="0" err="1"/>
              <a:t>java.lang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din </a:t>
            </a:r>
            <a:r>
              <a:rPr lang="en-US" dirty="0" err="1"/>
              <a:t>tipurile</a:t>
            </a:r>
            <a:r>
              <a:rPr lang="en-US" dirty="0"/>
              <a:t> de date primitive </a:t>
            </a:r>
            <a:r>
              <a:rPr lang="en-US" dirty="0" err="1"/>
              <a:t>există</a:t>
            </a:r>
            <a:r>
              <a:rPr lang="en-US" dirty="0"/>
              <a:t> 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acoperitoare</a:t>
            </a:r>
            <a:r>
              <a:rPr lang="en-US" dirty="0"/>
              <a:t> de tip (</a:t>
            </a:r>
            <a:r>
              <a:rPr lang="en-US" dirty="0" err="1"/>
              <a:t>engleză</a:t>
            </a:r>
            <a:r>
              <a:rPr lang="en-US" dirty="0"/>
              <a:t>: Type Wrapper). </a:t>
            </a:r>
          </a:p>
          <a:p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pun la </a:t>
            </a:r>
            <a:r>
              <a:rPr lang="en-US" dirty="0" err="1"/>
              <a:t>dispoziţia</a:t>
            </a:r>
            <a:r>
              <a:rPr lang="en-US" dirty="0"/>
              <a:t> </a:t>
            </a:r>
            <a:r>
              <a:rPr lang="en-US" dirty="0" err="1"/>
              <a:t>programatorului</a:t>
            </a:r>
            <a:r>
              <a:rPr lang="en-US" dirty="0"/>
              <a:t>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finale (</a:t>
            </a:r>
            <a:r>
              <a:rPr lang="en-US" dirty="0" err="1"/>
              <a:t>constante</a:t>
            </a:r>
            <a:r>
              <a:rPr lang="en-US" dirty="0"/>
              <a:t>),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lucra</a:t>
            </a:r>
            <a:r>
              <a:rPr lang="en-US" dirty="0"/>
              <a:t> cu </a:t>
            </a:r>
            <a:r>
              <a:rPr lang="en-US" dirty="0" err="1"/>
              <a:t>tipul</a:t>
            </a:r>
            <a:r>
              <a:rPr lang="en-US" dirty="0"/>
              <a:t> de date </a:t>
            </a:r>
            <a:r>
              <a:rPr lang="en-US" dirty="0" err="1"/>
              <a:t>respectiv</a:t>
            </a:r>
            <a:r>
              <a:rPr lang="en-US" dirty="0"/>
              <a:t>. </a:t>
            </a:r>
          </a:p>
          <a:p>
            <a:r>
              <a:rPr lang="en-US" dirty="0" err="1"/>
              <a:t>Clasele</a:t>
            </a:r>
            <a:r>
              <a:rPr lang="en-US" dirty="0"/>
              <a:t> </a:t>
            </a:r>
            <a:r>
              <a:rPr lang="en-US" dirty="0" err="1"/>
              <a:t>acoperitoare</a:t>
            </a:r>
            <a:r>
              <a:rPr lang="en-US" dirty="0"/>
              <a:t> de tip </a:t>
            </a:r>
            <a:r>
              <a:rPr lang="en-US" dirty="0" err="1"/>
              <a:t>formează</a:t>
            </a:r>
            <a:r>
              <a:rPr lang="en-US" dirty="0"/>
              <a:t> </a:t>
            </a:r>
            <a:r>
              <a:rPr lang="en-US" dirty="0" err="1"/>
              <a:t>ierarhia</a:t>
            </a:r>
            <a:r>
              <a:rPr lang="en-US" dirty="0"/>
              <a:t> din </a:t>
            </a:r>
            <a:r>
              <a:rPr lang="en-US" dirty="0" err="1"/>
              <a:t>figura</a:t>
            </a:r>
            <a:r>
              <a:rPr lang="en-US" dirty="0"/>
              <a:t> 1.</a:t>
            </a:r>
            <a:endParaRPr lang="ro-RO" b="1" dirty="0"/>
          </a:p>
          <a:p>
            <a:endParaRPr lang="ro-R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563789"/>
            <a:ext cx="5646218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9645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B50E-A05E-A0F8-9BD1-61A54957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Clasele</a:t>
            </a:r>
            <a:r>
              <a:rPr lang="en-US" b="1" dirty="0"/>
              <a:t> </a:t>
            </a:r>
            <a:r>
              <a:rPr lang="en-US" b="1" dirty="0" err="1"/>
              <a:t>acoperitoare</a:t>
            </a:r>
            <a:r>
              <a:rPr lang="en-US" b="1" dirty="0"/>
              <a:t> de tip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68F5BC-0251-0D8D-C7FD-12B31F688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207486"/>
              </p:ext>
            </p:extLst>
          </p:nvPr>
        </p:nvGraphicFramePr>
        <p:xfrm>
          <a:off x="899592" y="2276872"/>
          <a:ext cx="7543800" cy="329184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19468663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486577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Tip primitiv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Clasă acoperitoare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72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byte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Byte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2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short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Short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67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int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Integer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22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long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Long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53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float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Float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417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double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Double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33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char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Character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474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boolean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Boolean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493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405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F0DA-4571-879A-BEC1-7A8BFBB8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Clasele</a:t>
            </a:r>
            <a:r>
              <a:rPr lang="en-US" b="1" dirty="0"/>
              <a:t> </a:t>
            </a:r>
            <a:r>
              <a:rPr lang="en-US" b="1" dirty="0" err="1"/>
              <a:t>acoperitoare</a:t>
            </a:r>
            <a:r>
              <a:rPr lang="en-US" b="1" dirty="0"/>
              <a:t> de tip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8623E-D9D3-5027-96DA-E4A675956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📘 </a:t>
            </a:r>
            <a:r>
              <a:rPr lang="en-GB" i="1" dirty="0" err="1"/>
              <a:t>Conversii</a:t>
            </a:r>
            <a:r>
              <a:rPr lang="en-GB" i="1" dirty="0"/>
              <a:t> utile:</a:t>
            </a:r>
          </a:p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nl-NL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Integer obj </a:t>
            </a:r>
            <a:r>
              <a:rPr lang="nl-NL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Integer</a:t>
            </a:r>
            <a:r>
              <a:rPr lang="nl-NL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nl-NL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valueOf</a:t>
            </a:r>
            <a:r>
              <a:rPr lang="nl-NL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nl-NL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nl-NL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nl-NL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transformare in obiect</a:t>
            </a:r>
          </a:p>
          <a:p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y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obj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intValue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refacere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numar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Integer a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5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se face automat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valueOf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(5)</a:t>
            </a:r>
          </a:p>
          <a:p>
            <a:r>
              <a:rPr lang="fr-FR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</a:t>
            </a:r>
            <a:r>
              <a:rPr lang="fr-FR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se face automat intValue()</a:t>
            </a: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072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900-C435-331F-CB8A-CCA1ED318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Recapitulare</a:t>
            </a:r>
            <a:r>
              <a:rPr lang="en-GB" dirty="0"/>
              <a:t> </a:t>
            </a:r>
            <a:r>
              <a:rPr lang="en-GB" dirty="0" err="1"/>
              <a:t>pachet</a:t>
            </a:r>
            <a:r>
              <a:rPr lang="en-GB" dirty="0"/>
              <a:t> </a:t>
            </a:r>
            <a:r>
              <a:rPr lang="en-GB" dirty="0" err="1"/>
              <a:t>java.lang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A4B4A-AF0A-013A-D725-E3B50F634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✅ </a:t>
            </a:r>
            <a:r>
              <a:rPr lang="en-GB" dirty="0" err="1"/>
              <a:t>Importat</a:t>
            </a:r>
            <a:r>
              <a:rPr lang="en-GB" dirty="0"/>
              <a:t> automat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programele</a:t>
            </a:r>
            <a:br>
              <a:rPr lang="en-GB" dirty="0"/>
            </a:br>
            <a:r>
              <a:rPr lang="en-GB" dirty="0"/>
              <a:t>✅ Include </a:t>
            </a:r>
            <a:r>
              <a:rPr lang="en-GB" dirty="0" err="1"/>
              <a:t>clase</a:t>
            </a:r>
            <a:r>
              <a:rPr lang="en-GB" dirty="0"/>
              <a:t> </a:t>
            </a:r>
            <a:r>
              <a:rPr lang="en-GB" dirty="0" err="1"/>
              <a:t>fundamentale</a:t>
            </a:r>
            <a:r>
              <a:rPr lang="en-GB" dirty="0"/>
              <a:t>: Object, String, Math, Class, Thread</a:t>
            </a:r>
            <a:br>
              <a:rPr lang="en-GB" dirty="0"/>
            </a:br>
            <a:r>
              <a:rPr lang="en-GB" dirty="0"/>
              <a:t>✅ </a:t>
            </a:r>
            <a:r>
              <a:rPr lang="en-GB" dirty="0" err="1"/>
              <a:t>Permite</a:t>
            </a:r>
            <a:r>
              <a:rPr lang="en-GB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/>
              <a:t>Manipularea</a:t>
            </a:r>
            <a:r>
              <a:rPr lang="en-GB" dirty="0"/>
              <a:t> </a:t>
            </a:r>
            <a:r>
              <a:rPr lang="en-GB" dirty="0" err="1"/>
              <a:t>șirurilor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numerelor</a:t>
            </a: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/>
              <a:t>Tratarea</a:t>
            </a:r>
            <a:r>
              <a:rPr lang="en-GB" dirty="0"/>
              <a:t> </a:t>
            </a:r>
            <a:r>
              <a:rPr lang="en-GB" dirty="0" err="1"/>
              <a:t>obiectelor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reflexia</a:t>
            </a:r>
            <a:r>
              <a:rPr lang="en-GB" dirty="0"/>
              <a:t> </a:t>
            </a:r>
            <a:r>
              <a:rPr lang="en-GB" dirty="0" err="1"/>
              <a:t>structurii</a:t>
            </a:r>
            <a:r>
              <a:rPr lang="en-GB" dirty="0"/>
              <a:t> lor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err="1"/>
              <a:t>Utilizarea</a:t>
            </a:r>
            <a:r>
              <a:rPr lang="en-GB" dirty="0"/>
              <a:t> wrapper-</a:t>
            </a:r>
            <a:r>
              <a:rPr lang="en-GB" dirty="0" err="1"/>
              <a:t>elor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tipuri</a:t>
            </a:r>
            <a:r>
              <a:rPr lang="en-GB" dirty="0"/>
              <a:t> primitive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533808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23743</TotalTime>
  <Words>5980</Words>
  <Application>Microsoft Office PowerPoint</Application>
  <PresentationFormat>On-screen Show (4:3)</PresentationFormat>
  <Paragraphs>948</Paragraphs>
  <Slides>39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Aptos</vt:lpstr>
      <vt:lpstr>Calibri</vt:lpstr>
      <vt:lpstr>Calibri Light</vt:lpstr>
      <vt:lpstr>Charcoal CY</vt:lpstr>
      <vt:lpstr>Courier New</vt:lpstr>
      <vt:lpstr>Helvetica</vt:lpstr>
      <vt:lpstr>Times New Roman</vt:lpstr>
      <vt:lpstr>Wingdings</vt:lpstr>
      <vt:lpstr>Retrospect</vt:lpstr>
      <vt:lpstr>Obiecte si clase</vt:lpstr>
      <vt:lpstr>Definirea propriilor clase</vt:lpstr>
      <vt:lpstr>Ce este un constructor</vt:lpstr>
      <vt:lpstr>Tipuri de constructori</vt:lpstr>
      <vt:lpstr>Tipuri de constructori</vt:lpstr>
      <vt:lpstr>Tipuri de constructori</vt:lpstr>
      <vt:lpstr>Reprezentarea informațiilor despre Studenti</vt:lpstr>
      <vt:lpstr>Clasa Student</vt:lpstr>
      <vt:lpstr>Clasa Student</vt:lpstr>
      <vt:lpstr>Clasa Student</vt:lpstr>
      <vt:lpstr>Clasa Student</vt:lpstr>
      <vt:lpstr>Utilizarea clasei Student </vt:lpstr>
      <vt:lpstr>Numere raționale</vt:lpstr>
      <vt:lpstr>Implementarea clasei Rational</vt:lpstr>
      <vt:lpstr>Cuvantul cheie this</vt:lpstr>
      <vt:lpstr>The Rational Class</vt:lpstr>
      <vt:lpstr>The Rational Class</vt:lpstr>
      <vt:lpstr>The Rational Class</vt:lpstr>
      <vt:lpstr>The Rational Class</vt:lpstr>
      <vt:lpstr>The Rational Class</vt:lpstr>
      <vt:lpstr>Simularea calculului rațional</vt:lpstr>
      <vt:lpstr>Adunarea a trei valori raționale</vt:lpstr>
      <vt:lpstr>Utilizarea claselor din pachetul java.lang  </vt:lpstr>
      <vt:lpstr>Pachetul java.lang</vt:lpstr>
      <vt:lpstr>Pachetul java.lang</vt:lpstr>
      <vt:lpstr>Clasa Object</vt:lpstr>
      <vt:lpstr>Clasa Object</vt:lpstr>
      <vt:lpstr>Clasele String şi StringBuffer </vt:lpstr>
      <vt:lpstr>Clasele String şi StringBuffer </vt:lpstr>
      <vt:lpstr>Clasele String şi StringBuffer </vt:lpstr>
      <vt:lpstr>Exemplu de program:</vt:lpstr>
      <vt:lpstr>PowerPoint Presentation</vt:lpstr>
      <vt:lpstr>Clasa Class</vt:lpstr>
      <vt:lpstr>Clasa Class</vt:lpstr>
      <vt:lpstr>PowerPoint Presentation</vt:lpstr>
      <vt:lpstr>Clasele acoperitoare de tip </vt:lpstr>
      <vt:lpstr>Clasele acoperitoare de tip</vt:lpstr>
      <vt:lpstr>Clasele acoperitoare de tip</vt:lpstr>
      <vt:lpstr>Recapitulare pachet java.lang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3—Expressions</dc:title>
  <dc:creator>Admin</dc:creator>
  <cp:lastModifiedBy>Manuela Panoiu</cp:lastModifiedBy>
  <cp:revision>114</cp:revision>
  <dcterms:modified xsi:type="dcterms:W3CDTF">2025-10-20T07:53:45Z</dcterms:modified>
</cp:coreProperties>
</file>