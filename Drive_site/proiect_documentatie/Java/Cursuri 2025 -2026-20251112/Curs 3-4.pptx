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  <p:sldMasterId id="2147483687" r:id="rId3"/>
  </p:sldMasterIdLst>
  <p:sldIdLst>
    <p:sldId id="265" r:id="rId4"/>
    <p:sldId id="266" r:id="rId5"/>
    <p:sldId id="267" r:id="rId6"/>
    <p:sldId id="268" r:id="rId7"/>
    <p:sldId id="269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</p:sldIdLst>
  <p:sldSz cx="9906000" cy="6858000" type="A4"/>
  <p:notesSz cx="7559675" cy="10691813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39560" y="228600"/>
            <a:ext cx="841968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49092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48684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9536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49092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48684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439560" y="228600"/>
            <a:ext cx="841968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49092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48684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49536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349092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648684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439560" y="228600"/>
            <a:ext cx="8419680" cy="5297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495360" y="4065120"/>
            <a:ext cx="885960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035320" y="188604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49536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5035320" y="4065120"/>
            <a:ext cx="43232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349092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486840" y="188604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49536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 type="body"/>
          </p:nvPr>
        </p:nvSpPr>
        <p:spPr>
          <a:xfrm>
            <a:off x="349092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 type="body"/>
          </p:nvPr>
        </p:nvSpPr>
        <p:spPr>
          <a:xfrm>
            <a:off x="6486840" y="4065120"/>
            <a:ext cx="2852640" cy="1989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7"/>
          <p:cNvPicPr/>
          <p:nvPr/>
        </p:nvPicPr>
        <p:blipFill>
          <a:blip r:embed="rId14"/>
          <a:stretch/>
        </p:blipFill>
        <p:spPr>
          <a:xfrm>
            <a:off x="990720" y="1314360"/>
            <a:ext cx="8915040" cy="383760"/>
          </a:xfrm>
          <a:prstGeom prst="rect">
            <a:avLst/>
          </a:prstGeom>
          <a:ln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rial Black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0" strike="noStrike" spc="-1">
                <a:solidFill>
                  <a:srgbClr val="000000"/>
                </a:solidFill>
                <a:latin typeface="Tahoma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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Fifth level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/>
          </p:nvPr>
        </p:nvSpPr>
        <p:spPr>
          <a:xfrm>
            <a:off x="46836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fld id="{6585DBF8-0D3A-4A6A-B597-C5CCCA4CADAD}" type="datetime1">
              <a:rPr lang="en-US" sz="1400" b="0" strike="noStrike" spc="-1">
                <a:solidFill>
                  <a:srgbClr val="5E574E"/>
                </a:solidFill>
                <a:latin typeface="Arial"/>
              </a:rPr>
              <a:t>10/13/2025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/>
          </p:nvPr>
        </p:nvSpPr>
        <p:spPr>
          <a:xfrm>
            <a:off x="3384720" y="6229440"/>
            <a:ext cx="313668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US" sz="1400" b="0" strike="noStrike" spc="-1">
                <a:solidFill>
                  <a:srgbClr val="5E574E"/>
                </a:solidFill>
                <a:latin typeface="Arial"/>
              </a:rPr>
              <a:t>POO - Cap. 2.   Limbajul  JAVA - prezentare generală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/>
          </p:nvPr>
        </p:nvSpPr>
        <p:spPr>
          <a:xfrm>
            <a:off x="729144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spcBef>
                <a:spcPts val="700"/>
              </a:spcBef>
            </a:pPr>
            <a:fld id="{D0F8D034-32B0-42B8-A728-2FF439492151}" type="slidenum">
              <a:rPr lang="en-US" sz="1400" b="0" strike="noStrike" spc="-1">
                <a:solidFill>
                  <a:srgbClr val="5E574E"/>
                </a:solidFill>
                <a:latin typeface="Arial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7"/>
          <p:cNvPicPr/>
          <p:nvPr/>
        </p:nvPicPr>
        <p:blipFill>
          <a:blip r:embed="rId14"/>
          <a:stretch/>
        </p:blipFill>
        <p:spPr>
          <a:xfrm>
            <a:off x="990720" y="1314360"/>
            <a:ext cx="8915040" cy="38376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rial Black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Seventh Outline Level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dt"/>
          </p:nvPr>
        </p:nvSpPr>
        <p:spPr>
          <a:xfrm>
            <a:off x="46836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fld id="{4ACE830C-4C14-4E3B-ACE2-CC67C4150569}" type="datetime1">
              <a:rPr lang="en-US" sz="1400" b="0" strike="noStrike" spc="-1">
                <a:solidFill>
                  <a:srgbClr val="5E574E"/>
                </a:solidFill>
                <a:latin typeface="Arial"/>
              </a:rPr>
              <a:t>10/13/2025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/>
          </p:nvPr>
        </p:nvSpPr>
        <p:spPr>
          <a:xfrm>
            <a:off x="3384720" y="6229440"/>
            <a:ext cx="313668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US" sz="1400" b="0" strike="noStrike" spc="-1">
                <a:solidFill>
                  <a:srgbClr val="5E574E"/>
                </a:solidFill>
                <a:latin typeface="Arial"/>
              </a:rPr>
              <a:t>POO - Cap. 2.   Limbajul  JAVA - prezentare generală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/>
          </p:nvPr>
        </p:nvSpPr>
        <p:spPr>
          <a:xfrm>
            <a:off x="729144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spcBef>
                <a:spcPts val="700"/>
              </a:spcBef>
            </a:pPr>
            <a:fld id="{F3DA2106-542F-44A3-B9A9-05F214C637FD}" type="slidenum">
              <a:rPr lang="en-US" sz="1400" b="0" strike="noStrike" spc="-1">
                <a:solidFill>
                  <a:srgbClr val="5E574E"/>
                </a:solidFill>
                <a:latin typeface="Arial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7"/>
          <p:cNvPicPr/>
          <p:nvPr/>
        </p:nvPicPr>
        <p:blipFill>
          <a:blip r:embed="rId14"/>
          <a:stretch/>
        </p:blipFill>
        <p:spPr>
          <a:xfrm>
            <a:off x="990720" y="1314360"/>
            <a:ext cx="8915040" cy="383760"/>
          </a:xfrm>
          <a:prstGeom prst="rect">
            <a:avLst/>
          </a:prstGeom>
          <a:ln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rial Black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95360" y="1886040"/>
            <a:ext cx="4352400" cy="41716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0" strike="noStrike" spc="-1">
                <a:solidFill>
                  <a:srgbClr val="000000"/>
                </a:solidFill>
                <a:latin typeface="Tahoma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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Fifth level</a:t>
            </a: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5000760" y="1886040"/>
            <a:ext cx="4354200" cy="41716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0" strike="noStrike" spc="-1">
                <a:solidFill>
                  <a:srgbClr val="000000"/>
                </a:solidFill>
                <a:latin typeface="Tahoma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"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Fifth level</a:t>
            </a:r>
          </a:p>
        </p:txBody>
      </p:sp>
      <p:sp>
        <p:nvSpPr>
          <p:cNvPr id="131" name="PlaceHolder 4"/>
          <p:cNvSpPr>
            <a:spLocks noGrp="1"/>
          </p:cNvSpPr>
          <p:nvPr>
            <p:ph type="dt"/>
          </p:nvPr>
        </p:nvSpPr>
        <p:spPr>
          <a:xfrm>
            <a:off x="46836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fld id="{BF20F679-B1EB-46AD-B8A6-8B6FB57214B8}" type="datetime1">
              <a:rPr lang="en-US" sz="1400" b="0" strike="noStrike" spc="-1">
                <a:solidFill>
                  <a:srgbClr val="5E574E"/>
                </a:solidFill>
                <a:latin typeface="Arial"/>
              </a:rPr>
              <a:t>10/13/2025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ftr"/>
          </p:nvPr>
        </p:nvSpPr>
        <p:spPr>
          <a:xfrm>
            <a:off x="3384720" y="6229440"/>
            <a:ext cx="313668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en-US" sz="1400" b="0" strike="noStrike" spc="-1">
                <a:solidFill>
                  <a:srgbClr val="5E574E"/>
                </a:solidFill>
                <a:latin typeface="Arial"/>
              </a:rPr>
              <a:t>POO - Cap. 2.   Limbajul  JAVA - prezentare generală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sldNum"/>
          </p:nvPr>
        </p:nvSpPr>
        <p:spPr>
          <a:xfrm>
            <a:off x="7291440" y="6229440"/>
            <a:ext cx="2063520" cy="4568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spcBef>
                <a:spcPts val="700"/>
              </a:spcBef>
            </a:pPr>
            <a:fld id="{7EB7584E-711C-44CE-8DFD-AE4A5787323D}" type="slidenum">
              <a:rPr lang="en-US" sz="1400" b="0" strike="noStrike" spc="-1">
                <a:solidFill>
                  <a:srgbClr val="5E574E"/>
                </a:solidFill>
                <a:latin typeface="Arial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spc="-1">
                <a:solidFill>
                  <a:srgbClr val="000000"/>
                </a:solidFill>
                <a:latin typeface="Arial"/>
                <a:ea typeface="+mj-ea"/>
                <a:cs typeface="+mj-cs"/>
              </a:rPr>
              <a:t>Instalarea Java</a:t>
            </a:r>
          </a:p>
        </p:txBody>
      </p:sp>
      <p:sp>
        <p:nvSpPr>
          <p:cNvPr id="219" name="TextShape 5"/>
          <p:cNvSpPr txBox="1"/>
          <p:nvPr/>
        </p:nvSpPr>
        <p:spPr>
          <a:xfrm>
            <a:off x="495360" y="1886040"/>
            <a:ext cx="8859600" cy="4171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500" kern="1200" spc="-1">
              <a:solidFill>
                <a:srgbClr val="000000"/>
              </a:solidFill>
              <a:latin typeface="Tahoma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Instalarea kit-ului JDK 1.8.x se realizeaza implicit in directorul: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C:\Program Files\Java\jdk1.8.x\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	care va contine subfolderele: bin, demo, include, jre, lib si sample.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500" kern="1200" spc="-1">
              <a:solidFill>
                <a:srgbClr val="000000"/>
              </a:solidFill>
              <a:latin typeface="Tahoma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In bin se gasesc principalele instrumente ale pachetului JDK: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javac.exe 		– compilator Java;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java.exe			– interpretor Java;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appletviewer.exe 	– instrument de vizualizat applet-uri;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javadoc.exe		– generator de documentatii;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jar.exe			– instrument pentru arhive jar;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FCC00"/>
              </a:buClr>
              <a:buFont typeface="Arial" panose="020B0604020202020204" pitchFamily="34" charset="0"/>
              <a:buChar char="•"/>
            </a:pPr>
            <a:r>
              <a:rPr lang="en-US" sz="1500" kern="1200" spc="-1">
                <a:solidFill>
                  <a:srgbClr val="000000"/>
                </a:solidFill>
                <a:latin typeface="Tahoma"/>
                <a:ea typeface="+mn-ea"/>
                <a:cs typeface="+mn-cs"/>
              </a:rPr>
              <a:t>javap.exe		– dezasamblor de fisiere bytecode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500" kern="1200" spc="-1">
              <a:solidFill>
                <a:srgbClr val="000000"/>
              </a:solidFill>
              <a:latin typeface="Tahoma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500" kern="1200" spc="-1">
              <a:solidFill>
                <a:srgbClr val="000000"/>
              </a:solidFill>
              <a:latin typeface="Tahoma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500" kern="1200" spc="-1">
              <a:solidFill>
                <a:srgbClr val="000000"/>
              </a:solidFill>
              <a:latin typeface="Tahoma"/>
              <a:ea typeface="+mn-ea"/>
              <a:cs typeface="+mn-cs"/>
            </a:endParaRPr>
          </a:p>
        </p:txBody>
      </p:sp>
      <p:sp>
        <p:nvSpPr>
          <p:cNvPr id="217" name="TextShape 3"/>
          <p:cNvSpPr txBox="1"/>
          <p:nvPr/>
        </p:nvSpPr>
        <p:spPr>
          <a:xfrm>
            <a:off x="7291440" y="6229440"/>
            <a:ext cx="206352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spcBef>
                <a:spcPts val="700"/>
              </a:spcBef>
            </a:pPr>
            <a:endParaRPr lang="en-US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aplicatii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simple</a:t>
            </a:r>
            <a:endParaRPr lang="en-US" sz="4000" b="0" strike="noStrike" spc="-1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4" name="TextShape 5"/>
          <p:cNvSpPr txBox="1"/>
          <p:nvPr/>
        </p:nvSpPr>
        <p:spPr>
          <a:xfrm>
            <a:off x="495360" y="1886040"/>
            <a:ext cx="8859600" cy="4171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principiu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3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aplicaţii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Java:</a:t>
            </a: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a)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aplicaţii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de sine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stătătoare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  (stand-alone);</a:t>
            </a: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b)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aplicaţii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care se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execută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partea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de client (applet-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uri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);</a:t>
            </a: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c)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aplicaţii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care se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execută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partea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de server (servlet-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uri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)</a:t>
            </a:r>
          </a:p>
          <a:p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Realizarea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program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constă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următorii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paşi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Editarea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-un editor de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texte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;</a:t>
            </a: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Salvarea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sub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strike="noStrike" spc="-1" dirty="0">
                <a:solidFill>
                  <a:srgbClr val="008000"/>
                </a:solidFill>
                <a:latin typeface="Tahoma"/>
              </a:rPr>
              <a:t>NumeClasa.java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unde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strike="noStrike" spc="-1" dirty="0" err="1">
                <a:solidFill>
                  <a:srgbClr val="008000"/>
                </a:solidFill>
                <a:latin typeface="Tahoma"/>
              </a:rPr>
              <a:t>NumeClasa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conţine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strike="noStrike" spc="-1" dirty="0">
                <a:solidFill>
                  <a:srgbClr val="000000"/>
                </a:solidFill>
                <a:latin typeface="Tahoma"/>
              </a:rPr>
              <a:t>main()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b="0" strike="noStrike" spc="-1" dirty="0" err="1">
                <a:solidFill>
                  <a:srgbClr val="000000"/>
                </a:solidFill>
                <a:latin typeface="Arial"/>
              </a:rPr>
              <a:t>În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tr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-un program </a:t>
            </a:r>
            <a:r>
              <a:rPr lang="en-US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existe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singură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conţină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strike="noStrike" spc="-1" dirty="0">
                <a:solidFill>
                  <a:srgbClr val="008000"/>
                </a:solidFill>
                <a:latin typeface="Tahoma"/>
              </a:rPr>
              <a:t>main()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.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cuvinte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coincidă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fişierului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Extensia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fişierului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strike="noStrike" spc="-1" dirty="0">
                <a:solidFill>
                  <a:srgbClr val="008000"/>
                </a:solidFill>
                <a:latin typeface="Tahoma"/>
              </a:rPr>
              <a:t>.java</a:t>
            </a:r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Compilarea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se face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ajutorul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comenzii</a:t>
            </a:r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100" b="1" strike="noStrike" spc="-1" dirty="0" err="1">
                <a:solidFill>
                  <a:srgbClr val="008000"/>
                </a:solidFill>
                <a:latin typeface="Tahoma"/>
              </a:rPr>
              <a:t>javac</a:t>
            </a:r>
            <a:r>
              <a:rPr lang="en-US" sz="1100" b="1" strike="noStrike" spc="-1" dirty="0">
                <a:solidFill>
                  <a:srgbClr val="008000"/>
                </a:solidFill>
                <a:latin typeface="Tahoma"/>
              </a:rPr>
              <a:t>  NumeClasa.java</a:t>
            </a:r>
            <a:endParaRPr lang="en-US" sz="11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Executarea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se face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ajutorul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comenzii</a:t>
            </a:r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100" b="1" strike="noStrike" spc="-1" dirty="0">
                <a:solidFill>
                  <a:srgbClr val="008000"/>
                </a:solidFill>
                <a:latin typeface="Tahoma"/>
              </a:rPr>
              <a:t>java  </a:t>
            </a:r>
            <a:r>
              <a:rPr lang="en-US" sz="1100" b="1" strike="noStrike" spc="-1" dirty="0" err="1">
                <a:solidFill>
                  <a:srgbClr val="008000"/>
                </a:solidFill>
                <a:latin typeface="Tahoma"/>
              </a:rPr>
              <a:t>NumeClasa</a:t>
            </a:r>
            <a:endParaRPr lang="en-US" sz="11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479"/>
              </a:spcBef>
            </a:pP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aplicatii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simple 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Tahoma"/>
              </a:rPr>
              <a:t>continuare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)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9" name="TextShape 5"/>
          <p:cNvSpPr txBox="1"/>
          <p:nvPr/>
        </p:nvSpPr>
        <p:spPr>
          <a:xfrm>
            <a:off x="439560" y="1811263"/>
            <a:ext cx="8859600" cy="4533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Scrierea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codului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sursă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990720" indent="-533160">
              <a:lnSpc>
                <a:spcPct val="10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class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ahoma"/>
              </a:rPr>
              <a:t>Salut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 {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		public static void main(String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ahoma"/>
              </a:rPr>
              <a:t>args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[]) {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		  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ahoma"/>
              </a:rPr>
              <a:t>System.out.println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("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ahoma"/>
              </a:rPr>
              <a:t>Salut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 !!!");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		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	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aplicaţiile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conţin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principală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găsească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main()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aplicaţiei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pot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găsi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-un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singur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fişier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fie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multe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aplicatii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simple 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Tahoma"/>
              </a:rPr>
              <a:t>continuare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34" name="TextShape 5"/>
          <p:cNvSpPr txBox="1"/>
          <p:nvPr/>
        </p:nvSpPr>
        <p:spPr>
          <a:xfrm>
            <a:off x="495360" y="1371600"/>
            <a:ext cx="8859600" cy="4686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Salvarea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fişierelor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sursă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lvl="1" indent="-53316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face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extensia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.java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conţine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codul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sursă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al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principale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aibă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principală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aplicaţiei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conţine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main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).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urmare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nostru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-l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salvăm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sub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Salut.java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Compilarea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aplicaţiei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lvl="1" indent="-53316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foloseşte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compilatorul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Java,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javac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Apelul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compilatorului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conţine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principală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aplicaţiei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Compilatorul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creează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câte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separat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fiecare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;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acestea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extensia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.class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plasate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director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sursă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Rezultatul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comenzii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		</a:t>
            </a:r>
            <a:r>
              <a:rPr lang="en-US" sz="1400" b="1" strike="noStrike" spc="-1" dirty="0" err="1">
                <a:solidFill>
                  <a:srgbClr val="008000"/>
                </a:solidFill>
                <a:latin typeface="Tahoma"/>
              </a:rPr>
              <a:t>javac</a:t>
            </a:r>
            <a:r>
              <a:rPr lang="en-US" sz="1400" b="1" strike="noStrike" spc="-1" dirty="0">
                <a:solidFill>
                  <a:srgbClr val="008000"/>
                </a:solidFill>
                <a:latin typeface="Tahoma"/>
              </a:rPr>
              <a:t>  Salut.java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fişierul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Salut.class</a:t>
            </a:r>
            <a:r>
              <a:rPr lang="en-US" sz="16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4"/>
          <p:cNvSpPr txBox="1"/>
          <p:nvPr/>
        </p:nvSpPr>
        <p:spPr>
          <a:xfrm>
            <a:off x="457200" y="38088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Tahoma"/>
              </a:rPr>
              <a:t>aplicatii</a:t>
            </a:r>
            <a:r>
              <a:rPr lang="en-US" sz="4000" b="1" strike="noStrike" spc="-1" dirty="0">
                <a:solidFill>
                  <a:srgbClr val="000000"/>
                </a:solidFill>
                <a:latin typeface="Tahoma"/>
              </a:rPr>
              <a:t> simple 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Tahoma"/>
              </a:rPr>
              <a:t>continuare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Shape 5"/>
          <p:cNvSpPr txBox="1"/>
          <p:nvPr/>
        </p:nvSpPr>
        <p:spPr>
          <a:xfrm>
            <a:off x="495360" y="1143000"/>
            <a:ext cx="8859600" cy="4914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479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1" strike="noStrike" spc="-1" dirty="0" err="1">
                <a:solidFill>
                  <a:srgbClr val="008000"/>
                </a:solidFill>
                <a:latin typeface="Tahoma"/>
              </a:rPr>
              <a:t>Rularea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3200" b="1" strike="noStrike" spc="-1" dirty="0" err="1">
                <a:solidFill>
                  <a:srgbClr val="008000"/>
                </a:solidFill>
                <a:latin typeface="Tahoma"/>
              </a:rPr>
              <a:t>aplicaţiei</a:t>
            </a:r>
            <a:r>
              <a:rPr lang="en-US" sz="3200" b="0" i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32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lvl="1" indent="-53316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Se face cu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interpretorul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apelat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unitatea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compilare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corespunzătoare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principale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fiind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însă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omisă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extensia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.class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asociată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acesteia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10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java  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Salut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990720" lvl="1" indent="-53316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Rularea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aplicaţii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care nu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foloseşte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interfaţă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grafică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, se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va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face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-o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fereastră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sistem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4"/>
          <p:cNvSpPr txBox="1"/>
          <p:nvPr/>
        </p:nvSpPr>
        <p:spPr>
          <a:xfrm>
            <a:off x="495360" y="12952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561"/>
              </a:spcBef>
            </a:pPr>
            <a:r>
              <a:rPr lang="en-US" sz="2800" b="1" strike="noStrike" spc="-1" dirty="0" err="1">
                <a:solidFill>
                  <a:srgbClr val="000000"/>
                </a:solidFill>
                <a:latin typeface="Tahoma"/>
              </a:rPr>
              <a:t>Structura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Tahoma"/>
              </a:rPr>
              <a:t>lexicală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Tahoma"/>
              </a:rPr>
              <a:t>limbajului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Setul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caractere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Limbajului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foloseşte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Unicode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Este un standard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internaţional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înglobează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ASCII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permite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reprezentarea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256 = 2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Tahoma"/>
              </a:rPr>
              <a:t>8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). 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Foloseşte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reprezentarea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2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octeţi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înseamnă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pot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reprezenta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65536 (2</a:t>
            </a:r>
            <a:r>
              <a:rPr lang="en-US" sz="2400" b="0" strike="noStrike" spc="-1" baseline="30000" dirty="0">
                <a:solidFill>
                  <a:srgbClr val="000000"/>
                </a:solidFill>
                <a:latin typeface="Tahoma"/>
              </a:rPr>
              <a:t>16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semne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Primele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256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Unicode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corespund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ASCII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Referirea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la 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\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uxxxx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unde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xxxx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codul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caracterului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 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lvl="1" indent="-53316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\u0030 - \u0039 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cifre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ISO-Latin 0 - 9 </a:t>
            </a:r>
          </a:p>
          <a:p>
            <a:pPr marL="990720" lvl="1" indent="-53316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\u0660 - \u0669 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cifre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arabic-indic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0 - 9 </a:t>
            </a:r>
          </a:p>
          <a:p>
            <a:pPr marL="990720" lvl="1" indent="-53316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\u4e00 - \u9fff   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litere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alfabetul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Han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Chinez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Japonez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Coreean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  <p:sp>
        <p:nvSpPr>
          <p:cNvPr id="259" name="TextShape 5"/>
          <p:cNvSpPr txBox="1"/>
          <p:nvPr/>
        </p:nvSpPr>
        <p:spPr>
          <a:xfrm>
            <a:off x="457200" y="30492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Shape 4"/>
          <p:cNvSpPr txBox="1"/>
          <p:nvPr/>
        </p:nvSpPr>
        <p:spPr>
          <a:xfrm>
            <a:off x="439560" y="228600"/>
            <a:ext cx="8419680" cy="685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Shape 5"/>
          <p:cNvSpPr txBox="1"/>
          <p:nvPr/>
        </p:nvSpPr>
        <p:spPr>
          <a:xfrm>
            <a:off x="495360" y="1143000"/>
            <a:ext cx="8859600" cy="4914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Constante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Constantele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următoarele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Constante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întregi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Sunt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acceptate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3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baze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numeraţie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: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baza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10,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baza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16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încep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0x)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baza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8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încep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cifra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0)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1371600" lvl="2" indent="-45684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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normale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(se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pe 4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octeţi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- 32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biţi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) </a:t>
            </a:r>
          </a:p>
          <a:p>
            <a:pPr marL="1371600" lvl="2" indent="-45684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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lungi (8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octeţi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- 64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biţi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): 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termină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L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l).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Constante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reale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constantă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considerată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aibă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puţin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zecimală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după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virgulă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notaţie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exponenţială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aibă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sufixul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valorile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normale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reprezentate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pe 32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biţi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respectiv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valorile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lungi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reprezentate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pe 64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biţi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Shape 5"/>
          <p:cNvSpPr txBox="1"/>
          <p:nvPr/>
        </p:nvSpPr>
        <p:spPr>
          <a:xfrm>
            <a:off x="495360" y="12952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1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Constante logice</a:t>
            </a: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true</a:t>
            </a:r>
            <a:r>
              <a:rPr lang="en-US" sz="2400" b="1" strike="noStrike" spc="-1">
                <a:solidFill>
                  <a:srgbClr val="000000"/>
                </a:solidFill>
                <a:latin typeface="Tahoma"/>
              </a:rPr>
              <a:t> 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: valoarea booleană de adevăr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false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: valoarea booleană de fals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>
                <a:solidFill>
                  <a:srgbClr val="000000"/>
                </a:solidFill>
                <a:latin typeface="Tahoma"/>
              </a:rPr>
              <a:t>	Observaţie: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spre deosebire de 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C++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, constantele întregi </a:t>
            </a:r>
            <a:r>
              <a:rPr lang="en-US" sz="2400" b="1" strike="noStrike" spc="-1">
                <a:solidFill>
                  <a:srgbClr val="000000"/>
                </a:solidFill>
                <a:latin typeface="Tahoma"/>
              </a:rPr>
              <a:t>1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şi </a:t>
            </a:r>
            <a:r>
              <a:rPr lang="en-US" sz="2400" b="1" strike="noStrike" spc="-1">
                <a:solidFill>
                  <a:srgbClr val="000000"/>
                </a:solidFill>
                <a:latin typeface="Tahoma"/>
              </a:rPr>
              <a:t>0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nu mai au rolul de adevărat şi fals. </a:t>
            </a:r>
          </a:p>
          <a:p>
            <a:pPr marL="990720" indent="-533160">
              <a:lnSpc>
                <a:spcPct val="90000"/>
              </a:lnSpc>
              <a:spcBef>
                <a:spcPts val="479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       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Constante caracter</a:t>
            </a: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	O constantă de tip caracter este utilizată pentru a exprima caracterele codului Unicode. Reprezentarea se face fie folosind o literă, fie o secvenţă 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escape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scrisă între 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apostrofuri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. Secvenţele </a:t>
            </a: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escape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 permit reprezentarea caracterelor care nu au reprezentare grafică şi reprezentarea unor caractere speciale precum backslash, apostrof, etc.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4" name="Table 5"/>
          <p:cNvGraphicFramePr/>
          <p:nvPr/>
        </p:nvGraphicFramePr>
        <p:xfrm>
          <a:off x="609480" y="1523880"/>
          <a:ext cx="8762760" cy="3122520"/>
        </p:xfrm>
        <a:graphic>
          <a:graphicData uri="http://schemas.openxmlformats.org/drawingml/2006/table">
            <a:tbl>
              <a:tblPr/>
              <a:tblGrid>
                <a:gridCol w="2035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3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Cod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Secvenţa Escape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Caracter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\u0008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'\b'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Backspace(BS)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\u0009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'\t'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Tab orizontal (HT)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\u000a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'\n'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'Linie nouă - linefeed (LF)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\u000c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'\f'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Pagină nouă - formfeed (FF)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\u000d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'\r'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Început de rând (CR)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\u0022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'\"'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Ghilimele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\u0027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'\''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Apostrof 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\u005c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'\\'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Backslash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5"/>
          <p:cNvSpPr txBox="1"/>
          <p:nvPr/>
        </p:nvSpPr>
        <p:spPr>
          <a:xfrm>
            <a:off x="495360" y="121932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561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Constante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şiruri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caractere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format din zero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multe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cuprinse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între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ghilimele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formează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grafice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secvenţe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escape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lung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scris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concatenare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subşiruri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dimensiune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mică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Concatenarea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şirurilor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face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+ ("Ana " + " are " + " mere ").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vid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"".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După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cum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vom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vedea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orice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fapt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instanţă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String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definită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pachetul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java.lang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1371600" indent="-456840">
              <a:lnSpc>
                <a:spcPct val="80000"/>
              </a:lnSpc>
              <a:spcBef>
                <a:spcPts val="561"/>
              </a:spcBef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Separatori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Un separator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caracter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indică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sfârşitul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unităţi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lexicale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începutul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alteia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separatorii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sunt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următorii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( ) { } [ ] ; , 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Instrucţiunile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program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separă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”;”.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Shape 5"/>
          <p:cNvSpPr txBox="1"/>
          <p:nvPr/>
        </p:nvSpPr>
        <p:spPr>
          <a:xfrm>
            <a:off x="495360" y="1523880"/>
            <a:ext cx="8859600" cy="488615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9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operator de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atribuire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    =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semnul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egal)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a=9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atribuie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9)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atribuire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înlănţuiţi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a=b=c=10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aritmetici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binari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+, -, *, /, %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s=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a+b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forme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prescurtate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cuprind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atribuire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un operator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aritmetic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binar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prescurtaţi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sunt:+=, -=, *=, /=, %=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  </a:t>
            </a:r>
            <a:r>
              <a:rPr lang="en-US" sz="2400" b="0" strike="noStrike" spc="-1" dirty="0">
                <a:solidFill>
                  <a:srgbClr val="00B0F0"/>
                </a:solidFill>
                <a:latin typeface="Tahoma"/>
              </a:rPr>
              <a:t>n += 2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echivalentă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>
                <a:solidFill>
                  <a:srgbClr val="00B0F0"/>
                </a:solidFill>
                <a:latin typeface="Tahoma"/>
              </a:rPr>
              <a:t>n=n+2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spc="-1" dirty="0">
                <a:solidFill>
                  <a:srgbClr val="00B0F0"/>
                </a:solidFill>
                <a:latin typeface="Tahoma"/>
              </a:rPr>
              <a:t>              </a:t>
            </a:r>
            <a:r>
              <a:rPr lang="en-US" sz="2400" spc="-1" dirty="0" err="1">
                <a:solidFill>
                  <a:srgbClr val="00B0F0"/>
                </a:solidFill>
                <a:latin typeface="Tahoma"/>
              </a:rPr>
              <a:t>produs</a:t>
            </a:r>
            <a:r>
              <a:rPr lang="en-US" sz="2400" spc="-1" dirty="0">
                <a:solidFill>
                  <a:srgbClr val="00B0F0"/>
                </a:solidFill>
                <a:latin typeface="Tahoma"/>
              </a:rPr>
              <a:t> *=x;    </a:t>
            </a:r>
            <a:r>
              <a:rPr lang="en-US" sz="2400" spc="-1" dirty="0" err="1">
                <a:solidFill>
                  <a:srgbClr val="00B0F0"/>
                </a:solidFill>
                <a:latin typeface="Tahoma"/>
              </a:rPr>
              <a:t>produs</a:t>
            </a:r>
            <a:r>
              <a:rPr lang="en-US" sz="2400" spc="-1" dirty="0">
                <a:solidFill>
                  <a:srgbClr val="00B0F0"/>
                </a:solidFill>
                <a:latin typeface="Tahoma"/>
              </a:rPr>
              <a:t>=</a:t>
            </a:r>
            <a:r>
              <a:rPr lang="en-US" sz="2400" spc="-1" dirty="0" err="1">
                <a:solidFill>
                  <a:srgbClr val="00B0F0"/>
                </a:solidFill>
                <a:latin typeface="Tahoma"/>
              </a:rPr>
              <a:t>produs</a:t>
            </a:r>
            <a:r>
              <a:rPr lang="en-US" sz="2400" spc="-1" dirty="0">
                <a:solidFill>
                  <a:srgbClr val="00B0F0"/>
                </a:solidFill>
                <a:latin typeface="Tahoma"/>
              </a:rPr>
              <a:t>*x;</a:t>
            </a:r>
            <a:endParaRPr lang="en-US" sz="2400" b="0" strike="noStrike" spc="-1" dirty="0">
              <a:solidFill>
                <a:srgbClr val="00B0F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Shape 5"/>
          <p:cNvSpPr txBox="1"/>
          <p:nvPr/>
        </p:nvSpPr>
        <p:spPr>
          <a:xfrm>
            <a:off x="495360" y="1143000"/>
            <a:ext cx="8859600" cy="4914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aritmetici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unari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990720" lvl="1" indent="-53316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+, -,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semn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lvl="1" indent="-53316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++  (operator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),</a:t>
            </a:r>
          </a:p>
          <a:p>
            <a:pPr marL="990720" lvl="1" indent="-53316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̶  ̶   (operator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). </a:t>
            </a: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</a:t>
            </a: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prefixaţi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(++x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--x)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postfixaţi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(x++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x--).</a:t>
            </a: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Diferenţa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dintre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operatorii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prefixaţi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postfixaţi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semnificativă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atunci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când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/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decrementare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apare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cadrul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990720" indent="-533160">
              <a:lnSpc>
                <a:spcPct val="100000"/>
              </a:lnSpc>
              <a:spcBef>
                <a:spcPts val="479"/>
              </a:spcBef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Exemplele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următoare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evidenţia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lucruri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Shape 5"/>
          <p:cNvSpPr txBox="1"/>
          <p:nvPr/>
        </p:nvSpPr>
        <p:spPr>
          <a:xfrm>
            <a:off x="219600" y="876663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a)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-x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opusul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x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b)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x=5,y=7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;</a:t>
            </a: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x++; 	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// x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	y --; 	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// y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c)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x=5,y=7;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     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++x;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	//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-- y;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	//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d)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x=5,y;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y=x++;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	//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5,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e)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 x=5,y;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y=x--;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	//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5,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4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f)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x=5,y;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y=++x;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	//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6,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6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g)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x=5,y;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y= -- x;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//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4,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primeste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Arial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4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Shape 4"/>
          <p:cNvSpPr txBox="1"/>
          <p:nvPr/>
        </p:nvSpPr>
        <p:spPr>
          <a:xfrm>
            <a:off x="439560" y="228600"/>
            <a:ext cx="8419680" cy="6091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Shape 5"/>
          <p:cNvSpPr txBox="1"/>
          <p:nvPr/>
        </p:nvSpPr>
        <p:spPr>
          <a:xfrm>
            <a:off x="439560" y="1468582"/>
            <a:ext cx="8859600" cy="498927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logici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&amp;&amp;(and), ||(or), !(not)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</a:pPr>
            <a:r>
              <a:rPr lang="en-US" sz="28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Tahoma"/>
              </a:rPr>
              <a:t>Observaţie</a:t>
            </a:r>
            <a:r>
              <a:rPr lang="en-US" sz="28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evaluarea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expresiilor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logice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i="1" strike="noStrike" spc="-1" dirty="0" err="1">
                <a:solidFill>
                  <a:srgbClr val="000000"/>
                </a:solidFill>
                <a:latin typeface="Tahoma"/>
              </a:rPr>
              <a:t>scurtcircuitare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evaluarea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opreşte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momentul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adevăr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expresiei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sigur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determinată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)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relaţionali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&lt;, &lt;=, &gt;, &gt;=, ==, !=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pe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biţi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&amp; (and), |(or), ^(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xor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), ~(not)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operatori</a:t>
            </a:r>
            <a:r>
              <a:rPr lang="en-US" sz="28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translaţie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&lt;&lt;, &gt;&gt;, &gt;&gt;&gt; (shift-are 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dreapta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fără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semn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)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4"/>
          <p:cNvSpPr txBox="1"/>
          <p:nvPr/>
        </p:nvSpPr>
        <p:spPr>
          <a:xfrm>
            <a:off x="439560" y="228600"/>
            <a:ext cx="8419680" cy="9140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Shape 5"/>
          <p:cNvSpPr txBox="1"/>
          <p:nvPr/>
        </p:nvSpPr>
        <p:spPr>
          <a:xfrm>
            <a:off x="495360" y="16957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operatorul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condiţional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”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? : 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” . Are forma: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expresie_logica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>
                <a:solidFill>
                  <a:srgbClr val="00B0F0"/>
                </a:solidFill>
                <a:latin typeface="Tahoma"/>
              </a:rPr>
              <a:t>?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expresie1 </a:t>
            </a:r>
            <a:r>
              <a:rPr lang="en-US" sz="2400" b="0" strike="noStrike" spc="-1" dirty="0">
                <a:solidFill>
                  <a:srgbClr val="00B0F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expresie2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expresie1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expresie_logică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true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expresie2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expresie_logică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false.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calculul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minimului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numere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990720" indent="-533160">
              <a:lnSpc>
                <a:spcPct val="9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public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min (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a,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b){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return (a&lt;b) ? a : b;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}   				// la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apel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 min(x+5,y-10)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operatorul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,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virgula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evaluarea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secvenţială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operaţiilor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x=0, y=1, z=2;  (x=1,y=a=10,c=1)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Shape 5"/>
          <p:cNvSpPr txBox="1"/>
          <p:nvPr/>
        </p:nvSpPr>
        <p:spPr>
          <a:xfrm>
            <a:off x="364731" y="1591372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operatorul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+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concatenarea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şirurilor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String s="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abcd</a:t>
            </a:r>
            <a:r>
              <a:rPr lang="en-US" sz="1600" b="1" spc="-1" dirty="0">
                <a:solidFill>
                  <a:srgbClr val="000000"/>
                </a:solidFill>
                <a:latin typeface="Courier New"/>
              </a:rPr>
              <a:t>”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   x=100;	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56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(s + " - " + x); //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afiseaza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abcd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- 100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10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operatorul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conversie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de tip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(cast)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tip_de_data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 </a:t>
            </a:r>
          </a:p>
          <a:p>
            <a:pPr marL="609480" indent="-609120">
              <a:lnSpc>
                <a:spcPct val="10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  = 200;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long l  = (long)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; 	//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conversie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prin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extensie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long L2 = (long)200;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i2  = 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) L2; 	//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conversie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prin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contractie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Shape 5"/>
          <p:cNvSpPr txBox="1"/>
          <p:nvPr/>
        </p:nvSpPr>
        <p:spPr>
          <a:xfrm>
            <a:off x="495360" y="12952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0" i="1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32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   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public class Operator{  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public static void main(String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[]){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	 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a=2, b=3,c;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  c=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a+b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;	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  a++;--b;  	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  	 c=++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a+b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++; 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  a/=2;b*=2; 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  c=a-- + --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b;System.out.println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  c=b=(a+=1);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(a+" "+b+" "+c);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 }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9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Shape 5"/>
          <p:cNvSpPr txBox="1"/>
          <p:nvPr/>
        </p:nvSpPr>
        <p:spPr>
          <a:xfrm>
            <a:off x="219600" y="1741834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Comentarii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trei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feluri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singură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încep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//.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multe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închise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între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/*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*/.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multe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formează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documentaţia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închise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între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/**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**/.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Textul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dintre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douã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secvenţe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automat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mutat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          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documentaţia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aplicaţiei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generatorul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automat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documentaţie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          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javadoc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Observaţii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nu pot fi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scrise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interiorul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altor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nu pot fi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introduse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interiorul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constantelor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  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  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secvenţele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/*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*/ pot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apară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aceeaşi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secvenţa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//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dar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pierd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	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semnificaţia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;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 	la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fel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întâmplã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secvenţa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//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comentarii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încep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/*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/**.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Shape 5"/>
          <p:cNvSpPr txBox="1"/>
          <p:nvPr/>
        </p:nvSpPr>
        <p:spPr>
          <a:xfrm>
            <a:off x="295063" y="161946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9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de date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tipurile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date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împart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categorii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tipuri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primitive de date</a:t>
            </a:r>
            <a:r>
              <a:rPr lang="en-US" sz="2400" b="0" strike="noStrike" spc="-1" dirty="0">
                <a:solidFill>
                  <a:srgbClr val="008000"/>
                </a:solidFill>
                <a:latin typeface="Tahoma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90000"/>
              </a:lnSpc>
              <a:spcBef>
                <a:spcPts val="479"/>
              </a:spcBef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		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tipuri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referinţă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Java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porneşte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la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premiza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"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orice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".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tipurile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date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trebui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fie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fapt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definite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toate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trebui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memoreze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fapt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instanţe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obiecte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 ale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acestor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principiu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lucru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adevărat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uşurinţa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programării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aşa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numitele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tipuri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primitive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date,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uzuale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Shape 5"/>
          <p:cNvSpPr txBox="1"/>
          <p:nvPr/>
        </p:nvSpPr>
        <p:spPr>
          <a:xfrm>
            <a:off x="495360" y="1886040"/>
            <a:ext cx="4352400" cy="4171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>
                <a:solidFill>
                  <a:srgbClr val="008000"/>
                </a:solidFill>
                <a:latin typeface="Tahoma"/>
              </a:rPr>
              <a:t>tipuri întregi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330" name="Table 6"/>
          <p:cNvGraphicFramePr/>
          <p:nvPr/>
        </p:nvGraphicFramePr>
        <p:xfrm>
          <a:off x="5000760" y="1886040"/>
          <a:ext cx="4354200" cy="3476160"/>
        </p:xfrm>
        <a:graphic>
          <a:graphicData uri="http://schemas.openxmlformats.org/drawingml/2006/table">
            <a:tbl>
              <a:tblPr/>
              <a:tblGrid>
                <a:gridCol w="14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Tip de date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Dimensiune în octeţi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  <a:ea typeface="Times New Roman"/>
                        </a:rPr>
                        <a:t>Domeniu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byte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-128 .. 127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short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-32768 .. 32767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int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-2147483648 ..  2147483647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long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-2^63 .. 2^63-1 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4"/>
          <p:cNvSpPr txBox="1"/>
          <p:nvPr/>
        </p:nvSpPr>
        <p:spPr>
          <a:xfrm>
            <a:off x="439560" y="228600"/>
            <a:ext cx="8419680" cy="685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Shape 5"/>
          <p:cNvSpPr txBox="1"/>
          <p:nvPr/>
        </p:nvSpPr>
        <p:spPr>
          <a:xfrm>
            <a:off x="495360" y="1886040"/>
            <a:ext cx="4352400" cy="4171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>
                <a:solidFill>
                  <a:srgbClr val="008000"/>
                </a:solidFill>
                <a:latin typeface="Tahoma"/>
              </a:rPr>
              <a:t>tipuri reale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336" name="Table 6"/>
          <p:cNvGraphicFramePr/>
          <p:nvPr/>
        </p:nvGraphicFramePr>
        <p:xfrm>
          <a:off x="4114800" y="1886040"/>
          <a:ext cx="5240160" cy="20570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Tip de date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Dimensiune în octeţi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Domeniu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float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-10^46 .. 10^38 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double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-10^324 .. 10^308 </a:t>
                      </a:r>
                      <a:endParaRPr lang="en-US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Shape 5"/>
          <p:cNvSpPr txBox="1"/>
          <p:nvPr/>
        </p:nvSpPr>
        <p:spPr>
          <a:xfrm>
            <a:off x="495360" y="16957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tipul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caracter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char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memorat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2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octeţi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tipul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boolean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–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true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false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limbaje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formatul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dimensiunea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primitive de date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-un program pot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depinde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platforma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rulează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programul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lucru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valabil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Java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fiind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independent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platformă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Vectorii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interfeţele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tipuri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tip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adresă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memorie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mulţimea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reprezentată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respectivă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trei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date C care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suportate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limbajul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Java: pointer,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struct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union.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Pointerii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fost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eliminaţi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cauza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erau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sursă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constantă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erori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locul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fiind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struct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union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rostul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atât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timp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cât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compuse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date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formate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intermediul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Shape 5"/>
          <p:cNvSpPr txBox="1"/>
          <p:nvPr/>
        </p:nvSpPr>
        <p:spPr>
          <a:xfrm>
            <a:off x="495360" y="16957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561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800" b="1" strike="noStrike" spc="-1" dirty="0" err="1">
                <a:solidFill>
                  <a:srgbClr val="008000"/>
                </a:solidFill>
                <a:latin typeface="Tahoma"/>
              </a:rPr>
              <a:t>Variabile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avea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 tip fie un tip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primitiv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fie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la 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Declararea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variabilelor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_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de_date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NumeVariabila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Iniţializarea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variabilelor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se face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NumeVariabila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=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valoare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 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iniţializarea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pot fi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făcute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moment: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_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de_date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NumeVariabila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=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valoare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 </a:t>
            </a:r>
          </a:p>
          <a:p>
            <a:pPr marL="609480" indent="-60912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Declararea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constantelor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final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tip_de_date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NumeVariabila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 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final double PI = 3.14;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Shape 5"/>
          <p:cNvSpPr txBox="1"/>
          <p:nvPr/>
        </p:nvSpPr>
        <p:spPr>
          <a:xfrm>
            <a:off x="439560" y="161946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funcţie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locul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împart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următoarele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categorii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Variabile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membru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interiorul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vizibile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toate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respective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funcţie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modificatorul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acces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Variabile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locale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-o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într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-un bloc de cod,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vizibile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/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blocul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respectiv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Parametrii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metodelor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vizibili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respectivă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Parametrii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de la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tratarea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excepţiilor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Imaginea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următoare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ilustrează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tipurile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parametrii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împreună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domeniul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vizibilitate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Shape 4"/>
          <p:cNvSpPr txBox="1"/>
          <p:nvPr/>
        </p:nvSpPr>
        <p:spPr>
          <a:xfrm>
            <a:off x="439560" y="228600"/>
            <a:ext cx="8419680" cy="685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Shape 5"/>
          <p:cNvSpPr txBox="1"/>
          <p:nvPr/>
        </p:nvSpPr>
        <p:spPr>
          <a:xfrm>
            <a:off x="495360" y="1066680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400" b="1" strike="noStrike" spc="-1">
                <a:solidFill>
                  <a:srgbClr val="000000"/>
                </a:solidFill>
                <a:latin typeface="Courier New"/>
              </a:rPr>
              <a:t>Imaginea următoare ilustrează tipurile de variabile şi parametrii împreună cu domeniul lor de vizibilitate</a:t>
            </a:r>
            <a:r>
              <a:rPr lang="en-US" sz="3200" b="0" strike="noStrike" spc="-1">
                <a:solidFill>
                  <a:srgbClr val="000000"/>
                </a:solidFill>
                <a:latin typeface="Tahoma"/>
              </a:rPr>
              <a:t> </a:t>
            </a:r>
          </a:p>
        </p:txBody>
      </p:sp>
      <p:grpSp>
        <p:nvGrpSpPr>
          <p:cNvPr id="357" name="Group 6"/>
          <p:cNvGrpSpPr/>
          <p:nvPr/>
        </p:nvGrpSpPr>
        <p:grpSpPr>
          <a:xfrm>
            <a:off x="4648319" y="1532709"/>
            <a:ext cx="3903497" cy="4588371"/>
            <a:chOff x="4648320" y="1905120"/>
            <a:chExt cx="3563640" cy="4215960"/>
          </a:xfrm>
        </p:grpSpPr>
        <p:grpSp>
          <p:nvGrpSpPr>
            <p:cNvPr id="358" name="Group 7"/>
            <p:cNvGrpSpPr/>
            <p:nvPr/>
          </p:nvGrpSpPr>
          <p:grpSpPr>
            <a:xfrm>
              <a:off x="4659480" y="2178720"/>
              <a:ext cx="3552480" cy="3942360"/>
              <a:chOff x="4659480" y="2178720"/>
              <a:chExt cx="3552480" cy="3942360"/>
            </a:xfrm>
          </p:grpSpPr>
          <p:sp>
            <p:nvSpPr>
              <p:cNvPr id="359" name="CustomShape 8"/>
              <p:cNvSpPr/>
              <p:nvPr/>
            </p:nvSpPr>
            <p:spPr>
              <a:xfrm>
                <a:off x="4669200" y="2178720"/>
                <a:ext cx="3542760" cy="3942360"/>
              </a:xfrm>
              <a:prstGeom prst="rect">
                <a:avLst/>
              </a:prstGeom>
              <a:solidFill>
                <a:srgbClr val="FDFEE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360" name="CustomShape 9"/>
              <p:cNvSpPr/>
              <p:nvPr/>
            </p:nvSpPr>
            <p:spPr>
              <a:xfrm>
                <a:off x="4659480" y="2301840"/>
                <a:ext cx="3378960" cy="985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{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   </a:t>
                </a:r>
                <a:r>
                  <a:rPr lang="en-US" sz="1200" b="1" strike="noStrike" spc="-1" dirty="0" err="1">
                    <a:solidFill>
                      <a:srgbClr val="000000"/>
                    </a:solidFill>
                    <a:latin typeface="Arial"/>
                  </a:rPr>
                  <a:t>declararea</a:t>
                </a: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1200" b="1" strike="noStrike" spc="-1" dirty="0" err="1">
                    <a:solidFill>
                      <a:srgbClr val="000000"/>
                    </a:solidFill>
                    <a:latin typeface="Arial"/>
                  </a:rPr>
                  <a:t>variabilelor</a:t>
                </a: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1200" b="1" strike="noStrike" spc="-1" dirty="0" err="1">
                    <a:solidFill>
                      <a:srgbClr val="000000"/>
                    </a:solidFill>
                    <a:latin typeface="Arial"/>
                  </a:rPr>
                  <a:t>membru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  ...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   public void </a:t>
                </a:r>
                <a:r>
                  <a:rPr lang="en-US" sz="1200" b="0" strike="noStrike" spc="-1" dirty="0" err="1">
                    <a:solidFill>
                      <a:srgbClr val="000000"/>
                    </a:solidFill>
                    <a:latin typeface="Arial"/>
                  </a:rPr>
                  <a:t>Metoda</a:t>
                </a: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 (</a:t>
                </a:r>
                <a:r>
                  <a:rPr lang="en-US" sz="1200" b="1" strike="noStrike" spc="-1" dirty="0" err="1">
                    <a:solidFill>
                      <a:srgbClr val="000000"/>
                    </a:solidFill>
                    <a:latin typeface="Arial"/>
                  </a:rPr>
                  <a:t>parametrii</a:t>
                </a: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1200" b="1" strike="noStrike" spc="-1" dirty="0" err="1">
                    <a:solidFill>
                      <a:srgbClr val="000000"/>
                    </a:solidFill>
                    <a:latin typeface="Arial"/>
                  </a:rPr>
                  <a:t>metodei</a:t>
                </a: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) 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lang="en-US" sz="1200" b="0" strike="noStrike" spc="-1" dirty="0">
                  <a:latin typeface="Arial"/>
                </a:endParaRPr>
              </a:p>
            </p:txBody>
          </p:sp>
          <p:sp>
            <p:nvSpPr>
              <p:cNvPr id="361" name="CustomShape 10"/>
              <p:cNvSpPr/>
              <p:nvPr/>
            </p:nvSpPr>
            <p:spPr>
              <a:xfrm>
                <a:off x="4783320" y="3164400"/>
                <a:ext cx="3199680" cy="2463840"/>
              </a:xfrm>
              <a:prstGeom prst="rect">
                <a:avLst/>
              </a:prstGeom>
              <a:solidFill>
                <a:srgbClr val="CCFFCC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362" name="CustomShape 11"/>
              <p:cNvSpPr/>
              <p:nvPr/>
            </p:nvSpPr>
            <p:spPr>
              <a:xfrm>
                <a:off x="4783320" y="3168000"/>
                <a:ext cx="2513880" cy="492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0" strike="noStrike" spc="-1">
                    <a:solidFill>
                      <a:srgbClr val="000000"/>
                    </a:solidFill>
                    <a:latin typeface="Arial"/>
                  </a:rPr>
                  <a:t>{</a:t>
                </a:r>
                <a:endParaRPr lang="en-US" sz="1200" b="0" strike="noStrike" spc="-1">
                  <a:latin typeface="Arial"/>
                </a:endParaRPr>
              </a:p>
            </p:txBody>
          </p:sp>
          <p:sp>
            <p:nvSpPr>
              <p:cNvPr id="363" name="CustomShape 12"/>
              <p:cNvSpPr/>
              <p:nvPr/>
            </p:nvSpPr>
            <p:spPr>
              <a:xfrm>
                <a:off x="4793040" y="5139000"/>
                <a:ext cx="2513880" cy="492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  …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}</a:t>
                </a:r>
                <a:endParaRPr lang="en-US" sz="1200" b="0" strike="noStrike" spc="-1" dirty="0">
                  <a:latin typeface="Arial"/>
                </a:endParaRPr>
              </a:p>
            </p:txBody>
          </p:sp>
          <p:sp>
            <p:nvSpPr>
              <p:cNvPr id="364" name="CustomShape 13"/>
              <p:cNvSpPr/>
              <p:nvPr/>
            </p:nvSpPr>
            <p:spPr>
              <a:xfrm>
                <a:off x="4897800" y="3681360"/>
                <a:ext cx="3023280" cy="1454040"/>
              </a:xfrm>
              <a:prstGeom prst="rect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365" name="CustomShape 14"/>
              <p:cNvSpPr/>
              <p:nvPr/>
            </p:nvSpPr>
            <p:spPr>
              <a:xfrm>
                <a:off x="4897800" y="3681360"/>
                <a:ext cx="3137400" cy="615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000000"/>
                    </a:solidFill>
                    <a:latin typeface="Arial"/>
                  </a:rPr>
                  <a:t>declararea variabilelor locale</a:t>
                </a:r>
                <a:endParaRPr lang="en-US" sz="1200" b="0" strike="noStrike" spc="-1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000000"/>
                    </a:solidFill>
                    <a:latin typeface="Arial"/>
                  </a:rPr>
                  <a:t>…</a:t>
                </a:r>
                <a:endParaRPr lang="en-US" sz="1200" b="0" strike="noStrike" spc="-1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0" strike="noStrike" spc="-1">
                    <a:solidFill>
                      <a:srgbClr val="000000"/>
                    </a:solidFill>
                    <a:latin typeface="Arial"/>
                  </a:rPr>
                  <a:t>catch (</a:t>
                </a:r>
                <a:r>
                  <a:rPr lang="en-US" sz="1200" b="1" strike="noStrike" spc="-1">
                    <a:solidFill>
                      <a:srgbClr val="000000"/>
                    </a:solidFill>
                    <a:latin typeface="Arial"/>
                  </a:rPr>
                  <a:t>parametrii de la tratarea excepţiilor</a:t>
                </a:r>
                <a:r>
                  <a:rPr lang="en-US" sz="1200" b="0" strike="noStrike" spc="-1">
                    <a:solidFill>
                      <a:srgbClr val="000000"/>
                    </a:solidFill>
                    <a:latin typeface="Arial"/>
                  </a:rPr>
                  <a:t>)</a:t>
                </a:r>
                <a:endParaRPr lang="en-US" sz="1200" b="0" strike="noStrike" spc="-1">
                  <a:latin typeface="Arial"/>
                </a:endParaRPr>
              </a:p>
            </p:txBody>
          </p:sp>
          <p:sp>
            <p:nvSpPr>
              <p:cNvPr id="366" name="CustomShape 15"/>
              <p:cNvSpPr/>
              <p:nvPr/>
            </p:nvSpPr>
            <p:spPr>
              <a:xfrm>
                <a:off x="5011920" y="4297320"/>
                <a:ext cx="2513880" cy="714960"/>
              </a:xfrm>
              <a:prstGeom prst="rect">
                <a:avLst/>
              </a:prstGeom>
              <a:solidFill>
                <a:srgbClr val="FF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0" strike="noStrike" spc="-1">
                    <a:solidFill>
                      <a:srgbClr val="000000"/>
                    </a:solidFill>
                    <a:latin typeface="Arial"/>
                  </a:rPr>
                  <a:t>{</a:t>
                </a:r>
                <a:endParaRPr lang="en-US" sz="1200" b="0" strike="noStrike" spc="-1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000000"/>
                    </a:solidFill>
                    <a:latin typeface="Arial"/>
                  </a:rPr>
                  <a:t>   …</a:t>
                </a:r>
                <a:endParaRPr lang="en-US" sz="1200" b="0" strike="noStrike" spc="-1">
                  <a:latin typeface="Arial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sz="1100" b="0" strike="noStrike" spc="-1">
                    <a:solidFill>
                      <a:srgbClr val="000000"/>
                    </a:solidFill>
                    <a:latin typeface="Times New Roman"/>
                  </a:rPr>
                  <a:t>}</a:t>
                </a:r>
                <a:endParaRPr lang="en-US" sz="1100" b="0" strike="noStrike" spc="-1">
                  <a:latin typeface="Arial"/>
                </a:endParaRPr>
              </a:p>
            </p:txBody>
          </p:sp>
          <p:sp>
            <p:nvSpPr>
              <p:cNvPr id="367" name="CustomShape 16"/>
              <p:cNvSpPr/>
              <p:nvPr/>
            </p:nvSpPr>
            <p:spPr>
              <a:xfrm>
                <a:off x="4669200" y="5601240"/>
                <a:ext cx="2513880" cy="492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 dirty="0">
                    <a:solidFill>
                      <a:srgbClr val="000000"/>
                    </a:solidFill>
                    <a:latin typeface="Arial"/>
                  </a:rPr>
                  <a:t>   …</a:t>
                </a:r>
                <a:endParaRPr lang="en-US" sz="1200" b="0" strike="noStrike" spc="-1" dirty="0"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0" strike="noStrike" spc="-1" dirty="0">
                    <a:solidFill>
                      <a:srgbClr val="000000"/>
                    </a:solidFill>
                    <a:latin typeface="Arial"/>
                  </a:rPr>
                  <a:t>}</a:t>
                </a:r>
                <a:endParaRPr lang="en-US" sz="1200" b="0" strike="noStrike" spc="-1" dirty="0">
                  <a:latin typeface="Arial"/>
                </a:endParaRPr>
              </a:p>
            </p:txBody>
          </p:sp>
        </p:grpSp>
        <p:sp>
          <p:nvSpPr>
            <p:cNvPr id="368" name="CustomShape 17"/>
            <p:cNvSpPr/>
            <p:nvPr/>
          </p:nvSpPr>
          <p:spPr>
            <a:xfrm>
              <a:off x="4648320" y="1905120"/>
              <a:ext cx="3428280" cy="369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0" strike="noStrike" spc="-1">
                  <a:solidFill>
                    <a:srgbClr val="000000"/>
                  </a:solidFill>
                  <a:latin typeface="Arial"/>
                </a:rPr>
                <a:t>public class Nume_Clasa</a:t>
              </a:r>
              <a:endParaRPr lang="en-US" sz="12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5"/>
          <p:cNvSpPr txBox="1"/>
          <p:nvPr/>
        </p:nvSpPr>
        <p:spPr>
          <a:xfrm>
            <a:off x="551040" y="1449583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Tablouri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vectori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)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1371600" indent="-45684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Tablouri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unidimensionale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Declararea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tablou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561"/>
              </a:spcBef>
            </a:pP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[]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numeTablou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 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561"/>
              </a:spcBef>
            </a:pPr>
            <a:r>
              <a:rPr lang="en-US" sz="2800" b="1" strike="noStrike" spc="-1" dirty="0">
                <a:solidFill>
                  <a:srgbClr val="000000"/>
                </a:solidFill>
                <a:latin typeface="Tahoma"/>
              </a:rPr>
              <a:t>	 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numeTablou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[];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561"/>
              </a:spcBef>
            </a:pP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unde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TipElement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tipul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elementelor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vectorului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iar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parantezele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[]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aşezate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înaintea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după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vectorului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arată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vorba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despre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un vector.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28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	</a:t>
            </a:r>
          </a:p>
          <a:p>
            <a:pPr marL="609480" indent="-609120">
              <a:lnSpc>
                <a:spcPct val="80000"/>
              </a:lnSpc>
              <a:spcBef>
                <a:spcPts val="561"/>
              </a:spcBef>
            </a:pP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[] v;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String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adrese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[];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Shape 5"/>
          <p:cNvSpPr txBox="1"/>
          <p:nvPr/>
        </p:nvSpPr>
        <p:spPr>
          <a:xfrm>
            <a:off x="495360" y="1886040"/>
            <a:ext cx="8859600" cy="4171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Instanţierea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vector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realizează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new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are ca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efect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alocarea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memoriei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necesare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memorarea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elementelor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vectorului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precis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numărului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maxim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avea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vectorul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Instanţierea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vector se face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astfel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numeVector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dimensiune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];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	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v = new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[10];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	      //se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alocă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spaţiu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pentru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10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întregi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adrese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String[100];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//se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alocă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spaţiu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pentru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 100 de String-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urier New"/>
              </a:rPr>
              <a:t>uri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instanţierea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vector pot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făcute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simultan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astfel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[]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numeVector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dimensiune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];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[] v = new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[10];	//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asta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va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recomand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Shape 4"/>
          <p:cNvSpPr txBox="1"/>
          <p:nvPr/>
        </p:nvSpPr>
        <p:spPr>
          <a:xfrm>
            <a:off x="439560" y="228600"/>
            <a:ext cx="8419680" cy="11426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Shape 5"/>
          <p:cNvSpPr txBox="1"/>
          <p:nvPr/>
        </p:nvSpPr>
        <p:spPr>
          <a:xfrm>
            <a:off x="495360" y="1886040"/>
            <a:ext cx="8859600" cy="4171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După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declararea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vector,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acesta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iniţializat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adică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elementele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sale pot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primi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valori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caz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instanţierea</a:t>
            </a:r>
            <a:r>
              <a:rPr lang="en-US" sz="16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lipseşte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alocarea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memoriei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făcându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-se automat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funcţie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numărul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cu care se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iniţializează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vectorul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600" b="1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16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	String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culori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[] = {"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Rosu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", "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Galben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", "Verde"};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	int []v = {2, 4, 6, 8, 10, 12};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600" b="0" i="1" strike="noStrike" spc="-1" dirty="0" err="1">
                <a:solidFill>
                  <a:srgbClr val="000000"/>
                </a:solidFill>
                <a:latin typeface="Tahoma"/>
              </a:rPr>
              <a:t>Observaţii</a:t>
            </a:r>
            <a:r>
              <a:rPr lang="en-US" sz="16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-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Primul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indice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al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vector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0,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deci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poziţiile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vector cu n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vor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cuprinse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      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între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0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n-1.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- Nu sunt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permise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construcţii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genul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TipElement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numeVector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dimensiune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]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alocarea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memoriei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făcându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-se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intermediul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operatorului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1" strike="noStrike" spc="-1" dirty="0">
                <a:solidFill>
                  <a:srgbClr val="008000"/>
                </a:solidFill>
                <a:latin typeface="Tahoma"/>
              </a:rPr>
              <a:t>new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iniţializare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600" b="1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16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	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int v[10];		//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incorect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int v[] = new int[10];	//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corect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Shape 5"/>
          <p:cNvSpPr txBox="1"/>
          <p:nvPr/>
        </p:nvSpPr>
        <p:spPr>
          <a:xfrm>
            <a:off x="495360" y="1371600"/>
            <a:ext cx="8859600" cy="4686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1" strike="noStrike" spc="-1">
                <a:solidFill>
                  <a:srgbClr val="008000"/>
                </a:solidFill>
                <a:latin typeface="Tahoma"/>
              </a:rPr>
              <a:t>Accesul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 la elementul unui vector se face prin:</a:t>
            </a:r>
          </a:p>
          <a:p>
            <a:pPr marL="343080" indent="-342720">
              <a:lnSpc>
                <a:spcPct val="90000"/>
              </a:lnSpc>
              <a:spcBef>
                <a:spcPts val="561"/>
              </a:spcBef>
            </a:pPr>
            <a:r>
              <a:rPr lang="en-US" sz="2800" b="1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numeVector[indice]</a:t>
            </a:r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i="1" strike="noStrike" spc="-1">
                <a:solidFill>
                  <a:srgbClr val="008000"/>
                </a:solidFill>
                <a:latin typeface="Tahoma"/>
              </a:rPr>
              <a:t>Exemplu 1</a:t>
            </a:r>
            <a:r>
              <a:rPr lang="en-US" sz="2800" b="0" i="1" strike="noStrike" spc="-1">
                <a:solidFill>
                  <a:srgbClr val="000000"/>
                </a:solidFill>
                <a:latin typeface="Tahoma"/>
              </a:rPr>
              <a:t>: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561"/>
              </a:spcBef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int v[]=new int[10];	</a:t>
            </a:r>
            <a:endParaRPr lang="en-US" sz="18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		for(i=0; i&lt;10; i++)</a:t>
            </a:r>
            <a:endParaRPr lang="en-US" sz="18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			v[i]=i;</a:t>
            </a:r>
            <a:endParaRPr lang="en-US" sz="18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i="1" strike="noStrike" spc="-1">
                <a:solidFill>
                  <a:srgbClr val="008000"/>
                </a:solidFill>
                <a:latin typeface="Tahoma"/>
              </a:rPr>
              <a:t>Exemplu 2</a:t>
            </a:r>
            <a:r>
              <a:rPr lang="en-US" sz="2800" b="0" i="1" strike="noStrike" spc="-1">
                <a:solidFill>
                  <a:srgbClr val="000000"/>
                </a:solidFill>
                <a:latin typeface="Tahoma"/>
              </a:rPr>
              <a:t>:</a:t>
            </a:r>
            <a:endParaRPr lang="en-US" sz="28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561"/>
              </a:spcBef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int v[]={1,2,3,4,5};	//corect!! este initializare</a:t>
            </a: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		for(i=0; i&lt;5; i++)</a:t>
            </a: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			System.out.println(v[i]+” *“);</a:t>
            </a: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Shape 5"/>
          <p:cNvSpPr txBox="1"/>
          <p:nvPr/>
        </p:nvSpPr>
        <p:spPr>
          <a:xfrm>
            <a:off x="495360" y="1371600"/>
            <a:ext cx="8859600" cy="4686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>
                <a:solidFill>
                  <a:srgbClr val="000000"/>
                </a:solidFill>
                <a:latin typeface="Tahoma"/>
              </a:rPr>
              <a:t>Tablouri cu mai multe dimensiuni</a:t>
            </a: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1371600" indent="-456840">
              <a:lnSpc>
                <a:spcPct val="80000"/>
              </a:lnSpc>
              <a:spcBef>
                <a:spcPts val="479"/>
              </a:spcBef>
            </a:pP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În Java tablourile cu mai multe dimensiuni sunt de fapt tablouri  de tablouri. Prin urmare,  declararea, instanţierea şi iniţializarea se fac la fel ca în cazul tablourilor unidimensionale.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TipElement numeTablou[][]… = new TipElement[dim1][dim2]…</a:t>
            </a: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	sau</a:t>
            </a:r>
            <a:r>
              <a:rPr lang="en-US" sz="2000" b="1" strike="noStrike" spc="-1">
                <a:solidFill>
                  <a:srgbClr val="000000"/>
                </a:solidFill>
                <a:latin typeface="Tahoma"/>
              </a:rPr>
              <a:t>   </a:t>
            </a:r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>
                <a:solidFill>
                  <a:srgbClr val="000000"/>
                </a:solidFill>
                <a:latin typeface="Tahoma"/>
              </a:rPr>
              <a:t>      </a:t>
            </a: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TipElement[][]… numeTablou = new[dim1][dim2]… TipElement</a:t>
            </a: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(parantezele pot fi de o parte şi de alta a lui  </a:t>
            </a:r>
            <a:r>
              <a:rPr lang="en-US" sz="1600" b="1" strike="noStrike" spc="-1">
                <a:solidFill>
                  <a:srgbClr val="000000"/>
                </a:solidFill>
                <a:latin typeface="Courier New"/>
              </a:rPr>
              <a:t>numeTablou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)</a:t>
            </a: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>
                <a:solidFill>
                  <a:srgbClr val="000000"/>
                </a:solidFill>
                <a:latin typeface="Tahoma"/>
              </a:rPr>
              <a:t>: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 		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int m[][];		//declararea unei matrice	</a:t>
            </a:r>
            <a:endParaRPr lang="en-US" sz="18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		m = new int[5][10];	//cu 5 linii, 10 coloane  </a:t>
            </a:r>
            <a:endParaRPr lang="en-US" sz="18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i="1" strike="noStrike" spc="-1">
                <a:solidFill>
                  <a:srgbClr val="000000"/>
                </a:solidFill>
                <a:latin typeface="Tahoma"/>
              </a:rPr>
              <a:t>        Observaţie: </a:t>
            </a:r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1" strike="noStrike" spc="-1">
                <a:solidFill>
                  <a:srgbClr val="000000"/>
                </a:solidFill>
                <a:latin typeface="Courier New"/>
              </a:rPr>
              <a:t>m[0], m[1], ..., m[4]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 sunt tablouri de întregi cu 10 elemente</a:t>
            </a:r>
            <a:r>
              <a:rPr lang="en-US" sz="1400" b="0" strike="noStrike" spc="-1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Shape 5"/>
          <p:cNvSpPr txBox="1"/>
          <p:nvPr/>
        </p:nvSpPr>
        <p:spPr>
          <a:xfrm>
            <a:off x="457200" y="1219320"/>
            <a:ext cx="8859600" cy="4857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09680" indent="-38052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Dimensiunea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unui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tablou</a:t>
            </a:r>
            <a:r>
              <a:rPr lang="en-US" sz="12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2209680" indent="-380520">
              <a:lnSpc>
                <a:spcPct val="80000"/>
              </a:lnSpc>
              <a:spcBef>
                <a:spcPts val="241"/>
              </a:spcBef>
            </a:pP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ajutorul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cuvântului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cheie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length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afla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dimensiunea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tablou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18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Fie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vectorul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int []a = new int[5];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atunci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a.length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5.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Fie 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matricea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int m[][] = new int[5][10];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atunci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m.length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		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5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numărul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al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matricei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m[0].length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	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10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numărul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al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	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primei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matricei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m[1].length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	are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10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reprezintă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numărul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al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celei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		de-a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doua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linii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matricei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etc.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Shape 5"/>
          <p:cNvSpPr txBox="1"/>
          <p:nvPr/>
        </p:nvSpPr>
        <p:spPr>
          <a:xfrm>
            <a:off x="495360" y="1447920"/>
            <a:ext cx="8859600" cy="46098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4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4000" b="0" i="1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calculeze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minimul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elementelor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Tahoma"/>
              </a:rPr>
              <a:t>tablou</a:t>
            </a: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90000"/>
              </a:lnSpc>
              <a:spcBef>
                <a:spcPts val="799"/>
              </a:spcBef>
            </a:pPr>
            <a:r>
              <a:rPr lang="en-US" sz="4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public class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MinVect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  public static void main(String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[]){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t[]={2,1,4,7,3};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min=t[0];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for(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=1;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t.length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++)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	if (t[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]&lt;min) min=t[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];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Minimul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este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"+min);  	  }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}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Shape 5"/>
          <p:cNvSpPr txBox="1"/>
          <p:nvPr/>
        </p:nvSpPr>
        <p:spPr>
          <a:xfrm>
            <a:off x="495360" y="1314720"/>
            <a:ext cx="8859600" cy="4914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Java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permite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folosirea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tablourilor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dimensiuni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adică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, a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tablourilor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tablouri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dimensiuni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b="0" i="1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genereze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afişeze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triunghiul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Tahoma"/>
              </a:rPr>
              <a:t>lui</a:t>
            </a:r>
            <a:r>
              <a:rPr lang="en-US" b="0" strike="noStrike" spc="-1" dirty="0">
                <a:solidFill>
                  <a:srgbClr val="000000"/>
                </a:solidFill>
                <a:latin typeface="Tahoma"/>
              </a:rPr>
              <a:t> Pascal.</a:t>
            </a: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public class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TrPascal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public static void main(String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[]){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[]t[] =new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[10][];		//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declarare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matrice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variabila</a:t>
            </a:r>
            <a:endParaRPr lang="en-US" sz="105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t[0]   	=new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[1];		//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initializare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primele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2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linii</a:t>
            </a:r>
            <a:endParaRPr lang="en-US" sz="105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t[1]   	=new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[2];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t[0][0]	=t[1][0]=t[1][1]=1;		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for(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=2;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t.length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++){		//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generare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triunghi</a:t>
            </a:r>
            <a:endParaRPr lang="en-US" sz="105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]=new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[i+1];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][0]=t[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]=1;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for(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j=1; j&lt;t[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].length-1;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j++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  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][j]=t[i-1][j-1]+t[i-1][j];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}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for(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=0;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t.length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++){		//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afisare</a:t>
            </a:r>
            <a:r>
              <a:rPr lang="en-US" sz="105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050" b="0" strike="noStrike" spc="-1" dirty="0" err="1">
                <a:solidFill>
                  <a:srgbClr val="000000"/>
                </a:solidFill>
                <a:latin typeface="Courier New"/>
              </a:rPr>
              <a:t>triunghi</a:t>
            </a:r>
            <a:endParaRPr lang="en-US" sz="105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for(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j=0; j&lt;t[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].length;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j++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(t[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][j]+" ");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("");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} 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}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Shape 5"/>
          <p:cNvSpPr txBox="1"/>
          <p:nvPr/>
        </p:nvSpPr>
        <p:spPr>
          <a:xfrm>
            <a:off x="495360" y="990720"/>
            <a:ext cx="8859600" cy="5067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Şiruri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caractere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Java, un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reprezentat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printr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-un </a:t>
            </a:r>
            <a:r>
              <a:rPr lang="en-US" sz="1800" b="0" strike="noStrike" spc="-1" dirty="0" err="1">
                <a:solidFill>
                  <a:srgbClr val="008000"/>
                </a:solidFill>
                <a:latin typeface="Tahoma"/>
              </a:rPr>
              <a:t>tablou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format din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elemente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tip </a:t>
            </a:r>
            <a:r>
              <a:rPr lang="en-US" sz="1800" b="0" strike="noStrike" spc="-1" dirty="0">
                <a:solidFill>
                  <a:srgbClr val="008000"/>
                </a:solidFill>
                <a:latin typeface="Tahoma"/>
              </a:rPr>
              <a:t>char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un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tip </a:t>
            </a:r>
            <a:r>
              <a:rPr lang="en-US" sz="1800" b="0" strike="noStrike" spc="-1" dirty="0">
                <a:solidFill>
                  <a:srgbClr val="008000"/>
                </a:solidFill>
                <a:latin typeface="Tahoma"/>
              </a:rPr>
              <a:t>String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tip </a:t>
            </a:r>
            <a:r>
              <a:rPr lang="en-US" sz="1800" b="0" strike="noStrike" spc="-1" dirty="0" err="1">
                <a:solidFill>
                  <a:srgbClr val="008000"/>
                </a:solidFill>
                <a:latin typeface="Tahoma"/>
              </a:rPr>
              <a:t>StringBuffer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echivalente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declarare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abc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";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char data[] = {'a', 'b', 'c'};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String(data);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String("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abc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");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Concatenarea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şirurilor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intermediul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operatorului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+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String str1 = 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abc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" + "xyz";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String str2 = "123";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String str3 = str1 + str2;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Java,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concatenare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+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extrem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flexibil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sensul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permite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concatenarea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şirurilor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orice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tip care au 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reprezentare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tip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caractere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18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(“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Tabloul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t are" +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t.length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+ "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elemente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");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Shape 5"/>
          <p:cNvSpPr txBox="1"/>
          <p:nvPr/>
        </p:nvSpPr>
        <p:spPr>
          <a:xfrm>
            <a:off x="495360" y="1371600"/>
            <a:ext cx="8859600" cy="4686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>
                <a:solidFill>
                  <a:srgbClr val="008000"/>
                </a:solidFill>
                <a:latin typeface="Tahoma"/>
              </a:rPr>
              <a:t>Clase şi obiecte în Java</a:t>
            </a: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79"/>
              </a:spcBef>
            </a:pPr>
            <a:endParaRPr lang="en-US" sz="2400" b="0" strike="noStrike" spc="-1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>
                <a:solidFill>
                  <a:srgbClr val="008000"/>
                </a:solidFill>
                <a:latin typeface="Tahoma"/>
              </a:rPr>
              <a:t>Referinţe</a:t>
            </a:r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După cum am arătat, </a:t>
            </a:r>
            <a:r>
              <a:rPr lang="en-US" sz="2000" b="1" strike="noStrike" spc="-1">
                <a:solidFill>
                  <a:srgbClr val="008000"/>
                </a:solidFill>
                <a:latin typeface="Tahoma"/>
              </a:rPr>
              <a:t>o clasă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 este un şablon pentru mai multe obiecte cu caracteristici asemănătoare. Un obiect este o colecţie de variabile (atribute) şi metode asociate descrise în clasă.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Clasa poate fi asemănată cu un tip de date iar obiectul cu o variabilă. Dacă se declară o variabilă folosind numele unei clase ca şi tip, această variabilă conţine o </a:t>
            </a:r>
            <a:r>
              <a:rPr lang="en-US" sz="2000" b="1" strike="noStrike" spc="-1">
                <a:solidFill>
                  <a:srgbClr val="008000"/>
                </a:solidFill>
                <a:latin typeface="Tahoma"/>
              </a:rPr>
              <a:t>referinţă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 către un obiect al clasei respective. Cu alte cuvinte, variabila nu va conţine obiectul actual ci o referinţă către un obiect / o instanţă a clasei. Deoarece folosind numele unei clase ca şi tip se declară o referinţă către un obiect, aceste tipuri poartă numele de </a:t>
            </a:r>
            <a:r>
              <a:rPr lang="en-US" sz="2000" b="1" strike="noStrike" spc="-1">
                <a:solidFill>
                  <a:srgbClr val="008000"/>
                </a:solidFill>
                <a:latin typeface="Tahoma"/>
              </a:rPr>
              <a:t>tipuri referinţă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Shape 4"/>
          <p:cNvSpPr txBox="1"/>
          <p:nvPr/>
        </p:nvSpPr>
        <p:spPr>
          <a:xfrm>
            <a:off x="439560" y="228600"/>
            <a:ext cx="8419680" cy="6091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Shape 5"/>
          <p:cNvSpPr txBox="1"/>
          <p:nvPr/>
        </p:nvSpPr>
        <p:spPr>
          <a:xfrm>
            <a:off x="495360" y="990720"/>
            <a:ext cx="8859600" cy="5067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disting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caracteristici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principale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Java: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sunt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întotdeauna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alocate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dinamic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Durata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viaţă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determinată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logica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programului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începe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atunci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când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creat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termină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momentul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fiind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distrus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mecanism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curăţenie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oferit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limbajul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 – </a:t>
            </a:r>
            <a:r>
              <a:rPr lang="en-US" sz="2000" b="1" i="1" strike="noStrike" spc="-1" dirty="0">
                <a:solidFill>
                  <a:srgbClr val="008000"/>
                </a:solidFill>
                <a:latin typeface="Tahoma"/>
              </a:rPr>
              <a:t>garbage collector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colectorul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gunoaie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).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sunt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conţinute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păstrează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similară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numeşte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i="1" strike="noStrike" spc="-1" dirty="0">
                <a:solidFill>
                  <a:srgbClr val="008000"/>
                </a:solidFill>
                <a:latin typeface="Tahoma"/>
              </a:rPr>
              <a:t>pointer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limbaje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programare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cum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C++.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există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două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tip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atribuită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celeilalte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ambele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informaţia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modifică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schimbarea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vizibilă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ambele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conţine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nimic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asemenea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null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nu se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permite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fie convertite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primitive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invers.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Shape 4"/>
          <p:cNvSpPr txBox="1"/>
          <p:nvPr/>
        </p:nvSpPr>
        <p:spPr>
          <a:xfrm>
            <a:off x="439560" y="228600"/>
            <a:ext cx="8419680" cy="6091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Shape 5"/>
          <p:cNvSpPr txBox="1"/>
          <p:nvPr/>
        </p:nvSpPr>
        <p:spPr>
          <a:xfrm>
            <a:off x="495360" y="1066680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Obiecte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.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Noţiuni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generale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obiectele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sunt create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instanţierea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cuvinte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instanţe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Declararea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obiectului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 se face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numeObiect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String s;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Complex c;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urma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declarării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variabila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iniţializată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null.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Crearea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1800" b="1" strike="noStrike" spc="-1" dirty="0" err="1">
                <a:solidFill>
                  <a:srgbClr val="008000"/>
                </a:solidFill>
                <a:latin typeface="Tahoma"/>
              </a:rPr>
              <a:t>obiectului</a:t>
            </a:r>
            <a:r>
              <a:rPr lang="en-US" sz="18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echivalentă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instanţierea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realizează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intermediul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operatorului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1" strike="noStrike" spc="-1" dirty="0">
                <a:solidFill>
                  <a:srgbClr val="008000"/>
                </a:solidFill>
                <a:latin typeface="Tahoma"/>
              </a:rPr>
              <a:t>new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presupune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alocarea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spaţiului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memorie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necesar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păstrării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obiectului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Adresa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referinţa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)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obiectul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respectiv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memorată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variabila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numeObiect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numeObiect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        =new String() 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Complex c=new Complex(2,3);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Shape 5"/>
          <p:cNvSpPr txBox="1"/>
          <p:nvPr/>
        </p:nvSpPr>
        <p:spPr>
          <a:xfrm>
            <a:off x="495360" y="121932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pot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făcute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aceeaşi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linie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String  s=new String() 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Complex c=new Complex(2,3);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momentul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realizează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crearea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loc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iniţializarea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br>
              <a:rPr dirty="0"/>
            </a:b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FF6600"/>
                </a:solidFill>
                <a:latin typeface="Tahoma"/>
              </a:rPr>
              <a:t>Atenţie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Spaţiul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memorie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alocat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momentul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declarării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Complex c;   c.re = 10;	//EROARE!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Alocarea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memoriei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se face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doar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			//la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apelul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instrucţiunii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new !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Referirea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valorii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unei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obiect.variabila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4"/>
          <p:cNvSpPr txBox="1"/>
          <p:nvPr/>
        </p:nvSpPr>
        <p:spPr>
          <a:xfrm>
            <a:off x="439560" y="228600"/>
            <a:ext cx="8419680" cy="8377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Shape 5"/>
          <p:cNvSpPr txBox="1"/>
          <p:nvPr/>
        </p:nvSpPr>
        <p:spPr>
          <a:xfrm>
            <a:off x="495360" y="1371600"/>
            <a:ext cx="8859600" cy="4686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Complex c = new Complex();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c.re      = 2;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c.im      = 3;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("Re=" +c.re+ " 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Im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="+c.im);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Observaţie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la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conformitate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drepturile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oferă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respective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celorlalte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Apelul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unei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metode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face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prin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obiect.metoda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</a:t>
            </a:r>
            <a:r>
              <a:rPr lang="en-US" sz="1800" b="1" strike="noStrike" spc="-1" dirty="0" err="1">
                <a:solidFill>
                  <a:srgbClr val="FF9900"/>
                </a:solidFill>
                <a:latin typeface="Courier New"/>
              </a:rPr>
              <a:t>parametri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]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Complex c = new Complex();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c.setRe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(2);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c.setIm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(3);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Shape 5"/>
          <p:cNvSpPr txBox="1"/>
          <p:nvPr/>
        </p:nvSpPr>
        <p:spPr>
          <a:xfrm>
            <a:off x="129600" y="1606611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Operatorul</a:t>
            </a:r>
            <a:r>
              <a:rPr lang="en-US" sz="1600" b="1" strike="noStrike" spc="-1" dirty="0">
                <a:solidFill>
                  <a:srgbClr val="008000"/>
                </a:solidFill>
                <a:latin typeface="Tahoma"/>
              </a:rPr>
              <a:t> de </a:t>
            </a:r>
            <a:r>
              <a:rPr lang="en-US" sz="1600" b="1" strike="noStrike" spc="-1" dirty="0" err="1">
                <a:solidFill>
                  <a:srgbClr val="008000"/>
                </a:solidFill>
                <a:latin typeface="Tahoma"/>
              </a:rPr>
              <a:t>atribuire</a:t>
            </a:r>
            <a:r>
              <a:rPr lang="en-US" sz="1600" b="1" strike="noStrike" spc="-1" dirty="0">
                <a:solidFill>
                  <a:srgbClr val="008000"/>
                </a:solidFill>
                <a:latin typeface="Tahoma"/>
              </a:rPr>
              <a:t> =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1371600" indent="-456840">
              <a:lnSpc>
                <a:spcPct val="80000"/>
              </a:lnSpc>
              <a:spcBef>
                <a:spcPts val="320"/>
              </a:spcBef>
            </a:pP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cazul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=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împreună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cu date de tip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primitiv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, are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loc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atribuire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valori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0" i="1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4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1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x = 12, y = 10;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	x = y;  		//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Valoarea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lui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x se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schimbă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primind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valoarea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lui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y.</a:t>
            </a:r>
            <a:r>
              <a:rPr lang="en-US" sz="1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cazul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operatorul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=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împreună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cu date de tip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referinţă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, are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loc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tot o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atribuire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valori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Atâta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valorile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caz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Tahoma"/>
              </a:rPr>
              <a:t>adrese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609480" indent="-609120">
              <a:lnSpc>
                <a:spcPct val="80000"/>
              </a:lnSpc>
              <a:spcBef>
                <a:spcPts val="201"/>
              </a:spcBef>
            </a:pPr>
            <a:r>
              <a:rPr lang="en-US" sz="10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  <a:p>
            <a:pPr marL="609480" indent="-60912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4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1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class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Nimic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x;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} 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public class Test{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public static void main(String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[]){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Nimic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 a1=new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Nimic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(),a2;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a1.x=10;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a2=a1;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(a1.x+" "+a2.x);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a1.x=5;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(a1.x+" "+a2.x); 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} 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Shape 5"/>
          <p:cNvSpPr txBox="1"/>
          <p:nvPr/>
        </p:nvSpPr>
        <p:spPr>
          <a:xfrm>
            <a:off x="495360" y="12952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990720" indent="-53316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Clase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1371600" indent="-45684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Definirea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claselor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[public][abstract][final]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class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   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[extends </a:t>
            </a:r>
            <a:r>
              <a:rPr lang="en-US" sz="1800" b="1" strike="noStrike" spc="-1" dirty="0" err="1">
                <a:solidFill>
                  <a:srgbClr val="FF9900"/>
                </a:solidFill>
                <a:latin typeface="Courier New"/>
              </a:rPr>
              <a:t>NumeSuperclasa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]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	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[implements Interfata1 [, Interfata2 ... ]]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{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	//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corpul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clasei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Antetul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clasei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600" b="1" strike="noStrike" spc="-1" dirty="0">
                <a:solidFill>
                  <a:srgbClr val="FF9900"/>
                </a:solidFill>
                <a:latin typeface="Courier New"/>
              </a:rPr>
              <a:t>[public][abstract][final]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class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format din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modificatorii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clasei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cuvântul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rezervat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class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Prezenţa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parantezelor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>
                <a:solidFill>
                  <a:srgbClr val="FF9900"/>
                </a:solidFill>
                <a:latin typeface="Tahoma"/>
              </a:rPr>
              <a:t>[]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indică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faptul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cuprins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opţional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Shape 5"/>
          <p:cNvSpPr txBox="1"/>
          <p:nvPr/>
        </p:nvSpPr>
        <p:spPr>
          <a:xfrm>
            <a:off x="495360" y="1143000"/>
            <a:ext cx="8859600" cy="4914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Modificatorii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clasei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sunt: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public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public,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accesibilă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oricărei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modificatorul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public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pachetul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căruia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aparţine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anume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pachet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directorul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curent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sunt considerate a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acelaşi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pachet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Spaţiul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căutare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definit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sistem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CLASSPATH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abstract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abstractă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şablon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adică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un model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comun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serie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subclase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abstractă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incomplet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implementată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adică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sunt definite.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astfel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nu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poate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fi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instanţiată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extinsă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implementeze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nedefinite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abstracte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pot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conţină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abstracte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implementate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).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finală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fost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complet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definită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doreşte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extinsă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aibă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subclase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); cu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cuvinte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apare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clauza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extends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Shape 5"/>
          <p:cNvSpPr txBox="1"/>
          <p:nvPr/>
        </p:nvSpPr>
        <p:spPr>
          <a:xfrm>
            <a:off x="495360" y="1066680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479"/>
              </a:spcBef>
            </a:pP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Variabile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400" b="1" strike="noStrike" spc="-1" dirty="0" err="1">
                <a:solidFill>
                  <a:srgbClr val="008000"/>
                </a:solidFill>
                <a:latin typeface="Tahoma"/>
              </a:rPr>
              <a:t>membru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obicei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înaintea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lucru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impus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compilator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class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NumeClasa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{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//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declararea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variabilelor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	//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declararea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metodelor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} 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doar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corpul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corpul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cadrul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locale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respective.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presupune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următoarelor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lucruri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numele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;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date;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nivelul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la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către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alte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;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constantă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nu;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tipul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instanţă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sau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1600" b="0" strike="noStrike" spc="-1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Shape 5"/>
          <p:cNvSpPr txBox="1"/>
          <p:nvPr/>
        </p:nvSpPr>
        <p:spPr>
          <a:xfrm>
            <a:off x="416983" y="1695780"/>
            <a:ext cx="8859600" cy="476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Tiparul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declarării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: </a:t>
            </a:r>
          </a:p>
          <a:p>
            <a:pPr marL="343080" indent="-342720">
              <a:lnSpc>
                <a:spcPct val="8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2000" b="1" spc="-1" dirty="0">
                <a:solidFill>
                  <a:srgbClr val="008000"/>
                </a:solidFill>
                <a:latin typeface="Tahoma"/>
              </a:rPr>
              <a:t>[</a:t>
            </a:r>
            <a:r>
              <a:rPr lang="en-US" sz="2000" b="1" spc="-1" dirty="0" err="1">
                <a:solidFill>
                  <a:srgbClr val="008000"/>
                </a:solidFill>
                <a:latin typeface="Tahoma"/>
              </a:rPr>
              <a:t>modificatori</a:t>
            </a:r>
            <a:r>
              <a:rPr lang="en-US" sz="2000" b="1" spc="-1" dirty="0">
                <a:solidFill>
                  <a:srgbClr val="008000"/>
                </a:solidFill>
                <a:latin typeface="Tahoma"/>
              </a:rPr>
              <a:t>] </a:t>
            </a:r>
            <a:r>
              <a:rPr lang="en-US" sz="2000" b="1" spc="-1" dirty="0" err="1">
                <a:solidFill>
                  <a:srgbClr val="008000"/>
                </a:solidFill>
                <a:latin typeface="Tahoma"/>
              </a:rPr>
              <a:t>TipDeDate</a:t>
            </a:r>
            <a:r>
              <a:rPr lang="en-US" sz="2000" b="1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pc="-1" dirty="0" err="1">
                <a:solidFill>
                  <a:srgbClr val="008000"/>
                </a:solidFill>
                <a:latin typeface="Tahoma"/>
              </a:rPr>
              <a:t>numeVariabila</a:t>
            </a:r>
            <a:r>
              <a:rPr lang="en-US" sz="2000" b="1" spc="-1" dirty="0">
                <a:solidFill>
                  <a:srgbClr val="008000"/>
                </a:solidFill>
                <a:latin typeface="Tahoma"/>
              </a:rPr>
              <a:t> [= </a:t>
            </a:r>
            <a:r>
              <a:rPr lang="en-US" sz="2000" b="1" spc="-1" dirty="0" err="1">
                <a:solidFill>
                  <a:srgbClr val="008000"/>
                </a:solidFill>
                <a:latin typeface="Tahoma"/>
              </a:rPr>
              <a:t>valoareInitiala</a:t>
            </a:r>
            <a:r>
              <a:rPr lang="en-US" sz="2000" b="1" spc="-1" dirty="0">
                <a:solidFill>
                  <a:srgbClr val="008000"/>
                </a:solidFill>
                <a:latin typeface="Tahoma"/>
              </a:rPr>
              <a:t>];</a:t>
            </a:r>
          </a:p>
          <a:p>
            <a:pPr marL="343080" indent="-342720">
              <a:lnSpc>
                <a:spcPct val="8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unde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un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modificator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800" b="0" strike="noStrike" spc="-1" dirty="0">
                <a:solidFill>
                  <a:srgbClr val="000000"/>
                </a:solidFill>
                <a:latin typeface="Tahoma"/>
              </a:rPr>
              <a:t> fi : </a:t>
            </a: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un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specificator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acces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public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protected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private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;  </a:t>
            </a: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cuvintele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rezervate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transient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volatile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80000"/>
              </a:lnSpc>
              <a:spcBef>
                <a:spcPts val="56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800" b="0" i="1" strike="noStrike" spc="-1" dirty="0" err="1">
                <a:solidFill>
                  <a:srgbClr val="008000"/>
                </a:solidFill>
                <a:latin typeface="Tahoma"/>
              </a:rPr>
              <a:t>Exemple</a:t>
            </a:r>
            <a:r>
              <a:rPr lang="en-US" sz="2800" b="0" i="1" strike="noStrike" spc="-1" dirty="0">
                <a:solidFill>
                  <a:srgbClr val="000000"/>
                </a:solidFill>
                <a:latin typeface="Tahoma"/>
              </a:rPr>
              <a:t>:	</a:t>
            </a:r>
            <a:endParaRPr lang="en-US" sz="28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double x;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protected static 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 n;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public String s = "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ourier New"/>
              </a:rPr>
              <a:t>abcd</a:t>
            </a: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";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private Point p = new Point(10, 10);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2400" b="1" strike="noStrike" spc="-1" dirty="0">
                <a:solidFill>
                  <a:srgbClr val="000000"/>
                </a:solidFill>
                <a:latin typeface="Courier New"/>
              </a:rPr>
              <a:t>final long MAX = 100000L;</a:t>
            </a:r>
            <a:endParaRPr lang="en-US" sz="24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Shape 5"/>
          <p:cNvSpPr txBox="1"/>
          <p:nvPr/>
        </p:nvSpPr>
        <p:spPr>
          <a:xfrm>
            <a:off x="329897" y="161946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Cuvintele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rezervate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transient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volatile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următoarele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roluri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0" i="1" strike="noStrike" spc="-1" dirty="0">
                <a:solidFill>
                  <a:srgbClr val="008000"/>
                </a:solidFill>
                <a:latin typeface="Tahoma"/>
              </a:rPr>
              <a:t>	</a:t>
            </a: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x ; //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instanţă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static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nrDeObiecteCreate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; //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18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constantelor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constantă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cărei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schimbată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finale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neapărat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la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, ci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ulterior,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după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putea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modificată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0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iniţializează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finală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linia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1).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Valoarea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ei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modificată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linia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3).</a:t>
            </a:r>
          </a:p>
          <a:p>
            <a:pPr marL="743040" lvl="1" indent="-28548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final double PI = 3.14 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...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lvl="1" indent="-285480">
              <a:lnSpc>
                <a:spcPct val="80000"/>
              </a:lnSpc>
              <a:spcBef>
                <a:spcPts val="360"/>
              </a:spcBef>
              <a:buClr>
                <a:srgbClr val="FFCC00"/>
              </a:buClr>
              <a:buFont typeface="Monotype Sorts" charset="2"/>
              <a:buChar char=""/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PI = 3.141 //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eroare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la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compilare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Shape 5"/>
          <p:cNvSpPr txBox="1"/>
          <p:nvPr/>
        </p:nvSpPr>
        <p:spPr>
          <a:xfrm>
            <a:off x="495360" y="121932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24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declară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finală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linia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2).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linia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4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iniţializează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linia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5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doreşte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modificarea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valorii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743040" indent="-285480">
              <a:lnSpc>
                <a:spcPct val="9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class Test 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final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MAX;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Test() 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MAX = 100;	// legal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MAX = 200;	//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ilegal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-&gt;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eroare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la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compilare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9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transient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serializarea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obiectelor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specifica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variabile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membru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ale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participa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serializare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volatile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semnala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compilatorului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nu execute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anumite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optimizări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asupra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membrilor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Este o facilitate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avansată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limbajului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Java.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Shape 5"/>
          <p:cNvSpPr txBox="1"/>
          <p:nvPr/>
        </p:nvSpPr>
        <p:spPr>
          <a:xfrm>
            <a:off x="495360" y="121932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371600" indent="-45684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Metode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1752480" indent="-3805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Definirea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metodelor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sunt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folosite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descrierea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comportamentului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obiect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declară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astfel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</a:t>
            </a:r>
            <a:r>
              <a:rPr lang="en-US" sz="1800" b="1" strike="noStrike" spc="-1" dirty="0" err="1">
                <a:solidFill>
                  <a:srgbClr val="FF9900"/>
                </a:solidFill>
                <a:latin typeface="Courier New"/>
              </a:rPr>
              <a:t>modificatori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]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TipReturnat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numeMetoda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(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</a:t>
            </a:r>
            <a:r>
              <a:rPr lang="en-US" sz="1800" b="1" strike="noStrike" spc="-1" dirty="0" err="1">
                <a:solidFill>
                  <a:srgbClr val="FF9900"/>
                </a:solidFill>
                <a:latin typeface="Courier New"/>
              </a:rPr>
              <a:t>argumente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]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[throws </a:t>
            </a:r>
            <a:r>
              <a:rPr lang="en-US" sz="1800" b="1" strike="noStrike" spc="-1" dirty="0" err="1">
                <a:solidFill>
                  <a:srgbClr val="FF9900"/>
                </a:solidFill>
                <a:latin typeface="Courier New"/>
              </a:rPr>
              <a:t>TipExceptie</a:t>
            </a:r>
            <a:r>
              <a:rPr lang="en-US" sz="1800" b="1" strike="noStrike" spc="-1" dirty="0">
                <a:solidFill>
                  <a:srgbClr val="FF9900"/>
                </a:solidFill>
                <a:latin typeface="Courier New"/>
              </a:rPr>
              <a:t>]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1371600" indent="-45684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{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//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corpul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metodei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990720" indent="-533160">
              <a:lnSpc>
                <a:spcPct val="8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Modificatorii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1" strike="noStrike" spc="-1" dirty="0" err="1">
                <a:solidFill>
                  <a:srgbClr val="008000"/>
                </a:solidFill>
                <a:latin typeface="Tahoma"/>
              </a:rPr>
              <a:t>metodelor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modificator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fi :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 un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specificator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acces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public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protected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private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; </a:t>
            </a: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	-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unul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din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cuvintele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ahoma"/>
              </a:rPr>
              <a:t>rezervate</a:t>
            </a:r>
            <a:r>
              <a:rPr lang="en-US" sz="20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abstract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native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,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609480" indent="-6091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           </a:t>
            </a:r>
            <a:r>
              <a:rPr lang="en-US" sz="2000" b="1" strike="noStrike" spc="-1" dirty="0">
                <a:solidFill>
                  <a:srgbClr val="008000"/>
                </a:solidFill>
                <a:latin typeface="Tahoma"/>
              </a:rPr>
              <a:t>synchronized</a:t>
            </a:r>
            <a:r>
              <a:rPr lang="en-US" sz="2000" b="1" strike="noStrike" spc="-1" dirty="0">
                <a:solidFill>
                  <a:srgbClr val="000000"/>
                </a:solidFill>
                <a:latin typeface="Tahoma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Shape 5"/>
          <p:cNvSpPr txBox="1"/>
          <p:nvPr/>
        </p:nvSpPr>
        <p:spPr>
          <a:xfrm>
            <a:off x="495360" y="121932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Cuvintele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rezervate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abstract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native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synchronized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au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următoarele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roluri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8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static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metodelor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clasă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80000"/>
              </a:lnSpc>
              <a:spcBef>
                <a:spcPts val="641"/>
              </a:spcBef>
            </a:pPr>
            <a:r>
              <a:rPr lang="en-US" sz="3200" b="0" i="1" strike="noStrike" spc="-1" dirty="0">
                <a:solidFill>
                  <a:srgbClr val="008000"/>
                </a:solidFill>
                <a:latin typeface="Tahoma"/>
              </a:rPr>
              <a:t>	</a:t>
            </a:r>
            <a:r>
              <a:rPr lang="en-US" sz="3200" b="0" i="1" strike="noStrike" spc="-1" dirty="0" err="1">
                <a:solidFill>
                  <a:srgbClr val="008000"/>
                </a:solidFill>
                <a:latin typeface="Tahoma"/>
              </a:rPr>
              <a:t>Exemplu</a:t>
            </a:r>
            <a:r>
              <a:rPr lang="en-US" sz="3200" b="0" i="1" strike="noStrike" spc="-1" dirty="0">
                <a:solidFill>
                  <a:srgbClr val="000000"/>
                </a:solidFill>
                <a:latin typeface="Tahoma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void metoda1() ;		//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metoda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de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instanta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400"/>
              </a:spcBef>
            </a:pP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		static void metoda2();	//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metoda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</a:rPr>
              <a:t> de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/>
              </a:rPr>
              <a:t>clasa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1" strike="noStrike" spc="-1" dirty="0">
                <a:solidFill>
                  <a:srgbClr val="008000"/>
                </a:solidFill>
                <a:latin typeface="Tahoma"/>
              </a:rPr>
              <a:t>abstract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declararea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metodelor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abstracte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. O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abstractă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o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care nu are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implementare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şi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să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aparţină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clase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Tahoma"/>
              </a:rPr>
              <a:t>abstracte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Shape 5"/>
          <p:cNvSpPr txBox="1"/>
          <p:nvPr/>
        </p:nvSpPr>
        <p:spPr>
          <a:xfrm>
            <a:off x="382149" y="1619460"/>
            <a:ext cx="8859600" cy="48384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final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specifica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faptul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nu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poate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supradefinită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subclasele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clasei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definită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fiind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finală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Acest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lucru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util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dacă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respectiva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are o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implementare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nu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trebuie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schimbată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subclasele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native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pentru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refolosirea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funcţii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scrise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alt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limbaj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programare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decât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Java (C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exemplu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).</a:t>
            </a:r>
          </a:p>
          <a:p>
            <a:pPr marL="343080" indent="-342720">
              <a:lnSpc>
                <a:spcPct val="90000"/>
              </a:lnSpc>
              <a:spcBef>
                <a:spcPts val="479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400" b="1" strike="noStrike" spc="-1" dirty="0">
                <a:solidFill>
                  <a:srgbClr val="008000"/>
                </a:solidFill>
                <a:latin typeface="Tahoma"/>
              </a:rPr>
              <a:t>synchronized</a:t>
            </a:r>
            <a:r>
              <a:rPr lang="en-US" sz="2400" b="1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este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folosit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cazul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în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lucrează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mai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multe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fire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execuţie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iar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respectivă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se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ocupă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partajarea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resurse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comune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 Are ca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efect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construirea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semafor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care nu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permite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executarea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metodei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la un moment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dat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decât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unui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singur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 fir de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ahoma"/>
              </a:rPr>
              <a:t>execuţie</a:t>
            </a:r>
            <a:r>
              <a:rPr lang="en-US" sz="2400" b="0" strike="noStrike" spc="-1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Shape 4"/>
          <p:cNvSpPr txBox="1"/>
          <p:nvPr/>
        </p:nvSpPr>
        <p:spPr>
          <a:xfrm>
            <a:off x="439560" y="228600"/>
            <a:ext cx="8419680" cy="6091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 err="1">
                <a:solidFill>
                  <a:srgbClr val="FF6600"/>
                </a:solidFill>
                <a:latin typeface="Arial Black"/>
              </a:rPr>
              <a:t>Exemple</a:t>
            </a:r>
            <a:r>
              <a:rPr lang="en-US" sz="3600" b="0" strike="noStrike" spc="-1" dirty="0">
                <a:solidFill>
                  <a:srgbClr val="FF6600"/>
                </a:solidFill>
                <a:latin typeface="Arial Black"/>
              </a:rPr>
              <a:t> Java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Shape 5"/>
          <p:cNvSpPr txBox="1"/>
          <p:nvPr/>
        </p:nvSpPr>
        <p:spPr>
          <a:xfrm>
            <a:off x="356023" y="1695600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1" i="1" strike="noStrike" spc="-1" dirty="0" err="1">
                <a:solidFill>
                  <a:srgbClr val="008000"/>
                </a:solidFill>
                <a:latin typeface="Tahoma"/>
              </a:rPr>
              <a:t>Exemplul</a:t>
            </a:r>
            <a:r>
              <a:rPr lang="en-US" sz="3200" b="1" i="1" strike="noStrike" spc="-1" dirty="0">
                <a:solidFill>
                  <a:srgbClr val="008000"/>
                </a:solidFill>
                <a:latin typeface="Tahoma"/>
              </a:rPr>
              <a:t> 1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public class Maxim { 	//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determina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maximul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dintre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2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intregi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public static void main(String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[]){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743040" indent="-28548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a=12, b=5,m;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if (a&gt;b)  m=a;    //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sau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m = a&gt;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b:a?b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	else    m=b;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Maximul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dintre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"+a+"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si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"+b+"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este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: "+m);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}                          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100000"/>
              </a:lnSpc>
              <a:spcBef>
                <a:spcPts val="320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Shape 4"/>
          <p:cNvSpPr txBox="1"/>
          <p:nvPr/>
        </p:nvSpPr>
        <p:spPr>
          <a:xfrm>
            <a:off x="439560" y="228600"/>
            <a:ext cx="841968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 dirty="0" err="1">
                <a:solidFill>
                  <a:srgbClr val="FF6600"/>
                </a:solidFill>
                <a:latin typeface="Arial Black"/>
              </a:rPr>
              <a:t>Exemple</a:t>
            </a:r>
            <a:r>
              <a:rPr lang="en-US" sz="4000" b="0" strike="noStrike" spc="-1" dirty="0">
                <a:solidFill>
                  <a:srgbClr val="FF6600"/>
                </a:solidFill>
                <a:latin typeface="Arial Black"/>
              </a:rPr>
              <a:t> Java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Shape 5"/>
          <p:cNvSpPr txBox="1"/>
          <p:nvPr/>
        </p:nvSpPr>
        <p:spPr>
          <a:xfrm>
            <a:off x="495360" y="1066680"/>
            <a:ext cx="8859600" cy="499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90000"/>
              </a:lnSpc>
              <a:spcBef>
                <a:spcPts val="64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3200" b="1" i="1" strike="noStrike" spc="-1" dirty="0" err="1">
                <a:solidFill>
                  <a:srgbClr val="008000"/>
                </a:solidFill>
                <a:latin typeface="Tahoma"/>
              </a:rPr>
              <a:t>Exemplul</a:t>
            </a:r>
            <a:r>
              <a:rPr lang="en-US" sz="3200" b="1" i="1" strike="noStrike" spc="-1" dirty="0">
                <a:solidFill>
                  <a:srgbClr val="008000"/>
                </a:solidFill>
                <a:latin typeface="Tahoma"/>
              </a:rPr>
              <a:t> 2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public class Minim { 	//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determina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minimul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dintre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2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intregi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public static void main(String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[])   {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    int a=-5, b=8;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  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("a="+a+" b="+b);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  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minimul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este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:"+min(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a,b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));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   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minimul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este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:"+(a&lt;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b?a:b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)); 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public static int min (int a, int b) {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	    return a&lt;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b?a:b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    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9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	}</a:t>
            </a: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90000"/>
              </a:lnSpc>
              <a:spcBef>
                <a:spcPts val="360"/>
              </a:spcBef>
            </a:pPr>
            <a:endParaRPr lang="en-US" sz="18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Shape 4"/>
          <p:cNvSpPr txBox="1"/>
          <p:nvPr/>
        </p:nvSpPr>
        <p:spPr>
          <a:xfrm>
            <a:off x="439560" y="228600"/>
            <a:ext cx="8419680" cy="685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 err="1">
                <a:solidFill>
                  <a:srgbClr val="FF6600"/>
                </a:solidFill>
                <a:latin typeface="Arial Black"/>
              </a:rPr>
              <a:t>Exemple</a:t>
            </a:r>
            <a:r>
              <a:rPr lang="en-US" sz="3600" b="0" strike="noStrike" spc="-1" dirty="0">
                <a:solidFill>
                  <a:srgbClr val="FF6600"/>
                </a:solidFill>
                <a:latin typeface="Arial Black"/>
              </a:rPr>
              <a:t> Java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Shape 5"/>
          <p:cNvSpPr txBox="1"/>
          <p:nvPr/>
        </p:nvSpPr>
        <p:spPr>
          <a:xfrm>
            <a:off x="495360" y="990720"/>
            <a:ext cx="8859600" cy="5067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1400" b="1" i="1" strike="noStrike" spc="-1" dirty="0" err="1">
                <a:solidFill>
                  <a:srgbClr val="008000"/>
                </a:solidFill>
                <a:latin typeface="Tahoma"/>
              </a:rPr>
              <a:t>Exemplul</a:t>
            </a:r>
            <a:r>
              <a:rPr lang="en-US" sz="1400" b="1" i="1" strike="noStrike" spc="-1" dirty="0">
                <a:solidFill>
                  <a:srgbClr val="008000"/>
                </a:solidFill>
                <a:latin typeface="Tahoma"/>
              </a:rPr>
              <a:t> 3</a:t>
            </a:r>
            <a:r>
              <a:rPr lang="en-US" sz="1400" b="0" strike="noStrike" spc="-1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2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import java.io.*;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import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java.lang.Math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.*;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import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java.util.Scanner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public class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cmmdcDif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public static int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CitLong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(String sir){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Scanner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scn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= new Scanner(System.in);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(sir);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return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scn.nextInt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public static long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cmmdcD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(long a, long b){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while (a!=b)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  if (a&gt;b) a=a-b;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  else     b=b-a;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return a; 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public static void main(String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args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[]){ 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long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a,b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a=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CitLong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("da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primul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numar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:");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b=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CitLong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("da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inca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un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numar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:");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Cmmdc-ul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numerelor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"+a+"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si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"+b+"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este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: ");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 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cmmdcD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Math.abs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(a),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ourier New"/>
              </a:rPr>
              <a:t>Math.abs</a:t>
            </a: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(b)));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6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Courier New"/>
              </a:rPr>
              <a:t>   </a:t>
            </a:r>
            <a:r>
              <a:rPr lang="en-US" b="1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81"/>
              </a:spcBef>
            </a:pPr>
            <a:r>
              <a:rPr lang="en-US" sz="1400" b="1" strike="noStrike" spc="-1" dirty="0">
                <a:solidFill>
                  <a:srgbClr val="000000"/>
                </a:solidFill>
                <a:latin typeface="Courier New"/>
              </a:rPr>
              <a:t>	</a:t>
            </a:r>
            <a:endParaRPr lang="en-US" sz="14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139"/>
              </a:spcBef>
            </a:pPr>
            <a:r>
              <a:rPr lang="en-US" sz="700" b="1" strike="noStrike" spc="-1" dirty="0">
                <a:solidFill>
                  <a:srgbClr val="000000"/>
                </a:solidFill>
                <a:latin typeface="Tahoma"/>
              </a:rPr>
              <a:t>    </a:t>
            </a:r>
            <a:endParaRPr lang="en-US" sz="7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4"/>
          <p:cNvSpPr txBox="1"/>
          <p:nvPr/>
        </p:nvSpPr>
        <p:spPr>
          <a:xfrm>
            <a:off x="367132" y="0"/>
            <a:ext cx="8419680" cy="5331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 err="1">
                <a:solidFill>
                  <a:srgbClr val="FF6600"/>
                </a:solidFill>
                <a:latin typeface="Arial Black"/>
              </a:rPr>
              <a:t>Exemple</a:t>
            </a:r>
            <a:r>
              <a:rPr lang="en-US" sz="3600" b="0" strike="noStrike" spc="-1" dirty="0">
                <a:solidFill>
                  <a:srgbClr val="FF6600"/>
                </a:solidFill>
                <a:latin typeface="Arial Black"/>
              </a:rPr>
              <a:t> Java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Shape 5"/>
          <p:cNvSpPr txBox="1"/>
          <p:nvPr/>
        </p:nvSpPr>
        <p:spPr>
          <a:xfrm>
            <a:off x="367132" y="533160"/>
            <a:ext cx="8859600" cy="5143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80000"/>
              </a:lnSpc>
              <a:spcBef>
                <a:spcPts val="281"/>
              </a:spcBef>
              <a:buClr>
                <a:srgbClr val="FFCC00"/>
              </a:buClr>
              <a:buFont typeface="Monotype Sorts" charset="2"/>
              <a:buChar char=""/>
            </a:pPr>
            <a:r>
              <a:rPr lang="en-US" sz="2000" b="1" i="1" strike="noStrike" spc="-1" dirty="0" err="1">
                <a:solidFill>
                  <a:srgbClr val="008000"/>
                </a:solidFill>
                <a:latin typeface="Courier New"/>
              </a:rPr>
              <a:t>Exemplul</a:t>
            </a:r>
            <a:r>
              <a:rPr lang="en-US" sz="2000" b="1" i="1" strike="noStrike" spc="-1" dirty="0">
                <a:solidFill>
                  <a:srgbClr val="008000"/>
                </a:solidFill>
                <a:latin typeface="Courier New"/>
              </a:rPr>
              <a:t> 4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</a:rPr>
              <a:t>:</a:t>
            </a:r>
            <a:endParaRPr lang="en-US" sz="20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public class EcGrad1{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private double a; 	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coeficientii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ec.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aX+b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=0;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private double b;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 EcGrad1 (double a, double b){  	// constructor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this.a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=a;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this.b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=b;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void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setA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(double a){   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setari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a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b	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4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</a:rPr>
              <a:t>   </a:t>
            </a:r>
            <a:r>
              <a:rPr lang="en-US" b="0" strike="noStrike" spc="-1" dirty="0" err="1">
                <a:solidFill>
                  <a:srgbClr val="000000"/>
                </a:solidFill>
                <a:latin typeface="Courier New"/>
              </a:rPr>
              <a:t>this.a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</a:rPr>
              <a:t>=a;</a:t>
            </a:r>
            <a:endParaRPr lang="en-US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void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setB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(double b){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this.b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=b;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double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(){       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returnari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a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b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return a 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double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(){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return b 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void afisare1(){           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metoda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de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afisare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ar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trebui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scrisa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in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programul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de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aplicatie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if (a!=0){		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nu in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clasa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   if (a!=1.0)	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getA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()+"*X");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   else       	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("X");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if(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()&lt;0) 	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()+"=0");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else         	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("+"+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getB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()+"=0");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public void rezolva1(){			//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rezolvare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if (a!=0)     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ec.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are sol. unica:"+ -b/a);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   else if (b!=0)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ec.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nu are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solutii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	   else       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System.out.println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("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ec.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are o inf. de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solutii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ourier New"/>
              </a:rPr>
              <a:t>reale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");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	  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  <a:p>
            <a:pPr marL="343080" indent="-342720">
              <a:lnSpc>
                <a:spcPct val="80000"/>
              </a:lnSpc>
              <a:spcBef>
                <a:spcPts val="201"/>
              </a:spcBef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</a:rPr>
              <a:t>  	}</a:t>
            </a:r>
            <a:endParaRPr lang="en-US" sz="1200" b="0" strike="noStrike" spc="-1" dirty="0">
              <a:solidFill>
                <a:srgbClr val="000000"/>
              </a:solidFill>
              <a:latin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20606</TotalTime>
  <Pages>32</Pages>
  <Words>6472</Words>
  <Application>Microsoft Office PowerPoint</Application>
  <PresentationFormat>A4 Paper (210x297 mm)</PresentationFormat>
  <Paragraphs>632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Arial Black</vt:lpstr>
      <vt:lpstr>Courier New</vt:lpstr>
      <vt:lpstr>Monotype Sorts</vt:lpstr>
      <vt:lpstr>Symbol</vt:lpstr>
      <vt:lpstr>Tahoma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 - Cuprins</dc:title>
  <dc:subject/>
  <dc:creator>Bazil Parv, UBB Cluj</dc:creator>
  <dc:description/>
  <cp:lastModifiedBy>Manuela Panoiu</cp:lastModifiedBy>
  <cp:revision>260</cp:revision>
  <cp:lastPrinted>1999-10-05T08:41:38Z</cp:lastPrinted>
  <dcterms:created xsi:type="dcterms:W3CDTF">1997-03-11T13:16:56Z</dcterms:created>
  <dcterms:modified xsi:type="dcterms:W3CDTF">2025-10-13T06:27:40Z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A4 Paper (210x297 mm)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65</vt:i4>
  </property>
</Properties>
</file>