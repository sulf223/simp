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8" r:id="rId1"/>
  </p:sldMasterIdLst>
  <p:notesMasterIdLst>
    <p:notesMasterId r:id="rId50"/>
  </p:notesMasterIdLst>
  <p:sldIdLst>
    <p:sldId id="258" r:id="rId2"/>
    <p:sldId id="316" r:id="rId3"/>
    <p:sldId id="267" r:id="rId4"/>
    <p:sldId id="260" r:id="rId5"/>
    <p:sldId id="268" r:id="rId6"/>
    <p:sldId id="269" r:id="rId7"/>
    <p:sldId id="262" r:id="rId8"/>
    <p:sldId id="259" r:id="rId9"/>
    <p:sldId id="271" r:id="rId10"/>
    <p:sldId id="270" r:id="rId11"/>
    <p:sldId id="317" r:id="rId12"/>
    <p:sldId id="276" r:id="rId13"/>
    <p:sldId id="318" r:id="rId14"/>
    <p:sldId id="272" r:id="rId15"/>
    <p:sldId id="293" r:id="rId16"/>
    <p:sldId id="294" r:id="rId17"/>
    <p:sldId id="319" r:id="rId18"/>
    <p:sldId id="295" r:id="rId19"/>
    <p:sldId id="320" r:id="rId20"/>
    <p:sldId id="311" r:id="rId21"/>
    <p:sldId id="312" r:id="rId22"/>
    <p:sldId id="321" r:id="rId23"/>
    <p:sldId id="313" r:id="rId24"/>
    <p:sldId id="297" r:id="rId25"/>
    <p:sldId id="302" r:id="rId26"/>
    <p:sldId id="322" r:id="rId27"/>
    <p:sldId id="323" r:id="rId28"/>
    <p:sldId id="274" r:id="rId29"/>
    <p:sldId id="324" r:id="rId30"/>
    <p:sldId id="273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288" r:id="rId39"/>
    <p:sldId id="315" r:id="rId40"/>
    <p:sldId id="289" r:id="rId41"/>
    <p:sldId id="290" r:id="rId42"/>
    <p:sldId id="291" r:id="rId43"/>
    <p:sldId id="292" r:id="rId44"/>
    <p:sldId id="314" r:id="rId45"/>
    <p:sldId id="332" r:id="rId46"/>
    <p:sldId id="333" r:id="rId47"/>
    <p:sldId id="334" r:id="rId48"/>
    <p:sldId id="335" r:id="rId49"/>
  </p:sldIdLst>
  <p:sldSz cx="10080625" cy="7559675"/>
  <p:notesSz cx="7315200" cy="96012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6">
          <p15:clr>
            <a:srgbClr val="A4A3A4"/>
          </p15:clr>
        </p15:guide>
        <p15:guide id="2" pos="20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33" autoAdjust="0"/>
  </p:normalViewPr>
  <p:slideViewPr>
    <p:cSldViewPr>
      <p:cViewPr varScale="1">
        <p:scale>
          <a:sx n="76" d="100"/>
          <a:sy n="76" d="100"/>
        </p:scale>
        <p:origin x="1173" y="57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6"/>
        <p:guide pos="2091"/>
      </p:guideLst>
    </p:cSldViewPr>
  </p:notesViewPr>
  <p:gridSpacing cx="75895" cy="758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E427CE-5384-4272-8659-FDAC6BF065A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D85609-132E-4CB8-A857-03E410AFACFF}">
      <dgm:prSet/>
      <dgm:spPr/>
      <dgm:t>
        <a:bodyPr/>
        <a:lstStyle/>
        <a:p>
          <a:r>
            <a:rPr lang="en-US"/>
            <a:t>O </a:t>
          </a:r>
          <a:r>
            <a:rPr lang="en-US" b="1"/>
            <a:t>metoda abstracta</a:t>
          </a:r>
          <a:r>
            <a:rPr lang="en-US"/>
            <a:t> este o metoda fara corp (continut)</a:t>
          </a:r>
        </a:p>
      </dgm:t>
    </dgm:pt>
    <dgm:pt modelId="{7BA87CC3-E50A-4B08-8AFF-D3EDD7EF7ACF}" type="parTrans" cxnId="{2E7E6C51-21BB-4AD3-9BF3-5B4E696E19D8}">
      <dgm:prSet/>
      <dgm:spPr/>
      <dgm:t>
        <a:bodyPr/>
        <a:lstStyle/>
        <a:p>
          <a:endParaRPr lang="en-US"/>
        </a:p>
      </dgm:t>
    </dgm:pt>
    <dgm:pt modelId="{6ACFB6C9-BF9A-447D-9734-A7B618B3272C}" type="sibTrans" cxnId="{2E7E6C51-21BB-4AD3-9BF3-5B4E696E19D8}">
      <dgm:prSet/>
      <dgm:spPr/>
      <dgm:t>
        <a:bodyPr/>
        <a:lstStyle/>
        <a:p>
          <a:endParaRPr lang="en-US"/>
        </a:p>
      </dgm:t>
    </dgm:pt>
    <dgm:pt modelId="{51D58CAF-3DBD-4F2D-B38E-7DC68FF750EE}">
      <dgm:prSet/>
      <dgm:spPr/>
      <dgm:t>
        <a:bodyPr/>
        <a:lstStyle/>
        <a:p>
          <a:r>
            <a:rPr lang="en-US"/>
            <a:t>O clasa care contine o metoda abstracta, trebuie declarata </a:t>
          </a:r>
          <a:r>
            <a:rPr lang="en-US" b="1"/>
            <a:t>clasa abstracta</a:t>
          </a:r>
          <a:endParaRPr lang="en-US"/>
        </a:p>
      </dgm:t>
    </dgm:pt>
    <dgm:pt modelId="{2FFFCBD1-B98F-484F-BEB1-4620AA997A5F}" type="parTrans" cxnId="{0AE8851E-6346-4517-83E2-278F6CD6A3E8}">
      <dgm:prSet/>
      <dgm:spPr/>
      <dgm:t>
        <a:bodyPr/>
        <a:lstStyle/>
        <a:p>
          <a:endParaRPr lang="en-US"/>
        </a:p>
      </dgm:t>
    </dgm:pt>
    <dgm:pt modelId="{8BBEAD79-3805-4163-AC66-7312EED54B0E}" type="sibTrans" cxnId="{0AE8851E-6346-4517-83E2-278F6CD6A3E8}">
      <dgm:prSet/>
      <dgm:spPr/>
      <dgm:t>
        <a:bodyPr/>
        <a:lstStyle/>
        <a:p>
          <a:endParaRPr lang="en-US"/>
        </a:p>
      </dgm:t>
    </dgm:pt>
    <dgm:pt modelId="{673F2295-E61D-48A1-8FF5-5BCAB455B691}">
      <dgm:prSet/>
      <dgm:spPr/>
      <dgm:t>
        <a:bodyPr/>
        <a:lstStyle/>
        <a:p>
          <a:r>
            <a:rPr lang="en-US"/>
            <a:t>Nu se pot crea obiecte dintr-o clasa abstracta</a:t>
          </a:r>
        </a:p>
      </dgm:t>
    </dgm:pt>
    <dgm:pt modelId="{9C1E95D7-6678-4751-A208-444BF65F5A61}" type="parTrans" cxnId="{5724546B-B11B-4CBB-B54C-4A1BE4935276}">
      <dgm:prSet/>
      <dgm:spPr/>
      <dgm:t>
        <a:bodyPr/>
        <a:lstStyle/>
        <a:p>
          <a:endParaRPr lang="en-US"/>
        </a:p>
      </dgm:t>
    </dgm:pt>
    <dgm:pt modelId="{B7C314DB-9F9B-4E4D-8056-F7DECB052EB5}" type="sibTrans" cxnId="{5724546B-B11B-4CBB-B54C-4A1BE4935276}">
      <dgm:prSet/>
      <dgm:spPr/>
      <dgm:t>
        <a:bodyPr/>
        <a:lstStyle/>
        <a:p>
          <a:endParaRPr lang="en-US"/>
        </a:p>
      </dgm:t>
    </dgm:pt>
    <dgm:pt modelId="{6C14FF2A-B9E7-4F07-AC37-7E148EFACD23}">
      <dgm:prSet/>
      <dgm:spPr/>
      <dgm:t>
        <a:bodyPr/>
        <a:lstStyle/>
        <a:p>
          <a:r>
            <a:rPr lang="en-US"/>
            <a:t>O clasa poate fi declarata abstracta si daca nu contine nici o metoda abstracta</a:t>
          </a:r>
        </a:p>
      </dgm:t>
    </dgm:pt>
    <dgm:pt modelId="{E18E1E58-E43E-4E99-B892-159BE6B9F493}" type="parTrans" cxnId="{1F11B84C-08E6-4DE3-8C17-2E5F322A9B28}">
      <dgm:prSet/>
      <dgm:spPr/>
      <dgm:t>
        <a:bodyPr/>
        <a:lstStyle/>
        <a:p>
          <a:endParaRPr lang="en-US"/>
        </a:p>
      </dgm:t>
    </dgm:pt>
    <dgm:pt modelId="{19543DE0-4541-4F09-9059-E679A1214880}" type="sibTrans" cxnId="{1F11B84C-08E6-4DE3-8C17-2E5F322A9B28}">
      <dgm:prSet/>
      <dgm:spPr/>
      <dgm:t>
        <a:bodyPr/>
        <a:lstStyle/>
        <a:p>
          <a:endParaRPr lang="en-US"/>
        </a:p>
      </dgm:t>
    </dgm:pt>
    <dgm:pt modelId="{F63C3FD7-C1E6-41A2-9778-1DFD63F905B3}" type="pres">
      <dgm:prSet presAssocID="{DFE427CE-5384-4272-8659-FDAC6BF065AD}" presName="linear" presStyleCnt="0">
        <dgm:presLayoutVars>
          <dgm:animLvl val="lvl"/>
          <dgm:resizeHandles val="exact"/>
        </dgm:presLayoutVars>
      </dgm:prSet>
      <dgm:spPr/>
    </dgm:pt>
    <dgm:pt modelId="{ECBC977B-C94C-4C49-91EF-BCFCF5094337}" type="pres">
      <dgm:prSet presAssocID="{FDD85609-132E-4CB8-A857-03E410AFAC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C2BF03C-33DC-40AD-B926-7664EACF20E4}" type="pres">
      <dgm:prSet presAssocID="{6ACFB6C9-BF9A-447D-9734-A7B618B3272C}" presName="spacer" presStyleCnt="0"/>
      <dgm:spPr/>
    </dgm:pt>
    <dgm:pt modelId="{4DC2ADF9-B59D-40B2-B5C2-8AE18EABC3A6}" type="pres">
      <dgm:prSet presAssocID="{51D58CAF-3DBD-4F2D-B38E-7DC68FF750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5CFF05-E3DF-4B88-83E5-D029D5561A0E}" type="pres">
      <dgm:prSet presAssocID="{8BBEAD79-3805-4163-AC66-7312EED54B0E}" presName="spacer" presStyleCnt="0"/>
      <dgm:spPr/>
    </dgm:pt>
    <dgm:pt modelId="{94C4809B-80CC-486C-90BA-607CB5388118}" type="pres">
      <dgm:prSet presAssocID="{673F2295-E61D-48A1-8FF5-5BCAB455B6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2DE6770-AFB3-4C5B-BD71-197ABCF6F43C}" type="pres">
      <dgm:prSet presAssocID="{B7C314DB-9F9B-4E4D-8056-F7DECB052EB5}" presName="spacer" presStyleCnt="0"/>
      <dgm:spPr/>
    </dgm:pt>
    <dgm:pt modelId="{C2F7639B-4EF7-41FC-8E45-B854A9417D55}" type="pres">
      <dgm:prSet presAssocID="{6C14FF2A-B9E7-4F07-AC37-7E148EFACD2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6D540A-52FF-4090-8C7E-F516EC02F77D}" type="presOf" srcId="{FDD85609-132E-4CB8-A857-03E410AFACFF}" destId="{ECBC977B-C94C-4C49-91EF-BCFCF5094337}" srcOrd="0" destOrd="0" presId="urn:microsoft.com/office/officeart/2005/8/layout/vList2"/>
    <dgm:cxn modelId="{0AE8851E-6346-4517-83E2-278F6CD6A3E8}" srcId="{DFE427CE-5384-4272-8659-FDAC6BF065AD}" destId="{51D58CAF-3DBD-4F2D-B38E-7DC68FF750EE}" srcOrd="1" destOrd="0" parTransId="{2FFFCBD1-B98F-484F-BEB1-4620AA997A5F}" sibTransId="{8BBEAD79-3805-4163-AC66-7312EED54B0E}"/>
    <dgm:cxn modelId="{40B38535-D5ED-4137-8122-BDB74BDF85C3}" type="presOf" srcId="{51D58CAF-3DBD-4F2D-B38E-7DC68FF750EE}" destId="{4DC2ADF9-B59D-40B2-B5C2-8AE18EABC3A6}" srcOrd="0" destOrd="0" presId="urn:microsoft.com/office/officeart/2005/8/layout/vList2"/>
    <dgm:cxn modelId="{5724546B-B11B-4CBB-B54C-4A1BE4935276}" srcId="{DFE427CE-5384-4272-8659-FDAC6BF065AD}" destId="{673F2295-E61D-48A1-8FF5-5BCAB455B691}" srcOrd="2" destOrd="0" parTransId="{9C1E95D7-6678-4751-A208-444BF65F5A61}" sibTransId="{B7C314DB-9F9B-4E4D-8056-F7DECB052EB5}"/>
    <dgm:cxn modelId="{1F11B84C-08E6-4DE3-8C17-2E5F322A9B28}" srcId="{DFE427CE-5384-4272-8659-FDAC6BF065AD}" destId="{6C14FF2A-B9E7-4F07-AC37-7E148EFACD23}" srcOrd="3" destOrd="0" parTransId="{E18E1E58-E43E-4E99-B892-159BE6B9F493}" sibTransId="{19543DE0-4541-4F09-9059-E679A1214880}"/>
    <dgm:cxn modelId="{2E7E6C51-21BB-4AD3-9BF3-5B4E696E19D8}" srcId="{DFE427CE-5384-4272-8659-FDAC6BF065AD}" destId="{FDD85609-132E-4CB8-A857-03E410AFACFF}" srcOrd="0" destOrd="0" parTransId="{7BA87CC3-E50A-4B08-8AFF-D3EDD7EF7ACF}" sibTransId="{6ACFB6C9-BF9A-447D-9734-A7B618B3272C}"/>
    <dgm:cxn modelId="{AA899D5A-BE80-4B3D-8F6C-6AE53034929E}" type="presOf" srcId="{DFE427CE-5384-4272-8659-FDAC6BF065AD}" destId="{F63C3FD7-C1E6-41A2-9778-1DFD63F905B3}" srcOrd="0" destOrd="0" presId="urn:microsoft.com/office/officeart/2005/8/layout/vList2"/>
    <dgm:cxn modelId="{E9B1DF7D-51A1-45EE-8F3D-58271F9F7052}" type="presOf" srcId="{6C14FF2A-B9E7-4F07-AC37-7E148EFACD23}" destId="{C2F7639B-4EF7-41FC-8E45-B854A9417D55}" srcOrd="0" destOrd="0" presId="urn:microsoft.com/office/officeart/2005/8/layout/vList2"/>
    <dgm:cxn modelId="{EBDD93F1-54C3-4D2E-AB39-1A4561DCA3DD}" type="presOf" srcId="{673F2295-E61D-48A1-8FF5-5BCAB455B691}" destId="{94C4809B-80CC-486C-90BA-607CB5388118}" srcOrd="0" destOrd="0" presId="urn:microsoft.com/office/officeart/2005/8/layout/vList2"/>
    <dgm:cxn modelId="{35F712C1-BA91-44D7-BFD4-8926DB8E0CC7}" type="presParOf" srcId="{F63C3FD7-C1E6-41A2-9778-1DFD63F905B3}" destId="{ECBC977B-C94C-4C49-91EF-BCFCF5094337}" srcOrd="0" destOrd="0" presId="urn:microsoft.com/office/officeart/2005/8/layout/vList2"/>
    <dgm:cxn modelId="{1431E2AC-80D0-4593-A326-3388524E3730}" type="presParOf" srcId="{F63C3FD7-C1E6-41A2-9778-1DFD63F905B3}" destId="{EC2BF03C-33DC-40AD-B926-7664EACF20E4}" srcOrd="1" destOrd="0" presId="urn:microsoft.com/office/officeart/2005/8/layout/vList2"/>
    <dgm:cxn modelId="{5A210B47-95DE-41FC-9B6D-602CE9A241BC}" type="presParOf" srcId="{F63C3FD7-C1E6-41A2-9778-1DFD63F905B3}" destId="{4DC2ADF9-B59D-40B2-B5C2-8AE18EABC3A6}" srcOrd="2" destOrd="0" presId="urn:microsoft.com/office/officeart/2005/8/layout/vList2"/>
    <dgm:cxn modelId="{A841DF34-D1F1-47FE-A0EA-73727DB69A6F}" type="presParOf" srcId="{F63C3FD7-C1E6-41A2-9778-1DFD63F905B3}" destId="{205CFF05-E3DF-4B88-83E5-D029D5561A0E}" srcOrd="3" destOrd="0" presId="urn:microsoft.com/office/officeart/2005/8/layout/vList2"/>
    <dgm:cxn modelId="{FB84F94D-A48D-48EE-8D08-099AFF267D54}" type="presParOf" srcId="{F63C3FD7-C1E6-41A2-9778-1DFD63F905B3}" destId="{94C4809B-80CC-486C-90BA-607CB5388118}" srcOrd="4" destOrd="0" presId="urn:microsoft.com/office/officeart/2005/8/layout/vList2"/>
    <dgm:cxn modelId="{F1AB4BFB-A458-43DC-8757-784426116671}" type="presParOf" srcId="{F63C3FD7-C1E6-41A2-9778-1DFD63F905B3}" destId="{D2DE6770-AFB3-4C5B-BD71-197ABCF6F43C}" srcOrd="5" destOrd="0" presId="urn:microsoft.com/office/officeart/2005/8/layout/vList2"/>
    <dgm:cxn modelId="{CEB605A8-31D7-4A2F-B696-776325AE7C26}" type="presParOf" srcId="{F63C3FD7-C1E6-41A2-9778-1DFD63F905B3}" destId="{C2F7639B-4EF7-41FC-8E45-B854A9417D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BC655D-EF51-41E4-965C-CF290950AE6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ABD76A-7E0F-4BCF-B389-07B45506FB8E}">
      <dgm:prSet/>
      <dgm:spPr/>
      <dgm:t>
        <a:bodyPr/>
        <a:lstStyle/>
        <a:p>
          <a:r>
            <a:rPr lang="en-GB" b="1"/>
            <a:t>Regulă generală:</a:t>
          </a:r>
          <a:endParaRPr lang="en-US"/>
        </a:p>
      </dgm:t>
    </dgm:pt>
    <dgm:pt modelId="{3C65E543-9A2C-4B73-A20C-E2295FD2707D}" type="parTrans" cxnId="{D4E948E1-E6F4-4031-AF90-98E1BB5FA70E}">
      <dgm:prSet/>
      <dgm:spPr/>
      <dgm:t>
        <a:bodyPr/>
        <a:lstStyle/>
        <a:p>
          <a:endParaRPr lang="en-US"/>
        </a:p>
      </dgm:t>
    </dgm:pt>
    <dgm:pt modelId="{D74AB183-406A-4F16-A282-7DA7A82365F1}" type="sibTrans" cxnId="{D4E948E1-E6F4-4031-AF90-98E1BB5FA70E}">
      <dgm:prSet/>
      <dgm:spPr/>
      <dgm:t>
        <a:bodyPr/>
        <a:lstStyle/>
        <a:p>
          <a:endParaRPr lang="en-US"/>
        </a:p>
      </dgm:t>
    </dgm:pt>
    <dgm:pt modelId="{4408817F-57C3-438A-A1D6-F92FE61B5391}">
      <dgm:prSet/>
      <dgm:spPr/>
      <dgm:t>
        <a:bodyPr/>
        <a:lstStyle/>
        <a:p>
          <a:r>
            <a:rPr lang="en-GB" dirty="0"/>
            <a:t>La </a:t>
          </a:r>
          <a:r>
            <a:rPr lang="en-GB" dirty="0" err="1"/>
            <a:t>crearea</a:t>
          </a:r>
          <a:r>
            <a:rPr lang="en-GB" dirty="0"/>
            <a:t> </a:t>
          </a:r>
          <a:r>
            <a:rPr lang="en-GB" dirty="0" err="1"/>
            <a:t>unui</a:t>
          </a:r>
          <a:r>
            <a:rPr lang="en-GB" dirty="0"/>
            <a:t> </a:t>
          </a:r>
          <a:r>
            <a:rPr lang="en-GB" dirty="0" err="1"/>
            <a:t>obiect</a:t>
          </a:r>
          <a:r>
            <a:rPr lang="en-GB" dirty="0"/>
            <a:t>, se </a:t>
          </a:r>
          <a:r>
            <a:rPr lang="en-GB" dirty="0" err="1"/>
            <a:t>apelează</a:t>
          </a:r>
          <a:r>
            <a:rPr lang="en-GB" dirty="0"/>
            <a:t> </a:t>
          </a:r>
          <a:r>
            <a:rPr lang="en-GB" dirty="0" err="1"/>
            <a:t>mai</a:t>
          </a:r>
          <a:r>
            <a:rPr lang="en-GB" dirty="0"/>
            <a:t> </a:t>
          </a:r>
          <a:r>
            <a:rPr lang="en-GB" dirty="0" err="1"/>
            <a:t>întâi</a:t>
          </a:r>
          <a:r>
            <a:rPr lang="en-GB" dirty="0"/>
            <a:t> </a:t>
          </a:r>
          <a:r>
            <a:rPr lang="en-GB" b="1" dirty="0" err="1"/>
            <a:t>constructorii</a:t>
          </a:r>
          <a:r>
            <a:rPr lang="en-GB" b="1" dirty="0"/>
            <a:t> </a:t>
          </a:r>
          <a:r>
            <a:rPr lang="en-GB" b="1" dirty="0" err="1"/>
            <a:t>claselor</a:t>
          </a:r>
          <a:r>
            <a:rPr lang="en-GB" b="1" dirty="0"/>
            <a:t> de </a:t>
          </a:r>
          <a:r>
            <a:rPr lang="en-GB" b="1" dirty="0" err="1"/>
            <a:t>bază</a:t>
          </a:r>
          <a:r>
            <a:rPr lang="en-GB" dirty="0"/>
            <a:t>, </a:t>
          </a:r>
          <a:r>
            <a:rPr lang="en-GB" dirty="0" err="1"/>
            <a:t>în</a:t>
          </a:r>
          <a:r>
            <a:rPr lang="en-GB" dirty="0"/>
            <a:t> </a:t>
          </a:r>
          <a:r>
            <a:rPr lang="en-GB" dirty="0" err="1"/>
            <a:t>ordinea</a:t>
          </a:r>
          <a:r>
            <a:rPr lang="en-GB" dirty="0"/>
            <a:t> </a:t>
          </a:r>
          <a:r>
            <a:rPr lang="en-GB" dirty="0" err="1"/>
            <a:t>ierarhică</a:t>
          </a:r>
          <a:r>
            <a:rPr lang="en-GB" dirty="0"/>
            <a:t>, </a:t>
          </a:r>
          <a:r>
            <a:rPr lang="en-GB" dirty="0" err="1"/>
            <a:t>apoi</a:t>
          </a:r>
          <a:r>
            <a:rPr lang="en-GB" dirty="0"/>
            <a:t> </a:t>
          </a:r>
          <a:r>
            <a:rPr lang="en-GB" dirty="0" err="1"/>
            <a:t>constructorul</a:t>
          </a:r>
          <a:r>
            <a:rPr lang="en-GB" dirty="0"/>
            <a:t> </a:t>
          </a:r>
          <a:r>
            <a:rPr lang="en-GB" dirty="0" err="1"/>
            <a:t>clasei</a:t>
          </a:r>
          <a:r>
            <a:rPr lang="en-GB" dirty="0"/>
            <a:t> derivate.</a:t>
          </a:r>
          <a:endParaRPr lang="en-US" dirty="0"/>
        </a:p>
      </dgm:t>
    </dgm:pt>
    <dgm:pt modelId="{5CBD43B2-9B75-4692-9AE1-3C47842043A9}" type="parTrans" cxnId="{161170FB-2230-41BB-8266-16A5A75CC349}">
      <dgm:prSet/>
      <dgm:spPr/>
      <dgm:t>
        <a:bodyPr/>
        <a:lstStyle/>
        <a:p>
          <a:endParaRPr lang="en-US"/>
        </a:p>
      </dgm:t>
    </dgm:pt>
    <dgm:pt modelId="{F9EFAD6E-64D0-4DCD-82DF-69987B805B5D}" type="sibTrans" cxnId="{161170FB-2230-41BB-8266-16A5A75CC349}">
      <dgm:prSet/>
      <dgm:spPr/>
      <dgm:t>
        <a:bodyPr/>
        <a:lstStyle/>
        <a:p>
          <a:endParaRPr lang="en-US"/>
        </a:p>
      </dgm:t>
    </dgm:pt>
    <dgm:pt modelId="{E06CC892-2609-47BE-A49D-7CBE82A7AD1B}">
      <dgm:prSet/>
      <dgm:spPr/>
      <dgm:t>
        <a:bodyPr/>
        <a:lstStyle/>
        <a:p>
          <a:r>
            <a:rPr lang="en-GB"/>
            <a:t>🔹 Ordinea este </a:t>
          </a:r>
          <a:r>
            <a:rPr lang="en-GB" b="1"/>
            <a:t>de sus în jos</a:t>
          </a:r>
          <a:r>
            <a:rPr lang="en-GB"/>
            <a:t> (din superclasă spre subclasă).</a:t>
          </a:r>
          <a:endParaRPr lang="en-US"/>
        </a:p>
      </dgm:t>
    </dgm:pt>
    <dgm:pt modelId="{61B1CE3C-DC82-49CD-B010-53D26448221F}" type="parTrans" cxnId="{01A6AF41-4728-40E5-8840-8C185DC8A5A8}">
      <dgm:prSet/>
      <dgm:spPr/>
      <dgm:t>
        <a:bodyPr/>
        <a:lstStyle/>
        <a:p>
          <a:endParaRPr lang="en-US"/>
        </a:p>
      </dgm:t>
    </dgm:pt>
    <dgm:pt modelId="{10958AA7-08C1-4276-B267-DBA036866C80}" type="sibTrans" cxnId="{01A6AF41-4728-40E5-8840-8C185DC8A5A8}">
      <dgm:prSet/>
      <dgm:spPr/>
      <dgm:t>
        <a:bodyPr/>
        <a:lstStyle/>
        <a:p>
          <a:endParaRPr lang="en-US"/>
        </a:p>
      </dgm:t>
    </dgm:pt>
    <dgm:pt modelId="{80221C11-30B5-4CDC-B4A4-F9A355D2B4F0}" type="pres">
      <dgm:prSet presAssocID="{FFBC655D-EF51-41E4-965C-CF290950AE6E}" presName="vert0" presStyleCnt="0">
        <dgm:presLayoutVars>
          <dgm:dir/>
          <dgm:animOne val="branch"/>
          <dgm:animLvl val="lvl"/>
        </dgm:presLayoutVars>
      </dgm:prSet>
      <dgm:spPr/>
    </dgm:pt>
    <dgm:pt modelId="{2342C717-3876-4FE5-B1EF-25B15D852AD9}" type="pres">
      <dgm:prSet presAssocID="{12ABD76A-7E0F-4BCF-B389-07B45506FB8E}" presName="thickLine" presStyleLbl="alignNode1" presStyleIdx="0" presStyleCnt="3"/>
      <dgm:spPr/>
    </dgm:pt>
    <dgm:pt modelId="{002579DC-F0C7-4224-89E0-84F22079D643}" type="pres">
      <dgm:prSet presAssocID="{12ABD76A-7E0F-4BCF-B389-07B45506FB8E}" presName="horz1" presStyleCnt="0"/>
      <dgm:spPr/>
    </dgm:pt>
    <dgm:pt modelId="{154D9EB1-2285-4A71-A44F-AFA6AB2E80AF}" type="pres">
      <dgm:prSet presAssocID="{12ABD76A-7E0F-4BCF-B389-07B45506FB8E}" presName="tx1" presStyleLbl="revTx" presStyleIdx="0" presStyleCnt="3"/>
      <dgm:spPr/>
    </dgm:pt>
    <dgm:pt modelId="{8A107865-FDC7-42B3-AFA5-7096B078158E}" type="pres">
      <dgm:prSet presAssocID="{12ABD76A-7E0F-4BCF-B389-07B45506FB8E}" presName="vert1" presStyleCnt="0"/>
      <dgm:spPr/>
    </dgm:pt>
    <dgm:pt modelId="{D5FE077B-2089-4E21-93A4-113B95D83F87}" type="pres">
      <dgm:prSet presAssocID="{4408817F-57C3-438A-A1D6-F92FE61B5391}" presName="thickLine" presStyleLbl="alignNode1" presStyleIdx="1" presStyleCnt="3"/>
      <dgm:spPr/>
    </dgm:pt>
    <dgm:pt modelId="{8EC4E327-AB4C-4365-850B-BDC067B2DAA1}" type="pres">
      <dgm:prSet presAssocID="{4408817F-57C3-438A-A1D6-F92FE61B5391}" presName="horz1" presStyleCnt="0"/>
      <dgm:spPr/>
    </dgm:pt>
    <dgm:pt modelId="{5A318BBD-1217-4AA0-9B6D-DBC8D5F2EFA1}" type="pres">
      <dgm:prSet presAssocID="{4408817F-57C3-438A-A1D6-F92FE61B5391}" presName="tx1" presStyleLbl="revTx" presStyleIdx="1" presStyleCnt="3"/>
      <dgm:spPr/>
    </dgm:pt>
    <dgm:pt modelId="{C804F6DB-9AA3-4AF4-A87A-41CE27B8247B}" type="pres">
      <dgm:prSet presAssocID="{4408817F-57C3-438A-A1D6-F92FE61B5391}" presName="vert1" presStyleCnt="0"/>
      <dgm:spPr/>
    </dgm:pt>
    <dgm:pt modelId="{F54CD57D-FBFA-4816-9419-ED6440C2BC76}" type="pres">
      <dgm:prSet presAssocID="{E06CC892-2609-47BE-A49D-7CBE82A7AD1B}" presName="thickLine" presStyleLbl="alignNode1" presStyleIdx="2" presStyleCnt="3"/>
      <dgm:spPr/>
    </dgm:pt>
    <dgm:pt modelId="{B797C2FA-3E57-4D7D-B8C7-2102C1C255B2}" type="pres">
      <dgm:prSet presAssocID="{E06CC892-2609-47BE-A49D-7CBE82A7AD1B}" presName="horz1" presStyleCnt="0"/>
      <dgm:spPr/>
    </dgm:pt>
    <dgm:pt modelId="{513781CD-7B11-4544-B401-D2B32298A147}" type="pres">
      <dgm:prSet presAssocID="{E06CC892-2609-47BE-A49D-7CBE82A7AD1B}" presName="tx1" presStyleLbl="revTx" presStyleIdx="2" presStyleCnt="3"/>
      <dgm:spPr/>
    </dgm:pt>
    <dgm:pt modelId="{3E901A5A-6EE5-4446-9F87-678B7CC5A758}" type="pres">
      <dgm:prSet presAssocID="{E06CC892-2609-47BE-A49D-7CBE82A7AD1B}" presName="vert1" presStyleCnt="0"/>
      <dgm:spPr/>
    </dgm:pt>
  </dgm:ptLst>
  <dgm:cxnLst>
    <dgm:cxn modelId="{6E521B03-7490-4EA6-8060-D34351BF1B76}" type="presOf" srcId="{4408817F-57C3-438A-A1D6-F92FE61B5391}" destId="{5A318BBD-1217-4AA0-9B6D-DBC8D5F2EFA1}" srcOrd="0" destOrd="0" presId="urn:microsoft.com/office/officeart/2008/layout/LinedList"/>
    <dgm:cxn modelId="{01A6AF41-4728-40E5-8840-8C185DC8A5A8}" srcId="{FFBC655D-EF51-41E4-965C-CF290950AE6E}" destId="{E06CC892-2609-47BE-A49D-7CBE82A7AD1B}" srcOrd="2" destOrd="0" parTransId="{61B1CE3C-DC82-49CD-B010-53D26448221F}" sibTransId="{10958AA7-08C1-4276-B267-DBA036866C80}"/>
    <dgm:cxn modelId="{85B11663-D8CF-49D7-8BC5-2C5D983C8735}" type="presOf" srcId="{FFBC655D-EF51-41E4-965C-CF290950AE6E}" destId="{80221C11-30B5-4CDC-B4A4-F9A355D2B4F0}" srcOrd="0" destOrd="0" presId="urn:microsoft.com/office/officeart/2008/layout/LinedList"/>
    <dgm:cxn modelId="{8A087CC5-9A71-487C-8F29-23B1BC2BABED}" type="presOf" srcId="{E06CC892-2609-47BE-A49D-7CBE82A7AD1B}" destId="{513781CD-7B11-4544-B401-D2B32298A147}" srcOrd="0" destOrd="0" presId="urn:microsoft.com/office/officeart/2008/layout/LinedList"/>
    <dgm:cxn modelId="{D4E948E1-E6F4-4031-AF90-98E1BB5FA70E}" srcId="{FFBC655D-EF51-41E4-965C-CF290950AE6E}" destId="{12ABD76A-7E0F-4BCF-B389-07B45506FB8E}" srcOrd="0" destOrd="0" parTransId="{3C65E543-9A2C-4B73-A20C-E2295FD2707D}" sibTransId="{D74AB183-406A-4F16-A282-7DA7A82365F1}"/>
    <dgm:cxn modelId="{35B852E8-89E2-46F3-8598-DF719A9F7370}" type="presOf" srcId="{12ABD76A-7E0F-4BCF-B389-07B45506FB8E}" destId="{154D9EB1-2285-4A71-A44F-AFA6AB2E80AF}" srcOrd="0" destOrd="0" presId="urn:microsoft.com/office/officeart/2008/layout/LinedList"/>
    <dgm:cxn modelId="{161170FB-2230-41BB-8266-16A5A75CC349}" srcId="{FFBC655D-EF51-41E4-965C-CF290950AE6E}" destId="{4408817F-57C3-438A-A1D6-F92FE61B5391}" srcOrd="1" destOrd="0" parTransId="{5CBD43B2-9B75-4692-9AE1-3C47842043A9}" sibTransId="{F9EFAD6E-64D0-4DCD-82DF-69987B805B5D}"/>
    <dgm:cxn modelId="{763C956B-C070-49DE-AB4A-1E2825275C06}" type="presParOf" srcId="{80221C11-30B5-4CDC-B4A4-F9A355D2B4F0}" destId="{2342C717-3876-4FE5-B1EF-25B15D852AD9}" srcOrd="0" destOrd="0" presId="urn:microsoft.com/office/officeart/2008/layout/LinedList"/>
    <dgm:cxn modelId="{995391A0-66CB-4ED6-BD6C-44F41ECE210E}" type="presParOf" srcId="{80221C11-30B5-4CDC-B4A4-F9A355D2B4F0}" destId="{002579DC-F0C7-4224-89E0-84F22079D643}" srcOrd="1" destOrd="0" presId="urn:microsoft.com/office/officeart/2008/layout/LinedList"/>
    <dgm:cxn modelId="{E79EB6AC-DFB7-4A74-B4CC-7ADC4661AF20}" type="presParOf" srcId="{002579DC-F0C7-4224-89E0-84F22079D643}" destId="{154D9EB1-2285-4A71-A44F-AFA6AB2E80AF}" srcOrd="0" destOrd="0" presId="urn:microsoft.com/office/officeart/2008/layout/LinedList"/>
    <dgm:cxn modelId="{E3D611D4-E1DA-498C-AB56-23713C3AC7DD}" type="presParOf" srcId="{002579DC-F0C7-4224-89E0-84F22079D643}" destId="{8A107865-FDC7-42B3-AFA5-7096B078158E}" srcOrd="1" destOrd="0" presId="urn:microsoft.com/office/officeart/2008/layout/LinedList"/>
    <dgm:cxn modelId="{B3D4481A-05B3-42AE-AE2E-1638595F1F99}" type="presParOf" srcId="{80221C11-30B5-4CDC-B4A4-F9A355D2B4F0}" destId="{D5FE077B-2089-4E21-93A4-113B95D83F87}" srcOrd="2" destOrd="0" presId="urn:microsoft.com/office/officeart/2008/layout/LinedList"/>
    <dgm:cxn modelId="{73541343-335E-40C8-878B-2064A2DE373A}" type="presParOf" srcId="{80221C11-30B5-4CDC-B4A4-F9A355D2B4F0}" destId="{8EC4E327-AB4C-4365-850B-BDC067B2DAA1}" srcOrd="3" destOrd="0" presId="urn:microsoft.com/office/officeart/2008/layout/LinedList"/>
    <dgm:cxn modelId="{FE30FE55-FE2B-41B3-BDA7-8E91C65A7D9B}" type="presParOf" srcId="{8EC4E327-AB4C-4365-850B-BDC067B2DAA1}" destId="{5A318BBD-1217-4AA0-9B6D-DBC8D5F2EFA1}" srcOrd="0" destOrd="0" presId="urn:microsoft.com/office/officeart/2008/layout/LinedList"/>
    <dgm:cxn modelId="{C1264738-ECA8-4D6C-9B28-3E374AAB664C}" type="presParOf" srcId="{8EC4E327-AB4C-4365-850B-BDC067B2DAA1}" destId="{C804F6DB-9AA3-4AF4-A87A-41CE27B8247B}" srcOrd="1" destOrd="0" presId="urn:microsoft.com/office/officeart/2008/layout/LinedList"/>
    <dgm:cxn modelId="{6C8BA8E9-958A-4339-8560-8682325E53A3}" type="presParOf" srcId="{80221C11-30B5-4CDC-B4A4-F9A355D2B4F0}" destId="{F54CD57D-FBFA-4816-9419-ED6440C2BC76}" srcOrd="4" destOrd="0" presId="urn:microsoft.com/office/officeart/2008/layout/LinedList"/>
    <dgm:cxn modelId="{CFE68C85-CA3D-4D9A-BE1E-ECE48357AC32}" type="presParOf" srcId="{80221C11-30B5-4CDC-B4A4-F9A355D2B4F0}" destId="{B797C2FA-3E57-4D7D-B8C7-2102C1C255B2}" srcOrd="5" destOrd="0" presId="urn:microsoft.com/office/officeart/2008/layout/LinedList"/>
    <dgm:cxn modelId="{460D6ED2-A0BD-46EB-AB6E-7154DA126D0A}" type="presParOf" srcId="{B797C2FA-3E57-4D7D-B8C7-2102C1C255B2}" destId="{513781CD-7B11-4544-B401-D2B32298A147}" srcOrd="0" destOrd="0" presId="urn:microsoft.com/office/officeart/2008/layout/LinedList"/>
    <dgm:cxn modelId="{DB4ED9C0-03C5-4154-A9F4-EA81CC3FAD36}" type="presParOf" srcId="{B797C2FA-3E57-4D7D-B8C7-2102C1C255B2}" destId="{3E901A5A-6EE5-4446-9F87-678B7CC5A7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CE9DFF-35A9-4D8D-986E-CC10B33F08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470CAD-DD60-4C1D-B792-64065070CF23}">
      <dgm:prSet/>
      <dgm:spPr/>
      <dgm:t>
        <a:bodyPr/>
        <a:lstStyle/>
        <a:p>
          <a:r>
            <a:rPr lang="en-US" b="1"/>
            <a:t>public interface Player {</a:t>
          </a:r>
          <a:endParaRPr lang="en-US"/>
        </a:p>
      </dgm:t>
    </dgm:pt>
    <dgm:pt modelId="{4ADC623D-0B8E-4DB5-9590-1AAD82C4E7B7}" type="parTrans" cxnId="{15E00200-DC0F-40CC-B521-3C5DE2CD6D4F}">
      <dgm:prSet/>
      <dgm:spPr/>
      <dgm:t>
        <a:bodyPr/>
        <a:lstStyle/>
        <a:p>
          <a:endParaRPr lang="en-US"/>
        </a:p>
      </dgm:t>
    </dgm:pt>
    <dgm:pt modelId="{DF4B0A70-EEB2-4AF0-A45F-A3B047DD7DD9}" type="sibTrans" cxnId="{15E00200-DC0F-40CC-B521-3C5DE2CD6D4F}">
      <dgm:prSet/>
      <dgm:spPr/>
      <dgm:t>
        <a:bodyPr/>
        <a:lstStyle/>
        <a:p>
          <a:endParaRPr lang="en-US"/>
        </a:p>
      </dgm:t>
    </dgm:pt>
    <dgm:pt modelId="{809977E6-B122-4DC6-8E14-4F1BE8A8077B}">
      <dgm:prSet/>
      <dgm:spPr/>
      <dgm:t>
        <a:bodyPr/>
        <a:lstStyle/>
        <a:p>
          <a:r>
            <a:rPr lang="en-US" b="1"/>
            <a:t>public void play();</a:t>
          </a:r>
          <a:endParaRPr lang="en-US"/>
        </a:p>
      </dgm:t>
    </dgm:pt>
    <dgm:pt modelId="{4B6CECCE-494A-4D8C-8919-8C0F9EDC9181}" type="parTrans" cxnId="{171A975E-F21C-49AF-942A-94AFBC170013}">
      <dgm:prSet/>
      <dgm:spPr/>
      <dgm:t>
        <a:bodyPr/>
        <a:lstStyle/>
        <a:p>
          <a:endParaRPr lang="en-US"/>
        </a:p>
      </dgm:t>
    </dgm:pt>
    <dgm:pt modelId="{9CC7DD94-0B4A-422F-B8FF-5347A9AEEF18}" type="sibTrans" cxnId="{171A975E-F21C-49AF-942A-94AFBC170013}">
      <dgm:prSet/>
      <dgm:spPr/>
      <dgm:t>
        <a:bodyPr/>
        <a:lstStyle/>
        <a:p>
          <a:endParaRPr lang="en-US"/>
        </a:p>
      </dgm:t>
    </dgm:pt>
    <dgm:pt modelId="{034BC254-6E95-430E-BE71-E7956F44C7C6}">
      <dgm:prSet/>
      <dgm:spPr/>
      <dgm:t>
        <a:bodyPr/>
        <a:lstStyle/>
        <a:p>
          <a:r>
            <a:rPr lang="en-US" b="1"/>
            <a:t>public void stop();</a:t>
          </a:r>
          <a:endParaRPr lang="en-US"/>
        </a:p>
      </dgm:t>
    </dgm:pt>
    <dgm:pt modelId="{FD56E177-C36F-4DE9-8DE9-C86B73393A87}" type="parTrans" cxnId="{59B94E93-8AB3-455F-BB8A-2214CEFE3FD6}">
      <dgm:prSet/>
      <dgm:spPr/>
      <dgm:t>
        <a:bodyPr/>
        <a:lstStyle/>
        <a:p>
          <a:endParaRPr lang="en-US"/>
        </a:p>
      </dgm:t>
    </dgm:pt>
    <dgm:pt modelId="{58964744-4720-49D2-A184-087057B361F5}" type="sibTrans" cxnId="{59B94E93-8AB3-455F-BB8A-2214CEFE3FD6}">
      <dgm:prSet/>
      <dgm:spPr/>
      <dgm:t>
        <a:bodyPr/>
        <a:lstStyle/>
        <a:p>
          <a:endParaRPr lang="en-US"/>
        </a:p>
      </dgm:t>
    </dgm:pt>
    <dgm:pt modelId="{A23B26C8-1DDD-42B2-8EB0-20B35314E34E}">
      <dgm:prSet/>
      <dgm:spPr/>
      <dgm:t>
        <a:bodyPr/>
        <a:lstStyle/>
        <a:p>
          <a:r>
            <a:rPr lang="en-US" b="1"/>
            <a:t>public void pause();</a:t>
          </a:r>
          <a:endParaRPr lang="en-US"/>
        </a:p>
      </dgm:t>
    </dgm:pt>
    <dgm:pt modelId="{FF78D3DC-A2B1-49A9-B316-B865C2BBA93A}" type="parTrans" cxnId="{3749F9B3-1621-4B14-AB43-FA586C644535}">
      <dgm:prSet/>
      <dgm:spPr/>
      <dgm:t>
        <a:bodyPr/>
        <a:lstStyle/>
        <a:p>
          <a:endParaRPr lang="en-US"/>
        </a:p>
      </dgm:t>
    </dgm:pt>
    <dgm:pt modelId="{25B3E271-01B6-42AB-AC0F-A45F7F1D9EFD}" type="sibTrans" cxnId="{3749F9B3-1621-4B14-AB43-FA586C644535}">
      <dgm:prSet/>
      <dgm:spPr/>
      <dgm:t>
        <a:bodyPr/>
        <a:lstStyle/>
        <a:p>
          <a:endParaRPr lang="en-US"/>
        </a:p>
      </dgm:t>
    </dgm:pt>
    <dgm:pt modelId="{9BC4DD9C-CD74-4C44-8177-A4C23DF98B9C}">
      <dgm:prSet/>
      <dgm:spPr/>
      <dgm:t>
        <a:bodyPr/>
        <a:lstStyle/>
        <a:p>
          <a:r>
            <a:rPr lang="en-US" b="1"/>
            <a:t>}</a:t>
          </a:r>
          <a:endParaRPr lang="en-US"/>
        </a:p>
      </dgm:t>
    </dgm:pt>
    <dgm:pt modelId="{63F7EA58-84A9-41FE-A72E-B8EA89DDD1CF}" type="parTrans" cxnId="{FA43388A-CFB6-458A-B19C-489029630133}">
      <dgm:prSet/>
      <dgm:spPr/>
      <dgm:t>
        <a:bodyPr/>
        <a:lstStyle/>
        <a:p>
          <a:endParaRPr lang="en-US"/>
        </a:p>
      </dgm:t>
    </dgm:pt>
    <dgm:pt modelId="{F36E3258-E580-4D91-804B-E826C6C85EF7}" type="sibTrans" cxnId="{FA43388A-CFB6-458A-B19C-489029630133}">
      <dgm:prSet/>
      <dgm:spPr/>
      <dgm:t>
        <a:bodyPr/>
        <a:lstStyle/>
        <a:p>
          <a:endParaRPr lang="en-US"/>
        </a:p>
      </dgm:t>
    </dgm:pt>
    <dgm:pt modelId="{563C6A97-3E26-4034-82B3-3D85F064BE08}" type="pres">
      <dgm:prSet presAssocID="{1BCE9DFF-35A9-4D8D-986E-CC10B33F08CD}" presName="root" presStyleCnt="0">
        <dgm:presLayoutVars>
          <dgm:dir/>
          <dgm:resizeHandles val="exact"/>
        </dgm:presLayoutVars>
      </dgm:prSet>
      <dgm:spPr/>
    </dgm:pt>
    <dgm:pt modelId="{F12F9CD7-51BB-4AFC-BB19-420E2A26EEE0}" type="pres">
      <dgm:prSet presAssocID="{C0470CAD-DD60-4C1D-B792-64065070CF23}" presName="compNode" presStyleCnt="0"/>
      <dgm:spPr/>
    </dgm:pt>
    <dgm:pt modelId="{2981727C-8D4E-4710-93A6-9F0BE742EB82}" type="pres">
      <dgm:prSet presAssocID="{C0470CAD-DD60-4C1D-B792-64065070CF23}" presName="bgRect" presStyleLbl="bgShp" presStyleIdx="0" presStyleCnt="5"/>
      <dgm:spPr/>
    </dgm:pt>
    <dgm:pt modelId="{943DF607-5BC4-4B33-9163-24C30B0800A2}" type="pres">
      <dgm:prSet presAssocID="{C0470CAD-DD60-4C1D-B792-64065070CF2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4EDE6D8B-484C-495E-A65F-114DCDD3F8E2}" type="pres">
      <dgm:prSet presAssocID="{C0470CAD-DD60-4C1D-B792-64065070CF23}" presName="spaceRect" presStyleCnt="0"/>
      <dgm:spPr/>
    </dgm:pt>
    <dgm:pt modelId="{67F449C6-F7C2-4C4B-875B-A31DC93710AF}" type="pres">
      <dgm:prSet presAssocID="{C0470CAD-DD60-4C1D-B792-64065070CF23}" presName="parTx" presStyleLbl="revTx" presStyleIdx="0" presStyleCnt="5">
        <dgm:presLayoutVars>
          <dgm:chMax val="0"/>
          <dgm:chPref val="0"/>
        </dgm:presLayoutVars>
      </dgm:prSet>
      <dgm:spPr/>
    </dgm:pt>
    <dgm:pt modelId="{CD48A847-2722-4AB1-AF85-4A536AE40717}" type="pres">
      <dgm:prSet presAssocID="{DF4B0A70-EEB2-4AF0-A45F-A3B047DD7DD9}" presName="sibTrans" presStyleCnt="0"/>
      <dgm:spPr/>
    </dgm:pt>
    <dgm:pt modelId="{F91DC436-72F2-491B-885C-26C1792C0C98}" type="pres">
      <dgm:prSet presAssocID="{809977E6-B122-4DC6-8E14-4F1BE8A8077B}" presName="compNode" presStyleCnt="0"/>
      <dgm:spPr/>
    </dgm:pt>
    <dgm:pt modelId="{2F2FD9B8-321E-42D7-A4C0-92BDD5F6D321}" type="pres">
      <dgm:prSet presAssocID="{809977E6-B122-4DC6-8E14-4F1BE8A8077B}" presName="bgRect" presStyleLbl="bgShp" presStyleIdx="1" presStyleCnt="5"/>
      <dgm:spPr/>
    </dgm:pt>
    <dgm:pt modelId="{7D3C5705-3587-4C5C-A40F-D6B0BB4F756C}" type="pres">
      <dgm:prSet presAssocID="{809977E6-B122-4DC6-8E14-4F1BE8A8077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D5BBB7FA-8329-4B1C-AD46-0B40ADE3CA67}" type="pres">
      <dgm:prSet presAssocID="{809977E6-B122-4DC6-8E14-4F1BE8A8077B}" presName="spaceRect" presStyleCnt="0"/>
      <dgm:spPr/>
    </dgm:pt>
    <dgm:pt modelId="{E3DC6B08-426C-41B6-86F0-A13E5EC62073}" type="pres">
      <dgm:prSet presAssocID="{809977E6-B122-4DC6-8E14-4F1BE8A8077B}" presName="parTx" presStyleLbl="revTx" presStyleIdx="1" presStyleCnt="5">
        <dgm:presLayoutVars>
          <dgm:chMax val="0"/>
          <dgm:chPref val="0"/>
        </dgm:presLayoutVars>
      </dgm:prSet>
      <dgm:spPr/>
    </dgm:pt>
    <dgm:pt modelId="{57F91DB4-02B7-49C0-8A88-A57F8189C821}" type="pres">
      <dgm:prSet presAssocID="{9CC7DD94-0B4A-422F-B8FF-5347A9AEEF18}" presName="sibTrans" presStyleCnt="0"/>
      <dgm:spPr/>
    </dgm:pt>
    <dgm:pt modelId="{DDEBA93A-4330-4C1E-8B93-051FE182F4B7}" type="pres">
      <dgm:prSet presAssocID="{034BC254-6E95-430E-BE71-E7956F44C7C6}" presName="compNode" presStyleCnt="0"/>
      <dgm:spPr/>
    </dgm:pt>
    <dgm:pt modelId="{223AEE6B-B124-4FF1-AC82-563E22F2CE47}" type="pres">
      <dgm:prSet presAssocID="{034BC254-6E95-430E-BE71-E7956F44C7C6}" presName="bgRect" presStyleLbl="bgShp" presStyleIdx="2" presStyleCnt="5"/>
      <dgm:spPr/>
    </dgm:pt>
    <dgm:pt modelId="{CE5AE615-A704-43C9-BE48-5C6769DE57C6}" type="pres">
      <dgm:prSet presAssocID="{034BC254-6E95-430E-BE71-E7956F44C7C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849CC881-7523-4214-80AF-996F3E43439C}" type="pres">
      <dgm:prSet presAssocID="{034BC254-6E95-430E-BE71-E7956F44C7C6}" presName="spaceRect" presStyleCnt="0"/>
      <dgm:spPr/>
    </dgm:pt>
    <dgm:pt modelId="{F4BD4563-44B5-45AE-B969-53DF2817D8DC}" type="pres">
      <dgm:prSet presAssocID="{034BC254-6E95-430E-BE71-E7956F44C7C6}" presName="parTx" presStyleLbl="revTx" presStyleIdx="2" presStyleCnt="5">
        <dgm:presLayoutVars>
          <dgm:chMax val="0"/>
          <dgm:chPref val="0"/>
        </dgm:presLayoutVars>
      </dgm:prSet>
      <dgm:spPr/>
    </dgm:pt>
    <dgm:pt modelId="{73D39D81-3384-465D-9718-3CC03F50B832}" type="pres">
      <dgm:prSet presAssocID="{58964744-4720-49D2-A184-087057B361F5}" presName="sibTrans" presStyleCnt="0"/>
      <dgm:spPr/>
    </dgm:pt>
    <dgm:pt modelId="{FEC0B793-979C-4B07-AFAB-DE0BB2329FD8}" type="pres">
      <dgm:prSet presAssocID="{A23B26C8-1DDD-42B2-8EB0-20B35314E34E}" presName="compNode" presStyleCnt="0"/>
      <dgm:spPr/>
    </dgm:pt>
    <dgm:pt modelId="{129FE402-636E-4FDF-9E47-839E6DC26F29}" type="pres">
      <dgm:prSet presAssocID="{A23B26C8-1DDD-42B2-8EB0-20B35314E34E}" presName="bgRect" presStyleLbl="bgShp" presStyleIdx="3" presStyleCnt="5"/>
      <dgm:spPr/>
    </dgm:pt>
    <dgm:pt modelId="{960819F6-05B1-46B1-A446-760E95B5321F}" type="pres">
      <dgm:prSet presAssocID="{A23B26C8-1DDD-42B2-8EB0-20B35314E34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use"/>
        </a:ext>
      </dgm:extLst>
    </dgm:pt>
    <dgm:pt modelId="{7409D987-E33E-4550-8F82-00234C3FD5B5}" type="pres">
      <dgm:prSet presAssocID="{A23B26C8-1DDD-42B2-8EB0-20B35314E34E}" presName="spaceRect" presStyleCnt="0"/>
      <dgm:spPr/>
    </dgm:pt>
    <dgm:pt modelId="{22A4DB26-3225-4FD7-9344-E963C612F71F}" type="pres">
      <dgm:prSet presAssocID="{A23B26C8-1DDD-42B2-8EB0-20B35314E34E}" presName="parTx" presStyleLbl="revTx" presStyleIdx="3" presStyleCnt="5">
        <dgm:presLayoutVars>
          <dgm:chMax val="0"/>
          <dgm:chPref val="0"/>
        </dgm:presLayoutVars>
      </dgm:prSet>
      <dgm:spPr/>
    </dgm:pt>
    <dgm:pt modelId="{1C3819E1-547B-476C-9920-29898B3169F4}" type="pres">
      <dgm:prSet presAssocID="{25B3E271-01B6-42AB-AC0F-A45F7F1D9EFD}" presName="sibTrans" presStyleCnt="0"/>
      <dgm:spPr/>
    </dgm:pt>
    <dgm:pt modelId="{91DB6DC1-E6DD-48FB-BB66-297BFF5D7130}" type="pres">
      <dgm:prSet presAssocID="{9BC4DD9C-CD74-4C44-8177-A4C23DF98B9C}" presName="compNode" presStyleCnt="0"/>
      <dgm:spPr/>
    </dgm:pt>
    <dgm:pt modelId="{B312E361-38BB-4B77-B92C-4F45FE7DD32E}" type="pres">
      <dgm:prSet presAssocID="{9BC4DD9C-CD74-4C44-8177-A4C23DF98B9C}" presName="bgRect" presStyleLbl="bgShp" presStyleIdx="4" presStyleCnt="5"/>
      <dgm:spPr/>
    </dgm:pt>
    <dgm:pt modelId="{46FF3F2C-E211-473E-B144-81B14B0DE6A3}" type="pres">
      <dgm:prSet presAssocID="{9BC4DD9C-CD74-4C44-8177-A4C23DF98B9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D2125B84-A04D-45E9-A90F-ADBC0A4E214F}" type="pres">
      <dgm:prSet presAssocID="{9BC4DD9C-CD74-4C44-8177-A4C23DF98B9C}" presName="spaceRect" presStyleCnt="0"/>
      <dgm:spPr/>
    </dgm:pt>
    <dgm:pt modelId="{A2D2160A-2E01-45B2-AFE1-E660F81269C7}" type="pres">
      <dgm:prSet presAssocID="{9BC4DD9C-CD74-4C44-8177-A4C23DF98B9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5E00200-DC0F-40CC-B521-3C5DE2CD6D4F}" srcId="{1BCE9DFF-35A9-4D8D-986E-CC10B33F08CD}" destId="{C0470CAD-DD60-4C1D-B792-64065070CF23}" srcOrd="0" destOrd="0" parTransId="{4ADC623D-0B8E-4DB5-9590-1AAD82C4E7B7}" sibTransId="{DF4B0A70-EEB2-4AF0-A45F-A3B047DD7DD9}"/>
    <dgm:cxn modelId="{616D080C-3A4A-43A4-BC7A-160A9239C34F}" type="presOf" srcId="{9BC4DD9C-CD74-4C44-8177-A4C23DF98B9C}" destId="{A2D2160A-2E01-45B2-AFE1-E660F81269C7}" srcOrd="0" destOrd="0" presId="urn:microsoft.com/office/officeart/2018/2/layout/IconVerticalSolidList"/>
    <dgm:cxn modelId="{171A975E-F21C-49AF-942A-94AFBC170013}" srcId="{1BCE9DFF-35A9-4D8D-986E-CC10B33F08CD}" destId="{809977E6-B122-4DC6-8E14-4F1BE8A8077B}" srcOrd="1" destOrd="0" parTransId="{4B6CECCE-494A-4D8C-8919-8C0F9EDC9181}" sibTransId="{9CC7DD94-0B4A-422F-B8FF-5347A9AEEF18}"/>
    <dgm:cxn modelId="{1E22774B-9175-4AC9-BAD6-6E5B76B6D8E4}" type="presOf" srcId="{809977E6-B122-4DC6-8E14-4F1BE8A8077B}" destId="{E3DC6B08-426C-41B6-86F0-A13E5EC62073}" srcOrd="0" destOrd="0" presId="urn:microsoft.com/office/officeart/2018/2/layout/IconVerticalSolidList"/>
    <dgm:cxn modelId="{1BAAA374-79C5-45E3-A443-B31BA496FB4B}" type="presOf" srcId="{1BCE9DFF-35A9-4D8D-986E-CC10B33F08CD}" destId="{563C6A97-3E26-4034-82B3-3D85F064BE08}" srcOrd="0" destOrd="0" presId="urn:microsoft.com/office/officeart/2018/2/layout/IconVerticalSolidList"/>
    <dgm:cxn modelId="{210D6D55-3646-4B57-8573-6B86F778DE11}" type="presOf" srcId="{C0470CAD-DD60-4C1D-B792-64065070CF23}" destId="{67F449C6-F7C2-4C4B-875B-A31DC93710AF}" srcOrd="0" destOrd="0" presId="urn:microsoft.com/office/officeart/2018/2/layout/IconVerticalSolidList"/>
    <dgm:cxn modelId="{91696D7D-44F2-4EB2-8516-E2D55952F425}" type="presOf" srcId="{A23B26C8-1DDD-42B2-8EB0-20B35314E34E}" destId="{22A4DB26-3225-4FD7-9344-E963C612F71F}" srcOrd="0" destOrd="0" presId="urn:microsoft.com/office/officeart/2018/2/layout/IconVerticalSolidList"/>
    <dgm:cxn modelId="{FA43388A-CFB6-458A-B19C-489029630133}" srcId="{1BCE9DFF-35A9-4D8D-986E-CC10B33F08CD}" destId="{9BC4DD9C-CD74-4C44-8177-A4C23DF98B9C}" srcOrd="4" destOrd="0" parTransId="{63F7EA58-84A9-41FE-A72E-B8EA89DDD1CF}" sibTransId="{F36E3258-E580-4D91-804B-E826C6C85EF7}"/>
    <dgm:cxn modelId="{59B94E93-8AB3-455F-BB8A-2214CEFE3FD6}" srcId="{1BCE9DFF-35A9-4D8D-986E-CC10B33F08CD}" destId="{034BC254-6E95-430E-BE71-E7956F44C7C6}" srcOrd="2" destOrd="0" parTransId="{FD56E177-C36F-4DE9-8DE9-C86B73393A87}" sibTransId="{58964744-4720-49D2-A184-087057B361F5}"/>
    <dgm:cxn modelId="{B5E794B2-F9F3-4472-B59F-3B2112E43F26}" type="presOf" srcId="{034BC254-6E95-430E-BE71-E7956F44C7C6}" destId="{F4BD4563-44B5-45AE-B969-53DF2817D8DC}" srcOrd="0" destOrd="0" presId="urn:microsoft.com/office/officeart/2018/2/layout/IconVerticalSolidList"/>
    <dgm:cxn modelId="{3749F9B3-1621-4B14-AB43-FA586C644535}" srcId="{1BCE9DFF-35A9-4D8D-986E-CC10B33F08CD}" destId="{A23B26C8-1DDD-42B2-8EB0-20B35314E34E}" srcOrd="3" destOrd="0" parTransId="{FF78D3DC-A2B1-49A9-B316-B865C2BBA93A}" sibTransId="{25B3E271-01B6-42AB-AC0F-A45F7F1D9EFD}"/>
    <dgm:cxn modelId="{4721AAE8-F429-4098-8BAF-C464E7032F77}" type="presParOf" srcId="{563C6A97-3E26-4034-82B3-3D85F064BE08}" destId="{F12F9CD7-51BB-4AFC-BB19-420E2A26EEE0}" srcOrd="0" destOrd="0" presId="urn:microsoft.com/office/officeart/2018/2/layout/IconVerticalSolidList"/>
    <dgm:cxn modelId="{F77BD895-9C4F-426B-9A6C-E3D8760CBA4C}" type="presParOf" srcId="{F12F9CD7-51BB-4AFC-BB19-420E2A26EEE0}" destId="{2981727C-8D4E-4710-93A6-9F0BE742EB82}" srcOrd="0" destOrd="0" presId="urn:microsoft.com/office/officeart/2018/2/layout/IconVerticalSolidList"/>
    <dgm:cxn modelId="{72ECD215-26E2-47B9-B67A-B768BC451608}" type="presParOf" srcId="{F12F9CD7-51BB-4AFC-BB19-420E2A26EEE0}" destId="{943DF607-5BC4-4B33-9163-24C30B0800A2}" srcOrd="1" destOrd="0" presId="urn:microsoft.com/office/officeart/2018/2/layout/IconVerticalSolidList"/>
    <dgm:cxn modelId="{359FE949-16F9-452D-B5F1-0046D6B0CA76}" type="presParOf" srcId="{F12F9CD7-51BB-4AFC-BB19-420E2A26EEE0}" destId="{4EDE6D8B-484C-495E-A65F-114DCDD3F8E2}" srcOrd="2" destOrd="0" presId="urn:microsoft.com/office/officeart/2018/2/layout/IconVerticalSolidList"/>
    <dgm:cxn modelId="{79448059-C81E-4610-ADA0-9012C9513505}" type="presParOf" srcId="{F12F9CD7-51BB-4AFC-BB19-420E2A26EEE0}" destId="{67F449C6-F7C2-4C4B-875B-A31DC93710AF}" srcOrd="3" destOrd="0" presId="urn:microsoft.com/office/officeart/2018/2/layout/IconVerticalSolidList"/>
    <dgm:cxn modelId="{8564924A-77A5-40B9-AD20-A3AF4F28094A}" type="presParOf" srcId="{563C6A97-3E26-4034-82B3-3D85F064BE08}" destId="{CD48A847-2722-4AB1-AF85-4A536AE40717}" srcOrd="1" destOrd="0" presId="urn:microsoft.com/office/officeart/2018/2/layout/IconVerticalSolidList"/>
    <dgm:cxn modelId="{441B4E34-F146-4391-ACD7-95AFB0B4A01E}" type="presParOf" srcId="{563C6A97-3E26-4034-82B3-3D85F064BE08}" destId="{F91DC436-72F2-491B-885C-26C1792C0C98}" srcOrd="2" destOrd="0" presId="urn:microsoft.com/office/officeart/2018/2/layout/IconVerticalSolidList"/>
    <dgm:cxn modelId="{BF5CD75F-7CC3-45AF-A2D2-677FF78AD278}" type="presParOf" srcId="{F91DC436-72F2-491B-885C-26C1792C0C98}" destId="{2F2FD9B8-321E-42D7-A4C0-92BDD5F6D321}" srcOrd="0" destOrd="0" presId="urn:microsoft.com/office/officeart/2018/2/layout/IconVerticalSolidList"/>
    <dgm:cxn modelId="{A65753F4-7973-4576-A17F-4A82CD355288}" type="presParOf" srcId="{F91DC436-72F2-491B-885C-26C1792C0C98}" destId="{7D3C5705-3587-4C5C-A40F-D6B0BB4F756C}" srcOrd="1" destOrd="0" presId="urn:microsoft.com/office/officeart/2018/2/layout/IconVerticalSolidList"/>
    <dgm:cxn modelId="{3B04BF40-D376-43EC-A3F6-11274E451028}" type="presParOf" srcId="{F91DC436-72F2-491B-885C-26C1792C0C98}" destId="{D5BBB7FA-8329-4B1C-AD46-0B40ADE3CA67}" srcOrd="2" destOrd="0" presId="urn:microsoft.com/office/officeart/2018/2/layout/IconVerticalSolidList"/>
    <dgm:cxn modelId="{C67DE485-7310-4578-8737-A322EEB12FEA}" type="presParOf" srcId="{F91DC436-72F2-491B-885C-26C1792C0C98}" destId="{E3DC6B08-426C-41B6-86F0-A13E5EC62073}" srcOrd="3" destOrd="0" presId="urn:microsoft.com/office/officeart/2018/2/layout/IconVerticalSolidList"/>
    <dgm:cxn modelId="{80572642-BEAE-40B8-9D0B-DF8E1B174409}" type="presParOf" srcId="{563C6A97-3E26-4034-82B3-3D85F064BE08}" destId="{57F91DB4-02B7-49C0-8A88-A57F8189C821}" srcOrd="3" destOrd="0" presId="urn:microsoft.com/office/officeart/2018/2/layout/IconVerticalSolidList"/>
    <dgm:cxn modelId="{428B7BF2-B7A7-40F7-AB03-ED63E50FB183}" type="presParOf" srcId="{563C6A97-3E26-4034-82B3-3D85F064BE08}" destId="{DDEBA93A-4330-4C1E-8B93-051FE182F4B7}" srcOrd="4" destOrd="0" presId="urn:microsoft.com/office/officeart/2018/2/layout/IconVerticalSolidList"/>
    <dgm:cxn modelId="{C7C849AF-FF41-4A8A-849F-9486C2CBA0AA}" type="presParOf" srcId="{DDEBA93A-4330-4C1E-8B93-051FE182F4B7}" destId="{223AEE6B-B124-4FF1-AC82-563E22F2CE47}" srcOrd="0" destOrd="0" presId="urn:microsoft.com/office/officeart/2018/2/layout/IconVerticalSolidList"/>
    <dgm:cxn modelId="{63DDFA87-6906-42AA-A473-8A3DC0DE944D}" type="presParOf" srcId="{DDEBA93A-4330-4C1E-8B93-051FE182F4B7}" destId="{CE5AE615-A704-43C9-BE48-5C6769DE57C6}" srcOrd="1" destOrd="0" presId="urn:microsoft.com/office/officeart/2018/2/layout/IconVerticalSolidList"/>
    <dgm:cxn modelId="{93F7ECBD-7C21-4073-B709-C6DCE67304E0}" type="presParOf" srcId="{DDEBA93A-4330-4C1E-8B93-051FE182F4B7}" destId="{849CC881-7523-4214-80AF-996F3E43439C}" srcOrd="2" destOrd="0" presId="urn:microsoft.com/office/officeart/2018/2/layout/IconVerticalSolidList"/>
    <dgm:cxn modelId="{13EFF254-858F-4885-9E65-AE2243178483}" type="presParOf" srcId="{DDEBA93A-4330-4C1E-8B93-051FE182F4B7}" destId="{F4BD4563-44B5-45AE-B969-53DF2817D8DC}" srcOrd="3" destOrd="0" presId="urn:microsoft.com/office/officeart/2018/2/layout/IconVerticalSolidList"/>
    <dgm:cxn modelId="{79F1F822-D945-4F11-ACDF-4CAE9C23D191}" type="presParOf" srcId="{563C6A97-3E26-4034-82B3-3D85F064BE08}" destId="{73D39D81-3384-465D-9718-3CC03F50B832}" srcOrd="5" destOrd="0" presId="urn:microsoft.com/office/officeart/2018/2/layout/IconVerticalSolidList"/>
    <dgm:cxn modelId="{D047F4DE-3D17-4811-AE4C-EC982CD293AE}" type="presParOf" srcId="{563C6A97-3E26-4034-82B3-3D85F064BE08}" destId="{FEC0B793-979C-4B07-AFAB-DE0BB2329FD8}" srcOrd="6" destOrd="0" presId="urn:microsoft.com/office/officeart/2018/2/layout/IconVerticalSolidList"/>
    <dgm:cxn modelId="{1035554A-56F5-44D8-88B9-C246C9D37B8A}" type="presParOf" srcId="{FEC0B793-979C-4B07-AFAB-DE0BB2329FD8}" destId="{129FE402-636E-4FDF-9E47-839E6DC26F29}" srcOrd="0" destOrd="0" presId="urn:microsoft.com/office/officeart/2018/2/layout/IconVerticalSolidList"/>
    <dgm:cxn modelId="{0961E2C5-3D1E-428C-9183-468D5D4C26FC}" type="presParOf" srcId="{FEC0B793-979C-4B07-AFAB-DE0BB2329FD8}" destId="{960819F6-05B1-46B1-A446-760E95B5321F}" srcOrd="1" destOrd="0" presId="urn:microsoft.com/office/officeart/2018/2/layout/IconVerticalSolidList"/>
    <dgm:cxn modelId="{5C152682-C9E3-48ED-B4CD-688DCFC71815}" type="presParOf" srcId="{FEC0B793-979C-4B07-AFAB-DE0BB2329FD8}" destId="{7409D987-E33E-4550-8F82-00234C3FD5B5}" srcOrd="2" destOrd="0" presId="urn:microsoft.com/office/officeart/2018/2/layout/IconVerticalSolidList"/>
    <dgm:cxn modelId="{4D1905AF-2645-4D71-95BD-47A6FF5097D7}" type="presParOf" srcId="{FEC0B793-979C-4B07-AFAB-DE0BB2329FD8}" destId="{22A4DB26-3225-4FD7-9344-E963C612F71F}" srcOrd="3" destOrd="0" presId="urn:microsoft.com/office/officeart/2018/2/layout/IconVerticalSolidList"/>
    <dgm:cxn modelId="{45A4BCDF-B85E-4C95-A87C-DAD065B7FC9C}" type="presParOf" srcId="{563C6A97-3E26-4034-82B3-3D85F064BE08}" destId="{1C3819E1-547B-476C-9920-29898B3169F4}" srcOrd="7" destOrd="0" presId="urn:microsoft.com/office/officeart/2018/2/layout/IconVerticalSolidList"/>
    <dgm:cxn modelId="{CB3A1D9B-7729-49A2-9DF3-61D4BF556D8A}" type="presParOf" srcId="{563C6A97-3E26-4034-82B3-3D85F064BE08}" destId="{91DB6DC1-E6DD-48FB-BB66-297BFF5D7130}" srcOrd="8" destOrd="0" presId="urn:microsoft.com/office/officeart/2018/2/layout/IconVerticalSolidList"/>
    <dgm:cxn modelId="{A80E5353-5A5B-4C6E-81BD-9860FFDD77E9}" type="presParOf" srcId="{91DB6DC1-E6DD-48FB-BB66-297BFF5D7130}" destId="{B312E361-38BB-4B77-B92C-4F45FE7DD32E}" srcOrd="0" destOrd="0" presId="urn:microsoft.com/office/officeart/2018/2/layout/IconVerticalSolidList"/>
    <dgm:cxn modelId="{09D6F251-25D9-40A6-BB6A-9BA3FFB16D33}" type="presParOf" srcId="{91DB6DC1-E6DD-48FB-BB66-297BFF5D7130}" destId="{46FF3F2C-E211-473E-B144-81B14B0DE6A3}" srcOrd="1" destOrd="0" presId="urn:microsoft.com/office/officeart/2018/2/layout/IconVerticalSolidList"/>
    <dgm:cxn modelId="{52AD032B-324C-4B0B-A056-ECEF2B187E62}" type="presParOf" srcId="{91DB6DC1-E6DD-48FB-BB66-297BFF5D7130}" destId="{D2125B84-A04D-45E9-A90F-ADBC0A4E214F}" srcOrd="2" destOrd="0" presId="urn:microsoft.com/office/officeart/2018/2/layout/IconVerticalSolidList"/>
    <dgm:cxn modelId="{D64A8F6C-2880-4D8B-855D-7C70C60CDBA3}" type="presParOf" srcId="{91DB6DC1-E6DD-48FB-BB66-297BFF5D7130}" destId="{A2D2160A-2E01-45B2-AFE1-E660F81269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C977B-C94C-4C49-91EF-BCFCF5094337}">
      <dsp:nvSpPr>
        <dsp:cNvPr id="0" name=""/>
        <dsp:cNvSpPr/>
      </dsp:nvSpPr>
      <dsp:spPr>
        <a:xfrm>
          <a:off x="0" y="92757"/>
          <a:ext cx="5620474" cy="145445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 </a:t>
          </a:r>
          <a:r>
            <a:rPr lang="en-US" sz="2600" b="1" kern="1200"/>
            <a:t>metoda abstracta</a:t>
          </a:r>
          <a:r>
            <a:rPr lang="en-US" sz="2600" kern="1200"/>
            <a:t> este o metoda fara corp (continut)</a:t>
          </a:r>
        </a:p>
      </dsp:txBody>
      <dsp:txXfrm>
        <a:off x="71001" y="163758"/>
        <a:ext cx="5478472" cy="1312454"/>
      </dsp:txXfrm>
    </dsp:sp>
    <dsp:sp modelId="{4DC2ADF9-B59D-40B2-B5C2-8AE18EABC3A6}">
      <dsp:nvSpPr>
        <dsp:cNvPr id="0" name=""/>
        <dsp:cNvSpPr/>
      </dsp:nvSpPr>
      <dsp:spPr>
        <a:xfrm>
          <a:off x="0" y="1622094"/>
          <a:ext cx="5620474" cy="1454456"/>
        </a:xfrm>
        <a:prstGeom prst="round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 clasa care contine o metoda abstracta, trebuie declarata </a:t>
          </a:r>
          <a:r>
            <a:rPr lang="en-US" sz="2600" b="1" kern="1200"/>
            <a:t>clasa abstracta</a:t>
          </a:r>
          <a:endParaRPr lang="en-US" sz="2600" kern="1200"/>
        </a:p>
      </dsp:txBody>
      <dsp:txXfrm>
        <a:off x="71001" y="1693095"/>
        <a:ext cx="5478472" cy="1312454"/>
      </dsp:txXfrm>
    </dsp:sp>
    <dsp:sp modelId="{94C4809B-80CC-486C-90BA-607CB5388118}">
      <dsp:nvSpPr>
        <dsp:cNvPr id="0" name=""/>
        <dsp:cNvSpPr/>
      </dsp:nvSpPr>
      <dsp:spPr>
        <a:xfrm>
          <a:off x="0" y="3151430"/>
          <a:ext cx="5620474" cy="1454456"/>
        </a:xfrm>
        <a:prstGeom prst="round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Nu se pot crea obiecte dintr-o clasa abstracta</a:t>
          </a:r>
        </a:p>
      </dsp:txBody>
      <dsp:txXfrm>
        <a:off x="71001" y="3222431"/>
        <a:ext cx="5478472" cy="1312454"/>
      </dsp:txXfrm>
    </dsp:sp>
    <dsp:sp modelId="{C2F7639B-4EF7-41FC-8E45-B854A9417D55}">
      <dsp:nvSpPr>
        <dsp:cNvPr id="0" name=""/>
        <dsp:cNvSpPr/>
      </dsp:nvSpPr>
      <dsp:spPr>
        <a:xfrm>
          <a:off x="0" y="4680766"/>
          <a:ext cx="5620474" cy="1454456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 clasa poate fi declarata abstracta si daca nu contine nici o metoda abstracta</a:t>
          </a:r>
        </a:p>
      </dsp:txBody>
      <dsp:txXfrm>
        <a:off x="71001" y="4751767"/>
        <a:ext cx="5478472" cy="13124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2C717-3876-4FE5-B1EF-25B15D852AD9}">
      <dsp:nvSpPr>
        <dsp:cNvPr id="0" name=""/>
        <dsp:cNvSpPr/>
      </dsp:nvSpPr>
      <dsp:spPr>
        <a:xfrm>
          <a:off x="0" y="3041"/>
          <a:ext cx="562047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4D9EB1-2285-4A71-A44F-AFA6AB2E80AF}">
      <dsp:nvSpPr>
        <dsp:cNvPr id="0" name=""/>
        <dsp:cNvSpPr/>
      </dsp:nvSpPr>
      <dsp:spPr>
        <a:xfrm>
          <a:off x="0" y="3041"/>
          <a:ext cx="5620474" cy="2073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Regulă generală:</a:t>
          </a:r>
          <a:endParaRPr lang="en-US" sz="3000" kern="1200"/>
        </a:p>
      </dsp:txBody>
      <dsp:txXfrm>
        <a:off x="0" y="3041"/>
        <a:ext cx="5620474" cy="2073966"/>
      </dsp:txXfrm>
    </dsp:sp>
    <dsp:sp modelId="{D5FE077B-2089-4E21-93A4-113B95D83F87}">
      <dsp:nvSpPr>
        <dsp:cNvPr id="0" name=""/>
        <dsp:cNvSpPr/>
      </dsp:nvSpPr>
      <dsp:spPr>
        <a:xfrm>
          <a:off x="0" y="2077007"/>
          <a:ext cx="5620474" cy="0"/>
        </a:xfrm>
        <a:prstGeom prst="line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accent2">
              <a:hueOff val="19519"/>
              <a:satOff val="-13438"/>
              <a:lumOff val="-3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18BBD-1217-4AA0-9B6D-DBC8D5F2EFA1}">
      <dsp:nvSpPr>
        <dsp:cNvPr id="0" name=""/>
        <dsp:cNvSpPr/>
      </dsp:nvSpPr>
      <dsp:spPr>
        <a:xfrm>
          <a:off x="0" y="2077007"/>
          <a:ext cx="5620474" cy="2073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La </a:t>
          </a:r>
          <a:r>
            <a:rPr lang="en-GB" sz="3000" kern="1200" dirty="0" err="1"/>
            <a:t>crearea</a:t>
          </a:r>
          <a:r>
            <a:rPr lang="en-GB" sz="3000" kern="1200" dirty="0"/>
            <a:t> </a:t>
          </a:r>
          <a:r>
            <a:rPr lang="en-GB" sz="3000" kern="1200" dirty="0" err="1"/>
            <a:t>unui</a:t>
          </a:r>
          <a:r>
            <a:rPr lang="en-GB" sz="3000" kern="1200" dirty="0"/>
            <a:t> </a:t>
          </a:r>
          <a:r>
            <a:rPr lang="en-GB" sz="3000" kern="1200" dirty="0" err="1"/>
            <a:t>obiect</a:t>
          </a:r>
          <a:r>
            <a:rPr lang="en-GB" sz="3000" kern="1200" dirty="0"/>
            <a:t>, se </a:t>
          </a:r>
          <a:r>
            <a:rPr lang="en-GB" sz="3000" kern="1200" dirty="0" err="1"/>
            <a:t>apelează</a:t>
          </a:r>
          <a:r>
            <a:rPr lang="en-GB" sz="3000" kern="1200" dirty="0"/>
            <a:t> </a:t>
          </a:r>
          <a:r>
            <a:rPr lang="en-GB" sz="3000" kern="1200" dirty="0" err="1"/>
            <a:t>mai</a:t>
          </a:r>
          <a:r>
            <a:rPr lang="en-GB" sz="3000" kern="1200" dirty="0"/>
            <a:t> </a:t>
          </a:r>
          <a:r>
            <a:rPr lang="en-GB" sz="3000" kern="1200" dirty="0" err="1"/>
            <a:t>întâi</a:t>
          </a:r>
          <a:r>
            <a:rPr lang="en-GB" sz="3000" kern="1200" dirty="0"/>
            <a:t> </a:t>
          </a:r>
          <a:r>
            <a:rPr lang="en-GB" sz="3000" b="1" kern="1200" dirty="0" err="1"/>
            <a:t>constructorii</a:t>
          </a:r>
          <a:r>
            <a:rPr lang="en-GB" sz="3000" b="1" kern="1200" dirty="0"/>
            <a:t> </a:t>
          </a:r>
          <a:r>
            <a:rPr lang="en-GB" sz="3000" b="1" kern="1200" dirty="0" err="1"/>
            <a:t>claselor</a:t>
          </a:r>
          <a:r>
            <a:rPr lang="en-GB" sz="3000" b="1" kern="1200" dirty="0"/>
            <a:t> de </a:t>
          </a:r>
          <a:r>
            <a:rPr lang="en-GB" sz="3000" b="1" kern="1200" dirty="0" err="1"/>
            <a:t>bază</a:t>
          </a:r>
          <a:r>
            <a:rPr lang="en-GB" sz="3000" kern="1200" dirty="0"/>
            <a:t>, </a:t>
          </a:r>
          <a:r>
            <a:rPr lang="en-GB" sz="3000" kern="1200" dirty="0" err="1"/>
            <a:t>în</a:t>
          </a:r>
          <a:r>
            <a:rPr lang="en-GB" sz="3000" kern="1200" dirty="0"/>
            <a:t> </a:t>
          </a:r>
          <a:r>
            <a:rPr lang="en-GB" sz="3000" kern="1200" dirty="0" err="1"/>
            <a:t>ordinea</a:t>
          </a:r>
          <a:r>
            <a:rPr lang="en-GB" sz="3000" kern="1200" dirty="0"/>
            <a:t> </a:t>
          </a:r>
          <a:r>
            <a:rPr lang="en-GB" sz="3000" kern="1200" dirty="0" err="1"/>
            <a:t>ierarhică</a:t>
          </a:r>
          <a:r>
            <a:rPr lang="en-GB" sz="3000" kern="1200" dirty="0"/>
            <a:t>, </a:t>
          </a:r>
          <a:r>
            <a:rPr lang="en-GB" sz="3000" kern="1200" dirty="0" err="1"/>
            <a:t>apoi</a:t>
          </a:r>
          <a:r>
            <a:rPr lang="en-GB" sz="3000" kern="1200" dirty="0"/>
            <a:t> </a:t>
          </a:r>
          <a:r>
            <a:rPr lang="en-GB" sz="3000" kern="1200" dirty="0" err="1"/>
            <a:t>constructorul</a:t>
          </a:r>
          <a:r>
            <a:rPr lang="en-GB" sz="3000" kern="1200" dirty="0"/>
            <a:t> </a:t>
          </a:r>
          <a:r>
            <a:rPr lang="en-GB" sz="3000" kern="1200" dirty="0" err="1"/>
            <a:t>clasei</a:t>
          </a:r>
          <a:r>
            <a:rPr lang="en-GB" sz="3000" kern="1200" dirty="0"/>
            <a:t> derivate.</a:t>
          </a:r>
          <a:endParaRPr lang="en-US" sz="3000" kern="1200" dirty="0"/>
        </a:p>
      </dsp:txBody>
      <dsp:txXfrm>
        <a:off x="0" y="2077007"/>
        <a:ext cx="5620474" cy="2073966"/>
      </dsp:txXfrm>
    </dsp:sp>
    <dsp:sp modelId="{F54CD57D-FBFA-4816-9419-ED6440C2BC76}">
      <dsp:nvSpPr>
        <dsp:cNvPr id="0" name=""/>
        <dsp:cNvSpPr/>
      </dsp:nvSpPr>
      <dsp:spPr>
        <a:xfrm>
          <a:off x="0" y="4150973"/>
          <a:ext cx="5620474" cy="0"/>
        </a:xfrm>
        <a:prstGeom prst="line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781CD-7B11-4544-B401-D2B32298A147}">
      <dsp:nvSpPr>
        <dsp:cNvPr id="0" name=""/>
        <dsp:cNvSpPr/>
      </dsp:nvSpPr>
      <dsp:spPr>
        <a:xfrm>
          <a:off x="0" y="4150973"/>
          <a:ext cx="5620474" cy="2073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🔹 Ordinea este </a:t>
          </a:r>
          <a:r>
            <a:rPr lang="en-GB" sz="3000" b="1" kern="1200"/>
            <a:t>de sus în jos</a:t>
          </a:r>
          <a:r>
            <a:rPr lang="en-GB" sz="3000" kern="1200"/>
            <a:t> (din superclasă spre subclasă).</a:t>
          </a:r>
          <a:endParaRPr lang="en-US" sz="3000" kern="1200"/>
        </a:p>
      </dsp:txBody>
      <dsp:txXfrm>
        <a:off x="0" y="4150973"/>
        <a:ext cx="5620474" cy="2073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1727C-8D4E-4710-93A6-9F0BE742EB82}">
      <dsp:nvSpPr>
        <dsp:cNvPr id="0" name=""/>
        <dsp:cNvSpPr/>
      </dsp:nvSpPr>
      <dsp:spPr>
        <a:xfrm>
          <a:off x="0" y="4865"/>
          <a:ext cx="5620474" cy="1036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DF607-5BC4-4B33-9163-24C30B0800A2}">
      <dsp:nvSpPr>
        <dsp:cNvPr id="0" name=""/>
        <dsp:cNvSpPr/>
      </dsp:nvSpPr>
      <dsp:spPr>
        <a:xfrm>
          <a:off x="313503" y="238049"/>
          <a:ext cx="570006" cy="570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449C6-F7C2-4C4B-875B-A31DC93710AF}">
      <dsp:nvSpPr>
        <dsp:cNvPr id="0" name=""/>
        <dsp:cNvSpPr/>
      </dsp:nvSpPr>
      <dsp:spPr>
        <a:xfrm>
          <a:off x="1197013" y="4865"/>
          <a:ext cx="4423460" cy="1036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3" tIns="109683" rIns="109683" bIns="1096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public interface Player {</a:t>
          </a:r>
          <a:endParaRPr lang="en-US" sz="1900" kern="1200"/>
        </a:p>
      </dsp:txBody>
      <dsp:txXfrm>
        <a:off x="1197013" y="4865"/>
        <a:ext cx="4423460" cy="1036374"/>
      </dsp:txXfrm>
    </dsp:sp>
    <dsp:sp modelId="{2F2FD9B8-321E-42D7-A4C0-92BDD5F6D321}">
      <dsp:nvSpPr>
        <dsp:cNvPr id="0" name=""/>
        <dsp:cNvSpPr/>
      </dsp:nvSpPr>
      <dsp:spPr>
        <a:xfrm>
          <a:off x="0" y="1300334"/>
          <a:ext cx="5620474" cy="1036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C5705-3587-4C5C-A40F-D6B0BB4F756C}">
      <dsp:nvSpPr>
        <dsp:cNvPr id="0" name=""/>
        <dsp:cNvSpPr/>
      </dsp:nvSpPr>
      <dsp:spPr>
        <a:xfrm>
          <a:off x="313503" y="1533518"/>
          <a:ext cx="570006" cy="570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C6B08-426C-41B6-86F0-A13E5EC62073}">
      <dsp:nvSpPr>
        <dsp:cNvPr id="0" name=""/>
        <dsp:cNvSpPr/>
      </dsp:nvSpPr>
      <dsp:spPr>
        <a:xfrm>
          <a:off x="1197013" y="1300334"/>
          <a:ext cx="4423460" cy="1036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3" tIns="109683" rIns="109683" bIns="1096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public void play();</a:t>
          </a:r>
          <a:endParaRPr lang="en-US" sz="1900" kern="1200"/>
        </a:p>
      </dsp:txBody>
      <dsp:txXfrm>
        <a:off x="1197013" y="1300334"/>
        <a:ext cx="4423460" cy="1036374"/>
      </dsp:txXfrm>
    </dsp:sp>
    <dsp:sp modelId="{223AEE6B-B124-4FF1-AC82-563E22F2CE47}">
      <dsp:nvSpPr>
        <dsp:cNvPr id="0" name=""/>
        <dsp:cNvSpPr/>
      </dsp:nvSpPr>
      <dsp:spPr>
        <a:xfrm>
          <a:off x="0" y="2595803"/>
          <a:ext cx="5620474" cy="1036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AE615-A704-43C9-BE48-5C6769DE57C6}">
      <dsp:nvSpPr>
        <dsp:cNvPr id="0" name=""/>
        <dsp:cNvSpPr/>
      </dsp:nvSpPr>
      <dsp:spPr>
        <a:xfrm>
          <a:off x="313503" y="2828987"/>
          <a:ext cx="570006" cy="570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D4563-44B5-45AE-B969-53DF2817D8DC}">
      <dsp:nvSpPr>
        <dsp:cNvPr id="0" name=""/>
        <dsp:cNvSpPr/>
      </dsp:nvSpPr>
      <dsp:spPr>
        <a:xfrm>
          <a:off x="1197013" y="2595803"/>
          <a:ext cx="4423460" cy="1036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3" tIns="109683" rIns="109683" bIns="1096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public void stop();</a:t>
          </a:r>
          <a:endParaRPr lang="en-US" sz="1900" kern="1200"/>
        </a:p>
      </dsp:txBody>
      <dsp:txXfrm>
        <a:off x="1197013" y="2595803"/>
        <a:ext cx="4423460" cy="1036374"/>
      </dsp:txXfrm>
    </dsp:sp>
    <dsp:sp modelId="{129FE402-636E-4FDF-9E47-839E6DC26F29}">
      <dsp:nvSpPr>
        <dsp:cNvPr id="0" name=""/>
        <dsp:cNvSpPr/>
      </dsp:nvSpPr>
      <dsp:spPr>
        <a:xfrm>
          <a:off x="0" y="3891271"/>
          <a:ext cx="5620474" cy="1036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819F6-05B1-46B1-A446-760E95B5321F}">
      <dsp:nvSpPr>
        <dsp:cNvPr id="0" name=""/>
        <dsp:cNvSpPr/>
      </dsp:nvSpPr>
      <dsp:spPr>
        <a:xfrm>
          <a:off x="313503" y="4124456"/>
          <a:ext cx="570006" cy="570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4DB26-3225-4FD7-9344-E963C612F71F}">
      <dsp:nvSpPr>
        <dsp:cNvPr id="0" name=""/>
        <dsp:cNvSpPr/>
      </dsp:nvSpPr>
      <dsp:spPr>
        <a:xfrm>
          <a:off x="1197013" y="3891271"/>
          <a:ext cx="4423460" cy="1036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3" tIns="109683" rIns="109683" bIns="1096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public void pause();</a:t>
          </a:r>
          <a:endParaRPr lang="en-US" sz="1900" kern="1200"/>
        </a:p>
      </dsp:txBody>
      <dsp:txXfrm>
        <a:off x="1197013" y="3891271"/>
        <a:ext cx="4423460" cy="1036374"/>
      </dsp:txXfrm>
    </dsp:sp>
    <dsp:sp modelId="{B312E361-38BB-4B77-B92C-4F45FE7DD32E}">
      <dsp:nvSpPr>
        <dsp:cNvPr id="0" name=""/>
        <dsp:cNvSpPr/>
      </dsp:nvSpPr>
      <dsp:spPr>
        <a:xfrm>
          <a:off x="0" y="5186740"/>
          <a:ext cx="5620474" cy="10363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F3F2C-E211-473E-B144-81B14B0DE6A3}">
      <dsp:nvSpPr>
        <dsp:cNvPr id="0" name=""/>
        <dsp:cNvSpPr/>
      </dsp:nvSpPr>
      <dsp:spPr>
        <a:xfrm>
          <a:off x="313503" y="5419924"/>
          <a:ext cx="570006" cy="5700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2160A-2E01-45B2-AFE1-E660F81269C7}">
      <dsp:nvSpPr>
        <dsp:cNvPr id="0" name=""/>
        <dsp:cNvSpPr/>
      </dsp:nvSpPr>
      <dsp:spPr>
        <a:xfrm>
          <a:off x="1197013" y="5186740"/>
          <a:ext cx="4423460" cy="1036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3" tIns="109683" rIns="109683" bIns="1096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}</a:t>
          </a:r>
          <a:endParaRPr lang="en-US" sz="1900" kern="1200"/>
        </a:p>
      </dsp:txBody>
      <dsp:txXfrm>
        <a:off x="1197013" y="5186740"/>
        <a:ext cx="4423460" cy="1036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444625" y="922338"/>
            <a:ext cx="4430713" cy="33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1888" y="4567238"/>
            <a:ext cx="5059362" cy="368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2228" name="Freeform 3"/>
          <p:cNvSpPr>
            <a:spLocks noChangeArrowheads="1"/>
          </p:cNvSpPr>
          <p:nvPr/>
        </p:nvSpPr>
        <p:spPr bwMode="auto">
          <a:xfrm>
            <a:off x="5746750" y="7578725"/>
            <a:ext cx="869950" cy="808038"/>
          </a:xfrm>
          <a:custGeom>
            <a:avLst/>
            <a:gdLst>
              <a:gd name="T0" fmla="*/ 0 w 2501"/>
              <a:gd name="T1" fmla="*/ 2499 h 2501"/>
              <a:gd name="T2" fmla="*/ 2499 w 2501"/>
              <a:gd name="T3" fmla="*/ 0 h 2501"/>
              <a:gd name="T4" fmla="*/ 2500 w 2501"/>
              <a:gd name="T5" fmla="*/ 2500 h 2501"/>
              <a:gd name="T6" fmla="*/ 0 w 2501"/>
              <a:gd name="T7" fmla="*/ 2499 h 25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01" h="2501">
                <a:moveTo>
                  <a:pt x="0" y="2499"/>
                </a:moveTo>
                <a:lnTo>
                  <a:pt x="2499" y="0"/>
                </a:lnTo>
                <a:lnTo>
                  <a:pt x="2500" y="2500"/>
                </a:lnTo>
                <a:lnTo>
                  <a:pt x="0" y="2499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pic>
        <p:nvPicPr>
          <p:cNvPr id="5222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63" y="7834313"/>
            <a:ext cx="4651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Text Box 5"/>
          <p:cNvSpPr txBox="1">
            <a:spLocks noChangeArrowheads="1"/>
          </p:cNvSpPr>
          <p:nvPr/>
        </p:nvSpPr>
        <p:spPr bwMode="auto">
          <a:xfrm rot="-600000">
            <a:off x="6313488" y="7959725"/>
            <a:ext cx="282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4772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ro-RO" sz="1500">
                <a:solidFill>
                  <a:srgbClr val="000000"/>
                </a:solidFill>
                <a:latin typeface="Arial Narrow" panose="020B06060202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683398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168282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BF47-A32E-D1D7-9C7E-F3771F99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8F0FEEA-7906-D05F-0370-4C69E8375D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D29539FC-154A-B091-04A9-EF2863BE1B3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600245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937415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123705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121628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983092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107559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889914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918860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28965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E6AF-B751-FC9B-0ADB-3221CCE0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E92B85E4-DDF7-FD90-1007-A3859AE32C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7CFB043-4EA1-7117-894C-5433CEAEFDC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174925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19463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A483-3024-F23F-8649-755CD88E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EC9D387-1CD6-30DA-8DE9-EF66CBC119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D9D739B-0646-B03B-6564-6BA9C2168EF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890987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848235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065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683859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168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107482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6899-3DC9-A750-9516-015BF4F0A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0108D0C-99F3-F1DD-09A6-443102BCF8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DFB2307-A1D5-538B-56D1-CF1421E0521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788877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270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582637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BBD6-CD04-C30C-4BC0-2699986A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91230ED-28F3-B8B5-27D1-02723C1B1D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527D577-96CB-1B7F-5971-2FE4B23C399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746133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341822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830327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36BA3-4489-C9FC-2B77-D6499BFE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12ABB2C-944C-12C7-FB5A-C8E62EB186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6F8F613-BA7B-89E0-BAE1-9D78B62A1F4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7110002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3159456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782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025591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8301359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3C25-C02E-EA38-7F68-22EC983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67DDC34-85B5-8AAA-C4B7-06BD1B3FD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D98CE031-4770-5EB5-CCF4-2990F6C9284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1621686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2845-0BA2-E50F-259C-11D739A0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0B68E1EA-5287-8535-1261-2591174525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11BB58D-9C81-5D80-3ED0-FCB8B553071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8090980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4496539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806CC-882A-6953-5519-2444412D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B561ACD-44DD-5F70-2875-D9181E143D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7616A451-8D87-71D3-C45B-DE80B91343A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9280285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7490338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50D1-F535-D010-97FF-FDEC3839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A10403BD-30BA-6966-C207-E11CC7426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C7C1476-1691-F986-8A3B-D1919716C1A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2046635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C12C-5FA5-02B0-5616-8162D94F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D6896A89-9557-6220-074C-DB79D602B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C332D2E-E4D5-893D-4315-5DCF7F656C3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277194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3198-ECB3-CA61-8827-94F02964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CD99CCC-1B06-FA50-5E05-4CE99E22F0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59A3DAE-B37E-A68B-3F84-9BECAD1DF7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7160821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7778293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8513858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6579011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2909343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4902210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7296972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10137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2405952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BEE5-A919-83CD-7E39-920001DD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89299E78-0341-3499-AA7D-964059E8A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AB7975ED-9CDD-1E69-AEAD-24C6906863D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1750061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90954-39D0-6700-F84A-52C70601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A364BB2-0E08-1E44-692D-0B260A9C2F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C435C36C-4A1C-52CD-0ACA-A5828041731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630364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256" y="836604"/>
            <a:ext cx="8316516" cy="3931031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818" spc="-5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547" y="4911497"/>
            <a:ext cx="8316516" cy="1259946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646" cap="all" spc="220" baseline="0">
                <a:solidFill>
                  <a:schemeClr val="tx2"/>
                </a:solidFill>
                <a:latin typeface="+mj-lt"/>
              </a:defRPr>
            </a:lvl1pPr>
            <a:lvl2pPr marL="503972" indent="0" algn="ctr">
              <a:buNone/>
              <a:defRPr sz="2646"/>
            </a:lvl2pPr>
            <a:lvl3pPr marL="1007943" indent="0" algn="ctr">
              <a:buNone/>
              <a:defRPr sz="2646"/>
            </a:lvl3pPr>
            <a:lvl4pPr marL="1511915" indent="0" algn="ctr">
              <a:buNone/>
              <a:defRPr sz="2205"/>
            </a:lvl4pPr>
            <a:lvl5pPr marL="2015886" indent="0" algn="ctr">
              <a:buNone/>
              <a:defRPr sz="2205"/>
            </a:lvl5pPr>
            <a:lvl6pPr marL="2519858" indent="0" algn="ctr">
              <a:buNone/>
              <a:defRPr sz="2205"/>
            </a:lvl6pPr>
            <a:lvl7pPr marL="3023829" indent="0" algn="ctr">
              <a:buNone/>
              <a:defRPr sz="2205"/>
            </a:lvl7pPr>
            <a:lvl8pPr marL="3527801" indent="0" algn="ctr">
              <a:buNone/>
              <a:defRPr sz="2205"/>
            </a:lvl8pPr>
            <a:lvl9pPr marL="4031772" indent="0" algn="ctr">
              <a:buNone/>
              <a:defRPr sz="220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73C4B-B540-4802-8CDF-B75E26D11757}" type="slidenum">
              <a:rPr lang="en-US" altLang="ro-RO" smtClean="0"/>
              <a:pPr/>
              <a:t>‹#›</a:t>
            </a:fld>
            <a:endParaRPr lang="en-US" alt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998520" y="4787794"/>
            <a:ext cx="81653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67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5E82-1740-43C9-A0BC-825AD68E7671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3192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256" y="836604"/>
            <a:ext cx="8316516" cy="3931031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81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256" y="4908749"/>
            <a:ext cx="8316516" cy="1259946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646" cap="all" spc="220" baseline="0">
                <a:solidFill>
                  <a:schemeClr val="tx2"/>
                </a:solidFill>
                <a:latin typeface="+mj-lt"/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FA16-69D4-4771-87E8-E7236AC3586D}" type="slidenum">
              <a:rPr lang="en-US" altLang="ro-RO" smtClean="0"/>
              <a:pPr/>
              <a:t>‹#›</a:t>
            </a:fld>
            <a:endParaRPr lang="en-US" alt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998520" y="4787794"/>
            <a:ext cx="81653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19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07256" y="315928"/>
            <a:ext cx="8316516" cy="15991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7256" y="2034580"/>
            <a:ext cx="4082653" cy="4435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1119" y="2034583"/>
            <a:ext cx="4082653" cy="4435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5D062-60ED-491F-B2C0-7278D1DA8CF7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85620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07256" y="315928"/>
            <a:ext cx="8316516" cy="15991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256" y="2034930"/>
            <a:ext cx="4082653" cy="81161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5" b="0" cap="all" baseline="0">
                <a:solidFill>
                  <a:schemeClr val="tx2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7256" y="2846545"/>
            <a:ext cx="4082653" cy="3623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1119" y="2034930"/>
            <a:ext cx="4082653" cy="81161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5" b="0" cap="all" baseline="0">
                <a:solidFill>
                  <a:schemeClr val="tx2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1119" y="2846545"/>
            <a:ext cx="4082653" cy="3623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F1E3F-665E-4F9E-BD44-BDB62159EC63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397628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9A48-9B6C-41C8-AE46-FAD39005E92B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39259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F8995-C838-4184-BBD9-6244CA0C1354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376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23" y="655171"/>
            <a:ext cx="2646164" cy="2519892"/>
          </a:xfrm>
        </p:spPr>
        <p:txBody>
          <a:bodyPr anchor="b">
            <a:normAutofit/>
          </a:bodyPr>
          <a:lstStyle>
            <a:lvl1pPr>
              <a:defRPr sz="396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4672" y="806365"/>
            <a:ext cx="5522508" cy="5795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023" y="3225462"/>
            <a:ext cx="2646164" cy="3724858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653">
                <a:solidFill>
                  <a:srgbClr val="FFFFFF"/>
                </a:solidFill>
              </a:defRPr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4896" y="7120718"/>
            <a:ext cx="2165045" cy="40248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69246" y="7120718"/>
            <a:ext cx="3843238" cy="402483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2C7A45-999A-431D-953D-7DBE7D1A12CC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4199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59765"/>
            <a:ext cx="10078000" cy="20999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417961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256" y="5594160"/>
            <a:ext cx="8366919" cy="907161"/>
          </a:xfrm>
        </p:spPr>
        <p:txBody>
          <a:bodyPr tIns="0" bIns="0" anchor="b">
            <a:noAutofit/>
          </a:bodyPr>
          <a:lstStyle>
            <a:lvl1pPr>
              <a:defRPr sz="396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080613" cy="5417961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527">
                <a:solidFill>
                  <a:schemeClr val="bg1"/>
                </a:solidFill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255" y="6511400"/>
            <a:ext cx="8366919" cy="65517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61"/>
              </a:spcAft>
              <a:buNone/>
              <a:defRPr sz="1653">
                <a:solidFill>
                  <a:srgbClr val="FFFFFF"/>
                </a:solidFill>
              </a:defRPr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A2CE-9B8D-4ED2-89D6-2854D4151902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74529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64AED-70FF-4389-8DBF-167A244CBF02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03925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7" y="7055697"/>
            <a:ext cx="10078000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82410"/>
            <a:ext cx="10078000" cy="70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8" y="457218"/>
            <a:ext cx="2173635" cy="63464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4" y="457217"/>
            <a:ext cx="6394896" cy="6346489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1F7B9-8F17-46F4-9F19-24B3A90868D5}" type="slidenum">
              <a:rPr lang="en-US" altLang="ro-RO" smtClean="0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56612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063" y="306388"/>
            <a:ext cx="8569325" cy="1260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08063" y="1763713"/>
            <a:ext cx="4208462" cy="499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925" y="1763713"/>
            <a:ext cx="4208463" cy="499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79218-438C-448D-9AA2-8AB443EDA616}" type="slidenum">
              <a:rPr lang="en-US" altLang="ro-RO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02942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55697"/>
            <a:ext cx="10080626" cy="503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" y="6982410"/>
            <a:ext cx="10080626" cy="727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7256" y="315928"/>
            <a:ext cx="8316516" cy="15991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256" y="2034580"/>
            <a:ext cx="8316517" cy="4435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7258" y="7120718"/>
            <a:ext cx="204413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7823" y="7120718"/>
            <a:ext cx="398760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85926" y="7120718"/>
            <a:ext cx="108481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7">
                <a:solidFill>
                  <a:srgbClr val="FFFFFF"/>
                </a:solidFill>
              </a:defRPr>
            </a:lvl1pPr>
          </a:lstStyle>
          <a:p>
            <a:fld id="{681E0D8A-2B90-4E94-8988-880FFED0FA2A}" type="slidenum">
              <a:rPr lang="en-US" altLang="ro-RO" smtClean="0"/>
              <a:pPr/>
              <a:t>‹#›</a:t>
            </a:fld>
            <a:endParaRPr lang="en-US" alt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986840" y="1915652"/>
            <a:ext cx="824091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48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l" defTabSz="1007943" rtl="0" eaLnBrk="1" latinLnBrk="0" hangingPunct="1">
        <a:lnSpc>
          <a:spcPct val="85000"/>
        </a:lnSpc>
        <a:spcBef>
          <a:spcPct val="0"/>
        </a:spcBef>
        <a:buNone/>
        <a:defRPr sz="5291" kern="1200" spc="-5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0794" indent="-100794" algn="l" defTabSz="1007943" rtl="0" eaLnBrk="1" latinLnBrk="0" hangingPunct="1">
        <a:lnSpc>
          <a:spcPct val="90000"/>
        </a:lnSpc>
        <a:spcBef>
          <a:spcPts val="1323"/>
        </a:spcBef>
        <a:spcAft>
          <a:spcPts val="22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2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3336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98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4925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26513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28102" indent="-201589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1253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3299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5345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73910" indent="-251986" algn="l" defTabSz="1007943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0" name="Rectangle 512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Mostenire si abstractizare</a:t>
            </a:r>
          </a:p>
        </p:txBody>
      </p:sp>
      <p:sp>
        <p:nvSpPr>
          <p:cNvPr id="5132" name="Rectangle 513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ro-RO" err="1"/>
              <a:t>Moștenirea</a:t>
            </a:r>
            <a:r>
              <a:rPr lang="en-US" altLang="ro-RO"/>
              <a:t> </a:t>
            </a:r>
            <a:r>
              <a:rPr lang="en-US" altLang="ro-RO" err="1"/>
              <a:t>este</a:t>
            </a:r>
            <a:r>
              <a:rPr lang="en-US" altLang="ro-RO"/>
              <a:t> </a:t>
            </a:r>
            <a:r>
              <a:rPr lang="en-US" altLang="ro-RO" err="1"/>
              <a:t>mecanismul</a:t>
            </a:r>
            <a:r>
              <a:rPr lang="en-US" altLang="ro-RO"/>
              <a:t> </a:t>
            </a:r>
            <a:r>
              <a:rPr lang="en-US" altLang="ro-RO" err="1"/>
              <a:t>prin</a:t>
            </a:r>
            <a:r>
              <a:rPr lang="en-US" altLang="ro-RO"/>
              <a:t> care o </a:t>
            </a:r>
            <a:r>
              <a:rPr lang="en-US" altLang="ro-RO" err="1"/>
              <a:t>clasă</a:t>
            </a:r>
            <a:r>
              <a:rPr lang="en-US" altLang="ro-RO"/>
              <a:t> </a:t>
            </a:r>
            <a:r>
              <a:rPr lang="en-US" altLang="ro-RO" err="1"/>
              <a:t>nouă</a:t>
            </a:r>
            <a:r>
              <a:rPr lang="en-US" altLang="ro-RO"/>
              <a:t> (</a:t>
            </a:r>
            <a:r>
              <a:rPr lang="en-US" altLang="ro-RO" err="1"/>
              <a:t>subclasă</a:t>
            </a:r>
            <a:r>
              <a:rPr lang="en-US" altLang="ro-RO"/>
              <a:t>) </a:t>
            </a:r>
            <a:r>
              <a:rPr lang="en-US" altLang="ro-RO" err="1"/>
              <a:t>preia</a:t>
            </a:r>
            <a:r>
              <a:rPr lang="en-US" altLang="ro-RO"/>
              <a:t> </a:t>
            </a:r>
            <a:r>
              <a:rPr lang="en-US" altLang="ro-RO" err="1"/>
              <a:t>atributele</a:t>
            </a:r>
            <a:r>
              <a:rPr lang="en-US" altLang="ro-RO"/>
              <a:t> </a:t>
            </a:r>
            <a:r>
              <a:rPr lang="en-US" altLang="ro-RO" err="1"/>
              <a:t>și</a:t>
            </a:r>
            <a:r>
              <a:rPr lang="en-US" altLang="ro-RO"/>
              <a:t> </a:t>
            </a:r>
            <a:r>
              <a:rPr lang="en-US" altLang="ro-RO" err="1"/>
              <a:t>metodele</a:t>
            </a:r>
            <a:r>
              <a:rPr lang="en-US" altLang="ro-RO"/>
              <a:t> </a:t>
            </a:r>
            <a:r>
              <a:rPr lang="en-US" altLang="ro-RO" err="1"/>
              <a:t>dintr</a:t>
            </a:r>
            <a:r>
              <a:rPr lang="en-US" altLang="ro-RO"/>
              <a:t>-o </a:t>
            </a:r>
            <a:r>
              <a:rPr lang="en-US" altLang="ro-RO" err="1"/>
              <a:t>clasă</a:t>
            </a:r>
            <a:r>
              <a:rPr lang="en-US" altLang="ro-RO"/>
              <a:t> </a:t>
            </a:r>
            <a:r>
              <a:rPr lang="en-US" altLang="ro-RO" err="1"/>
              <a:t>existentă</a:t>
            </a:r>
            <a:r>
              <a:rPr lang="en-US" altLang="ro-RO"/>
              <a:t> (</a:t>
            </a:r>
            <a:r>
              <a:rPr lang="en-US" altLang="ro-RO" err="1"/>
              <a:t>superclasă</a:t>
            </a:r>
            <a:r>
              <a:rPr lang="en-US" altLang="ro-RO"/>
              <a:t>).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ro-RO" err="1"/>
              <a:t>Permite</a:t>
            </a:r>
            <a:r>
              <a:rPr lang="en-US" altLang="ro-RO"/>
              <a:t> </a:t>
            </a:r>
            <a:r>
              <a:rPr lang="en-US" altLang="ro-RO" err="1"/>
              <a:t>refolosirea</a:t>
            </a:r>
            <a:r>
              <a:rPr lang="en-US" altLang="ro-RO"/>
              <a:t> </a:t>
            </a:r>
            <a:r>
              <a:rPr lang="en-US" altLang="ro-RO" err="1"/>
              <a:t>codului</a:t>
            </a:r>
            <a:r>
              <a:rPr lang="en-US" altLang="ro-RO"/>
              <a:t> </a:t>
            </a:r>
            <a:r>
              <a:rPr lang="en-US" altLang="ro-RO" err="1"/>
              <a:t>și</a:t>
            </a:r>
            <a:r>
              <a:rPr lang="en-US" altLang="ro-RO"/>
              <a:t> </a:t>
            </a:r>
            <a:r>
              <a:rPr lang="en-US" altLang="ro-RO" err="1"/>
              <a:t>extinderea</a:t>
            </a:r>
            <a:r>
              <a:rPr lang="en-US" altLang="ro-RO"/>
              <a:t> </a:t>
            </a:r>
            <a:r>
              <a:rPr lang="en-US" altLang="ro-RO" err="1"/>
              <a:t>comportamentului</a:t>
            </a:r>
            <a:r>
              <a:rPr lang="en-US" altLang="ro-RO"/>
              <a:t> </a:t>
            </a:r>
            <a:r>
              <a:rPr lang="en-US" altLang="ro-RO" err="1"/>
              <a:t>unei</a:t>
            </a:r>
            <a:r>
              <a:rPr lang="en-US" altLang="ro-RO"/>
              <a:t> </a:t>
            </a:r>
            <a:r>
              <a:rPr lang="en-US" altLang="ro-RO" err="1"/>
              <a:t>clase</a:t>
            </a:r>
            <a:r>
              <a:rPr lang="en-US" altLang="ro-RO"/>
              <a:t> </a:t>
            </a:r>
            <a:r>
              <a:rPr lang="en-US" altLang="ro-RO" err="1"/>
              <a:t>existente</a:t>
            </a:r>
            <a:r>
              <a:rPr lang="en-US" altLang="ro-RO"/>
              <a:t>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ro-RO" err="1"/>
              <a:t>Clasele</a:t>
            </a:r>
            <a:r>
              <a:rPr lang="en-US" altLang="ro-RO"/>
              <a:t> </a:t>
            </a:r>
            <a:r>
              <a:rPr lang="en-US" altLang="ro-RO" err="1"/>
              <a:t>aflate</a:t>
            </a:r>
            <a:r>
              <a:rPr lang="en-US" altLang="ro-RO"/>
              <a:t> </a:t>
            </a:r>
            <a:r>
              <a:rPr lang="en-US" altLang="ro-RO" err="1"/>
              <a:t>în</a:t>
            </a:r>
            <a:r>
              <a:rPr lang="en-US" altLang="ro-RO"/>
              <a:t> </a:t>
            </a:r>
            <a:r>
              <a:rPr lang="en-US" altLang="ro-RO" err="1"/>
              <a:t>vârful</a:t>
            </a:r>
            <a:r>
              <a:rPr lang="en-US" altLang="ro-RO"/>
              <a:t> </a:t>
            </a:r>
            <a:r>
              <a:rPr lang="en-US" altLang="ro-RO" err="1"/>
              <a:t>ierarhiei</a:t>
            </a:r>
            <a:r>
              <a:rPr lang="en-US" altLang="ro-RO"/>
              <a:t> se </a:t>
            </a:r>
            <a:r>
              <a:rPr lang="en-US" altLang="ro-RO" err="1"/>
              <a:t>numesc</a:t>
            </a:r>
            <a:r>
              <a:rPr lang="en-US" altLang="ro-RO"/>
              <a:t> </a:t>
            </a:r>
            <a:r>
              <a:rPr lang="en-US" altLang="ro-RO" err="1"/>
              <a:t>superclase</a:t>
            </a:r>
            <a:r>
              <a:rPr lang="en-US" altLang="ro-RO"/>
              <a:t>, </a:t>
            </a:r>
            <a:r>
              <a:rPr lang="en-US" altLang="ro-RO" err="1"/>
              <a:t>iar</a:t>
            </a:r>
            <a:r>
              <a:rPr lang="en-US" altLang="ro-RO"/>
              <a:t> </a:t>
            </a:r>
            <a:r>
              <a:rPr lang="en-US" altLang="ro-RO" err="1"/>
              <a:t>cele</a:t>
            </a:r>
            <a:r>
              <a:rPr lang="en-US" altLang="ro-RO"/>
              <a:t> care </a:t>
            </a:r>
            <a:r>
              <a:rPr lang="en-US" altLang="ro-RO" err="1"/>
              <a:t>derivă</a:t>
            </a:r>
            <a:r>
              <a:rPr lang="en-US" altLang="ro-RO"/>
              <a:t> din </a:t>
            </a:r>
            <a:r>
              <a:rPr lang="en-US" altLang="ro-RO" err="1"/>
              <a:t>ele</a:t>
            </a:r>
            <a:r>
              <a:rPr lang="en-US" altLang="ro-RO"/>
              <a:t> — </a:t>
            </a:r>
            <a:r>
              <a:rPr lang="en-US" altLang="ro-RO" err="1"/>
              <a:t>subclase</a:t>
            </a:r>
            <a:r>
              <a:rPr lang="en-US" altLang="ro-RO"/>
              <a:t>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ro-RO" err="1"/>
              <a:t>În</a:t>
            </a:r>
            <a:r>
              <a:rPr lang="en-US" altLang="ro-RO"/>
              <a:t> Java, </a:t>
            </a:r>
            <a:r>
              <a:rPr lang="en-US" altLang="ro-RO" err="1"/>
              <a:t>toate</a:t>
            </a:r>
            <a:r>
              <a:rPr lang="en-US" altLang="ro-RO"/>
              <a:t> </a:t>
            </a:r>
            <a:r>
              <a:rPr lang="en-US" altLang="ro-RO" err="1"/>
              <a:t>clasele</a:t>
            </a:r>
            <a:r>
              <a:rPr lang="en-US" altLang="ro-RO"/>
              <a:t> </a:t>
            </a:r>
            <a:r>
              <a:rPr lang="en-US" altLang="ro-RO" err="1"/>
              <a:t>derivă</a:t>
            </a:r>
            <a:r>
              <a:rPr lang="en-US" altLang="ro-RO"/>
              <a:t> implicit din Object, </a:t>
            </a:r>
            <a:r>
              <a:rPr lang="en-US" altLang="ro-RO" err="1"/>
              <a:t>superclasa</a:t>
            </a:r>
            <a:r>
              <a:rPr lang="en-US" altLang="ro-RO"/>
              <a:t> </a:t>
            </a:r>
            <a:r>
              <a:rPr lang="en-US" altLang="ro-RO" err="1"/>
              <a:t>comună</a:t>
            </a:r>
            <a:r>
              <a:rPr lang="en-US" altLang="ro-RO"/>
              <a:t> </a:t>
            </a:r>
            <a:r>
              <a:rPr lang="en-US" altLang="ro-RO" err="1"/>
              <a:t>tuturor</a:t>
            </a:r>
            <a:r>
              <a:rPr lang="en-US" altLang="ro-RO"/>
              <a:t> </a:t>
            </a:r>
            <a:r>
              <a:rPr lang="en-US" altLang="ro-RO" err="1"/>
              <a:t>claselor</a:t>
            </a:r>
            <a:r>
              <a:rPr lang="en-US" altLang="ro-RO"/>
              <a:t>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ro-RO" err="1"/>
              <a:t>Abstractizarea</a:t>
            </a:r>
            <a:r>
              <a:rPr lang="en-US" altLang="ro-RO"/>
              <a:t> </a:t>
            </a:r>
            <a:r>
              <a:rPr lang="en-US" altLang="ro-RO" err="1"/>
              <a:t>înseamnă</a:t>
            </a:r>
            <a:r>
              <a:rPr lang="en-US" altLang="ro-RO"/>
              <a:t> </a:t>
            </a:r>
            <a:r>
              <a:rPr lang="en-US" altLang="ro-RO" err="1"/>
              <a:t>extragerea</a:t>
            </a:r>
            <a:r>
              <a:rPr lang="en-US" altLang="ro-RO"/>
              <a:t> </a:t>
            </a:r>
            <a:r>
              <a:rPr lang="en-US" altLang="ro-RO" err="1"/>
              <a:t>trăsăturilor</a:t>
            </a:r>
            <a:r>
              <a:rPr lang="en-US" altLang="ro-RO"/>
              <a:t> </a:t>
            </a:r>
            <a:r>
              <a:rPr lang="en-US" altLang="ro-RO" err="1"/>
              <a:t>comune</a:t>
            </a:r>
            <a:r>
              <a:rPr lang="en-US" altLang="ro-RO"/>
              <a:t> ale </a:t>
            </a:r>
            <a:r>
              <a:rPr lang="en-US" altLang="ro-RO" err="1"/>
              <a:t>mai</a:t>
            </a:r>
            <a:r>
              <a:rPr lang="en-US" altLang="ro-RO"/>
              <a:t> </a:t>
            </a:r>
            <a:r>
              <a:rPr lang="en-US" altLang="ro-RO" err="1"/>
              <a:t>multor</a:t>
            </a:r>
            <a:r>
              <a:rPr lang="en-US" altLang="ro-RO"/>
              <a:t> </a:t>
            </a:r>
            <a:r>
              <a:rPr lang="en-US" altLang="ro-RO" err="1"/>
              <a:t>clase</a:t>
            </a:r>
            <a:r>
              <a:rPr lang="en-US" altLang="ro-RO"/>
              <a:t> </a:t>
            </a:r>
            <a:r>
              <a:rPr lang="en-US" altLang="ro-RO" err="1"/>
              <a:t>într</a:t>
            </a:r>
            <a:r>
              <a:rPr lang="en-US" altLang="ro-RO"/>
              <a:t>-o </a:t>
            </a:r>
            <a:r>
              <a:rPr lang="en-US" altLang="ro-RO" err="1"/>
              <a:t>formă</a:t>
            </a:r>
            <a:r>
              <a:rPr lang="en-US" altLang="ro-RO"/>
              <a:t> </a:t>
            </a:r>
            <a:r>
              <a:rPr lang="en-US" altLang="ro-RO" err="1"/>
              <a:t>generală</a:t>
            </a:r>
            <a:r>
              <a:rPr lang="en-US" altLang="ro-RO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79030-C703-8E50-3105-F11C7B58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840B0659-CE5F-00F5-8D4C-7F69A0E1A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0" name="Rectangle 5129">
            <a:extLst>
              <a:ext uri="{FF2B5EF4-FFF2-40B4-BE49-F238E27FC236}">
                <a16:creationId xmlns:a16="http://schemas.microsoft.com/office/drawing/2014/main" id="{FF76A634-24E8-560E-A0E4-CA1C76F72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DBD7BEFE-89C4-B7C0-42D3-3DBA9831B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Mostenire si abstractizare</a:t>
            </a:r>
          </a:p>
        </p:txBody>
      </p:sp>
      <p:sp>
        <p:nvSpPr>
          <p:cNvPr id="5132" name="Rectangle 5131">
            <a:extLst>
              <a:ext uri="{FF2B5EF4-FFF2-40B4-BE49-F238E27FC236}">
                <a16:creationId xmlns:a16="http://schemas.microsoft.com/office/drawing/2014/main" id="{3D770DB5-40AE-DF77-FB96-016077407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026" name="Picture 2" descr="Pet Clinic total earnings Java program - TestingDocs.com">
            <a:extLst>
              <a:ext uri="{FF2B5EF4-FFF2-40B4-BE49-F238E27FC236}">
                <a16:creationId xmlns:a16="http://schemas.microsoft.com/office/drawing/2014/main" id="{1F8FE616-BF20-83D2-0C2C-DFED19F910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734" y="2337832"/>
            <a:ext cx="6387599" cy="337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720922-C24C-D451-7610-2DA381FDD081}"/>
              </a:ext>
            </a:extLst>
          </p:cNvPr>
          <p:cNvSpPr txBox="1"/>
          <p:nvPr/>
        </p:nvSpPr>
        <p:spPr>
          <a:xfrm>
            <a:off x="3499440" y="798057"/>
            <a:ext cx="59957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Moștenirea</a:t>
            </a:r>
            <a:r>
              <a:rPr lang="en-GB" dirty="0"/>
              <a:t>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construirea</a:t>
            </a:r>
            <a:r>
              <a:rPr lang="en-GB" dirty="0"/>
              <a:t> de </a:t>
            </a:r>
            <a:r>
              <a:rPr lang="en-GB" dirty="0" err="1"/>
              <a:t>ierarhii</a:t>
            </a:r>
            <a:r>
              <a:rPr lang="en-GB" dirty="0"/>
              <a:t> de </a:t>
            </a:r>
            <a:r>
              <a:rPr lang="en-GB" dirty="0" err="1"/>
              <a:t>clase</a:t>
            </a:r>
            <a:r>
              <a:rPr lang="en-GB" dirty="0"/>
              <a:t> </a:t>
            </a:r>
            <a:r>
              <a:rPr lang="en-GB" dirty="0" err="1"/>
              <a:t>organizate</a:t>
            </a:r>
            <a:r>
              <a:rPr lang="en-GB" dirty="0"/>
              <a:t> logic, </a:t>
            </a:r>
            <a:r>
              <a:rPr lang="en-GB" dirty="0" err="1"/>
              <a:t>iar</a:t>
            </a:r>
            <a:r>
              <a:rPr lang="en-GB" dirty="0"/>
              <a:t> </a:t>
            </a:r>
            <a:r>
              <a:rPr lang="en-GB" dirty="0" err="1"/>
              <a:t>abstractizarea</a:t>
            </a:r>
            <a:r>
              <a:rPr lang="en-GB" dirty="0"/>
              <a:t> </a:t>
            </a:r>
            <a:r>
              <a:rPr lang="en-GB" dirty="0" err="1"/>
              <a:t>simplifică</a:t>
            </a:r>
            <a:r>
              <a:rPr lang="en-GB" dirty="0"/>
              <a:t> </a:t>
            </a:r>
            <a:r>
              <a:rPr lang="en-GB" dirty="0" err="1"/>
              <a:t>modelarea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definirea</a:t>
            </a:r>
            <a:r>
              <a:rPr lang="en-GB" dirty="0"/>
              <a:t> </a:t>
            </a:r>
            <a:r>
              <a:rPr lang="en-GB" dirty="0" err="1"/>
              <a:t>conceptelor</a:t>
            </a:r>
            <a:r>
              <a:rPr lang="en-GB" dirty="0"/>
              <a:t> generale.</a:t>
            </a:r>
          </a:p>
        </p:txBody>
      </p:sp>
    </p:spTree>
    <p:extLst>
      <p:ext uri="{BB962C8B-B14F-4D97-AF65-F5344CB8AC3E}">
        <p14:creationId xmlns:p14="http://schemas.microsoft.com/office/powerpoint/2010/main" val="332879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0717" y="315928"/>
            <a:ext cx="8813055" cy="1035269"/>
          </a:xfrm>
        </p:spPr>
        <p:txBody>
          <a:bodyPr/>
          <a:lstStyle/>
          <a:p>
            <a:pPr marL="1439863" eaLnBrk="1" hangingPunct="1"/>
            <a:r>
              <a:rPr lang="en-US" altLang="ro-RO" dirty="0" err="1"/>
              <a:t>Mostenire</a:t>
            </a:r>
            <a:r>
              <a:rPr lang="en-US" altLang="ro-RO" dirty="0"/>
              <a:t> </a:t>
            </a:r>
            <a:r>
              <a:rPr lang="en-US" altLang="ro-RO" dirty="0" err="1"/>
              <a:t>si</a:t>
            </a:r>
            <a:r>
              <a:rPr lang="en-US" altLang="ro-RO" dirty="0"/>
              <a:t> </a:t>
            </a:r>
            <a:r>
              <a:rPr lang="en-US" altLang="ro-RO" dirty="0" err="1"/>
              <a:t>abstractizare</a:t>
            </a:r>
            <a:endParaRPr lang="en-US" altLang="ro-RO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866087" y="1882462"/>
            <a:ext cx="8569325" cy="568325"/>
          </a:xfrm>
        </p:spPr>
        <p:txBody>
          <a:bodyPr/>
          <a:lstStyle/>
          <a:p>
            <a:pPr eaLnBrk="1" hangingPunct="1"/>
            <a:r>
              <a:rPr lang="en-GB" altLang="ro-RO" sz="3200" dirty="0"/>
              <a:t>Ex. O </a:t>
            </a:r>
            <a:r>
              <a:rPr lang="en-GB" altLang="ro-RO" sz="3200" dirty="0" err="1"/>
              <a:t>clasa</a:t>
            </a:r>
            <a:r>
              <a:rPr lang="en-GB" altLang="ro-RO" sz="3200" dirty="0"/>
              <a:t> Student </a:t>
            </a:r>
            <a:r>
              <a:rPr lang="en-GB" altLang="ro-RO" sz="3200" dirty="0" err="1"/>
              <a:t>si</a:t>
            </a:r>
            <a:r>
              <a:rPr lang="en-GB" altLang="ro-RO" sz="3200" dirty="0"/>
              <a:t> o </a:t>
            </a:r>
            <a:r>
              <a:rPr lang="en-GB" altLang="ro-RO" sz="3200" dirty="0" err="1"/>
              <a:t>clasa</a:t>
            </a:r>
            <a:r>
              <a:rPr lang="en-GB" altLang="ro-RO" sz="3200" dirty="0"/>
              <a:t> </a:t>
            </a:r>
            <a:r>
              <a:rPr lang="en-GB" altLang="ro-RO" sz="3200" dirty="0" err="1"/>
              <a:t>Profesor</a:t>
            </a:r>
            <a:r>
              <a:rPr lang="en-GB" altLang="ro-RO" sz="3200" dirty="0"/>
              <a:t> </a:t>
            </a:r>
          </a:p>
          <a:p>
            <a:pPr eaLnBrk="1" hangingPunct="1"/>
            <a:endParaRPr lang="en-US" altLang="ro-RO" sz="3200" dirty="0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154113" y="2755900"/>
            <a:ext cx="3352800" cy="430053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Student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ro-RO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nume</a:t>
            </a: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ro-RO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varsta</a:t>
            </a: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: int;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nota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ro-RO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getNume</a:t>
            </a: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ro-RO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getVarsta</a:t>
            </a:r>
            <a:r>
              <a:rPr lang="en-US" altLang="ro-RO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ro-RO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getNota</a:t>
            </a:r>
            <a:r>
              <a: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ro-RO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setNota</a:t>
            </a:r>
            <a:r>
              <a: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(n : int) : void;</a:t>
            </a:r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1154113" y="32131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1154113" y="48895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5573713" y="2755900"/>
            <a:ext cx="3657600" cy="430053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 varsta : int;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getVarsta()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5573713" y="32131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5573713" y="48895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66087" y="152409"/>
            <a:ext cx="8316516" cy="1035036"/>
          </a:xfrm>
        </p:spPr>
        <p:txBody>
          <a:bodyPr/>
          <a:lstStyle/>
          <a:p>
            <a:pPr eaLnBrk="1" hangingPunct="1"/>
            <a:r>
              <a:rPr lang="en-US" altLang="ro-RO" dirty="0" err="1"/>
              <a:t>Mostenire</a:t>
            </a:r>
            <a:r>
              <a:rPr lang="en-US" altLang="ro-RO" dirty="0"/>
              <a:t> </a:t>
            </a:r>
            <a:r>
              <a:rPr lang="en-US" altLang="ro-RO" dirty="0" err="1"/>
              <a:t>si</a:t>
            </a:r>
            <a:r>
              <a:rPr lang="en-US" altLang="ro-RO" dirty="0"/>
              <a:t> </a:t>
            </a:r>
            <a:r>
              <a:rPr lang="en-US" altLang="ro-RO" dirty="0" err="1"/>
              <a:t>abstractizare</a:t>
            </a:r>
            <a:endParaRPr lang="en-US" altLang="ro-RO" dirty="0"/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05452" y="4942427"/>
            <a:ext cx="3352800" cy="21097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Student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nota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getNota()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setNota(n : int) : void;</a:t>
            </a:r>
          </a:p>
        </p:txBody>
      </p:sp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5048852" y="4942427"/>
            <a:ext cx="3657600" cy="21097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7173" name="Line 12"/>
          <p:cNvSpPr>
            <a:spLocks noChangeShapeType="1"/>
          </p:cNvSpPr>
          <p:nvPr/>
        </p:nvSpPr>
        <p:spPr bwMode="auto">
          <a:xfrm>
            <a:off x="4591652" y="4193127"/>
            <a:ext cx="1587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74" name="Line 14"/>
          <p:cNvSpPr>
            <a:spLocks noChangeShapeType="1"/>
          </p:cNvSpPr>
          <p:nvPr/>
        </p:nvSpPr>
        <p:spPr bwMode="auto">
          <a:xfrm>
            <a:off x="2305652" y="4466177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grpSp>
        <p:nvGrpSpPr>
          <p:cNvPr id="7175" name="Group 24"/>
          <p:cNvGrpSpPr>
            <a:grpSpLocks/>
          </p:cNvGrpSpPr>
          <p:nvPr/>
        </p:nvGrpSpPr>
        <p:grpSpPr bwMode="auto">
          <a:xfrm>
            <a:off x="2305652" y="4466177"/>
            <a:ext cx="4649787" cy="457200"/>
            <a:chOff x="1495" y="2917"/>
            <a:chExt cx="2929" cy="472"/>
          </a:xfrm>
        </p:grpSpPr>
        <p:sp>
          <p:nvSpPr>
            <p:cNvPr id="7185" name="Line 15"/>
            <p:cNvSpPr>
              <a:spLocks noChangeShapeType="1"/>
            </p:cNvSpPr>
            <p:nvPr/>
          </p:nvSpPr>
          <p:spPr bwMode="auto">
            <a:xfrm>
              <a:off x="1495" y="2917"/>
              <a:ext cx="1" cy="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7186" name="Line 16"/>
            <p:cNvSpPr>
              <a:spLocks noChangeShapeType="1"/>
            </p:cNvSpPr>
            <p:nvPr/>
          </p:nvSpPr>
          <p:spPr bwMode="auto">
            <a:xfrm>
              <a:off x="4423" y="2917"/>
              <a:ext cx="1" cy="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7176" name="Group 25"/>
          <p:cNvGrpSpPr>
            <a:grpSpLocks/>
          </p:cNvGrpSpPr>
          <p:nvPr/>
        </p:nvGrpSpPr>
        <p:grpSpPr bwMode="auto">
          <a:xfrm>
            <a:off x="2915252" y="1275302"/>
            <a:ext cx="3352800" cy="2657475"/>
            <a:chOff x="1879" y="845"/>
            <a:chExt cx="2112" cy="1674"/>
          </a:xfrm>
        </p:grpSpPr>
        <p:sp>
          <p:nvSpPr>
            <p:cNvPr id="7182" name="Text Box 10"/>
            <p:cNvSpPr txBox="1">
              <a:spLocks noChangeArrowheads="1"/>
            </p:cNvSpPr>
            <p:nvPr/>
          </p:nvSpPr>
          <p:spPr bwMode="auto">
            <a:xfrm>
              <a:off x="1879" y="845"/>
              <a:ext cx="2112" cy="1674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defTabSz="912813"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2813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2813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2813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2813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Persoana</a:t>
              </a:r>
              <a:endPara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#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nume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: String;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#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varsta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: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int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;</a:t>
              </a:r>
              <a:endPara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getNume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() : String;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getVarsta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() : </a:t>
              </a:r>
              <a:r>
                <a:rPr lang="en-US" altLang="ro-RO" sz="24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int</a:t>
              </a:r>
              <a:r>
                <a:rPr lang="en-US" altLang="ro-RO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;</a:t>
              </a:r>
              <a:endParaRPr lang="en-US" altLang="ro-RO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3" name="Line 17"/>
            <p:cNvSpPr>
              <a:spLocks noChangeShapeType="1"/>
            </p:cNvSpPr>
            <p:nvPr/>
          </p:nvSpPr>
          <p:spPr bwMode="auto">
            <a:xfrm>
              <a:off x="1879" y="1229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7184" name="Line 18"/>
            <p:cNvSpPr>
              <a:spLocks noChangeShapeType="1"/>
            </p:cNvSpPr>
            <p:nvPr/>
          </p:nvSpPr>
          <p:spPr bwMode="auto">
            <a:xfrm>
              <a:off x="1879" y="1853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7177" name="Line 19"/>
          <p:cNvSpPr>
            <a:spLocks noChangeShapeType="1"/>
          </p:cNvSpPr>
          <p:nvPr/>
        </p:nvSpPr>
        <p:spPr bwMode="auto">
          <a:xfrm>
            <a:off x="705452" y="545677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78" name="Line 20"/>
          <p:cNvSpPr>
            <a:spLocks noChangeShapeType="1"/>
          </p:cNvSpPr>
          <p:nvPr/>
        </p:nvSpPr>
        <p:spPr bwMode="auto">
          <a:xfrm>
            <a:off x="705452" y="599017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79" name="Line 21"/>
          <p:cNvSpPr>
            <a:spLocks noChangeShapeType="1"/>
          </p:cNvSpPr>
          <p:nvPr/>
        </p:nvSpPr>
        <p:spPr bwMode="auto">
          <a:xfrm>
            <a:off x="5048852" y="5456777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80" name="Line 22"/>
          <p:cNvSpPr>
            <a:spLocks noChangeShapeType="1"/>
          </p:cNvSpPr>
          <p:nvPr/>
        </p:nvSpPr>
        <p:spPr bwMode="auto">
          <a:xfrm>
            <a:off x="5048852" y="5990177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7181" name="AutoShape 23"/>
          <p:cNvSpPr>
            <a:spLocks noChangeArrowheads="1"/>
          </p:cNvSpPr>
          <p:nvPr/>
        </p:nvSpPr>
        <p:spPr bwMode="auto">
          <a:xfrm>
            <a:off x="4439252" y="3929602"/>
            <a:ext cx="304800" cy="2730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0" name="Rectangle 819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2" name="Rectangle 820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marL="360000" eaLnBrk="1" hangingPunct="1"/>
            <a:r>
              <a:rPr lang="en-US" altLang="ro-RO" sz="3200" dirty="0" err="1">
                <a:solidFill>
                  <a:srgbClr val="FFFFFF"/>
                </a:solidFill>
              </a:rPr>
              <a:t>Mostenire</a:t>
            </a:r>
            <a:r>
              <a:rPr lang="en-US" altLang="ro-RO" sz="3200" dirty="0">
                <a:solidFill>
                  <a:srgbClr val="FFFFFF"/>
                </a:solidFill>
              </a:rPr>
              <a:t> </a:t>
            </a:r>
            <a:r>
              <a:rPr lang="en-US" altLang="ro-RO" sz="3200" dirty="0" err="1">
                <a:solidFill>
                  <a:srgbClr val="FFFFFF"/>
                </a:solidFill>
              </a:rPr>
              <a:t>si</a:t>
            </a:r>
            <a:r>
              <a:rPr lang="en-US" altLang="ro-RO" sz="3200" dirty="0">
                <a:solidFill>
                  <a:srgbClr val="FFFFFF"/>
                </a:solidFill>
              </a:rPr>
              <a:t> </a:t>
            </a:r>
            <a:r>
              <a:rPr lang="en-US" altLang="ro-RO" sz="3200" dirty="0" err="1">
                <a:solidFill>
                  <a:srgbClr val="FFFFFF"/>
                </a:solidFill>
              </a:rPr>
              <a:t>abstractizare</a:t>
            </a:r>
            <a:endParaRPr lang="en-US" altLang="ro-RO" sz="3200" dirty="0">
              <a:solidFill>
                <a:srgbClr val="FFFFFF"/>
              </a:solidFill>
            </a:endParaRPr>
          </a:p>
        </p:txBody>
      </p:sp>
      <p:sp>
        <p:nvSpPr>
          <p:cNvPr id="8204" name="Rectangle 820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 lnSpcReduction="10000"/>
          </a:bodyPr>
          <a:lstStyle/>
          <a:p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protected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String name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protected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v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name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v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String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getName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name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getVarsta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6" name="Rectangle 922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1" y="667888"/>
            <a:ext cx="2933321" cy="6223898"/>
          </a:xfrm>
        </p:spPr>
        <p:txBody>
          <a:bodyPr anchor="ctr">
            <a:normAutofit/>
          </a:bodyPr>
          <a:lstStyle/>
          <a:p>
            <a:pPr marL="288000" eaLnBrk="1" hangingPunct="1"/>
            <a:r>
              <a:rPr lang="en-US" altLang="ro-RO" sz="3600" dirty="0" err="1">
                <a:solidFill>
                  <a:srgbClr val="FFFFFF"/>
                </a:solidFill>
              </a:rPr>
              <a:t>Mostenire</a:t>
            </a:r>
            <a:r>
              <a:rPr lang="en-US" altLang="ro-RO" sz="3600" dirty="0">
                <a:solidFill>
                  <a:srgbClr val="FFFFFF"/>
                </a:solidFill>
              </a:rPr>
              <a:t> </a:t>
            </a:r>
            <a:r>
              <a:rPr lang="en-US" altLang="ro-RO" sz="3600" dirty="0" err="1">
                <a:solidFill>
                  <a:srgbClr val="FFFFFF"/>
                </a:solidFill>
              </a:rPr>
              <a:t>si</a:t>
            </a:r>
            <a:r>
              <a:rPr lang="en-US" altLang="ro-RO" sz="3600" dirty="0">
                <a:solidFill>
                  <a:srgbClr val="FFFFFF"/>
                </a:solidFill>
              </a:rPr>
              <a:t> </a:t>
            </a:r>
            <a:r>
              <a:rPr lang="en-US" altLang="ro-RO" sz="3600" dirty="0" err="1">
                <a:solidFill>
                  <a:srgbClr val="FFFFFF"/>
                </a:solidFill>
              </a:rPr>
              <a:t>abstractizare</a:t>
            </a:r>
            <a:endParaRPr lang="en-US" altLang="ro-RO" sz="3600" dirty="0">
              <a:solidFill>
                <a:srgbClr val="FFFFFF"/>
              </a:solidFill>
            </a:endParaRPr>
          </a:p>
        </p:txBody>
      </p:sp>
      <p:sp>
        <p:nvSpPr>
          <p:cNvPr id="9228" name="Rectangle 922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 lnSpcReduction="10000"/>
          </a:bodyPr>
          <a:lstStyle/>
          <a:p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Student </a:t>
            </a:r>
            <a:r>
              <a:rPr lang="en-GB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extends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v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super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v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nota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8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setNota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nota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8" name="Rectangle 1024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Mostenire si abstractizare</a:t>
            </a:r>
          </a:p>
        </p:txBody>
      </p:sp>
      <p:sp>
        <p:nvSpPr>
          <p:cNvPr id="10252" name="Rectangle 1025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ro-RO" err="1"/>
              <a:t>Lucrurile</a:t>
            </a:r>
            <a:r>
              <a:rPr lang="en-GB" altLang="ro-RO"/>
              <a:t> </a:t>
            </a:r>
            <a:r>
              <a:rPr lang="en-GB" altLang="ro-RO" err="1"/>
              <a:t>comune</a:t>
            </a:r>
            <a:r>
              <a:rPr lang="en-GB" altLang="ro-RO"/>
              <a:t> </a:t>
            </a:r>
            <a:r>
              <a:rPr lang="en-GB" altLang="ro-RO" err="1"/>
              <a:t>constituie</a:t>
            </a:r>
            <a:r>
              <a:rPr lang="en-GB" altLang="ro-RO"/>
              <a:t> </a:t>
            </a:r>
            <a:r>
              <a:rPr lang="en-GB" altLang="ro-RO" err="1"/>
              <a:t>baza</a:t>
            </a:r>
            <a:r>
              <a:rPr lang="en-GB" altLang="ro-RO"/>
              <a:t> </a:t>
            </a:r>
            <a:r>
              <a:rPr lang="en-GB" altLang="ro-RO" err="1"/>
              <a:t>pentru</a:t>
            </a:r>
            <a:r>
              <a:rPr lang="en-GB" altLang="ro-RO"/>
              <a:t> </a:t>
            </a:r>
            <a:r>
              <a:rPr lang="en-GB" altLang="ro-RO" err="1"/>
              <a:t>mostenire</a:t>
            </a:r>
            <a:r>
              <a:rPr lang="en-GB" altLang="ro-RO"/>
              <a:t>, </a:t>
            </a:r>
            <a:r>
              <a:rPr lang="en-GB" altLang="ro-RO" err="1"/>
              <a:t>ele</a:t>
            </a:r>
            <a:r>
              <a:rPr lang="en-GB" altLang="ro-RO"/>
              <a:t> </a:t>
            </a:r>
            <a:r>
              <a:rPr lang="en-GB" altLang="ro-RO" err="1"/>
              <a:t>fiind</a:t>
            </a:r>
            <a:r>
              <a:rPr lang="en-GB" altLang="ro-RO"/>
              <a:t> </a:t>
            </a:r>
            <a:r>
              <a:rPr lang="en-GB" altLang="ro-RO" err="1"/>
              <a:t>grupate</a:t>
            </a:r>
            <a:r>
              <a:rPr lang="en-GB" altLang="ro-RO"/>
              <a:t> in </a:t>
            </a:r>
            <a:r>
              <a:rPr lang="en-GB" altLang="ro-RO" err="1"/>
              <a:t>superclase</a:t>
            </a:r>
            <a:endParaRPr lang="en-GB" altLang="ro-RO"/>
          </a:p>
          <a:p>
            <a:pPr eaLnBrk="1" hangingPunct="1"/>
            <a:r>
              <a:rPr lang="en-GB" altLang="ro-RO"/>
              <a:t>Doua </a:t>
            </a:r>
            <a:r>
              <a:rPr lang="en-GB" altLang="ro-RO" err="1"/>
              <a:t>tehnici</a:t>
            </a:r>
            <a:r>
              <a:rPr lang="en-GB" altLang="ro-RO"/>
              <a:t> sunt </a:t>
            </a:r>
            <a:r>
              <a:rPr lang="en-GB" altLang="ro-RO" err="1"/>
              <a:t>folosite</a:t>
            </a:r>
            <a:r>
              <a:rPr lang="en-GB" altLang="ro-RO"/>
              <a:t> in </a:t>
            </a:r>
            <a:r>
              <a:rPr lang="en-GB" altLang="ro-RO" err="1"/>
              <a:t>realizarea</a:t>
            </a:r>
            <a:r>
              <a:rPr lang="en-GB" altLang="ro-RO"/>
              <a:t> </a:t>
            </a:r>
            <a:r>
              <a:rPr lang="en-GB" altLang="ro-RO" err="1"/>
              <a:t>ierarhiilor</a:t>
            </a:r>
            <a:r>
              <a:rPr lang="en-GB" altLang="ro-RO"/>
              <a:t> de </a:t>
            </a:r>
            <a:r>
              <a:rPr lang="en-GB" altLang="ro-RO" err="1"/>
              <a:t>clase</a:t>
            </a:r>
            <a:r>
              <a:rPr lang="en-GB" altLang="ro-RO"/>
              <a:t>:</a:t>
            </a:r>
          </a:p>
          <a:p>
            <a:pPr lvl="1" eaLnBrk="1" hangingPunct="1"/>
            <a:r>
              <a:rPr lang="en-GB" altLang="ro-RO" b="1" err="1"/>
              <a:t>Generalizare</a:t>
            </a:r>
            <a:r>
              <a:rPr lang="en-GB" altLang="ro-RO"/>
              <a:t> – </a:t>
            </a:r>
            <a:r>
              <a:rPr lang="en-GB" altLang="ro-RO" err="1"/>
              <a:t>descoperirea</a:t>
            </a:r>
            <a:r>
              <a:rPr lang="en-GB" altLang="ro-RO"/>
              <a:t> </a:t>
            </a:r>
            <a:r>
              <a:rPr lang="en-GB" altLang="ro-RO" err="1"/>
              <a:t>comportamentului</a:t>
            </a:r>
            <a:r>
              <a:rPr lang="en-GB" altLang="ro-RO"/>
              <a:t> </a:t>
            </a:r>
            <a:r>
              <a:rPr lang="en-GB" altLang="ro-RO" err="1"/>
              <a:t>comun</a:t>
            </a:r>
            <a:r>
              <a:rPr lang="en-GB" altLang="ro-RO"/>
              <a:t> al </a:t>
            </a:r>
            <a:r>
              <a:rPr lang="en-GB" altLang="ro-RO" err="1"/>
              <a:t>claselor</a:t>
            </a:r>
            <a:endParaRPr lang="en-GB" altLang="ro-RO"/>
          </a:p>
          <a:p>
            <a:pPr lvl="1" eaLnBrk="1" hangingPunct="1"/>
            <a:r>
              <a:rPr lang="en-GB" altLang="ro-RO" b="1" err="1"/>
              <a:t>Specializare</a:t>
            </a:r>
            <a:r>
              <a:rPr lang="en-GB" altLang="ro-RO"/>
              <a:t> – </a:t>
            </a:r>
            <a:r>
              <a:rPr lang="en-GB" altLang="ro-RO" err="1"/>
              <a:t>identificare</a:t>
            </a:r>
            <a:r>
              <a:rPr lang="en-GB" altLang="ro-RO"/>
              <a:t> </a:t>
            </a:r>
            <a:r>
              <a:rPr lang="en-GB" altLang="ro-RO" err="1"/>
              <a:t>particularitatilor</a:t>
            </a:r>
            <a:r>
              <a:rPr lang="en-GB" altLang="ro-RO"/>
              <a:t> </a:t>
            </a:r>
            <a:r>
              <a:rPr lang="en-GB" altLang="ro-RO" err="1"/>
              <a:t>subclaselor</a:t>
            </a:r>
            <a:endParaRPr lang="en-GB" altLang="ro-RO"/>
          </a:p>
          <a:p>
            <a:pPr marL="221747" lvl="1" indent="0">
              <a:buNone/>
            </a:pPr>
            <a:endParaRPr lang="en-US" altLang="ro-RO"/>
          </a:p>
          <a:p>
            <a:pPr marL="221747" lvl="1" indent="0">
              <a:buNone/>
            </a:pPr>
            <a:r>
              <a:rPr lang="en-US" altLang="ro-RO" err="1"/>
              <a:t>Subclasele</a:t>
            </a:r>
            <a:r>
              <a:rPr lang="en-US" altLang="ro-RO"/>
              <a:t> </a:t>
            </a:r>
            <a:r>
              <a:rPr lang="en-US" altLang="ro-RO" err="1"/>
              <a:t>moștenesc</a:t>
            </a:r>
            <a:r>
              <a:rPr lang="en-US" altLang="ro-RO"/>
              <a:t> </a:t>
            </a:r>
            <a:r>
              <a:rPr lang="en-US" altLang="ro-RO" err="1"/>
              <a:t>toate</a:t>
            </a:r>
            <a:r>
              <a:rPr lang="en-US" altLang="ro-RO"/>
              <a:t> </a:t>
            </a:r>
            <a:r>
              <a:rPr lang="en-US" altLang="ro-RO" err="1"/>
              <a:t>atributele</a:t>
            </a:r>
            <a:r>
              <a:rPr lang="en-US" altLang="ro-RO"/>
              <a:t> </a:t>
            </a:r>
            <a:r>
              <a:rPr lang="en-US" altLang="ro-RO" err="1"/>
              <a:t>și</a:t>
            </a:r>
            <a:r>
              <a:rPr lang="en-US" altLang="ro-RO"/>
              <a:t> </a:t>
            </a:r>
            <a:r>
              <a:rPr lang="en-US" altLang="ro-RO" err="1"/>
              <a:t>metodele</a:t>
            </a:r>
            <a:r>
              <a:rPr lang="en-US" altLang="ro-RO"/>
              <a:t> care nu sunt private.</a:t>
            </a:r>
          </a:p>
          <a:p>
            <a:pPr marL="221747" lvl="1" indent="0">
              <a:buNone/>
            </a:pPr>
            <a:r>
              <a:rPr lang="en-US" altLang="ro-RO" err="1"/>
              <a:t>Subclasele</a:t>
            </a:r>
            <a:r>
              <a:rPr lang="en-US" altLang="ro-RO"/>
              <a:t> pot </a:t>
            </a:r>
            <a:r>
              <a:rPr lang="en-US" altLang="ro-RO" err="1"/>
              <a:t>adăuga</a:t>
            </a:r>
            <a:r>
              <a:rPr lang="en-US" altLang="ro-RO"/>
              <a:t> </a:t>
            </a:r>
            <a:r>
              <a:rPr lang="en-US" altLang="ro-RO" err="1"/>
              <a:t>atribute</a:t>
            </a:r>
            <a:r>
              <a:rPr lang="en-US" altLang="ro-RO"/>
              <a:t> </a:t>
            </a:r>
            <a:r>
              <a:rPr lang="en-US" altLang="ro-RO" err="1"/>
              <a:t>și</a:t>
            </a:r>
            <a:r>
              <a:rPr lang="en-US" altLang="ro-RO"/>
              <a:t> </a:t>
            </a:r>
            <a:r>
              <a:rPr lang="en-US" altLang="ro-RO" err="1"/>
              <a:t>metode</a:t>
            </a:r>
            <a:r>
              <a:rPr lang="en-US" altLang="ro-RO"/>
              <a:t> </a:t>
            </a:r>
            <a:r>
              <a:rPr lang="en-US" altLang="ro-RO" err="1"/>
              <a:t>noi</a:t>
            </a:r>
            <a:r>
              <a:rPr lang="en-US" altLang="ro-RO"/>
              <a:t>.</a:t>
            </a:r>
          </a:p>
          <a:p>
            <a:pPr marL="221747" lvl="1" indent="0">
              <a:buNone/>
            </a:pPr>
            <a:r>
              <a:rPr lang="en-US" altLang="ro-RO" err="1"/>
              <a:t>Subclasele</a:t>
            </a:r>
            <a:r>
              <a:rPr lang="en-US" altLang="ro-RO"/>
              <a:t> pot </a:t>
            </a:r>
            <a:r>
              <a:rPr lang="en-US" altLang="ro-RO" err="1"/>
              <a:t>redefini</a:t>
            </a:r>
            <a:r>
              <a:rPr lang="en-US" altLang="ro-RO"/>
              <a:t> (override) </a:t>
            </a:r>
            <a:r>
              <a:rPr lang="en-US" altLang="ro-RO" err="1"/>
              <a:t>metodele</a:t>
            </a:r>
            <a:r>
              <a:rPr lang="en-US" altLang="ro-RO"/>
              <a:t> </a:t>
            </a:r>
            <a:r>
              <a:rPr lang="en-US" altLang="ro-RO" err="1"/>
              <a:t>moștenite</a:t>
            </a:r>
            <a:r>
              <a:rPr lang="en-US" altLang="ro-RO"/>
              <a:t> </a:t>
            </a:r>
            <a:r>
              <a:rPr lang="en-US" altLang="ro-RO" err="1"/>
              <a:t>pentru</a:t>
            </a:r>
            <a:r>
              <a:rPr lang="en-US" altLang="ro-RO"/>
              <a:t> a le </a:t>
            </a:r>
            <a:r>
              <a:rPr lang="en-US" altLang="ro-RO" err="1"/>
              <a:t>adapta</a:t>
            </a:r>
            <a:r>
              <a:rPr lang="en-US" altLang="ro-RO"/>
              <a:t>.</a:t>
            </a:r>
          </a:p>
          <a:p>
            <a:pPr marL="221747" lvl="1" indent="0">
              <a:buNone/>
            </a:pPr>
            <a:r>
              <a:rPr lang="en-US" altLang="ro-RO" err="1"/>
              <a:t>Constructorii</a:t>
            </a:r>
            <a:r>
              <a:rPr lang="en-US" altLang="ro-RO"/>
              <a:t> nu se </a:t>
            </a:r>
            <a:r>
              <a:rPr lang="en-US" altLang="ro-RO" err="1"/>
              <a:t>moștenesc</a:t>
            </a:r>
            <a:r>
              <a:rPr lang="en-US" altLang="ro-RO"/>
              <a:t> </a:t>
            </a:r>
            <a:r>
              <a:rPr lang="en-US" altLang="ro-RO" err="1"/>
              <a:t>niciodată</a:t>
            </a:r>
            <a:r>
              <a:rPr lang="en-US" altLang="ro-RO"/>
              <a:t>.</a:t>
            </a:r>
          </a:p>
          <a:p>
            <a:pPr marL="221747" lvl="1" indent="0">
              <a:buNone/>
            </a:pPr>
            <a:r>
              <a:rPr lang="en-US" altLang="ro-RO"/>
              <a:t>Un </a:t>
            </a:r>
            <a:r>
              <a:rPr lang="en-US" altLang="ro-RO" err="1"/>
              <a:t>obiect</a:t>
            </a:r>
            <a:r>
              <a:rPr lang="en-US" altLang="ro-RO"/>
              <a:t> al </a:t>
            </a:r>
            <a:r>
              <a:rPr lang="en-US" altLang="ro-RO" err="1"/>
              <a:t>unei</a:t>
            </a:r>
            <a:r>
              <a:rPr lang="en-US" altLang="ro-RO"/>
              <a:t> </a:t>
            </a:r>
            <a:r>
              <a:rPr lang="en-US" altLang="ro-RO" err="1"/>
              <a:t>subclase</a:t>
            </a:r>
            <a:r>
              <a:rPr lang="en-US" altLang="ro-RO"/>
              <a:t> </a:t>
            </a:r>
            <a:r>
              <a:rPr lang="en-US" altLang="ro-RO" err="1"/>
              <a:t>poate</a:t>
            </a:r>
            <a:r>
              <a:rPr lang="en-US" altLang="ro-RO"/>
              <a:t> </a:t>
            </a:r>
            <a:r>
              <a:rPr lang="en-US" altLang="ro-RO" err="1"/>
              <a:t>înlocui</a:t>
            </a:r>
            <a:r>
              <a:rPr lang="en-US" altLang="ro-RO"/>
              <a:t> un </a:t>
            </a:r>
            <a:r>
              <a:rPr lang="en-US" altLang="ro-RO" err="1"/>
              <a:t>obiect</a:t>
            </a:r>
            <a:r>
              <a:rPr lang="en-US" altLang="ro-RO"/>
              <a:t> al </a:t>
            </a:r>
            <a:r>
              <a:rPr lang="en-US" altLang="ro-RO" err="1"/>
              <a:t>clasei</a:t>
            </a:r>
            <a:r>
              <a:rPr lang="en-US" altLang="ro-RO"/>
              <a:t> de </a:t>
            </a:r>
            <a:r>
              <a:rPr lang="en-US" altLang="ro-RO" err="1"/>
              <a:t>bază</a:t>
            </a:r>
            <a:r>
              <a:rPr lang="en-US" altLang="ro-RO"/>
              <a:t> (</a:t>
            </a:r>
            <a:r>
              <a:rPr lang="en-US" altLang="ro-RO" err="1"/>
              <a:t>conceptul</a:t>
            </a:r>
            <a:r>
              <a:rPr lang="en-US" altLang="ro-RO"/>
              <a:t> de </a:t>
            </a:r>
            <a:r>
              <a:rPr lang="en-US" altLang="ro-RO" err="1"/>
              <a:t>polimorfism</a:t>
            </a:r>
            <a:r>
              <a:rPr lang="en-US" altLang="ro-RO"/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4" name="Rectangle 1127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 dirty="0" err="1">
                <a:solidFill>
                  <a:srgbClr val="FFFFFF"/>
                </a:solidFill>
              </a:rPr>
              <a:t>Mostenire</a:t>
            </a:r>
            <a:r>
              <a:rPr lang="en-US" altLang="ro-RO" sz="3500" dirty="0">
                <a:solidFill>
                  <a:srgbClr val="FFFFFF"/>
                </a:solidFill>
              </a:rPr>
              <a:t> </a:t>
            </a:r>
            <a:r>
              <a:rPr lang="en-US" altLang="ro-RO" sz="3500" dirty="0" err="1">
                <a:solidFill>
                  <a:srgbClr val="FFFFFF"/>
                </a:solidFill>
              </a:rPr>
              <a:t>si</a:t>
            </a:r>
            <a:r>
              <a:rPr lang="en-US" altLang="ro-RO" sz="3500" dirty="0">
                <a:solidFill>
                  <a:srgbClr val="FFFFFF"/>
                </a:solidFill>
              </a:rPr>
              <a:t> </a:t>
            </a:r>
            <a:r>
              <a:rPr lang="en-US" altLang="ro-RO" sz="3500" dirty="0" err="1">
                <a:solidFill>
                  <a:srgbClr val="FFFFFF"/>
                </a:solidFill>
              </a:rPr>
              <a:t>abstractizare</a:t>
            </a:r>
            <a:endParaRPr lang="en-US" altLang="ro-RO" sz="3500" dirty="0">
              <a:solidFill>
                <a:srgbClr val="FFFFFF"/>
              </a:solidFill>
            </a:endParaRPr>
          </a:p>
        </p:txBody>
      </p:sp>
      <p:sp>
        <p:nvSpPr>
          <p:cNvPr id="11276" name="Rectangle 11275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ro-RO" b="1" err="1"/>
              <a:t>Mostenire</a:t>
            </a:r>
            <a:r>
              <a:rPr lang="en-GB" altLang="ro-RO"/>
              <a:t> </a:t>
            </a:r>
            <a:r>
              <a:rPr lang="en-GB" altLang="ro-RO" err="1"/>
              <a:t>inseamna</a:t>
            </a:r>
            <a:r>
              <a:rPr lang="en-GB" altLang="ro-RO"/>
              <a:t> a </a:t>
            </a:r>
            <a:r>
              <a:rPr lang="en-GB" altLang="ro-RO" err="1"/>
              <a:t>deriva</a:t>
            </a:r>
            <a:r>
              <a:rPr lang="en-GB" altLang="ro-RO"/>
              <a:t> </a:t>
            </a:r>
            <a:r>
              <a:rPr lang="en-GB" altLang="ro-RO" err="1"/>
              <a:t>noi</a:t>
            </a:r>
            <a:r>
              <a:rPr lang="en-GB" altLang="ro-RO"/>
              <a:t> </a:t>
            </a:r>
            <a:r>
              <a:rPr lang="en-GB" altLang="ro-RO" err="1"/>
              <a:t>definitii</a:t>
            </a:r>
            <a:r>
              <a:rPr lang="en-GB" altLang="ro-RO"/>
              <a:t> de </a:t>
            </a:r>
            <a:r>
              <a:rPr lang="en-GB" altLang="ro-RO" err="1"/>
              <a:t>clase</a:t>
            </a:r>
            <a:r>
              <a:rPr lang="en-GB" altLang="ro-RO"/>
              <a:t> din </a:t>
            </a:r>
            <a:r>
              <a:rPr lang="en-GB" altLang="ro-RO" err="1"/>
              <a:t>clase</a:t>
            </a:r>
            <a:r>
              <a:rPr lang="en-GB" altLang="ro-RO"/>
              <a:t> </a:t>
            </a:r>
            <a:r>
              <a:rPr lang="en-GB" altLang="ro-RO" err="1"/>
              <a:t>existente</a:t>
            </a:r>
            <a:endParaRPr lang="en-GB" altLang="ro-RO"/>
          </a:p>
          <a:p>
            <a:pPr eaLnBrk="1" hangingPunct="1"/>
            <a:r>
              <a:rPr lang="en-GB" altLang="ro-RO"/>
              <a:t>Motive </a:t>
            </a:r>
            <a:r>
              <a:rPr lang="en-GB" altLang="ro-RO" err="1"/>
              <a:t>pentru</a:t>
            </a:r>
            <a:r>
              <a:rPr lang="en-GB" altLang="ro-RO"/>
              <a:t> a </a:t>
            </a:r>
            <a:r>
              <a:rPr lang="en-GB" altLang="ro-RO" err="1"/>
              <a:t>folosi</a:t>
            </a:r>
            <a:r>
              <a:rPr lang="en-GB" altLang="ro-RO"/>
              <a:t> </a:t>
            </a:r>
            <a:r>
              <a:rPr lang="en-GB" altLang="ro-RO" err="1"/>
              <a:t>mostenirea</a:t>
            </a:r>
            <a:r>
              <a:rPr lang="en-GB" altLang="ro-RO"/>
              <a:t>:</a:t>
            </a:r>
          </a:p>
          <a:p>
            <a:pPr lvl="1" eaLnBrk="1" hangingPunct="1"/>
            <a:r>
              <a:rPr lang="en-GB" altLang="ro-RO" b="1" err="1"/>
              <a:t>Refolosirea</a:t>
            </a:r>
            <a:r>
              <a:rPr lang="en-GB" altLang="ro-RO"/>
              <a:t> </a:t>
            </a:r>
            <a:r>
              <a:rPr lang="en-GB" altLang="ro-RO" err="1"/>
              <a:t>claselor</a:t>
            </a:r>
            <a:r>
              <a:rPr lang="en-GB" altLang="ro-RO"/>
              <a:t> (</a:t>
            </a:r>
            <a:r>
              <a:rPr lang="en-GB" altLang="ro-RO" err="1"/>
              <a:t>clasele</a:t>
            </a:r>
            <a:r>
              <a:rPr lang="en-GB" altLang="ro-RO"/>
              <a:t> </a:t>
            </a:r>
            <a:r>
              <a:rPr lang="en-GB" altLang="ro-RO" err="1"/>
              <a:t>folosite</a:t>
            </a:r>
            <a:r>
              <a:rPr lang="en-GB" altLang="ro-RO"/>
              <a:t> </a:t>
            </a:r>
            <a:r>
              <a:rPr lang="en-GB" altLang="ro-RO" err="1"/>
              <a:t>mai</a:t>
            </a:r>
            <a:r>
              <a:rPr lang="en-GB" altLang="ro-RO"/>
              <a:t> </a:t>
            </a:r>
            <a:r>
              <a:rPr lang="en-GB" altLang="ro-RO" err="1"/>
              <a:t>mult</a:t>
            </a:r>
            <a:r>
              <a:rPr lang="en-GB" altLang="ro-RO"/>
              <a:t> </a:t>
            </a:r>
            <a:r>
              <a:rPr lang="en-GB" altLang="ro-RO" err="1"/>
              <a:t>sunt</a:t>
            </a:r>
            <a:r>
              <a:rPr lang="en-GB" altLang="ro-RO"/>
              <a:t> </a:t>
            </a:r>
            <a:r>
              <a:rPr lang="en-GB" altLang="ro-RO" err="1"/>
              <a:t>si</a:t>
            </a:r>
            <a:r>
              <a:rPr lang="en-GB" altLang="ro-RO"/>
              <a:t> testate </a:t>
            </a:r>
            <a:r>
              <a:rPr lang="en-GB" altLang="ro-RO" err="1"/>
              <a:t>mai</a:t>
            </a:r>
            <a:r>
              <a:rPr lang="en-GB" altLang="ro-RO"/>
              <a:t> </a:t>
            </a:r>
            <a:r>
              <a:rPr lang="en-GB" altLang="ro-RO" err="1"/>
              <a:t>mult</a:t>
            </a:r>
            <a:r>
              <a:rPr lang="en-GB" altLang="ro-RO"/>
              <a:t>, </a:t>
            </a:r>
            <a:r>
              <a:rPr lang="en-GB" altLang="ro-RO" err="1"/>
              <a:t>deci</a:t>
            </a:r>
            <a:r>
              <a:rPr lang="en-GB" altLang="ro-RO"/>
              <a:t> </a:t>
            </a:r>
            <a:r>
              <a:rPr lang="en-GB" altLang="ro-RO" err="1"/>
              <a:t>mai</a:t>
            </a:r>
            <a:r>
              <a:rPr lang="en-GB" altLang="ro-RO"/>
              <a:t> </a:t>
            </a:r>
            <a:r>
              <a:rPr lang="en-GB" altLang="ro-RO" err="1"/>
              <a:t>fiabile</a:t>
            </a:r>
            <a:r>
              <a:rPr lang="en-GB" altLang="ro-RO"/>
              <a:t>)</a:t>
            </a:r>
          </a:p>
          <a:p>
            <a:pPr lvl="1" eaLnBrk="1" hangingPunct="1"/>
            <a:r>
              <a:rPr lang="en-GB" altLang="ro-RO" b="1" err="1"/>
              <a:t>Standardizarea</a:t>
            </a:r>
            <a:r>
              <a:rPr lang="en-GB" altLang="ro-RO"/>
              <a:t> </a:t>
            </a:r>
            <a:r>
              <a:rPr lang="en-GB" altLang="ro-RO" err="1"/>
              <a:t>comportamentului</a:t>
            </a:r>
            <a:r>
              <a:rPr lang="en-GB" altLang="ro-RO"/>
              <a:t> </a:t>
            </a:r>
            <a:r>
              <a:rPr lang="en-GB" altLang="ro-RO" err="1"/>
              <a:t>unui</a:t>
            </a:r>
            <a:r>
              <a:rPr lang="en-GB" altLang="ro-RO"/>
              <a:t> </a:t>
            </a:r>
            <a:r>
              <a:rPr lang="en-GB" altLang="ro-RO" err="1"/>
              <a:t>grup</a:t>
            </a:r>
            <a:r>
              <a:rPr lang="en-GB" altLang="ro-RO"/>
              <a:t> de </a:t>
            </a:r>
            <a:r>
              <a:rPr lang="en-GB" altLang="ro-RO" err="1"/>
              <a:t>clase</a:t>
            </a:r>
            <a:endParaRPr lang="en-GB" altLang="ro-RO"/>
          </a:p>
          <a:p>
            <a:pPr lvl="1" eaLnBrk="1" hangingPunct="1"/>
            <a:r>
              <a:rPr lang="en-GB" altLang="ro-RO" b="1" err="1"/>
              <a:t>Polimorfismul</a:t>
            </a:r>
            <a:r>
              <a:rPr lang="en-GB" altLang="ro-RO"/>
              <a:t> (</a:t>
            </a:r>
            <a:r>
              <a:rPr lang="en-GB" altLang="ro-RO" err="1"/>
              <a:t>folosirea</a:t>
            </a:r>
            <a:r>
              <a:rPr lang="en-GB" altLang="ro-RO"/>
              <a:t> </a:t>
            </a:r>
            <a:r>
              <a:rPr lang="en-GB" altLang="ro-RO" err="1"/>
              <a:t>aceluiasi</a:t>
            </a:r>
            <a:r>
              <a:rPr lang="en-GB" altLang="ro-RO"/>
              <a:t> cod </a:t>
            </a:r>
            <a:r>
              <a:rPr lang="en-GB" altLang="ro-RO" err="1"/>
              <a:t>pentru</a:t>
            </a:r>
            <a:r>
              <a:rPr lang="en-GB" altLang="ro-RO"/>
              <a:t> </a:t>
            </a:r>
            <a:r>
              <a:rPr lang="en-GB" altLang="ro-RO" err="1"/>
              <a:t>clase</a:t>
            </a:r>
            <a:r>
              <a:rPr lang="en-GB" altLang="ro-RO"/>
              <a:t> </a:t>
            </a:r>
            <a:r>
              <a:rPr lang="en-GB" altLang="ro-RO" err="1"/>
              <a:t>diferite</a:t>
            </a:r>
            <a:r>
              <a:rPr lang="en-GB" altLang="ro-RO"/>
              <a:t>)</a:t>
            </a:r>
            <a:endParaRPr lang="en-US" altLang="ro-R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-14288"/>
            <a:ext cx="8569325" cy="974726"/>
          </a:xfrm>
        </p:spPr>
        <p:txBody>
          <a:bodyPr/>
          <a:lstStyle/>
          <a:p>
            <a:pPr marL="1439863" eaLnBrk="1" hangingPunct="1"/>
            <a:r>
              <a:rPr lang="en-US" altLang="ro-RO" dirty="0" err="1"/>
              <a:t>Mostenirea</a:t>
            </a:r>
            <a:r>
              <a:rPr lang="en-US" altLang="ro-RO" dirty="0"/>
              <a:t> </a:t>
            </a:r>
            <a:r>
              <a:rPr lang="en-US" altLang="ro-RO" dirty="0" err="1"/>
              <a:t>multipla</a:t>
            </a:r>
            <a:endParaRPr lang="en-US" altLang="ro-RO" dirty="0"/>
          </a:p>
        </p:txBody>
      </p:sp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849313" y="1046163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Persoana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varsta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getVarsta() : int;</a:t>
            </a:r>
          </a:p>
        </p:txBody>
      </p:sp>
      <p:sp>
        <p:nvSpPr>
          <p:cNvPr id="14340" name="Line 7"/>
          <p:cNvSpPr>
            <a:spLocks noChangeShapeType="1"/>
          </p:cNvSpPr>
          <p:nvPr/>
        </p:nvSpPr>
        <p:spPr bwMode="auto">
          <a:xfrm>
            <a:off x="3135313" y="5456238"/>
            <a:ext cx="3581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1" name="Line 8"/>
          <p:cNvSpPr>
            <a:spLocks noChangeShapeType="1"/>
          </p:cNvSpPr>
          <p:nvPr/>
        </p:nvSpPr>
        <p:spPr bwMode="auto">
          <a:xfrm>
            <a:off x="3135313" y="5989638"/>
            <a:ext cx="3581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2" name="Text Box 9"/>
          <p:cNvSpPr txBox="1">
            <a:spLocks noChangeArrowheads="1"/>
          </p:cNvSpPr>
          <p:nvPr/>
        </p:nvSpPr>
        <p:spPr bwMode="auto">
          <a:xfrm>
            <a:off x="3135313" y="4922838"/>
            <a:ext cx="3581400" cy="2474912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14343" name="Text Box 11"/>
          <p:cNvSpPr txBox="1">
            <a:spLocks noChangeArrowheads="1"/>
          </p:cNvSpPr>
          <p:nvPr/>
        </p:nvSpPr>
        <p:spPr bwMode="auto">
          <a:xfrm>
            <a:off x="5573713" y="1036638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Angajat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salar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getSalar() : int;</a:t>
            </a:r>
          </a:p>
        </p:txBody>
      </p:sp>
      <p:sp>
        <p:nvSpPr>
          <p:cNvPr id="14344" name="Line 12"/>
          <p:cNvSpPr>
            <a:spLocks noChangeShapeType="1"/>
          </p:cNvSpPr>
          <p:nvPr/>
        </p:nvSpPr>
        <p:spPr bwMode="auto">
          <a:xfrm>
            <a:off x="849313" y="1570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5" name="Line 13"/>
          <p:cNvSpPr>
            <a:spLocks noChangeShapeType="1"/>
          </p:cNvSpPr>
          <p:nvPr/>
        </p:nvSpPr>
        <p:spPr bwMode="auto">
          <a:xfrm>
            <a:off x="849313" y="2636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6" name="Line 14"/>
          <p:cNvSpPr>
            <a:spLocks noChangeShapeType="1"/>
          </p:cNvSpPr>
          <p:nvPr/>
        </p:nvSpPr>
        <p:spPr bwMode="auto">
          <a:xfrm>
            <a:off x="5573713" y="1493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7" name="Line 15"/>
          <p:cNvSpPr>
            <a:spLocks noChangeShapeType="1"/>
          </p:cNvSpPr>
          <p:nvPr/>
        </p:nvSpPr>
        <p:spPr bwMode="auto">
          <a:xfrm>
            <a:off x="5573713" y="2713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8" name="Line 16"/>
          <p:cNvSpPr>
            <a:spLocks noChangeShapeType="1"/>
          </p:cNvSpPr>
          <p:nvPr/>
        </p:nvSpPr>
        <p:spPr bwMode="auto">
          <a:xfrm flipH="1">
            <a:off x="22971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49" name="Line 17"/>
          <p:cNvSpPr>
            <a:spLocks noChangeShapeType="1"/>
          </p:cNvSpPr>
          <p:nvPr/>
        </p:nvSpPr>
        <p:spPr bwMode="auto">
          <a:xfrm>
            <a:off x="2297113" y="4313238"/>
            <a:ext cx="5029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50" name="Line 18"/>
          <p:cNvSpPr>
            <a:spLocks noChangeShapeType="1"/>
          </p:cNvSpPr>
          <p:nvPr/>
        </p:nvSpPr>
        <p:spPr bwMode="auto">
          <a:xfrm>
            <a:off x="73263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51" name="Line 19"/>
          <p:cNvSpPr>
            <a:spLocks noChangeShapeType="1"/>
          </p:cNvSpPr>
          <p:nvPr/>
        </p:nvSpPr>
        <p:spPr bwMode="auto">
          <a:xfrm>
            <a:off x="4887913" y="4313238"/>
            <a:ext cx="1587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4352" name="AutoShape 20"/>
          <p:cNvSpPr>
            <a:spLocks noChangeArrowheads="1"/>
          </p:cNvSpPr>
          <p:nvPr/>
        </p:nvSpPr>
        <p:spPr bwMode="auto">
          <a:xfrm>
            <a:off x="21447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  <p:sp>
        <p:nvSpPr>
          <p:cNvPr id="14353" name="AutoShape 21"/>
          <p:cNvSpPr>
            <a:spLocks noChangeArrowheads="1"/>
          </p:cNvSpPr>
          <p:nvPr/>
        </p:nvSpPr>
        <p:spPr bwMode="auto">
          <a:xfrm>
            <a:off x="71739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8" name="Rectangle 1536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marL="360000"/>
            <a:r>
              <a:rPr lang="en-US" altLang="ro-RO" sz="3500" dirty="0" err="1">
                <a:solidFill>
                  <a:srgbClr val="FFFFFF"/>
                </a:solidFill>
              </a:rPr>
              <a:t>Mostenirea</a:t>
            </a:r>
            <a:r>
              <a:rPr lang="en-US" altLang="ro-RO" sz="3500" dirty="0">
                <a:solidFill>
                  <a:srgbClr val="FFFFFF"/>
                </a:solidFill>
              </a:rPr>
              <a:t> </a:t>
            </a:r>
            <a:r>
              <a:rPr lang="en-US" altLang="ro-RO" sz="3500" dirty="0" err="1">
                <a:solidFill>
                  <a:srgbClr val="FFFFFF"/>
                </a:solidFill>
              </a:rPr>
              <a:t>multipla</a:t>
            </a:r>
            <a:endParaRPr lang="en-US" altLang="ro-RO" sz="3500" dirty="0">
              <a:solidFill>
                <a:srgbClr val="FFFFFF"/>
              </a:solidFill>
            </a:endParaRPr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/>
              <a:t>➡️ </a:t>
            </a:r>
            <a:r>
              <a:rPr lang="en-GB" i="1"/>
              <a:t>De </a:t>
            </a:r>
            <a:r>
              <a:rPr lang="en-GB" i="1" err="1"/>
              <a:t>ce</a:t>
            </a:r>
            <a:r>
              <a:rPr lang="en-GB" i="1"/>
              <a:t> Java nu </a:t>
            </a:r>
            <a:r>
              <a:rPr lang="en-GB" i="1" err="1"/>
              <a:t>permite</a:t>
            </a:r>
            <a:r>
              <a:rPr lang="en-GB" i="1"/>
              <a:t> </a:t>
            </a:r>
            <a:r>
              <a:rPr lang="en-GB" i="1" err="1"/>
              <a:t>moștenirea</a:t>
            </a:r>
            <a:r>
              <a:rPr lang="en-GB" i="1"/>
              <a:t> </a:t>
            </a:r>
            <a:r>
              <a:rPr lang="en-GB" i="1" err="1"/>
              <a:t>multiplă</a:t>
            </a:r>
            <a:r>
              <a:rPr lang="en-GB" i="1"/>
              <a:t> de </a:t>
            </a:r>
            <a:r>
              <a:rPr lang="en-GB" i="1" err="1"/>
              <a:t>clase</a:t>
            </a:r>
            <a:endParaRPr lang="en-GB" i="1"/>
          </a:p>
          <a:p>
            <a:pPr eaLnBrk="1" hangingPunct="1"/>
            <a:r>
              <a:rPr lang="en-GB"/>
              <a:t>In Java, o </a:t>
            </a:r>
            <a:r>
              <a:rPr lang="en-GB" err="1"/>
              <a:t>clasă</a:t>
            </a:r>
            <a:r>
              <a:rPr lang="en-GB"/>
              <a:t> </a:t>
            </a:r>
            <a:r>
              <a:rPr lang="en-GB" err="1"/>
              <a:t>poate</a:t>
            </a:r>
            <a:r>
              <a:rPr lang="en-GB"/>
              <a:t> </a:t>
            </a:r>
            <a:r>
              <a:rPr lang="en-GB" b="1" err="1"/>
              <a:t>extinde</a:t>
            </a:r>
            <a:r>
              <a:rPr lang="en-GB" b="1"/>
              <a:t> o </a:t>
            </a:r>
            <a:r>
              <a:rPr lang="en-GB" b="1" err="1"/>
              <a:t>singură</a:t>
            </a:r>
            <a:r>
              <a:rPr lang="en-GB" b="1"/>
              <a:t> </a:t>
            </a:r>
            <a:r>
              <a:rPr lang="en-GB" b="1" err="1"/>
              <a:t>superclasă</a:t>
            </a:r>
            <a:r>
              <a:rPr lang="en-GB"/>
              <a:t> (nu </a:t>
            </a:r>
            <a:r>
              <a:rPr lang="en-GB" err="1"/>
              <a:t>există</a:t>
            </a:r>
            <a:r>
              <a:rPr lang="en-GB"/>
              <a:t> </a:t>
            </a:r>
            <a:r>
              <a:rPr lang="en-GB" err="1"/>
              <a:t>moștenire</a:t>
            </a:r>
            <a:r>
              <a:rPr lang="en-GB"/>
              <a:t> </a:t>
            </a:r>
            <a:r>
              <a:rPr lang="en-GB" err="1"/>
              <a:t>multiplă</a:t>
            </a:r>
            <a:r>
              <a:rPr lang="en-GB"/>
              <a:t> de </a:t>
            </a:r>
            <a:r>
              <a:rPr lang="en-GB" err="1"/>
              <a:t>clase</a:t>
            </a:r>
            <a:r>
              <a:rPr lang="en-GB"/>
              <a:t>).</a:t>
            </a:r>
          </a:p>
          <a:p>
            <a:pPr eaLnBrk="1" hangingPunct="1"/>
            <a:r>
              <a:rPr lang="en-GB" err="1"/>
              <a:t>Motivul</a:t>
            </a:r>
            <a:r>
              <a:rPr lang="en-GB"/>
              <a:t>: </a:t>
            </a:r>
            <a:r>
              <a:rPr lang="en-GB" b="1" err="1"/>
              <a:t>evitarea</a:t>
            </a:r>
            <a:r>
              <a:rPr lang="en-GB" b="1"/>
              <a:t> </a:t>
            </a:r>
            <a:r>
              <a:rPr lang="en-GB" b="1" err="1"/>
              <a:t>ambiguității</a:t>
            </a:r>
            <a:r>
              <a:rPr lang="en-GB"/>
              <a:t> </a:t>
            </a:r>
            <a:r>
              <a:rPr lang="en-GB" err="1"/>
              <a:t>când</a:t>
            </a:r>
            <a:r>
              <a:rPr lang="en-GB"/>
              <a:t> </a:t>
            </a:r>
            <a:r>
              <a:rPr lang="en-GB" err="1"/>
              <a:t>două</a:t>
            </a:r>
            <a:r>
              <a:rPr lang="en-GB"/>
              <a:t> </a:t>
            </a:r>
            <a:r>
              <a:rPr lang="en-GB" err="1"/>
              <a:t>clase</a:t>
            </a:r>
            <a:r>
              <a:rPr lang="en-GB"/>
              <a:t> </a:t>
            </a:r>
            <a:r>
              <a:rPr lang="en-GB" err="1"/>
              <a:t>părinte</a:t>
            </a:r>
            <a:r>
              <a:rPr lang="en-GB"/>
              <a:t> </a:t>
            </a:r>
            <a:r>
              <a:rPr lang="en-GB" err="1"/>
              <a:t>definesc</a:t>
            </a:r>
            <a:r>
              <a:rPr lang="en-GB"/>
              <a:t> </a:t>
            </a:r>
            <a:r>
              <a:rPr lang="en-GB" err="1"/>
              <a:t>aceeași</a:t>
            </a:r>
            <a:r>
              <a:rPr lang="en-GB"/>
              <a:t> </a:t>
            </a:r>
            <a:r>
              <a:rPr lang="en-GB" err="1"/>
              <a:t>metodă</a:t>
            </a:r>
            <a:r>
              <a:rPr lang="en-GB"/>
              <a:t> </a:t>
            </a:r>
            <a:r>
              <a:rPr lang="en-GB" err="1"/>
              <a:t>sau</a:t>
            </a:r>
            <a:r>
              <a:rPr lang="en-GB"/>
              <a:t> </a:t>
            </a:r>
            <a:r>
              <a:rPr lang="en-GB" err="1"/>
              <a:t>atribut</a:t>
            </a:r>
            <a:r>
              <a:rPr lang="en-GB"/>
              <a:t>.</a:t>
            </a:r>
          </a:p>
          <a:p>
            <a:pPr eaLnBrk="1" hangingPunct="1"/>
            <a:r>
              <a:rPr lang="pt-BR"/>
              <a:t>Dacă ar fi permisă, compilatorul </a:t>
            </a:r>
            <a:r>
              <a:rPr lang="pt-BR" b="1"/>
              <a:t>nu ar ști</a:t>
            </a:r>
            <a:r>
              <a:rPr lang="pt-BR"/>
              <a:t> pe care implementare s-o folosească.</a:t>
            </a:r>
          </a:p>
          <a:p>
            <a:pPr eaLnBrk="1" hangingPunct="1"/>
            <a:r>
              <a:rPr lang="en-GB" err="1"/>
              <a:t>În</a:t>
            </a:r>
            <a:r>
              <a:rPr lang="en-GB"/>
              <a:t> </a:t>
            </a:r>
            <a:r>
              <a:rPr lang="en-GB" err="1"/>
              <a:t>schimb</a:t>
            </a:r>
            <a:r>
              <a:rPr lang="en-GB"/>
              <a:t>, Java </a:t>
            </a:r>
            <a:r>
              <a:rPr lang="en-GB" err="1"/>
              <a:t>oferă</a:t>
            </a:r>
            <a:r>
              <a:rPr lang="en-GB"/>
              <a:t> </a:t>
            </a:r>
            <a:r>
              <a:rPr lang="en-GB" b="1" err="1"/>
              <a:t>interfețele</a:t>
            </a:r>
            <a:r>
              <a:rPr lang="en-GB"/>
              <a:t>, care pot fi </a:t>
            </a:r>
            <a:r>
              <a:rPr lang="en-GB" err="1"/>
              <a:t>implementate</a:t>
            </a:r>
            <a:r>
              <a:rPr lang="en-GB"/>
              <a:t> </a:t>
            </a:r>
            <a:r>
              <a:rPr lang="en-GB" err="1"/>
              <a:t>în</a:t>
            </a:r>
            <a:r>
              <a:rPr lang="en-GB"/>
              <a:t> </a:t>
            </a:r>
            <a:r>
              <a:rPr lang="en-GB" err="1"/>
              <a:t>număr</a:t>
            </a:r>
            <a:r>
              <a:rPr lang="en-GB"/>
              <a:t> </a:t>
            </a:r>
            <a:r>
              <a:rPr lang="en-GB" err="1"/>
              <a:t>nelimitat</a:t>
            </a:r>
            <a:r>
              <a:rPr lang="en-GB"/>
              <a:t> </a:t>
            </a:r>
            <a:r>
              <a:rPr lang="en-GB" err="1"/>
              <a:t>și</a:t>
            </a:r>
            <a:r>
              <a:rPr lang="en-GB"/>
              <a:t> </a:t>
            </a:r>
            <a:r>
              <a:rPr lang="en-GB" err="1"/>
              <a:t>oferă</a:t>
            </a:r>
            <a:r>
              <a:rPr lang="en-GB"/>
              <a:t> </a:t>
            </a:r>
            <a:r>
              <a:rPr lang="en-GB" err="1"/>
              <a:t>flexibilitate</a:t>
            </a:r>
            <a:r>
              <a:rPr lang="en-GB"/>
              <a:t> </a:t>
            </a:r>
            <a:r>
              <a:rPr lang="en-GB" err="1"/>
              <a:t>similară</a:t>
            </a:r>
            <a:r>
              <a:rPr lang="en-GB"/>
              <a:t>.</a:t>
            </a:r>
            <a:endParaRPr lang="en-GB" altLang="ro-R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A03952-73FF-1E38-C2CC-651F0C5C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8" name="Rectangle 15367">
            <a:extLst>
              <a:ext uri="{FF2B5EF4-FFF2-40B4-BE49-F238E27FC236}">
                <a16:creationId xmlns:a16="http://schemas.microsoft.com/office/drawing/2014/main" id="{6F434704-AF4D-44B8-EFF0-81A40EEBF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D1AE5389-968B-51AE-54C0-4712001F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50B3B83-3F53-4E22-332B-24F706C3F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marL="360000"/>
            <a:r>
              <a:rPr lang="en-US" altLang="ro-RO" sz="3500" dirty="0" err="1">
                <a:solidFill>
                  <a:srgbClr val="FFFFFF"/>
                </a:solidFill>
              </a:rPr>
              <a:t>Mostenirea</a:t>
            </a:r>
            <a:r>
              <a:rPr lang="en-US" altLang="ro-RO" sz="3500" dirty="0">
                <a:solidFill>
                  <a:srgbClr val="FFFFFF"/>
                </a:solidFill>
              </a:rPr>
              <a:t> </a:t>
            </a:r>
            <a:r>
              <a:rPr lang="en-US" altLang="ro-RO" sz="3500" dirty="0" err="1">
                <a:solidFill>
                  <a:srgbClr val="FFFFFF"/>
                </a:solidFill>
              </a:rPr>
              <a:t>multipla</a:t>
            </a:r>
            <a:endParaRPr lang="en-US" altLang="ro-RO" sz="3500" dirty="0">
              <a:solidFill>
                <a:srgbClr val="FFFFFF"/>
              </a:solidFill>
            </a:endParaRPr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5B8BA052-5F3A-A466-9798-BCF31D010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B2135CB-C172-8D58-C4A9-EC7F9CFA9A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6" y="667888"/>
            <a:ext cx="5976785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dirty="0"/>
              <a:t>➡️ </a:t>
            </a:r>
            <a:r>
              <a:rPr lang="en-GB" i="1" dirty="0"/>
              <a:t>De </a:t>
            </a:r>
            <a:r>
              <a:rPr lang="en-GB" i="1" dirty="0" err="1"/>
              <a:t>ce</a:t>
            </a:r>
            <a:r>
              <a:rPr lang="en-GB" i="1" dirty="0"/>
              <a:t> Java nu </a:t>
            </a:r>
            <a:r>
              <a:rPr lang="en-GB" i="1" dirty="0" err="1"/>
              <a:t>permite</a:t>
            </a:r>
            <a:r>
              <a:rPr lang="en-GB" i="1" dirty="0"/>
              <a:t> </a:t>
            </a:r>
            <a:r>
              <a:rPr lang="en-GB" i="1" dirty="0" err="1"/>
              <a:t>moștenirea</a:t>
            </a:r>
            <a:r>
              <a:rPr lang="en-GB" i="1" dirty="0"/>
              <a:t> </a:t>
            </a:r>
            <a:r>
              <a:rPr lang="en-GB" i="1" dirty="0" err="1"/>
              <a:t>multiplă</a:t>
            </a:r>
            <a:r>
              <a:rPr lang="en-GB" i="1" dirty="0"/>
              <a:t> de </a:t>
            </a:r>
            <a:r>
              <a:rPr lang="en-GB" i="1" dirty="0" err="1"/>
              <a:t>clase</a:t>
            </a:r>
            <a:endParaRPr lang="en-GB" i="1" dirty="0"/>
          </a:p>
          <a:p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"Din A"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"Din B"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❌ Clasa C nu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poate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extinde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două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clase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în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Java</a:t>
            </a:r>
          </a:p>
          <a:p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class C extends A, B { } // EROARE de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compilare</a:t>
            </a:r>
            <a:endParaRPr lang="en-GB" sz="24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eaLnBrk="1" hangingPunct="1"/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760185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6" name="Rectangle 1741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8" name="Rectangle 1741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it-IT" sz="3500" i="1" dirty="0">
                <a:solidFill>
                  <a:srgbClr val="FFFFFF"/>
                </a:solidFill>
              </a:rPr>
              <a:t>Controlul vizibilității în Java – Modificatorii de acces</a:t>
            </a:r>
            <a:endParaRPr lang="en-US" altLang="ro-RO" sz="3500" dirty="0">
              <a:solidFill>
                <a:srgbClr val="FFFFFF"/>
              </a:solidFill>
            </a:endParaRPr>
          </a:p>
        </p:txBody>
      </p:sp>
      <p:sp>
        <p:nvSpPr>
          <p:cNvPr id="17420" name="Rectangle 1741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443468" y="667888"/>
            <a:ext cx="6150543" cy="129046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sz="2000" dirty="0" err="1"/>
              <a:t>Modificatorii</a:t>
            </a:r>
            <a:r>
              <a:rPr lang="en-GB" sz="2000" dirty="0"/>
              <a:t> de </a:t>
            </a:r>
            <a:r>
              <a:rPr lang="en-GB" sz="2000" dirty="0" err="1"/>
              <a:t>acces</a:t>
            </a:r>
            <a:r>
              <a:rPr lang="en-GB" sz="2000" dirty="0"/>
              <a:t> </a:t>
            </a:r>
            <a:r>
              <a:rPr lang="en-GB" sz="2000" dirty="0" err="1"/>
              <a:t>definesc</a:t>
            </a:r>
            <a:r>
              <a:rPr lang="en-GB" sz="2000" dirty="0"/>
              <a:t> </a:t>
            </a:r>
            <a:r>
              <a:rPr lang="en-GB" sz="2000" b="1" dirty="0"/>
              <a:t>cine are </a:t>
            </a:r>
            <a:r>
              <a:rPr lang="en-GB" sz="2000" b="1" dirty="0" err="1"/>
              <a:t>dreptul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vadă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să</a:t>
            </a:r>
            <a:r>
              <a:rPr lang="en-GB" sz="2000" dirty="0"/>
              <a:t> </a:t>
            </a:r>
            <a:r>
              <a:rPr lang="en-GB" sz="2000" dirty="0" err="1"/>
              <a:t>folosească</a:t>
            </a:r>
            <a:r>
              <a:rPr lang="en-GB" sz="2000" dirty="0"/>
              <a:t> </a:t>
            </a:r>
            <a:r>
              <a:rPr lang="en-GB" sz="2000" b="1" dirty="0" err="1"/>
              <a:t>atributele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b="1" dirty="0" err="1"/>
              <a:t>metodele</a:t>
            </a:r>
            <a:r>
              <a:rPr lang="en-GB" sz="2000" dirty="0"/>
              <a:t> </a:t>
            </a:r>
            <a:r>
              <a:rPr lang="en-GB" sz="2000" dirty="0" err="1"/>
              <a:t>unei</a:t>
            </a:r>
            <a:r>
              <a:rPr lang="en-GB" sz="2000" dirty="0"/>
              <a:t> </a:t>
            </a:r>
            <a:r>
              <a:rPr lang="en-GB" sz="2000" dirty="0" err="1"/>
              <a:t>clase</a:t>
            </a:r>
            <a:r>
              <a:rPr lang="en-GB" sz="2000" dirty="0"/>
              <a:t>.</a:t>
            </a:r>
          </a:p>
          <a:p>
            <a:pPr eaLnBrk="1" hangingPunct="1"/>
            <a:r>
              <a:rPr lang="en-GB" sz="2000" dirty="0"/>
              <a:t>Java </a:t>
            </a:r>
            <a:r>
              <a:rPr lang="en-GB" sz="2000" dirty="0" err="1"/>
              <a:t>oferă</a:t>
            </a:r>
            <a:r>
              <a:rPr lang="en-GB" sz="2000" dirty="0"/>
              <a:t> </a:t>
            </a:r>
            <a:r>
              <a:rPr lang="en-GB" sz="2000" b="1" dirty="0"/>
              <a:t>4 </a:t>
            </a:r>
            <a:r>
              <a:rPr lang="en-GB" sz="2000" b="1" dirty="0" err="1"/>
              <a:t>niveluri</a:t>
            </a:r>
            <a:r>
              <a:rPr lang="en-GB" sz="2000" b="1" dirty="0"/>
              <a:t> de </a:t>
            </a:r>
            <a:r>
              <a:rPr lang="en-GB" sz="2000" b="1" dirty="0" err="1"/>
              <a:t>acces</a:t>
            </a:r>
            <a:r>
              <a:rPr lang="en-GB" sz="2000" dirty="0"/>
              <a:t>:</a:t>
            </a:r>
            <a:endParaRPr lang="en-US" altLang="ro-RO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2499A9-9134-30FB-F8EA-1A9641045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57777"/>
              </p:ext>
            </p:extLst>
          </p:nvPr>
        </p:nvGraphicFramePr>
        <p:xfrm>
          <a:off x="3432323" y="2186042"/>
          <a:ext cx="6602865" cy="2244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80">
                  <a:extLst>
                    <a:ext uri="{9D8B030D-6E8A-4147-A177-3AD203B41FA5}">
                      <a16:colId xmlns:a16="http://schemas.microsoft.com/office/drawing/2014/main" val="1124128711"/>
                    </a:ext>
                  </a:extLst>
                </a:gridCol>
                <a:gridCol w="2125060">
                  <a:extLst>
                    <a:ext uri="{9D8B030D-6E8A-4147-A177-3AD203B41FA5}">
                      <a16:colId xmlns:a16="http://schemas.microsoft.com/office/drawing/2014/main" val="667911442"/>
                    </a:ext>
                  </a:extLst>
                </a:gridCol>
                <a:gridCol w="3215025">
                  <a:extLst>
                    <a:ext uri="{9D8B030D-6E8A-4147-A177-3AD203B41FA5}">
                      <a16:colId xmlns:a16="http://schemas.microsoft.com/office/drawing/2014/main" val="3777486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Modificator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Vizibilitate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Descriere scurtă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120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public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oriunde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vizibil din orice clasă sau pachet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4897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protected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în subclase și în același pachet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vizibil doar pentru clase derivate sau din același pachet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349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i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(default)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doar în același pachet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fără cuvânt cheie; vizibil doar în pachet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6775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private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doar</a:t>
                      </a: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în</a:t>
                      </a: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clasă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accesibil</a:t>
                      </a: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doar</a:t>
                      </a: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în</a:t>
                      </a: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interiorul</a:t>
                      </a:r>
                      <a:r>
                        <a:rPr lang="en-GB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clasei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09297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83EBE3-16E7-45F1-45F9-D1E416C4A367}"/>
              </a:ext>
            </a:extLst>
          </p:cNvPr>
          <p:cNvSpPr txBox="1"/>
          <p:nvPr/>
        </p:nvSpPr>
        <p:spPr>
          <a:xfrm>
            <a:off x="3705486" y="4935268"/>
            <a:ext cx="50411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String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protected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String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adresa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default</a:t>
            </a: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String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cnp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Nume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: "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B900A-24F6-0513-CF6C-7035EDA3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6" name="Rectangle 17415">
            <a:extLst>
              <a:ext uri="{FF2B5EF4-FFF2-40B4-BE49-F238E27FC236}">
                <a16:creationId xmlns:a16="http://schemas.microsoft.com/office/drawing/2014/main" id="{4E2BA05F-E98E-275A-7A04-CB7370404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8" name="Rectangle 17417">
            <a:extLst>
              <a:ext uri="{FF2B5EF4-FFF2-40B4-BE49-F238E27FC236}">
                <a16:creationId xmlns:a16="http://schemas.microsoft.com/office/drawing/2014/main" id="{069D82B6-8BA2-7FA2-6BE7-D781861A8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BF5E3957-D7DE-8D4E-9596-72C947A79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it-IT" sz="3500" i="1" dirty="0">
                <a:solidFill>
                  <a:srgbClr val="FFFFFF"/>
                </a:solidFill>
              </a:rPr>
              <a:t>Controlul vizibilității în Java – Modificatorii de acces</a:t>
            </a:r>
            <a:endParaRPr lang="en-US" altLang="ro-RO" sz="3500" dirty="0">
              <a:solidFill>
                <a:srgbClr val="FFFFFF"/>
              </a:solidFill>
            </a:endParaRPr>
          </a:p>
        </p:txBody>
      </p:sp>
      <p:sp>
        <p:nvSpPr>
          <p:cNvPr id="17420" name="Rectangle 17419">
            <a:extLst>
              <a:ext uri="{FF2B5EF4-FFF2-40B4-BE49-F238E27FC236}">
                <a16:creationId xmlns:a16="http://schemas.microsoft.com/office/drawing/2014/main" id="{A7495542-69E6-D428-D975-E05A80C58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537E467-2961-1E78-7394-910B911AF1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59915" y="2793202"/>
            <a:ext cx="6061782" cy="2517471"/>
          </a:xfrm>
        </p:spPr>
        <p:txBody>
          <a:bodyPr anchor="ctr">
            <a:noAutofit/>
          </a:bodyPr>
          <a:lstStyle/>
          <a:p>
            <a:r>
              <a:rPr lang="en-GB" sz="2000" dirty="0" err="1">
                <a:highlight>
                  <a:srgbClr val="FFFFFF"/>
                </a:highlight>
              </a:rPr>
              <a:t>Alegerea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dirty="0" err="1">
                <a:highlight>
                  <a:srgbClr val="FFFFFF"/>
                </a:highlight>
              </a:rPr>
              <a:t>modificatorului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dirty="0" err="1">
                <a:highlight>
                  <a:srgbClr val="FFFFFF"/>
                </a:highlight>
              </a:rPr>
              <a:t>potrivit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dirty="0" err="1">
                <a:highlight>
                  <a:srgbClr val="FFFFFF"/>
                </a:highlight>
              </a:rPr>
              <a:t>este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dirty="0" err="1">
                <a:highlight>
                  <a:srgbClr val="FFFFFF"/>
                </a:highlight>
              </a:rPr>
              <a:t>esențială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dirty="0" err="1">
                <a:highlight>
                  <a:srgbClr val="FFFFFF"/>
                </a:highlight>
              </a:rPr>
              <a:t>pentru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b="1" dirty="0" err="1">
                <a:highlight>
                  <a:srgbClr val="FFFFFF"/>
                </a:highlight>
              </a:rPr>
              <a:t>siguranța</a:t>
            </a:r>
            <a:r>
              <a:rPr lang="en-GB" sz="2000" b="1" dirty="0">
                <a:highlight>
                  <a:srgbClr val="FFFFFF"/>
                </a:highlight>
              </a:rPr>
              <a:t> </a:t>
            </a:r>
            <a:r>
              <a:rPr lang="en-GB" sz="2000" b="1" dirty="0" err="1">
                <a:highlight>
                  <a:srgbClr val="FFFFFF"/>
                </a:highlight>
              </a:rPr>
              <a:t>datelor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dirty="0" err="1">
                <a:highlight>
                  <a:srgbClr val="FFFFFF"/>
                </a:highlight>
              </a:rPr>
              <a:t>și</a:t>
            </a:r>
            <a:r>
              <a:rPr lang="en-GB" sz="2000" dirty="0">
                <a:highlight>
                  <a:srgbClr val="FFFFFF"/>
                </a:highlight>
              </a:rPr>
              <a:t> </a:t>
            </a:r>
            <a:r>
              <a:rPr lang="en-GB" sz="2000" dirty="0" err="1">
                <a:highlight>
                  <a:srgbClr val="FFFFFF"/>
                </a:highlight>
              </a:rPr>
              <a:t>pentru</a:t>
            </a:r>
            <a:r>
              <a:rPr lang="en-GB" sz="2000" dirty="0">
                <a:highlight>
                  <a:srgbClr val="FFFFFF"/>
                </a:highlight>
              </a:rPr>
              <a:t> o </a:t>
            </a:r>
            <a:r>
              <a:rPr lang="en-GB" sz="2000" b="1" dirty="0" err="1">
                <a:highlight>
                  <a:srgbClr val="FFFFFF"/>
                </a:highlight>
              </a:rPr>
              <a:t>bună</a:t>
            </a:r>
            <a:r>
              <a:rPr lang="en-GB" sz="2000" b="1" dirty="0">
                <a:highlight>
                  <a:srgbClr val="FFFFFF"/>
                </a:highlight>
              </a:rPr>
              <a:t> </a:t>
            </a:r>
            <a:r>
              <a:rPr lang="en-GB" sz="2000" b="1" dirty="0" err="1">
                <a:highlight>
                  <a:srgbClr val="FFFFFF"/>
                </a:highlight>
              </a:rPr>
              <a:t>structurare</a:t>
            </a:r>
            <a:r>
              <a:rPr lang="en-GB" sz="2000" b="1" dirty="0">
                <a:highlight>
                  <a:srgbClr val="FFFFFF"/>
                </a:highlight>
              </a:rPr>
              <a:t> a </a:t>
            </a:r>
            <a:r>
              <a:rPr lang="en-GB" sz="2000" b="1" dirty="0" err="1">
                <a:highlight>
                  <a:srgbClr val="FFFFFF"/>
                </a:highlight>
              </a:rPr>
              <a:t>ierarhiei</a:t>
            </a:r>
            <a:r>
              <a:rPr lang="en-GB" sz="2000" b="1" dirty="0">
                <a:highlight>
                  <a:srgbClr val="FFFFFF"/>
                </a:highlight>
              </a:rPr>
              <a:t> </a:t>
            </a:r>
            <a:r>
              <a:rPr lang="en-GB" sz="2000" b="1" dirty="0" err="1">
                <a:highlight>
                  <a:srgbClr val="FFFFFF"/>
                </a:highlight>
              </a:rPr>
              <a:t>claselor</a:t>
            </a:r>
            <a:r>
              <a:rPr lang="en-GB" sz="2000" dirty="0">
                <a:highlight>
                  <a:srgbClr val="FFFFFF"/>
                </a:highlight>
              </a:rPr>
              <a:t>.</a:t>
            </a:r>
            <a:endParaRPr lang="en-GB" sz="2000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String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protected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varsta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String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getNume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afisare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System.out.println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nume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); ❌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inaccesibil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r>
              <a:rPr lang="sv-SE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System</a:t>
            </a:r>
            <a:r>
              <a:rPr lang="sv-SE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sv-SE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sv-SE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sv-SE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sv-SE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sv-SE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"Varsta: "</a:t>
            </a:r>
            <a:r>
              <a:rPr lang="sv-SE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sv-SE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varsta</a:t>
            </a:r>
            <a:r>
              <a:rPr lang="sv-SE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sv-SE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✅</a:t>
            </a: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Nume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: "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getNume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✅</a:t>
            </a: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eaLnBrk="1" hangingPunct="1"/>
            <a:endParaRPr lang="en-US" altLang="ro-RO" sz="2000" dirty="0"/>
          </a:p>
        </p:txBody>
      </p:sp>
    </p:spTree>
    <p:extLst>
      <p:ext uri="{BB962C8B-B14F-4D97-AF65-F5344CB8AC3E}">
        <p14:creationId xmlns:p14="http://schemas.microsoft.com/office/powerpoint/2010/main" val="3027111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/>
              <a:t>Modificatori de acces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08063" y="1763713"/>
            <a:ext cx="8521700" cy="99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ro-RO" sz="3000"/>
              <a:t>Tabela completa a drepturilor de acces in Java</a:t>
            </a:r>
            <a:endParaRPr lang="en-US" altLang="ro-RO" sz="3000"/>
          </a:p>
        </p:txBody>
      </p:sp>
      <p:graphicFrame>
        <p:nvGraphicFramePr>
          <p:cNvPr id="109611" name="Group 4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59463898"/>
              </p:ext>
            </p:extLst>
          </p:nvPr>
        </p:nvGraphicFramePr>
        <p:xfrm>
          <a:off x="1187450" y="2455863"/>
          <a:ext cx="8205788" cy="4475205"/>
        </p:xfrm>
        <a:graphic>
          <a:graphicData uri="http://schemas.openxmlformats.org/drawingml/2006/table">
            <a:tbl>
              <a:tblPr/>
              <a:tblGrid>
                <a:gridCol w="164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32456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Modificator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Clasa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din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acelasi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pachet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Clasa din alt pachet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Subclasa din acelasi pachet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Subclasa din alt pachet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843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668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256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protected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939"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(default, package)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07950" marR="0" lvl="0" indent="-107950" algn="ctr" defTabSz="10080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88" name="Rectangle 2048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0" name="Rectangle 2048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lIns="101494" tIns="50748" rIns="101494" bIns="50748" anchor="ctr">
            <a:normAutofit/>
          </a:bodyPr>
          <a:lstStyle/>
          <a:p>
            <a:r>
              <a:rPr lang="en-GB" sz="3500" i="1" dirty="0">
                <a:solidFill>
                  <a:srgbClr val="FFFFFF"/>
                </a:solidFill>
              </a:rPr>
              <a:t>Modificatori </a:t>
            </a:r>
            <a:r>
              <a:rPr lang="en-GB" sz="3500" i="1" dirty="0" err="1">
                <a:solidFill>
                  <a:srgbClr val="FFFFFF"/>
                </a:solidFill>
              </a:rPr>
              <a:t>utilizați</a:t>
            </a:r>
            <a:r>
              <a:rPr lang="en-GB" sz="3500" i="1" dirty="0">
                <a:solidFill>
                  <a:srgbClr val="FFFFFF"/>
                </a:solidFill>
              </a:rPr>
              <a:t> </a:t>
            </a:r>
            <a:r>
              <a:rPr lang="en-GB" sz="3500" i="1" dirty="0" err="1">
                <a:solidFill>
                  <a:srgbClr val="FFFFFF"/>
                </a:solidFill>
              </a:rPr>
              <a:t>pentru</a:t>
            </a:r>
            <a:r>
              <a:rPr lang="en-GB" sz="3500" i="1" dirty="0">
                <a:solidFill>
                  <a:srgbClr val="FFFFFF"/>
                </a:solidFill>
              </a:rPr>
              <a:t> </a:t>
            </a:r>
            <a:r>
              <a:rPr lang="en-GB" sz="3500" i="1" dirty="0" err="1">
                <a:solidFill>
                  <a:srgbClr val="FFFFFF"/>
                </a:solidFill>
              </a:rPr>
              <a:t>clase</a:t>
            </a:r>
            <a:endParaRPr lang="en-US" altLang="ro-RO" sz="3500" dirty="0">
              <a:solidFill>
                <a:srgbClr val="FFFFFF"/>
              </a:solidFill>
            </a:endParaRPr>
          </a:p>
        </p:txBody>
      </p:sp>
      <p:sp>
        <p:nvSpPr>
          <p:cNvPr id="20492" name="Rectangle 2049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732002" y="667888"/>
            <a:ext cx="6013800" cy="6223898"/>
          </a:xfrm>
        </p:spPr>
        <p:txBody>
          <a:bodyPr lIns="101494" tIns="50748" rIns="101494" bIns="50748" anchor="ctr">
            <a:normAutofit fontScale="92500"/>
          </a:bodyPr>
          <a:lstStyle/>
          <a:p>
            <a:pPr eaLnBrk="1" hangingPunct="1"/>
            <a:r>
              <a:rPr lang="en-US" altLang="ro-RO" sz="2800" dirty="0"/>
              <a:t>Sunt </a:t>
            </a:r>
            <a:r>
              <a:rPr lang="en-US" altLang="ro-RO" sz="2800" dirty="0" err="1"/>
              <a:t>folositi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pentru</a:t>
            </a:r>
            <a:r>
              <a:rPr lang="en-US" altLang="ro-RO" sz="2800" dirty="0"/>
              <a:t> a </a:t>
            </a:r>
            <a:r>
              <a:rPr lang="en-US" altLang="ro-RO" sz="2800" dirty="0" err="1"/>
              <a:t>schimba</a:t>
            </a:r>
            <a:r>
              <a:rPr lang="en-US" altLang="ro-RO" sz="2800" dirty="0"/>
              <a:t> </a:t>
            </a:r>
            <a:r>
              <a:rPr lang="en-US" altLang="ro-RO" sz="2800" dirty="0" err="1"/>
              <a:t>unele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caracteristici</a:t>
            </a:r>
            <a:r>
              <a:rPr lang="en-US" altLang="ro-RO" sz="2800" dirty="0"/>
              <a:t> ale </a:t>
            </a:r>
            <a:r>
              <a:rPr lang="en-US" altLang="ro-RO" sz="2800" dirty="0" err="1"/>
              <a:t>claselor</a:t>
            </a:r>
            <a:r>
              <a:rPr lang="en-US" altLang="ro-RO" sz="2800" dirty="0"/>
              <a:t>. Se </a:t>
            </a:r>
            <a:r>
              <a:rPr lang="en-US" altLang="ro-RO" sz="2800" dirty="0" err="1"/>
              <a:t>aplic</a:t>
            </a:r>
            <a:r>
              <a:rPr lang="ro-RO" altLang="ro-RO" sz="2800" dirty="0"/>
              <a:t>ă înainte de numele clasei în momentul declarării acesteia. Există două categorii de modificatori: de </a:t>
            </a:r>
            <a:r>
              <a:rPr lang="ro-RO" altLang="ro-RO" sz="2800" b="1" dirty="0"/>
              <a:t>acces</a:t>
            </a:r>
            <a:r>
              <a:rPr lang="ro-RO" altLang="ro-RO" sz="2800" dirty="0"/>
              <a:t> şi de </a:t>
            </a:r>
            <a:r>
              <a:rPr lang="ro-RO" altLang="ro-RO" sz="2800" b="1" dirty="0"/>
              <a:t>tip.</a:t>
            </a:r>
            <a:endParaRPr lang="en-US" altLang="ro-RO" sz="2800" dirty="0"/>
          </a:p>
          <a:p>
            <a:pPr eaLnBrk="1" hangingPunct="1"/>
            <a:r>
              <a:rPr lang="en-US" altLang="ro-RO" sz="2800" dirty="0" err="1"/>
              <a:t>Modificatorii</a:t>
            </a:r>
            <a:r>
              <a:rPr lang="en-US" altLang="ro-RO" sz="2800" dirty="0"/>
              <a:t> de </a:t>
            </a:r>
            <a:r>
              <a:rPr lang="en-US" altLang="ro-RO" sz="2800" dirty="0" err="1"/>
              <a:t>acces</a:t>
            </a:r>
            <a:r>
              <a:rPr lang="en-US" altLang="ro-RO" sz="2800" dirty="0"/>
              <a:t> sunt </a:t>
            </a:r>
            <a:r>
              <a:rPr lang="en-US" altLang="ro-RO" sz="2800" dirty="0" err="1"/>
              <a:t>folosiţi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pentru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stabilirea</a:t>
            </a:r>
            <a:r>
              <a:rPr lang="en-US" altLang="ro-RO" sz="2800" dirty="0"/>
              <a:t> </a:t>
            </a:r>
            <a:r>
              <a:rPr lang="en-US" altLang="ro-RO" sz="2800" dirty="0" err="1"/>
              <a:t>modului</a:t>
            </a:r>
            <a:r>
              <a:rPr lang="en-US" altLang="ro-RO" sz="2800" dirty="0"/>
              <a:t> intern </a:t>
            </a:r>
            <a:r>
              <a:rPr lang="en-US" altLang="ro-RO" sz="2800" dirty="0" err="1"/>
              <a:t>şi</a:t>
            </a:r>
            <a:r>
              <a:rPr lang="en-US" altLang="ro-RO" sz="2800" dirty="0"/>
              <a:t> extern de </a:t>
            </a:r>
            <a:r>
              <a:rPr lang="en-US" altLang="ro-RO" sz="2800" dirty="0" err="1"/>
              <a:t>utilizare</a:t>
            </a:r>
            <a:r>
              <a:rPr lang="en-US" altLang="ro-RO" sz="2800" dirty="0"/>
              <a:t> a </a:t>
            </a:r>
            <a:r>
              <a:rPr lang="en-US" altLang="ro-RO" sz="2800" dirty="0" err="1"/>
              <a:t>clasei</a:t>
            </a:r>
            <a:r>
              <a:rPr lang="en-US" altLang="ro-RO" sz="2800" dirty="0"/>
              <a:t>. De </a:t>
            </a:r>
            <a:r>
              <a:rPr lang="en-US" altLang="ro-RO" sz="2800" dirty="0" err="1"/>
              <a:t>fapt</a:t>
            </a:r>
            <a:r>
              <a:rPr lang="en-US" altLang="ro-RO" sz="2800" dirty="0"/>
              <a:t> se </a:t>
            </a:r>
            <a:r>
              <a:rPr lang="en-US" altLang="ro-RO" sz="2800" dirty="0" err="1"/>
              <a:t>stabileşte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gradul</a:t>
            </a:r>
            <a:r>
              <a:rPr lang="en-US" altLang="ro-RO" sz="2800" dirty="0"/>
              <a:t> de </a:t>
            </a:r>
            <a:r>
              <a:rPr lang="en-US" altLang="ro-RO" sz="2800" dirty="0" err="1"/>
              <a:t>vizibilitate</a:t>
            </a:r>
            <a:r>
              <a:rPr lang="en-US" altLang="ro-RO" sz="2800" dirty="0"/>
              <a:t> al </a:t>
            </a:r>
            <a:r>
              <a:rPr lang="en-US" altLang="ro-RO" sz="2800" dirty="0" err="1"/>
              <a:t>unor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porţiuni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sau</a:t>
            </a:r>
            <a:r>
              <a:rPr lang="en-US" altLang="ro-RO" sz="2800" dirty="0"/>
              <a:t> al </a:t>
            </a:r>
            <a:r>
              <a:rPr lang="en-US" altLang="ro-RO" sz="2800" dirty="0" err="1"/>
              <a:t>întregului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obiect</a:t>
            </a:r>
            <a:r>
              <a:rPr lang="en-US" altLang="ro-RO" sz="2800" dirty="0"/>
              <a:t> precum </a:t>
            </a:r>
            <a:r>
              <a:rPr lang="en-US" altLang="ro-RO" sz="2800" dirty="0" err="1"/>
              <a:t>şi</a:t>
            </a:r>
            <a:r>
              <a:rPr lang="en-US" altLang="ro-RO" sz="2800" dirty="0"/>
              <a:t> ale </a:t>
            </a:r>
            <a:r>
              <a:rPr lang="en-US" altLang="ro-RO" sz="2800" dirty="0" err="1"/>
              <a:t>metodelor</a:t>
            </a:r>
            <a:r>
              <a:rPr lang="en-US" altLang="ro-RO" sz="2800" dirty="0"/>
              <a:t> </a:t>
            </a:r>
            <a:r>
              <a:rPr lang="en-US" altLang="ro-RO" sz="2800" dirty="0" err="1"/>
              <a:t>acestuia</a:t>
            </a:r>
            <a:endParaRPr lang="en-US" altLang="ro-RO" sz="2800" dirty="0"/>
          </a:p>
          <a:p>
            <a:pPr eaLnBrk="1" hangingPunct="1"/>
            <a:r>
              <a:rPr lang="en-US" altLang="ro-RO" sz="2800" dirty="0" err="1"/>
              <a:t>Modificatorii</a:t>
            </a:r>
            <a:r>
              <a:rPr lang="en-US" altLang="ro-RO" sz="2800" dirty="0"/>
              <a:t> de tip sunt </a:t>
            </a:r>
            <a:r>
              <a:rPr lang="en-US" altLang="ro-RO" sz="2800" dirty="0" err="1"/>
              <a:t>folosiţi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pentru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specificarea</a:t>
            </a:r>
            <a:r>
              <a:rPr lang="en-US" altLang="ro-RO" sz="2800" dirty="0"/>
              <a:t> </a:t>
            </a:r>
            <a:r>
              <a:rPr lang="en-US" altLang="ro-RO" sz="2800" dirty="0" err="1"/>
              <a:t>categoriei</a:t>
            </a:r>
            <a:r>
              <a:rPr lang="en-US" altLang="ro-RO" sz="2800" dirty="0"/>
              <a:t> din care face </a:t>
            </a:r>
            <a:r>
              <a:rPr lang="en-US" altLang="ro-RO" sz="2800" dirty="0" err="1"/>
              <a:t>parte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adică</a:t>
            </a:r>
            <a:r>
              <a:rPr lang="en-US" altLang="ro-RO" sz="2800" dirty="0"/>
              <a:t> </a:t>
            </a:r>
            <a:r>
              <a:rPr lang="en-US" altLang="ro-RO" sz="2800" dirty="0" err="1"/>
              <a:t>este</a:t>
            </a:r>
            <a:r>
              <a:rPr lang="en-US" altLang="ro-RO" sz="2800" dirty="0"/>
              <a:t> o </a:t>
            </a:r>
            <a:r>
              <a:rPr lang="en-US" altLang="ro-RO" sz="2800" dirty="0" err="1"/>
              <a:t>clasă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propriu-zisă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sau</a:t>
            </a:r>
            <a:r>
              <a:rPr lang="en-US" altLang="ro-RO" sz="2800" dirty="0"/>
              <a:t> </a:t>
            </a:r>
            <a:r>
              <a:rPr lang="en-US" altLang="ro-RO" sz="2800" dirty="0" err="1"/>
              <a:t>este</a:t>
            </a:r>
            <a:r>
              <a:rPr lang="en-US" altLang="ro-RO" sz="2800" dirty="0"/>
              <a:t> un model </a:t>
            </a:r>
            <a:r>
              <a:rPr lang="en-US" altLang="ro-RO" sz="2800" dirty="0" err="1"/>
              <a:t>pentru</a:t>
            </a:r>
            <a:r>
              <a:rPr lang="en-US" altLang="ro-RO" sz="2800" dirty="0"/>
              <a:t> </a:t>
            </a:r>
            <a:r>
              <a:rPr lang="en-US" altLang="ro-RO" sz="2800" dirty="0" err="1"/>
              <a:t>derivarea</a:t>
            </a:r>
            <a:r>
              <a:rPr lang="en-US" altLang="ro-RO" sz="2800" dirty="0"/>
              <a:t> </a:t>
            </a:r>
            <a:r>
              <a:rPr lang="en-US" altLang="ro-RO" sz="2800" dirty="0" err="1"/>
              <a:t>altor</a:t>
            </a:r>
            <a:r>
              <a:rPr lang="en-US" altLang="ro-RO" sz="2800" dirty="0"/>
              <a:t> </a:t>
            </a:r>
            <a:r>
              <a:rPr lang="en-US" altLang="ro-RO" sz="2800" dirty="0" err="1"/>
              <a:t>clase</a:t>
            </a:r>
            <a:endParaRPr lang="en-US" altLang="ro-RO" sz="2800" dirty="0"/>
          </a:p>
          <a:p>
            <a:pPr eaLnBrk="1" hangingPunct="1"/>
            <a:endParaRPr lang="en-US" altLang="ro-RO" sz="280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2" name="Rectangle 21511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4" name="Rectangle 2151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ro-RO" altLang="ro-RO" sz="3500">
                <a:solidFill>
                  <a:srgbClr val="FFFFFF"/>
                </a:solidFill>
              </a:rPr>
              <a:t>Modificator de tip - public</a:t>
            </a:r>
          </a:p>
        </p:txBody>
      </p:sp>
      <p:sp>
        <p:nvSpPr>
          <p:cNvPr id="21516" name="Rectangle 21515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920806" y="667888"/>
            <a:ext cx="5976785" cy="1366364"/>
          </a:xfrm>
        </p:spPr>
        <p:txBody>
          <a:bodyPr anchor="ctr">
            <a:normAutofit/>
          </a:bodyPr>
          <a:lstStyle/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it-IT" dirty="0"/>
              <a:t>Modificatorii de clasă definesc </a:t>
            </a:r>
            <a:r>
              <a:rPr lang="it-IT" b="1" dirty="0"/>
              <a:t>vizibilitatea</a:t>
            </a:r>
            <a:r>
              <a:rPr lang="it-IT" dirty="0"/>
              <a:t> și </a:t>
            </a:r>
            <a:r>
              <a:rPr lang="it-IT" b="1" dirty="0"/>
              <a:t>comportamentul structural</a:t>
            </a:r>
            <a:r>
              <a:rPr lang="it-IT" dirty="0"/>
              <a:t> al unei clase.</a:t>
            </a:r>
            <a:endParaRPr lang="ro-RO" altLang="ro-RO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4CC4FC-C36B-1282-A609-1AD4442F8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443710"/>
              </p:ext>
            </p:extLst>
          </p:nvPr>
        </p:nvGraphicFramePr>
        <p:xfrm>
          <a:off x="3393346" y="2261937"/>
          <a:ext cx="6720417" cy="4085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139">
                  <a:extLst>
                    <a:ext uri="{9D8B030D-6E8A-4147-A177-3AD203B41FA5}">
                      <a16:colId xmlns:a16="http://schemas.microsoft.com/office/drawing/2014/main" val="1024281199"/>
                    </a:ext>
                  </a:extLst>
                </a:gridCol>
                <a:gridCol w="2240139">
                  <a:extLst>
                    <a:ext uri="{9D8B030D-6E8A-4147-A177-3AD203B41FA5}">
                      <a16:colId xmlns:a16="http://schemas.microsoft.com/office/drawing/2014/main" val="1463661607"/>
                    </a:ext>
                  </a:extLst>
                </a:gridCol>
                <a:gridCol w="2240139">
                  <a:extLst>
                    <a:ext uri="{9D8B030D-6E8A-4147-A177-3AD203B41FA5}">
                      <a16:colId xmlns:a16="http://schemas.microsoft.com/office/drawing/2014/main" val="1123625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Modificator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Exemplu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054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public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Clasa este accesibilă din orice pachet.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public class Persoana {}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47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/>
                        <a:t>(default)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Accesibilă doar în același pachet (fără cuvânt cheie).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class Persoana {}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72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final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Clasa </a:t>
                      </a:r>
                      <a:r>
                        <a:rPr lang="it-IT" b="1"/>
                        <a:t>nu poate fi moștenită</a:t>
                      </a:r>
                      <a:r>
                        <a:rPr lang="it-IT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final class Constante {}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63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abstract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Clasa </a:t>
                      </a:r>
                      <a:r>
                        <a:rPr lang="pt-BR" b="1"/>
                        <a:t>nu poate fi instanțiată</a:t>
                      </a:r>
                      <a:r>
                        <a:rPr lang="pt-BR"/>
                        <a:t>; poate conține metode abstracte.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abstract class </a:t>
                      </a:r>
                      <a:r>
                        <a:rPr lang="en-GB" dirty="0" err="1">
                          <a:latin typeface="Courier New" panose="02070309020205020404" pitchFamily="49" charset="0"/>
                        </a:rPr>
                        <a:t>Figura</a:t>
                      </a:r>
                      <a:r>
                        <a:rPr lang="en-GB" dirty="0">
                          <a:latin typeface="Courier New" panose="02070309020205020404" pitchFamily="49" charset="0"/>
                        </a:rPr>
                        <a:t> {}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1966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28856-BA4D-C505-E71D-A30F2566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2" name="Rectangle 21511">
            <a:extLst>
              <a:ext uri="{FF2B5EF4-FFF2-40B4-BE49-F238E27FC236}">
                <a16:creationId xmlns:a16="http://schemas.microsoft.com/office/drawing/2014/main" id="{44F812D9-3D45-E799-A37F-0F86A7A19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4" name="Rectangle 21513">
            <a:extLst>
              <a:ext uri="{FF2B5EF4-FFF2-40B4-BE49-F238E27FC236}">
                <a16:creationId xmlns:a16="http://schemas.microsoft.com/office/drawing/2014/main" id="{F5B6AE52-2959-05DE-0DFF-504D359EC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F1ADAFD0-0108-73AC-5EFA-F68C23C2F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ro-RO" altLang="ro-RO" sz="3500">
                <a:solidFill>
                  <a:srgbClr val="FFFFFF"/>
                </a:solidFill>
              </a:rPr>
              <a:t>Modificator de tip - public</a:t>
            </a:r>
          </a:p>
        </p:txBody>
      </p:sp>
      <p:sp>
        <p:nvSpPr>
          <p:cNvPr id="21516" name="Rectangle 21515">
            <a:extLst>
              <a:ext uri="{FF2B5EF4-FFF2-40B4-BE49-F238E27FC236}">
                <a16:creationId xmlns:a16="http://schemas.microsoft.com/office/drawing/2014/main" id="{8EA27D2A-198D-8C0F-E91F-D6E4608CC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989C40F-0CBE-A457-1E35-8133506FA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66858" y="1502987"/>
            <a:ext cx="5919810" cy="4326269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b="1" dirty="0"/>
              <a:t>🟢 </a:t>
            </a:r>
            <a:r>
              <a:rPr lang="en-GB" b="1" dirty="0" err="1"/>
              <a:t>Observații</a:t>
            </a:r>
            <a:r>
              <a:rPr lang="en-GB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public</a:t>
            </a:r>
            <a:r>
              <a:rPr lang="en-GB" dirty="0"/>
              <a:t> → </a:t>
            </a:r>
            <a:r>
              <a:rPr lang="en-GB" dirty="0" err="1"/>
              <a:t>vizibilitate</a:t>
            </a:r>
            <a:r>
              <a:rPr lang="en-GB" dirty="0"/>
              <a:t> </a:t>
            </a:r>
            <a:r>
              <a:rPr lang="en-GB" dirty="0" err="1"/>
              <a:t>maximă</a:t>
            </a:r>
            <a:r>
              <a:rPr lang="en-GB" dirty="0"/>
              <a:t> (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orice</a:t>
            </a:r>
            <a:r>
              <a:rPr lang="en-GB" dirty="0"/>
              <a:t> </a:t>
            </a:r>
            <a:r>
              <a:rPr lang="en-GB" dirty="0" err="1"/>
              <a:t>fișier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pachet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final</a:t>
            </a:r>
            <a:r>
              <a:rPr lang="en-GB" dirty="0"/>
              <a:t> → </a:t>
            </a:r>
            <a:r>
              <a:rPr lang="en-GB" dirty="0" err="1"/>
              <a:t>blochează</a:t>
            </a:r>
            <a:r>
              <a:rPr lang="en-GB" dirty="0"/>
              <a:t> </a:t>
            </a:r>
            <a:r>
              <a:rPr lang="en-GB" dirty="0" err="1"/>
              <a:t>moștenirea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abstract</a:t>
            </a:r>
            <a:r>
              <a:rPr lang="en-GB" dirty="0"/>
              <a:t> → cere </a:t>
            </a:r>
            <a:r>
              <a:rPr lang="en-GB" dirty="0" err="1"/>
              <a:t>definirea</a:t>
            </a:r>
            <a:r>
              <a:rPr lang="en-GB" dirty="0"/>
              <a:t> </a:t>
            </a:r>
            <a:r>
              <a:rPr lang="en-GB" dirty="0" err="1"/>
              <a:t>metodelor</a:t>
            </a:r>
            <a:r>
              <a:rPr lang="en-GB" dirty="0"/>
              <a:t> </a:t>
            </a:r>
            <a:r>
              <a:rPr lang="en-GB" dirty="0" err="1"/>
              <a:t>lipsă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clasele</a:t>
            </a:r>
            <a:r>
              <a:rPr lang="en-GB" dirty="0"/>
              <a:t> derivate.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Nu se pot </a:t>
            </a:r>
            <a:r>
              <a:rPr lang="en-GB" dirty="0" err="1"/>
              <a:t>combina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</a:rPr>
              <a:t>final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</a:rPr>
              <a:t>abstract</a:t>
            </a:r>
            <a:r>
              <a:rPr lang="en-GB" dirty="0"/>
              <a:t> (</a:t>
            </a:r>
            <a:r>
              <a:rPr lang="en-GB" dirty="0" err="1"/>
              <a:t>ar</a:t>
            </a:r>
            <a:r>
              <a:rPr lang="en-GB" dirty="0"/>
              <a:t> fi </a:t>
            </a:r>
            <a:r>
              <a:rPr lang="en-GB" dirty="0" err="1"/>
              <a:t>contradictoriu</a:t>
            </a:r>
            <a:r>
              <a:rPr lang="en-GB" dirty="0"/>
              <a:t>).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ro-RO" altLang="ro-RO" dirty="0"/>
          </a:p>
        </p:txBody>
      </p:sp>
    </p:spTree>
    <p:extLst>
      <p:ext uri="{BB962C8B-B14F-4D97-AF65-F5344CB8AC3E}">
        <p14:creationId xmlns:p14="http://schemas.microsoft.com/office/powerpoint/2010/main" val="296084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6" name="Rectangle 2253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8" name="Rectangle 2253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Modificator de tip - Abstract</a:t>
            </a:r>
          </a:p>
        </p:txBody>
      </p:sp>
      <p:sp>
        <p:nvSpPr>
          <p:cNvPr id="22540" name="Rectangle 2253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lIns="101494" tIns="50748" rIns="101494" bIns="50748" anchor="ctr">
            <a:normAutofit/>
          </a:bodyPr>
          <a:lstStyle/>
          <a:p>
            <a:pPr>
              <a:buNone/>
            </a:pPr>
            <a:r>
              <a:rPr lang="en-GB" b="1" dirty="0"/>
              <a:t>Ce </a:t>
            </a:r>
            <a:r>
              <a:rPr lang="en-GB" b="1" dirty="0" err="1"/>
              <a:t>este</a:t>
            </a:r>
            <a:r>
              <a:rPr lang="en-GB" b="1" dirty="0"/>
              <a:t> o </a:t>
            </a:r>
            <a:r>
              <a:rPr lang="en-GB" b="1" dirty="0" err="1"/>
              <a:t>clasă</a:t>
            </a:r>
            <a:r>
              <a:rPr lang="en-GB" b="1" dirty="0"/>
              <a:t> </a:t>
            </a:r>
            <a:r>
              <a:rPr lang="en-GB" b="1" dirty="0" err="1"/>
              <a:t>abstractă</a:t>
            </a: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 </a:t>
            </a:r>
            <a:r>
              <a:rPr lang="en-GB" b="1" dirty="0" err="1"/>
              <a:t>clasă</a:t>
            </a:r>
            <a:r>
              <a:rPr lang="en-GB" b="1" dirty="0"/>
              <a:t> </a:t>
            </a:r>
            <a:r>
              <a:rPr lang="en-GB" b="1" dirty="0" err="1"/>
              <a:t>abstractă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o </a:t>
            </a:r>
            <a:r>
              <a:rPr lang="en-GB" dirty="0" err="1"/>
              <a:t>clasă</a:t>
            </a:r>
            <a:r>
              <a:rPr lang="en-GB" dirty="0"/>
              <a:t> </a:t>
            </a:r>
            <a:r>
              <a:rPr lang="en-GB" b="1" dirty="0" err="1"/>
              <a:t>incompletă</a:t>
            </a:r>
            <a:r>
              <a:rPr lang="en-GB" dirty="0"/>
              <a:t>, care </a:t>
            </a:r>
            <a:r>
              <a:rPr lang="en-GB" dirty="0" err="1"/>
              <a:t>servește</a:t>
            </a:r>
            <a:r>
              <a:rPr lang="en-GB" dirty="0"/>
              <a:t> ca </a:t>
            </a:r>
            <a:r>
              <a:rPr lang="en-GB" b="1" dirty="0"/>
              <a:t>model general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alte</a:t>
            </a:r>
            <a:r>
              <a:rPr lang="en-GB" dirty="0"/>
              <a:t> </a:t>
            </a:r>
            <a:r>
              <a:rPr lang="en-GB" dirty="0" err="1"/>
              <a:t>clase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Poate</a:t>
            </a:r>
            <a:r>
              <a:rPr lang="en-GB" dirty="0"/>
              <a:t> </a:t>
            </a:r>
            <a:r>
              <a:rPr lang="en-GB" dirty="0" err="1"/>
              <a:t>conține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b="1" dirty="0" err="1"/>
              <a:t>abstracte</a:t>
            </a:r>
            <a:r>
              <a:rPr lang="en-GB" dirty="0"/>
              <a:t> (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implementare</a:t>
            </a:r>
            <a:r>
              <a:rPr lang="en-GB" dirty="0"/>
              <a:t>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b="1" dirty="0" err="1"/>
              <a:t>obișnuite</a:t>
            </a:r>
            <a:r>
              <a:rPr lang="en-GB" dirty="0"/>
              <a:t> (cu cod);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variabile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b="1" dirty="0" err="1"/>
              <a:t>constructori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Nu </a:t>
            </a: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b="1" dirty="0" err="1"/>
              <a:t>instanțiată</a:t>
            </a:r>
            <a:r>
              <a:rPr lang="en-GB" dirty="0"/>
              <a:t> direct — se </a:t>
            </a:r>
            <a:r>
              <a:rPr lang="en-GB" dirty="0" err="1"/>
              <a:t>folosește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clasele</a:t>
            </a:r>
            <a:r>
              <a:rPr lang="en-GB" dirty="0"/>
              <a:t> derivate.</a:t>
            </a:r>
          </a:p>
          <a:p>
            <a:pPr>
              <a:buNone/>
            </a:pPr>
            <a:r>
              <a:rPr lang="ro-RO" altLang="ro-RO" dirty="0"/>
              <a:t> </a:t>
            </a:r>
            <a:r>
              <a:rPr lang="en-GB" b="1" dirty="0"/>
              <a:t>Ce </a:t>
            </a:r>
            <a:r>
              <a:rPr lang="en-GB" b="1" dirty="0" err="1"/>
              <a:t>este</a:t>
            </a:r>
            <a:r>
              <a:rPr lang="en-GB" b="1" dirty="0"/>
              <a:t> o </a:t>
            </a:r>
            <a:r>
              <a:rPr lang="en-GB" b="1" dirty="0" err="1"/>
              <a:t>metodă</a:t>
            </a:r>
            <a:r>
              <a:rPr lang="en-GB" b="1" dirty="0"/>
              <a:t> </a:t>
            </a:r>
            <a:r>
              <a:rPr lang="en-GB" b="1" dirty="0" err="1"/>
              <a:t>abstractă</a:t>
            </a: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 </a:t>
            </a:r>
            <a:r>
              <a:rPr lang="en-GB" dirty="0" err="1"/>
              <a:t>declară</a:t>
            </a:r>
            <a:r>
              <a:rPr lang="en-GB" dirty="0"/>
              <a:t> cu </a:t>
            </a:r>
            <a:r>
              <a:rPr lang="en-GB" dirty="0" err="1"/>
              <a:t>cuvântul</a:t>
            </a:r>
            <a:r>
              <a:rPr lang="en-GB" dirty="0"/>
              <a:t> </a:t>
            </a:r>
            <a:r>
              <a:rPr lang="en-GB" dirty="0" err="1"/>
              <a:t>cheie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</a:rPr>
              <a:t>abstract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Nu are </a:t>
            </a:r>
            <a:r>
              <a:rPr lang="en-GB" dirty="0" err="1"/>
              <a:t>corp</a:t>
            </a:r>
            <a:r>
              <a:rPr lang="en-GB" dirty="0"/>
              <a:t> (nu </a:t>
            </a:r>
            <a:r>
              <a:rPr lang="en-GB" dirty="0" err="1"/>
              <a:t>conține</a:t>
            </a:r>
            <a:r>
              <a:rPr lang="en-GB" dirty="0"/>
              <a:t> cod).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b="1" dirty="0" err="1"/>
              <a:t>redefinită</a:t>
            </a:r>
            <a:r>
              <a:rPr lang="en-GB" b="1" dirty="0"/>
              <a:t> (override)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subclasele</a:t>
            </a:r>
            <a:r>
              <a:rPr lang="en-GB" dirty="0"/>
              <a:t> concrete.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ro-RO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89857-2244-6540-FB07-C19F7189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6" name="Rectangle 22535">
            <a:extLst>
              <a:ext uri="{FF2B5EF4-FFF2-40B4-BE49-F238E27FC236}">
                <a16:creationId xmlns:a16="http://schemas.microsoft.com/office/drawing/2014/main" id="{04A138C0-39CD-41E8-09CD-8C53FF868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8" name="Rectangle 22537">
            <a:extLst>
              <a:ext uri="{FF2B5EF4-FFF2-40B4-BE49-F238E27FC236}">
                <a16:creationId xmlns:a16="http://schemas.microsoft.com/office/drawing/2014/main" id="{BA173E9A-B68D-2678-4462-7EEACE7A9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2E2C768-BCB1-639F-3A03-74B73567B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Modificator de tip - Abstract</a:t>
            </a:r>
          </a:p>
        </p:txBody>
      </p:sp>
      <p:sp>
        <p:nvSpPr>
          <p:cNvPr id="22540" name="Rectangle 22539">
            <a:extLst>
              <a:ext uri="{FF2B5EF4-FFF2-40B4-BE49-F238E27FC236}">
                <a16:creationId xmlns:a16="http://schemas.microsoft.com/office/drawing/2014/main" id="{2CCB186E-6BCC-37F0-9483-B22C27C20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BEAB55D-11E3-2785-A12C-4181AC0CF8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ro-RO" altLang="ro-RO" b="1" dirty="0"/>
              <a:t>Clase abstracte</a:t>
            </a:r>
          </a:p>
          <a:p>
            <a:pPr eaLnBrk="1" hangingPunct="1"/>
            <a:r>
              <a:rPr lang="ro-RO" altLang="ro-RO" dirty="0"/>
              <a:t>Reprezintă cel mai înalt nivel de abstractizare. Din aceste clase se vor deriva celelalte care fac parte din aceaşi categorie. </a:t>
            </a:r>
          </a:p>
          <a:p>
            <a:pPr eaLnBrk="1" hangingPunct="1"/>
            <a:r>
              <a:rPr lang="en-US" altLang="ro-RO" dirty="0"/>
              <a:t>Cu cat sunt </a:t>
            </a:r>
            <a:r>
              <a:rPr lang="en-US" altLang="ro-RO" dirty="0" err="1"/>
              <a:t>mai</a:t>
            </a:r>
            <a:r>
              <a:rPr lang="en-US" altLang="ro-RO" dirty="0"/>
              <a:t> sus </a:t>
            </a:r>
            <a:r>
              <a:rPr lang="en-US" altLang="ro-RO" dirty="0" err="1"/>
              <a:t>intr</a:t>
            </a:r>
            <a:r>
              <a:rPr lang="en-US" altLang="ro-RO" dirty="0"/>
              <a:t>-o </a:t>
            </a:r>
            <a:r>
              <a:rPr lang="en-US" altLang="ro-RO" dirty="0" err="1"/>
              <a:t>ierarhie</a:t>
            </a:r>
            <a:r>
              <a:rPr lang="en-US" altLang="ro-RO" dirty="0"/>
              <a:t> de </a:t>
            </a:r>
            <a:r>
              <a:rPr lang="en-US" altLang="ro-RO" dirty="0" err="1"/>
              <a:t>clase</a:t>
            </a:r>
            <a:r>
              <a:rPr lang="en-US" altLang="ro-RO" dirty="0"/>
              <a:t>, </a:t>
            </a:r>
            <a:r>
              <a:rPr lang="en-US" altLang="ro-RO" b="1" dirty="0" err="1"/>
              <a:t>superclasele</a:t>
            </a:r>
            <a:r>
              <a:rPr lang="en-US" altLang="ro-RO" dirty="0"/>
              <a:t> </a:t>
            </a:r>
            <a:r>
              <a:rPr lang="en-US" altLang="ro-RO" dirty="0" err="1"/>
              <a:t>devin</a:t>
            </a:r>
            <a:r>
              <a:rPr lang="en-US" altLang="ro-RO" dirty="0"/>
              <a:t> tot </a:t>
            </a:r>
            <a:r>
              <a:rPr lang="en-US" altLang="ro-RO" dirty="0" err="1"/>
              <a:t>mai</a:t>
            </a:r>
            <a:r>
              <a:rPr lang="en-US" altLang="ro-RO" dirty="0"/>
              <a:t> generale </a:t>
            </a:r>
            <a:r>
              <a:rPr lang="en-US" altLang="ro-RO" dirty="0" err="1"/>
              <a:t>si</a:t>
            </a:r>
            <a:r>
              <a:rPr lang="en-US" altLang="ro-RO" dirty="0"/>
              <a:t> </a:t>
            </a:r>
            <a:r>
              <a:rPr lang="en-US" altLang="ro-RO" dirty="0" err="1"/>
              <a:t>abstracte</a:t>
            </a:r>
            <a:endParaRPr lang="en-US" altLang="ro-RO" dirty="0"/>
          </a:p>
          <a:p>
            <a:pPr eaLnBrk="1" hangingPunct="1"/>
            <a:r>
              <a:rPr lang="en-US" altLang="ro-RO" dirty="0"/>
              <a:t>La un moment </a:t>
            </a:r>
            <a:r>
              <a:rPr lang="en-US" altLang="ro-RO" dirty="0" err="1"/>
              <a:t>dat</a:t>
            </a:r>
            <a:r>
              <a:rPr lang="en-US" altLang="ro-RO" dirty="0"/>
              <a:t> </a:t>
            </a:r>
            <a:r>
              <a:rPr lang="en-US" altLang="ro-RO" dirty="0" err="1"/>
              <a:t>unele</a:t>
            </a:r>
            <a:r>
              <a:rPr lang="en-US" altLang="ro-RO" dirty="0"/>
              <a:t> </a:t>
            </a:r>
            <a:r>
              <a:rPr lang="en-US" altLang="ro-RO" dirty="0" err="1"/>
              <a:t>superclase</a:t>
            </a:r>
            <a:r>
              <a:rPr lang="en-US" altLang="ro-RO" dirty="0"/>
              <a:t> sunt </a:t>
            </a:r>
            <a:r>
              <a:rPr lang="en-US" altLang="ro-RO" dirty="0" err="1"/>
              <a:t>mai</a:t>
            </a:r>
            <a:r>
              <a:rPr lang="en-US" altLang="ro-RO" dirty="0"/>
              <a:t> </a:t>
            </a:r>
            <a:r>
              <a:rPr lang="en-US" altLang="ro-RO" dirty="0" err="1"/>
              <a:t>degraba</a:t>
            </a:r>
            <a:r>
              <a:rPr lang="en-US" altLang="ro-RO" dirty="0"/>
              <a:t> un </a:t>
            </a:r>
            <a:r>
              <a:rPr lang="en-US" altLang="ro-RO" b="1" dirty="0"/>
              <a:t>model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alte</a:t>
            </a:r>
            <a:r>
              <a:rPr lang="en-US" altLang="ro-RO" dirty="0"/>
              <a:t> </a:t>
            </a:r>
            <a:r>
              <a:rPr lang="en-US" altLang="ro-RO" dirty="0" err="1"/>
              <a:t>clase</a:t>
            </a:r>
            <a:r>
              <a:rPr lang="en-US" altLang="ro-RO" dirty="0"/>
              <a:t> </a:t>
            </a:r>
            <a:r>
              <a:rPr lang="en-US" altLang="ro-RO" dirty="0" err="1"/>
              <a:t>decat</a:t>
            </a:r>
            <a:r>
              <a:rPr lang="en-US" altLang="ro-RO" dirty="0"/>
              <a:t> o </a:t>
            </a:r>
            <a:r>
              <a:rPr lang="en-US" altLang="ro-RO" dirty="0" err="1"/>
              <a:t>definitie</a:t>
            </a:r>
            <a:r>
              <a:rPr lang="en-US" altLang="ro-RO" dirty="0"/>
              <a:t> a </a:t>
            </a:r>
            <a:r>
              <a:rPr lang="en-US" altLang="ro-RO" dirty="0" err="1"/>
              <a:t>unor</a:t>
            </a:r>
            <a:r>
              <a:rPr lang="en-US" altLang="ro-RO" dirty="0"/>
              <a:t> </a:t>
            </a:r>
            <a:r>
              <a:rPr lang="en-US" altLang="ro-RO" dirty="0" err="1"/>
              <a:t>obiecte</a:t>
            </a:r>
            <a:endParaRPr lang="en-US" altLang="ro-RO" dirty="0"/>
          </a:p>
          <a:p>
            <a:pPr eaLnBrk="1" hangingPunct="1"/>
            <a:r>
              <a:rPr lang="en-US" altLang="ro-RO" dirty="0"/>
              <a:t>In </a:t>
            </a:r>
            <a:r>
              <a:rPr lang="en-US" altLang="ro-RO" dirty="0" err="1"/>
              <a:t>acest</a:t>
            </a:r>
            <a:r>
              <a:rPr lang="en-US" altLang="ro-RO" dirty="0"/>
              <a:t> </a:t>
            </a:r>
            <a:r>
              <a:rPr lang="en-US" altLang="ro-RO" dirty="0" err="1"/>
              <a:t>caz</a:t>
            </a:r>
            <a:r>
              <a:rPr lang="en-US" altLang="ro-RO" dirty="0"/>
              <a:t> </a:t>
            </a:r>
            <a:r>
              <a:rPr lang="en-US" altLang="ro-RO" dirty="0" err="1"/>
              <a:t>superclasele</a:t>
            </a:r>
            <a:r>
              <a:rPr lang="en-US" altLang="ro-RO" dirty="0"/>
              <a:t> sunt </a:t>
            </a:r>
            <a:r>
              <a:rPr lang="en-US" altLang="ro-RO" dirty="0" err="1"/>
              <a:t>declarate</a:t>
            </a:r>
            <a:r>
              <a:rPr lang="en-US" altLang="ro-RO" dirty="0"/>
              <a:t> </a:t>
            </a:r>
            <a:r>
              <a:rPr lang="en-US" altLang="ro-RO" b="1" dirty="0" err="1"/>
              <a:t>abstracte</a:t>
            </a:r>
            <a:r>
              <a:rPr lang="en-US" altLang="ro-RO" dirty="0"/>
              <a:t> </a:t>
            </a:r>
            <a:r>
              <a:rPr lang="en-US" altLang="ro-RO" dirty="0" err="1"/>
              <a:t>si</a:t>
            </a:r>
            <a:r>
              <a:rPr lang="en-US" altLang="ro-RO" dirty="0"/>
              <a:t> nu se pot </a:t>
            </a:r>
            <a:r>
              <a:rPr lang="en-US" altLang="ro-RO" dirty="0" err="1"/>
              <a:t>crea</a:t>
            </a:r>
            <a:r>
              <a:rPr lang="en-US" altLang="ro-RO" dirty="0"/>
              <a:t> </a:t>
            </a:r>
            <a:r>
              <a:rPr lang="en-US" altLang="ro-RO" dirty="0" err="1"/>
              <a:t>obiecte</a:t>
            </a:r>
            <a:r>
              <a:rPr lang="en-US" altLang="ro-RO" dirty="0"/>
              <a:t> din </a:t>
            </a:r>
            <a:r>
              <a:rPr lang="en-US" altLang="ro-RO" dirty="0" err="1"/>
              <a:t>ele</a:t>
            </a:r>
            <a:endParaRPr lang="en-US" altLang="ro-RO" dirty="0"/>
          </a:p>
          <a:p>
            <a:pPr eaLnBrk="1" hangingPunct="1"/>
            <a:r>
              <a:rPr lang="ro-RO" altLang="ro-RO" dirty="0"/>
              <a:t>Există situaţii în care se doreşte declararea unei clase dar nu e clar cum se vor defini toate metodele acelei clase. </a:t>
            </a:r>
            <a:endParaRPr lang="en-GB" altLang="ro-RO" dirty="0"/>
          </a:p>
        </p:txBody>
      </p:sp>
    </p:spTree>
    <p:extLst>
      <p:ext uri="{BB962C8B-B14F-4D97-AF65-F5344CB8AC3E}">
        <p14:creationId xmlns:p14="http://schemas.microsoft.com/office/powerpoint/2010/main" val="1000605637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07256" y="315928"/>
            <a:ext cx="8316516" cy="954373"/>
          </a:xfrm>
        </p:spPr>
        <p:txBody>
          <a:bodyPr/>
          <a:lstStyle/>
          <a:p>
            <a:pPr eaLnBrk="1" hangingPunct="1"/>
            <a:r>
              <a:rPr lang="en-US" altLang="ro-RO" dirty="0" err="1"/>
              <a:t>Clase</a:t>
            </a:r>
            <a:r>
              <a:rPr lang="en-US" altLang="ro-RO" dirty="0"/>
              <a:t> </a:t>
            </a:r>
            <a:r>
              <a:rPr lang="en-US" altLang="ro-RO" dirty="0" err="1"/>
              <a:t>abstracte</a:t>
            </a:r>
            <a:endParaRPr lang="en-US" altLang="ro-RO" dirty="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773410" y="5218412"/>
            <a:ext cx="33528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Mp3Player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5116810" y="5232699"/>
            <a:ext cx="36576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WavPlayer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991147" y="1498899"/>
            <a:ext cx="3352800" cy="295275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# file : FileInputStream</a:t>
            </a: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ro-RO" sz="22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+ open()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991147" y="2030712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2991147" y="2486324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790872" y="574863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790872" y="5824837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5116810" y="577086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5116810" y="584706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grpSp>
        <p:nvGrpSpPr>
          <p:cNvPr id="23564" name="Group 12"/>
          <p:cNvGrpSpPr>
            <a:grpSpLocks/>
          </p:cNvGrpSpPr>
          <p:nvPr/>
        </p:nvGrpSpPr>
        <p:grpSpPr bwMode="auto">
          <a:xfrm>
            <a:off x="2373610" y="4383387"/>
            <a:ext cx="4659312" cy="835025"/>
            <a:chOff x="1495" y="2525"/>
            <a:chExt cx="2935" cy="672"/>
          </a:xfrm>
        </p:grpSpPr>
        <p:sp>
          <p:nvSpPr>
            <p:cNvPr id="23567" name="Line 13"/>
            <p:cNvSpPr>
              <a:spLocks noChangeShapeType="1"/>
            </p:cNvSpPr>
            <p:nvPr/>
          </p:nvSpPr>
          <p:spPr bwMode="auto">
            <a:xfrm flipH="1">
              <a:off x="2935" y="271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68" name="Line 14"/>
            <p:cNvSpPr>
              <a:spLocks noChangeShapeType="1"/>
            </p:cNvSpPr>
            <p:nvPr/>
          </p:nvSpPr>
          <p:spPr bwMode="auto">
            <a:xfrm>
              <a:off x="1502" y="2859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69" name="Line 15"/>
            <p:cNvSpPr>
              <a:spLocks noChangeShapeType="1"/>
            </p:cNvSpPr>
            <p:nvPr/>
          </p:nvSpPr>
          <p:spPr bwMode="auto">
            <a:xfrm>
              <a:off x="1495" y="286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70" name="Line 16"/>
            <p:cNvSpPr>
              <a:spLocks noChangeShapeType="1"/>
            </p:cNvSpPr>
            <p:nvPr/>
          </p:nvSpPr>
          <p:spPr bwMode="auto">
            <a:xfrm>
              <a:off x="4423" y="286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71" name="AutoShape 17"/>
            <p:cNvSpPr>
              <a:spLocks noChangeArrowheads="1"/>
            </p:cNvSpPr>
            <p:nvPr/>
          </p:nvSpPr>
          <p:spPr bwMode="auto">
            <a:xfrm>
              <a:off x="2839" y="2525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ro-RO" sz="2000"/>
            </a:p>
          </p:txBody>
        </p:sp>
      </p:grpSp>
      <p:sp>
        <p:nvSpPr>
          <p:cNvPr id="23565" name="Text Box 18"/>
          <p:cNvSpPr txBox="1">
            <a:spLocks noChangeArrowheads="1"/>
          </p:cNvSpPr>
          <p:nvPr/>
        </p:nvSpPr>
        <p:spPr bwMode="auto">
          <a:xfrm>
            <a:off x="7013872" y="1575099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Clasa abstracta</a:t>
            </a:r>
          </a:p>
        </p:txBody>
      </p:sp>
      <p:sp>
        <p:nvSpPr>
          <p:cNvPr id="23566" name="Line 19"/>
          <p:cNvSpPr>
            <a:spLocks noChangeShapeType="1"/>
          </p:cNvSpPr>
          <p:nvPr/>
        </p:nvSpPr>
        <p:spPr bwMode="auto">
          <a:xfrm flipH="1">
            <a:off x="6331247" y="187831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84" name="Rectangle 2458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86" name="Rectangle 2458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Clase abstracte</a:t>
            </a:r>
          </a:p>
        </p:txBody>
      </p:sp>
      <p:sp>
        <p:nvSpPr>
          <p:cNvPr id="24588" name="Rectangle 2458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 lnSpcReduction="10000"/>
          </a:bodyPr>
          <a:lstStyle/>
          <a:p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abstract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Player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protected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FileInputStream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file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open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file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FileInputStream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…</a:t>
            </a: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…</a:t>
            </a: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abstract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play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abstract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stop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abstract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pause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8965F-B9E5-64AE-8323-0CBE8DBE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84" name="Rectangle 24583">
            <a:extLst>
              <a:ext uri="{FF2B5EF4-FFF2-40B4-BE49-F238E27FC236}">
                <a16:creationId xmlns:a16="http://schemas.microsoft.com/office/drawing/2014/main" id="{1CCA201A-ECFB-2AC1-42E4-F2671B30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86" name="Rectangle 24585">
            <a:extLst>
              <a:ext uri="{FF2B5EF4-FFF2-40B4-BE49-F238E27FC236}">
                <a16:creationId xmlns:a16="http://schemas.microsoft.com/office/drawing/2014/main" id="{CBB14E55-11DB-946E-F358-DD5D7BCA9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02E44A7-8AE1-A636-9D0E-44A98A42A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Clase abstracte</a:t>
            </a:r>
          </a:p>
        </p:txBody>
      </p:sp>
      <p:sp>
        <p:nvSpPr>
          <p:cNvPr id="24588" name="Rectangle 24587">
            <a:extLst>
              <a:ext uri="{FF2B5EF4-FFF2-40B4-BE49-F238E27FC236}">
                <a16:creationId xmlns:a16="http://schemas.microsoft.com/office/drawing/2014/main" id="{11E66C93-F1B5-82DE-3DD8-47B4BBAF0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2175F95-33D1-B1B7-384C-AD5C2D645D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abstract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Figura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abstract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deseneaza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metodă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abstractă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Cerc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Figura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deseneaza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Desenez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 un 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cerc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Figura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f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Cerc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deseneaza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Desenez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un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cerc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12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9" name="Rectangle 2560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11" name="Rectangle 256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569714"/>
            <a:ext cx="2550620" cy="63634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Clase abstracte</a:t>
            </a:r>
          </a:p>
        </p:txBody>
      </p:sp>
      <p:sp>
        <p:nvSpPr>
          <p:cNvPr id="25613" name="Rectangle 256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25605" name="Rectangle 3">
            <a:extLst>
              <a:ext uri="{FF2B5EF4-FFF2-40B4-BE49-F238E27FC236}">
                <a16:creationId xmlns:a16="http://schemas.microsoft.com/office/drawing/2014/main" id="{96D54088-32F2-5E04-50B5-DB484BCAB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299420"/>
              </p:ext>
            </p:extLst>
          </p:nvPr>
        </p:nvGraphicFramePr>
        <p:xfrm>
          <a:off x="3920680" y="705220"/>
          <a:ext cx="5620474" cy="6227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58" name="Rectangle 2765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60" name="Rectangle 2765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Modificator de tip - Abstract</a:t>
            </a:r>
          </a:p>
        </p:txBody>
      </p:sp>
      <p:sp>
        <p:nvSpPr>
          <p:cNvPr id="27662" name="Rectangle 2766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err="1"/>
              <a:t>Acest</a:t>
            </a:r>
            <a:r>
              <a:rPr lang="en-US" altLang="ro-RO"/>
              <a:t> tip de </a:t>
            </a:r>
            <a:r>
              <a:rPr lang="en-US" altLang="ro-RO" err="1"/>
              <a:t>clasă</a:t>
            </a:r>
            <a:r>
              <a:rPr lang="en-US" altLang="ro-RO"/>
              <a:t> </a:t>
            </a:r>
            <a:r>
              <a:rPr lang="en-US" altLang="ro-RO" err="1"/>
              <a:t>respectă</a:t>
            </a:r>
            <a:r>
              <a:rPr lang="en-US" altLang="ro-RO"/>
              <a:t> o </a:t>
            </a:r>
            <a:r>
              <a:rPr lang="en-US" altLang="ro-RO" err="1"/>
              <a:t>serie</a:t>
            </a:r>
            <a:r>
              <a:rPr lang="en-US" altLang="ro-RO"/>
              <a:t> de </a:t>
            </a:r>
            <a:r>
              <a:rPr lang="en-US" altLang="ro-RO" err="1"/>
              <a:t>reguli</a:t>
            </a:r>
            <a:r>
              <a:rPr lang="en-US" altLang="ro-RO"/>
              <a:t>:</a:t>
            </a:r>
          </a:p>
          <a:p>
            <a:pPr lvl="1" eaLnBrk="1" hangingPunct="1"/>
            <a:r>
              <a:rPr lang="en-US" altLang="ro-RO"/>
              <a:t>din </a:t>
            </a:r>
            <a:r>
              <a:rPr lang="en-US" altLang="ro-RO" err="1"/>
              <a:t>ea</a:t>
            </a:r>
            <a:r>
              <a:rPr lang="en-US" altLang="ro-RO"/>
              <a:t> nu se </a:t>
            </a:r>
            <a:r>
              <a:rPr lang="en-US" altLang="ro-RO" err="1"/>
              <a:t>poate</a:t>
            </a:r>
            <a:r>
              <a:rPr lang="en-US" altLang="ro-RO"/>
              <a:t> </a:t>
            </a:r>
            <a:r>
              <a:rPr lang="en-US" altLang="ro-RO" err="1"/>
              <a:t>instantia</a:t>
            </a:r>
            <a:r>
              <a:rPr lang="en-US" altLang="ro-RO"/>
              <a:t> </a:t>
            </a:r>
            <a:r>
              <a:rPr lang="en-US" altLang="ro-RO" err="1"/>
              <a:t>nici</a:t>
            </a:r>
            <a:r>
              <a:rPr lang="en-US" altLang="ro-RO"/>
              <a:t> un </a:t>
            </a:r>
            <a:r>
              <a:rPr lang="en-US" altLang="ro-RO" err="1"/>
              <a:t>obiect</a:t>
            </a:r>
            <a:endParaRPr lang="en-US" altLang="ro-RO"/>
          </a:p>
          <a:p>
            <a:pPr lvl="1" eaLnBrk="1" hangingPunct="1"/>
            <a:r>
              <a:rPr lang="en-US" altLang="ro-RO" err="1"/>
              <a:t>trebuie</a:t>
            </a:r>
            <a:r>
              <a:rPr lang="en-US" altLang="ro-RO"/>
              <a:t> </a:t>
            </a:r>
            <a:r>
              <a:rPr lang="en-US" altLang="ro-RO" err="1"/>
              <a:t>să</a:t>
            </a:r>
            <a:r>
              <a:rPr lang="en-US" altLang="ro-RO"/>
              <a:t> </a:t>
            </a:r>
            <a:r>
              <a:rPr lang="en-US" altLang="ro-RO" err="1"/>
              <a:t>conţină</a:t>
            </a:r>
            <a:r>
              <a:rPr lang="en-US" altLang="ro-RO"/>
              <a:t> </a:t>
            </a:r>
            <a:r>
              <a:rPr lang="en-US" altLang="ro-RO" err="1"/>
              <a:t>cel</a:t>
            </a:r>
            <a:r>
              <a:rPr lang="en-US" altLang="ro-RO"/>
              <a:t> </a:t>
            </a:r>
            <a:r>
              <a:rPr lang="en-US" altLang="ro-RO" err="1"/>
              <a:t>puţin</a:t>
            </a:r>
            <a:r>
              <a:rPr lang="en-US" altLang="ro-RO"/>
              <a:t> o </a:t>
            </a:r>
            <a:r>
              <a:rPr lang="en-US" altLang="ro-RO" err="1"/>
              <a:t>declaraţie</a:t>
            </a:r>
            <a:r>
              <a:rPr lang="en-US" altLang="ro-RO"/>
              <a:t> </a:t>
            </a:r>
            <a:r>
              <a:rPr lang="en-US" altLang="ro-RO" err="1"/>
              <a:t>variabilă</a:t>
            </a:r>
            <a:r>
              <a:rPr lang="en-US" altLang="ro-RO"/>
              <a:t> </a:t>
            </a:r>
            <a:r>
              <a:rPr lang="en-US" altLang="ro-RO" err="1"/>
              <a:t>sau</a:t>
            </a:r>
            <a:r>
              <a:rPr lang="en-US" altLang="ro-RO"/>
              <a:t> de </a:t>
            </a:r>
            <a:r>
              <a:rPr lang="en-US" altLang="ro-RO" err="1"/>
              <a:t>metodă</a:t>
            </a:r>
            <a:r>
              <a:rPr lang="en-US" altLang="ro-RO"/>
              <a:t> </a:t>
            </a:r>
            <a:r>
              <a:rPr lang="en-US" altLang="ro-RO" err="1"/>
              <a:t>abstractă</a:t>
            </a:r>
            <a:endParaRPr lang="en-US" altLang="ro-RO"/>
          </a:p>
          <a:p>
            <a:pPr lvl="1" eaLnBrk="1" hangingPunct="1"/>
            <a:r>
              <a:rPr lang="en-US" altLang="ro-RO" err="1"/>
              <a:t>Toate</a:t>
            </a:r>
            <a:r>
              <a:rPr lang="en-US" altLang="ro-RO"/>
              <a:t> </a:t>
            </a:r>
            <a:r>
              <a:rPr lang="en-US" altLang="ro-RO" err="1"/>
              <a:t>metodele</a:t>
            </a:r>
            <a:r>
              <a:rPr lang="en-US" altLang="ro-RO"/>
              <a:t> </a:t>
            </a:r>
            <a:r>
              <a:rPr lang="en-US" altLang="ro-RO" err="1"/>
              <a:t>abstracte</a:t>
            </a:r>
            <a:r>
              <a:rPr lang="en-US" altLang="ro-RO"/>
              <a:t> </a:t>
            </a:r>
            <a:r>
              <a:rPr lang="en-US" altLang="ro-RO" err="1"/>
              <a:t>trebuie</a:t>
            </a:r>
            <a:r>
              <a:rPr lang="en-US" altLang="ro-RO"/>
              <a:t> </a:t>
            </a:r>
            <a:r>
              <a:rPr lang="en-US" altLang="ro-RO" err="1"/>
              <a:t>să</a:t>
            </a:r>
            <a:r>
              <a:rPr lang="en-US" altLang="ro-RO"/>
              <a:t> </a:t>
            </a:r>
            <a:r>
              <a:rPr lang="en-US" altLang="ro-RO" err="1"/>
              <a:t>conţină</a:t>
            </a:r>
            <a:r>
              <a:rPr lang="en-US" altLang="ro-RO"/>
              <a:t> </a:t>
            </a:r>
            <a:r>
              <a:rPr lang="en-US" altLang="ro-RO" err="1"/>
              <a:t>implementări</a:t>
            </a:r>
            <a:r>
              <a:rPr lang="en-US" altLang="ro-RO"/>
              <a:t> </a:t>
            </a:r>
            <a:r>
              <a:rPr lang="en-US" altLang="ro-RO" err="1"/>
              <a:t>efective</a:t>
            </a:r>
            <a:r>
              <a:rPr lang="en-US" altLang="ro-RO"/>
              <a:t> </a:t>
            </a:r>
            <a:r>
              <a:rPr lang="en-US" altLang="ro-RO" err="1"/>
              <a:t>în</a:t>
            </a:r>
            <a:r>
              <a:rPr lang="en-US" altLang="ro-RO"/>
              <a:t> </a:t>
            </a:r>
            <a:r>
              <a:rPr lang="en-US" altLang="ro-RO" err="1"/>
              <a:t>clasele</a:t>
            </a:r>
            <a:r>
              <a:rPr lang="en-US" altLang="ro-RO"/>
              <a:t> derivate</a:t>
            </a:r>
          </a:p>
          <a:p>
            <a:pPr lvl="1" eaLnBrk="1" hangingPunct="1"/>
            <a:r>
              <a:rPr lang="en-US" altLang="ro-RO"/>
              <a:t>Nu pot fi </a:t>
            </a:r>
            <a:r>
              <a:rPr lang="en-US" altLang="ro-RO" err="1"/>
              <a:t>declarate</a:t>
            </a:r>
            <a:r>
              <a:rPr lang="en-US" altLang="ro-RO"/>
              <a:t> ca de tip final </a:t>
            </a:r>
            <a:r>
              <a:rPr lang="en-US" altLang="ro-RO" err="1"/>
              <a:t>sau</a:t>
            </a:r>
            <a:r>
              <a:rPr lang="en-US" altLang="ro-RO"/>
              <a:t> </a:t>
            </a:r>
            <a:r>
              <a:rPr lang="en-US" altLang="ro-RO" err="1"/>
              <a:t>privat</a:t>
            </a:r>
            <a:endParaRPr lang="en-US" altLang="ro-RO"/>
          </a:p>
          <a:p>
            <a:pPr lvl="1"/>
            <a:r>
              <a:rPr lang="en-GB"/>
              <a:t>Clasa </a:t>
            </a:r>
            <a:r>
              <a:rPr lang="en-GB" err="1"/>
              <a:t>abstractă</a:t>
            </a:r>
            <a:r>
              <a:rPr lang="en-GB"/>
              <a:t> </a:t>
            </a:r>
            <a:r>
              <a:rPr lang="en-GB" err="1"/>
              <a:t>definește</a:t>
            </a:r>
            <a:r>
              <a:rPr lang="en-GB"/>
              <a:t> </a:t>
            </a:r>
            <a:r>
              <a:rPr lang="en-GB" i="1" err="1"/>
              <a:t>ce</a:t>
            </a:r>
            <a:r>
              <a:rPr lang="en-GB" i="1"/>
              <a:t> </a:t>
            </a:r>
            <a:r>
              <a:rPr lang="en-GB" i="1" err="1"/>
              <a:t>trebuie</a:t>
            </a:r>
            <a:r>
              <a:rPr lang="en-GB" i="1"/>
              <a:t> </a:t>
            </a:r>
            <a:r>
              <a:rPr lang="en-GB" i="1" err="1"/>
              <a:t>făcut</a:t>
            </a:r>
            <a:r>
              <a:rPr lang="en-GB"/>
              <a:t>, </a:t>
            </a:r>
            <a:r>
              <a:rPr lang="en-GB" err="1"/>
              <a:t>iar</a:t>
            </a:r>
            <a:r>
              <a:rPr lang="en-GB"/>
              <a:t> </a:t>
            </a:r>
            <a:r>
              <a:rPr lang="en-GB" err="1"/>
              <a:t>clasele</a:t>
            </a:r>
            <a:r>
              <a:rPr lang="en-GB"/>
              <a:t> derivate </a:t>
            </a:r>
            <a:r>
              <a:rPr lang="en-GB" err="1"/>
              <a:t>stabilesc</a:t>
            </a:r>
            <a:r>
              <a:rPr lang="en-GB"/>
              <a:t> </a:t>
            </a:r>
            <a:r>
              <a:rPr lang="en-GB" i="1"/>
              <a:t>cum se face</a:t>
            </a:r>
            <a:r>
              <a:rPr lang="en-GB"/>
              <a:t>.</a:t>
            </a:r>
            <a:endParaRPr lang="en-US" altLang="ro-RO"/>
          </a:p>
          <a:p>
            <a:pPr lvl="1" eaLnBrk="1" hangingPunct="1"/>
            <a:endParaRPr lang="en-US" altLang="ro-RO"/>
          </a:p>
          <a:p>
            <a:pPr eaLnBrk="1" hangingPunct="1"/>
            <a:endParaRPr lang="en-US" altLang="ro-RO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73100" y="4116388"/>
            <a:ext cx="6719888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4" tIns="50748" rIns="101494" bIns="50748" anchor="ctr"/>
          <a:lstStyle>
            <a:lvl1pPr defTabSz="100806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46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68275" y="5124450"/>
            <a:ext cx="9409113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4" tIns="50748" rIns="101494" bIns="50748"/>
          <a:lstStyle>
            <a:lvl1pPr marL="377825" indent="-377825" defTabSz="100806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en-US" altLang="ro-RO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80" name="Rectangle 2867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82" name="Rectangle 2868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Modificator de tip - final</a:t>
            </a:r>
          </a:p>
        </p:txBody>
      </p:sp>
      <p:sp>
        <p:nvSpPr>
          <p:cNvPr id="28684" name="Rectangle 2868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b="1" dirty="0"/>
              <a:t>Ce </a:t>
            </a:r>
            <a:r>
              <a:rPr lang="en-GB" b="1" dirty="0" err="1"/>
              <a:t>înseamnă</a:t>
            </a:r>
            <a:r>
              <a:rPr lang="en-GB" b="1" dirty="0"/>
              <a:t> </a:t>
            </a:r>
            <a:r>
              <a:rPr lang="en-GB" b="1" dirty="0">
                <a:latin typeface="Courier New" panose="02070309020205020404" pitchFamily="49" charset="0"/>
              </a:rPr>
              <a:t>final</a:t>
            </a:r>
            <a:endParaRPr lang="en-GB" b="1" dirty="0"/>
          </a:p>
          <a:p>
            <a:pPr>
              <a:buNone/>
            </a:pPr>
            <a:r>
              <a:rPr lang="en-GB" dirty="0" err="1"/>
              <a:t>Modificatorul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</a:rPr>
              <a:t>final</a:t>
            </a:r>
            <a:r>
              <a:rPr lang="en-GB" dirty="0"/>
              <a:t> se </a:t>
            </a:r>
            <a:r>
              <a:rPr lang="en-GB" dirty="0" err="1"/>
              <a:t>folosește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b="1" dirty="0" err="1"/>
              <a:t>bloca</a:t>
            </a:r>
            <a:r>
              <a:rPr lang="en-GB" b="1" dirty="0"/>
              <a:t> </a:t>
            </a:r>
            <a:r>
              <a:rPr lang="en-GB" b="1" dirty="0" err="1"/>
              <a:t>modificarea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entități</a:t>
            </a:r>
            <a:r>
              <a:rPr lang="en-GB" dirty="0"/>
              <a:t> din cod.</a:t>
            </a:r>
          </a:p>
          <a:p>
            <a:pPr>
              <a:buNone/>
            </a:pP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dirty="0" err="1"/>
              <a:t>aplicat</a:t>
            </a:r>
            <a:r>
              <a:rPr lang="en-GB" dirty="0"/>
              <a:t> la: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variabile</a:t>
            </a:r>
            <a:r>
              <a:rPr lang="en-GB" dirty="0"/>
              <a:t> → </a:t>
            </a:r>
            <a:r>
              <a:rPr lang="en-GB" dirty="0" err="1"/>
              <a:t>valoarea</a:t>
            </a:r>
            <a:r>
              <a:rPr lang="en-GB" dirty="0"/>
              <a:t> nu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dirty="0" err="1"/>
              <a:t>schimbată</a:t>
            </a:r>
            <a:r>
              <a:rPr lang="en-GB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metode</a:t>
            </a:r>
            <a:r>
              <a:rPr lang="en-GB" dirty="0"/>
              <a:t> → </a:t>
            </a:r>
            <a:r>
              <a:rPr lang="en-GB" dirty="0" err="1"/>
              <a:t>metoda</a:t>
            </a:r>
            <a:r>
              <a:rPr lang="en-GB" dirty="0"/>
              <a:t> nu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dirty="0" err="1"/>
              <a:t>redefinită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subclase</a:t>
            </a:r>
            <a:r>
              <a:rPr lang="en-GB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clase</a:t>
            </a:r>
            <a:r>
              <a:rPr lang="en-GB" dirty="0"/>
              <a:t> → </a:t>
            </a:r>
            <a:r>
              <a:rPr lang="en-GB" dirty="0" err="1"/>
              <a:t>clasa</a:t>
            </a:r>
            <a:r>
              <a:rPr lang="en-GB" dirty="0"/>
              <a:t> nu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dirty="0" err="1"/>
              <a:t>moștenită</a:t>
            </a:r>
            <a:r>
              <a:rPr lang="en-GB" dirty="0"/>
              <a:t>.</a:t>
            </a:r>
          </a:p>
          <a:p>
            <a:pPr eaLnBrk="1" hangingPunct="1"/>
            <a:endParaRPr lang="en-US" altLang="ro-RO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8E8B2-4722-3B8A-254E-4CEAA47A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80" name="Rectangle 28679">
            <a:extLst>
              <a:ext uri="{FF2B5EF4-FFF2-40B4-BE49-F238E27FC236}">
                <a16:creationId xmlns:a16="http://schemas.microsoft.com/office/drawing/2014/main" id="{836CEE09-DF7E-0B38-5D10-962E8672C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82" name="Rectangle 28681">
            <a:extLst>
              <a:ext uri="{FF2B5EF4-FFF2-40B4-BE49-F238E27FC236}">
                <a16:creationId xmlns:a16="http://schemas.microsoft.com/office/drawing/2014/main" id="{E25EA0C0-A7A9-89E7-660C-EEA34C9C8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84657128-D8AF-C6AB-6F43-E7B7A2532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Modificator de tip - final</a:t>
            </a:r>
          </a:p>
        </p:txBody>
      </p:sp>
      <p:sp>
        <p:nvSpPr>
          <p:cNvPr id="28684" name="Rectangle 28683">
            <a:extLst>
              <a:ext uri="{FF2B5EF4-FFF2-40B4-BE49-F238E27FC236}">
                <a16:creationId xmlns:a16="http://schemas.microsoft.com/office/drawing/2014/main" id="{C0F870F3-19E1-7EBC-B0D1-8E325E9B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3C34499-4EF3-D400-79E0-E69DA41469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6" y="667888"/>
            <a:ext cx="5772071" cy="6679014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1800" b="1" dirty="0">
                <a:highlight>
                  <a:srgbClr val="FFFFFF"/>
                </a:highlight>
              </a:rPr>
              <a:t>📘 </a:t>
            </a:r>
            <a:r>
              <a:rPr lang="en-GB" sz="1800" b="1" i="1" dirty="0">
                <a:highlight>
                  <a:srgbClr val="FFFFFF"/>
                </a:highlight>
              </a:rPr>
              <a:t>1. </a:t>
            </a:r>
            <a:r>
              <a:rPr lang="en-GB" sz="1800" b="1" i="1" dirty="0" err="1">
                <a:highlight>
                  <a:srgbClr val="FFFFFF"/>
                </a:highlight>
              </a:rPr>
              <a:t>Variabilă</a:t>
            </a:r>
            <a:r>
              <a:rPr lang="en-GB" sz="1800" b="1" i="1" dirty="0">
                <a:highlight>
                  <a:srgbClr val="FFFFFF"/>
                </a:highlight>
              </a:rPr>
              <a:t> final:</a:t>
            </a:r>
            <a:endParaRPr lang="en-GB" sz="1800" b="1" dirty="0">
              <a:highlight>
                <a:srgbClr val="FFFFFF"/>
              </a:highlight>
            </a:endParaRPr>
          </a:p>
          <a:p>
            <a:r>
              <a:rPr lang="en-GB" sz="1400" dirty="0">
                <a:solidFill>
                  <a:srgbClr val="8000FF"/>
                </a:solidFill>
                <a:highlight>
                  <a:srgbClr val="FFFFFF"/>
                </a:highlight>
              </a:rPr>
              <a:t>final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dirty="0">
                <a:solidFill>
                  <a:srgbClr val="8000FF"/>
                </a:solidFill>
                <a:highlight>
                  <a:srgbClr val="FFFFFF"/>
                </a:highlight>
              </a:rPr>
              <a:t>double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</a:rPr>
              <a:t> PI 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>
                <a:solidFill>
                  <a:srgbClr val="FF8000"/>
                </a:solidFill>
                <a:highlight>
                  <a:srgbClr val="FFFFFF"/>
                </a:highlight>
              </a:rPr>
              <a:t>3.14159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8000"/>
                </a:solidFill>
                <a:highlight>
                  <a:srgbClr val="FFFFFF"/>
                </a:highlight>
              </a:rPr>
              <a:t>// PI = 3.14; ❌ Eroare – valoarea este constantă</a:t>
            </a:r>
          </a:p>
          <a:p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1" dirty="0">
                <a:highlight>
                  <a:srgbClr val="FFFFFF"/>
                </a:highlight>
              </a:rPr>
              <a:t>📘 2. </a:t>
            </a:r>
            <a:r>
              <a:rPr lang="en-GB" sz="1800" b="1" dirty="0" err="1">
                <a:highlight>
                  <a:srgbClr val="FFFFFF"/>
                </a:highlight>
              </a:rPr>
              <a:t>Metodă</a:t>
            </a:r>
            <a:r>
              <a:rPr lang="en-GB" sz="1800" b="1" dirty="0">
                <a:highlight>
                  <a:srgbClr val="FFFFFF"/>
                </a:highlight>
              </a:rPr>
              <a:t> final:</a:t>
            </a:r>
          </a:p>
          <a:p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Animal 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final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respira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14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Respiră</a:t>
            </a:r>
            <a:r>
              <a:rPr lang="en-GB" sz="1400" b="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aer</a:t>
            </a:r>
            <a:r>
              <a:rPr lang="en-GB" sz="1400" b="0" dirty="0">
                <a:solidFill>
                  <a:srgbClr val="808080"/>
                </a:solidFill>
                <a:highlight>
                  <a:srgbClr val="FFFFFF"/>
                </a:highlight>
              </a:rPr>
              <a:t>."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Caine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Animal 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1400" b="0" dirty="0">
                <a:solidFill>
                  <a:srgbClr val="008000"/>
                </a:solidFill>
                <a:highlight>
                  <a:srgbClr val="FFFFFF"/>
                </a:highlight>
              </a:rPr>
              <a:t>// void respira() {} ❌ Eroare – metoda este finală</a:t>
            </a:r>
          </a:p>
          <a:p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1" dirty="0">
                <a:highlight>
                  <a:srgbClr val="FFFFFF"/>
                </a:highlight>
              </a:rPr>
              <a:t>📘 3. </a:t>
            </a:r>
            <a:r>
              <a:rPr lang="en-GB" sz="1400" b="1" dirty="0" err="1">
                <a:highlight>
                  <a:srgbClr val="FFFFFF"/>
                </a:highlight>
              </a:rPr>
              <a:t>Clasă</a:t>
            </a:r>
            <a:r>
              <a:rPr lang="en-GB" sz="1400" b="1" dirty="0">
                <a:highlight>
                  <a:srgbClr val="FFFFFF"/>
                </a:highlight>
              </a:rPr>
              <a:t> final:</a:t>
            </a:r>
          </a:p>
          <a:p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final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Constante 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final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MAX 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400" b="0" dirty="0">
                <a:solidFill>
                  <a:srgbClr val="FF8000"/>
                </a:solidFill>
                <a:highlight>
                  <a:srgbClr val="FFFFFF"/>
                </a:highlight>
              </a:rPr>
              <a:t>100</a:t>
            </a:r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400" b="0" dirty="0">
                <a:solidFill>
                  <a:srgbClr val="008000"/>
                </a:solidFill>
                <a:highlight>
                  <a:srgbClr val="FFFFFF"/>
                </a:highlight>
              </a:rPr>
              <a:t>// class </a:t>
            </a:r>
            <a:r>
              <a:rPr lang="en-GB" sz="1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Derivata</a:t>
            </a:r>
            <a:r>
              <a:rPr lang="en-GB" sz="1400" b="0" dirty="0">
                <a:solidFill>
                  <a:srgbClr val="008000"/>
                </a:solidFill>
                <a:highlight>
                  <a:srgbClr val="FFFFFF"/>
                </a:highlight>
              </a:rPr>
              <a:t> extends Constante {} ❌ </a:t>
            </a:r>
            <a:r>
              <a:rPr lang="en-GB" sz="1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Eroare</a:t>
            </a:r>
            <a:r>
              <a:rPr lang="en-GB" sz="1400" b="0" dirty="0">
                <a:solidFill>
                  <a:srgbClr val="008000"/>
                </a:solidFill>
                <a:highlight>
                  <a:srgbClr val="FFFFFF"/>
                </a:highlight>
              </a:rPr>
              <a:t> – </a:t>
            </a:r>
            <a:r>
              <a:rPr lang="en-GB" sz="1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clasa</a:t>
            </a:r>
            <a:r>
              <a:rPr lang="en-GB" sz="1400" b="0" dirty="0">
                <a:solidFill>
                  <a:srgbClr val="008000"/>
                </a:solidFill>
                <a:highlight>
                  <a:srgbClr val="FFFFFF"/>
                </a:highlight>
              </a:rPr>
              <a:t> e </a:t>
            </a:r>
            <a:r>
              <a:rPr lang="en-GB" sz="1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finală</a:t>
            </a:r>
            <a:endParaRPr lang="en-GB" sz="14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eaLnBrk="1" hangingPunct="1"/>
            <a:endParaRPr lang="en-US" altLang="ro-RO" sz="1400" dirty="0"/>
          </a:p>
        </p:txBody>
      </p:sp>
    </p:spTree>
    <p:extLst>
      <p:ext uri="{BB962C8B-B14F-4D97-AF65-F5344CB8AC3E}">
        <p14:creationId xmlns:p14="http://schemas.microsoft.com/office/powerpoint/2010/main" val="1528663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4A535-EF07-B233-98B3-444E33C9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80" name="Rectangle 28679">
            <a:extLst>
              <a:ext uri="{FF2B5EF4-FFF2-40B4-BE49-F238E27FC236}">
                <a16:creationId xmlns:a16="http://schemas.microsoft.com/office/drawing/2014/main" id="{7F25F2AD-0A37-796C-D2EC-133EFF8B6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82" name="Rectangle 28681">
            <a:extLst>
              <a:ext uri="{FF2B5EF4-FFF2-40B4-BE49-F238E27FC236}">
                <a16:creationId xmlns:a16="http://schemas.microsoft.com/office/drawing/2014/main" id="{DA09729F-9CD1-6F81-CCB2-E38239D94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401FD648-71ED-61AB-67D0-B84E3AC17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Modificator de tip - final</a:t>
            </a:r>
          </a:p>
        </p:txBody>
      </p:sp>
      <p:sp>
        <p:nvSpPr>
          <p:cNvPr id="28684" name="Rectangle 28683">
            <a:extLst>
              <a:ext uri="{FF2B5EF4-FFF2-40B4-BE49-F238E27FC236}">
                <a16:creationId xmlns:a16="http://schemas.microsoft.com/office/drawing/2014/main" id="{EFF62814-1967-E55B-91E3-8AC7D21AB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493A49E-54BE-C05F-9E31-3D85183178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6" y="667888"/>
            <a:ext cx="5772071" cy="6679014"/>
          </a:xfrm>
        </p:spPr>
        <p:txBody>
          <a:bodyPr anchor="ctr"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ro-RO" sz="2800" dirty="0"/>
              <a:t>  final → </a:t>
            </a:r>
            <a:r>
              <a:rPr lang="en-US" altLang="ro-RO" sz="2800" dirty="0" err="1"/>
              <a:t>împiedică</a:t>
            </a:r>
            <a:r>
              <a:rPr lang="en-US" altLang="ro-RO" sz="2800" dirty="0"/>
              <a:t> </a:t>
            </a:r>
            <a:r>
              <a:rPr lang="en-US" altLang="ro-RO" sz="2800" dirty="0" err="1"/>
              <a:t>modificarea</a:t>
            </a:r>
            <a:r>
              <a:rPr lang="en-US" altLang="ro-RO" sz="2800" dirty="0"/>
              <a:t>, </a:t>
            </a:r>
            <a:r>
              <a:rPr lang="en-US" altLang="ro-RO" sz="2800" dirty="0" err="1"/>
              <a:t>moștenirea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sau</a:t>
            </a:r>
            <a:r>
              <a:rPr lang="en-US" altLang="ro-RO" sz="2800" dirty="0"/>
              <a:t> </a:t>
            </a:r>
            <a:r>
              <a:rPr lang="en-US" altLang="ro-RO" sz="2800" dirty="0" err="1"/>
              <a:t>redefinirea</a:t>
            </a:r>
            <a:r>
              <a:rPr lang="en-US" altLang="ro-RO" sz="2800" dirty="0"/>
              <a:t>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ro-RO" sz="2800" dirty="0"/>
              <a:t>  Nu se </a:t>
            </a:r>
            <a:r>
              <a:rPr lang="en-US" altLang="ro-RO" sz="2800" dirty="0" err="1"/>
              <a:t>poate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combina</a:t>
            </a:r>
            <a:r>
              <a:rPr lang="en-US" altLang="ro-RO" sz="2800" dirty="0"/>
              <a:t> final cu abstract.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ro-RO" sz="2800" dirty="0"/>
              <a:t>  </a:t>
            </a:r>
            <a:r>
              <a:rPr lang="en-US" altLang="ro-RO" sz="2800" dirty="0" err="1"/>
              <a:t>Clasele</a:t>
            </a:r>
            <a:r>
              <a:rPr lang="en-US" altLang="ro-RO" sz="2800" dirty="0"/>
              <a:t> final sunt </a:t>
            </a:r>
            <a:r>
              <a:rPr lang="en-US" altLang="ro-RO" sz="2800" dirty="0" err="1"/>
              <a:t>adesea</a:t>
            </a:r>
            <a:r>
              <a:rPr lang="en-US" altLang="ro-RO" sz="2800" dirty="0"/>
              <a:t> </a:t>
            </a:r>
            <a:r>
              <a:rPr lang="en-US" altLang="ro-RO" sz="2800" dirty="0" err="1"/>
              <a:t>folosite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pentru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securitate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și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performanță</a:t>
            </a:r>
            <a:r>
              <a:rPr lang="en-US" altLang="ro-RO" sz="2800" dirty="0"/>
              <a:t> (ex: String </a:t>
            </a:r>
            <a:r>
              <a:rPr lang="en-US" altLang="ro-RO" sz="2800" dirty="0" err="1"/>
              <a:t>este</a:t>
            </a:r>
            <a:r>
              <a:rPr lang="en-US" altLang="ro-RO" sz="2800" dirty="0"/>
              <a:t> final </a:t>
            </a:r>
            <a:r>
              <a:rPr lang="en-US" altLang="ro-RO" sz="2800" dirty="0" err="1"/>
              <a:t>în</a:t>
            </a:r>
            <a:r>
              <a:rPr lang="en-US" altLang="ro-RO" sz="2800" dirty="0"/>
              <a:t> Java).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  final </a:t>
            </a:r>
            <a:r>
              <a:rPr lang="en-GB" sz="2800" dirty="0" err="1"/>
              <a:t>garantează</a:t>
            </a:r>
            <a:r>
              <a:rPr lang="en-GB" sz="2800" dirty="0"/>
              <a:t> </a:t>
            </a:r>
            <a:r>
              <a:rPr lang="en-GB" sz="2800" dirty="0" err="1"/>
              <a:t>stabilitatea</a:t>
            </a:r>
            <a:r>
              <a:rPr lang="en-GB" sz="2800" dirty="0"/>
              <a:t> </a:t>
            </a:r>
            <a:r>
              <a:rPr lang="en-GB" sz="2800" dirty="0" err="1"/>
              <a:t>codului</a:t>
            </a:r>
            <a:r>
              <a:rPr lang="en-GB" sz="2800" dirty="0"/>
              <a:t> – o </a:t>
            </a:r>
            <a:r>
              <a:rPr lang="en-GB" sz="2800" dirty="0" err="1"/>
              <a:t>dată</a:t>
            </a:r>
            <a:r>
              <a:rPr lang="en-GB" sz="2800" dirty="0"/>
              <a:t> </a:t>
            </a:r>
            <a:r>
              <a:rPr lang="en-GB" sz="2800" dirty="0" err="1"/>
              <a:t>definit</a:t>
            </a:r>
            <a:r>
              <a:rPr lang="en-GB" sz="2800" dirty="0"/>
              <a:t>, un element nu </a:t>
            </a:r>
            <a:r>
              <a:rPr lang="en-GB" sz="2800" dirty="0" err="1"/>
              <a:t>mai</a:t>
            </a:r>
            <a:r>
              <a:rPr lang="en-GB" sz="2800" dirty="0"/>
              <a:t> </a:t>
            </a:r>
            <a:r>
              <a:rPr lang="en-GB" sz="2800" dirty="0" err="1"/>
              <a:t>poate</a:t>
            </a:r>
            <a:r>
              <a:rPr lang="en-GB" sz="2800" dirty="0"/>
              <a:t> fi </a:t>
            </a:r>
            <a:r>
              <a:rPr lang="en-GB" sz="2800" dirty="0" err="1"/>
              <a:t>modificat</a:t>
            </a:r>
            <a:r>
              <a:rPr lang="en-GB" sz="2800" dirty="0"/>
              <a:t> </a:t>
            </a:r>
            <a:r>
              <a:rPr lang="en-GB" sz="2800" dirty="0" err="1"/>
              <a:t>sau</a:t>
            </a:r>
            <a:r>
              <a:rPr lang="en-GB" sz="2800" dirty="0"/>
              <a:t> </a:t>
            </a:r>
            <a:r>
              <a:rPr lang="en-GB" sz="2800" dirty="0" err="1"/>
              <a:t>extins</a:t>
            </a:r>
            <a:r>
              <a:rPr lang="en-GB" sz="2800" dirty="0"/>
              <a:t>.</a:t>
            </a:r>
            <a:endParaRPr lang="en-US" altLang="ro-RO" sz="2800" dirty="0"/>
          </a:p>
        </p:txBody>
      </p:sp>
    </p:spTree>
    <p:extLst>
      <p:ext uri="{BB962C8B-B14F-4D97-AF65-F5344CB8AC3E}">
        <p14:creationId xmlns:p14="http://schemas.microsoft.com/office/powerpoint/2010/main" val="3122281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2" name="Rectangle 41991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4" name="Rectangle 4199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1" y="667888"/>
            <a:ext cx="2889275" cy="6223898"/>
          </a:xfrm>
        </p:spPr>
        <p:txBody>
          <a:bodyPr anchor="ctr">
            <a:normAutofit/>
          </a:bodyPr>
          <a:lstStyle/>
          <a:p>
            <a:pPr marL="360000" eaLnBrk="1" hangingPunct="1"/>
            <a:r>
              <a:rPr lang="en-US" altLang="ro-RO" sz="3600" dirty="0" err="1">
                <a:solidFill>
                  <a:srgbClr val="FFFFFF"/>
                </a:solidFill>
              </a:rPr>
              <a:t>Constuctorii</a:t>
            </a:r>
            <a:r>
              <a:rPr lang="en-US" altLang="ro-RO" sz="3600" dirty="0">
                <a:solidFill>
                  <a:srgbClr val="FFFFFF"/>
                </a:solidFill>
              </a:rPr>
              <a:t> </a:t>
            </a:r>
            <a:r>
              <a:rPr lang="en-US" altLang="ro-RO" sz="3600" dirty="0" err="1">
                <a:solidFill>
                  <a:srgbClr val="FFFFFF"/>
                </a:solidFill>
              </a:rPr>
              <a:t>si</a:t>
            </a:r>
            <a:r>
              <a:rPr lang="en-US" altLang="ro-RO" sz="3600" dirty="0">
                <a:solidFill>
                  <a:srgbClr val="FFFFFF"/>
                </a:solidFill>
              </a:rPr>
              <a:t> </a:t>
            </a:r>
            <a:r>
              <a:rPr lang="en-US" altLang="ro-RO" sz="3600" dirty="0" err="1">
                <a:solidFill>
                  <a:srgbClr val="FFFFFF"/>
                </a:solidFill>
              </a:rPr>
              <a:t>mostenirea</a:t>
            </a:r>
            <a:endParaRPr lang="en-US" altLang="ro-RO" sz="3600" dirty="0">
              <a:solidFill>
                <a:srgbClr val="FFFFFF"/>
              </a:solidFill>
            </a:endParaRPr>
          </a:p>
        </p:txBody>
      </p:sp>
      <p:sp>
        <p:nvSpPr>
          <p:cNvPr id="41996" name="Rectangle 41995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b="1" dirty="0"/>
              <a:t>Reguli </a:t>
            </a:r>
            <a:r>
              <a:rPr lang="en-GB" b="1" dirty="0" err="1"/>
              <a:t>esențiale</a:t>
            </a:r>
            <a:r>
              <a:rPr lang="en-GB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Constructorii</a:t>
            </a:r>
            <a:r>
              <a:rPr lang="en-GB" dirty="0"/>
              <a:t> </a:t>
            </a:r>
            <a:r>
              <a:rPr lang="en-GB" b="1" dirty="0"/>
              <a:t>nu se </a:t>
            </a:r>
            <a:r>
              <a:rPr lang="en-GB" b="1" dirty="0" err="1"/>
              <a:t>moștenesc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b="1" dirty="0"/>
              <a:t>pot fi </a:t>
            </a:r>
            <a:r>
              <a:rPr lang="en-GB" b="1" dirty="0" err="1"/>
              <a:t>apelați</a:t>
            </a:r>
            <a:r>
              <a:rPr lang="en-GB" dirty="0"/>
              <a:t> din </a:t>
            </a:r>
            <a:r>
              <a:rPr lang="en-GB" dirty="0" err="1"/>
              <a:t>subclase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 </a:t>
            </a:r>
            <a:r>
              <a:rPr lang="en-GB" dirty="0" err="1"/>
              <a:t>crearea</a:t>
            </a:r>
            <a:r>
              <a:rPr lang="en-GB" dirty="0"/>
              <a:t> </a:t>
            </a:r>
            <a:r>
              <a:rPr lang="en-GB" dirty="0" err="1"/>
              <a:t>unui</a:t>
            </a:r>
            <a:r>
              <a:rPr lang="en-GB" dirty="0"/>
              <a:t> </a:t>
            </a:r>
            <a:r>
              <a:rPr lang="en-GB" dirty="0" err="1"/>
              <a:t>obiect</a:t>
            </a:r>
            <a:r>
              <a:rPr lang="en-GB" dirty="0"/>
              <a:t> </a:t>
            </a:r>
            <a:r>
              <a:rPr lang="en-GB" dirty="0" err="1"/>
              <a:t>dintr</a:t>
            </a:r>
            <a:r>
              <a:rPr lang="en-GB" dirty="0"/>
              <a:t>-o </a:t>
            </a:r>
            <a:r>
              <a:rPr lang="en-GB" dirty="0" err="1"/>
              <a:t>subclasă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 </a:t>
            </a:r>
            <a:r>
              <a:rPr lang="en-GB" dirty="0" err="1"/>
              <a:t>apelează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întâi</a:t>
            </a:r>
            <a:r>
              <a:rPr lang="en-GB" dirty="0"/>
              <a:t> </a:t>
            </a:r>
            <a:r>
              <a:rPr lang="en-GB" b="1" dirty="0" err="1"/>
              <a:t>constructorul</a:t>
            </a:r>
            <a:r>
              <a:rPr lang="en-GB" b="1" dirty="0"/>
              <a:t> </a:t>
            </a:r>
            <a:r>
              <a:rPr lang="en-GB" b="1" dirty="0" err="1"/>
              <a:t>superclasei</a:t>
            </a:r>
            <a:r>
              <a:rPr lang="en-GB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Apoi</a:t>
            </a:r>
            <a:r>
              <a:rPr lang="en-GB" dirty="0"/>
              <a:t> </a:t>
            </a:r>
            <a:r>
              <a:rPr lang="en-GB" dirty="0" err="1"/>
              <a:t>constructorul</a:t>
            </a:r>
            <a:r>
              <a:rPr lang="en-GB" dirty="0"/>
              <a:t> </a:t>
            </a:r>
            <a:r>
              <a:rPr lang="en-GB" dirty="0" err="1"/>
              <a:t>clasei</a:t>
            </a:r>
            <a:r>
              <a:rPr lang="en-GB" dirty="0"/>
              <a:t> derivate.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Apelul</a:t>
            </a:r>
            <a:r>
              <a:rPr lang="en-GB" dirty="0"/>
              <a:t> </a:t>
            </a:r>
            <a:r>
              <a:rPr lang="en-GB" dirty="0" err="1"/>
              <a:t>constructorului</a:t>
            </a:r>
            <a:r>
              <a:rPr lang="en-GB" dirty="0"/>
              <a:t> de </a:t>
            </a:r>
            <a:r>
              <a:rPr lang="en-GB" dirty="0" err="1"/>
              <a:t>bază</a:t>
            </a:r>
            <a:r>
              <a:rPr lang="en-GB" dirty="0"/>
              <a:t> se face cu </a:t>
            </a:r>
            <a:r>
              <a:rPr lang="en-GB" b="1" dirty="0">
                <a:latin typeface="Courier New" panose="02070309020205020404" pitchFamily="49" charset="0"/>
              </a:rPr>
              <a:t>super()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Dacă</a:t>
            </a:r>
            <a:r>
              <a:rPr lang="en-GB" dirty="0"/>
              <a:t> nu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apelat</a:t>
            </a:r>
            <a:r>
              <a:rPr lang="en-GB" dirty="0"/>
              <a:t> explicit, </a:t>
            </a:r>
            <a:r>
              <a:rPr lang="en-GB" dirty="0" err="1"/>
              <a:t>compilatorul</a:t>
            </a:r>
            <a:r>
              <a:rPr lang="en-GB" dirty="0"/>
              <a:t> </a:t>
            </a:r>
            <a:r>
              <a:rPr lang="en-GB" dirty="0" err="1"/>
              <a:t>inserează</a:t>
            </a:r>
            <a:r>
              <a:rPr lang="en-GB" dirty="0"/>
              <a:t> automat </a:t>
            </a:r>
            <a:r>
              <a:rPr lang="en-GB" dirty="0">
                <a:latin typeface="Courier New" panose="02070309020205020404" pitchFamily="49" charset="0"/>
              </a:rPr>
              <a:t>super()</a:t>
            </a:r>
            <a:r>
              <a:rPr lang="en-GB" dirty="0"/>
              <a:t>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argumente</a:t>
            </a:r>
            <a:r>
              <a:rPr lang="en-GB" dirty="0"/>
              <a:t>.</a:t>
            </a:r>
          </a:p>
          <a:p>
            <a:pPr eaLnBrk="1" hangingPunct="1"/>
            <a:endParaRPr lang="en-GB" altLang="ro-RO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2163A-6B06-2665-8DBD-1D864498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2" name="Rectangle 41991">
            <a:extLst>
              <a:ext uri="{FF2B5EF4-FFF2-40B4-BE49-F238E27FC236}">
                <a16:creationId xmlns:a16="http://schemas.microsoft.com/office/drawing/2014/main" id="{2FC8C591-D403-B3D5-DBC4-F2A22A2C9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4" name="Rectangle 41993">
            <a:extLst>
              <a:ext uri="{FF2B5EF4-FFF2-40B4-BE49-F238E27FC236}">
                <a16:creationId xmlns:a16="http://schemas.microsoft.com/office/drawing/2014/main" id="{DB290C81-DF2B-4C88-2C8C-1E8676B04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F3B07BF8-FCB2-625B-A5AD-83E43B6A8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1" y="667888"/>
            <a:ext cx="2889275" cy="6223898"/>
          </a:xfrm>
        </p:spPr>
        <p:txBody>
          <a:bodyPr anchor="ctr">
            <a:normAutofit/>
          </a:bodyPr>
          <a:lstStyle/>
          <a:p>
            <a:pPr marL="360000" eaLnBrk="1" hangingPunct="1"/>
            <a:r>
              <a:rPr lang="en-US" altLang="ro-RO" sz="3600" dirty="0" err="1">
                <a:solidFill>
                  <a:srgbClr val="FFFFFF"/>
                </a:solidFill>
              </a:rPr>
              <a:t>Constuctorii</a:t>
            </a:r>
            <a:r>
              <a:rPr lang="en-US" altLang="ro-RO" sz="3600" dirty="0">
                <a:solidFill>
                  <a:srgbClr val="FFFFFF"/>
                </a:solidFill>
              </a:rPr>
              <a:t> </a:t>
            </a:r>
            <a:r>
              <a:rPr lang="en-US" altLang="ro-RO" sz="3600" dirty="0" err="1">
                <a:solidFill>
                  <a:srgbClr val="FFFFFF"/>
                </a:solidFill>
              </a:rPr>
              <a:t>si</a:t>
            </a:r>
            <a:r>
              <a:rPr lang="en-US" altLang="ro-RO" sz="3600" dirty="0">
                <a:solidFill>
                  <a:srgbClr val="FFFFFF"/>
                </a:solidFill>
              </a:rPr>
              <a:t> </a:t>
            </a:r>
            <a:r>
              <a:rPr lang="en-US" altLang="ro-RO" sz="3600" dirty="0" err="1">
                <a:solidFill>
                  <a:srgbClr val="FFFFFF"/>
                </a:solidFill>
              </a:rPr>
              <a:t>mostenirea</a:t>
            </a:r>
            <a:endParaRPr lang="en-US" altLang="ro-RO" sz="3600" dirty="0">
              <a:solidFill>
                <a:srgbClr val="FFFFFF"/>
              </a:solidFill>
            </a:endParaRPr>
          </a:p>
        </p:txBody>
      </p:sp>
      <p:sp>
        <p:nvSpPr>
          <p:cNvPr id="41996" name="Rectangle 41995">
            <a:extLst>
              <a:ext uri="{FF2B5EF4-FFF2-40B4-BE49-F238E27FC236}">
                <a16:creationId xmlns:a16="http://schemas.microsoft.com/office/drawing/2014/main" id="{77D967B7-6402-6C06-481D-A5890A6D4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BCC3CC0-8014-E1BC-B9BD-049A5C6C4C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6" y="136877"/>
            <a:ext cx="5673205" cy="7210025"/>
          </a:xfrm>
        </p:spPr>
        <p:txBody>
          <a:bodyPr anchor="ctr">
            <a:normAutofit fontScale="62500" lnSpcReduction="20000"/>
          </a:bodyPr>
          <a:lstStyle/>
          <a:p>
            <a:r>
              <a:rPr lang="en-GB" sz="33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33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33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33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33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3300" b="0" dirty="0">
                <a:solidFill>
                  <a:srgbClr val="808080"/>
                </a:solidFill>
                <a:highlight>
                  <a:srgbClr val="FFFFFF"/>
                </a:highlight>
              </a:rPr>
              <a:t>"Constructor </a:t>
            </a:r>
            <a:r>
              <a:rPr lang="en-GB" sz="33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Persoana</a:t>
            </a:r>
            <a:r>
              <a:rPr lang="en-GB" sz="33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 </a:t>
            </a:r>
            <a:r>
              <a:rPr lang="en-GB" sz="33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3300" b="1" dirty="0">
                <a:solidFill>
                  <a:srgbClr val="0000FF"/>
                </a:solidFill>
                <a:highlight>
                  <a:srgbClr val="FFFFFF"/>
                </a:highlight>
              </a:rPr>
              <a:t>super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33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apel</a:t>
            </a:r>
            <a:r>
              <a:rPr lang="en-GB" sz="3300" b="0" dirty="0">
                <a:solidFill>
                  <a:srgbClr val="008000"/>
                </a:solidFill>
                <a:highlight>
                  <a:srgbClr val="FFFFFF"/>
                </a:highlight>
              </a:rPr>
              <a:t> implicit</a:t>
            </a: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33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33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3300" b="0" dirty="0">
                <a:solidFill>
                  <a:srgbClr val="808080"/>
                </a:solidFill>
                <a:highlight>
                  <a:srgbClr val="FFFFFF"/>
                </a:highlight>
              </a:rPr>
              <a:t>"Constructor Student"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Test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[]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args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Student s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33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33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3300" b="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84401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6" name="Rectangle 4301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8" name="Rectangle 4301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marL="684000" eaLnBrk="1" hangingPunct="1"/>
            <a:r>
              <a:rPr lang="en-US" altLang="ro-RO" sz="2800" dirty="0" err="1">
                <a:solidFill>
                  <a:srgbClr val="FFFFFF"/>
                </a:solidFill>
              </a:rPr>
              <a:t>Constuctorii</a:t>
            </a:r>
            <a:r>
              <a:rPr lang="en-US" altLang="ro-RO" sz="2800" dirty="0">
                <a:solidFill>
                  <a:srgbClr val="FFFFFF"/>
                </a:solidFill>
              </a:rPr>
              <a:t> </a:t>
            </a:r>
            <a:r>
              <a:rPr lang="en-US" altLang="ro-RO" sz="2800" dirty="0" err="1">
                <a:solidFill>
                  <a:srgbClr val="FFFFFF"/>
                </a:solidFill>
              </a:rPr>
              <a:t>si</a:t>
            </a:r>
            <a:r>
              <a:rPr lang="en-US" altLang="ro-RO" sz="2800" dirty="0">
                <a:solidFill>
                  <a:srgbClr val="FFFFFF"/>
                </a:solidFill>
              </a:rPr>
              <a:t> </a:t>
            </a:r>
            <a:r>
              <a:rPr lang="en-US" altLang="ro-RO" sz="2800" dirty="0" err="1">
                <a:solidFill>
                  <a:srgbClr val="FFFFFF"/>
                </a:solidFill>
              </a:rPr>
              <a:t>mostenirea</a:t>
            </a:r>
            <a:endParaRPr lang="en-US" altLang="ro-RO" sz="2800" dirty="0">
              <a:solidFill>
                <a:srgbClr val="FFFFFF"/>
              </a:solidFill>
            </a:endParaRPr>
          </a:p>
        </p:txBody>
      </p:sp>
      <p:sp>
        <p:nvSpPr>
          <p:cNvPr id="43020" name="Rectangle 4301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ro-RO" dirty="0"/>
              <a:t>Prima data se </a:t>
            </a:r>
            <a:r>
              <a:rPr lang="en-GB" altLang="ro-RO" dirty="0" err="1"/>
              <a:t>apeleaza</a:t>
            </a:r>
            <a:r>
              <a:rPr lang="en-GB" altLang="ro-RO" dirty="0"/>
              <a:t> </a:t>
            </a:r>
            <a:r>
              <a:rPr lang="en-GB" altLang="ro-RO" dirty="0" err="1"/>
              <a:t>constructorul</a:t>
            </a:r>
            <a:r>
              <a:rPr lang="en-GB" altLang="ro-RO" dirty="0"/>
              <a:t> </a:t>
            </a:r>
            <a:r>
              <a:rPr lang="en-GB" altLang="ro-RO" dirty="0" err="1"/>
              <a:t>superclasei</a:t>
            </a:r>
            <a:r>
              <a:rPr lang="en-GB" altLang="ro-RO" dirty="0"/>
              <a:t> </a:t>
            </a:r>
            <a:r>
              <a:rPr lang="en-GB" altLang="ro-RO" dirty="0" err="1"/>
              <a:t>si</a:t>
            </a:r>
            <a:r>
              <a:rPr lang="en-GB" altLang="ro-RO" dirty="0"/>
              <a:t> </a:t>
            </a:r>
            <a:r>
              <a:rPr lang="en-GB" altLang="ro-RO" dirty="0" err="1"/>
              <a:t>apoi</a:t>
            </a:r>
            <a:r>
              <a:rPr lang="en-GB" altLang="ro-RO" dirty="0"/>
              <a:t> al </a:t>
            </a:r>
            <a:r>
              <a:rPr lang="en-GB" altLang="ro-RO" dirty="0" err="1"/>
              <a:t>subclasei</a:t>
            </a:r>
            <a:endParaRPr lang="en-GB" altLang="ro-RO" dirty="0"/>
          </a:p>
          <a:p>
            <a:pPr eaLnBrk="1" hangingPunct="1"/>
            <a:r>
              <a:rPr lang="en-GB" altLang="ro-RO" dirty="0"/>
              <a:t>In </a:t>
            </a:r>
            <a:r>
              <a:rPr lang="en-GB" altLang="ro-RO" dirty="0" err="1"/>
              <a:t>constructorul</a:t>
            </a:r>
            <a:r>
              <a:rPr lang="en-GB" altLang="ro-RO" dirty="0"/>
              <a:t> </a:t>
            </a:r>
            <a:r>
              <a:rPr lang="en-GB" altLang="ro-RO" dirty="0" err="1"/>
              <a:t>unei</a:t>
            </a:r>
            <a:r>
              <a:rPr lang="en-GB" altLang="ro-RO" dirty="0"/>
              <a:t> </a:t>
            </a:r>
            <a:r>
              <a:rPr lang="en-GB" altLang="ro-RO" dirty="0" err="1"/>
              <a:t>subclase</a:t>
            </a:r>
            <a:r>
              <a:rPr lang="en-GB" altLang="ro-RO" dirty="0"/>
              <a:t> prima </a:t>
            </a:r>
            <a:r>
              <a:rPr lang="en-GB" altLang="ro-RO" dirty="0" err="1"/>
              <a:t>linie</a:t>
            </a:r>
            <a:r>
              <a:rPr lang="en-GB" altLang="ro-RO" dirty="0"/>
              <a:t> de cod </a:t>
            </a:r>
            <a:r>
              <a:rPr lang="en-GB" altLang="ro-RO" dirty="0" err="1"/>
              <a:t>poate</a:t>
            </a:r>
            <a:r>
              <a:rPr lang="en-GB" altLang="ro-RO" dirty="0"/>
              <a:t> fi un </a:t>
            </a:r>
            <a:r>
              <a:rPr lang="en-GB" altLang="ro-RO" dirty="0" err="1"/>
              <a:t>apel</a:t>
            </a:r>
            <a:r>
              <a:rPr lang="en-GB" altLang="ro-RO" dirty="0"/>
              <a:t> la un constructor din </a:t>
            </a:r>
            <a:r>
              <a:rPr lang="en-GB" altLang="ro-RO" dirty="0" err="1"/>
              <a:t>clasa</a:t>
            </a:r>
            <a:r>
              <a:rPr lang="en-GB" altLang="ro-RO" dirty="0"/>
              <a:t> de </a:t>
            </a:r>
            <a:r>
              <a:rPr lang="en-GB" altLang="ro-RO" dirty="0" err="1"/>
              <a:t>baza</a:t>
            </a:r>
            <a:r>
              <a:rPr lang="en-GB" altLang="ro-RO" dirty="0"/>
              <a:t>, de forma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ro-RO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ro-RO" b="1" dirty="0">
                <a:latin typeface="Courier New" panose="02070309020205020404" pitchFamily="49" charset="0"/>
              </a:rPr>
              <a:t> super(&lt;</a:t>
            </a:r>
            <a:r>
              <a:rPr lang="en-GB" altLang="ro-RO" b="1" dirty="0" err="1">
                <a:latin typeface="Courier New" panose="02070309020205020404" pitchFamily="49" charset="0"/>
              </a:rPr>
              <a:t>argumente</a:t>
            </a:r>
            <a:r>
              <a:rPr lang="en-GB" altLang="ro-RO" b="1" dirty="0">
                <a:latin typeface="Courier New" panose="02070309020205020404" pitchFamily="49" charset="0"/>
              </a:rPr>
              <a:t>&gt;);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ro-RO" b="1" dirty="0"/>
          </a:p>
          <a:p>
            <a:pPr eaLnBrk="1" hangingPunct="1"/>
            <a:r>
              <a:rPr lang="en-GB" altLang="ro-RO" dirty="0"/>
              <a:t>Daca nu </a:t>
            </a:r>
            <a:r>
              <a:rPr lang="en-GB" altLang="ro-RO" dirty="0" err="1"/>
              <a:t>exista</a:t>
            </a:r>
            <a:r>
              <a:rPr lang="en-GB" altLang="ro-RO" dirty="0"/>
              <a:t> </a:t>
            </a:r>
            <a:r>
              <a:rPr lang="en-GB" altLang="ro-RO" dirty="0" err="1"/>
              <a:t>aceasta</a:t>
            </a:r>
            <a:r>
              <a:rPr lang="en-GB" altLang="ro-RO" dirty="0"/>
              <a:t> </a:t>
            </a:r>
            <a:r>
              <a:rPr lang="en-GB" altLang="ro-RO" dirty="0" err="1"/>
              <a:t>linie</a:t>
            </a:r>
            <a:r>
              <a:rPr lang="en-GB" altLang="ro-RO" dirty="0"/>
              <a:t> se </a:t>
            </a:r>
            <a:r>
              <a:rPr lang="en-GB" altLang="ro-RO" dirty="0" err="1"/>
              <a:t>apeleaza</a:t>
            </a:r>
            <a:r>
              <a:rPr lang="en-GB" altLang="ro-RO" dirty="0"/>
              <a:t> automat </a:t>
            </a:r>
            <a:r>
              <a:rPr lang="en-GB" altLang="ro-RO" dirty="0" err="1"/>
              <a:t>constructorul</a:t>
            </a:r>
            <a:r>
              <a:rPr lang="en-GB" altLang="ro-RO" dirty="0"/>
              <a:t> default al </a:t>
            </a:r>
            <a:r>
              <a:rPr lang="en-GB" altLang="ro-RO" dirty="0" err="1"/>
              <a:t>clasei</a:t>
            </a:r>
            <a:r>
              <a:rPr lang="en-GB" altLang="ro-RO" dirty="0"/>
              <a:t> de </a:t>
            </a:r>
            <a:r>
              <a:rPr lang="en-GB" altLang="ro-RO" dirty="0" err="1"/>
              <a:t>baza</a:t>
            </a:r>
            <a:r>
              <a:rPr lang="en-GB" altLang="ro-RO" dirty="0"/>
              <a:t> </a:t>
            </a:r>
            <a:r>
              <a:rPr lang="en-GB" altLang="ro-RO" dirty="0" err="1"/>
              <a:t>daca</a:t>
            </a:r>
            <a:r>
              <a:rPr lang="en-GB" altLang="ro-RO" dirty="0"/>
              <a:t> </a:t>
            </a:r>
            <a:r>
              <a:rPr lang="en-GB" altLang="ro-RO" dirty="0" err="1"/>
              <a:t>el</a:t>
            </a:r>
            <a:r>
              <a:rPr lang="en-GB" altLang="ro-RO" dirty="0"/>
              <a:t> </a:t>
            </a:r>
            <a:r>
              <a:rPr lang="en-GB" altLang="ro-RO" dirty="0" err="1"/>
              <a:t>exista</a:t>
            </a:r>
            <a:endParaRPr lang="en-GB" altLang="ro-RO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02610-6B22-E032-F81B-6F7A0B19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6" name="Rectangle 43015">
            <a:extLst>
              <a:ext uri="{FF2B5EF4-FFF2-40B4-BE49-F238E27FC236}">
                <a16:creationId xmlns:a16="http://schemas.microsoft.com/office/drawing/2014/main" id="{327A4511-692B-3B0C-95A1-6E635FA89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8" name="Rectangle 43017">
            <a:extLst>
              <a:ext uri="{FF2B5EF4-FFF2-40B4-BE49-F238E27FC236}">
                <a16:creationId xmlns:a16="http://schemas.microsoft.com/office/drawing/2014/main" id="{88E2BCE2-DF0F-7EA5-EB8A-106DC87FD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81D196AD-D9FE-A35A-56B5-74544C918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marL="684000" eaLnBrk="1" hangingPunct="1"/>
            <a:r>
              <a:rPr lang="en-US" altLang="ro-RO" sz="2800" dirty="0" err="1">
                <a:solidFill>
                  <a:srgbClr val="FFFFFF"/>
                </a:solidFill>
              </a:rPr>
              <a:t>Constuctorii</a:t>
            </a:r>
            <a:r>
              <a:rPr lang="en-US" altLang="ro-RO" sz="2800" dirty="0">
                <a:solidFill>
                  <a:srgbClr val="FFFFFF"/>
                </a:solidFill>
              </a:rPr>
              <a:t> </a:t>
            </a:r>
            <a:r>
              <a:rPr lang="en-US" altLang="ro-RO" sz="2800" dirty="0" err="1">
                <a:solidFill>
                  <a:srgbClr val="FFFFFF"/>
                </a:solidFill>
              </a:rPr>
              <a:t>si</a:t>
            </a:r>
            <a:r>
              <a:rPr lang="en-US" altLang="ro-RO" sz="2800" dirty="0">
                <a:solidFill>
                  <a:srgbClr val="FFFFFF"/>
                </a:solidFill>
              </a:rPr>
              <a:t> </a:t>
            </a:r>
            <a:r>
              <a:rPr lang="en-US" altLang="ro-RO" sz="2800" dirty="0" err="1">
                <a:solidFill>
                  <a:srgbClr val="FFFFFF"/>
                </a:solidFill>
              </a:rPr>
              <a:t>mostenirea</a:t>
            </a:r>
            <a:endParaRPr lang="en-US" altLang="ro-RO" sz="2800" dirty="0">
              <a:solidFill>
                <a:srgbClr val="FFFFFF"/>
              </a:solidFill>
            </a:endParaRPr>
          </a:p>
        </p:txBody>
      </p:sp>
      <p:sp>
        <p:nvSpPr>
          <p:cNvPr id="43020" name="Rectangle 43019">
            <a:extLst>
              <a:ext uri="{FF2B5EF4-FFF2-40B4-BE49-F238E27FC236}">
                <a16:creationId xmlns:a16="http://schemas.microsoft.com/office/drawing/2014/main" id="{26486B0D-CD94-9FBA-99E6-D790DA092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9223193-3C88-E3BD-606D-4142D2706D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0677" y="364562"/>
            <a:ext cx="5673205" cy="6891787"/>
          </a:xfrm>
        </p:spPr>
        <p:txBody>
          <a:bodyPr anchor="ctr">
            <a:normAutofit lnSpcReduction="10000"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GB" sz="1600" dirty="0"/>
              <a:t>➡️ </a:t>
            </a:r>
            <a:r>
              <a:rPr lang="en-GB" sz="1600" i="1" dirty="0" err="1"/>
              <a:t>Transmiterea</a:t>
            </a:r>
            <a:r>
              <a:rPr lang="en-GB" sz="1600" i="1" dirty="0"/>
              <a:t> </a:t>
            </a:r>
            <a:r>
              <a:rPr lang="en-GB" sz="1600" i="1" dirty="0" err="1"/>
              <a:t>parametrilor</a:t>
            </a:r>
            <a:r>
              <a:rPr lang="en-GB" sz="1600" i="1" dirty="0"/>
              <a:t> </a:t>
            </a:r>
            <a:r>
              <a:rPr lang="en-GB" sz="1600" i="1" dirty="0" err="1"/>
              <a:t>către</a:t>
            </a:r>
            <a:r>
              <a:rPr lang="en-GB" sz="1600" i="1" dirty="0"/>
              <a:t> </a:t>
            </a:r>
            <a:r>
              <a:rPr lang="en-GB" sz="1600" i="1" dirty="0" err="1"/>
              <a:t>superclasă</a:t>
            </a:r>
            <a:endParaRPr lang="en-GB" sz="1600" i="1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endParaRPr lang="en-GB" sz="1600" i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String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16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Persoana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: "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Persoana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pt-BR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super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n</a:t>
            </a:r>
            <a:r>
              <a:rPr lang="pt-BR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pt-BR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pt-BR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apelă constructorul din Persoana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this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nota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"Nota: "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GB" sz="1600" dirty="0"/>
              <a:t>🟢 </a:t>
            </a:r>
            <a:r>
              <a:rPr lang="en-GB" sz="1600" i="1" dirty="0" err="1"/>
              <a:t>Rezultat</a:t>
            </a:r>
            <a:r>
              <a:rPr lang="en-GB" sz="1600" i="1" dirty="0"/>
              <a:t>:</a:t>
            </a:r>
            <a:endParaRPr lang="en-GB" altLang="ro-RO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altLang="ro-RO" sz="1600" dirty="0" err="1"/>
              <a:t>Persoana</a:t>
            </a:r>
            <a:r>
              <a:rPr lang="en-GB" altLang="ro-RO" sz="1600" dirty="0"/>
              <a:t>: Ana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altLang="ro-RO" sz="1600" dirty="0"/>
              <a:t>Nota: 10</a:t>
            </a:r>
          </a:p>
        </p:txBody>
      </p:sp>
    </p:spTree>
    <p:extLst>
      <p:ext uri="{BB962C8B-B14F-4D97-AF65-F5344CB8AC3E}">
        <p14:creationId xmlns:p14="http://schemas.microsoft.com/office/powerpoint/2010/main" val="1199290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F1D07-0A48-D2DB-C327-872F8344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6" name="Rectangle 43015">
            <a:extLst>
              <a:ext uri="{FF2B5EF4-FFF2-40B4-BE49-F238E27FC236}">
                <a16:creationId xmlns:a16="http://schemas.microsoft.com/office/drawing/2014/main" id="{63516C93-E1C7-EA12-24C6-CC29CD7AF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8" name="Rectangle 43017">
            <a:extLst>
              <a:ext uri="{FF2B5EF4-FFF2-40B4-BE49-F238E27FC236}">
                <a16:creationId xmlns:a16="http://schemas.microsoft.com/office/drawing/2014/main" id="{90A69486-C90C-A679-8ED8-FF28D670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55F632D5-B4F9-035B-1407-CC154BDD7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marL="684000" eaLnBrk="1" hangingPunct="1"/>
            <a:r>
              <a:rPr lang="en-US" altLang="ro-RO" sz="2800" dirty="0" err="1">
                <a:solidFill>
                  <a:srgbClr val="FFFFFF"/>
                </a:solidFill>
              </a:rPr>
              <a:t>Constuctorii</a:t>
            </a:r>
            <a:r>
              <a:rPr lang="en-US" altLang="ro-RO" sz="2800" dirty="0">
                <a:solidFill>
                  <a:srgbClr val="FFFFFF"/>
                </a:solidFill>
              </a:rPr>
              <a:t> </a:t>
            </a:r>
            <a:r>
              <a:rPr lang="en-US" altLang="ro-RO" sz="2800" dirty="0" err="1">
                <a:solidFill>
                  <a:srgbClr val="FFFFFF"/>
                </a:solidFill>
              </a:rPr>
              <a:t>si</a:t>
            </a:r>
            <a:r>
              <a:rPr lang="en-US" altLang="ro-RO" sz="2800" dirty="0">
                <a:solidFill>
                  <a:srgbClr val="FFFFFF"/>
                </a:solidFill>
              </a:rPr>
              <a:t> </a:t>
            </a:r>
            <a:r>
              <a:rPr lang="en-US" altLang="ro-RO" sz="2800" dirty="0" err="1">
                <a:solidFill>
                  <a:srgbClr val="FFFFFF"/>
                </a:solidFill>
              </a:rPr>
              <a:t>mostenirea</a:t>
            </a:r>
            <a:endParaRPr lang="en-US" altLang="ro-RO" sz="2800" dirty="0">
              <a:solidFill>
                <a:srgbClr val="FFFFFF"/>
              </a:solidFill>
            </a:endParaRPr>
          </a:p>
        </p:txBody>
      </p:sp>
      <p:sp>
        <p:nvSpPr>
          <p:cNvPr id="43020" name="Rectangle 43019">
            <a:extLst>
              <a:ext uri="{FF2B5EF4-FFF2-40B4-BE49-F238E27FC236}">
                <a16:creationId xmlns:a16="http://schemas.microsoft.com/office/drawing/2014/main" id="{72C0D153-DF5D-1830-75EC-942B44EF4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0FA0304-0AC3-3A6B-82CB-34069FC7F5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0677" y="364562"/>
            <a:ext cx="5673205" cy="6891787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sz="2800" b="1" dirty="0" err="1"/>
              <a:t>Observații</a:t>
            </a:r>
            <a:r>
              <a:rPr lang="en-GB" sz="2800" b="1" dirty="0"/>
              <a:t> </a:t>
            </a:r>
            <a:r>
              <a:rPr lang="en-GB" sz="2800" b="1" dirty="0" err="1"/>
              <a:t>importante</a:t>
            </a:r>
            <a:r>
              <a:rPr lang="en-GB" sz="28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 err="1"/>
              <a:t>Apelul</a:t>
            </a:r>
            <a:r>
              <a:rPr lang="en-GB" sz="2800" dirty="0"/>
              <a:t> </a:t>
            </a:r>
            <a:r>
              <a:rPr lang="en-GB" sz="2800" dirty="0">
                <a:latin typeface="Courier New" panose="02070309020205020404" pitchFamily="49" charset="0"/>
              </a:rPr>
              <a:t>super()</a:t>
            </a:r>
            <a:r>
              <a:rPr lang="en-GB" sz="2800" dirty="0"/>
              <a:t> </a:t>
            </a:r>
            <a:r>
              <a:rPr lang="en-GB" sz="2800" dirty="0" err="1"/>
              <a:t>trebuie</a:t>
            </a:r>
            <a:r>
              <a:rPr lang="en-GB" sz="2800" dirty="0"/>
              <a:t> </a:t>
            </a:r>
            <a:r>
              <a:rPr lang="en-GB" sz="2800" dirty="0" err="1"/>
              <a:t>să</a:t>
            </a:r>
            <a:r>
              <a:rPr lang="en-GB" sz="2800" dirty="0"/>
              <a:t> fie </a:t>
            </a:r>
            <a:r>
              <a:rPr lang="en-GB" sz="2800" b="1" dirty="0"/>
              <a:t>prima </a:t>
            </a:r>
            <a:r>
              <a:rPr lang="en-GB" sz="2800" b="1" dirty="0" err="1"/>
              <a:t>instrucțiune</a:t>
            </a:r>
            <a:r>
              <a:rPr lang="en-GB" sz="2800" dirty="0"/>
              <a:t> din </a:t>
            </a:r>
            <a:r>
              <a:rPr lang="en-GB" sz="2800" dirty="0" err="1"/>
              <a:t>constructorul</a:t>
            </a:r>
            <a:r>
              <a:rPr lang="en-GB" sz="2800" dirty="0"/>
              <a:t> </a:t>
            </a:r>
            <a:r>
              <a:rPr lang="en-GB" sz="2800" dirty="0" err="1"/>
              <a:t>subclasei</a:t>
            </a:r>
            <a:r>
              <a:rPr lang="en-GB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 err="1"/>
              <a:t>Dacă</a:t>
            </a:r>
            <a:r>
              <a:rPr lang="en-GB" sz="2800" dirty="0"/>
              <a:t> </a:t>
            </a:r>
            <a:r>
              <a:rPr lang="en-GB" sz="2800" dirty="0" err="1"/>
              <a:t>superclasa</a:t>
            </a:r>
            <a:r>
              <a:rPr lang="en-GB" sz="2800" dirty="0"/>
              <a:t> nu are un constructor implicit, </a:t>
            </a:r>
            <a:r>
              <a:rPr lang="en-GB" sz="2800" dirty="0" err="1"/>
              <a:t>subclasa</a:t>
            </a:r>
            <a:r>
              <a:rPr lang="en-GB" sz="2800" dirty="0"/>
              <a:t> </a:t>
            </a:r>
            <a:r>
              <a:rPr lang="en-GB" sz="2800" b="1" dirty="0" err="1"/>
              <a:t>trebuie</a:t>
            </a:r>
            <a:r>
              <a:rPr lang="en-GB" sz="2800" dirty="0"/>
              <a:t> </a:t>
            </a:r>
            <a:r>
              <a:rPr lang="en-GB" sz="2800" dirty="0" err="1"/>
              <a:t>să</a:t>
            </a:r>
            <a:r>
              <a:rPr lang="en-GB" sz="2800" dirty="0"/>
              <a:t> </a:t>
            </a:r>
            <a:r>
              <a:rPr lang="en-GB" sz="2800" dirty="0" err="1"/>
              <a:t>apeleze</a:t>
            </a:r>
            <a:r>
              <a:rPr lang="en-GB" sz="2800" dirty="0"/>
              <a:t> explicit </a:t>
            </a:r>
            <a:r>
              <a:rPr lang="en-GB" sz="2800" dirty="0" err="1"/>
              <a:t>unul</a:t>
            </a:r>
            <a:r>
              <a:rPr lang="en-GB" sz="2800" dirty="0"/>
              <a:t> existent.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 err="1"/>
              <a:t>Constructorii</a:t>
            </a:r>
            <a:r>
              <a:rPr lang="en-GB" sz="2800" dirty="0"/>
              <a:t> </a:t>
            </a:r>
            <a:r>
              <a:rPr lang="en-GB" sz="2800" b="1" dirty="0"/>
              <a:t>nu se </a:t>
            </a:r>
            <a:r>
              <a:rPr lang="en-GB" sz="2800" b="1" dirty="0" err="1"/>
              <a:t>moștenesc</a:t>
            </a:r>
            <a:r>
              <a:rPr lang="en-GB" sz="2800" dirty="0"/>
              <a:t>, </a:t>
            </a:r>
            <a:r>
              <a:rPr lang="en-GB" sz="2800" dirty="0" err="1"/>
              <a:t>dar</a:t>
            </a:r>
            <a:r>
              <a:rPr lang="en-GB" sz="2800" dirty="0"/>
              <a:t> pot fi </a:t>
            </a:r>
            <a:r>
              <a:rPr lang="en-GB" sz="2800" b="1" dirty="0" err="1"/>
              <a:t>reutilizați</a:t>
            </a:r>
            <a:r>
              <a:rPr lang="en-GB" sz="2800" dirty="0"/>
              <a:t> </a:t>
            </a:r>
            <a:r>
              <a:rPr lang="en-GB" sz="2800" dirty="0" err="1"/>
              <a:t>prin</a:t>
            </a:r>
            <a:r>
              <a:rPr lang="en-GB" sz="2800" dirty="0"/>
              <a:t> </a:t>
            </a:r>
            <a:r>
              <a:rPr lang="en-GB" sz="2800" dirty="0" err="1"/>
              <a:t>apelul</a:t>
            </a:r>
            <a:r>
              <a:rPr lang="en-GB" sz="2800" dirty="0"/>
              <a:t> </a:t>
            </a:r>
            <a:r>
              <a:rPr lang="en-GB" sz="2800" dirty="0">
                <a:latin typeface="Courier New" panose="02070309020205020404" pitchFamily="49" charset="0"/>
              </a:rPr>
              <a:t>super(...)</a:t>
            </a:r>
            <a:r>
              <a:rPr lang="en-GB" sz="2800" dirty="0"/>
              <a:t>.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endParaRPr lang="en-GB" altLang="ro-RO" sz="3600" dirty="0"/>
          </a:p>
        </p:txBody>
      </p:sp>
    </p:spTree>
    <p:extLst>
      <p:ext uri="{BB962C8B-B14F-4D97-AF65-F5344CB8AC3E}">
        <p14:creationId xmlns:p14="http://schemas.microsoft.com/office/powerpoint/2010/main" val="1792256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ED909-9258-1DA5-ED88-DB1F0E70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6" name="Rectangle 43015">
            <a:extLst>
              <a:ext uri="{FF2B5EF4-FFF2-40B4-BE49-F238E27FC236}">
                <a16:creationId xmlns:a16="http://schemas.microsoft.com/office/drawing/2014/main" id="{247AEFCE-C671-97F4-214A-7E90F3EAB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8" name="Rectangle 43017">
            <a:extLst>
              <a:ext uri="{FF2B5EF4-FFF2-40B4-BE49-F238E27FC236}">
                <a16:creationId xmlns:a16="http://schemas.microsoft.com/office/drawing/2014/main" id="{714B32B4-6479-AB2F-7C70-D2FBBCBAA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8033F0E0-00E1-16BE-AD0F-CE1FB69B2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marL="684000"/>
            <a:r>
              <a:rPr lang="en-US" altLang="ro-RO" sz="3600" dirty="0">
                <a:solidFill>
                  <a:srgbClr val="FFFFFF"/>
                </a:solidFill>
              </a:rPr>
              <a:t>this() </a:t>
            </a:r>
            <a:r>
              <a:rPr lang="en-US" altLang="ro-RO" sz="3600" dirty="0" err="1">
                <a:solidFill>
                  <a:srgbClr val="FFFFFF"/>
                </a:solidFill>
              </a:rPr>
              <a:t>și</a:t>
            </a:r>
            <a:r>
              <a:rPr lang="en-US" altLang="ro-RO" sz="3600" dirty="0">
                <a:solidFill>
                  <a:srgbClr val="FFFFFF"/>
                </a:solidFill>
              </a:rPr>
              <a:t> super()</a:t>
            </a:r>
          </a:p>
        </p:txBody>
      </p:sp>
      <p:sp>
        <p:nvSpPr>
          <p:cNvPr id="43020" name="Rectangle 43019">
            <a:extLst>
              <a:ext uri="{FF2B5EF4-FFF2-40B4-BE49-F238E27FC236}">
                <a16:creationId xmlns:a16="http://schemas.microsoft.com/office/drawing/2014/main" id="{C0ECFDEE-A848-DFC2-D200-C9C4B1479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9E8E382-54DB-C386-C7C8-8BB31EAB3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0677" y="364563"/>
            <a:ext cx="6229948" cy="834844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it-IT" sz="2800" dirty="0"/>
              <a:t>➡️ </a:t>
            </a:r>
            <a:r>
              <a:rPr lang="it-IT" sz="2800" i="1" dirty="0"/>
              <a:t>Diferența dintre </a:t>
            </a:r>
            <a:r>
              <a:rPr lang="it-IT" sz="2800" i="1" dirty="0">
                <a:latin typeface="Courier New" panose="02070309020205020404" pitchFamily="49" charset="0"/>
              </a:rPr>
              <a:t>this()</a:t>
            </a:r>
            <a:r>
              <a:rPr lang="it-IT" sz="2800" i="1" dirty="0"/>
              <a:t> și </a:t>
            </a:r>
            <a:r>
              <a:rPr lang="it-IT" sz="2800" i="1" dirty="0">
                <a:latin typeface="Courier New" panose="02070309020205020404" pitchFamily="49" charset="0"/>
              </a:rPr>
              <a:t>super()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endParaRPr lang="en-GB" altLang="ro-RO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97D783-9E31-3897-B104-03C8E2B26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588842"/>
              </p:ext>
            </p:extLst>
          </p:nvPr>
        </p:nvGraphicFramePr>
        <p:xfrm>
          <a:off x="3522412" y="1199407"/>
          <a:ext cx="6720417" cy="1786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139">
                  <a:extLst>
                    <a:ext uri="{9D8B030D-6E8A-4147-A177-3AD203B41FA5}">
                      <a16:colId xmlns:a16="http://schemas.microsoft.com/office/drawing/2014/main" val="627589805"/>
                    </a:ext>
                  </a:extLst>
                </a:gridCol>
                <a:gridCol w="2240139">
                  <a:extLst>
                    <a:ext uri="{9D8B030D-6E8A-4147-A177-3AD203B41FA5}">
                      <a16:colId xmlns:a16="http://schemas.microsoft.com/office/drawing/2014/main" val="3249512522"/>
                    </a:ext>
                  </a:extLst>
                </a:gridCol>
                <a:gridCol w="2240139">
                  <a:extLst>
                    <a:ext uri="{9D8B030D-6E8A-4147-A177-3AD203B41FA5}">
                      <a16:colId xmlns:a16="http://schemas.microsoft.com/office/drawing/2014/main" val="22723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Cuvânt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cheie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Apelă către...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Scop principal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99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this()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un alt constructor din aceeași clasă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reutilizare internă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18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super()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constructorul</a:t>
                      </a:r>
                      <a:r>
                        <a:rPr lang="en-GB" dirty="0"/>
                        <a:t> din </a:t>
                      </a:r>
                      <a:r>
                        <a:rPr lang="en-GB" dirty="0" err="1"/>
                        <a:t>superclasă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inițializarea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clasei</a:t>
                      </a:r>
                      <a:r>
                        <a:rPr lang="en-GB" dirty="0"/>
                        <a:t> de </a:t>
                      </a:r>
                      <a:r>
                        <a:rPr lang="en-GB" dirty="0" err="1"/>
                        <a:t>bază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184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7FF794-26A6-CCFA-363E-A726D02464E0}"/>
              </a:ext>
            </a:extLst>
          </p:cNvPr>
          <p:cNvSpPr txBox="1"/>
          <p:nvPr/>
        </p:nvSpPr>
        <p:spPr>
          <a:xfrm>
            <a:off x="4053677" y="4007522"/>
            <a:ext cx="51364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</a:rPr>
              <a:t>Raport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den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Raport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this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8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apel</a:t>
            </a:r>
            <a:r>
              <a:rPr lang="en-GB" sz="18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către</a:t>
            </a:r>
            <a:r>
              <a:rPr lang="en-GB" sz="18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propriul</a:t>
            </a:r>
            <a:r>
              <a:rPr lang="en-GB" sz="1800" b="0" dirty="0">
                <a:solidFill>
                  <a:srgbClr val="008000"/>
                </a:solidFill>
                <a:highlight>
                  <a:srgbClr val="FFFFFF"/>
                </a:highlight>
              </a:rPr>
              <a:t> constructor</a:t>
            </a: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Raport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d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den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d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84491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8CF9-4750-FE14-CF04-06FC8D07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02" y="569714"/>
            <a:ext cx="2550620" cy="6363487"/>
          </a:xfrm>
        </p:spPr>
        <p:txBody>
          <a:bodyPr anchor="ctr">
            <a:normAutofit/>
          </a:bodyPr>
          <a:lstStyle/>
          <a:p>
            <a:r>
              <a:rPr lang="it-IT" sz="3200">
                <a:solidFill>
                  <a:srgbClr val="FFFFFF"/>
                </a:solidFill>
              </a:rPr>
              <a:t>Ordinea apelului constructorilor în moștenire</a:t>
            </a:r>
            <a:endParaRPr lang="en-GB" sz="32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74C917-C262-0CD6-6F01-E8B8551FD4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388525"/>
              </p:ext>
            </p:extLst>
          </p:nvPr>
        </p:nvGraphicFramePr>
        <p:xfrm>
          <a:off x="3920680" y="705220"/>
          <a:ext cx="5620474" cy="6227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5721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A6DCD-2471-466E-DA91-590E3D71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01" y="667888"/>
            <a:ext cx="2933321" cy="6223898"/>
          </a:xfrm>
        </p:spPr>
        <p:txBody>
          <a:bodyPr anchor="ctr">
            <a:normAutofit/>
          </a:bodyPr>
          <a:lstStyle/>
          <a:p>
            <a:r>
              <a:rPr lang="es-ES" sz="3200" dirty="0">
                <a:solidFill>
                  <a:srgbClr val="FFFFFF"/>
                </a:solidFill>
              </a:rPr>
              <a:t>➡️ </a:t>
            </a:r>
            <a:r>
              <a:rPr lang="es-ES" sz="3200" i="1" dirty="0">
                <a:solidFill>
                  <a:srgbClr val="FFFFFF"/>
                </a:solidFill>
              </a:rPr>
              <a:t>Ordinea de apel a constructorilor într-o ierarhie de clase</a:t>
            </a:r>
            <a:br>
              <a:rPr lang="es-ES" sz="3200" dirty="0">
                <a:solidFill>
                  <a:srgbClr val="FFFFFF"/>
                </a:solidFill>
              </a:rPr>
            </a:br>
            <a:endParaRPr lang="en-GB" sz="32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0A51-6E53-BD8F-8E91-1B698B42F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2412" y="98930"/>
            <a:ext cx="6526970" cy="7361814"/>
          </a:xfrm>
        </p:spPr>
        <p:txBody>
          <a:bodyPr anchor="ctr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"Constructor A"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"Constructor B"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"Constructor C"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Test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[]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args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C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obj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2400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dirty="0"/>
              <a:t>🟢 </a:t>
            </a:r>
            <a:r>
              <a:rPr lang="en-GB" sz="2400" b="1" dirty="0" err="1"/>
              <a:t>Rezultat</a:t>
            </a:r>
            <a:r>
              <a:rPr lang="en-GB" sz="2400" b="1" dirty="0"/>
              <a:t>: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s-ES" dirty="0"/>
              <a:t>Constructor 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s-ES" dirty="0"/>
              <a:t>Constructor 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s-ES" dirty="0"/>
              <a:t>Constructor 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BE13F2-ABD8-A88F-C901-3FE6936F4691}"/>
              </a:ext>
            </a:extLst>
          </p:cNvPr>
          <p:cNvGrpSpPr/>
          <p:nvPr/>
        </p:nvGrpSpPr>
        <p:grpSpPr>
          <a:xfrm>
            <a:off x="5192102" y="5467118"/>
            <a:ext cx="5041811" cy="1938992"/>
            <a:chOff x="5192102" y="5467118"/>
            <a:chExt cx="5041811" cy="1938992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CD15E80B-C28D-7E76-B454-D3E73D83F84D}"/>
                </a:ext>
              </a:extLst>
            </p:cNvPr>
            <p:cNvSpPr/>
            <p:nvPr/>
          </p:nvSpPr>
          <p:spPr>
            <a:xfrm>
              <a:off x="5192102" y="5467118"/>
              <a:ext cx="5041811" cy="1938992"/>
            </a:xfrm>
            <a:prstGeom prst="wedgeRoundRectCallout">
              <a:avLst>
                <a:gd name="adj1" fmla="val -58156"/>
                <a:gd name="adj2" fmla="val 1280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58FE99-E8DC-8391-E5D8-5A6D516E2392}"/>
                </a:ext>
              </a:extLst>
            </p:cNvPr>
            <p:cNvSpPr txBox="1"/>
            <p:nvPr/>
          </p:nvSpPr>
          <p:spPr>
            <a:xfrm>
              <a:off x="5400316" y="5589065"/>
              <a:ext cx="4662337" cy="16950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GB"/>
              </a:defPPr>
              <a:lvl1pPr algn="ctr">
                <a:defRPr>
                  <a:solidFill>
                    <a:schemeClr val="lt1"/>
                  </a:solidFill>
                  <a:latin typeface="+mn-lt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</a:defRPr>
              </a:lvl9pPr>
            </a:lstStyle>
            <a:p>
              <a:r>
                <a:rPr lang="en-GB" sz="1600" dirty="0"/>
                <a:t>Se </a:t>
              </a:r>
              <a:r>
                <a:rPr lang="en-GB" sz="1600" dirty="0" err="1"/>
                <a:t>apelează</a:t>
              </a:r>
              <a:r>
                <a:rPr lang="en-GB" sz="1600" dirty="0"/>
                <a:t> automat </a:t>
              </a:r>
              <a:r>
                <a:rPr lang="en-GB" sz="1600" dirty="0" err="1"/>
                <a:t>constructorul</a:t>
              </a:r>
              <a:r>
                <a:rPr lang="en-GB" sz="1600" dirty="0"/>
                <a:t> </a:t>
              </a:r>
              <a:r>
                <a:rPr lang="en-GB" sz="1600" dirty="0" err="1"/>
                <a:t>superclasei</a:t>
              </a:r>
              <a:r>
                <a:rPr lang="en-GB" sz="1600" dirty="0"/>
                <a:t> la </a:t>
              </a:r>
              <a:r>
                <a:rPr lang="en-GB" sz="1600" dirty="0" err="1"/>
                <a:t>începutul</a:t>
              </a:r>
              <a:r>
                <a:rPr lang="en-GB" sz="1600" dirty="0"/>
                <a:t> </a:t>
              </a:r>
              <a:r>
                <a:rPr lang="en-GB" sz="1600" dirty="0" err="1"/>
                <a:t>fiecărui</a:t>
              </a:r>
              <a:r>
                <a:rPr lang="en-GB" sz="1600" dirty="0"/>
                <a:t> constructor.</a:t>
              </a:r>
            </a:p>
            <a:p>
              <a:r>
                <a:rPr lang="en-GB" sz="1600" dirty="0"/>
                <a:t>super() </a:t>
              </a:r>
              <a:r>
                <a:rPr lang="en-GB" sz="1600" dirty="0" err="1"/>
                <a:t>este</a:t>
              </a:r>
              <a:r>
                <a:rPr lang="en-GB" sz="1600" dirty="0"/>
                <a:t> </a:t>
              </a:r>
              <a:r>
                <a:rPr lang="en-GB" sz="1600" dirty="0" err="1"/>
                <a:t>inserat</a:t>
              </a:r>
              <a:r>
                <a:rPr lang="en-GB" sz="1600" dirty="0"/>
                <a:t> implicit </a:t>
              </a:r>
              <a:r>
                <a:rPr lang="en-GB" sz="1600" dirty="0" err="1"/>
                <a:t>dacă</a:t>
              </a:r>
              <a:r>
                <a:rPr lang="en-GB" sz="1600" dirty="0"/>
                <a:t> nu </a:t>
              </a:r>
              <a:r>
                <a:rPr lang="en-GB" sz="1600" dirty="0" err="1"/>
                <a:t>este</a:t>
              </a:r>
              <a:r>
                <a:rPr lang="en-GB" sz="1600" dirty="0"/>
                <a:t> </a:t>
              </a:r>
              <a:r>
                <a:rPr lang="en-GB" sz="1600" dirty="0" err="1"/>
                <a:t>scris</a:t>
              </a:r>
              <a:r>
                <a:rPr lang="en-GB" sz="1600" dirty="0"/>
                <a:t> explicit.</a:t>
              </a:r>
            </a:p>
            <a:p>
              <a:r>
                <a:rPr lang="en-GB" sz="1600" dirty="0" err="1"/>
                <a:t>Lanțul</a:t>
              </a:r>
              <a:r>
                <a:rPr lang="en-GB" sz="1600" dirty="0"/>
                <a:t> se </a:t>
              </a:r>
              <a:r>
                <a:rPr lang="en-GB" sz="1600" dirty="0" err="1"/>
                <a:t>construiește</a:t>
              </a:r>
              <a:r>
                <a:rPr lang="en-GB" sz="1600" dirty="0"/>
                <a:t> de la </a:t>
              </a:r>
              <a:r>
                <a:rPr lang="en-GB" sz="1600" dirty="0" err="1"/>
                <a:t>clasa</a:t>
              </a:r>
              <a:r>
                <a:rPr lang="en-GB" sz="1600" dirty="0"/>
                <a:t> de </a:t>
              </a:r>
              <a:r>
                <a:rPr lang="en-GB" sz="1600" dirty="0" err="1"/>
                <a:t>bază</a:t>
              </a:r>
              <a:r>
                <a:rPr lang="en-GB" sz="1600" dirty="0"/>
                <a:t> </a:t>
              </a:r>
              <a:r>
                <a:rPr lang="en-GB" sz="1600" dirty="0" err="1"/>
                <a:t>către</a:t>
              </a:r>
              <a:r>
                <a:rPr lang="en-GB" sz="1600" dirty="0"/>
                <a:t> </a:t>
              </a:r>
              <a:r>
                <a:rPr lang="en-GB" sz="1600" dirty="0" err="1"/>
                <a:t>cea</a:t>
              </a:r>
              <a:r>
                <a:rPr lang="en-GB" sz="1600" dirty="0"/>
                <a:t> </a:t>
              </a:r>
              <a:r>
                <a:rPr lang="en-GB" sz="1600" dirty="0" err="1"/>
                <a:t>derivată</a:t>
              </a:r>
              <a:r>
                <a:rPr lang="en-GB" sz="16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08080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D9BB3-78EF-C773-1338-B25E9DB3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D5E95D-6538-23C8-986D-B49D919FE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78256C-4438-F362-289D-A652F5E4F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01F93-42AE-6E6E-539A-D73E2590E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01" y="667888"/>
            <a:ext cx="2933321" cy="6223898"/>
          </a:xfrm>
        </p:spPr>
        <p:txBody>
          <a:bodyPr anchor="ctr">
            <a:normAutofit/>
          </a:bodyPr>
          <a:lstStyle/>
          <a:p>
            <a:r>
              <a:rPr lang="en-GB" sz="3200" dirty="0" err="1">
                <a:solidFill>
                  <a:srgbClr val="FFFF00"/>
                </a:solidFill>
              </a:rPr>
              <a:t>Sinteză</a:t>
            </a:r>
            <a:r>
              <a:rPr lang="en-GB" sz="3200" dirty="0">
                <a:solidFill>
                  <a:srgbClr val="FFFF00"/>
                </a:solidFill>
              </a:rPr>
              <a:t> – Cum </a:t>
            </a:r>
            <a:r>
              <a:rPr lang="en-GB" sz="3200" dirty="0" err="1">
                <a:solidFill>
                  <a:srgbClr val="FFFF00"/>
                </a:solidFill>
              </a:rPr>
              <a:t>funcționează</a:t>
            </a:r>
            <a:r>
              <a:rPr lang="en-GB" sz="3200" dirty="0">
                <a:solidFill>
                  <a:srgbClr val="FFFF00"/>
                </a:solidFill>
              </a:rPr>
              <a:t> </a:t>
            </a:r>
            <a:r>
              <a:rPr lang="en-GB" sz="3200" dirty="0" err="1">
                <a:solidFill>
                  <a:srgbClr val="FFFF00"/>
                </a:solidFill>
              </a:rPr>
              <a:t>constructorii</a:t>
            </a:r>
            <a:r>
              <a:rPr lang="en-GB" sz="3200" dirty="0">
                <a:solidFill>
                  <a:srgbClr val="FFFF00"/>
                </a:solidFill>
              </a:rPr>
              <a:t> </a:t>
            </a:r>
            <a:r>
              <a:rPr lang="en-GB" sz="3200" dirty="0" err="1">
                <a:solidFill>
                  <a:srgbClr val="FFFF00"/>
                </a:solidFill>
              </a:rPr>
              <a:t>în</a:t>
            </a:r>
            <a:r>
              <a:rPr lang="en-GB" sz="3200" dirty="0">
                <a:solidFill>
                  <a:srgbClr val="FFFF00"/>
                </a:solidFill>
              </a:rPr>
              <a:t> </a:t>
            </a:r>
            <a:r>
              <a:rPr lang="en-GB" sz="3200" dirty="0" err="1">
                <a:solidFill>
                  <a:srgbClr val="FFFF00"/>
                </a:solidFill>
              </a:rPr>
              <a:t>moștenire</a:t>
            </a:r>
            <a:endParaRPr lang="en-GB" sz="3200" dirty="0">
              <a:solidFill>
                <a:srgbClr val="FFFF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83775D-D3E0-320E-F28D-17221400E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16B82-5051-92EF-65B9-9844429B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080" y="98930"/>
            <a:ext cx="5822932" cy="7361814"/>
          </a:xfrm>
        </p:spPr>
        <p:txBody>
          <a:bodyPr anchor="ctr">
            <a:normAutofit/>
          </a:bodyPr>
          <a:lstStyle/>
          <a:p>
            <a:r>
              <a:rPr lang="en-GB" b="1" dirty="0"/>
              <a:t>🟢 Reguli </a:t>
            </a:r>
            <a:r>
              <a:rPr lang="en-GB" b="1" dirty="0" err="1"/>
              <a:t>fundamentale</a:t>
            </a:r>
            <a:r>
              <a:rPr lang="en-GB" b="1" dirty="0"/>
              <a:t>:</a:t>
            </a:r>
          </a:p>
          <a:p>
            <a:r>
              <a:rPr lang="en-GB" dirty="0"/>
              <a:t>🔸 </a:t>
            </a:r>
            <a:r>
              <a:rPr lang="en-GB" b="1" dirty="0" err="1"/>
              <a:t>Constructorii</a:t>
            </a:r>
            <a:r>
              <a:rPr lang="en-GB" b="1" dirty="0"/>
              <a:t> nu se </a:t>
            </a:r>
            <a:r>
              <a:rPr lang="en-GB" b="1" dirty="0" err="1"/>
              <a:t>moștenesc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pot fi </a:t>
            </a:r>
            <a:r>
              <a:rPr lang="en-GB" b="1" dirty="0" err="1"/>
              <a:t>apelați</a:t>
            </a:r>
            <a:r>
              <a:rPr lang="en-GB" dirty="0"/>
              <a:t> din </a:t>
            </a:r>
            <a:r>
              <a:rPr lang="en-GB" dirty="0" err="1"/>
              <a:t>subclase</a:t>
            </a:r>
            <a:r>
              <a:rPr lang="en-GB" dirty="0"/>
              <a:t>.</a:t>
            </a:r>
          </a:p>
          <a:p>
            <a:r>
              <a:rPr lang="en-GB" dirty="0"/>
              <a:t>🔸 </a:t>
            </a:r>
            <a:r>
              <a:rPr lang="en-GB" dirty="0" err="1"/>
              <a:t>Apelul</a:t>
            </a:r>
            <a:r>
              <a:rPr lang="en-GB" dirty="0"/>
              <a:t> </a:t>
            </a:r>
            <a:r>
              <a:rPr lang="en-GB" dirty="0" err="1"/>
              <a:t>către</a:t>
            </a:r>
            <a:r>
              <a:rPr lang="en-GB" dirty="0"/>
              <a:t> </a:t>
            </a:r>
            <a:r>
              <a:rPr lang="en-GB" dirty="0" err="1"/>
              <a:t>constructorul</a:t>
            </a:r>
            <a:r>
              <a:rPr lang="en-GB" dirty="0"/>
              <a:t> </a:t>
            </a:r>
            <a:r>
              <a:rPr lang="en-GB" dirty="0" err="1"/>
              <a:t>superclasei</a:t>
            </a:r>
            <a:r>
              <a:rPr lang="en-GB" dirty="0"/>
              <a:t> se face cu </a:t>
            </a:r>
            <a:r>
              <a:rPr lang="en-GB" b="1" dirty="0"/>
              <a:t>super()</a:t>
            </a:r>
            <a:r>
              <a:rPr lang="en-GB" dirty="0"/>
              <a:t> —</a:t>
            </a:r>
            <a:br>
              <a:rPr lang="en-GB" dirty="0"/>
            </a:b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</a:t>
            </a:r>
            <a:r>
              <a:rPr lang="en-GB" b="1" dirty="0"/>
              <a:t>prima </a:t>
            </a:r>
            <a:r>
              <a:rPr lang="en-GB" b="1" dirty="0" err="1"/>
              <a:t>instrucțiune</a:t>
            </a:r>
            <a:r>
              <a:rPr lang="en-GB" dirty="0"/>
              <a:t> din constructor.</a:t>
            </a:r>
          </a:p>
          <a:p>
            <a:r>
              <a:rPr lang="en-GB" dirty="0"/>
              <a:t>🔸 </a:t>
            </a:r>
            <a:r>
              <a:rPr lang="en-GB" dirty="0" err="1"/>
              <a:t>Dacă</a:t>
            </a:r>
            <a:r>
              <a:rPr lang="en-GB" dirty="0"/>
              <a:t> nu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scris</a:t>
            </a:r>
            <a:r>
              <a:rPr lang="en-GB" dirty="0"/>
              <a:t> explicit, </a:t>
            </a:r>
            <a:r>
              <a:rPr lang="en-GB" dirty="0" err="1"/>
              <a:t>compilatorul</a:t>
            </a:r>
            <a:r>
              <a:rPr lang="en-GB" dirty="0"/>
              <a:t> </a:t>
            </a:r>
            <a:r>
              <a:rPr lang="en-GB" dirty="0" err="1"/>
              <a:t>inserează</a:t>
            </a:r>
            <a:r>
              <a:rPr lang="en-GB" dirty="0"/>
              <a:t> automat super()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parametri</a:t>
            </a:r>
            <a:r>
              <a:rPr lang="en-GB" dirty="0"/>
              <a:t>.</a:t>
            </a:r>
          </a:p>
          <a:p>
            <a:r>
              <a:rPr lang="en-GB" dirty="0"/>
              <a:t>🔸 </a:t>
            </a:r>
            <a:r>
              <a:rPr lang="en-GB" dirty="0" err="1"/>
              <a:t>Constructorii</a:t>
            </a:r>
            <a:r>
              <a:rPr lang="en-GB" dirty="0"/>
              <a:t> se </a:t>
            </a:r>
            <a:r>
              <a:rPr lang="en-GB" dirty="0" err="1"/>
              <a:t>apelează</a:t>
            </a:r>
            <a:r>
              <a:rPr lang="en-GB" dirty="0"/>
              <a:t> </a:t>
            </a:r>
            <a:r>
              <a:rPr lang="en-GB" b="1" dirty="0" err="1"/>
              <a:t>în</a:t>
            </a:r>
            <a:r>
              <a:rPr lang="en-GB" b="1" dirty="0"/>
              <a:t> </a:t>
            </a:r>
            <a:r>
              <a:rPr lang="en-GB" b="1" dirty="0" err="1"/>
              <a:t>ordinea</a:t>
            </a:r>
            <a:r>
              <a:rPr lang="en-GB" b="1" dirty="0"/>
              <a:t> </a:t>
            </a:r>
            <a:r>
              <a:rPr lang="en-GB" b="1" dirty="0" err="1"/>
              <a:t>ierarhiei</a:t>
            </a:r>
            <a:r>
              <a:rPr lang="en-GB" dirty="0"/>
              <a:t>:</a:t>
            </a:r>
            <a:br>
              <a:rPr lang="en-GB" dirty="0"/>
            </a:br>
            <a:r>
              <a:rPr lang="en-GB" b="1" dirty="0" err="1"/>
              <a:t>superclasa</a:t>
            </a:r>
            <a:r>
              <a:rPr lang="en-GB" b="1" dirty="0"/>
              <a:t> → </a:t>
            </a:r>
            <a:r>
              <a:rPr lang="en-GB" b="1" dirty="0" err="1"/>
              <a:t>subclasa</a:t>
            </a:r>
            <a:r>
              <a:rPr lang="en-GB" dirty="0"/>
              <a:t>.</a:t>
            </a:r>
          </a:p>
          <a:p>
            <a:r>
              <a:rPr lang="en-GB" dirty="0"/>
              <a:t>🔸 O </a:t>
            </a:r>
            <a:r>
              <a:rPr lang="en-GB" dirty="0" err="1"/>
              <a:t>subclasă</a:t>
            </a:r>
            <a:r>
              <a:rPr lang="en-GB" dirty="0"/>
              <a:t> </a:t>
            </a:r>
            <a:r>
              <a:rPr lang="en-GB" b="1" dirty="0" err="1"/>
              <a:t>poate</a:t>
            </a:r>
            <a:r>
              <a:rPr lang="en-GB" b="1" dirty="0"/>
              <a:t> </a:t>
            </a:r>
            <a:r>
              <a:rPr lang="en-GB" b="1" dirty="0" err="1"/>
              <a:t>apela</a:t>
            </a:r>
            <a:r>
              <a:rPr lang="en-GB" b="1" dirty="0"/>
              <a:t> un alt constructor </a:t>
            </a:r>
            <a:r>
              <a:rPr lang="en-GB" b="1" dirty="0" err="1"/>
              <a:t>propriu</a:t>
            </a:r>
            <a:r>
              <a:rPr lang="en-GB" dirty="0"/>
              <a:t> </a:t>
            </a:r>
            <a:r>
              <a:rPr lang="en-GB" dirty="0" err="1"/>
              <a:t>folosind</a:t>
            </a:r>
            <a:r>
              <a:rPr lang="en-GB" dirty="0"/>
              <a:t> </a:t>
            </a:r>
            <a:r>
              <a:rPr lang="en-GB" b="1" dirty="0"/>
              <a:t>this()</a:t>
            </a:r>
            <a:r>
              <a:rPr lang="en-GB" dirty="0"/>
              <a:t>.</a:t>
            </a:r>
          </a:p>
          <a:p>
            <a:r>
              <a:rPr lang="en-GB" dirty="0"/>
              <a:t>🔸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superclasa</a:t>
            </a:r>
            <a:r>
              <a:rPr lang="en-GB" dirty="0"/>
              <a:t> nu are un constructor implicit, </a:t>
            </a:r>
            <a:r>
              <a:rPr lang="en-GB" dirty="0" err="1"/>
              <a:t>subclasa</a:t>
            </a:r>
            <a:r>
              <a:rPr lang="en-GB" dirty="0"/>
              <a:t> </a:t>
            </a:r>
            <a:r>
              <a:rPr lang="en-GB" b="1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apeleze</a:t>
            </a:r>
            <a:r>
              <a:rPr lang="en-GB" dirty="0"/>
              <a:t> explicit </a:t>
            </a:r>
            <a:r>
              <a:rPr lang="en-GB" dirty="0" err="1"/>
              <a:t>unul</a:t>
            </a:r>
            <a:r>
              <a:rPr lang="en-GB" dirty="0"/>
              <a:t> existent.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8381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11731-AD6D-E3EA-1DF1-52EF7147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FFB57B-6959-4034-FF40-254C3CBA0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D3ABF9-A780-B116-3C1C-F7538C54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7FAA1-F86A-4779-7833-EED2A2F9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01" y="667888"/>
            <a:ext cx="2933321" cy="6223898"/>
          </a:xfrm>
        </p:spPr>
        <p:txBody>
          <a:bodyPr anchor="ctr">
            <a:normAutofit/>
          </a:bodyPr>
          <a:lstStyle/>
          <a:p>
            <a:r>
              <a:rPr lang="en-GB" sz="3200" dirty="0" err="1">
                <a:solidFill>
                  <a:srgbClr val="FFFF00"/>
                </a:solidFill>
              </a:rPr>
              <a:t>Sinteză</a:t>
            </a:r>
            <a:r>
              <a:rPr lang="en-GB" sz="3200" dirty="0">
                <a:solidFill>
                  <a:srgbClr val="FFFF00"/>
                </a:solidFill>
              </a:rPr>
              <a:t> – Cum </a:t>
            </a:r>
            <a:r>
              <a:rPr lang="en-GB" sz="3200" dirty="0" err="1">
                <a:solidFill>
                  <a:srgbClr val="FFFF00"/>
                </a:solidFill>
              </a:rPr>
              <a:t>funcționează</a:t>
            </a:r>
            <a:r>
              <a:rPr lang="en-GB" sz="3200" dirty="0">
                <a:solidFill>
                  <a:srgbClr val="FFFF00"/>
                </a:solidFill>
              </a:rPr>
              <a:t> </a:t>
            </a:r>
            <a:r>
              <a:rPr lang="en-GB" sz="3200" dirty="0" err="1">
                <a:solidFill>
                  <a:srgbClr val="FFFF00"/>
                </a:solidFill>
              </a:rPr>
              <a:t>constructorii</a:t>
            </a:r>
            <a:r>
              <a:rPr lang="en-GB" sz="3200" dirty="0">
                <a:solidFill>
                  <a:srgbClr val="FFFF00"/>
                </a:solidFill>
              </a:rPr>
              <a:t> </a:t>
            </a:r>
            <a:r>
              <a:rPr lang="en-GB" sz="3200" dirty="0" err="1">
                <a:solidFill>
                  <a:srgbClr val="FFFF00"/>
                </a:solidFill>
              </a:rPr>
              <a:t>în</a:t>
            </a:r>
            <a:r>
              <a:rPr lang="en-GB" sz="3200" dirty="0">
                <a:solidFill>
                  <a:srgbClr val="FFFF00"/>
                </a:solidFill>
              </a:rPr>
              <a:t> </a:t>
            </a:r>
            <a:r>
              <a:rPr lang="en-GB" sz="3200" dirty="0" err="1">
                <a:solidFill>
                  <a:srgbClr val="FFFF00"/>
                </a:solidFill>
              </a:rPr>
              <a:t>moștenire</a:t>
            </a:r>
            <a:endParaRPr lang="en-GB" sz="3200" dirty="0">
              <a:solidFill>
                <a:srgbClr val="FFFF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3E29F2-2406-E867-9BA3-A95CE431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05777-5497-CF11-C944-E6368587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080" y="98930"/>
            <a:ext cx="5822932" cy="7361814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"A"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"B"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"C"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Rezultat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: A → B → 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 err="1"/>
              <a:t>Constructorii</a:t>
            </a:r>
            <a:r>
              <a:rPr lang="en-GB" dirty="0"/>
              <a:t> </a:t>
            </a:r>
            <a:r>
              <a:rPr lang="en-GB" dirty="0" err="1"/>
              <a:t>asigură</a:t>
            </a:r>
            <a:r>
              <a:rPr lang="en-GB" dirty="0"/>
              <a:t> </a:t>
            </a:r>
            <a:r>
              <a:rPr lang="en-GB" dirty="0" err="1"/>
              <a:t>inițializarea</a:t>
            </a:r>
            <a:r>
              <a:rPr lang="en-GB" dirty="0"/>
              <a:t> </a:t>
            </a:r>
            <a:r>
              <a:rPr lang="en-GB" dirty="0" err="1"/>
              <a:t>completă</a:t>
            </a:r>
            <a:r>
              <a:rPr lang="en-GB" dirty="0"/>
              <a:t> a </a:t>
            </a:r>
            <a:r>
              <a:rPr lang="en-GB" dirty="0" err="1"/>
              <a:t>obiectelor</a:t>
            </a:r>
            <a:r>
              <a:rPr lang="en-GB" dirty="0"/>
              <a:t> –</a:t>
            </a:r>
            <a:br>
              <a:rPr lang="en-GB" dirty="0"/>
            </a:b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nivel</a:t>
            </a:r>
            <a:r>
              <a:rPr lang="en-GB" dirty="0"/>
              <a:t> al </a:t>
            </a:r>
            <a:r>
              <a:rPr lang="en-GB" dirty="0" err="1"/>
              <a:t>ierarhiei</a:t>
            </a:r>
            <a:r>
              <a:rPr lang="en-GB" dirty="0"/>
              <a:t> </a:t>
            </a:r>
            <a:r>
              <a:rPr lang="en-GB" dirty="0" err="1"/>
              <a:t>își</a:t>
            </a:r>
            <a:r>
              <a:rPr lang="en-GB" dirty="0"/>
              <a:t> </a:t>
            </a:r>
            <a:r>
              <a:rPr lang="en-GB" dirty="0" err="1"/>
              <a:t>construiește</a:t>
            </a:r>
            <a:r>
              <a:rPr lang="en-GB" dirty="0"/>
              <a:t> propria </a:t>
            </a:r>
            <a:r>
              <a:rPr lang="en-GB" dirty="0" err="1"/>
              <a:t>parte</a:t>
            </a:r>
            <a:r>
              <a:rPr lang="en-GB" dirty="0"/>
              <a:t> din </a:t>
            </a:r>
            <a:r>
              <a:rPr lang="en-GB" dirty="0" err="1"/>
              <a:t>obiect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9207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064" name="Rectangle 4506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66" name="Rectangle 4506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Interfete</a:t>
            </a:r>
          </a:p>
        </p:txBody>
      </p:sp>
      <p:sp>
        <p:nvSpPr>
          <p:cNvPr id="45068" name="Rectangle 4506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ro-RO" sz="2800" dirty="0"/>
              <a:t>O </a:t>
            </a:r>
            <a:r>
              <a:rPr lang="en-US" altLang="ro-RO" sz="2800" dirty="0" err="1"/>
              <a:t>interfață</a:t>
            </a:r>
            <a:r>
              <a:rPr lang="en-US" altLang="ro-RO" sz="2800" dirty="0"/>
              <a:t> </a:t>
            </a:r>
            <a:r>
              <a:rPr lang="en-US" altLang="ro-RO" sz="2800" dirty="0" err="1"/>
              <a:t>este</a:t>
            </a:r>
            <a:r>
              <a:rPr lang="en-US" altLang="ro-RO" sz="2800" dirty="0"/>
              <a:t> un tip de </a:t>
            </a:r>
            <a:r>
              <a:rPr lang="en-US" altLang="ro-RO" sz="2800" dirty="0" err="1"/>
              <a:t>referință</a:t>
            </a:r>
            <a:r>
              <a:rPr lang="en-US" altLang="ro-RO" sz="2800" dirty="0"/>
              <a:t> care </a:t>
            </a:r>
            <a:r>
              <a:rPr lang="en-US" altLang="ro-RO" sz="2800" dirty="0" err="1"/>
              <a:t>definește</a:t>
            </a:r>
            <a:r>
              <a:rPr lang="en-US" altLang="ro-RO" sz="2800" dirty="0"/>
              <a:t> un set de </a:t>
            </a:r>
            <a:r>
              <a:rPr lang="en-US" altLang="ro-RO" sz="2800" dirty="0" err="1"/>
              <a:t>metode</a:t>
            </a:r>
            <a:r>
              <a:rPr lang="en-US" altLang="ro-RO" sz="2800" dirty="0"/>
              <a:t> pe care </a:t>
            </a:r>
            <a:r>
              <a:rPr lang="en-US" altLang="ro-RO" sz="2800" dirty="0" err="1"/>
              <a:t>clasele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trebuie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să</a:t>
            </a:r>
            <a:r>
              <a:rPr lang="en-US" altLang="ro-RO" sz="2800" dirty="0"/>
              <a:t> le </a:t>
            </a:r>
            <a:r>
              <a:rPr lang="en-US" altLang="ro-RO" sz="2800" dirty="0" err="1"/>
              <a:t>implementeze</a:t>
            </a:r>
            <a:r>
              <a:rPr lang="en-US" altLang="ro-RO" sz="2800" dirty="0"/>
              <a:t>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ro-RO" sz="2800" dirty="0" err="1"/>
              <a:t>Interfețele</a:t>
            </a:r>
            <a:r>
              <a:rPr lang="en-US" altLang="ro-RO" sz="2800" dirty="0"/>
              <a:t> sunt </a:t>
            </a:r>
            <a:r>
              <a:rPr lang="en-US" altLang="ro-RO" sz="2800" dirty="0" err="1"/>
              <a:t>similare</a:t>
            </a:r>
            <a:r>
              <a:rPr lang="en-US" altLang="ro-RO" sz="2800" dirty="0"/>
              <a:t> cu </a:t>
            </a:r>
            <a:r>
              <a:rPr lang="en-US" altLang="ro-RO" sz="2800" dirty="0" err="1"/>
              <a:t>clasele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abstracte</a:t>
            </a:r>
            <a:r>
              <a:rPr lang="en-US" altLang="ro-RO" sz="2800" dirty="0"/>
              <a:t>, </a:t>
            </a:r>
            <a:r>
              <a:rPr lang="en-US" altLang="ro-RO" sz="2800" dirty="0" err="1"/>
              <a:t>dar</a:t>
            </a:r>
            <a:r>
              <a:rPr lang="en-US" altLang="ro-RO" sz="2800" dirty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ro-RO" sz="2579" dirty="0"/>
              <a:t>nu </a:t>
            </a:r>
            <a:r>
              <a:rPr lang="en-US" altLang="ro-RO" sz="2579" dirty="0" err="1"/>
              <a:t>conțin</a:t>
            </a:r>
            <a:r>
              <a:rPr lang="en-US" altLang="ro-RO" sz="2579" dirty="0"/>
              <a:t> </a:t>
            </a:r>
            <a:r>
              <a:rPr lang="en-US" altLang="ro-RO" sz="2579" dirty="0" err="1"/>
              <a:t>implementări</a:t>
            </a:r>
            <a:r>
              <a:rPr lang="en-US" altLang="ro-RO" sz="2579" dirty="0"/>
              <a:t> complete (</a:t>
            </a:r>
            <a:r>
              <a:rPr lang="en-US" altLang="ro-RO" sz="2579" dirty="0" err="1"/>
              <a:t>doar</a:t>
            </a:r>
            <a:r>
              <a:rPr lang="en-US" altLang="ro-RO" sz="2579" dirty="0"/>
              <a:t> </a:t>
            </a:r>
            <a:r>
              <a:rPr lang="en-US" altLang="ro-RO" sz="2579" dirty="0" err="1"/>
              <a:t>semnături</a:t>
            </a:r>
            <a:r>
              <a:rPr lang="en-US" altLang="ro-RO" sz="2579" dirty="0"/>
              <a:t>);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ro-RO" sz="2579" dirty="0"/>
              <a:t>pot fi </a:t>
            </a:r>
            <a:r>
              <a:rPr lang="en-US" altLang="ro-RO" sz="2579" dirty="0" err="1"/>
              <a:t>implementate</a:t>
            </a:r>
            <a:r>
              <a:rPr lang="en-US" altLang="ro-RO" sz="2579" dirty="0"/>
              <a:t> de </a:t>
            </a:r>
            <a:r>
              <a:rPr lang="en-US" altLang="ro-RO" sz="2579" dirty="0" err="1"/>
              <a:t>mai</a:t>
            </a:r>
            <a:r>
              <a:rPr lang="en-US" altLang="ro-RO" sz="2579" dirty="0"/>
              <a:t> </a:t>
            </a:r>
            <a:r>
              <a:rPr lang="en-US" altLang="ro-RO" sz="2579" dirty="0" err="1"/>
              <a:t>multe</a:t>
            </a:r>
            <a:r>
              <a:rPr lang="en-US" altLang="ro-RO" sz="2579" dirty="0"/>
              <a:t> </a:t>
            </a:r>
            <a:r>
              <a:rPr lang="en-US" altLang="ro-RO" sz="2579" dirty="0" err="1"/>
              <a:t>clase</a:t>
            </a:r>
            <a:r>
              <a:rPr lang="en-US" altLang="ro-RO" sz="2579" dirty="0"/>
              <a:t>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ro-RO" sz="2579" dirty="0"/>
              <a:t>pot fi </a:t>
            </a:r>
            <a:r>
              <a:rPr lang="en-US" altLang="ro-RO" sz="2579" dirty="0" err="1"/>
              <a:t>moștenite</a:t>
            </a:r>
            <a:r>
              <a:rPr lang="en-US" altLang="ro-RO" sz="2579" dirty="0"/>
              <a:t> de </a:t>
            </a:r>
            <a:r>
              <a:rPr lang="en-US" altLang="ro-RO" sz="2579" dirty="0" err="1"/>
              <a:t>alte</a:t>
            </a:r>
            <a:r>
              <a:rPr lang="en-US" altLang="ro-RO" sz="2579" dirty="0"/>
              <a:t> </a:t>
            </a:r>
            <a:r>
              <a:rPr lang="en-US" altLang="ro-RO" sz="2579" dirty="0" err="1"/>
              <a:t>interfețe</a:t>
            </a:r>
            <a:r>
              <a:rPr lang="en-US" altLang="ro-RO" sz="2579"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-14288"/>
            <a:ext cx="8569325" cy="974727"/>
          </a:xfrm>
        </p:spPr>
        <p:txBody>
          <a:bodyPr/>
          <a:lstStyle/>
          <a:p>
            <a:pPr marL="1439863" eaLnBrk="1" hangingPunct="1"/>
            <a:r>
              <a:rPr lang="en-US" altLang="ro-RO" dirty="0" err="1"/>
              <a:t>Interfe</a:t>
            </a:r>
            <a:r>
              <a:rPr lang="ro-RO" altLang="ro-RO" dirty="0" err="1"/>
              <a:t>ţe</a:t>
            </a:r>
            <a:endParaRPr lang="en-US" altLang="ro-RO" dirty="0"/>
          </a:p>
        </p:txBody>
      </p:sp>
      <p:sp>
        <p:nvSpPr>
          <p:cNvPr id="46083" name="Text Box 5"/>
          <p:cNvSpPr txBox="1">
            <a:spLocks noChangeArrowheads="1"/>
          </p:cNvSpPr>
          <p:nvPr/>
        </p:nvSpPr>
        <p:spPr bwMode="auto">
          <a:xfrm>
            <a:off x="849313" y="1046163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Persoana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varsta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getVarsta() : int;</a:t>
            </a:r>
          </a:p>
        </p:txBody>
      </p:sp>
      <p:sp>
        <p:nvSpPr>
          <p:cNvPr id="46084" name="Line 7"/>
          <p:cNvSpPr>
            <a:spLocks noChangeShapeType="1"/>
          </p:cNvSpPr>
          <p:nvPr/>
        </p:nvSpPr>
        <p:spPr bwMode="auto">
          <a:xfrm>
            <a:off x="3978275" y="56007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85" name="Line 8"/>
          <p:cNvSpPr>
            <a:spLocks noChangeShapeType="1"/>
          </p:cNvSpPr>
          <p:nvPr/>
        </p:nvSpPr>
        <p:spPr bwMode="auto">
          <a:xfrm>
            <a:off x="3978275" y="6208713"/>
            <a:ext cx="3581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86" name="Text Box 9"/>
          <p:cNvSpPr txBox="1">
            <a:spLocks noChangeArrowheads="1"/>
          </p:cNvSpPr>
          <p:nvPr/>
        </p:nvSpPr>
        <p:spPr bwMode="auto">
          <a:xfrm>
            <a:off x="3978275" y="5084763"/>
            <a:ext cx="3581400" cy="21859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Profesor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grad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getGrad()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setGrad(g : String) : void;</a:t>
            </a:r>
          </a:p>
        </p:txBody>
      </p:sp>
      <p:sp>
        <p:nvSpPr>
          <p:cNvPr id="46087" name="Text Box 11"/>
          <p:cNvSpPr txBox="1">
            <a:spLocks noChangeArrowheads="1"/>
          </p:cNvSpPr>
          <p:nvPr/>
        </p:nvSpPr>
        <p:spPr bwMode="auto">
          <a:xfrm>
            <a:off x="5573713" y="1036638"/>
            <a:ext cx="3352800" cy="26574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Angajat &lt;&lt;Interface&gt;&gt;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# nume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# salar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FF0000"/>
                </a:solidFill>
                <a:latin typeface="Times New Roman" panose="02020603050405020304" pitchFamily="18" charset="0"/>
              </a:rPr>
              <a:t>+ getNume() : String;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latin typeface="Times New Roman" panose="02020603050405020304" pitchFamily="18" charset="0"/>
              </a:rPr>
              <a:t>+ getSalar() : int;</a:t>
            </a:r>
          </a:p>
        </p:txBody>
      </p:sp>
      <p:sp>
        <p:nvSpPr>
          <p:cNvPr id="46088" name="Line 12"/>
          <p:cNvSpPr>
            <a:spLocks noChangeShapeType="1"/>
          </p:cNvSpPr>
          <p:nvPr/>
        </p:nvSpPr>
        <p:spPr bwMode="auto">
          <a:xfrm>
            <a:off x="849313" y="1570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89" name="Line 13"/>
          <p:cNvSpPr>
            <a:spLocks noChangeShapeType="1"/>
          </p:cNvSpPr>
          <p:nvPr/>
        </p:nvSpPr>
        <p:spPr bwMode="auto">
          <a:xfrm>
            <a:off x="849313" y="2636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0" name="Line 14"/>
          <p:cNvSpPr>
            <a:spLocks noChangeShapeType="1"/>
          </p:cNvSpPr>
          <p:nvPr/>
        </p:nvSpPr>
        <p:spPr bwMode="auto">
          <a:xfrm>
            <a:off x="5573713" y="14938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1" name="Line 15"/>
          <p:cNvSpPr>
            <a:spLocks noChangeShapeType="1"/>
          </p:cNvSpPr>
          <p:nvPr/>
        </p:nvSpPr>
        <p:spPr bwMode="auto">
          <a:xfrm>
            <a:off x="5573713" y="2713038"/>
            <a:ext cx="3352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2" name="Line 16"/>
          <p:cNvSpPr>
            <a:spLocks noChangeShapeType="1"/>
          </p:cNvSpPr>
          <p:nvPr/>
        </p:nvSpPr>
        <p:spPr bwMode="auto">
          <a:xfrm flipH="1">
            <a:off x="22971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3" name="Line 17"/>
          <p:cNvSpPr>
            <a:spLocks noChangeShapeType="1"/>
          </p:cNvSpPr>
          <p:nvPr/>
        </p:nvSpPr>
        <p:spPr bwMode="auto">
          <a:xfrm flipV="1">
            <a:off x="2297113" y="4311650"/>
            <a:ext cx="304641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4" name="Line 18"/>
          <p:cNvSpPr>
            <a:spLocks noChangeShapeType="1"/>
          </p:cNvSpPr>
          <p:nvPr/>
        </p:nvSpPr>
        <p:spPr bwMode="auto">
          <a:xfrm>
            <a:off x="7326313" y="4008438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5" name="Line 19"/>
          <p:cNvSpPr>
            <a:spLocks noChangeShapeType="1"/>
          </p:cNvSpPr>
          <p:nvPr/>
        </p:nvSpPr>
        <p:spPr bwMode="auto">
          <a:xfrm>
            <a:off x="5343525" y="4311650"/>
            <a:ext cx="1588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6" name="AutoShape 20"/>
          <p:cNvSpPr>
            <a:spLocks noChangeArrowheads="1"/>
          </p:cNvSpPr>
          <p:nvPr/>
        </p:nvSpPr>
        <p:spPr bwMode="auto">
          <a:xfrm>
            <a:off x="21447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  <p:sp>
        <p:nvSpPr>
          <p:cNvPr id="46097" name="AutoShape 21"/>
          <p:cNvSpPr>
            <a:spLocks noChangeArrowheads="1"/>
          </p:cNvSpPr>
          <p:nvPr/>
        </p:nvSpPr>
        <p:spPr bwMode="auto">
          <a:xfrm>
            <a:off x="7173913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o-RO" sz="2000"/>
          </a:p>
        </p:txBody>
      </p:sp>
      <p:sp>
        <p:nvSpPr>
          <p:cNvPr id="46098" name="Line 17"/>
          <p:cNvSpPr>
            <a:spLocks noChangeShapeType="1"/>
          </p:cNvSpPr>
          <p:nvPr/>
        </p:nvSpPr>
        <p:spPr bwMode="auto">
          <a:xfrm flipV="1">
            <a:off x="5799138" y="4311650"/>
            <a:ext cx="151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099" name="Line 19"/>
          <p:cNvSpPr>
            <a:spLocks noChangeShapeType="1"/>
          </p:cNvSpPr>
          <p:nvPr/>
        </p:nvSpPr>
        <p:spPr bwMode="auto">
          <a:xfrm>
            <a:off x="5799138" y="4311650"/>
            <a:ext cx="0" cy="7556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100" name="Text Box 4"/>
          <p:cNvSpPr txBox="1">
            <a:spLocks noChangeArrowheads="1"/>
          </p:cNvSpPr>
          <p:nvPr/>
        </p:nvSpPr>
        <p:spPr bwMode="auto">
          <a:xfrm>
            <a:off x="334963" y="5070475"/>
            <a:ext cx="3352800" cy="210978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Student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 nota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getNota() : int;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400">
                <a:solidFill>
                  <a:srgbClr val="000000"/>
                </a:solidFill>
                <a:latin typeface="Times New Roman" panose="02020603050405020304" pitchFamily="18" charset="0"/>
              </a:rPr>
              <a:t>+ setNota(n : int) : void;</a:t>
            </a:r>
          </a:p>
        </p:txBody>
      </p:sp>
      <p:sp>
        <p:nvSpPr>
          <p:cNvPr id="46101" name="Line 19"/>
          <p:cNvSpPr>
            <a:spLocks noChangeShapeType="1"/>
          </p:cNvSpPr>
          <p:nvPr/>
        </p:nvSpPr>
        <p:spPr bwMode="auto">
          <a:xfrm>
            <a:off x="334963" y="5584825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102" name="Line 20"/>
          <p:cNvSpPr>
            <a:spLocks noChangeShapeType="1"/>
          </p:cNvSpPr>
          <p:nvPr/>
        </p:nvSpPr>
        <p:spPr bwMode="auto">
          <a:xfrm>
            <a:off x="334963" y="6118225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6103" name="Line 19"/>
          <p:cNvSpPr>
            <a:spLocks noChangeShapeType="1"/>
          </p:cNvSpPr>
          <p:nvPr/>
        </p:nvSpPr>
        <p:spPr bwMode="auto">
          <a:xfrm>
            <a:off x="2308225" y="4311650"/>
            <a:ext cx="0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7256" y="315929"/>
            <a:ext cx="8316516" cy="1089010"/>
          </a:xfrm>
        </p:spPr>
        <p:txBody>
          <a:bodyPr/>
          <a:lstStyle/>
          <a:p>
            <a:pPr eaLnBrk="1" hangingPunct="1"/>
            <a:r>
              <a:rPr lang="en-US" altLang="ro-RO" dirty="0" err="1"/>
              <a:t>Interfete</a:t>
            </a:r>
            <a:endParaRPr lang="en-US" altLang="ro-RO" dirty="0"/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773113" y="5553075"/>
            <a:ext cx="33528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Mp3PlayerModule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5116513" y="5553075"/>
            <a:ext cx="36576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WavPlayerModule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077913" y="2114550"/>
            <a:ext cx="3352800" cy="194627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Module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# file : FileInputStream</a:t>
            </a: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ro-RO" sz="22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+ open()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latin typeface="Times New Roman" panose="02020603050405020304" pitchFamily="18" charset="0"/>
              </a:rPr>
              <a:t>+ close() : void;</a:t>
            </a:r>
          </a:p>
        </p:txBody>
      </p:sp>
      <p:sp>
        <p:nvSpPr>
          <p:cNvPr id="47110" name="Line 9"/>
          <p:cNvSpPr>
            <a:spLocks noChangeShapeType="1"/>
          </p:cNvSpPr>
          <p:nvPr/>
        </p:nvSpPr>
        <p:spPr bwMode="auto">
          <a:xfrm>
            <a:off x="7502380" y="45849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1" name="Line 10"/>
          <p:cNvSpPr>
            <a:spLocks noChangeShapeType="1"/>
          </p:cNvSpPr>
          <p:nvPr/>
        </p:nvSpPr>
        <p:spPr bwMode="auto">
          <a:xfrm>
            <a:off x="1077913" y="26400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2" name="Line 11"/>
          <p:cNvSpPr>
            <a:spLocks noChangeShapeType="1"/>
          </p:cNvSpPr>
          <p:nvPr/>
        </p:nvSpPr>
        <p:spPr bwMode="auto">
          <a:xfrm>
            <a:off x="1077913" y="30972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3" name="Line 12"/>
          <p:cNvSpPr>
            <a:spLocks noChangeShapeType="1"/>
          </p:cNvSpPr>
          <p:nvPr/>
        </p:nvSpPr>
        <p:spPr bwMode="auto">
          <a:xfrm>
            <a:off x="773113" y="59801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4" name="Line 13"/>
          <p:cNvSpPr>
            <a:spLocks noChangeShapeType="1"/>
          </p:cNvSpPr>
          <p:nvPr/>
        </p:nvSpPr>
        <p:spPr bwMode="auto">
          <a:xfrm>
            <a:off x="773113" y="60563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5" name="Line 14"/>
          <p:cNvSpPr>
            <a:spLocks noChangeShapeType="1"/>
          </p:cNvSpPr>
          <p:nvPr/>
        </p:nvSpPr>
        <p:spPr bwMode="auto">
          <a:xfrm>
            <a:off x="5116513" y="5980113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6" name="Line 15"/>
          <p:cNvSpPr>
            <a:spLocks noChangeShapeType="1"/>
          </p:cNvSpPr>
          <p:nvPr/>
        </p:nvSpPr>
        <p:spPr bwMode="auto">
          <a:xfrm>
            <a:off x="5116513" y="6056313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7" name="Text Box 17"/>
          <p:cNvSpPr txBox="1">
            <a:spLocks noChangeArrowheads="1"/>
          </p:cNvSpPr>
          <p:nvPr/>
        </p:nvSpPr>
        <p:spPr bwMode="auto">
          <a:xfrm>
            <a:off x="6030913" y="1862138"/>
            <a:ext cx="3352800" cy="2449512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&lt;&lt;Interface&gt;&gt;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000000"/>
                </a:solidFill>
                <a:latin typeface="Times New Roman" panose="02020603050405020304" pitchFamily="18" charset="0"/>
              </a:rPr>
              <a:t>Player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o-RO" sz="22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47118" name="Line 18"/>
          <p:cNvSpPr>
            <a:spLocks noChangeShapeType="1"/>
          </p:cNvSpPr>
          <p:nvPr/>
        </p:nvSpPr>
        <p:spPr bwMode="auto">
          <a:xfrm>
            <a:off x="6030913" y="2336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9" name="Line 19"/>
          <p:cNvSpPr>
            <a:spLocks noChangeShapeType="1"/>
          </p:cNvSpPr>
          <p:nvPr/>
        </p:nvSpPr>
        <p:spPr bwMode="auto">
          <a:xfrm>
            <a:off x="6030913" y="24130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grpSp>
        <p:nvGrpSpPr>
          <p:cNvPr id="47120" name="Group 25"/>
          <p:cNvGrpSpPr>
            <a:grpSpLocks/>
          </p:cNvGrpSpPr>
          <p:nvPr/>
        </p:nvGrpSpPr>
        <p:grpSpPr bwMode="auto">
          <a:xfrm>
            <a:off x="2383987" y="4064793"/>
            <a:ext cx="5930484" cy="1443038"/>
            <a:chOff x="1495" y="2377"/>
            <a:chExt cx="3552" cy="1104"/>
          </a:xfrm>
        </p:grpSpPr>
        <p:sp>
          <p:nvSpPr>
            <p:cNvPr id="47121" name="Line 6"/>
            <p:cNvSpPr>
              <a:spLocks noChangeShapeType="1"/>
            </p:cNvSpPr>
            <p:nvPr/>
          </p:nvSpPr>
          <p:spPr bwMode="auto">
            <a:xfrm flipH="1">
              <a:off x="2215" y="2569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2" name="Line 7"/>
            <p:cNvSpPr>
              <a:spLocks noChangeShapeType="1"/>
            </p:cNvSpPr>
            <p:nvPr/>
          </p:nvSpPr>
          <p:spPr bwMode="auto">
            <a:xfrm>
              <a:off x="1495" y="3145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3" name="Line 8"/>
            <p:cNvSpPr>
              <a:spLocks noChangeShapeType="1"/>
            </p:cNvSpPr>
            <p:nvPr/>
          </p:nvSpPr>
          <p:spPr bwMode="auto">
            <a:xfrm>
              <a:off x="1495" y="314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4" name="AutoShape 16"/>
            <p:cNvSpPr>
              <a:spLocks noChangeArrowheads="1"/>
            </p:cNvSpPr>
            <p:nvPr/>
          </p:nvSpPr>
          <p:spPr bwMode="auto">
            <a:xfrm>
              <a:off x="2119" y="2377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ro-RO" sz="2000"/>
            </a:p>
          </p:txBody>
        </p:sp>
        <p:sp>
          <p:nvSpPr>
            <p:cNvPr id="47125" name="Line 20"/>
            <p:cNvSpPr>
              <a:spLocks noChangeShapeType="1"/>
            </p:cNvSpPr>
            <p:nvPr/>
          </p:nvSpPr>
          <p:spPr bwMode="auto">
            <a:xfrm flipH="1">
              <a:off x="4567" y="276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6" name="Line 21"/>
            <p:cNvSpPr>
              <a:spLocks noChangeShapeType="1"/>
            </p:cNvSpPr>
            <p:nvPr/>
          </p:nvSpPr>
          <p:spPr bwMode="auto">
            <a:xfrm>
              <a:off x="2119" y="2953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7" name="Line 22"/>
            <p:cNvSpPr>
              <a:spLocks noChangeShapeType="1"/>
            </p:cNvSpPr>
            <p:nvPr/>
          </p:nvSpPr>
          <p:spPr bwMode="auto">
            <a:xfrm>
              <a:off x="2119" y="295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8" name="Line 23"/>
            <p:cNvSpPr>
              <a:spLocks noChangeShapeType="1"/>
            </p:cNvSpPr>
            <p:nvPr/>
          </p:nvSpPr>
          <p:spPr bwMode="auto">
            <a:xfrm>
              <a:off x="5047" y="295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129" name="AutoShape 24"/>
            <p:cNvSpPr>
              <a:spLocks noChangeArrowheads="1"/>
            </p:cNvSpPr>
            <p:nvPr/>
          </p:nvSpPr>
          <p:spPr bwMode="auto">
            <a:xfrm>
              <a:off x="4471" y="2569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ro-RO" sz="200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137" name="Rectangle 48136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9" name="Rectangle 48138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569714"/>
            <a:ext cx="2550620" cy="63634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Interfete</a:t>
            </a:r>
          </a:p>
        </p:txBody>
      </p:sp>
      <p:sp>
        <p:nvSpPr>
          <p:cNvPr id="48141" name="Rectangle 48140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48133" name="Rectangle 3">
            <a:extLst>
              <a:ext uri="{FF2B5EF4-FFF2-40B4-BE49-F238E27FC236}">
                <a16:creationId xmlns:a16="http://schemas.microsoft.com/office/drawing/2014/main" id="{32276D5E-4245-24EC-C63A-3A542FEE8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683874"/>
              </p:ext>
            </p:extLst>
          </p:nvPr>
        </p:nvGraphicFramePr>
        <p:xfrm>
          <a:off x="3920680" y="705220"/>
          <a:ext cx="5620474" cy="6227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160" name="Rectangle 4915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62" name="Rectangle 4916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Interfete</a:t>
            </a:r>
          </a:p>
        </p:txBody>
      </p:sp>
      <p:sp>
        <p:nvSpPr>
          <p:cNvPr id="49164" name="Rectangle 4916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/>
          </a:bodyPr>
          <a:lstStyle/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public class Mp3PlayerModule extends Module </a:t>
            </a:r>
            <a:r>
              <a:rPr lang="en-US" altLang="ro-RO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implements</a:t>
            </a:r>
            <a:r>
              <a:rPr lang="en-US" altLang="ro-RO" sz="2000" b="1" dirty="0">
                <a:latin typeface="Courier New" panose="02070309020205020404" pitchFamily="49" charset="0"/>
              </a:rPr>
              <a:t> Player {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public void play() {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public void stop() {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}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ro-RO" sz="20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public void pause() {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ro-RO" sz="2000" b="1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184" name="Rectangle 5018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86" name="Rectangle 5018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Interfete</a:t>
            </a:r>
          </a:p>
        </p:txBody>
      </p:sp>
      <p:sp>
        <p:nvSpPr>
          <p:cNvPr id="50188" name="Rectangle 5018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3920806" y="667888"/>
            <a:ext cx="5673205" cy="6223898"/>
          </a:xfrm>
        </p:spPr>
        <p:txBody>
          <a:bodyPr anchor="ctr">
            <a:normAutofit/>
          </a:bodyPr>
          <a:lstStyle/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 err="1"/>
              <a:t>Toate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metodele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unei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interfete</a:t>
            </a:r>
            <a:r>
              <a:rPr lang="en-US" altLang="ro-RO" sz="1900" dirty="0"/>
              <a:t> sunt automat </a:t>
            </a:r>
            <a:r>
              <a:rPr lang="en-US" altLang="ro-RO" sz="1900" dirty="0" err="1"/>
              <a:t>abstracte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si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trebuie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declarate</a:t>
            </a:r>
            <a:r>
              <a:rPr lang="en-US" altLang="ro-RO" sz="1900" dirty="0"/>
              <a:t> </a:t>
            </a:r>
            <a:r>
              <a:rPr lang="en-US" altLang="ro-RO" sz="1900" b="1" dirty="0" err="1"/>
              <a:t>publice</a:t>
            </a:r>
            <a:endParaRPr lang="en-US" altLang="ro-RO" sz="1900" b="1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/>
              <a:t>O </a:t>
            </a:r>
            <a:r>
              <a:rPr lang="en-US" altLang="ro-RO" sz="1900" dirty="0" err="1"/>
              <a:t>interfata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poate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declara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constante</a:t>
            </a:r>
            <a:r>
              <a:rPr lang="en-US" altLang="ro-RO" sz="1900" dirty="0"/>
              <a:t>, care sunt automat </a:t>
            </a:r>
            <a:r>
              <a:rPr lang="en-US" altLang="ro-RO" sz="1900" dirty="0" err="1"/>
              <a:t>publice</a:t>
            </a:r>
            <a:r>
              <a:rPr lang="en-US" altLang="ro-RO" sz="1900" dirty="0"/>
              <a:t>, statice </a:t>
            </a:r>
            <a:r>
              <a:rPr lang="en-US" altLang="ro-RO" sz="1900" dirty="0" err="1"/>
              <a:t>si</a:t>
            </a:r>
            <a:r>
              <a:rPr lang="en-US" altLang="ro-RO" sz="1900" dirty="0"/>
              <a:t> finale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 err="1"/>
              <a:t>Interfetele</a:t>
            </a:r>
            <a:r>
              <a:rPr lang="en-US" altLang="ro-RO" sz="1900" dirty="0"/>
              <a:t> pot </a:t>
            </a:r>
            <a:r>
              <a:rPr lang="en-US" altLang="ro-RO" sz="1900" dirty="0" err="1"/>
              <a:t>extinde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alte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interfete</a:t>
            </a:r>
            <a:endParaRPr lang="en-US" altLang="ro-RO" sz="1900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/>
              <a:t>Mai </a:t>
            </a:r>
            <a:r>
              <a:rPr lang="en-US" altLang="ro-RO" sz="1900" dirty="0" err="1"/>
              <a:t>multe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clase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neinrudite</a:t>
            </a:r>
            <a:r>
              <a:rPr lang="en-US" altLang="ro-RO" sz="1900" dirty="0"/>
              <a:t> pot </a:t>
            </a:r>
            <a:r>
              <a:rPr lang="en-US" altLang="ro-RO" sz="1900" dirty="0" err="1"/>
              <a:t>implementa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aceeasi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interfata</a:t>
            </a:r>
            <a:endParaRPr lang="en-US" altLang="ro-RO" sz="1900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/>
              <a:t>O </a:t>
            </a:r>
            <a:r>
              <a:rPr lang="en-US" altLang="ro-RO" sz="1900" dirty="0" err="1"/>
              <a:t>interfaţă</a:t>
            </a:r>
            <a:r>
              <a:rPr lang="en-US" altLang="ro-RO" sz="1900" dirty="0"/>
              <a:t> </a:t>
            </a:r>
            <a:r>
              <a:rPr lang="en-US" altLang="ro-RO" sz="1900" dirty="0" err="1"/>
              <a:t>descrie</a:t>
            </a:r>
            <a:r>
              <a:rPr lang="en-US" altLang="ro-RO" sz="1900" dirty="0"/>
              <a:t> un model </a:t>
            </a:r>
            <a:r>
              <a:rPr lang="en-US" altLang="ro-RO" sz="1900" dirty="0" err="1"/>
              <a:t>comportamental</a:t>
            </a:r>
            <a:r>
              <a:rPr lang="en-US" altLang="ro-RO" sz="1900" dirty="0"/>
              <a:t> generic care </a:t>
            </a:r>
            <a:r>
              <a:rPr lang="en-US" altLang="ro-RO" sz="1900" dirty="0" err="1"/>
              <a:t>poate</a:t>
            </a:r>
            <a:r>
              <a:rPr lang="en-US" altLang="ro-RO" sz="1900" dirty="0"/>
              <a:t> fi </a:t>
            </a:r>
            <a:r>
              <a:rPr lang="en-US" altLang="ro-RO" sz="1900" dirty="0" err="1"/>
              <a:t>implementat</a:t>
            </a:r>
            <a:r>
              <a:rPr lang="en-US" altLang="ro-RO" sz="1900" dirty="0"/>
              <a:t> de </a:t>
            </a:r>
            <a:r>
              <a:rPr lang="en-US" altLang="ro-RO" sz="1900" dirty="0" err="1"/>
              <a:t>orice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subclasă</a:t>
            </a:r>
            <a:r>
              <a:rPr lang="en-US" altLang="ro-RO" sz="1900" dirty="0"/>
              <a:t> din </a:t>
            </a:r>
            <a:r>
              <a:rPr lang="en-US" altLang="ro-RO" sz="1900" dirty="0" err="1"/>
              <a:t>ierarhia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asociată</a:t>
            </a:r>
            <a:r>
              <a:rPr lang="en-US" altLang="ro-RO" sz="1900" dirty="0"/>
              <a:t>.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/>
              <a:t>O </a:t>
            </a:r>
            <a:r>
              <a:rPr lang="en-US" altLang="ro-RO" sz="1900" dirty="0" err="1"/>
              <a:t>interfaţă</a:t>
            </a:r>
            <a:r>
              <a:rPr lang="en-US" altLang="ro-RO" sz="1900" dirty="0"/>
              <a:t> </a:t>
            </a:r>
            <a:r>
              <a:rPr lang="en-US" altLang="ro-RO" sz="1900" dirty="0" err="1"/>
              <a:t>defineşte</a:t>
            </a:r>
            <a:r>
              <a:rPr lang="en-US" altLang="ro-RO" sz="1900" dirty="0"/>
              <a:t> o </a:t>
            </a:r>
            <a:r>
              <a:rPr lang="en-US" altLang="ro-RO" sz="1900" dirty="0" err="1"/>
              <a:t>serie</a:t>
            </a:r>
            <a:r>
              <a:rPr lang="en-US" altLang="ro-RO" sz="1900" dirty="0"/>
              <a:t> de </a:t>
            </a:r>
            <a:r>
              <a:rPr lang="en-US" altLang="ro-RO" sz="1900" dirty="0" err="1"/>
              <a:t>metode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dar</a:t>
            </a:r>
            <a:r>
              <a:rPr lang="en-US" altLang="ro-RO" sz="1900" dirty="0"/>
              <a:t> nu </a:t>
            </a:r>
            <a:r>
              <a:rPr lang="en-US" altLang="ro-RO" sz="1900" dirty="0" err="1"/>
              <a:t>şi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iplementarea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acestora</a:t>
            </a:r>
            <a:endParaRPr lang="en-US" altLang="ro-RO" sz="1900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/>
              <a:t>O </a:t>
            </a:r>
            <a:r>
              <a:rPr lang="en-US" altLang="ro-RO" sz="1900" dirty="0" err="1"/>
              <a:t>clasă</a:t>
            </a:r>
            <a:r>
              <a:rPr lang="en-US" altLang="ro-RO" sz="1900" dirty="0"/>
              <a:t> </a:t>
            </a:r>
            <a:r>
              <a:rPr lang="en-US" altLang="ro-RO" sz="1900" dirty="0" err="1"/>
              <a:t>derivată</a:t>
            </a:r>
            <a:r>
              <a:rPr lang="en-US" altLang="ro-RO" sz="1900" dirty="0"/>
              <a:t> </a:t>
            </a:r>
            <a:r>
              <a:rPr lang="en-US" altLang="ro-RO" sz="1900" dirty="0" err="1"/>
              <a:t>dintr</a:t>
            </a:r>
            <a:r>
              <a:rPr lang="en-US" altLang="ro-RO" sz="1900" dirty="0"/>
              <a:t>-o </a:t>
            </a:r>
            <a:r>
              <a:rPr lang="en-US" altLang="ro-RO" sz="1900" dirty="0" err="1"/>
              <a:t>interfaţă</a:t>
            </a:r>
            <a:r>
              <a:rPr lang="en-US" altLang="ro-RO" sz="1900" dirty="0"/>
              <a:t> </a:t>
            </a:r>
            <a:r>
              <a:rPr lang="en-US" altLang="ro-RO" sz="1900" dirty="0" err="1"/>
              <a:t>va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implementa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şi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metodele</a:t>
            </a:r>
            <a:r>
              <a:rPr lang="en-US" altLang="ro-RO" sz="1900" dirty="0"/>
              <a:t> definite </a:t>
            </a:r>
            <a:r>
              <a:rPr lang="en-US" altLang="ro-RO" sz="1900" dirty="0" err="1"/>
              <a:t>în</a:t>
            </a:r>
            <a:r>
              <a:rPr lang="en-US" altLang="ro-RO" sz="1900" dirty="0"/>
              <a:t> </a:t>
            </a:r>
            <a:r>
              <a:rPr lang="en-US" altLang="ro-RO" sz="1900" dirty="0" err="1"/>
              <a:t>interfaţă</a:t>
            </a:r>
            <a:r>
              <a:rPr lang="en-US" altLang="ro-RO" sz="1900" dirty="0"/>
              <a:t> pe </a:t>
            </a:r>
            <a:r>
              <a:rPr lang="en-US" altLang="ro-RO" sz="1900" dirty="0" err="1"/>
              <a:t>lângă</a:t>
            </a:r>
            <a:r>
              <a:rPr lang="en-US" altLang="ro-RO" sz="1900" dirty="0"/>
              <a:t> </a:t>
            </a:r>
            <a:r>
              <a:rPr lang="en-US" altLang="ro-RO" sz="1900" dirty="0" err="1"/>
              <a:t>cele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proprii</a:t>
            </a:r>
            <a:endParaRPr lang="en-US" altLang="ro-RO" sz="1900" dirty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 err="1"/>
              <a:t>Într</a:t>
            </a:r>
            <a:r>
              <a:rPr lang="en-US" altLang="ro-RO" sz="1900" dirty="0"/>
              <a:t>-o </a:t>
            </a:r>
            <a:r>
              <a:rPr lang="en-US" altLang="ro-RO" sz="1900" dirty="0" err="1"/>
              <a:t>interfaţă</a:t>
            </a:r>
            <a:r>
              <a:rPr lang="en-US" altLang="ro-RO" sz="1900" dirty="0"/>
              <a:t> se pot </a:t>
            </a:r>
            <a:r>
              <a:rPr lang="en-US" altLang="ro-RO" sz="1900" dirty="0" err="1"/>
              <a:t>defini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şi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variabile</a:t>
            </a:r>
            <a:r>
              <a:rPr lang="en-US" altLang="ro-RO" sz="1900" dirty="0"/>
              <a:t>.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altLang="ro-RO" sz="1900" dirty="0" err="1"/>
              <a:t>Într</a:t>
            </a:r>
            <a:r>
              <a:rPr lang="en-US" altLang="ro-RO" sz="1900" dirty="0"/>
              <a:t>-o </a:t>
            </a:r>
            <a:r>
              <a:rPr lang="en-US" altLang="ro-RO" sz="1900" dirty="0" err="1"/>
              <a:t>interfaţă</a:t>
            </a:r>
            <a:r>
              <a:rPr lang="en-US" altLang="ro-RO" sz="1900" dirty="0"/>
              <a:t> </a:t>
            </a:r>
            <a:r>
              <a:rPr lang="en-US" altLang="ro-RO" sz="1900" b="1" dirty="0"/>
              <a:t>nu</a:t>
            </a:r>
            <a:r>
              <a:rPr lang="en-US" altLang="ro-RO" sz="1900" dirty="0"/>
              <a:t> se pot </a:t>
            </a:r>
            <a:r>
              <a:rPr lang="en-US" altLang="ro-RO" sz="1900" dirty="0" err="1"/>
              <a:t>folosi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următorii</a:t>
            </a:r>
            <a:r>
              <a:rPr lang="en-US" altLang="ro-RO" sz="1900" dirty="0"/>
              <a:t> </a:t>
            </a:r>
            <a:r>
              <a:rPr lang="en-US" altLang="ro-RO" sz="1900" dirty="0" err="1"/>
              <a:t>modificatori</a:t>
            </a:r>
            <a:r>
              <a:rPr lang="en-US" altLang="ro-RO" sz="1900" dirty="0"/>
              <a:t>: </a:t>
            </a:r>
            <a:r>
              <a:rPr lang="en-US" altLang="ro-RO" sz="1900" b="1" dirty="0"/>
              <a:t>transient</a:t>
            </a:r>
            <a:r>
              <a:rPr lang="en-US" altLang="ro-RO" sz="1900" dirty="0"/>
              <a:t>, </a:t>
            </a:r>
            <a:r>
              <a:rPr lang="en-US" altLang="ro-RO" sz="1900" b="1" dirty="0"/>
              <a:t>volatile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sau</a:t>
            </a:r>
            <a:r>
              <a:rPr lang="en-US" altLang="ro-RO" sz="1900" dirty="0"/>
              <a:t> </a:t>
            </a:r>
            <a:r>
              <a:rPr lang="en-US" altLang="ro-RO" sz="1900" b="1" dirty="0" err="1"/>
              <a:t>syncronized</a:t>
            </a:r>
            <a:r>
              <a:rPr lang="en-US" altLang="ro-RO" sz="1900" dirty="0"/>
              <a:t> </a:t>
            </a:r>
            <a:r>
              <a:rPr lang="en-US" altLang="ro-RO" sz="1900" dirty="0" err="1"/>
              <a:t>şi</a:t>
            </a:r>
            <a:r>
              <a:rPr lang="en-US" altLang="ro-RO" sz="1900" dirty="0"/>
              <a:t> de </a:t>
            </a:r>
            <a:r>
              <a:rPr lang="en-US" altLang="ro-RO" sz="1900" dirty="0" err="1"/>
              <a:t>asemenea</a:t>
            </a:r>
            <a:r>
              <a:rPr lang="en-US" altLang="ro-RO" sz="1900" dirty="0"/>
              <a:t> </a:t>
            </a:r>
            <a:r>
              <a:rPr lang="en-US" altLang="ro-RO" sz="1900" dirty="0" err="1"/>
              <a:t>nici</a:t>
            </a:r>
            <a:r>
              <a:rPr lang="en-US" altLang="ro-RO" sz="1900" dirty="0"/>
              <a:t> </a:t>
            </a:r>
            <a:r>
              <a:rPr lang="en-US" altLang="ro-RO" sz="1900" b="1" dirty="0"/>
              <a:t>private</a:t>
            </a:r>
            <a:r>
              <a:rPr lang="en-US" altLang="ro-RO" sz="1900" dirty="0"/>
              <a:t> </a:t>
            </a:r>
            <a:r>
              <a:rPr lang="en-US" altLang="ro-RO" sz="1900" dirty="0" err="1"/>
              <a:t>sau</a:t>
            </a:r>
            <a:r>
              <a:rPr lang="en-US" altLang="ro-RO" sz="1900" dirty="0"/>
              <a:t> </a:t>
            </a:r>
            <a:r>
              <a:rPr lang="en-US" altLang="ro-RO" sz="1900" b="1" dirty="0"/>
              <a:t>protected</a:t>
            </a:r>
            <a:endParaRPr lang="en-US" altLang="ro-RO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08" name="Rectangle 5120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10" name="Rectangle 5120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Interfeţe</a:t>
            </a:r>
          </a:p>
        </p:txBody>
      </p:sp>
      <p:sp>
        <p:nvSpPr>
          <p:cNvPr id="51212" name="Rectangle 512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083153" y="667888"/>
            <a:ext cx="5302964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sz="2400" dirty="0" err="1"/>
              <a:t>Diferenţe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între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clase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şi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interfeţe</a:t>
            </a:r>
            <a:endParaRPr lang="en-US" altLang="ro-RO" sz="2400" dirty="0"/>
          </a:p>
          <a:p>
            <a:pPr lvl="1" eaLnBrk="1" hangingPunct="1"/>
            <a:r>
              <a:rPr lang="en-US" altLang="ro-RO" sz="2400" dirty="0" err="1"/>
              <a:t>Interfeţele</a:t>
            </a:r>
            <a:r>
              <a:rPr lang="en-US" altLang="ro-RO" sz="2400" dirty="0"/>
              <a:t> nu </a:t>
            </a:r>
            <a:r>
              <a:rPr lang="en-US" altLang="ro-RO" sz="2400" dirty="0" err="1"/>
              <a:t>implementează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metodele</a:t>
            </a:r>
            <a:endParaRPr lang="en-US" altLang="ro-RO" sz="2400" dirty="0"/>
          </a:p>
          <a:p>
            <a:pPr lvl="1" eaLnBrk="1" hangingPunct="1"/>
            <a:r>
              <a:rPr lang="en-US" altLang="ro-RO" sz="2400" dirty="0"/>
              <a:t>o </a:t>
            </a:r>
            <a:r>
              <a:rPr lang="en-US" altLang="ro-RO" sz="2400" dirty="0" err="1"/>
              <a:t>clasă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poate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aparţi</a:t>
            </a:r>
            <a:r>
              <a:rPr lang="ro-RO" altLang="ro-RO" sz="2400" dirty="0"/>
              <a:t>n</a:t>
            </a:r>
            <a:r>
              <a:rPr lang="en-US" altLang="ro-RO" sz="2400" dirty="0"/>
              <a:t>e (</a:t>
            </a:r>
            <a:r>
              <a:rPr lang="en-US" altLang="ro-RO" sz="2400" dirty="0" err="1"/>
              <a:t>implementa</a:t>
            </a:r>
            <a:r>
              <a:rPr lang="en-US" altLang="ro-RO" sz="2400" dirty="0"/>
              <a:t>) </a:t>
            </a:r>
            <a:r>
              <a:rPr lang="en-US" altLang="ro-RO" sz="2400" dirty="0" err="1"/>
              <a:t>mai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multor</a:t>
            </a:r>
            <a:r>
              <a:rPr lang="en-US" altLang="ro-RO" sz="2400" dirty="0"/>
              <a:t> </a:t>
            </a:r>
            <a:r>
              <a:rPr lang="en-US" altLang="ro-RO" sz="2400" dirty="0" err="1"/>
              <a:t>interfeţe</a:t>
            </a:r>
            <a:r>
              <a:rPr lang="en-US" altLang="ro-RO" sz="2400" dirty="0"/>
              <a:t> (o </a:t>
            </a:r>
            <a:r>
              <a:rPr lang="en-US" altLang="ro-RO" sz="2400" dirty="0" err="1"/>
              <a:t>formă</a:t>
            </a:r>
            <a:r>
              <a:rPr lang="en-US" altLang="ro-RO" sz="2400" dirty="0"/>
              <a:t> de </a:t>
            </a:r>
            <a:r>
              <a:rPr lang="en-US" altLang="ro-RO" sz="2400" dirty="0" err="1"/>
              <a:t>mostenirea</a:t>
            </a:r>
            <a:r>
              <a:rPr lang="en-US" altLang="ro-RO" sz="2400" dirty="0"/>
              <a:t> </a:t>
            </a:r>
            <a:r>
              <a:rPr lang="en-US" altLang="ro-RO" sz="2400" dirty="0" err="1"/>
              <a:t>multiplă</a:t>
            </a:r>
            <a:r>
              <a:rPr lang="en-US" altLang="ro-RO" sz="2400" dirty="0"/>
              <a:t>) </a:t>
            </a:r>
            <a:r>
              <a:rPr lang="en-US" altLang="ro-RO" sz="2400" dirty="0" err="1"/>
              <a:t>dar</a:t>
            </a:r>
            <a:r>
              <a:rPr lang="en-US" altLang="ro-RO" sz="2400" dirty="0"/>
              <a:t> </a:t>
            </a:r>
            <a:r>
              <a:rPr lang="en-US" altLang="ro-RO" sz="2400" dirty="0" err="1"/>
              <a:t>poate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avea</a:t>
            </a:r>
            <a:r>
              <a:rPr lang="en-US" altLang="ro-RO" sz="2400" dirty="0"/>
              <a:t> o </a:t>
            </a:r>
            <a:r>
              <a:rPr lang="en-US" altLang="ro-RO" sz="2400" dirty="0" err="1"/>
              <a:t>singură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superclasă</a:t>
            </a:r>
            <a:endParaRPr lang="en-US" altLang="ro-RO" sz="2400" dirty="0"/>
          </a:p>
          <a:p>
            <a:pPr lvl="1" eaLnBrk="1" hangingPunct="1"/>
            <a:r>
              <a:rPr lang="en-US" altLang="ro-RO" sz="2400" dirty="0"/>
              <a:t>O </a:t>
            </a:r>
            <a:r>
              <a:rPr lang="en-US" altLang="ro-RO" sz="2400" dirty="0" err="1"/>
              <a:t>interfaţă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este</a:t>
            </a:r>
            <a:r>
              <a:rPr lang="en-US" altLang="ro-RO" sz="2400" dirty="0"/>
              <a:t> o </a:t>
            </a:r>
            <a:r>
              <a:rPr lang="en-US" altLang="ro-RO" sz="2400" dirty="0" err="1"/>
              <a:t>descriere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formală</a:t>
            </a:r>
            <a:r>
              <a:rPr lang="en-US" altLang="ro-RO" sz="2400" dirty="0"/>
              <a:t> de sine </a:t>
            </a:r>
            <a:r>
              <a:rPr lang="en-US" altLang="ro-RO" sz="2400" dirty="0" err="1"/>
              <a:t>stătătoare</a:t>
            </a:r>
            <a:r>
              <a:rPr lang="en-US" altLang="ro-RO" sz="2400" dirty="0"/>
              <a:t> pe </a:t>
            </a:r>
            <a:r>
              <a:rPr lang="en-US" altLang="ro-RO" sz="2400" dirty="0" err="1"/>
              <a:t>când</a:t>
            </a:r>
            <a:r>
              <a:rPr lang="en-US" altLang="ro-RO" sz="2400" dirty="0"/>
              <a:t> o </a:t>
            </a:r>
            <a:r>
              <a:rPr lang="en-US" altLang="ro-RO" sz="2400" dirty="0" err="1"/>
              <a:t>clasă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trebuie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să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aparţină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unei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ierarhii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unice</a:t>
            </a:r>
            <a:r>
              <a:rPr lang="en-US" altLang="ro-RO" sz="2400" dirty="0"/>
              <a:t> de </a:t>
            </a:r>
            <a:r>
              <a:rPr lang="en-US" altLang="ro-RO" sz="2400" dirty="0" err="1"/>
              <a:t>clase</a:t>
            </a:r>
            <a:r>
              <a:rPr lang="en-US" altLang="ro-RO" sz="2400" dirty="0"/>
              <a:t>. E </a:t>
            </a:r>
            <a:r>
              <a:rPr lang="en-US" altLang="ro-RO" sz="2400" dirty="0" err="1"/>
              <a:t>permis</a:t>
            </a:r>
            <a:r>
              <a:rPr lang="en-US" altLang="ro-RO" sz="2400" dirty="0"/>
              <a:t> </a:t>
            </a:r>
            <a:r>
              <a:rPr lang="en-US" altLang="ro-RO" sz="2400" dirty="0" err="1"/>
              <a:t>însă</a:t>
            </a:r>
            <a:r>
              <a:rPr lang="en-US" altLang="ro-RO" sz="2400" dirty="0"/>
              <a:t> ca, </a:t>
            </a:r>
            <a:r>
              <a:rPr lang="en-US" altLang="ro-RO" sz="2400" dirty="0" err="1"/>
              <a:t>clase</a:t>
            </a:r>
            <a:r>
              <a:rPr lang="en-US" altLang="ro-RO" sz="2400" dirty="0"/>
              <a:t> din </a:t>
            </a:r>
            <a:r>
              <a:rPr lang="en-US" altLang="ro-RO" sz="2400" dirty="0" err="1"/>
              <a:t>ierarhii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diferite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să</a:t>
            </a:r>
            <a:r>
              <a:rPr lang="en-US" altLang="ro-RO" sz="2400" dirty="0"/>
              <a:t> </a:t>
            </a:r>
            <a:r>
              <a:rPr lang="en-US" altLang="ro-RO" sz="2400" dirty="0" err="1"/>
              <a:t>aparţină</a:t>
            </a:r>
            <a:r>
              <a:rPr lang="en-US" altLang="ro-RO" sz="2400" dirty="0"/>
              <a:t> (</a:t>
            </a:r>
            <a:r>
              <a:rPr lang="en-US" altLang="ro-RO" sz="2400" dirty="0" err="1"/>
              <a:t>implementeze</a:t>
            </a:r>
            <a:r>
              <a:rPr lang="en-US" altLang="ro-RO" sz="2400" dirty="0"/>
              <a:t>) </a:t>
            </a:r>
            <a:r>
              <a:rPr lang="en-US" altLang="ro-RO" sz="2400" dirty="0" err="1"/>
              <a:t>aceaşi</a:t>
            </a:r>
            <a:r>
              <a:rPr lang="en-US" altLang="ro-RO" sz="2400" dirty="0"/>
              <a:t> </a:t>
            </a:r>
            <a:r>
              <a:rPr lang="en-US" altLang="ro-RO" sz="2400" dirty="0" err="1"/>
              <a:t>interfaţă</a:t>
            </a:r>
            <a:r>
              <a:rPr lang="en-US" altLang="ro-RO" sz="2400" dirty="0"/>
              <a:t> </a:t>
            </a:r>
          </a:p>
          <a:p>
            <a:pPr eaLnBrk="1" hangingPunct="1"/>
            <a:r>
              <a:rPr lang="en-US" altLang="ro-RO" sz="2400" dirty="0" err="1"/>
              <a:t>Obervaţie</a:t>
            </a:r>
            <a:r>
              <a:rPr lang="en-US" altLang="ro-RO" sz="2400" dirty="0"/>
              <a:t>: </a:t>
            </a:r>
            <a:r>
              <a:rPr lang="en-US" altLang="ro-RO" sz="2400" dirty="0" err="1"/>
              <a:t>termenul</a:t>
            </a:r>
            <a:r>
              <a:rPr lang="en-US" altLang="ro-RO" sz="2400" dirty="0"/>
              <a:t> de </a:t>
            </a:r>
            <a:r>
              <a:rPr lang="en-US" altLang="ro-RO" sz="2400" b="1" dirty="0" err="1">
                <a:solidFill>
                  <a:srgbClr val="FF0000"/>
                </a:solidFill>
              </a:rPr>
              <a:t>implementare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este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abordarea</a:t>
            </a:r>
            <a:r>
              <a:rPr lang="en-US" altLang="ro-RO" sz="2400" dirty="0"/>
              <a:t> din </a:t>
            </a:r>
            <a:r>
              <a:rPr lang="en-US" altLang="ro-RO" sz="2400" dirty="0" err="1"/>
              <a:t>punct</a:t>
            </a:r>
            <a:r>
              <a:rPr lang="en-US" altLang="ro-RO" sz="2400" dirty="0"/>
              <a:t> de </a:t>
            </a:r>
            <a:r>
              <a:rPr lang="en-US" altLang="ro-RO" sz="2400" dirty="0" err="1"/>
              <a:t>vedere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practic</a:t>
            </a:r>
            <a:r>
              <a:rPr lang="en-US" altLang="ro-RO" sz="2400" dirty="0"/>
              <a:t> </a:t>
            </a:r>
            <a:r>
              <a:rPr lang="en-US" altLang="ro-RO" sz="2400" dirty="0" err="1"/>
              <a:t>în</a:t>
            </a:r>
            <a:r>
              <a:rPr lang="en-US" altLang="ro-RO" sz="2400" dirty="0"/>
              <a:t> </a:t>
            </a:r>
            <a:r>
              <a:rPr lang="en-US" altLang="ro-RO" sz="2400" dirty="0" err="1"/>
              <a:t>timp</a:t>
            </a:r>
            <a:r>
              <a:rPr lang="en-US" altLang="ro-RO" sz="2400" dirty="0"/>
              <a:t> </a:t>
            </a:r>
            <a:r>
              <a:rPr lang="en-US" altLang="ro-RO" sz="2400" dirty="0" err="1"/>
              <a:t>ce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termenul</a:t>
            </a:r>
            <a:r>
              <a:rPr lang="en-US" altLang="ro-RO" sz="2400" dirty="0"/>
              <a:t> de </a:t>
            </a:r>
            <a:r>
              <a:rPr lang="en-US" altLang="ro-RO" sz="2400" dirty="0" err="1"/>
              <a:t>aparţine</a:t>
            </a:r>
            <a:r>
              <a:rPr lang="en-US" altLang="ro-RO" sz="2400" dirty="0"/>
              <a:t> </a:t>
            </a:r>
            <a:r>
              <a:rPr lang="en-US" altLang="ro-RO" sz="2400" dirty="0" err="1"/>
              <a:t>este</a:t>
            </a:r>
            <a:r>
              <a:rPr lang="en-US" altLang="ro-RO" sz="2400" dirty="0"/>
              <a:t> din </a:t>
            </a:r>
            <a:r>
              <a:rPr lang="en-US" altLang="ro-RO" sz="2400" dirty="0" err="1"/>
              <a:t>punct</a:t>
            </a:r>
            <a:r>
              <a:rPr lang="en-US" altLang="ro-RO" sz="2400" dirty="0"/>
              <a:t> de </a:t>
            </a:r>
            <a:r>
              <a:rPr lang="en-US" altLang="ro-RO" sz="2400" dirty="0" err="1"/>
              <a:t>vedere</a:t>
            </a:r>
            <a:r>
              <a:rPr lang="en-US" altLang="ro-RO" sz="2400" dirty="0"/>
              <a:t> formal </a:t>
            </a:r>
            <a:r>
              <a:rPr lang="en-US" altLang="ro-RO" sz="2400" dirty="0" err="1"/>
              <a:t>folosit</a:t>
            </a:r>
            <a:endParaRPr lang="en-US" altLang="ro-RO" sz="2400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811B0-FA1E-0622-3EC5-D3CB1982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08" name="Rectangle 51207">
            <a:extLst>
              <a:ext uri="{FF2B5EF4-FFF2-40B4-BE49-F238E27FC236}">
                <a16:creationId xmlns:a16="http://schemas.microsoft.com/office/drawing/2014/main" id="{730B90C7-A53B-9778-D9AC-B141D35E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10" name="Rectangle 51209">
            <a:extLst>
              <a:ext uri="{FF2B5EF4-FFF2-40B4-BE49-F238E27FC236}">
                <a16:creationId xmlns:a16="http://schemas.microsoft.com/office/drawing/2014/main" id="{00BCA418-4DA9-D542-AE1F-30891D003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997C2C2F-3878-F28E-16A8-52575850E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sz="3500">
                <a:solidFill>
                  <a:srgbClr val="FFFFFF"/>
                </a:solidFill>
              </a:rPr>
              <a:t>Interfeţe</a:t>
            </a:r>
          </a:p>
        </p:txBody>
      </p:sp>
      <p:sp>
        <p:nvSpPr>
          <p:cNvPr id="51212" name="Rectangle 51211">
            <a:extLst>
              <a:ext uri="{FF2B5EF4-FFF2-40B4-BE49-F238E27FC236}">
                <a16:creationId xmlns:a16="http://schemas.microsoft.com/office/drawing/2014/main" id="{503D2F10-229E-38A1-6D15-E5AA604E9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CD673ED-A218-D110-5302-E8706E3316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lIns="101494" tIns="50748" rIns="101494" bIns="50748" anchor="ctr">
            <a:normAutofit/>
          </a:bodyPr>
          <a:lstStyle/>
          <a:p>
            <a:r>
              <a:rPr lang="en-GB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Sintaxa</a:t>
            </a: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 </a:t>
            </a:r>
            <a:r>
              <a:rPr lang="en-GB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generala</a:t>
            </a: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 de </a:t>
            </a:r>
            <a:r>
              <a:rPr lang="en-GB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definire</a:t>
            </a: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 a </a:t>
            </a:r>
            <a:r>
              <a:rPr lang="en-GB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interfetelor</a:t>
            </a:r>
            <a:endParaRPr lang="en-GB" sz="2400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Interface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NumeInterfata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metoda1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metoda2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eaLnBrk="1" hangingPunct="1"/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81403250"/>
      </p:ext>
    </p:extLst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98ED3-5651-46F0-4817-0CF6E142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08" name="Rectangle 51207">
            <a:extLst>
              <a:ext uri="{FF2B5EF4-FFF2-40B4-BE49-F238E27FC236}">
                <a16:creationId xmlns:a16="http://schemas.microsoft.com/office/drawing/2014/main" id="{9C551296-D1EE-7419-3118-57FB8C0F9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10" name="Rectangle 51209">
            <a:extLst>
              <a:ext uri="{FF2B5EF4-FFF2-40B4-BE49-F238E27FC236}">
                <a16:creationId xmlns:a16="http://schemas.microsoft.com/office/drawing/2014/main" id="{41414B5E-22FC-31F9-41D2-D0EA55623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576DD996-FF5E-3C2A-571A-25DFEDDBD0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137" y="667888"/>
            <a:ext cx="2850585" cy="6223898"/>
          </a:xfrm>
        </p:spPr>
        <p:txBody>
          <a:bodyPr lIns="101494" tIns="50748" rIns="101494" bIns="50748" anchor="ctr">
            <a:normAutofit/>
          </a:bodyPr>
          <a:lstStyle/>
          <a:p>
            <a:pPr eaLnBrk="1" hangingPunct="1"/>
            <a:r>
              <a:rPr lang="en-US" altLang="ro-RO" sz="3500" dirty="0" err="1">
                <a:solidFill>
                  <a:srgbClr val="FFFFFF"/>
                </a:solidFill>
              </a:rPr>
              <a:t>Implementarea</a:t>
            </a:r>
            <a:r>
              <a:rPr lang="en-US" altLang="ro-RO" sz="3500" dirty="0">
                <a:solidFill>
                  <a:srgbClr val="FFFFFF"/>
                </a:solidFill>
              </a:rPr>
              <a:t> </a:t>
            </a:r>
            <a:r>
              <a:rPr lang="en-US" altLang="ro-RO" sz="3500" dirty="0" err="1">
                <a:solidFill>
                  <a:srgbClr val="FFFFFF"/>
                </a:solidFill>
              </a:rPr>
              <a:t>interfetelor</a:t>
            </a:r>
            <a:endParaRPr lang="en-US" altLang="ro-RO" sz="3500" dirty="0">
              <a:solidFill>
                <a:srgbClr val="FFFFFF"/>
              </a:solidFill>
            </a:endParaRPr>
          </a:p>
        </p:txBody>
      </p:sp>
      <p:sp>
        <p:nvSpPr>
          <p:cNvPr id="51212" name="Rectangle 51211">
            <a:extLst>
              <a:ext uri="{FF2B5EF4-FFF2-40B4-BE49-F238E27FC236}">
                <a16:creationId xmlns:a16="http://schemas.microsoft.com/office/drawing/2014/main" id="{5C9C6278-B76E-9FF1-DB8B-00D0DFDBA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AF17A95-4226-FD14-3FEB-EAC1C77816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0806" y="136877"/>
            <a:ext cx="5824995" cy="7513605"/>
          </a:xfrm>
        </p:spPr>
        <p:txBody>
          <a:bodyPr lIns="101494" tIns="50748" rIns="101494" bIns="50748" anchor="ctr"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public interface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Vehicul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porneste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opreste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p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ublic 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Masina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implements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Vehicul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porneste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4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Mașina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pornește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."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opreste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4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Mașina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 se </a:t>
            </a:r>
            <a:r>
              <a:rPr lang="en-GB" sz="24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oprește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."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endParaRPr lang="en-US" altLang="ro-RO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ro-RO" dirty="0" err="1"/>
              <a:t>Testare</a:t>
            </a:r>
            <a:endParaRPr lang="en-US" altLang="ro-RO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Vehicul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v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Masina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porneste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Mașina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pornește</a:t>
            </a:r>
            <a:r>
              <a:rPr lang="en-GB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24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ro-RO" dirty="0"/>
              <a:t>O </a:t>
            </a:r>
            <a:r>
              <a:rPr lang="en-US" altLang="ro-RO" dirty="0" err="1"/>
              <a:t>clasă</a:t>
            </a:r>
            <a:r>
              <a:rPr lang="en-US" altLang="ro-RO" dirty="0"/>
              <a:t> </a:t>
            </a:r>
            <a:r>
              <a:rPr lang="en-US" altLang="ro-RO" dirty="0" err="1"/>
              <a:t>implementează</a:t>
            </a:r>
            <a:r>
              <a:rPr lang="en-US" altLang="ro-RO" dirty="0"/>
              <a:t> o </a:t>
            </a:r>
            <a:r>
              <a:rPr lang="en-US" altLang="ro-RO" dirty="0" err="1"/>
              <a:t>interfață</a:t>
            </a:r>
            <a:r>
              <a:rPr lang="en-US" altLang="ro-RO" dirty="0"/>
              <a:t> cu implements.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ro-RO" dirty="0" err="1"/>
              <a:t>Trebuie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furnizeze</a:t>
            </a:r>
            <a:r>
              <a:rPr lang="en-US" altLang="ro-RO" dirty="0"/>
              <a:t> </a:t>
            </a:r>
            <a:r>
              <a:rPr lang="en-US" altLang="ro-RO" dirty="0" err="1"/>
              <a:t>implementări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toate</a:t>
            </a:r>
            <a:r>
              <a:rPr lang="en-US" altLang="ro-RO" dirty="0"/>
              <a:t> </a:t>
            </a:r>
            <a:r>
              <a:rPr lang="en-US" altLang="ro-RO" dirty="0" err="1"/>
              <a:t>metodele</a:t>
            </a:r>
            <a:r>
              <a:rPr lang="en-US" altLang="ro-RO" dirty="0"/>
              <a:t> definite </a:t>
            </a:r>
            <a:r>
              <a:rPr lang="en-US" altLang="ro-RO" dirty="0" err="1"/>
              <a:t>în</a:t>
            </a:r>
            <a:r>
              <a:rPr lang="en-US" altLang="ro-RO" dirty="0"/>
              <a:t> </a:t>
            </a:r>
            <a:r>
              <a:rPr lang="en-US" altLang="ro-RO" dirty="0" err="1"/>
              <a:t>interfață</a:t>
            </a:r>
            <a:r>
              <a:rPr lang="en-US" altLang="ro-RO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ro-RO" dirty="0" err="1"/>
              <a:t>Poate</a:t>
            </a:r>
            <a:r>
              <a:rPr lang="en-US" altLang="ro-RO" dirty="0"/>
              <a:t> </a:t>
            </a:r>
            <a:r>
              <a:rPr lang="en-US" altLang="ro-RO" dirty="0" err="1"/>
              <a:t>implementa</a:t>
            </a:r>
            <a:r>
              <a:rPr lang="en-US" altLang="ro-RO" dirty="0"/>
              <a:t> </a:t>
            </a:r>
            <a:r>
              <a:rPr lang="en-US" altLang="ro-RO" dirty="0" err="1"/>
              <a:t>mai</a:t>
            </a:r>
            <a:r>
              <a:rPr lang="en-US" altLang="ro-RO" dirty="0"/>
              <a:t> </a:t>
            </a:r>
            <a:r>
              <a:rPr lang="en-US" altLang="ro-RO" dirty="0" err="1"/>
              <a:t>multe</a:t>
            </a:r>
            <a:r>
              <a:rPr lang="en-US" altLang="ro-RO" dirty="0"/>
              <a:t> </a:t>
            </a:r>
            <a:r>
              <a:rPr lang="en-US" altLang="ro-RO" dirty="0" err="1"/>
              <a:t>interfețe</a:t>
            </a:r>
            <a:r>
              <a:rPr lang="en-US" altLang="ro-RO" dirty="0"/>
              <a:t> </a:t>
            </a:r>
            <a:r>
              <a:rPr lang="en-US" altLang="ro-RO" dirty="0" err="1"/>
              <a:t>simultan</a:t>
            </a:r>
            <a:r>
              <a:rPr lang="en-US" altLang="ro-RO" dirty="0"/>
              <a:t>, separate </a:t>
            </a:r>
            <a:r>
              <a:rPr lang="en-US" altLang="ro-RO" dirty="0" err="1"/>
              <a:t>prin</a:t>
            </a:r>
            <a:r>
              <a:rPr lang="en-US" altLang="ro-RO" dirty="0"/>
              <a:t> </a:t>
            </a:r>
            <a:r>
              <a:rPr lang="en-US" altLang="ro-RO" dirty="0" err="1"/>
              <a:t>virgulă</a:t>
            </a:r>
            <a:r>
              <a:rPr lang="en-US" alt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8072279"/>
      </p:ext>
    </p:extLst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EED44-6F08-A424-F735-FCF926BF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Moștenirea multiplă prin interfețe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8ECAF-3597-C012-7332-65102F23C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0807" y="667888"/>
            <a:ext cx="5302964" cy="6223898"/>
          </a:xfrm>
        </p:spPr>
        <p:txBody>
          <a:bodyPr anchor="ctr">
            <a:normAutofit lnSpcReduction="10000"/>
          </a:bodyPr>
          <a:lstStyle/>
          <a:p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interface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metodaA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interface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metodaB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implements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metodaA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"A"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metodaB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"B"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34650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7074D-F705-61D3-C303-2D3A6C57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7A7A21-D2A6-C886-A3AB-1140F6575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5924" cy="75596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ADE5F-BE06-4B57-CD7D-AA4497B4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49287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CDDBA-403B-87D6-6B6E-C30BEA85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02" y="667888"/>
            <a:ext cx="2550620" cy="6223898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Moștenirea multiplă prin interfețe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01527-552E-CCFA-8613-14ABB7A93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0423" y="0"/>
            <a:ext cx="52923" cy="7559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14330-945B-7F5D-0E38-294DAF205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0807" y="667888"/>
            <a:ext cx="5597310" cy="622389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sz="2800" b="1" dirty="0" err="1"/>
              <a:t>Avantaje</a:t>
            </a:r>
            <a:r>
              <a:rPr lang="en-GB" sz="28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 err="1"/>
              <a:t>Oferă</a:t>
            </a:r>
            <a:r>
              <a:rPr lang="en-GB" sz="2800" dirty="0"/>
              <a:t> </a:t>
            </a:r>
            <a:r>
              <a:rPr lang="en-GB" sz="2800" b="1" dirty="0" err="1"/>
              <a:t>flexibilitate</a:t>
            </a:r>
            <a:r>
              <a:rPr lang="en-GB" sz="2800" dirty="0"/>
              <a:t> </a:t>
            </a:r>
            <a:r>
              <a:rPr lang="en-GB" sz="2800" dirty="0" err="1"/>
              <a:t>fără</a:t>
            </a:r>
            <a:r>
              <a:rPr lang="en-GB" sz="2800" dirty="0"/>
              <a:t> </a:t>
            </a:r>
            <a:r>
              <a:rPr lang="en-GB" sz="2800" dirty="0" err="1"/>
              <a:t>ambiguități</a:t>
            </a:r>
            <a:r>
              <a:rPr lang="en-GB" sz="2800" dirty="0"/>
              <a:t> (</a:t>
            </a:r>
            <a:r>
              <a:rPr lang="en-GB" sz="2800" dirty="0" err="1"/>
              <a:t>spre</a:t>
            </a:r>
            <a:r>
              <a:rPr lang="en-GB" sz="2800" dirty="0"/>
              <a:t> </a:t>
            </a:r>
            <a:r>
              <a:rPr lang="en-GB" sz="2800" dirty="0" err="1"/>
              <a:t>deosebire</a:t>
            </a:r>
            <a:r>
              <a:rPr lang="en-GB" sz="2800" dirty="0"/>
              <a:t> de </a:t>
            </a:r>
            <a:r>
              <a:rPr lang="en-GB" sz="2800" dirty="0" err="1"/>
              <a:t>moștenirea</a:t>
            </a:r>
            <a:r>
              <a:rPr lang="en-GB" sz="2800" dirty="0"/>
              <a:t> </a:t>
            </a:r>
            <a:r>
              <a:rPr lang="en-GB" sz="2800" dirty="0" err="1"/>
              <a:t>multiplă</a:t>
            </a:r>
            <a:r>
              <a:rPr lang="en-GB" sz="2800" dirty="0"/>
              <a:t> de </a:t>
            </a:r>
            <a:r>
              <a:rPr lang="en-GB" sz="2800" dirty="0" err="1"/>
              <a:t>clase</a:t>
            </a:r>
            <a:r>
              <a:rPr lang="en-GB" sz="28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 err="1"/>
              <a:t>Permite</a:t>
            </a:r>
            <a:r>
              <a:rPr lang="en-GB" sz="2800" dirty="0"/>
              <a:t> </a:t>
            </a:r>
            <a:r>
              <a:rPr lang="en-GB" sz="2800" b="1" dirty="0" err="1"/>
              <a:t>separarea</a:t>
            </a:r>
            <a:r>
              <a:rPr lang="en-GB" sz="2800" b="1" dirty="0"/>
              <a:t> </a:t>
            </a:r>
            <a:r>
              <a:rPr lang="en-GB" sz="2800" b="1" dirty="0" err="1"/>
              <a:t>clară</a:t>
            </a:r>
            <a:r>
              <a:rPr lang="en-GB" sz="2800" b="1" dirty="0"/>
              <a:t> a </a:t>
            </a:r>
            <a:r>
              <a:rPr lang="en-GB" sz="2800" b="1" dirty="0" err="1"/>
              <a:t>comportamentelor</a:t>
            </a:r>
            <a:r>
              <a:rPr lang="en-GB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 err="1"/>
              <a:t>Asigură</a:t>
            </a:r>
            <a:r>
              <a:rPr lang="en-GB" sz="2800" dirty="0"/>
              <a:t> o </a:t>
            </a:r>
            <a:r>
              <a:rPr lang="en-GB" sz="2800" b="1" dirty="0" err="1"/>
              <a:t>formă</a:t>
            </a:r>
            <a:r>
              <a:rPr lang="en-GB" sz="2800" b="1" dirty="0"/>
              <a:t> </a:t>
            </a:r>
            <a:r>
              <a:rPr lang="en-GB" sz="2800" b="1" dirty="0" err="1"/>
              <a:t>sigură</a:t>
            </a:r>
            <a:r>
              <a:rPr lang="en-GB" sz="2800" b="1" dirty="0"/>
              <a:t> de </a:t>
            </a:r>
            <a:r>
              <a:rPr lang="en-GB" sz="2800" b="1" dirty="0" err="1"/>
              <a:t>polimorfism</a:t>
            </a:r>
            <a:r>
              <a:rPr lang="en-GB" sz="2800" dirty="0"/>
              <a:t>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416474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14339</TotalTime>
  <Words>3509</Words>
  <Application>Microsoft Office PowerPoint</Application>
  <PresentationFormat>Custom</PresentationFormat>
  <Paragraphs>595</Paragraphs>
  <Slides>48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Aptos</vt:lpstr>
      <vt:lpstr>Arial</vt:lpstr>
      <vt:lpstr>Arial Narrow</vt:lpstr>
      <vt:lpstr>Calibri</vt:lpstr>
      <vt:lpstr>Calibri Light</vt:lpstr>
      <vt:lpstr>Courier New</vt:lpstr>
      <vt:lpstr>StarSymbol</vt:lpstr>
      <vt:lpstr>Times New Roman</vt:lpstr>
      <vt:lpstr>Wingdings</vt:lpstr>
      <vt:lpstr>Retrospect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 si abstractizare</vt:lpstr>
      <vt:lpstr>Mostenirea multipla</vt:lpstr>
      <vt:lpstr>Mostenirea multipla</vt:lpstr>
      <vt:lpstr>Mostenirea multipla</vt:lpstr>
      <vt:lpstr>Controlul vizibilității în Java – Modificatorii de acces</vt:lpstr>
      <vt:lpstr>Controlul vizibilității în Java – Modificatorii de acces</vt:lpstr>
      <vt:lpstr>Modificatori de acces</vt:lpstr>
      <vt:lpstr>Modificatori utilizați pentru clase</vt:lpstr>
      <vt:lpstr>Modificator de tip - public</vt:lpstr>
      <vt:lpstr>Modificator de tip - public</vt:lpstr>
      <vt:lpstr>Modificator de tip - Abstract</vt:lpstr>
      <vt:lpstr>Modificator de tip - Abstract</vt:lpstr>
      <vt:lpstr>Clase abstracte</vt:lpstr>
      <vt:lpstr>Clase abstracte</vt:lpstr>
      <vt:lpstr>Clase abstracte</vt:lpstr>
      <vt:lpstr>Clase abstracte</vt:lpstr>
      <vt:lpstr>Modificator de tip - Abstract</vt:lpstr>
      <vt:lpstr>Modificator de tip - final</vt:lpstr>
      <vt:lpstr>Modificator de tip - final</vt:lpstr>
      <vt:lpstr>Modificator de tip - final</vt:lpstr>
      <vt:lpstr>Constuctorii si mostenirea</vt:lpstr>
      <vt:lpstr>Constuctorii si mostenirea</vt:lpstr>
      <vt:lpstr>Constuctorii si mostenirea</vt:lpstr>
      <vt:lpstr>Constuctorii si mostenirea</vt:lpstr>
      <vt:lpstr>Constuctorii si mostenirea</vt:lpstr>
      <vt:lpstr>this() și super()</vt:lpstr>
      <vt:lpstr>Ordinea apelului constructorilor în moștenire</vt:lpstr>
      <vt:lpstr>➡️ Ordinea de apel a constructorilor într-o ierarhie de clase </vt:lpstr>
      <vt:lpstr>Sinteză – Cum funcționează constructorii în moștenire</vt:lpstr>
      <vt:lpstr>Sinteză – Cum funcționează constructorii în moștenire</vt:lpstr>
      <vt:lpstr>Interfete</vt:lpstr>
      <vt:lpstr>Interfeţe</vt:lpstr>
      <vt:lpstr>Interfete</vt:lpstr>
      <vt:lpstr>Interfete</vt:lpstr>
      <vt:lpstr>Interfete</vt:lpstr>
      <vt:lpstr>Interfete</vt:lpstr>
      <vt:lpstr>Interfeţe</vt:lpstr>
      <vt:lpstr>Interfeţe</vt:lpstr>
      <vt:lpstr>Implementarea interfetelor</vt:lpstr>
      <vt:lpstr>Moștenirea multiplă prin interfețe</vt:lpstr>
      <vt:lpstr>Moștenirea multiplă prin interfețe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Admin</dc:creator>
  <cp:lastModifiedBy>Manuela Panoiu</cp:lastModifiedBy>
  <cp:revision>190</cp:revision>
  <dcterms:modified xsi:type="dcterms:W3CDTF">2025-11-03T13:08:05Z</dcterms:modified>
</cp:coreProperties>
</file>