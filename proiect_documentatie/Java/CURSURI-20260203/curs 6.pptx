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8" r:id="rId1"/>
  </p:sldMasterIdLst>
  <p:notesMasterIdLst>
    <p:notesMasterId r:id="rId35"/>
  </p:notesMasterIdLst>
  <p:sldIdLst>
    <p:sldId id="258" r:id="rId2"/>
    <p:sldId id="267" r:id="rId3"/>
    <p:sldId id="260" r:id="rId4"/>
    <p:sldId id="268" r:id="rId5"/>
    <p:sldId id="269" r:id="rId6"/>
    <p:sldId id="262" r:id="rId7"/>
    <p:sldId id="259" r:id="rId8"/>
    <p:sldId id="261" r:id="rId9"/>
    <p:sldId id="263" r:id="rId10"/>
    <p:sldId id="271" r:id="rId11"/>
    <p:sldId id="270" r:id="rId12"/>
    <p:sldId id="265" r:id="rId13"/>
    <p:sldId id="276" r:id="rId14"/>
    <p:sldId id="277" r:id="rId15"/>
    <p:sldId id="272" r:id="rId16"/>
    <p:sldId id="293" r:id="rId17"/>
    <p:sldId id="294" r:id="rId18"/>
    <p:sldId id="295" r:id="rId19"/>
    <p:sldId id="311" r:id="rId20"/>
    <p:sldId id="312" r:id="rId21"/>
    <p:sldId id="313" r:id="rId22"/>
    <p:sldId id="296" r:id="rId23"/>
    <p:sldId id="297" r:id="rId24"/>
    <p:sldId id="302" r:id="rId25"/>
    <p:sldId id="274" r:id="rId26"/>
    <p:sldId id="273" r:id="rId27"/>
    <p:sldId id="288" r:id="rId28"/>
    <p:sldId id="315" r:id="rId29"/>
    <p:sldId id="289" r:id="rId30"/>
    <p:sldId id="290" r:id="rId31"/>
    <p:sldId id="291" r:id="rId32"/>
    <p:sldId id="292" r:id="rId33"/>
    <p:sldId id="314" r:id="rId34"/>
  </p:sldIdLst>
  <p:sldSz cx="10080625" cy="7559675"/>
  <p:notesSz cx="7315200" cy="96012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86">
          <p15:clr>
            <a:srgbClr val="A4A3A4"/>
          </p15:clr>
        </p15:guide>
        <p15:guide id="2" pos="209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33" autoAdjust="0"/>
  </p:normalViewPr>
  <p:slideViewPr>
    <p:cSldViewPr>
      <p:cViewPr varScale="1">
        <p:scale>
          <a:sx n="102" d="100"/>
          <a:sy n="102" d="100"/>
        </p:scale>
        <p:origin x="1590" y="108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35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586"/>
        <p:guide pos="2091"/>
      </p:guideLst>
    </p:cSldViewPr>
  </p:notesViewPr>
  <p:gridSpacing cx="75895" cy="7589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/>
          <p:cNvSpPr>
            <a:spLocks noChangeArrowheads="1" noTextEdit="1"/>
          </p:cNvSpPr>
          <p:nvPr>
            <p:ph type="sldImg"/>
          </p:nvPr>
        </p:nvSpPr>
        <p:spPr bwMode="auto">
          <a:xfrm>
            <a:off x="1444625" y="922338"/>
            <a:ext cx="4430713" cy="33226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31888" y="4567238"/>
            <a:ext cx="5059362" cy="368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52228" name="Freeform 3"/>
          <p:cNvSpPr>
            <a:spLocks noChangeArrowheads="1"/>
          </p:cNvSpPr>
          <p:nvPr/>
        </p:nvSpPr>
        <p:spPr bwMode="auto">
          <a:xfrm>
            <a:off x="5746750" y="7578725"/>
            <a:ext cx="869950" cy="808038"/>
          </a:xfrm>
          <a:custGeom>
            <a:avLst/>
            <a:gdLst>
              <a:gd name="T0" fmla="*/ 0 w 2501"/>
              <a:gd name="T1" fmla="*/ 2499 h 2501"/>
              <a:gd name="T2" fmla="*/ 2499 w 2501"/>
              <a:gd name="T3" fmla="*/ 0 h 2501"/>
              <a:gd name="T4" fmla="*/ 2500 w 2501"/>
              <a:gd name="T5" fmla="*/ 2500 h 2501"/>
              <a:gd name="T6" fmla="*/ 0 w 2501"/>
              <a:gd name="T7" fmla="*/ 2499 h 25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01" h="2501">
                <a:moveTo>
                  <a:pt x="0" y="2499"/>
                </a:moveTo>
                <a:lnTo>
                  <a:pt x="2499" y="0"/>
                </a:lnTo>
                <a:lnTo>
                  <a:pt x="2500" y="2500"/>
                </a:lnTo>
                <a:lnTo>
                  <a:pt x="0" y="2499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pic>
        <p:nvPicPr>
          <p:cNvPr id="5222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563" y="7834313"/>
            <a:ext cx="4651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Text Box 5"/>
          <p:cNvSpPr txBox="1">
            <a:spLocks noChangeArrowheads="1"/>
          </p:cNvSpPr>
          <p:nvPr/>
        </p:nvSpPr>
        <p:spPr bwMode="auto">
          <a:xfrm rot="-600000">
            <a:off x="6313488" y="7959725"/>
            <a:ext cx="2825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 defTabSz="8477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477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477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477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477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ro-RO" sz="1500">
                <a:solidFill>
                  <a:srgbClr val="000000"/>
                </a:solidFill>
                <a:latin typeface="Arial Narrow" panose="020B0606020202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683398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168282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937415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4123705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121628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983092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107559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889914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082838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053972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918860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289652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4134827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19463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563946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8482352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065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6838595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168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1074824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270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582637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3418224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8303276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3159456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680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9495422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782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0255919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8301359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4496539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7490338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7778293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8513858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6579011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42909343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4902210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7296972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10137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240595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7" y="7055697"/>
            <a:ext cx="10078000" cy="503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82410"/>
            <a:ext cx="10078000" cy="705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7256" y="836604"/>
            <a:ext cx="8316516" cy="3931031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818" spc="-5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9547" y="4911497"/>
            <a:ext cx="8316516" cy="1259946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646" cap="all" spc="220" baseline="0">
                <a:solidFill>
                  <a:schemeClr val="tx2"/>
                </a:solidFill>
                <a:latin typeface="+mj-lt"/>
              </a:defRPr>
            </a:lvl1pPr>
            <a:lvl2pPr marL="503972" indent="0" algn="ctr">
              <a:buNone/>
              <a:defRPr sz="2646"/>
            </a:lvl2pPr>
            <a:lvl3pPr marL="1007943" indent="0" algn="ctr">
              <a:buNone/>
              <a:defRPr sz="2646"/>
            </a:lvl3pPr>
            <a:lvl4pPr marL="1511915" indent="0" algn="ctr">
              <a:buNone/>
              <a:defRPr sz="2205"/>
            </a:lvl4pPr>
            <a:lvl5pPr marL="2015886" indent="0" algn="ctr">
              <a:buNone/>
              <a:defRPr sz="2205"/>
            </a:lvl5pPr>
            <a:lvl6pPr marL="2519858" indent="0" algn="ctr">
              <a:buNone/>
              <a:defRPr sz="2205"/>
            </a:lvl6pPr>
            <a:lvl7pPr marL="3023829" indent="0" algn="ctr">
              <a:buNone/>
              <a:defRPr sz="2205"/>
            </a:lvl7pPr>
            <a:lvl8pPr marL="3527801" indent="0" algn="ctr">
              <a:buNone/>
              <a:defRPr sz="2205"/>
            </a:lvl8pPr>
            <a:lvl9pPr marL="4031772" indent="0" algn="ctr">
              <a:buNone/>
              <a:defRPr sz="2205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3C4B-B540-4802-8CDF-B75E26D11757}" type="slidenum">
              <a:rPr lang="en-US" altLang="ro-RO" smtClean="0"/>
              <a:pPr/>
              <a:t>‹#›</a:t>
            </a:fld>
            <a:endParaRPr lang="en-US" alt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998520" y="4787794"/>
            <a:ext cx="816530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677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E82-1740-43C9-A0BC-825AD68E7671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3192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7" y="7055697"/>
            <a:ext cx="10078000" cy="503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82410"/>
            <a:ext cx="10078000" cy="705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256" y="836604"/>
            <a:ext cx="8316516" cy="3931031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818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256" y="4908749"/>
            <a:ext cx="8316516" cy="1259946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646" cap="all" spc="220" baseline="0">
                <a:solidFill>
                  <a:schemeClr val="tx2"/>
                </a:solidFill>
                <a:latin typeface="+mj-lt"/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FA16-69D4-4771-87E8-E7236AC3586D}" type="slidenum">
              <a:rPr lang="en-US" altLang="ro-RO" smtClean="0"/>
              <a:pPr/>
              <a:t>‹#›</a:t>
            </a:fld>
            <a:endParaRPr lang="en-US" alt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998520" y="4787794"/>
            <a:ext cx="816530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19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07256" y="315928"/>
            <a:ext cx="8316516" cy="159919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7256" y="2034580"/>
            <a:ext cx="4082653" cy="443500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119" y="2034583"/>
            <a:ext cx="4082653" cy="4435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5D062-60ED-491F-B2C0-7278D1DA8CF7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856201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07256" y="315928"/>
            <a:ext cx="8316516" cy="159919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256" y="2034930"/>
            <a:ext cx="4082653" cy="81161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205" b="0" cap="all" baseline="0">
                <a:solidFill>
                  <a:schemeClr val="tx2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7256" y="2846545"/>
            <a:ext cx="4082653" cy="36230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1119" y="2034930"/>
            <a:ext cx="4082653" cy="81161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205" b="0" cap="all" baseline="0">
                <a:solidFill>
                  <a:schemeClr val="tx2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1119" y="2846545"/>
            <a:ext cx="4082653" cy="36230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1E3F-665E-4F9E-BD44-BDB62159EC63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976286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9A48-9B6C-41C8-AE46-FAD39005E92B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39259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27" y="7055697"/>
            <a:ext cx="10078000" cy="503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982410"/>
            <a:ext cx="10078000" cy="705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F8995-C838-4184-BBD9-6244CA0C1354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376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023" y="655171"/>
            <a:ext cx="2646164" cy="2519892"/>
          </a:xfrm>
        </p:spPr>
        <p:txBody>
          <a:bodyPr anchor="b">
            <a:normAutofit/>
          </a:bodyPr>
          <a:lstStyle>
            <a:lvl1pPr>
              <a:defRPr sz="3968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4672" y="806365"/>
            <a:ext cx="5522508" cy="579575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023" y="3225462"/>
            <a:ext cx="2646164" cy="3724858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653">
                <a:solidFill>
                  <a:srgbClr val="FFFFFF"/>
                </a:solidFill>
              </a:defRPr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4896" y="7120718"/>
            <a:ext cx="2165045" cy="40248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69246" y="7120718"/>
            <a:ext cx="3843238" cy="402483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2C7A45-999A-431D-953D-7DBE7D1A12CC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41994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459765"/>
            <a:ext cx="10078000" cy="20999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5417961"/>
            <a:ext cx="10078000" cy="705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256" y="5594160"/>
            <a:ext cx="8366919" cy="907161"/>
          </a:xfrm>
        </p:spPr>
        <p:txBody>
          <a:bodyPr tIns="0" bIns="0" anchor="b">
            <a:noAutofit/>
          </a:bodyPr>
          <a:lstStyle>
            <a:lvl1pPr>
              <a:defRPr sz="3968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0080613" cy="5417961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527">
                <a:solidFill>
                  <a:schemeClr val="bg1"/>
                </a:solidFill>
              </a:defRPr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7255" y="6511400"/>
            <a:ext cx="8366919" cy="65517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61"/>
              </a:spcAft>
              <a:buNone/>
              <a:defRPr sz="1653">
                <a:solidFill>
                  <a:srgbClr val="FFFFFF"/>
                </a:solidFill>
              </a:defRPr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A2CE-9B8D-4ED2-89D6-2854D4151902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745295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64AED-70FF-4389-8DBF-167A244CBF02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03925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7" y="7055697"/>
            <a:ext cx="10078000" cy="503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82410"/>
            <a:ext cx="10078000" cy="705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8" y="457218"/>
            <a:ext cx="2173635" cy="634649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4" y="457217"/>
            <a:ext cx="6394896" cy="6346489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F7B9-8F17-46F4-9F19-24B3A90868D5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566120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063" y="306388"/>
            <a:ext cx="8569325" cy="12604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08063" y="1763713"/>
            <a:ext cx="4208462" cy="49942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925" y="1763713"/>
            <a:ext cx="4208463" cy="49942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879218-438C-448D-9AA2-8AB443EDA616}" type="slidenum">
              <a:rPr lang="en-US" altLang="ro-RO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02942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055697"/>
            <a:ext cx="10080626" cy="503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982410"/>
            <a:ext cx="10080626" cy="727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7256" y="315928"/>
            <a:ext cx="8316516" cy="15991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256" y="2034580"/>
            <a:ext cx="8316517" cy="443500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7258" y="7120718"/>
            <a:ext cx="204413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7823" y="7120718"/>
            <a:ext cx="398760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85926" y="7120718"/>
            <a:ext cx="1084813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7">
                <a:solidFill>
                  <a:srgbClr val="FFFFFF"/>
                </a:solidFill>
              </a:defRPr>
            </a:lvl1pPr>
          </a:lstStyle>
          <a:p>
            <a:fld id="{681E0D8A-2B90-4E94-8988-880FFED0FA2A}" type="slidenum">
              <a:rPr lang="en-US" altLang="ro-RO" smtClean="0"/>
              <a:pPr/>
              <a:t>‹#›</a:t>
            </a:fld>
            <a:endParaRPr lang="en-US" altLang="ro-RO"/>
          </a:p>
        </p:txBody>
      </p:sp>
      <p:cxnSp>
        <p:nvCxnSpPr>
          <p:cNvPr id="10" name="Straight Connector 9"/>
          <p:cNvCxnSpPr/>
          <p:nvPr/>
        </p:nvCxnSpPr>
        <p:spPr>
          <a:xfrm>
            <a:off x="986840" y="1915652"/>
            <a:ext cx="824091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48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txStyles>
    <p:titleStyle>
      <a:lvl1pPr algn="l" defTabSz="1007943" rtl="0" eaLnBrk="1" latinLnBrk="0" hangingPunct="1">
        <a:lnSpc>
          <a:spcPct val="85000"/>
        </a:lnSpc>
        <a:spcBef>
          <a:spcPct val="0"/>
        </a:spcBef>
        <a:buNone/>
        <a:defRPr sz="5291" kern="1200" spc="-5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00794" indent="-100794" algn="l" defTabSz="1007943" rtl="0" eaLnBrk="1" latinLnBrk="0" hangingPunct="1">
        <a:lnSpc>
          <a:spcPct val="90000"/>
        </a:lnSpc>
        <a:spcBef>
          <a:spcPts val="1323"/>
        </a:spcBef>
        <a:spcAft>
          <a:spcPts val="22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2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3336" indent="-201589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98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4925" indent="-201589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26513" indent="-201589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28102" indent="-201589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12530" indent="-251986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32990" indent="-251986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53450" indent="-251986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873910" indent="-251986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07256" y="315929"/>
            <a:ext cx="8316516" cy="1262954"/>
          </a:xfrm>
        </p:spPr>
        <p:txBody>
          <a:bodyPr/>
          <a:lstStyle/>
          <a:p>
            <a:pPr eaLnBrk="1" hangingPunct="1"/>
            <a:r>
              <a:rPr lang="en-US" altLang="ro-RO" dirty="0" err="1" smtClean="0"/>
              <a:t>Mostenire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si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abstractizare</a:t>
            </a:r>
            <a:endParaRPr lang="en-US" altLang="ro-RO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773113" y="1763713"/>
            <a:ext cx="9144000" cy="4994275"/>
          </a:xfrm>
        </p:spPr>
        <p:txBody>
          <a:bodyPr/>
          <a:lstStyle/>
          <a:p>
            <a:pPr eaLnBrk="1" hangingPunct="1"/>
            <a:r>
              <a:rPr lang="en-GB" altLang="ro-RO" sz="3000" b="1" dirty="0" err="1" smtClean="0"/>
              <a:t>Mostenirea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creste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flexibilitatea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programului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prin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crearea</a:t>
            </a:r>
            <a:r>
              <a:rPr lang="en-GB" altLang="ro-RO" sz="3000" dirty="0" smtClean="0"/>
              <a:t> de </a:t>
            </a:r>
            <a:r>
              <a:rPr lang="en-GB" altLang="ro-RO" sz="3000" dirty="0" err="1" smtClean="0"/>
              <a:t>clase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generale</a:t>
            </a:r>
            <a:r>
              <a:rPr lang="en-GB" altLang="ro-RO" sz="3000" dirty="0" smtClean="0"/>
              <a:t> din care </a:t>
            </a:r>
            <a:r>
              <a:rPr lang="en-GB" altLang="ro-RO" sz="3000" dirty="0" err="1" smtClean="0"/>
              <a:t>alte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clase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isi</a:t>
            </a:r>
            <a:r>
              <a:rPr lang="en-GB" altLang="ro-RO" sz="3000" dirty="0" smtClean="0"/>
              <a:t> pot </a:t>
            </a:r>
            <a:r>
              <a:rPr lang="en-GB" altLang="ro-RO" sz="3000" dirty="0" err="1" smtClean="0"/>
              <a:t>deriva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comportamentul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si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atributele</a:t>
            </a:r>
            <a:endParaRPr lang="en-GB" altLang="ro-RO" sz="3000" dirty="0" smtClean="0"/>
          </a:p>
          <a:p>
            <a:pPr eaLnBrk="1" hangingPunct="1"/>
            <a:endParaRPr lang="en-GB" altLang="ro-RO" sz="3000" dirty="0" smtClean="0"/>
          </a:p>
          <a:p>
            <a:pPr eaLnBrk="1" hangingPunct="1"/>
            <a:r>
              <a:rPr lang="en-GB" altLang="ro-RO" sz="3000" dirty="0" err="1" smtClean="0"/>
              <a:t>Clasele</a:t>
            </a:r>
            <a:r>
              <a:rPr lang="en-GB" altLang="ro-RO" sz="3000" dirty="0" smtClean="0"/>
              <a:t> din </a:t>
            </a:r>
            <a:r>
              <a:rPr lang="en-GB" altLang="ro-RO" sz="3000" dirty="0" err="1" smtClean="0"/>
              <a:t>varful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ierarhiei</a:t>
            </a:r>
            <a:r>
              <a:rPr lang="en-GB" altLang="ro-RO" sz="3000" dirty="0" smtClean="0"/>
              <a:t> se </a:t>
            </a:r>
            <a:r>
              <a:rPr lang="en-GB" altLang="ro-RO" sz="3000" dirty="0" err="1" smtClean="0"/>
              <a:t>numesc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clase</a:t>
            </a:r>
            <a:r>
              <a:rPr lang="en-GB" altLang="ro-RO" sz="3000" dirty="0" smtClean="0"/>
              <a:t> de </a:t>
            </a:r>
            <a:r>
              <a:rPr lang="en-GB" altLang="ro-RO" sz="3000" dirty="0" err="1" smtClean="0"/>
              <a:t>baza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sau</a:t>
            </a:r>
            <a:r>
              <a:rPr lang="en-GB" altLang="ro-RO" sz="3000" dirty="0" smtClean="0"/>
              <a:t> </a:t>
            </a:r>
            <a:r>
              <a:rPr lang="en-GB" altLang="ro-RO" sz="3000" b="1" dirty="0" err="1" smtClean="0"/>
              <a:t>superclase</a:t>
            </a:r>
            <a:r>
              <a:rPr lang="en-GB" altLang="ro-RO" sz="3000" dirty="0" smtClean="0"/>
              <a:t>, </a:t>
            </a:r>
            <a:r>
              <a:rPr lang="en-GB" altLang="ro-RO" sz="3000" dirty="0" err="1" smtClean="0"/>
              <a:t>iar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clasele</a:t>
            </a:r>
            <a:r>
              <a:rPr lang="en-GB" altLang="ro-RO" sz="3000" dirty="0" smtClean="0"/>
              <a:t> derivate din </a:t>
            </a:r>
            <a:r>
              <a:rPr lang="en-GB" altLang="ro-RO" sz="3000" dirty="0" err="1" smtClean="0"/>
              <a:t>acestea</a:t>
            </a:r>
            <a:r>
              <a:rPr lang="en-GB" altLang="ro-RO" sz="3000" dirty="0" smtClean="0"/>
              <a:t> se </a:t>
            </a:r>
            <a:r>
              <a:rPr lang="en-GB" altLang="ro-RO" sz="3000" dirty="0" err="1" smtClean="0"/>
              <a:t>numesc</a:t>
            </a:r>
            <a:r>
              <a:rPr lang="en-GB" altLang="ro-RO" sz="3000" dirty="0" smtClean="0"/>
              <a:t> </a:t>
            </a:r>
            <a:r>
              <a:rPr lang="en-GB" altLang="ro-RO" sz="3000" b="1" dirty="0" err="1" smtClean="0"/>
              <a:t>subclase</a:t>
            </a:r>
            <a:endParaRPr lang="en-GB" altLang="ro-RO" sz="3000" b="1" dirty="0" smtClean="0"/>
          </a:p>
          <a:p>
            <a:pPr eaLnBrk="1" hangingPunct="1"/>
            <a:endParaRPr lang="en-GB" altLang="ro-RO" sz="3000" b="1" dirty="0" smtClean="0"/>
          </a:p>
          <a:p>
            <a:pPr eaLnBrk="1" hangingPunct="1"/>
            <a:r>
              <a:rPr lang="en-GB" altLang="ro-RO" sz="3000" dirty="0" smtClean="0"/>
              <a:t>In Java </a:t>
            </a:r>
            <a:r>
              <a:rPr lang="en-GB" altLang="ro-RO" sz="3000" dirty="0" err="1" smtClean="0"/>
              <a:t>orice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clasa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este</a:t>
            </a:r>
            <a:r>
              <a:rPr lang="en-GB" altLang="ro-RO" sz="3000" dirty="0" smtClean="0"/>
              <a:t> </a:t>
            </a:r>
            <a:r>
              <a:rPr lang="en-GB" altLang="ro-RO" sz="3000" dirty="0" err="1" smtClean="0"/>
              <a:t>derivata</a:t>
            </a:r>
            <a:r>
              <a:rPr lang="en-GB" altLang="ro-RO" sz="3000" dirty="0" smtClean="0"/>
              <a:t> din </a:t>
            </a:r>
            <a:r>
              <a:rPr lang="en-GB" altLang="ro-RO" sz="3000" dirty="0" err="1" smtClean="0"/>
              <a:t>clasa</a:t>
            </a:r>
            <a:r>
              <a:rPr lang="en-GB" altLang="ro-RO" sz="3000" dirty="0" smtClean="0"/>
              <a:t> </a:t>
            </a:r>
            <a:r>
              <a:rPr lang="en-GB" altLang="ro-RO" sz="3000" b="1" dirty="0" smtClean="0"/>
              <a:t>Object</a:t>
            </a:r>
            <a:endParaRPr lang="en-US" altLang="ro-RO" sz="3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10717" y="315928"/>
            <a:ext cx="8813055" cy="1035269"/>
          </a:xfrm>
        </p:spPr>
        <p:txBody>
          <a:bodyPr/>
          <a:lstStyle/>
          <a:p>
            <a:pPr marL="1439863" eaLnBrk="1" hangingPunct="1"/>
            <a:r>
              <a:rPr lang="en-US" altLang="ro-RO" dirty="0" err="1" smtClean="0"/>
              <a:t>Mostenire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si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abstractizare</a:t>
            </a:r>
            <a:endParaRPr lang="en-US" altLang="ro-RO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866087" y="1882462"/>
            <a:ext cx="8569325" cy="568325"/>
          </a:xfrm>
        </p:spPr>
        <p:txBody>
          <a:bodyPr/>
          <a:lstStyle/>
          <a:p>
            <a:pPr eaLnBrk="1" hangingPunct="1"/>
            <a:r>
              <a:rPr lang="en-GB" altLang="ro-RO" sz="3200" dirty="0" smtClean="0"/>
              <a:t>Ex. O </a:t>
            </a:r>
            <a:r>
              <a:rPr lang="en-GB" altLang="ro-RO" sz="3200" dirty="0" err="1" smtClean="0"/>
              <a:t>clasa</a:t>
            </a:r>
            <a:r>
              <a:rPr lang="en-GB" altLang="ro-RO" sz="3200" dirty="0" smtClean="0"/>
              <a:t> Student </a:t>
            </a:r>
            <a:r>
              <a:rPr lang="en-GB" altLang="ro-RO" sz="3200" dirty="0" err="1" smtClean="0"/>
              <a:t>si</a:t>
            </a:r>
            <a:r>
              <a:rPr lang="en-GB" altLang="ro-RO" sz="3200" dirty="0" smtClean="0"/>
              <a:t> o </a:t>
            </a:r>
            <a:r>
              <a:rPr lang="en-GB" altLang="ro-RO" sz="3200" dirty="0" err="1" smtClean="0"/>
              <a:t>clasa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Profesor</a:t>
            </a:r>
            <a:endParaRPr lang="en-US" altLang="ro-RO" sz="3200" dirty="0" smtClean="0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1154113" y="2755900"/>
            <a:ext cx="3352800" cy="4300538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Student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 nume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 varsta : int;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nota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getNume()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getVarsta()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getNota()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setNota(n : int) : void;</a:t>
            </a:r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1154113" y="32131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1154113" y="48895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5573713" y="2755900"/>
            <a:ext cx="3657600" cy="4300538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Profesor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 nume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 varsta : int;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grad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getNume()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getVarsta()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getGrad()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setGrad(g : String) : void;</a:t>
            </a: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5573713" y="32131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5573713" y="48895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66087" y="152409"/>
            <a:ext cx="8316516" cy="1035036"/>
          </a:xfrm>
        </p:spPr>
        <p:txBody>
          <a:bodyPr/>
          <a:lstStyle/>
          <a:p>
            <a:pPr eaLnBrk="1" hangingPunct="1"/>
            <a:r>
              <a:rPr lang="en-US" altLang="ro-RO" dirty="0" err="1" smtClean="0"/>
              <a:t>Mostenire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si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abstractizare</a:t>
            </a:r>
            <a:endParaRPr lang="en-US" altLang="ro-RO" dirty="0" smtClean="0"/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05452" y="4942427"/>
            <a:ext cx="3352800" cy="2109787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Student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nota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getNota()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setNota(n : int) : void;</a:t>
            </a:r>
          </a:p>
        </p:txBody>
      </p:sp>
      <p:sp>
        <p:nvSpPr>
          <p:cNvPr id="7172" name="Text Box 7"/>
          <p:cNvSpPr txBox="1">
            <a:spLocks noChangeArrowheads="1"/>
          </p:cNvSpPr>
          <p:nvPr/>
        </p:nvSpPr>
        <p:spPr bwMode="auto">
          <a:xfrm>
            <a:off x="5048852" y="4942427"/>
            <a:ext cx="3657600" cy="2109787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Profesor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grad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getGrad()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setGrad(g : String) : void;</a:t>
            </a:r>
          </a:p>
        </p:txBody>
      </p:sp>
      <p:sp>
        <p:nvSpPr>
          <p:cNvPr id="7173" name="Line 12"/>
          <p:cNvSpPr>
            <a:spLocks noChangeShapeType="1"/>
          </p:cNvSpPr>
          <p:nvPr/>
        </p:nvSpPr>
        <p:spPr bwMode="auto">
          <a:xfrm>
            <a:off x="4591652" y="4193127"/>
            <a:ext cx="1587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7174" name="Line 14"/>
          <p:cNvSpPr>
            <a:spLocks noChangeShapeType="1"/>
          </p:cNvSpPr>
          <p:nvPr/>
        </p:nvSpPr>
        <p:spPr bwMode="auto">
          <a:xfrm>
            <a:off x="2305652" y="4466177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grpSp>
        <p:nvGrpSpPr>
          <p:cNvPr id="7175" name="Group 24"/>
          <p:cNvGrpSpPr>
            <a:grpSpLocks/>
          </p:cNvGrpSpPr>
          <p:nvPr/>
        </p:nvGrpSpPr>
        <p:grpSpPr bwMode="auto">
          <a:xfrm>
            <a:off x="2305652" y="4466177"/>
            <a:ext cx="4649787" cy="457200"/>
            <a:chOff x="1495" y="2917"/>
            <a:chExt cx="2929" cy="472"/>
          </a:xfrm>
        </p:grpSpPr>
        <p:sp>
          <p:nvSpPr>
            <p:cNvPr id="7185" name="Line 15"/>
            <p:cNvSpPr>
              <a:spLocks noChangeShapeType="1"/>
            </p:cNvSpPr>
            <p:nvPr/>
          </p:nvSpPr>
          <p:spPr bwMode="auto">
            <a:xfrm>
              <a:off x="1495" y="2917"/>
              <a:ext cx="1" cy="4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7186" name="Line 16"/>
            <p:cNvSpPr>
              <a:spLocks noChangeShapeType="1"/>
            </p:cNvSpPr>
            <p:nvPr/>
          </p:nvSpPr>
          <p:spPr bwMode="auto">
            <a:xfrm>
              <a:off x="4423" y="2917"/>
              <a:ext cx="1" cy="4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grpSp>
        <p:nvGrpSpPr>
          <p:cNvPr id="7176" name="Group 25"/>
          <p:cNvGrpSpPr>
            <a:grpSpLocks/>
          </p:cNvGrpSpPr>
          <p:nvPr/>
        </p:nvGrpSpPr>
        <p:grpSpPr bwMode="auto">
          <a:xfrm>
            <a:off x="2915252" y="1275302"/>
            <a:ext cx="3352800" cy="2657475"/>
            <a:chOff x="1879" y="845"/>
            <a:chExt cx="2112" cy="1674"/>
          </a:xfrm>
        </p:grpSpPr>
        <p:sp>
          <p:nvSpPr>
            <p:cNvPr id="7182" name="Text Box 10"/>
            <p:cNvSpPr txBox="1">
              <a:spLocks noChangeArrowheads="1"/>
            </p:cNvSpPr>
            <p:nvPr/>
          </p:nvSpPr>
          <p:spPr bwMode="auto">
            <a:xfrm>
              <a:off x="1879" y="845"/>
              <a:ext cx="2112" cy="1674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defTabSz="912813"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2813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2813" eaLnBrk="0" hangingPunct="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2813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2813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ro-RO" sz="2400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Persoana</a:t>
              </a:r>
              <a:endParaRPr lang="en-US" altLang="ro-RO" sz="2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# </a:t>
              </a:r>
              <a:r>
                <a:rPr lang="en-US" altLang="ro-RO" sz="24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nume</a:t>
              </a: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: String;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# </a:t>
              </a:r>
              <a:r>
                <a:rPr lang="en-US" altLang="ro-RO" sz="24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varsta</a:t>
              </a: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: </a:t>
              </a:r>
              <a:r>
                <a:rPr lang="en-US" altLang="ro-RO" sz="24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int</a:t>
              </a: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;</a:t>
              </a:r>
              <a:endParaRPr lang="en-US" altLang="ro-RO" sz="2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 </a:t>
              </a:r>
              <a:r>
                <a:rPr lang="en-US" altLang="ro-RO" sz="24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getNume</a:t>
              </a: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() : String;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 </a:t>
              </a:r>
              <a:r>
                <a:rPr lang="en-US" altLang="ro-RO" sz="24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getVarsta</a:t>
              </a: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() : </a:t>
              </a:r>
              <a:r>
                <a:rPr lang="en-US" altLang="ro-RO" sz="24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int</a:t>
              </a: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;</a:t>
              </a:r>
              <a:endParaRPr lang="en-US" altLang="ro-RO" sz="2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83" name="Line 17"/>
            <p:cNvSpPr>
              <a:spLocks noChangeShapeType="1"/>
            </p:cNvSpPr>
            <p:nvPr/>
          </p:nvSpPr>
          <p:spPr bwMode="auto">
            <a:xfrm>
              <a:off x="1879" y="1229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7184" name="Line 18"/>
            <p:cNvSpPr>
              <a:spLocks noChangeShapeType="1"/>
            </p:cNvSpPr>
            <p:nvPr/>
          </p:nvSpPr>
          <p:spPr bwMode="auto">
            <a:xfrm>
              <a:off x="1879" y="1853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sp>
        <p:nvSpPr>
          <p:cNvPr id="7177" name="Line 19"/>
          <p:cNvSpPr>
            <a:spLocks noChangeShapeType="1"/>
          </p:cNvSpPr>
          <p:nvPr/>
        </p:nvSpPr>
        <p:spPr bwMode="auto">
          <a:xfrm>
            <a:off x="705452" y="5456777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7178" name="Line 20"/>
          <p:cNvSpPr>
            <a:spLocks noChangeShapeType="1"/>
          </p:cNvSpPr>
          <p:nvPr/>
        </p:nvSpPr>
        <p:spPr bwMode="auto">
          <a:xfrm>
            <a:off x="705452" y="5990177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7179" name="Line 21"/>
          <p:cNvSpPr>
            <a:spLocks noChangeShapeType="1"/>
          </p:cNvSpPr>
          <p:nvPr/>
        </p:nvSpPr>
        <p:spPr bwMode="auto">
          <a:xfrm>
            <a:off x="5048852" y="5456777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7180" name="Line 22"/>
          <p:cNvSpPr>
            <a:spLocks noChangeShapeType="1"/>
          </p:cNvSpPr>
          <p:nvPr/>
        </p:nvSpPr>
        <p:spPr bwMode="auto">
          <a:xfrm>
            <a:off x="5048852" y="5990177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7181" name="AutoShape 23"/>
          <p:cNvSpPr>
            <a:spLocks noChangeArrowheads="1"/>
          </p:cNvSpPr>
          <p:nvPr/>
        </p:nvSpPr>
        <p:spPr bwMode="auto">
          <a:xfrm>
            <a:off x="4439252" y="3929602"/>
            <a:ext cx="304800" cy="27305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o-RO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37" y="315929"/>
            <a:ext cx="9116635" cy="1111164"/>
          </a:xfrm>
        </p:spPr>
        <p:txBody>
          <a:bodyPr/>
          <a:lstStyle/>
          <a:p>
            <a:pPr marL="1439863" eaLnBrk="1" hangingPunct="1"/>
            <a:r>
              <a:rPr lang="en-US" altLang="ro-RO" dirty="0" err="1" smtClean="0"/>
              <a:t>Mostenire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si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abstractizare</a:t>
            </a:r>
            <a:endParaRPr lang="en-US" altLang="ro-RO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38402" y="1578882"/>
            <a:ext cx="9202738" cy="5857875"/>
          </a:xfrm>
        </p:spPr>
        <p:txBody>
          <a:bodyPr>
            <a:noAutofit/>
          </a:bodyPr>
          <a:lstStyle/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public class </a:t>
            </a:r>
            <a:r>
              <a:rPr lang="en-US" altLang="ro-RO" sz="2400" dirty="0" err="1" smtClean="0">
                <a:latin typeface="Courier New" panose="02070309020205020404" pitchFamily="49" charset="0"/>
              </a:rPr>
              <a:t>Persoana</a:t>
            </a:r>
            <a:r>
              <a:rPr lang="en-US" altLang="ro-RO" sz="2400" dirty="0" smtClean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  protected String name;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  protected </a:t>
            </a:r>
            <a:r>
              <a:rPr lang="en-US" altLang="ro-RO" sz="2400" dirty="0" err="1" smtClean="0">
                <a:latin typeface="Courier New" panose="02070309020205020404" pitchFamily="49" charset="0"/>
              </a:rPr>
              <a:t>int</a:t>
            </a:r>
            <a:r>
              <a:rPr lang="en-US" altLang="ro-RO" sz="2400" dirty="0" smtClean="0">
                <a:latin typeface="Courier New" panose="02070309020205020404" pitchFamily="49" charset="0"/>
              </a:rPr>
              <a:t> </a:t>
            </a:r>
            <a:r>
              <a:rPr lang="en-US" altLang="ro-RO" sz="2400" dirty="0" err="1" smtClean="0">
                <a:latin typeface="Courier New" panose="02070309020205020404" pitchFamily="49" charset="0"/>
              </a:rPr>
              <a:t>varsta</a:t>
            </a:r>
            <a:r>
              <a:rPr lang="en-US" altLang="ro-RO" sz="2400" dirty="0" smtClean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  public </a:t>
            </a:r>
            <a:r>
              <a:rPr lang="en-US" altLang="ro-RO" sz="2400" dirty="0" err="1" smtClean="0">
                <a:latin typeface="Courier New" panose="02070309020205020404" pitchFamily="49" charset="0"/>
              </a:rPr>
              <a:t>Persoana</a:t>
            </a:r>
            <a:r>
              <a:rPr lang="en-US" altLang="ro-RO" sz="2400" dirty="0" smtClean="0">
                <a:latin typeface="Courier New" panose="02070309020205020404" pitchFamily="49" charset="0"/>
              </a:rPr>
              <a:t>(String n, </a:t>
            </a:r>
            <a:r>
              <a:rPr lang="en-US" altLang="ro-RO" sz="2400" dirty="0" err="1" smtClean="0">
                <a:latin typeface="Courier New" panose="02070309020205020404" pitchFamily="49" charset="0"/>
              </a:rPr>
              <a:t>int</a:t>
            </a:r>
            <a:r>
              <a:rPr lang="en-US" altLang="ro-RO" sz="2400" dirty="0" smtClean="0">
                <a:latin typeface="Courier New" panose="02070309020205020404" pitchFamily="49" charset="0"/>
              </a:rPr>
              <a:t> v)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    name = n; </a:t>
            </a:r>
            <a:r>
              <a:rPr lang="en-US" altLang="ro-RO" sz="2400" dirty="0" err="1" smtClean="0">
                <a:latin typeface="Courier New" panose="02070309020205020404" pitchFamily="49" charset="0"/>
              </a:rPr>
              <a:t>varsta</a:t>
            </a:r>
            <a:r>
              <a:rPr lang="en-US" altLang="ro-RO" sz="2400" dirty="0" smtClean="0">
                <a:latin typeface="Courier New" panose="02070309020205020404" pitchFamily="49" charset="0"/>
              </a:rPr>
              <a:t> = v;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  public String </a:t>
            </a:r>
            <a:r>
              <a:rPr lang="en-US" altLang="ro-RO" sz="2400" dirty="0" err="1" smtClean="0">
                <a:latin typeface="Courier New" panose="02070309020205020404" pitchFamily="49" charset="0"/>
              </a:rPr>
              <a:t>getName</a:t>
            </a:r>
            <a:r>
              <a:rPr lang="en-US" altLang="ro-RO" sz="2400" dirty="0" smtClean="0">
                <a:latin typeface="Courier New" panose="02070309020205020404" pitchFamily="49" charset="0"/>
              </a:rPr>
              <a:t>()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    return name;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  public </a:t>
            </a:r>
            <a:r>
              <a:rPr lang="en-US" altLang="ro-RO" sz="2400" dirty="0" err="1" smtClean="0">
                <a:latin typeface="Courier New" panose="02070309020205020404" pitchFamily="49" charset="0"/>
              </a:rPr>
              <a:t>int</a:t>
            </a:r>
            <a:r>
              <a:rPr lang="en-US" altLang="ro-RO" sz="2400" dirty="0" smtClean="0">
                <a:latin typeface="Courier New" panose="02070309020205020404" pitchFamily="49" charset="0"/>
              </a:rPr>
              <a:t> </a:t>
            </a:r>
            <a:r>
              <a:rPr lang="en-US" altLang="ro-RO" sz="2400" dirty="0" err="1" smtClean="0">
                <a:latin typeface="Courier New" panose="02070309020205020404" pitchFamily="49" charset="0"/>
              </a:rPr>
              <a:t>getVarsta</a:t>
            </a:r>
            <a:r>
              <a:rPr lang="en-US" altLang="ro-RO" sz="2400" dirty="0" smtClean="0">
                <a:latin typeface="Courier New" panose="02070309020205020404" pitchFamily="49" charset="0"/>
              </a:rPr>
              <a:t>()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    return </a:t>
            </a:r>
            <a:r>
              <a:rPr lang="en-US" altLang="ro-RO" sz="2400" dirty="0" err="1" smtClean="0">
                <a:latin typeface="Courier New" panose="02070309020205020404" pitchFamily="49" charset="0"/>
              </a:rPr>
              <a:t>varsta</a:t>
            </a:r>
            <a:r>
              <a:rPr lang="en-US" altLang="ro-RO" sz="2400" dirty="0" smtClean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400" dirty="0" smtClean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3032" y="315929"/>
            <a:ext cx="9040740" cy="1111164"/>
          </a:xfrm>
        </p:spPr>
        <p:txBody>
          <a:bodyPr/>
          <a:lstStyle/>
          <a:p>
            <a:pPr marL="1439863" eaLnBrk="1" hangingPunct="1"/>
            <a:r>
              <a:rPr lang="en-US" altLang="ro-RO" dirty="0" err="1" smtClean="0"/>
              <a:t>Mostenire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si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abstractizare</a:t>
            </a:r>
            <a:endParaRPr lang="en-US" altLang="ro-RO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68288" y="2110147"/>
            <a:ext cx="9572625" cy="5254266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public class Student </a:t>
            </a:r>
            <a:r>
              <a:rPr lang="en-US" altLang="ro-RO" sz="2800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extends</a:t>
            </a:r>
            <a:r>
              <a:rPr lang="en-US" altLang="ro-RO" sz="2800" dirty="0" smtClean="0">
                <a:latin typeface="Courier New" panose="02070309020205020404" pitchFamily="49" charset="0"/>
              </a:rPr>
              <a:t> </a:t>
            </a:r>
            <a:r>
              <a:rPr lang="en-US" altLang="ro-RO" sz="2800" dirty="0" err="1" smtClean="0">
                <a:latin typeface="Courier New" panose="02070309020205020404" pitchFamily="49" charset="0"/>
              </a:rPr>
              <a:t>Persoana</a:t>
            </a:r>
            <a:r>
              <a:rPr lang="en-US" altLang="ro-RO" sz="2800" dirty="0" smtClean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  private </a:t>
            </a:r>
            <a:r>
              <a:rPr lang="en-US" altLang="ro-RO" sz="2800" dirty="0" err="1" smtClean="0">
                <a:latin typeface="Courier New" panose="02070309020205020404" pitchFamily="49" charset="0"/>
              </a:rPr>
              <a:t>int</a:t>
            </a:r>
            <a:r>
              <a:rPr lang="en-US" altLang="ro-RO" sz="2800" dirty="0" smtClean="0">
                <a:latin typeface="Courier New" panose="02070309020205020404" pitchFamily="49" charset="0"/>
              </a:rPr>
              <a:t> nota;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  public Student(String n, </a:t>
            </a:r>
            <a:r>
              <a:rPr lang="en-US" altLang="ro-RO" sz="2800" dirty="0" err="1" smtClean="0">
                <a:latin typeface="Courier New" panose="02070309020205020404" pitchFamily="49" charset="0"/>
              </a:rPr>
              <a:t>int</a:t>
            </a:r>
            <a:r>
              <a:rPr lang="en-US" altLang="ro-RO" sz="2800" dirty="0" smtClean="0">
                <a:latin typeface="Courier New" panose="02070309020205020404" pitchFamily="49" charset="0"/>
              </a:rPr>
              <a:t> v)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    super(n, v);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    nota = 8;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  public </a:t>
            </a:r>
            <a:r>
              <a:rPr lang="en-US" altLang="ro-RO" sz="2800" dirty="0" err="1" smtClean="0">
                <a:latin typeface="Courier New" panose="02070309020205020404" pitchFamily="49" charset="0"/>
              </a:rPr>
              <a:t>int</a:t>
            </a:r>
            <a:r>
              <a:rPr lang="en-US" altLang="ro-RO" sz="2800" dirty="0" smtClean="0">
                <a:latin typeface="Courier New" panose="02070309020205020404" pitchFamily="49" charset="0"/>
              </a:rPr>
              <a:t> </a:t>
            </a:r>
            <a:r>
              <a:rPr lang="en-US" altLang="ro-RO" sz="2800" dirty="0" err="1" smtClean="0">
                <a:latin typeface="Courier New" panose="02070309020205020404" pitchFamily="49" charset="0"/>
              </a:rPr>
              <a:t>getNota</a:t>
            </a:r>
            <a:r>
              <a:rPr lang="en-US" altLang="ro-RO" sz="2800" dirty="0" smtClean="0">
                <a:latin typeface="Courier New" panose="02070309020205020404" pitchFamily="49" charset="0"/>
              </a:rPr>
              <a:t>()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    return nota;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  public void </a:t>
            </a:r>
            <a:r>
              <a:rPr lang="en-US" altLang="ro-RO" sz="2800" dirty="0" err="1" smtClean="0">
                <a:latin typeface="Courier New" panose="02070309020205020404" pitchFamily="49" charset="0"/>
              </a:rPr>
              <a:t>setNota</a:t>
            </a:r>
            <a:r>
              <a:rPr lang="en-US" altLang="ro-RO" sz="2800" dirty="0" smtClean="0">
                <a:latin typeface="Courier New" panose="02070309020205020404" pitchFamily="49" charset="0"/>
              </a:rPr>
              <a:t>(</a:t>
            </a:r>
            <a:r>
              <a:rPr lang="en-US" altLang="ro-RO" sz="2800" dirty="0" err="1" smtClean="0">
                <a:latin typeface="Courier New" panose="02070309020205020404" pitchFamily="49" charset="0"/>
              </a:rPr>
              <a:t>int</a:t>
            </a:r>
            <a:r>
              <a:rPr lang="en-US" altLang="ro-RO" sz="2800" dirty="0" smtClean="0">
                <a:latin typeface="Courier New" panose="02070309020205020404" pitchFamily="49" charset="0"/>
              </a:rPr>
              <a:t> n)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    nota = n;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800" dirty="0" smtClean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Mostenire si abstractizare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008063" y="1973263"/>
            <a:ext cx="8569325" cy="4994275"/>
          </a:xfrm>
        </p:spPr>
        <p:txBody>
          <a:bodyPr/>
          <a:lstStyle/>
          <a:p>
            <a:pPr eaLnBrk="1" hangingPunct="1"/>
            <a:r>
              <a:rPr lang="en-GB" altLang="ro-RO" sz="2800" smtClean="0"/>
              <a:t>Lucrurile comune constituie baza pentru mostenire, ele fiind grupate in superclase</a:t>
            </a:r>
          </a:p>
          <a:p>
            <a:pPr eaLnBrk="1" hangingPunct="1"/>
            <a:endParaRPr lang="en-GB" altLang="ro-RO" sz="2800" smtClean="0"/>
          </a:p>
          <a:p>
            <a:pPr eaLnBrk="1" hangingPunct="1"/>
            <a:r>
              <a:rPr lang="en-GB" altLang="ro-RO" sz="2800" smtClean="0"/>
              <a:t>Doua tehnici sunt folosite in realizarea ierarhiilor de clase:</a:t>
            </a:r>
          </a:p>
          <a:p>
            <a:pPr lvl="1" eaLnBrk="1" hangingPunct="1"/>
            <a:r>
              <a:rPr lang="en-GB" altLang="ro-RO" sz="2800" b="1" smtClean="0"/>
              <a:t>Generalizare</a:t>
            </a:r>
            <a:r>
              <a:rPr lang="en-GB" altLang="ro-RO" sz="2800" smtClean="0"/>
              <a:t> – descoperirea comportamentului comun al claselor</a:t>
            </a:r>
          </a:p>
          <a:p>
            <a:pPr lvl="1" eaLnBrk="1" hangingPunct="1"/>
            <a:r>
              <a:rPr lang="en-GB" altLang="ro-RO" sz="2800" b="1" smtClean="0"/>
              <a:t>Specializare</a:t>
            </a:r>
            <a:r>
              <a:rPr lang="en-GB" altLang="ro-RO" sz="2800" smtClean="0"/>
              <a:t> – identificare particularitatilor subclaselor</a:t>
            </a:r>
            <a:endParaRPr lang="en-US" altLang="ro-RO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Mostenire si abstractizare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008063" y="2110147"/>
            <a:ext cx="8813800" cy="4647841"/>
          </a:xfrm>
        </p:spPr>
        <p:txBody>
          <a:bodyPr/>
          <a:lstStyle/>
          <a:p>
            <a:pPr eaLnBrk="1" hangingPunct="1"/>
            <a:r>
              <a:rPr lang="en-GB" altLang="ro-RO" sz="2800" b="1" dirty="0" err="1" smtClean="0"/>
              <a:t>Mostenire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inseamna</a:t>
            </a:r>
            <a:r>
              <a:rPr lang="en-GB" altLang="ro-RO" sz="2800" dirty="0" smtClean="0"/>
              <a:t> a </a:t>
            </a:r>
            <a:r>
              <a:rPr lang="en-GB" altLang="ro-RO" sz="2800" dirty="0" err="1" smtClean="0"/>
              <a:t>deriva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noi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definitii</a:t>
            </a:r>
            <a:r>
              <a:rPr lang="en-GB" altLang="ro-RO" sz="2800" dirty="0" smtClean="0"/>
              <a:t> de </a:t>
            </a:r>
            <a:r>
              <a:rPr lang="en-GB" altLang="ro-RO" sz="2800" dirty="0" err="1" smtClean="0"/>
              <a:t>clase</a:t>
            </a:r>
            <a:r>
              <a:rPr lang="en-GB" altLang="ro-RO" sz="2800" dirty="0" smtClean="0"/>
              <a:t> din </a:t>
            </a:r>
            <a:r>
              <a:rPr lang="en-GB" altLang="ro-RO" sz="2800" dirty="0" err="1" smtClean="0"/>
              <a:t>clase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existente</a:t>
            </a:r>
            <a:endParaRPr lang="en-GB" altLang="ro-RO" sz="2800" dirty="0" smtClean="0"/>
          </a:p>
          <a:p>
            <a:pPr eaLnBrk="1" hangingPunct="1"/>
            <a:endParaRPr lang="en-GB" altLang="ro-RO" sz="2800" dirty="0" smtClean="0"/>
          </a:p>
          <a:p>
            <a:pPr eaLnBrk="1" hangingPunct="1"/>
            <a:r>
              <a:rPr lang="en-GB" altLang="ro-RO" sz="2800" dirty="0" smtClean="0"/>
              <a:t>Motive </a:t>
            </a:r>
            <a:r>
              <a:rPr lang="en-GB" altLang="ro-RO" sz="2800" dirty="0" err="1" smtClean="0"/>
              <a:t>pentru</a:t>
            </a:r>
            <a:r>
              <a:rPr lang="en-GB" altLang="ro-RO" sz="2800" dirty="0" smtClean="0"/>
              <a:t> a </a:t>
            </a:r>
            <a:r>
              <a:rPr lang="en-GB" altLang="ro-RO" sz="2800" dirty="0" err="1" smtClean="0"/>
              <a:t>folosi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mostenirea</a:t>
            </a:r>
            <a:r>
              <a:rPr lang="en-GB" altLang="ro-RO" sz="2800" dirty="0" smtClean="0"/>
              <a:t>:</a:t>
            </a:r>
          </a:p>
          <a:p>
            <a:pPr lvl="1" eaLnBrk="1" hangingPunct="1"/>
            <a:r>
              <a:rPr lang="en-GB" altLang="ro-RO" sz="2800" b="1" dirty="0" err="1" smtClean="0"/>
              <a:t>Refolosirea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claselor</a:t>
            </a:r>
            <a:r>
              <a:rPr lang="en-GB" altLang="ro-RO" sz="2800" dirty="0" smtClean="0"/>
              <a:t> (</a:t>
            </a:r>
            <a:r>
              <a:rPr lang="en-GB" altLang="ro-RO" sz="2800" dirty="0" err="1" smtClean="0"/>
              <a:t>clasele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folosite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mai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mult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sunt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si</a:t>
            </a:r>
            <a:r>
              <a:rPr lang="en-GB" altLang="ro-RO" sz="2800" dirty="0" smtClean="0"/>
              <a:t> testate </a:t>
            </a:r>
            <a:r>
              <a:rPr lang="en-GB" altLang="ro-RO" sz="2800" dirty="0" err="1" smtClean="0"/>
              <a:t>mai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mult</a:t>
            </a:r>
            <a:r>
              <a:rPr lang="en-GB" altLang="ro-RO" sz="2800" dirty="0" smtClean="0"/>
              <a:t>, </a:t>
            </a:r>
            <a:r>
              <a:rPr lang="en-GB" altLang="ro-RO" sz="2800" dirty="0" err="1" smtClean="0"/>
              <a:t>deci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mai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fiabile</a:t>
            </a:r>
            <a:r>
              <a:rPr lang="en-GB" altLang="ro-RO" sz="2800" dirty="0" smtClean="0"/>
              <a:t>)</a:t>
            </a:r>
          </a:p>
          <a:p>
            <a:pPr lvl="1" eaLnBrk="1" hangingPunct="1"/>
            <a:r>
              <a:rPr lang="en-GB" altLang="ro-RO" sz="2800" b="1" dirty="0" err="1" smtClean="0"/>
              <a:t>Standardizarea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comportamentului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unui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grup</a:t>
            </a:r>
            <a:r>
              <a:rPr lang="en-GB" altLang="ro-RO" sz="2800" dirty="0" smtClean="0"/>
              <a:t> de </a:t>
            </a:r>
            <a:r>
              <a:rPr lang="en-GB" altLang="ro-RO" sz="2800" dirty="0" err="1" smtClean="0"/>
              <a:t>clase</a:t>
            </a:r>
            <a:endParaRPr lang="en-GB" altLang="ro-RO" sz="2800" dirty="0" smtClean="0"/>
          </a:p>
          <a:p>
            <a:pPr lvl="1" eaLnBrk="1" hangingPunct="1"/>
            <a:r>
              <a:rPr lang="en-GB" altLang="ro-RO" sz="2800" b="1" dirty="0" err="1" smtClean="0"/>
              <a:t>Polimorfismul</a:t>
            </a:r>
            <a:r>
              <a:rPr lang="en-GB" altLang="ro-RO" sz="2800" dirty="0" smtClean="0"/>
              <a:t> (</a:t>
            </a:r>
            <a:r>
              <a:rPr lang="en-GB" altLang="ro-RO" sz="2800" dirty="0" err="1" smtClean="0"/>
              <a:t>folosirea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aceluiasi</a:t>
            </a:r>
            <a:r>
              <a:rPr lang="en-GB" altLang="ro-RO" sz="2800" dirty="0" smtClean="0"/>
              <a:t> cod </a:t>
            </a:r>
            <a:r>
              <a:rPr lang="en-GB" altLang="ro-RO" sz="2800" dirty="0" err="1" smtClean="0"/>
              <a:t>pentru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clase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diferite</a:t>
            </a:r>
            <a:r>
              <a:rPr lang="en-GB" altLang="ro-RO" sz="2800" dirty="0" smtClean="0"/>
              <a:t>)</a:t>
            </a:r>
            <a:endParaRPr lang="en-US" altLang="ro-RO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Mostenire si abstractizare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41388" y="2337832"/>
            <a:ext cx="8956675" cy="4420156"/>
          </a:xfrm>
        </p:spPr>
        <p:txBody>
          <a:bodyPr/>
          <a:lstStyle/>
          <a:p>
            <a:pPr eaLnBrk="1" hangingPunct="1"/>
            <a:r>
              <a:rPr lang="en-GB" altLang="ro-RO" sz="2800" dirty="0" err="1" smtClean="0"/>
              <a:t>Subclasele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mostenesc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toate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atributele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si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metodele</a:t>
            </a:r>
            <a:r>
              <a:rPr lang="en-GB" altLang="ro-RO" sz="2800" dirty="0" smtClean="0"/>
              <a:t> </a:t>
            </a:r>
            <a:r>
              <a:rPr lang="en-GB" altLang="ro-RO" sz="2800" b="1" dirty="0" err="1" smtClean="0"/>
              <a:t>neprivate</a:t>
            </a:r>
            <a:r>
              <a:rPr lang="en-GB" altLang="ro-RO" sz="2800" dirty="0" smtClean="0"/>
              <a:t> ale </a:t>
            </a:r>
            <a:r>
              <a:rPr lang="en-GB" altLang="ro-RO" sz="2800" dirty="0" err="1" smtClean="0"/>
              <a:t>clasei</a:t>
            </a:r>
            <a:r>
              <a:rPr lang="en-GB" altLang="ro-RO" sz="2800" dirty="0" smtClean="0"/>
              <a:t> de </a:t>
            </a:r>
            <a:r>
              <a:rPr lang="en-GB" altLang="ro-RO" sz="2800" dirty="0" err="1" smtClean="0"/>
              <a:t>baza</a:t>
            </a:r>
            <a:endParaRPr lang="en-GB" altLang="ro-RO" sz="2800" dirty="0" smtClean="0"/>
          </a:p>
          <a:p>
            <a:pPr eaLnBrk="1" hangingPunct="1"/>
            <a:r>
              <a:rPr lang="en-GB" altLang="ro-RO" sz="2800" dirty="0" err="1" smtClean="0"/>
              <a:t>Subclasele</a:t>
            </a:r>
            <a:r>
              <a:rPr lang="en-GB" altLang="ro-RO" sz="2800" dirty="0" smtClean="0"/>
              <a:t> pot </a:t>
            </a:r>
            <a:r>
              <a:rPr lang="en-GB" altLang="ro-RO" sz="2800" dirty="0" err="1" smtClean="0"/>
              <a:t>adauga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atribute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si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metode</a:t>
            </a:r>
            <a:endParaRPr lang="en-GB" altLang="ro-RO" sz="2800" dirty="0" smtClean="0"/>
          </a:p>
          <a:p>
            <a:pPr eaLnBrk="1" hangingPunct="1"/>
            <a:r>
              <a:rPr lang="en-GB" altLang="ro-RO" sz="2800" dirty="0" err="1" smtClean="0"/>
              <a:t>Subclasele</a:t>
            </a:r>
            <a:r>
              <a:rPr lang="en-GB" altLang="ro-RO" sz="2800" dirty="0" smtClean="0"/>
              <a:t> pot </a:t>
            </a:r>
            <a:r>
              <a:rPr lang="en-GB" altLang="ro-RO" sz="2800" dirty="0" err="1" smtClean="0"/>
              <a:t>redefini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metode</a:t>
            </a:r>
            <a:endParaRPr lang="en-GB" altLang="ro-RO" sz="2800" dirty="0" smtClean="0"/>
          </a:p>
          <a:p>
            <a:pPr eaLnBrk="1" hangingPunct="1"/>
            <a:r>
              <a:rPr lang="en-GB" altLang="ro-RO" sz="2800" dirty="0" err="1" smtClean="0"/>
              <a:t>Constructorii</a:t>
            </a:r>
            <a:r>
              <a:rPr lang="en-GB" altLang="ro-RO" sz="2800" dirty="0" smtClean="0"/>
              <a:t> nu </a:t>
            </a:r>
            <a:r>
              <a:rPr lang="en-GB" altLang="ro-RO" sz="2800" dirty="0" err="1" smtClean="0"/>
              <a:t>sunt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mosteniti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niciodata</a:t>
            </a:r>
            <a:endParaRPr lang="en-GB" altLang="ro-RO" sz="2800" dirty="0" smtClean="0"/>
          </a:p>
          <a:p>
            <a:pPr eaLnBrk="1" hangingPunct="1"/>
            <a:r>
              <a:rPr lang="en-GB" altLang="ro-RO" sz="2800" dirty="0" smtClean="0"/>
              <a:t>Un </a:t>
            </a:r>
            <a:r>
              <a:rPr lang="en-GB" altLang="ro-RO" sz="2800" dirty="0" err="1" smtClean="0"/>
              <a:t>obiect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dintr</a:t>
            </a:r>
            <a:r>
              <a:rPr lang="en-GB" altLang="ro-RO" sz="2800" dirty="0" smtClean="0"/>
              <a:t>-o </a:t>
            </a:r>
            <a:r>
              <a:rPr lang="en-GB" altLang="ro-RO" sz="2800" dirty="0" err="1" smtClean="0"/>
              <a:t>subclasa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poate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inlocui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orice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obiect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dintr</a:t>
            </a:r>
            <a:r>
              <a:rPr lang="en-GB" altLang="ro-RO" sz="2800" dirty="0" smtClean="0"/>
              <a:t>-o </a:t>
            </a:r>
            <a:r>
              <a:rPr lang="en-GB" altLang="ro-RO" sz="2800" dirty="0" err="1" smtClean="0"/>
              <a:t>clasa</a:t>
            </a:r>
            <a:r>
              <a:rPr lang="en-GB" altLang="ro-RO" sz="2800" dirty="0" smtClean="0"/>
              <a:t> de </a:t>
            </a:r>
            <a:r>
              <a:rPr lang="en-GB" altLang="ro-RO" sz="2800" dirty="0" err="1" smtClean="0"/>
              <a:t>baza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pe</a:t>
            </a:r>
            <a:r>
              <a:rPr lang="en-GB" altLang="ro-RO" sz="2800" dirty="0" smtClean="0"/>
              <a:t> care o </a:t>
            </a:r>
            <a:r>
              <a:rPr lang="en-GB" altLang="ro-RO" sz="2800" dirty="0" err="1" smtClean="0"/>
              <a:t>mosteneste</a:t>
            </a:r>
            <a:endParaRPr lang="en-US" altLang="ro-RO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Mostenire : Cuprins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3500" b="1" dirty="0" smtClean="0">
                <a:solidFill>
                  <a:srgbClr val="FF0000"/>
                </a:solidFill>
              </a:rPr>
              <a:t> </a:t>
            </a:r>
            <a:r>
              <a:rPr lang="en-GB" altLang="ro-RO" sz="3500" b="1" dirty="0" err="1" smtClean="0"/>
              <a:t>Mostenire</a:t>
            </a:r>
            <a:r>
              <a:rPr lang="en-GB" altLang="ro-RO" sz="3500" b="1" dirty="0" smtClean="0"/>
              <a:t> </a:t>
            </a:r>
            <a:r>
              <a:rPr lang="en-GB" altLang="ro-RO" sz="3500" b="1" dirty="0" err="1" smtClean="0"/>
              <a:t>si</a:t>
            </a:r>
            <a:r>
              <a:rPr lang="en-GB" altLang="ro-RO" sz="3500" b="1" dirty="0" smtClean="0"/>
              <a:t> </a:t>
            </a:r>
            <a:r>
              <a:rPr lang="en-GB" altLang="ro-RO" sz="3500" b="1" dirty="0" err="1" smtClean="0"/>
              <a:t>abstractizare</a:t>
            </a:r>
            <a:endParaRPr lang="en-GB" altLang="ro-RO" sz="3500" b="1" dirty="0" smtClean="0"/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3500" b="1" dirty="0" smtClean="0"/>
              <a:t> </a:t>
            </a:r>
            <a:r>
              <a:rPr lang="en-GB" altLang="ro-RO" sz="3500" b="1" dirty="0" err="1" smtClean="0">
                <a:solidFill>
                  <a:srgbClr val="FF0000"/>
                </a:solidFill>
              </a:rPr>
              <a:t>Problema</a:t>
            </a:r>
            <a:r>
              <a:rPr lang="en-GB" altLang="ro-RO" sz="3500" b="1" dirty="0" smtClean="0">
                <a:solidFill>
                  <a:srgbClr val="FF0000"/>
                </a:solidFill>
              </a:rPr>
              <a:t> </a:t>
            </a:r>
            <a:r>
              <a:rPr lang="en-GB" altLang="ro-RO" sz="3500" b="1" dirty="0" err="1" smtClean="0">
                <a:solidFill>
                  <a:srgbClr val="FF0000"/>
                </a:solidFill>
              </a:rPr>
              <a:t>mostenirii</a:t>
            </a:r>
            <a:r>
              <a:rPr lang="en-GB" altLang="ro-RO" sz="3500" b="1" dirty="0" smtClean="0">
                <a:solidFill>
                  <a:srgbClr val="FF0000"/>
                </a:solidFill>
              </a:rPr>
              <a:t> multiple</a:t>
            </a:r>
            <a:endParaRPr lang="en-GB" altLang="ro-RO" sz="3500" b="1" dirty="0" smtClean="0"/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3500" b="1" dirty="0" smtClean="0"/>
              <a:t> </a:t>
            </a:r>
            <a:r>
              <a:rPr lang="en-GB" altLang="ro-RO" sz="3500" b="1" dirty="0" err="1" smtClean="0"/>
              <a:t>Modificatorii</a:t>
            </a:r>
            <a:r>
              <a:rPr lang="en-GB" altLang="ro-RO" sz="3500" b="1" dirty="0" smtClean="0"/>
              <a:t> de </a:t>
            </a:r>
            <a:r>
              <a:rPr lang="en-GB" altLang="ro-RO" sz="3500" b="1" dirty="0" err="1" smtClean="0"/>
              <a:t>acces</a:t>
            </a:r>
            <a:r>
              <a:rPr lang="en-GB" altLang="ro-RO" sz="3500" b="1" dirty="0" smtClean="0"/>
              <a:t> </a:t>
            </a:r>
            <a:r>
              <a:rPr lang="en-GB" altLang="ro-RO" sz="3500" b="1" dirty="0" err="1" smtClean="0"/>
              <a:t>si</a:t>
            </a:r>
            <a:r>
              <a:rPr lang="en-GB" altLang="ro-RO" sz="3500" b="1" dirty="0" smtClean="0"/>
              <a:t> </a:t>
            </a:r>
            <a:r>
              <a:rPr lang="en-GB" altLang="ro-RO" sz="3500" b="1" dirty="0" err="1" smtClean="0"/>
              <a:t>mostenirea</a:t>
            </a:r>
            <a:endParaRPr lang="en-GB" altLang="ro-RO" sz="3500" b="1" dirty="0" smtClean="0"/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3500" b="1" dirty="0" smtClean="0"/>
              <a:t> </a:t>
            </a:r>
            <a:r>
              <a:rPr lang="en-GB" altLang="ro-RO" sz="3500" b="1" dirty="0" err="1" smtClean="0"/>
              <a:t>Constructorii</a:t>
            </a:r>
            <a:r>
              <a:rPr lang="en-GB" altLang="ro-RO" sz="3500" b="1" dirty="0" smtClean="0"/>
              <a:t> </a:t>
            </a:r>
            <a:r>
              <a:rPr lang="en-GB" altLang="ro-RO" sz="3500" b="1" dirty="0" err="1" smtClean="0"/>
              <a:t>si</a:t>
            </a:r>
            <a:r>
              <a:rPr lang="en-GB" altLang="ro-RO" sz="3500" b="1" dirty="0" smtClean="0"/>
              <a:t> </a:t>
            </a:r>
            <a:r>
              <a:rPr lang="en-GB" altLang="ro-RO" sz="3500" b="1" dirty="0" err="1" smtClean="0"/>
              <a:t>mostenirea</a:t>
            </a:r>
            <a:endParaRPr lang="en-US" altLang="ro-RO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063" y="-14288"/>
            <a:ext cx="8569325" cy="974726"/>
          </a:xfrm>
        </p:spPr>
        <p:txBody>
          <a:bodyPr/>
          <a:lstStyle/>
          <a:p>
            <a:pPr marL="1439863" eaLnBrk="1" hangingPunct="1"/>
            <a:r>
              <a:rPr lang="en-US" altLang="ro-RO" dirty="0" err="1" smtClean="0"/>
              <a:t>Mostenirea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multipla</a:t>
            </a:r>
            <a:endParaRPr lang="en-US" altLang="ro-RO" dirty="0" smtClean="0"/>
          </a:p>
        </p:txBody>
      </p:sp>
      <p:sp>
        <p:nvSpPr>
          <p:cNvPr id="14339" name="Text Box 5"/>
          <p:cNvSpPr txBox="1">
            <a:spLocks noChangeArrowheads="1"/>
          </p:cNvSpPr>
          <p:nvPr/>
        </p:nvSpPr>
        <p:spPr bwMode="auto">
          <a:xfrm>
            <a:off x="849313" y="1046163"/>
            <a:ext cx="3352800" cy="26574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Persoana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# nume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# varsta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getNume()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+ getVarsta() : int;</a:t>
            </a:r>
          </a:p>
        </p:txBody>
      </p:sp>
      <p:sp>
        <p:nvSpPr>
          <p:cNvPr id="14340" name="Line 7"/>
          <p:cNvSpPr>
            <a:spLocks noChangeShapeType="1"/>
          </p:cNvSpPr>
          <p:nvPr/>
        </p:nvSpPr>
        <p:spPr bwMode="auto">
          <a:xfrm>
            <a:off x="3135313" y="5456238"/>
            <a:ext cx="3581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1" name="Line 8"/>
          <p:cNvSpPr>
            <a:spLocks noChangeShapeType="1"/>
          </p:cNvSpPr>
          <p:nvPr/>
        </p:nvSpPr>
        <p:spPr bwMode="auto">
          <a:xfrm>
            <a:off x="3135313" y="5989638"/>
            <a:ext cx="3581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2" name="Text Box 9"/>
          <p:cNvSpPr txBox="1">
            <a:spLocks noChangeArrowheads="1"/>
          </p:cNvSpPr>
          <p:nvPr/>
        </p:nvSpPr>
        <p:spPr bwMode="auto">
          <a:xfrm>
            <a:off x="3135313" y="4922838"/>
            <a:ext cx="3581400" cy="2474912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Profesor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grad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getGrad()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setGrad(g : String) : void;</a:t>
            </a:r>
          </a:p>
        </p:txBody>
      </p:sp>
      <p:sp>
        <p:nvSpPr>
          <p:cNvPr id="14343" name="Text Box 11"/>
          <p:cNvSpPr txBox="1">
            <a:spLocks noChangeArrowheads="1"/>
          </p:cNvSpPr>
          <p:nvPr/>
        </p:nvSpPr>
        <p:spPr bwMode="auto">
          <a:xfrm>
            <a:off x="5573713" y="1036638"/>
            <a:ext cx="3352800" cy="26574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Angajat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# nume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# salar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getNume()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+ getSalar() : int;</a:t>
            </a:r>
          </a:p>
        </p:txBody>
      </p:sp>
      <p:sp>
        <p:nvSpPr>
          <p:cNvPr id="14344" name="Line 12"/>
          <p:cNvSpPr>
            <a:spLocks noChangeShapeType="1"/>
          </p:cNvSpPr>
          <p:nvPr/>
        </p:nvSpPr>
        <p:spPr bwMode="auto">
          <a:xfrm>
            <a:off x="849313" y="15700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5" name="Line 13"/>
          <p:cNvSpPr>
            <a:spLocks noChangeShapeType="1"/>
          </p:cNvSpPr>
          <p:nvPr/>
        </p:nvSpPr>
        <p:spPr bwMode="auto">
          <a:xfrm>
            <a:off x="849313" y="26368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6" name="Line 14"/>
          <p:cNvSpPr>
            <a:spLocks noChangeShapeType="1"/>
          </p:cNvSpPr>
          <p:nvPr/>
        </p:nvSpPr>
        <p:spPr bwMode="auto">
          <a:xfrm>
            <a:off x="5573713" y="14938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7" name="Line 15"/>
          <p:cNvSpPr>
            <a:spLocks noChangeShapeType="1"/>
          </p:cNvSpPr>
          <p:nvPr/>
        </p:nvSpPr>
        <p:spPr bwMode="auto">
          <a:xfrm>
            <a:off x="5573713" y="27130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8" name="Line 16"/>
          <p:cNvSpPr>
            <a:spLocks noChangeShapeType="1"/>
          </p:cNvSpPr>
          <p:nvPr/>
        </p:nvSpPr>
        <p:spPr bwMode="auto">
          <a:xfrm flipH="1">
            <a:off x="2297113" y="4008438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9" name="Line 17"/>
          <p:cNvSpPr>
            <a:spLocks noChangeShapeType="1"/>
          </p:cNvSpPr>
          <p:nvPr/>
        </p:nvSpPr>
        <p:spPr bwMode="auto">
          <a:xfrm>
            <a:off x="2297113" y="4313238"/>
            <a:ext cx="50292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50" name="Line 18"/>
          <p:cNvSpPr>
            <a:spLocks noChangeShapeType="1"/>
          </p:cNvSpPr>
          <p:nvPr/>
        </p:nvSpPr>
        <p:spPr bwMode="auto">
          <a:xfrm>
            <a:off x="7326313" y="4008438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51" name="Line 19"/>
          <p:cNvSpPr>
            <a:spLocks noChangeShapeType="1"/>
          </p:cNvSpPr>
          <p:nvPr/>
        </p:nvSpPr>
        <p:spPr bwMode="auto">
          <a:xfrm>
            <a:off x="4887913" y="4313238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52" name="AutoShape 20"/>
          <p:cNvSpPr>
            <a:spLocks noChangeArrowheads="1"/>
          </p:cNvSpPr>
          <p:nvPr/>
        </p:nvSpPr>
        <p:spPr bwMode="auto">
          <a:xfrm>
            <a:off x="2144713" y="37036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o-RO" sz="2000"/>
          </a:p>
        </p:txBody>
      </p:sp>
      <p:sp>
        <p:nvSpPr>
          <p:cNvPr id="14353" name="AutoShape 21"/>
          <p:cNvSpPr>
            <a:spLocks noChangeArrowheads="1"/>
          </p:cNvSpPr>
          <p:nvPr/>
        </p:nvSpPr>
        <p:spPr bwMode="auto">
          <a:xfrm>
            <a:off x="7173913" y="37036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o-RO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Mostenirea multipla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ro-RO" sz="3200" dirty="0" smtClean="0"/>
              <a:t>In Java o </a:t>
            </a:r>
            <a:r>
              <a:rPr lang="en-GB" altLang="ro-RO" sz="3200" dirty="0" err="1" smtClean="0"/>
              <a:t>clasa</a:t>
            </a:r>
            <a:r>
              <a:rPr lang="en-GB" altLang="ro-RO" sz="3200" dirty="0" smtClean="0"/>
              <a:t> nu </a:t>
            </a:r>
            <a:r>
              <a:rPr lang="en-GB" altLang="ro-RO" sz="3200" dirty="0" err="1" smtClean="0"/>
              <a:t>poate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extinde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mai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multe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clase</a:t>
            </a:r>
            <a:endParaRPr lang="en-GB" altLang="ro-RO" sz="3200" dirty="0" smtClean="0"/>
          </a:p>
          <a:p>
            <a:pPr eaLnBrk="1" hangingPunct="1"/>
            <a:endParaRPr lang="en-GB" altLang="ro-RO" sz="3200" dirty="0" smtClean="0"/>
          </a:p>
          <a:p>
            <a:pPr eaLnBrk="1" hangingPunct="1"/>
            <a:r>
              <a:rPr lang="en-GB" altLang="ro-RO" sz="3200" dirty="0" err="1" smtClean="0"/>
              <a:t>Daca</a:t>
            </a:r>
            <a:r>
              <a:rPr lang="en-GB" altLang="ro-RO" sz="3200" dirty="0" smtClean="0"/>
              <a:t> o </a:t>
            </a:r>
            <a:r>
              <a:rPr lang="en-GB" altLang="ro-RO" sz="3200" dirty="0" err="1" smtClean="0"/>
              <a:t>subclasa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ar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extinde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doua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clase</a:t>
            </a:r>
            <a:r>
              <a:rPr lang="en-GB" altLang="ro-RO" sz="3200" dirty="0" smtClean="0"/>
              <a:t> de </a:t>
            </a:r>
            <a:r>
              <a:rPr lang="en-GB" altLang="ro-RO" sz="3200" dirty="0" err="1" smtClean="0"/>
              <a:t>baza</a:t>
            </a:r>
            <a:r>
              <a:rPr lang="en-GB" altLang="ro-RO" sz="3200" dirty="0" smtClean="0"/>
              <a:t>, </a:t>
            </a:r>
            <a:r>
              <a:rPr lang="en-GB" altLang="ro-RO" sz="3200" dirty="0" err="1" smtClean="0"/>
              <a:t>si</a:t>
            </a:r>
            <a:r>
              <a:rPr lang="en-GB" altLang="ro-RO" sz="3200" dirty="0" smtClean="0"/>
              <a:t> in </a:t>
            </a:r>
            <a:r>
              <a:rPr lang="en-GB" altLang="ro-RO" sz="3200" dirty="0" err="1" smtClean="0"/>
              <a:t>cele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doua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clase</a:t>
            </a:r>
            <a:r>
              <a:rPr lang="en-GB" altLang="ro-RO" sz="3200" dirty="0" smtClean="0"/>
              <a:t> de </a:t>
            </a:r>
            <a:r>
              <a:rPr lang="en-GB" altLang="ro-RO" sz="3200" dirty="0" err="1" smtClean="0"/>
              <a:t>baza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ar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exista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metode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sau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atribute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identice</a:t>
            </a:r>
            <a:r>
              <a:rPr lang="en-GB" altLang="ro-RO" sz="3200" dirty="0" smtClean="0"/>
              <a:t>, </a:t>
            </a:r>
            <a:r>
              <a:rPr lang="en-GB" altLang="ro-RO" sz="3200" dirty="0" err="1" smtClean="0"/>
              <a:t>subclasa</a:t>
            </a:r>
            <a:r>
              <a:rPr lang="en-GB" altLang="ro-RO" sz="3200" dirty="0" smtClean="0"/>
              <a:t> nu </a:t>
            </a:r>
            <a:r>
              <a:rPr lang="en-GB" altLang="ro-RO" sz="3200" dirty="0" err="1" smtClean="0"/>
              <a:t>ar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sti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pe</a:t>
            </a:r>
            <a:r>
              <a:rPr lang="en-GB" altLang="ro-RO" sz="3200" dirty="0" smtClean="0"/>
              <a:t> care </a:t>
            </a:r>
            <a:r>
              <a:rPr lang="en-GB" altLang="ro-RO" sz="3200" dirty="0" err="1" smtClean="0"/>
              <a:t>dintre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ele</a:t>
            </a:r>
            <a:r>
              <a:rPr lang="en-GB" altLang="ro-RO" sz="3200" dirty="0" smtClean="0"/>
              <a:t> </a:t>
            </a:r>
            <a:r>
              <a:rPr lang="en-GB" altLang="ro-RO" sz="3200" dirty="0" err="1" smtClean="0"/>
              <a:t>sa</a:t>
            </a:r>
            <a:r>
              <a:rPr lang="en-GB" altLang="ro-RO" sz="3200" dirty="0" smtClean="0"/>
              <a:t> le </a:t>
            </a:r>
            <a:r>
              <a:rPr lang="en-GB" altLang="ro-RO" sz="3200" dirty="0" err="1" smtClean="0"/>
              <a:t>mosteneasca</a:t>
            </a:r>
            <a:endParaRPr lang="en-US" altLang="ro-RO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Mostenire : Cuprins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3500" b="1" smtClean="0">
                <a:solidFill>
                  <a:srgbClr val="FF0000"/>
                </a:solidFill>
              </a:rPr>
              <a:t> </a:t>
            </a:r>
            <a:r>
              <a:rPr lang="en-GB" altLang="ro-RO" sz="3500" b="1" smtClean="0"/>
              <a:t>Mostenire si abstractizare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3500" b="1" smtClean="0"/>
              <a:t> Problema mostenirii multiple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3500" b="1" smtClean="0"/>
              <a:t> </a:t>
            </a:r>
            <a:r>
              <a:rPr lang="en-GB" altLang="ro-RO" sz="3500" b="1" smtClean="0">
                <a:solidFill>
                  <a:srgbClr val="FF3300"/>
                </a:solidFill>
              </a:rPr>
              <a:t>Modificatorii de acces si mostenirea</a:t>
            </a:r>
            <a:endParaRPr lang="ro-RO" altLang="ro-RO" sz="3500" b="1" smtClean="0">
              <a:solidFill>
                <a:srgbClr val="FF3300"/>
              </a:solidFill>
            </a:endParaRP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3500" b="1" smtClean="0"/>
              <a:t>Instan</a:t>
            </a:r>
            <a:r>
              <a:rPr lang="ro-RO" altLang="ro-RO" sz="3500" b="1" smtClean="0"/>
              <a:t>ţe predefinite</a:t>
            </a:r>
            <a:endParaRPr lang="en-GB" altLang="ro-RO" sz="3500" b="1" smtClean="0">
              <a:solidFill>
                <a:srgbClr val="FF3300"/>
              </a:solidFill>
            </a:endParaRP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3500" b="1" smtClean="0"/>
              <a:t> Constructorii si mostenirea</a:t>
            </a:r>
            <a:endParaRPr lang="en-US" altLang="ro-RO" sz="35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Modificatori de acces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ro-RO" sz="2800" smtClean="0"/>
              <a:t>Orice clasa are acces la atributele / metodele proprii</a:t>
            </a:r>
          </a:p>
          <a:p>
            <a:pPr eaLnBrk="1" hangingPunct="1"/>
            <a:endParaRPr lang="en-GB" altLang="ro-RO" sz="2800" smtClean="0"/>
          </a:p>
          <a:p>
            <a:pPr eaLnBrk="1" hangingPunct="1"/>
            <a:r>
              <a:rPr lang="en-GB" altLang="ro-RO" sz="2800" smtClean="0"/>
              <a:t>Daca un atribut / metoda este declarat </a:t>
            </a:r>
            <a:r>
              <a:rPr lang="en-GB" altLang="ro-RO" sz="2800" b="1" smtClean="0"/>
              <a:t>public</a:t>
            </a:r>
            <a:r>
              <a:rPr lang="en-GB" altLang="ro-RO" sz="2800" smtClean="0"/>
              <a:t>, atunci orice alta clasa </a:t>
            </a:r>
            <a:r>
              <a:rPr lang="en-GB" altLang="ro-RO" sz="2800" b="1" smtClean="0"/>
              <a:t>are </a:t>
            </a:r>
            <a:r>
              <a:rPr lang="en-GB" altLang="ro-RO" sz="2800" smtClean="0"/>
              <a:t>acces la el</a:t>
            </a:r>
          </a:p>
          <a:p>
            <a:pPr eaLnBrk="1" hangingPunct="1"/>
            <a:endParaRPr lang="en-GB" altLang="ro-RO" sz="2800" smtClean="0"/>
          </a:p>
          <a:p>
            <a:pPr eaLnBrk="1" hangingPunct="1"/>
            <a:r>
              <a:rPr lang="en-GB" altLang="ro-RO" sz="2800" smtClean="0"/>
              <a:t>Daca un atribut / metoda este declarat </a:t>
            </a:r>
            <a:r>
              <a:rPr lang="en-GB" altLang="ro-RO" sz="2800" b="1" smtClean="0"/>
              <a:t>private</a:t>
            </a:r>
            <a:r>
              <a:rPr lang="en-GB" altLang="ro-RO" sz="2800" smtClean="0"/>
              <a:t>, atunci orice alta clasa </a:t>
            </a:r>
            <a:r>
              <a:rPr lang="en-GB" altLang="ro-RO" sz="2800" b="1" smtClean="0"/>
              <a:t>nu are </a:t>
            </a:r>
            <a:r>
              <a:rPr lang="en-GB" altLang="ro-RO" sz="2800" smtClean="0"/>
              <a:t>acces la el</a:t>
            </a:r>
            <a:endParaRPr lang="en-US" altLang="ro-RO" sz="2800" smtClean="0"/>
          </a:p>
          <a:p>
            <a:pPr eaLnBrk="1" hangingPunct="1"/>
            <a:endParaRPr lang="en-US" altLang="ro-RO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Modificatori de acces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008063" y="2565517"/>
            <a:ext cx="8813800" cy="4192471"/>
          </a:xfrm>
        </p:spPr>
        <p:txBody>
          <a:bodyPr/>
          <a:lstStyle/>
          <a:p>
            <a:pPr eaLnBrk="1" hangingPunct="1"/>
            <a:r>
              <a:rPr lang="en-GB" altLang="ro-RO" sz="2800" dirty="0" err="1" smtClean="0"/>
              <a:t>Daca</a:t>
            </a:r>
            <a:r>
              <a:rPr lang="en-GB" altLang="ro-RO" sz="2800" dirty="0" smtClean="0"/>
              <a:t> un </a:t>
            </a:r>
            <a:r>
              <a:rPr lang="en-GB" altLang="ro-RO" sz="2800" dirty="0" err="1" smtClean="0"/>
              <a:t>atribut</a:t>
            </a:r>
            <a:r>
              <a:rPr lang="en-GB" altLang="ro-RO" sz="2800" dirty="0" smtClean="0"/>
              <a:t> / </a:t>
            </a:r>
            <a:r>
              <a:rPr lang="en-GB" altLang="ro-RO" sz="2800" dirty="0" err="1" smtClean="0"/>
              <a:t>metoda</a:t>
            </a:r>
            <a:r>
              <a:rPr lang="en-GB" altLang="ro-RO" sz="2800" dirty="0" smtClean="0"/>
              <a:t> nu are </a:t>
            </a:r>
            <a:r>
              <a:rPr lang="en-GB" altLang="ro-RO" sz="2800" dirty="0" err="1" smtClean="0"/>
              <a:t>modificator</a:t>
            </a:r>
            <a:r>
              <a:rPr lang="en-GB" altLang="ro-RO" sz="2800" dirty="0" smtClean="0"/>
              <a:t> de </a:t>
            </a:r>
            <a:r>
              <a:rPr lang="en-GB" altLang="ro-RO" sz="2800" dirty="0" err="1" smtClean="0"/>
              <a:t>acces</a:t>
            </a:r>
            <a:r>
              <a:rPr lang="en-GB" altLang="ro-RO" sz="2800" dirty="0" smtClean="0"/>
              <a:t> (default, package), </a:t>
            </a:r>
            <a:r>
              <a:rPr lang="en-GB" altLang="ro-RO" sz="2800" dirty="0" err="1" smtClean="0"/>
              <a:t>atunci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orice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alta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clasa</a:t>
            </a:r>
            <a:r>
              <a:rPr lang="en-GB" altLang="ro-RO" sz="2800" dirty="0" smtClean="0"/>
              <a:t> din </a:t>
            </a:r>
            <a:r>
              <a:rPr lang="en-GB" altLang="ro-RO" sz="2800" dirty="0" err="1" smtClean="0"/>
              <a:t>acelasi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pachet</a:t>
            </a:r>
            <a:r>
              <a:rPr lang="en-GB" altLang="ro-RO" sz="2800" dirty="0" smtClean="0"/>
              <a:t> </a:t>
            </a:r>
            <a:r>
              <a:rPr lang="en-GB" altLang="ro-RO" sz="2800" b="1" dirty="0" smtClean="0"/>
              <a:t>are </a:t>
            </a:r>
            <a:r>
              <a:rPr lang="en-GB" altLang="ro-RO" sz="2800" dirty="0" err="1" smtClean="0"/>
              <a:t>acces</a:t>
            </a:r>
            <a:r>
              <a:rPr lang="en-GB" altLang="ro-RO" sz="2800" dirty="0" smtClean="0"/>
              <a:t> la el, </a:t>
            </a:r>
            <a:r>
              <a:rPr lang="en-GB" altLang="ro-RO" sz="2800" dirty="0" err="1" smtClean="0"/>
              <a:t>si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orice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clasa</a:t>
            </a:r>
            <a:r>
              <a:rPr lang="en-GB" altLang="ro-RO" sz="2800" dirty="0" smtClean="0"/>
              <a:t> din alt </a:t>
            </a:r>
            <a:r>
              <a:rPr lang="en-GB" altLang="ro-RO" sz="2800" dirty="0" err="1" smtClean="0"/>
              <a:t>pachet</a:t>
            </a:r>
            <a:r>
              <a:rPr lang="en-GB" altLang="ro-RO" sz="2800" dirty="0" smtClean="0"/>
              <a:t> </a:t>
            </a:r>
            <a:r>
              <a:rPr lang="en-GB" altLang="ro-RO" sz="2800" b="1" dirty="0" smtClean="0"/>
              <a:t>nu are </a:t>
            </a:r>
            <a:r>
              <a:rPr lang="en-GB" altLang="ro-RO" sz="2800" dirty="0" err="1" smtClean="0"/>
              <a:t>acces</a:t>
            </a:r>
            <a:r>
              <a:rPr lang="en-GB" altLang="ro-RO" sz="2800" dirty="0" smtClean="0"/>
              <a:t> la el</a:t>
            </a:r>
          </a:p>
          <a:p>
            <a:pPr eaLnBrk="1" hangingPunct="1"/>
            <a:endParaRPr lang="en-GB" altLang="ro-RO" sz="2800" dirty="0" smtClean="0"/>
          </a:p>
          <a:p>
            <a:pPr eaLnBrk="1" hangingPunct="1"/>
            <a:r>
              <a:rPr lang="en-GB" altLang="ro-RO" sz="2800" dirty="0" err="1" smtClean="0"/>
              <a:t>Daca</a:t>
            </a:r>
            <a:r>
              <a:rPr lang="en-GB" altLang="ro-RO" sz="2800" dirty="0" smtClean="0"/>
              <a:t> un </a:t>
            </a:r>
            <a:r>
              <a:rPr lang="en-GB" altLang="ro-RO" sz="2800" dirty="0" err="1" smtClean="0"/>
              <a:t>atribut</a:t>
            </a:r>
            <a:r>
              <a:rPr lang="en-GB" altLang="ro-RO" sz="2800" dirty="0" smtClean="0"/>
              <a:t> / </a:t>
            </a:r>
            <a:r>
              <a:rPr lang="en-GB" altLang="ro-RO" sz="2800" dirty="0" err="1" smtClean="0"/>
              <a:t>metoda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este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declarat</a:t>
            </a:r>
            <a:r>
              <a:rPr lang="en-GB" altLang="ro-RO" sz="2800" dirty="0" smtClean="0"/>
              <a:t> </a:t>
            </a:r>
            <a:r>
              <a:rPr lang="en-GB" altLang="ro-RO" sz="2800" b="1" dirty="0" smtClean="0"/>
              <a:t>protected</a:t>
            </a:r>
            <a:r>
              <a:rPr lang="en-GB" altLang="ro-RO" sz="2800" dirty="0" smtClean="0"/>
              <a:t>, </a:t>
            </a:r>
            <a:r>
              <a:rPr lang="en-GB" altLang="ro-RO" sz="2800" dirty="0" err="1" smtClean="0"/>
              <a:t>atunci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orice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alta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clasa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derivata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sau</a:t>
            </a:r>
            <a:r>
              <a:rPr lang="en-GB" altLang="ro-RO" sz="2800" dirty="0" smtClean="0"/>
              <a:t> din </a:t>
            </a:r>
            <a:r>
              <a:rPr lang="en-GB" altLang="ro-RO" sz="2800" dirty="0" err="1" smtClean="0"/>
              <a:t>acelasi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pachet</a:t>
            </a:r>
            <a:r>
              <a:rPr lang="en-GB" altLang="ro-RO" sz="2800" dirty="0" smtClean="0"/>
              <a:t> </a:t>
            </a:r>
            <a:r>
              <a:rPr lang="en-GB" altLang="ro-RO" sz="2800" b="1" dirty="0" smtClean="0"/>
              <a:t>are </a:t>
            </a:r>
            <a:r>
              <a:rPr lang="en-GB" altLang="ro-RO" sz="2800" dirty="0" err="1" smtClean="0"/>
              <a:t>acces</a:t>
            </a:r>
            <a:r>
              <a:rPr lang="en-GB" altLang="ro-RO" sz="2800" dirty="0" smtClean="0"/>
              <a:t> la el, </a:t>
            </a:r>
            <a:r>
              <a:rPr lang="en-GB" altLang="ro-RO" sz="2800" dirty="0" err="1" smtClean="0"/>
              <a:t>si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orice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clasa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nederivata</a:t>
            </a:r>
            <a:r>
              <a:rPr lang="en-GB" altLang="ro-RO" sz="2800" dirty="0" smtClean="0"/>
              <a:t> din alt </a:t>
            </a:r>
            <a:r>
              <a:rPr lang="en-GB" altLang="ro-RO" sz="2800" dirty="0" err="1" smtClean="0"/>
              <a:t>pachet</a:t>
            </a:r>
            <a:r>
              <a:rPr lang="en-GB" altLang="ro-RO" sz="2800" dirty="0" smtClean="0"/>
              <a:t> </a:t>
            </a:r>
            <a:r>
              <a:rPr lang="en-GB" altLang="ro-RO" sz="2800" b="1" dirty="0" smtClean="0"/>
              <a:t>nu</a:t>
            </a:r>
            <a:r>
              <a:rPr lang="en-US" altLang="ro-RO" sz="2800" b="1" dirty="0" smtClean="0"/>
              <a:t> are </a:t>
            </a:r>
            <a:r>
              <a:rPr lang="en-US" altLang="ro-RO" sz="2800" dirty="0" err="1" smtClean="0"/>
              <a:t>acces</a:t>
            </a:r>
            <a:r>
              <a:rPr lang="en-US" altLang="ro-RO" sz="2800" dirty="0" smtClean="0"/>
              <a:t> la 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Modificatori de acces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08063" y="1763713"/>
            <a:ext cx="8521700" cy="99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ro-RO" sz="3000" smtClean="0"/>
              <a:t>Tabela completa a drepturilor de acces in Java</a:t>
            </a:r>
            <a:endParaRPr lang="en-US" altLang="ro-RO" sz="3000" smtClean="0"/>
          </a:p>
        </p:txBody>
      </p:sp>
      <p:graphicFrame>
        <p:nvGraphicFramePr>
          <p:cNvPr id="109611" name="Group 4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59463898"/>
              </p:ext>
            </p:extLst>
          </p:nvPr>
        </p:nvGraphicFramePr>
        <p:xfrm>
          <a:off x="1187450" y="2455863"/>
          <a:ext cx="8205788" cy="4475205"/>
        </p:xfrm>
        <a:graphic>
          <a:graphicData uri="http://schemas.openxmlformats.org/drawingml/2006/table">
            <a:tbl>
              <a:tblPr/>
              <a:tblGrid>
                <a:gridCol w="1641475"/>
                <a:gridCol w="1639888"/>
                <a:gridCol w="1643062"/>
                <a:gridCol w="1639888"/>
                <a:gridCol w="1641475"/>
              </a:tblGrid>
              <a:tr h="1432456"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Modificator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Clasa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din </a:t>
                      </a:r>
                      <a:r>
                        <a:rPr kumimoji="0" lang="en-US" sz="2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acelasi</a:t>
                      </a: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pachet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Clasa din alt pachet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Subclasa din acelasi pachet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Subclasa din alt pachet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1843"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8668"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0256"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protected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1939"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(default, package)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2413" y="168275"/>
            <a:ext cx="8567737" cy="1258888"/>
          </a:xfrm>
          <a:noFill/>
        </p:spPr>
        <p:txBody>
          <a:bodyPr lIns="101494" tIns="50748" rIns="101494" bIns="50748"/>
          <a:lstStyle/>
          <a:p>
            <a:pPr eaLnBrk="1" hangingPunct="1"/>
            <a:r>
              <a:rPr lang="en-US" altLang="ro-RO" smtClean="0"/>
              <a:t>Modificatori ai claselor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2413" y="1879600"/>
            <a:ext cx="9575800" cy="5543550"/>
          </a:xfrm>
          <a:noFill/>
        </p:spPr>
        <p:txBody>
          <a:bodyPr lIns="101494" tIns="50748" rIns="101494" bIns="50748"/>
          <a:lstStyle/>
          <a:p>
            <a:pPr eaLnBrk="1" hangingPunct="1">
              <a:lnSpc>
                <a:spcPct val="90000"/>
              </a:lnSpc>
            </a:pPr>
            <a:r>
              <a:rPr lang="en-US" altLang="ro-RO" sz="2800" smtClean="0"/>
              <a:t>Sunt folositi pentru a schimba unele caracteristici ale claselor. Se aplic</a:t>
            </a:r>
            <a:r>
              <a:rPr lang="ro-RO" altLang="ro-RO" sz="2800" smtClean="0"/>
              <a:t>ă înainte de numele clasei în momentul declarării acesteia. Există două categorii de modificatori: de </a:t>
            </a:r>
            <a:r>
              <a:rPr lang="ro-RO" altLang="ro-RO" sz="2800" b="1" smtClean="0"/>
              <a:t>acces</a:t>
            </a:r>
            <a:r>
              <a:rPr lang="ro-RO" altLang="ro-RO" sz="2800" smtClean="0"/>
              <a:t> şi de </a:t>
            </a:r>
            <a:r>
              <a:rPr lang="ro-RO" altLang="ro-RO" sz="2800" b="1" smtClean="0"/>
              <a:t>tip.</a:t>
            </a:r>
            <a:endParaRPr lang="en-US" altLang="ro-RO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ro-RO" sz="2800" smtClean="0"/>
              <a:t>Modificatorii de acces sunt folosiţi pentru stabilirea modului intern şi extern de utilizare a clasei. De fapt se stabileşte gradul de vizibilitate al unor porţiuni sau al întregului obiect precum şi ale metodelor acestuia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ro-RO" sz="2800" smtClean="0"/>
              <a:t>Modificatorii de tip sunt folosiţi pentru specificarea categoriei din care face parte adică este o clasă propriu-zisă sau este un model pentru derivarea altor clase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35038" y="365125"/>
            <a:ext cx="8810625" cy="1008063"/>
          </a:xfrm>
        </p:spPr>
        <p:txBody>
          <a:bodyPr/>
          <a:lstStyle/>
          <a:p>
            <a:pPr eaLnBrk="1" hangingPunct="1"/>
            <a:r>
              <a:rPr lang="ro-RO" altLang="ro-RO" smtClean="0"/>
              <a:t>Modificator de tip - public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252413" y="2110147"/>
            <a:ext cx="9575800" cy="5236803"/>
          </a:xfrm>
        </p:spPr>
        <p:txBody>
          <a:bodyPr/>
          <a:lstStyle/>
          <a:p>
            <a:pPr eaLnBrk="1" hangingPunct="1"/>
            <a:r>
              <a:rPr lang="ro-RO" altLang="ro-RO" sz="2700" dirty="0" smtClean="0"/>
              <a:t>Există cazuri în care este necesar ca să avem un grad mai mare de acces la caracteristicile unei descrieri. În acest caz se </a:t>
            </a:r>
            <a:r>
              <a:rPr lang="ro-RO" altLang="ro-RO" sz="2700" dirty="0" err="1" smtClean="0"/>
              <a:t>foloseşte</a:t>
            </a:r>
            <a:r>
              <a:rPr lang="ro-RO" altLang="ro-RO" sz="2700" dirty="0" smtClean="0"/>
              <a:t> modificatorul public</a:t>
            </a:r>
          </a:p>
          <a:p>
            <a:pPr eaLnBrk="1" hangingPunct="1"/>
            <a:r>
              <a:rPr lang="ro-RO" altLang="ro-RO" sz="2700" dirty="0" smtClean="0"/>
              <a:t>Prin declararea unei clase ca fiind de acest tip se permite celorlalte clase sau pachete de clase să îi acceseze atât variabilele </a:t>
            </a:r>
            <a:r>
              <a:rPr lang="ro-RO" altLang="ro-RO" sz="2700" dirty="0" err="1" smtClean="0"/>
              <a:t>şi</a:t>
            </a:r>
            <a:r>
              <a:rPr lang="ro-RO" altLang="ro-RO" sz="2700" dirty="0" smtClean="0"/>
              <a:t> metodele cât </a:t>
            </a:r>
            <a:r>
              <a:rPr lang="ro-RO" altLang="ro-RO" sz="2700" dirty="0" err="1" smtClean="0"/>
              <a:t>şi</a:t>
            </a:r>
            <a:r>
              <a:rPr lang="ro-RO" altLang="ro-RO" sz="2700" dirty="0" smtClean="0"/>
              <a:t> subclasele. Iată un exemplu de clasă publică: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ro-RO" altLang="ro-RO" sz="2400" dirty="0" smtClean="0"/>
              <a:t>public </a:t>
            </a:r>
            <a:r>
              <a:rPr lang="ro-RO" altLang="ro-RO" sz="2400" dirty="0" err="1" smtClean="0"/>
              <a:t>class</a:t>
            </a:r>
            <a:r>
              <a:rPr lang="ro-RO" altLang="ro-RO" sz="2400" dirty="0" smtClean="0"/>
              <a:t> Câine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altLang="ro-RO" sz="2400" dirty="0" smtClean="0"/>
              <a:t>		</a:t>
            </a:r>
            <a:r>
              <a:rPr lang="en-US" altLang="ro-RO" sz="2400" dirty="0" smtClean="0"/>
              <a:t>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o-RO" sz="2400" dirty="0" smtClean="0"/>
              <a:t>		public static void main(String </a:t>
            </a:r>
            <a:r>
              <a:rPr lang="en-US" altLang="ro-RO" sz="2400" dirty="0" err="1" smtClean="0"/>
              <a:t>arg</a:t>
            </a:r>
            <a:r>
              <a:rPr lang="en-US" altLang="ro-RO" sz="2400" dirty="0" smtClean="0"/>
              <a:t>[])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o-RO" sz="2400" dirty="0" smtClean="0"/>
              <a:t>			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o-RO" sz="2400" dirty="0" smtClean="0"/>
              <a:t>			</a:t>
            </a:r>
            <a:r>
              <a:rPr lang="en-US" altLang="ro-RO" sz="2400" dirty="0" err="1" smtClean="0"/>
              <a:t>System.out.println</a:t>
            </a:r>
            <a:r>
              <a:rPr lang="en-US" altLang="ro-RO" sz="2400" dirty="0" smtClean="0"/>
              <a:t>(“Un </a:t>
            </a:r>
            <a:r>
              <a:rPr lang="en-US" altLang="ro-RO" sz="2400" dirty="0" err="1" smtClean="0"/>
              <a:t>câine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oarecare</a:t>
            </a:r>
            <a:r>
              <a:rPr lang="en-US" altLang="ro-RO" sz="2400" dirty="0" smtClean="0"/>
              <a:t>”)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o-RO" sz="2400" dirty="0" smtClean="0"/>
              <a:t>			}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o-RO" sz="2400" dirty="0" smtClean="0"/>
              <a:t>		}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o-RO" altLang="ro-RO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69988" y="168275"/>
            <a:ext cx="8489950" cy="1008063"/>
          </a:xfrm>
          <a:noFill/>
        </p:spPr>
        <p:txBody>
          <a:bodyPr lIns="101494" tIns="50748" rIns="101494" bIns="50748"/>
          <a:lstStyle/>
          <a:p>
            <a:pPr eaLnBrk="1" hangingPunct="1"/>
            <a:r>
              <a:rPr lang="en-US" altLang="ro-RO" smtClean="0"/>
              <a:t>Modificator de tip - Abstract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73100" y="1578882"/>
            <a:ext cx="9407525" cy="5543550"/>
          </a:xfrm>
          <a:noFill/>
        </p:spPr>
        <p:txBody>
          <a:bodyPr lIns="101494" tIns="50748" rIns="101494" bIns="50748"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o-RO" altLang="ro-RO" sz="2200" b="1" dirty="0" smtClean="0"/>
              <a:t>Clase abstracte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sz="2200" dirty="0" smtClean="0"/>
              <a:t>Reprezintă cel mai înalt nivel de abstractizare. Din aceste clase se vor deriva celelalte care fac parte din </a:t>
            </a:r>
            <a:r>
              <a:rPr lang="ro-RO" altLang="ro-RO" sz="2200" dirty="0" err="1" smtClean="0"/>
              <a:t>aceaşi</a:t>
            </a:r>
            <a:r>
              <a:rPr lang="ro-RO" altLang="ro-RO" sz="2200" dirty="0" smtClean="0"/>
              <a:t> categorie.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ro-RO" sz="2400" dirty="0" smtClean="0"/>
              <a:t>Cu cat </a:t>
            </a:r>
            <a:r>
              <a:rPr lang="en-US" altLang="ro-RO" sz="2400" dirty="0" err="1" smtClean="0"/>
              <a:t>sunt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mai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sus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intr</a:t>
            </a:r>
            <a:r>
              <a:rPr lang="en-US" altLang="ro-RO" sz="2400" dirty="0" smtClean="0"/>
              <a:t>-o </a:t>
            </a:r>
            <a:r>
              <a:rPr lang="en-US" altLang="ro-RO" sz="2400" dirty="0" err="1" smtClean="0"/>
              <a:t>ierarhie</a:t>
            </a:r>
            <a:r>
              <a:rPr lang="en-US" altLang="ro-RO" sz="2400" dirty="0" smtClean="0"/>
              <a:t> de </a:t>
            </a:r>
            <a:r>
              <a:rPr lang="en-US" altLang="ro-RO" sz="2400" dirty="0" err="1" smtClean="0"/>
              <a:t>clase</a:t>
            </a:r>
            <a:r>
              <a:rPr lang="en-US" altLang="ro-RO" sz="2400" dirty="0" smtClean="0"/>
              <a:t>, </a:t>
            </a:r>
            <a:r>
              <a:rPr lang="en-US" altLang="ro-RO" sz="2400" b="1" dirty="0" err="1" smtClean="0"/>
              <a:t>superclasele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devin</a:t>
            </a:r>
            <a:r>
              <a:rPr lang="en-US" altLang="ro-RO" sz="2400" dirty="0" smtClean="0"/>
              <a:t> tot </a:t>
            </a:r>
            <a:r>
              <a:rPr lang="en-US" altLang="ro-RO" sz="2400" dirty="0" err="1" smtClean="0"/>
              <a:t>mai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generale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si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abstracte</a:t>
            </a:r>
            <a:endParaRPr lang="en-US" altLang="ro-RO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ro-RO" sz="2400" dirty="0" smtClean="0"/>
              <a:t>La un moment </a:t>
            </a:r>
            <a:r>
              <a:rPr lang="en-US" altLang="ro-RO" sz="2400" dirty="0" err="1" smtClean="0"/>
              <a:t>dat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unele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superclase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sunt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mai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degraba</a:t>
            </a:r>
            <a:r>
              <a:rPr lang="en-US" altLang="ro-RO" sz="2400" dirty="0" smtClean="0"/>
              <a:t> un </a:t>
            </a:r>
            <a:r>
              <a:rPr lang="en-US" altLang="ro-RO" sz="2400" b="1" dirty="0" smtClean="0"/>
              <a:t>model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pentru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alte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clase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decat</a:t>
            </a:r>
            <a:r>
              <a:rPr lang="en-US" altLang="ro-RO" sz="2400" dirty="0" smtClean="0"/>
              <a:t> o </a:t>
            </a:r>
            <a:r>
              <a:rPr lang="en-US" altLang="ro-RO" sz="2400" dirty="0" err="1" smtClean="0"/>
              <a:t>definitie</a:t>
            </a:r>
            <a:r>
              <a:rPr lang="en-US" altLang="ro-RO" sz="2400" dirty="0" smtClean="0"/>
              <a:t> a </a:t>
            </a:r>
            <a:r>
              <a:rPr lang="en-US" altLang="ro-RO" sz="2400" dirty="0" err="1" smtClean="0"/>
              <a:t>unor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obiecte</a:t>
            </a:r>
            <a:endParaRPr lang="en-US" altLang="ro-RO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ro-RO" sz="2400" dirty="0" smtClean="0"/>
              <a:t>In </a:t>
            </a:r>
            <a:r>
              <a:rPr lang="en-US" altLang="ro-RO" sz="2400" dirty="0" err="1" smtClean="0"/>
              <a:t>acest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caz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superclasele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sunt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declarate</a:t>
            </a:r>
            <a:r>
              <a:rPr lang="en-US" altLang="ro-RO" sz="2400" dirty="0" smtClean="0"/>
              <a:t> </a:t>
            </a:r>
            <a:r>
              <a:rPr lang="en-US" altLang="ro-RO" sz="2400" b="1" dirty="0" err="1" smtClean="0"/>
              <a:t>abstracte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si</a:t>
            </a:r>
            <a:r>
              <a:rPr lang="en-US" altLang="ro-RO" sz="2400" dirty="0" smtClean="0"/>
              <a:t> nu se pot </a:t>
            </a:r>
            <a:r>
              <a:rPr lang="en-US" altLang="ro-RO" sz="2400" dirty="0" err="1" smtClean="0"/>
              <a:t>crea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obiecte</a:t>
            </a:r>
            <a:r>
              <a:rPr lang="en-US" altLang="ro-RO" sz="2400" dirty="0" smtClean="0"/>
              <a:t> din </a:t>
            </a:r>
            <a:r>
              <a:rPr lang="en-US" altLang="ro-RO" sz="2400" dirty="0" err="1" smtClean="0"/>
              <a:t>ele</a:t>
            </a:r>
            <a:endParaRPr lang="en-US" altLang="ro-RO" sz="2400" dirty="0" smtClean="0"/>
          </a:p>
          <a:p>
            <a:pPr eaLnBrk="1" hangingPunct="1">
              <a:lnSpc>
                <a:spcPct val="90000"/>
              </a:lnSpc>
            </a:pPr>
            <a:r>
              <a:rPr lang="ro-RO" altLang="ro-RO" sz="2200" dirty="0" smtClean="0"/>
              <a:t>Există </a:t>
            </a:r>
            <a:r>
              <a:rPr lang="ro-RO" altLang="ro-RO" sz="2200" dirty="0" err="1" smtClean="0"/>
              <a:t>situaţii</a:t>
            </a:r>
            <a:r>
              <a:rPr lang="ro-RO" altLang="ro-RO" sz="2200" dirty="0" smtClean="0"/>
              <a:t> în care se </a:t>
            </a:r>
            <a:r>
              <a:rPr lang="ro-RO" altLang="ro-RO" sz="2200" dirty="0" err="1" smtClean="0"/>
              <a:t>doreşte</a:t>
            </a:r>
            <a:r>
              <a:rPr lang="ro-RO" altLang="ro-RO" sz="2200" dirty="0" smtClean="0"/>
              <a:t> declararea unei clase dar nu e clar cum se vor defini toate metodele acelei clase. </a:t>
            </a:r>
            <a:endParaRPr lang="en-US" altLang="ro-RO" sz="2200" dirty="0" smtClean="0"/>
          </a:p>
          <a:p>
            <a:pPr eaLnBrk="1" hangingPunct="1">
              <a:lnSpc>
                <a:spcPct val="90000"/>
              </a:lnSpc>
            </a:pPr>
            <a:r>
              <a:rPr lang="ro-RO" altLang="ro-RO" sz="2200" dirty="0" smtClean="0"/>
              <a:t>De exemplu dacă se </a:t>
            </a:r>
            <a:r>
              <a:rPr lang="ro-RO" altLang="ro-RO" sz="2200" dirty="0" err="1" smtClean="0"/>
              <a:t>doreşte</a:t>
            </a:r>
            <a:r>
              <a:rPr lang="ro-RO" altLang="ro-RO" sz="2200" dirty="0" smtClean="0"/>
              <a:t> realizarea clasei mamifer care să aibă obligatoriu o metodă de marcarea teritoriului nu se defini la acest nivel respectiva metodă ci doar la nivel de clasă derivată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07256" y="315928"/>
            <a:ext cx="8316516" cy="954373"/>
          </a:xfrm>
        </p:spPr>
        <p:txBody>
          <a:bodyPr/>
          <a:lstStyle/>
          <a:p>
            <a:pPr eaLnBrk="1" hangingPunct="1"/>
            <a:r>
              <a:rPr lang="en-US" altLang="ro-RO" dirty="0" err="1" smtClean="0"/>
              <a:t>Clase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abstracte</a:t>
            </a:r>
            <a:endParaRPr lang="en-US" altLang="ro-RO" dirty="0" smtClean="0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773410" y="5218412"/>
            <a:ext cx="3352800" cy="19462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Mp3Player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5116810" y="5232699"/>
            <a:ext cx="3657600" cy="19462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WavPlayer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2991147" y="1498899"/>
            <a:ext cx="3352800" cy="2952750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Player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latin typeface="Times New Roman" panose="02020603050405020304" pitchFamily="18" charset="0"/>
              </a:rPr>
              <a:t># file : FileInputStream</a:t>
            </a: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  <a:endParaRPr lang="en-US" altLang="ro-RO" sz="22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latin typeface="Times New Roman" panose="02020603050405020304" pitchFamily="18" charset="0"/>
              </a:rPr>
              <a:t>+ open()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2991147" y="2030712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2991147" y="2486324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790872" y="5748637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790872" y="5824837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5116810" y="5770862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5116810" y="5847062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grpSp>
        <p:nvGrpSpPr>
          <p:cNvPr id="23564" name="Group 12"/>
          <p:cNvGrpSpPr>
            <a:grpSpLocks/>
          </p:cNvGrpSpPr>
          <p:nvPr/>
        </p:nvGrpSpPr>
        <p:grpSpPr bwMode="auto">
          <a:xfrm>
            <a:off x="2373610" y="4383387"/>
            <a:ext cx="4659312" cy="835025"/>
            <a:chOff x="1495" y="2525"/>
            <a:chExt cx="2935" cy="672"/>
          </a:xfrm>
        </p:grpSpPr>
        <p:sp>
          <p:nvSpPr>
            <p:cNvPr id="23567" name="Line 13"/>
            <p:cNvSpPr>
              <a:spLocks noChangeShapeType="1"/>
            </p:cNvSpPr>
            <p:nvPr/>
          </p:nvSpPr>
          <p:spPr bwMode="auto">
            <a:xfrm flipH="1">
              <a:off x="2935" y="271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568" name="Line 14"/>
            <p:cNvSpPr>
              <a:spLocks noChangeShapeType="1"/>
            </p:cNvSpPr>
            <p:nvPr/>
          </p:nvSpPr>
          <p:spPr bwMode="auto">
            <a:xfrm>
              <a:off x="1502" y="2859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569" name="Line 15"/>
            <p:cNvSpPr>
              <a:spLocks noChangeShapeType="1"/>
            </p:cNvSpPr>
            <p:nvPr/>
          </p:nvSpPr>
          <p:spPr bwMode="auto">
            <a:xfrm>
              <a:off x="1495" y="2861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570" name="Line 16"/>
            <p:cNvSpPr>
              <a:spLocks noChangeShapeType="1"/>
            </p:cNvSpPr>
            <p:nvPr/>
          </p:nvSpPr>
          <p:spPr bwMode="auto">
            <a:xfrm>
              <a:off x="4423" y="2861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571" name="AutoShape 17"/>
            <p:cNvSpPr>
              <a:spLocks noChangeArrowheads="1"/>
            </p:cNvSpPr>
            <p:nvPr/>
          </p:nvSpPr>
          <p:spPr bwMode="auto">
            <a:xfrm>
              <a:off x="2839" y="2525"/>
              <a:ext cx="192" cy="19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ro-RO" sz="2000"/>
            </a:p>
          </p:txBody>
        </p:sp>
      </p:grpSp>
      <p:sp>
        <p:nvSpPr>
          <p:cNvPr id="23565" name="Text Box 18"/>
          <p:cNvSpPr txBox="1">
            <a:spLocks noChangeArrowheads="1"/>
          </p:cNvSpPr>
          <p:nvPr/>
        </p:nvSpPr>
        <p:spPr bwMode="auto">
          <a:xfrm>
            <a:off x="7013872" y="1575099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Clasa abstracta</a:t>
            </a:r>
          </a:p>
        </p:txBody>
      </p:sp>
      <p:sp>
        <p:nvSpPr>
          <p:cNvPr id="23566" name="Line 19"/>
          <p:cNvSpPr>
            <a:spLocks noChangeShapeType="1"/>
          </p:cNvSpPr>
          <p:nvPr/>
        </p:nvSpPr>
        <p:spPr bwMode="auto">
          <a:xfrm flipH="1">
            <a:off x="6331247" y="1878312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07256" y="315929"/>
            <a:ext cx="8316516" cy="1262954"/>
          </a:xfrm>
        </p:spPr>
        <p:txBody>
          <a:bodyPr/>
          <a:lstStyle/>
          <a:p>
            <a:pPr eaLnBrk="1" hangingPunct="1"/>
            <a:r>
              <a:rPr lang="en-US" altLang="ro-RO" dirty="0" err="1" smtClean="0"/>
              <a:t>Clase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abstracte</a:t>
            </a:r>
            <a:endParaRPr lang="en-US" altLang="ro-RO" dirty="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907256" y="2034252"/>
            <a:ext cx="8316517" cy="4435009"/>
          </a:xfrm>
        </p:spPr>
        <p:txBody>
          <a:bodyPr>
            <a:noAutofit/>
          </a:bodyPr>
          <a:lstStyle/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public </a:t>
            </a:r>
            <a:r>
              <a:rPr lang="en-US" altLang="ro-RO" sz="20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abstract</a:t>
            </a:r>
            <a:r>
              <a:rPr lang="en-US" altLang="ro-RO" sz="2000" b="1" dirty="0" smtClean="0">
                <a:latin typeface="Courier New" panose="02070309020205020404" pitchFamily="49" charset="0"/>
              </a:rPr>
              <a:t> class Player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protected </a:t>
            </a:r>
            <a:r>
              <a:rPr lang="en-US" altLang="ro-RO" sz="2000" b="1" dirty="0" err="1" smtClean="0">
                <a:latin typeface="Courier New" panose="02070309020205020404" pitchFamily="49" charset="0"/>
              </a:rPr>
              <a:t>FileInputStream</a:t>
            </a:r>
            <a:r>
              <a:rPr lang="en-US" altLang="ro-RO" sz="2000" b="1" dirty="0" smtClean="0">
                <a:latin typeface="Courier New" panose="02070309020205020404" pitchFamily="49" charset="0"/>
              </a:rPr>
              <a:t> file;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ro-RO" sz="2000" b="1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public void open()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  file = new </a:t>
            </a:r>
            <a:r>
              <a:rPr lang="en-US" altLang="ro-RO" sz="2000" b="1" dirty="0" err="1" smtClean="0">
                <a:latin typeface="Courier New" panose="02070309020205020404" pitchFamily="49" charset="0"/>
              </a:rPr>
              <a:t>FileInputStream</a:t>
            </a:r>
            <a:r>
              <a:rPr lang="en-US" altLang="ro-RO" sz="2000" b="1" dirty="0" smtClean="0">
                <a:latin typeface="Courier New" panose="02070309020205020404" pitchFamily="49" charset="0"/>
              </a:rPr>
              <a:t> …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ro-RO" sz="2000" b="1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public </a:t>
            </a:r>
            <a:r>
              <a:rPr lang="en-US" altLang="ro-RO" sz="20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abstract</a:t>
            </a:r>
            <a:r>
              <a:rPr lang="en-US" altLang="ro-RO" sz="2000" b="1" dirty="0" smtClean="0">
                <a:latin typeface="Courier New" panose="02070309020205020404" pitchFamily="49" charset="0"/>
              </a:rPr>
              <a:t> void play();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ro-RO" sz="2000" b="1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public </a:t>
            </a:r>
            <a:r>
              <a:rPr lang="en-US" altLang="ro-RO" sz="20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abstract</a:t>
            </a:r>
            <a:r>
              <a:rPr lang="en-US" altLang="ro-RO" sz="2000" b="1" dirty="0" smtClean="0">
                <a:latin typeface="Courier New" panose="02070309020205020404" pitchFamily="49" charset="0"/>
              </a:rPr>
              <a:t> void stop();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ro-RO" sz="2000" b="1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public </a:t>
            </a:r>
            <a:r>
              <a:rPr lang="en-US" altLang="ro-RO" sz="20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abstract</a:t>
            </a:r>
            <a:r>
              <a:rPr lang="en-US" altLang="ro-RO" sz="2000" b="1" dirty="0" smtClean="0">
                <a:latin typeface="Courier New" panose="02070309020205020404" pitchFamily="49" charset="0"/>
              </a:rPr>
              <a:t> void pause();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Clase abstracte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ro-RO" sz="3200" dirty="0" smtClean="0"/>
              <a:t>O </a:t>
            </a:r>
            <a:r>
              <a:rPr lang="en-US" altLang="ro-RO" sz="3200" b="1" dirty="0" err="1" smtClean="0"/>
              <a:t>metoda</a:t>
            </a:r>
            <a:r>
              <a:rPr lang="en-US" altLang="ro-RO" sz="3200" b="1" dirty="0" smtClean="0"/>
              <a:t> </a:t>
            </a:r>
            <a:r>
              <a:rPr lang="en-US" altLang="ro-RO" sz="3200" b="1" dirty="0" err="1" smtClean="0"/>
              <a:t>abstracta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este</a:t>
            </a:r>
            <a:r>
              <a:rPr lang="en-US" altLang="ro-RO" sz="3200" dirty="0" smtClean="0"/>
              <a:t> o </a:t>
            </a:r>
            <a:r>
              <a:rPr lang="en-US" altLang="ro-RO" sz="3200" dirty="0" err="1" smtClean="0"/>
              <a:t>metoda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fara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corp</a:t>
            </a:r>
            <a:r>
              <a:rPr lang="en-US" altLang="ro-RO" sz="3200" dirty="0" smtClean="0"/>
              <a:t> (</a:t>
            </a:r>
            <a:r>
              <a:rPr lang="en-US" altLang="ro-RO" sz="3200" dirty="0" err="1" smtClean="0"/>
              <a:t>continut</a:t>
            </a:r>
            <a:r>
              <a:rPr lang="en-US" altLang="ro-RO" sz="3200" dirty="0" smtClean="0"/>
              <a:t>)</a:t>
            </a:r>
          </a:p>
          <a:p>
            <a:pPr eaLnBrk="1" hangingPunct="1"/>
            <a:r>
              <a:rPr lang="en-US" altLang="ro-RO" sz="3200" dirty="0" smtClean="0"/>
              <a:t>O </a:t>
            </a:r>
            <a:r>
              <a:rPr lang="en-US" altLang="ro-RO" sz="3200" dirty="0" err="1" smtClean="0"/>
              <a:t>clasa</a:t>
            </a:r>
            <a:r>
              <a:rPr lang="en-US" altLang="ro-RO" sz="3200" dirty="0" smtClean="0"/>
              <a:t> care </a:t>
            </a:r>
            <a:r>
              <a:rPr lang="en-US" altLang="ro-RO" sz="3200" dirty="0" err="1" smtClean="0"/>
              <a:t>contine</a:t>
            </a:r>
            <a:r>
              <a:rPr lang="en-US" altLang="ro-RO" sz="3200" dirty="0" smtClean="0"/>
              <a:t> o </a:t>
            </a:r>
            <a:r>
              <a:rPr lang="en-US" altLang="ro-RO" sz="3200" dirty="0" err="1" smtClean="0"/>
              <a:t>metoda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abstracta</a:t>
            </a:r>
            <a:r>
              <a:rPr lang="en-US" altLang="ro-RO" sz="3200" dirty="0" smtClean="0"/>
              <a:t>, </a:t>
            </a:r>
            <a:r>
              <a:rPr lang="en-US" altLang="ro-RO" sz="3200" dirty="0" err="1" smtClean="0"/>
              <a:t>trebuie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declarata</a:t>
            </a:r>
            <a:r>
              <a:rPr lang="en-US" altLang="ro-RO" sz="3200" dirty="0" smtClean="0"/>
              <a:t> </a:t>
            </a:r>
            <a:r>
              <a:rPr lang="en-US" altLang="ro-RO" sz="3200" b="1" dirty="0" err="1" smtClean="0"/>
              <a:t>clasa</a:t>
            </a:r>
            <a:r>
              <a:rPr lang="en-US" altLang="ro-RO" sz="3200" b="1" dirty="0" smtClean="0"/>
              <a:t> </a:t>
            </a:r>
            <a:r>
              <a:rPr lang="en-US" altLang="ro-RO" sz="3200" b="1" dirty="0" err="1" smtClean="0"/>
              <a:t>abstracta</a:t>
            </a:r>
            <a:endParaRPr lang="en-US" altLang="ro-RO" sz="3200" b="1" dirty="0" smtClean="0"/>
          </a:p>
          <a:p>
            <a:pPr eaLnBrk="1" hangingPunct="1"/>
            <a:r>
              <a:rPr lang="en-US" altLang="ro-RO" sz="3200" dirty="0" smtClean="0"/>
              <a:t>Nu se pot </a:t>
            </a:r>
            <a:r>
              <a:rPr lang="en-US" altLang="ro-RO" sz="3200" dirty="0" err="1" smtClean="0"/>
              <a:t>crea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obiecte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dintr</a:t>
            </a:r>
            <a:r>
              <a:rPr lang="en-US" altLang="ro-RO" sz="3200" dirty="0" smtClean="0"/>
              <a:t>-o </a:t>
            </a:r>
            <a:r>
              <a:rPr lang="en-US" altLang="ro-RO" sz="3200" dirty="0" err="1" smtClean="0"/>
              <a:t>clasa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abstracta</a:t>
            </a:r>
            <a:endParaRPr lang="en-US" altLang="ro-RO" sz="3200" dirty="0" smtClean="0"/>
          </a:p>
          <a:p>
            <a:pPr eaLnBrk="1" hangingPunct="1"/>
            <a:r>
              <a:rPr lang="en-US" altLang="ro-RO" sz="3200" dirty="0" smtClean="0"/>
              <a:t>O </a:t>
            </a:r>
            <a:r>
              <a:rPr lang="en-US" altLang="ro-RO" sz="3200" dirty="0" err="1" smtClean="0"/>
              <a:t>clasa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poate</a:t>
            </a:r>
            <a:r>
              <a:rPr lang="en-US" altLang="ro-RO" sz="3200" dirty="0" smtClean="0"/>
              <a:t> fi </a:t>
            </a:r>
            <a:r>
              <a:rPr lang="en-US" altLang="ro-RO" sz="3200" dirty="0" err="1" smtClean="0"/>
              <a:t>declarata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abstracta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si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daca</a:t>
            </a:r>
            <a:r>
              <a:rPr lang="en-US" altLang="ro-RO" sz="3200" dirty="0" smtClean="0"/>
              <a:t> nu </a:t>
            </a:r>
            <a:r>
              <a:rPr lang="en-US" altLang="ro-RO" sz="3200" dirty="0" err="1" smtClean="0"/>
              <a:t>contine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nici</a:t>
            </a:r>
            <a:r>
              <a:rPr lang="en-US" altLang="ro-RO" sz="3200" dirty="0" smtClean="0"/>
              <a:t> o </a:t>
            </a:r>
            <a:r>
              <a:rPr lang="en-US" altLang="ro-RO" sz="3200" dirty="0" err="1" smtClean="0"/>
              <a:t>metoda</a:t>
            </a:r>
            <a:r>
              <a:rPr lang="en-US" altLang="ro-RO" sz="3200" dirty="0" smtClean="0"/>
              <a:t> </a:t>
            </a:r>
            <a:r>
              <a:rPr lang="en-US" altLang="ro-RO" sz="3200" dirty="0" err="1" smtClean="0"/>
              <a:t>abstracta</a:t>
            </a:r>
            <a:endParaRPr lang="en-US" altLang="ro-RO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212725"/>
            <a:ext cx="9577388" cy="1260475"/>
          </a:xfrm>
        </p:spPr>
        <p:txBody>
          <a:bodyPr/>
          <a:lstStyle/>
          <a:p>
            <a:pPr eaLnBrk="1" hangingPunct="1"/>
            <a:r>
              <a:rPr lang="en-US" altLang="ro-RO" smtClean="0"/>
              <a:t>Modificator de tip - Abstract</a:t>
            </a:r>
            <a:endParaRPr lang="ro-RO" altLang="ro-RO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82625" y="3030538"/>
            <a:ext cx="4584700" cy="431641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o-RO" sz="2000" dirty="0" smtClean="0">
                <a:solidFill>
                  <a:srgbClr val="FF3300"/>
                </a:solidFill>
              </a:rPr>
              <a:t>public </a:t>
            </a:r>
            <a:r>
              <a:rPr lang="ro-RO" altLang="ro-RO" sz="2000" dirty="0" smtClean="0">
                <a:solidFill>
                  <a:srgbClr val="FF3300"/>
                </a:solidFill>
              </a:rPr>
              <a:t>abstract </a:t>
            </a:r>
            <a:r>
              <a:rPr lang="ro-RO" altLang="ro-RO" sz="2000" dirty="0" err="1" smtClean="0">
                <a:solidFill>
                  <a:srgbClr val="FF3300"/>
                </a:solidFill>
              </a:rPr>
              <a:t>class</a:t>
            </a:r>
            <a:r>
              <a:rPr lang="ro-RO" altLang="ro-RO" sz="2000" dirty="0" smtClean="0">
                <a:solidFill>
                  <a:srgbClr val="FF3300"/>
                </a:solidFill>
              </a:rPr>
              <a:t> Mamifer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o-RO" sz="2000" dirty="0" smtClean="0">
                <a:solidFill>
                  <a:srgbClr val="FF3300"/>
                </a:solidFill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o-RO" sz="2000" dirty="0" err="1" smtClean="0">
                <a:solidFill>
                  <a:srgbClr val="FF3300"/>
                </a:solidFill>
              </a:rPr>
              <a:t>abstact</a:t>
            </a:r>
            <a:r>
              <a:rPr lang="en-US" altLang="ro-RO" sz="2000" dirty="0" smtClean="0">
                <a:solidFill>
                  <a:srgbClr val="FF3300"/>
                </a:solidFill>
              </a:rPr>
              <a:t> void </a:t>
            </a:r>
            <a:r>
              <a:rPr lang="en-US" altLang="ro-RO" sz="2000" dirty="0" err="1" smtClean="0">
                <a:solidFill>
                  <a:srgbClr val="FF3300"/>
                </a:solidFill>
              </a:rPr>
              <a:t>Marcheaz</a:t>
            </a:r>
            <a:r>
              <a:rPr lang="ro-RO" altLang="ro-RO" sz="2000" dirty="0" err="1" smtClean="0">
                <a:solidFill>
                  <a:srgbClr val="FF3300"/>
                </a:solidFill>
              </a:rPr>
              <a:t>ăTeritoriul</a:t>
            </a:r>
            <a:r>
              <a:rPr lang="ro-RO" altLang="ro-RO" sz="2000" dirty="0" smtClean="0">
                <a:solidFill>
                  <a:srgbClr val="FF3300"/>
                </a:solidFill>
              </a:rPr>
              <a:t>()</a:t>
            </a:r>
            <a:endParaRPr lang="en-US" altLang="ro-RO" sz="2000" dirty="0" smtClean="0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o-RO" sz="2000" dirty="0" smtClean="0">
                <a:solidFill>
                  <a:srgbClr val="FF3300"/>
                </a:solidFill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o-RO" altLang="ro-RO" sz="2000" dirty="0" smtClean="0"/>
              <a:t>public </a:t>
            </a:r>
            <a:r>
              <a:rPr lang="ro-RO" altLang="ro-RO" sz="2000" dirty="0" err="1" smtClean="0"/>
              <a:t>class</a:t>
            </a:r>
            <a:r>
              <a:rPr lang="ro-RO" altLang="ro-RO" sz="2000" dirty="0" smtClean="0"/>
              <a:t> Om </a:t>
            </a:r>
            <a:r>
              <a:rPr lang="ro-RO" altLang="ro-RO" sz="2000" dirty="0" err="1" smtClean="0"/>
              <a:t>extends</a:t>
            </a:r>
            <a:r>
              <a:rPr lang="ro-RO" altLang="ro-RO" sz="2000" dirty="0" smtClean="0"/>
              <a:t> Mamifer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o-RO" sz="2000" dirty="0" smtClean="0"/>
              <a:t>{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o-RO" sz="2000" dirty="0" smtClean="0"/>
              <a:t>public void </a:t>
            </a:r>
            <a:r>
              <a:rPr lang="en-US" altLang="ro-RO" sz="2000" dirty="0" err="1" smtClean="0"/>
              <a:t>Marchea</a:t>
            </a:r>
            <a:r>
              <a:rPr lang="ro-RO" altLang="ro-RO" sz="2000" dirty="0" err="1" smtClean="0"/>
              <a:t>zăTeritoriul</a:t>
            </a:r>
            <a:r>
              <a:rPr lang="ro-RO" altLang="ro-RO" sz="2000" dirty="0" smtClean="0"/>
              <a:t>()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o-RO" sz="2000" dirty="0" smtClean="0"/>
              <a:t>{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o-RO" sz="2000" dirty="0" smtClean="0"/>
              <a:t>// </a:t>
            </a:r>
            <a:r>
              <a:rPr lang="en-US" altLang="ro-RO" sz="2000" dirty="0" err="1" smtClean="0"/>
              <a:t>construie</a:t>
            </a:r>
            <a:r>
              <a:rPr lang="ro-RO" altLang="ro-RO" sz="2000" dirty="0" err="1" smtClean="0"/>
              <a:t>şte</a:t>
            </a:r>
            <a:r>
              <a:rPr lang="ro-RO" altLang="ro-RO" sz="2000" dirty="0" smtClean="0"/>
              <a:t> un gard</a:t>
            </a:r>
            <a:endParaRPr lang="en-US" altLang="ro-RO" sz="2000" dirty="0" smtClean="0"/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o-RO" sz="2000" dirty="0" smtClean="0"/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o-RO" sz="2000" dirty="0" smtClean="0"/>
              <a:t>}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5267325" y="2921000"/>
            <a:ext cx="4857750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>
            <a:spAutoFit/>
          </a:bodyPr>
          <a:lstStyle>
            <a:lvl1pPr defTabSz="100806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03238" defTabSz="100806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08063" defTabSz="100806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0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0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ro-RO" altLang="ro-RO" sz="2000">
                <a:latin typeface="Times New Roman" panose="02020603050405020304" pitchFamily="18" charset="0"/>
              </a:rPr>
              <a:t>public class GolanDeCartier extends Mamifer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ro-RO" sz="2000">
                <a:latin typeface="Times New Roman" panose="02020603050405020304" pitchFamily="18" charset="0"/>
              </a:rPr>
              <a:t>{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ro-RO" sz="2000">
                <a:latin typeface="Times New Roman" panose="02020603050405020304" pitchFamily="18" charset="0"/>
              </a:rPr>
              <a:t>public void Marchea</a:t>
            </a:r>
            <a:r>
              <a:rPr kumimoji="1" lang="ro-RO" altLang="ro-RO" sz="2000">
                <a:latin typeface="Times New Roman" panose="02020603050405020304" pitchFamily="18" charset="0"/>
              </a:rPr>
              <a:t>zăTeritoriul()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ro-RO" sz="2000">
                <a:latin typeface="Times New Roman" panose="02020603050405020304" pitchFamily="18" charset="0"/>
              </a:rPr>
              <a:t>{// desenează pe pereţi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ro-RO" sz="2000">
                <a:latin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ro-RO" sz="2000">
                <a:latin typeface="Times New Roman" panose="02020603050405020304" pitchFamily="18" charset="0"/>
              </a:rPr>
              <a:t>}</a:t>
            </a:r>
            <a:endParaRPr kumimoji="1" lang="ro-RO" altLang="ro-RO" sz="20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ro-RO" altLang="ro-RO" sz="2000">
                <a:latin typeface="Times New Roman" panose="02020603050405020304" pitchFamily="18" charset="0"/>
              </a:rPr>
              <a:t>public class Câine extends Mamifer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ro-RO" sz="2000">
                <a:latin typeface="Times New Roman" panose="02020603050405020304" pitchFamily="18" charset="0"/>
              </a:rPr>
              <a:t>{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ro-RO" sz="2000">
                <a:latin typeface="Times New Roman" panose="02020603050405020304" pitchFamily="18" charset="0"/>
              </a:rPr>
              <a:t>public void Marchea</a:t>
            </a:r>
            <a:r>
              <a:rPr kumimoji="1" lang="ro-RO" altLang="ro-RO" sz="2000">
                <a:latin typeface="Times New Roman" panose="02020603050405020304" pitchFamily="18" charset="0"/>
              </a:rPr>
              <a:t>zăTeritoriul()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ro-RO" sz="2000">
                <a:latin typeface="Times New Roman" panose="02020603050405020304" pitchFamily="18" charset="0"/>
              </a:rPr>
              <a:t>{// ştie toată lumea cum...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ro-RO" sz="2000">
                <a:latin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ro-RO" sz="2000">
                <a:latin typeface="Times New Roman" panose="02020603050405020304" pitchFamily="18" charset="0"/>
              </a:rPr>
              <a:t>}</a:t>
            </a:r>
            <a:endParaRPr kumimoji="1" lang="ro-RO" altLang="ro-RO" sz="20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1" lang="ro-RO" altLang="ro-RO" sz="2000">
              <a:latin typeface="Times New Roman" panose="02020603050405020304" pitchFamily="18" charset="0"/>
            </a:endParaRP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07137" y="1873250"/>
            <a:ext cx="9491663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>
            <a:spAutoFit/>
          </a:bodyPr>
          <a:lstStyle>
            <a:lvl1pPr defTabSz="100806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06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06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0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0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ro-RO" altLang="ro-RO" dirty="0"/>
              <a:t>Iată un exemplu de particularizări posibile pornind de la un model general:</a:t>
            </a:r>
            <a:endParaRPr lang="ro-RO" altLang="ro-RO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90575" y="439738"/>
            <a:ext cx="8824913" cy="1260475"/>
          </a:xfrm>
          <a:noFill/>
        </p:spPr>
        <p:txBody>
          <a:bodyPr lIns="101494" tIns="50748" rIns="101494" bIns="50748"/>
          <a:lstStyle/>
          <a:p>
            <a:pPr eaLnBrk="1" hangingPunct="1"/>
            <a:r>
              <a:rPr lang="en-US" altLang="ro-RO" smtClean="0"/>
              <a:t>Modificator de tip - Abstract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34963" y="1958975"/>
            <a:ext cx="9575800" cy="3945922"/>
          </a:xfrm>
          <a:noFill/>
        </p:spPr>
        <p:txBody>
          <a:bodyPr lIns="101494" tIns="50748" rIns="101494" bIns="50748"/>
          <a:lstStyle/>
          <a:p>
            <a:pPr eaLnBrk="1" hangingPunct="1">
              <a:lnSpc>
                <a:spcPct val="90000"/>
              </a:lnSpc>
            </a:pPr>
            <a:r>
              <a:rPr lang="en-US" altLang="ro-RO" sz="2800" dirty="0" err="1" smtClean="0"/>
              <a:t>Acest</a:t>
            </a:r>
            <a:r>
              <a:rPr lang="en-US" altLang="ro-RO" sz="2800" dirty="0" smtClean="0"/>
              <a:t> tip de </a:t>
            </a:r>
            <a:r>
              <a:rPr lang="en-US" altLang="ro-RO" sz="2800" dirty="0" err="1" smtClean="0"/>
              <a:t>clasă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respectă</a:t>
            </a:r>
            <a:r>
              <a:rPr lang="en-US" altLang="ro-RO" sz="2800" dirty="0" smtClean="0"/>
              <a:t> o </a:t>
            </a:r>
            <a:r>
              <a:rPr lang="en-US" altLang="ro-RO" sz="2800" dirty="0" err="1" smtClean="0"/>
              <a:t>serie</a:t>
            </a:r>
            <a:r>
              <a:rPr lang="en-US" altLang="ro-RO" sz="2800" dirty="0" smtClean="0"/>
              <a:t> de </a:t>
            </a:r>
            <a:r>
              <a:rPr lang="en-US" altLang="ro-RO" sz="2800" dirty="0" err="1" smtClean="0"/>
              <a:t>reguli</a:t>
            </a:r>
            <a:r>
              <a:rPr lang="en-US" altLang="ro-RO" sz="2800" dirty="0" smtClean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ro-RO" sz="2800" dirty="0" smtClean="0"/>
              <a:t>din </a:t>
            </a:r>
            <a:r>
              <a:rPr lang="en-US" altLang="ro-RO" sz="2800" dirty="0" err="1" smtClean="0"/>
              <a:t>ea</a:t>
            </a:r>
            <a:r>
              <a:rPr lang="en-US" altLang="ro-RO" sz="2800" dirty="0" smtClean="0"/>
              <a:t> nu se </a:t>
            </a:r>
            <a:r>
              <a:rPr lang="en-US" altLang="ro-RO" sz="2800" dirty="0" err="1" smtClean="0"/>
              <a:t>poate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instantia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nici</a:t>
            </a:r>
            <a:r>
              <a:rPr lang="en-US" altLang="ro-RO" sz="2800" dirty="0" smtClean="0"/>
              <a:t> un </a:t>
            </a:r>
            <a:r>
              <a:rPr lang="en-US" altLang="ro-RO" sz="2800" dirty="0" err="1" smtClean="0"/>
              <a:t>obiect</a:t>
            </a:r>
            <a:endParaRPr lang="en-US" altLang="ro-RO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ro-RO" sz="2800" dirty="0" err="1" smtClean="0"/>
              <a:t>trebuie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să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conţină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cel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puţin</a:t>
            </a:r>
            <a:r>
              <a:rPr lang="en-US" altLang="ro-RO" sz="2800" dirty="0" smtClean="0"/>
              <a:t> o </a:t>
            </a:r>
            <a:r>
              <a:rPr lang="en-US" altLang="ro-RO" sz="2800" dirty="0" err="1" smtClean="0"/>
              <a:t>declaraţie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variabilă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sau</a:t>
            </a:r>
            <a:r>
              <a:rPr lang="en-US" altLang="ro-RO" sz="2800" dirty="0" smtClean="0"/>
              <a:t> de </a:t>
            </a:r>
            <a:r>
              <a:rPr lang="en-US" altLang="ro-RO" sz="2800" dirty="0" err="1" smtClean="0"/>
              <a:t>metodă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abstractă</a:t>
            </a:r>
            <a:endParaRPr lang="en-US" altLang="ro-RO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ro-RO" sz="2800" dirty="0" err="1" smtClean="0"/>
              <a:t>Toate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metodele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abstracte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trebuie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să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conţină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implementări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efective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în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clasele</a:t>
            </a:r>
            <a:r>
              <a:rPr lang="en-US" altLang="ro-RO" sz="2800" dirty="0" smtClean="0"/>
              <a:t> derivate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ro-RO" sz="2800" dirty="0" smtClean="0"/>
              <a:t>Nu pot fi </a:t>
            </a:r>
            <a:r>
              <a:rPr lang="en-US" altLang="ro-RO" sz="2800" dirty="0" err="1" smtClean="0"/>
              <a:t>declarate</a:t>
            </a:r>
            <a:r>
              <a:rPr lang="en-US" altLang="ro-RO" sz="2800" dirty="0" smtClean="0"/>
              <a:t> ca de tip final </a:t>
            </a:r>
            <a:r>
              <a:rPr lang="en-US" altLang="ro-RO" sz="2800" dirty="0" err="1" smtClean="0"/>
              <a:t>sau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privat</a:t>
            </a:r>
            <a:endParaRPr lang="en-US" altLang="ro-RO" sz="2800" dirty="0" smtClean="0"/>
          </a:p>
          <a:p>
            <a:pPr eaLnBrk="1" hangingPunct="1"/>
            <a:endParaRPr lang="en-US" altLang="ro-RO" sz="2800" dirty="0" smtClean="0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673100" y="4116388"/>
            <a:ext cx="6719888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494" tIns="50748" rIns="101494" bIns="50748" anchor="ctr"/>
          <a:lstStyle>
            <a:lvl1pPr defTabSz="100806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06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06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0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0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o-RO" sz="46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168275" y="5124450"/>
            <a:ext cx="9409113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494" tIns="50748" rIns="101494" bIns="50748"/>
          <a:lstStyle>
            <a:lvl1pPr marL="377825" indent="-377825" defTabSz="100806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06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06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0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0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endParaRPr lang="en-US" altLang="ro-RO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Modificator de tip - final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258928" y="2034580"/>
            <a:ext cx="8964846" cy="4435009"/>
          </a:xfrm>
        </p:spPr>
        <p:txBody>
          <a:bodyPr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ro-RO" sz="2400" dirty="0" smtClean="0"/>
              <a:t>Au </a:t>
            </a:r>
            <a:r>
              <a:rPr lang="en-US" altLang="ro-RO" sz="2400" dirty="0" err="1" smtClean="0"/>
              <a:t>apărut</a:t>
            </a:r>
            <a:r>
              <a:rPr lang="en-US" altLang="ro-RO" sz="2400" dirty="0" smtClean="0"/>
              <a:t> din </a:t>
            </a:r>
            <a:r>
              <a:rPr lang="en-US" altLang="ro-RO" sz="2400" dirty="0" err="1" smtClean="0"/>
              <a:t>necesitatea</a:t>
            </a:r>
            <a:r>
              <a:rPr lang="en-US" altLang="ro-RO" sz="2400" dirty="0" smtClean="0"/>
              <a:t> de a </a:t>
            </a:r>
            <a:r>
              <a:rPr lang="en-US" altLang="ro-RO" sz="2400" dirty="0" err="1" smtClean="0"/>
              <a:t>menţine</a:t>
            </a:r>
            <a:r>
              <a:rPr lang="en-US" altLang="ro-RO" sz="2400" dirty="0" smtClean="0"/>
              <a:t> sub control </a:t>
            </a:r>
            <a:r>
              <a:rPr lang="en-US" altLang="ro-RO" sz="2400" dirty="0" err="1" smtClean="0"/>
              <a:t>devoltarea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modelelor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peste</a:t>
            </a:r>
            <a:r>
              <a:rPr lang="en-US" altLang="ro-RO" sz="2400" dirty="0" smtClean="0"/>
              <a:t> o </a:t>
            </a:r>
            <a:r>
              <a:rPr lang="en-US" altLang="ro-RO" sz="2400" dirty="0" err="1" smtClean="0"/>
              <a:t>anumită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dimensiune</a:t>
            </a:r>
            <a:r>
              <a:rPr lang="en-US" altLang="ro-RO" sz="2400" dirty="0" smtClean="0"/>
              <a:t>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ro-RO" sz="2400" dirty="0" smtClean="0"/>
              <a:t>O </a:t>
            </a:r>
            <a:r>
              <a:rPr lang="en-US" altLang="ro-RO" sz="2400" dirty="0" err="1" smtClean="0"/>
              <a:t>clasă</a:t>
            </a:r>
            <a:r>
              <a:rPr lang="en-US" altLang="ro-RO" sz="2400" dirty="0" smtClean="0"/>
              <a:t> de </a:t>
            </a:r>
            <a:r>
              <a:rPr lang="en-US" altLang="ro-RO" sz="2400" dirty="0" err="1" smtClean="0"/>
              <a:t>acest</a:t>
            </a:r>
            <a:r>
              <a:rPr lang="en-US" altLang="ro-RO" sz="2400" dirty="0" smtClean="0"/>
              <a:t> tip se </a:t>
            </a:r>
            <a:r>
              <a:rPr lang="en-US" altLang="ro-RO" sz="2400" dirty="0" err="1" smtClean="0"/>
              <a:t>consideră</a:t>
            </a:r>
            <a:r>
              <a:rPr lang="en-US" altLang="ro-RO" sz="2400" dirty="0" smtClean="0"/>
              <a:t> a fi ultima </a:t>
            </a:r>
            <a:r>
              <a:rPr lang="en-US" altLang="ro-RO" sz="2400" dirty="0" err="1" smtClean="0"/>
              <a:t>derivată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şi</a:t>
            </a:r>
            <a:r>
              <a:rPr lang="en-US" altLang="ro-RO" sz="2400" dirty="0" smtClean="0"/>
              <a:t> nu </a:t>
            </a:r>
            <a:r>
              <a:rPr lang="en-US" altLang="ro-RO" sz="2400" dirty="0" err="1" smtClean="0"/>
              <a:t>mai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poate</a:t>
            </a:r>
            <a:r>
              <a:rPr lang="en-US" altLang="ro-RO" sz="2400" dirty="0" smtClean="0"/>
              <a:t> fi </a:t>
            </a:r>
            <a:r>
              <a:rPr lang="en-US" altLang="ro-RO" sz="2400" dirty="0" err="1" smtClean="0"/>
              <a:t>extinsă</a:t>
            </a:r>
            <a:r>
              <a:rPr lang="en-US" altLang="ro-RO" sz="2400" dirty="0" smtClean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ro-RO" sz="2400" b="1" dirty="0" smtClean="0"/>
              <a:t>final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aplicat</a:t>
            </a:r>
            <a:r>
              <a:rPr lang="en-US" altLang="ro-RO" sz="2400" dirty="0" smtClean="0"/>
              <a:t> la o </a:t>
            </a:r>
            <a:r>
              <a:rPr lang="en-US" altLang="ro-RO" sz="2400" dirty="0" err="1" smtClean="0"/>
              <a:t>variabila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sau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atribut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il</a:t>
            </a:r>
            <a:r>
              <a:rPr lang="en-US" altLang="ro-RO" sz="2400" dirty="0" smtClean="0"/>
              <a:t> face constant; </a:t>
            </a:r>
            <a:r>
              <a:rPr lang="en-US" altLang="ro-RO" sz="2400" dirty="0" err="1" smtClean="0"/>
              <a:t>dupa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ce</a:t>
            </a:r>
            <a:r>
              <a:rPr lang="en-US" altLang="ro-RO" sz="2400" dirty="0" smtClean="0"/>
              <a:t> a </a:t>
            </a:r>
            <a:r>
              <a:rPr lang="en-US" altLang="ro-RO" sz="2400" dirty="0" err="1" smtClean="0"/>
              <a:t>primit</a:t>
            </a:r>
            <a:r>
              <a:rPr lang="en-US" altLang="ro-RO" sz="2400" dirty="0" smtClean="0"/>
              <a:t> o </a:t>
            </a:r>
            <a:r>
              <a:rPr lang="en-US" altLang="ro-RO" sz="2400" dirty="0" err="1" smtClean="0"/>
              <a:t>valoare</a:t>
            </a:r>
            <a:r>
              <a:rPr lang="en-US" altLang="ro-RO" sz="2400" dirty="0" smtClean="0"/>
              <a:t> nu </a:t>
            </a:r>
            <a:r>
              <a:rPr lang="en-US" altLang="ro-RO" sz="2400" dirty="0" err="1" smtClean="0"/>
              <a:t>mai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poate</a:t>
            </a:r>
            <a:r>
              <a:rPr lang="en-US" altLang="ro-RO" sz="2400" dirty="0" smtClean="0"/>
              <a:t> fi </a:t>
            </a:r>
            <a:r>
              <a:rPr lang="en-US" altLang="ro-RO" sz="2400" dirty="0" err="1" smtClean="0"/>
              <a:t>modificat</a:t>
            </a:r>
            <a:endParaRPr lang="en-US" altLang="ro-RO" sz="2400" dirty="0" smtClean="0"/>
          </a:p>
          <a:p>
            <a:pPr eaLnBrk="1" hangingPunct="1">
              <a:lnSpc>
                <a:spcPct val="80000"/>
              </a:lnSpc>
            </a:pPr>
            <a:endParaRPr lang="en-US" altLang="ro-RO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ro-RO" sz="2400" b="1" dirty="0" smtClean="0"/>
              <a:t>final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aplicat</a:t>
            </a:r>
            <a:r>
              <a:rPr lang="en-US" altLang="ro-RO" sz="2400" dirty="0" smtClean="0"/>
              <a:t> la o </a:t>
            </a:r>
            <a:r>
              <a:rPr lang="en-US" altLang="ro-RO" sz="2400" dirty="0" err="1" smtClean="0"/>
              <a:t>metoda</a:t>
            </a:r>
            <a:r>
              <a:rPr lang="en-US" altLang="ro-RO" sz="2400" dirty="0" smtClean="0"/>
              <a:t> face ca </a:t>
            </a:r>
            <a:r>
              <a:rPr lang="en-US" altLang="ro-RO" sz="2400" dirty="0" err="1" smtClean="0"/>
              <a:t>metoda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sa</a:t>
            </a:r>
            <a:r>
              <a:rPr lang="en-US" altLang="ro-RO" sz="2400" dirty="0" smtClean="0"/>
              <a:t> nu </a:t>
            </a:r>
            <a:r>
              <a:rPr lang="en-US" altLang="ro-RO" sz="2400" dirty="0" err="1" smtClean="0"/>
              <a:t>mai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poate</a:t>
            </a:r>
            <a:r>
              <a:rPr lang="en-US" altLang="ro-RO" sz="2400" dirty="0" smtClean="0"/>
              <a:t> fi </a:t>
            </a:r>
            <a:r>
              <a:rPr lang="en-US" altLang="ro-RO" sz="2400" dirty="0" err="1" smtClean="0"/>
              <a:t>redefinita</a:t>
            </a:r>
            <a:endParaRPr lang="en-US" altLang="ro-RO" sz="2400" dirty="0" smtClean="0"/>
          </a:p>
          <a:p>
            <a:pPr eaLnBrk="1" hangingPunct="1">
              <a:lnSpc>
                <a:spcPct val="80000"/>
              </a:lnSpc>
            </a:pPr>
            <a:endParaRPr lang="en-US" altLang="ro-RO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ro-RO" sz="2400" b="1" dirty="0" smtClean="0"/>
              <a:t>final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aplicat</a:t>
            </a:r>
            <a:r>
              <a:rPr lang="en-US" altLang="ro-RO" sz="2400" dirty="0" smtClean="0"/>
              <a:t> la o </a:t>
            </a:r>
            <a:r>
              <a:rPr lang="en-US" altLang="ro-RO" sz="2400" b="1" dirty="0" err="1" smtClean="0"/>
              <a:t>clasa</a:t>
            </a:r>
            <a:r>
              <a:rPr lang="en-US" altLang="ro-RO" sz="2400" dirty="0" smtClean="0"/>
              <a:t> face ca </a:t>
            </a:r>
            <a:r>
              <a:rPr lang="en-US" altLang="ro-RO" sz="2400" dirty="0" err="1" smtClean="0"/>
              <a:t>sa</a:t>
            </a:r>
            <a:r>
              <a:rPr lang="en-US" altLang="ro-RO" sz="2400" dirty="0" smtClean="0"/>
              <a:t> nu se </a:t>
            </a:r>
            <a:r>
              <a:rPr lang="en-US" altLang="ro-RO" sz="2400" dirty="0" err="1" smtClean="0"/>
              <a:t>mai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poate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deriva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alte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clase</a:t>
            </a:r>
            <a:r>
              <a:rPr lang="en-US" altLang="ro-RO" sz="2400" dirty="0" smtClean="0"/>
              <a:t> din </a:t>
            </a:r>
            <a:r>
              <a:rPr lang="en-US" altLang="ro-RO" sz="2400" dirty="0" err="1" smtClean="0"/>
              <a:t>ea</a:t>
            </a:r>
            <a:endParaRPr lang="en-US" altLang="ro-RO" sz="2400" dirty="0" smtClean="0"/>
          </a:p>
          <a:p>
            <a:pPr eaLnBrk="1" hangingPunct="1">
              <a:lnSpc>
                <a:spcPct val="80000"/>
              </a:lnSpc>
            </a:pPr>
            <a:endParaRPr lang="en-US" altLang="ro-RO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927" y="315928"/>
            <a:ext cx="8964845" cy="1599191"/>
          </a:xfrm>
        </p:spPr>
        <p:txBody>
          <a:bodyPr/>
          <a:lstStyle/>
          <a:p>
            <a:pPr marL="1439863" eaLnBrk="1" hangingPunct="1"/>
            <a:r>
              <a:rPr lang="en-US" altLang="ro-RO" dirty="0" err="1" smtClean="0"/>
              <a:t>Constuctorii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si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mostenirea</a:t>
            </a:r>
            <a:endParaRPr lang="en-US" altLang="ro-RO" dirty="0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ro-RO" sz="3200" smtClean="0"/>
              <a:t>Constructorii nu sunt mosteniti ca celelalte functii</a:t>
            </a:r>
          </a:p>
          <a:p>
            <a:pPr eaLnBrk="1" hangingPunct="1"/>
            <a:r>
              <a:rPr lang="en-GB" altLang="ro-RO" sz="3200" smtClean="0"/>
              <a:t>Atunci cand nu se declara nici un constructor, compilatorul insereaza un constructor default (null constructor)</a:t>
            </a:r>
          </a:p>
          <a:p>
            <a:pPr eaLnBrk="1" hangingPunct="1"/>
            <a:r>
              <a:rPr lang="en-GB" altLang="ro-RO" sz="3200" smtClean="0"/>
              <a:t>Daca se declara cel putin un constructor, nu se mai genereaza automat null constructor</a:t>
            </a:r>
          </a:p>
          <a:p>
            <a:pPr eaLnBrk="1" hangingPunct="1"/>
            <a:r>
              <a:rPr lang="en-GB" altLang="ro-RO" sz="3200" smtClean="0"/>
              <a:t>Constructorii sunt supraincarcati (overloaded – mai multi constuctori cu acelasi nume)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34822" y="516352"/>
            <a:ext cx="8803820" cy="1138425"/>
          </a:xfrm>
        </p:spPr>
        <p:txBody>
          <a:bodyPr/>
          <a:lstStyle/>
          <a:p>
            <a:pPr marL="1439863" eaLnBrk="1" hangingPunct="1"/>
            <a:r>
              <a:rPr lang="en-US" altLang="ro-RO" dirty="0" err="1" smtClean="0"/>
              <a:t>Constuctorii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si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mostenirea</a:t>
            </a:r>
            <a:endParaRPr lang="en-US" altLang="ro-RO" dirty="0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GB" altLang="ro-RO" sz="2800" dirty="0" smtClean="0"/>
              <a:t>Prima data se </a:t>
            </a:r>
            <a:r>
              <a:rPr lang="en-GB" altLang="ro-RO" sz="2800" dirty="0" err="1" smtClean="0"/>
              <a:t>apeleaza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constructorul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superclasei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si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apoi</a:t>
            </a:r>
            <a:r>
              <a:rPr lang="en-GB" altLang="ro-RO" sz="2800" dirty="0" smtClean="0"/>
              <a:t> al </a:t>
            </a:r>
            <a:r>
              <a:rPr lang="en-GB" altLang="ro-RO" sz="2800" dirty="0" err="1" smtClean="0"/>
              <a:t>subclasei</a:t>
            </a:r>
            <a:endParaRPr lang="en-GB" altLang="ro-RO" sz="2800" dirty="0" smtClean="0"/>
          </a:p>
          <a:p>
            <a:pPr eaLnBrk="1" hangingPunct="1"/>
            <a:r>
              <a:rPr lang="en-GB" altLang="ro-RO" sz="2800" dirty="0" smtClean="0"/>
              <a:t>In </a:t>
            </a:r>
            <a:r>
              <a:rPr lang="en-GB" altLang="ro-RO" sz="2800" dirty="0" err="1" smtClean="0"/>
              <a:t>constructorul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unei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subclase</a:t>
            </a:r>
            <a:r>
              <a:rPr lang="en-GB" altLang="ro-RO" sz="2800" dirty="0" smtClean="0"/>
              <a:t> prima </a:t>
            </a:r>
            <a:r>
              <a:rPr lang="en-GB" altLang="ro-RO" sz="2800" dirty="0" err="1" smtClean="0"/>
              <a:t>linie</a:t>
            </a:r>
            <a:r>
              <a:rPr lang="en-GB" altLang="ro-RO" sz="2800" dirty="0" smtClean="0"/>
              <a:t> de cod </a:t>
            </a:r>
            <a:r>
              <a:rPr lang="en-GB" altLang="ro-RO" sz="2800" dirty="0" err="1" smtClean="0"/>
              <a:t>poate</a:t>
            </a:r>
            <a:r>
              <a:rPr lang="en-GB" altLang="ro-RO" sz="2800" dirty="0" smtClean="0"/>
              <a:t> fi un </a:t>
            </a:r>
            <a:r>
              <a:rPr lang="en-GB" altLang="ro-RO" sz="2800" dirty="0" err="1" smtClean="0"/>
              <a:t>apel</a:t>
            </a:r>
            <a:r>
              <a:rPr lang="en-GB" altLang="ro-RO" sz="2800" dirty="0" smtClean="0"/>
              <a:t> la un constructor din </a:t>
            </a:r>
            <a:r>
              <a:rPr lang="en-GB" altLang="ro-RO" sz="2800" dirty="0" err="1" smtClean="0"/>
              <a:t>clasa</a:t>
            </a:r>
            <a:r>
              <a:rPr lang="en-GB" altLang="ro-RO" sz="2800" dirty="0" smtClean="0"/>
              <a:t> de </a:t>
            </a:r>
            <a:r>
              <a:rPr lang="en-GB" altLang="ro-RO" sz="2800" dirty="0" err="1" smtClean="0"/>
              <a:t>baza</a:t>
            </a:r>
            <a:r>
              <a:rPr lang="en-GB" altLang="ro-RO" sz="2800" dirty="0" smtClean="0"/>
              <a:t>, de forma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ro-RO" sz="2800" b="1" dirty="0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ro-RO" sz="2800" b="1" dirty="0" smtClean="0">
                <a:latin typeface="Courier New" panose="02070309020205020404" pitchFamily="49" charset="0"/>
              </a:rPr>
              <a:t> super(&lt;</a:t>
            </a:r>
            <a:r>
              <a:rPr lang="en-GB" altLang="ro-RO" sz="2800" b="1" dirty="0" err="1" smtClean="0">
                <a:latin typeface="Courier New" panose="02070309020205020404" pitchFamily="49" charset="0"/>
              </a:rPr>
              <a:t>argumente</a:t>
            </a:r>
            <a:r>
              <a:rPr lang="en-GB" altLang="ro-RO" sz="2800" b="1" dirty="0" smtClean="0">
                <a:latin typeface="Courier New" panose="02070309020205020404" pitchFamily="49" charset="0"/>
              </a:rPr>
              <a:t>&gt;);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ro-RO" sz="2800" b="1" dirty="0" smtClean="0"/>
          </a:p>
          <a:p>
            <a:pPr eaLnBrk="1" hangingPunct="1"/>
            <a:r>
              <a:rPr lang="en-GB" altLang="ro-RO" sz="2800" dirty="0" err="1" smtClean="0"/>
              <a:t>Daca</a:t>
            </a:r>
            <a:r>
              <a:rPr lang="en-GB" altLang="ro-RO" sz="2800" dirty="0" smtClean="0"/>
              <a:t> nu </a:t>
            </a:r>
            <a:r>
              <a:rPr lang="en-GB" altLang="ro-RO" sz="2800" dirty="0" err="1" smtClean="0"/>
              <a:t>exista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aceasta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linie</a:t>
            </a:r>
            <a:r>
              <a:rPr lang="en-GB" altLang="ro-RO" sz="2800" dirty="0" smtClean="0"/>
              <a:t> se </a:t>
            </a:r>
            <a:r>
              <a:rPr lang="en-GB" altLang="ro-RO" sz="2800" dirty="0" err="1" smtClean="0"/>
              <a:t>apeleaza</a:t>
            </a:r>
            <a:r>
              <a:rPr lang="en-GB" altLang="ro-RO" sz="2800" dirty="0" smtClean="0"/>
              <a:t> automat </a:t>
            </a:r>
            <a:r>
              <a:rPr lang="en-GB" altLang="ro-RO" sz="2800" dirty="0" err="1" smtClean="0"/>
              <a:t>constructorul</a:t>
            </a:r>
            <a:r>
              <a:rPr lang="en-GB" altLang="ro-RO" sz="2800" dirty="0" smtClean="0"/>
              <a:t> default al </a:t>
            </a:r>
            <a:r>
              <a:rPr lang="en-GB" altLang="ro-RO" sz="2800" dirty="0" err="1" smtClean="0"/>
              <a:t>clasei</a:t>
            </a:r>
            <a:r>
              <a:rPr lang="en-GB" altLang="ro-RO" sz="2800" dirty="0" smtClean="0"/>
              <a:t> de </a:t>
            </a:r>
            <a:r>
              <a:rPr lang="en-GB" altLang="ro-RO" sz="2800" dirty="0" err="1" smtClean="0"/>
              <a:t>baza</a:t>
            </a:r>
            <a:r>
              <a:rPr lang="en-GB" altLang="ro-RO" sz="2800" dirty="0" smtClean="0"/>
              <a:t> </a:t>
            </a:r>
            <a:r>
              <a:rPr lang="en-GB" altLang="ro-RO" sz="2800" dirty="0" err="1" smtClean="0"/>
              <a:t>daca</a:t>
            </a:r>
            <a:r>
              <a:rPr lang="en-GB" altLang="ro-RO" sz="2800" dirty="0" smtClean="0"/>
              <a:t> el </a:t>
            </a:r>
            <a:r>
              <a:rPr lang="en-GB" altLang="ro-RO" sz="2800" dirty="0" err="1" smtClean="0"/>
              <a:t>exista</a:t>
            </a:r>
            <a:endParaRPr lang="en-GB" altLang="ro-RO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Interfete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ro-RO" sz="3600" dirty="0" smtClean="0"/>
              <a:t>O </a:t>
            </a:r>
            <a:r>
              <a:rPr lang="en-US" altLang="ro-RO" sz="3600" b="1" dirty="0" err="1" smtClean="0"/>
              <a:t>interfata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este</a:t>
            </a:r>
            <a:r>
              <a:rPr lang="en-US" altLang="ro-RO" sz="3600" dirty="0" smtClean="0"/>
              <a:t> o </a:t>
            </a:r>
            <a:r>
              <a:rPr lang="en-US" altLang="ro-RO" sz="3600" dirty="0" smtClean="0"/>
              <a:t>pseudo-</a:t>
            </a:r>
            <a:r>
              <a:rPr lang="en-US" altLang="ro-RO" sz="3600" dirty="0" err="1" smtClean="0"/>
              <a:t>clasa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complet</a:t>
            </a:r>
            <a:r>
              <a:rPr lang="en-US" altLang="ro-RO" sz="3600" dirty="0" smtClean="0"/>
              <a:t> </a:t>
            </a:r>
            <a:r>
              <a:rPr lang="en-US" altLang="ro-RO" sz="3600" dirty="0" smtClean="0"/>
              <a:t>abstract</a:t>
            </a:r>
            <a:r>
              <a:rPr lang="ro-RO" altLang="ro-RO" sz="3600" dirty="0" smtClean="0"/>
              <a:t>ă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si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poate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contine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doar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metode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abstracte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si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constate</a:t>
            </a:r>
            <a:endParaRPr lang="en-US" altLang="ro-RO" sz="3600" dirty="0" smtClean="0"/>
          </a:p>
          <a:p>
            <a:pPr eaLnBrk="1" hangingPunct="1"/>
            <a:r>
              <a:rPr lang="en-US" altLang="ro-RO" sz="3600" dirty="0" smtClean="0"/>
              <a:t>O </a:t>
            </a:r>
            <a:r>
              <a:rPr lang="en-US" altLang="ro-RO" sz="3600" dirty="0" err="1" smtClean="0"/>
              <a:t>interfata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este</a:t>
            </a:r>
            <a:r>
              <a:rPr lang="en-US" altLang="ro-RO" sz="3600" dirty="0" smtClean="0"/>
              <a:t> un </a:t>
            </a:r>
            <a:r>
              <a:rPr lang="en-US" altLang="ro-RO" sz="3600" b="1" dirty="0" smtClean="0"/>
              <a:t>contract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pe</a:t>
            </a:r>
            <a:r>
              <a:rPr lang="en-US" altLang="ro-RO" sz="3600" dirty="0" smtClean="0"/>
              <a:t> care </a:t>
            </a:r>
            <a:r>
              <a:rPr lang="en-US" altLang="ro-RO" sz="3600" dirty="0" err="1" smtClean="0"/>
              <a:t>alte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clase</a:t>
            </a:r>
            <a:r>
              <a:rPr lang="en-US" altLang="ro-RO" sz="3600" dirty="0" smtClean="0"/>
              <a:t> se </a:t>
            </a:r>
            <a:r>
              <a:rPr lang="en-US" altLang="ro-RO" sz="3600" dirty="0" err="1" smtClean="0"/>
              <a:t>angajeaza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sa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il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implementeze</a:t>
            </a:r>
            <a:endParaRPr lang="en-US" altLang="ro-RO" sz="3600" dirty="0" smtClean="0"/>
          </a:p>
          <a:p>
            <a:pPr eaLnBrk="1" hangingPunct="1"/>
            <a:r>
              <a:rPr lang="en-US" altLang="ro-RO" sz="3600" dirty="0" smtClean="0"/>
              <a:t>O </a:t>
            </a:r>
            <a:r>
              <a:rPr lang="en-US" altLang="ro-RO" sz="3600" dirty="0" err="1" smtClean="0"/>
              <a:t>clasa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poate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extinde</a:t>
            </a:r>
            <a:r>
              <a:rPr lang="en-US" altLang="ro-RO" sz="3600" dirty="0" smtClean="0"/>
              <a:t> o </a:t>
            </a:r>
            <a:r>
              <a:rPr lang="en-US" altLang="ro-RO" sz="3600" dirty="0" err="1" smtClean="0"/>
              <a:t>singura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clasa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dar</a:t>
            </a:r>
            <a:r>
              <a:rPr lang="en-US" altLang="ro-RO" sz="3600" dirty="0" smtClean="0"/>
              <a:t> in </a:t>
            </a:r>
            <a:r>
              <a:rPr lang="en-US" altLang="ro-RO" sz="3600" dirty="0" err="1" smtClean="0"/>
              <a:t>acelasi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timp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poate</a:t>
            </a:r>
            <a:r>
              <a:rPr lang="en-US" altLang="ro-RO" sz="3600" dirty="0" smtClean="0"/>
              <a:t> </a:t>
            </a:r>
            <a:r>
              <a:rPr lang="en-US" altLang="ro-RO" sz="3600" b="1" dirty="0" err="1" smtClean="0"/>
              <a:t>implementa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oricate</a:t>
            </a:r>
            <a:r>
              <a:rPr lang="en-US" altLang="ro-RO" sz="3600" dirty="0" smtClean="0"/>
              <a:t> </a:t>
            </a:r>
            <a:r>
              <a:rPr lang="en-US" altLang="ro-RO" sz="3600" dirty="0" err="1" smtClean="0"/>
              <a:t>interfete</a:t>
            </a:r>
            <a:endParaRPr lang="en-US" altLang="ro-RO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063" y="-14288"/>
            <a:ext cx="8569325" cy="974727"/>
          </a:xfrm>
        </p:spPr>
        <p:txBody>
          <a:bodyPr/>
          <a:lstStyle/>
          <a:p>
            <a:pPr marL="1439863" eaLnBrk="1" hangingPunct="1"/>
            <a:r>
              <a:rPr lang="en-US" altLang="ro-RO" dirty="0" err="1" smtClean="0"/>
              <a:t>Interfe</a:t>
            </a:r>
            <a:r>
              <a:rPr lang="ro-RO" altLang="ro-RO" dirty="0" err="1" smtClean="0"/>
              <a:t>ţe</a:t>
            </a:r>
            <a:endParaRPr lang="en-US" altLang="ro-RO" dirty="0" smtClean="0"/>
          </a:p>
        </p:txBody>
      </p:sp>
      <p:sp>
        <p:nvSpPr>
          <p:cNvPr id="46083" name="Text Box 5"/>
          <p:cNvSpPr txBox="1">
            <a:spLocks noChangeArrowheads="1"/>
          </p:cNvSpPr>
          <p:nvPr/>
        </p:nvSpPr>
        <p:spPr bwMode="auto">
          <a:xfrm>
            <a:off x="849313" y="1046163"/>
            <a:ext cx="3352800" cy="26574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Persoana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# nume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# varsta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getNume()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+ getVarsta() : int;</a:t>
            </a:r>
          </a:p>
        </p:txBody>
      </p:sp>
      <p:sp>
        <p:nvSpPr>
          <p:cNvPr id="46084" name="Line 7"/>
          <p:cNvSpPr>
            <a:spLocks noChangeShapeType="1"/>
          </p:cNvSpPr>
          <p:nvPr/>
        </p:nvSpPr>
        <p:spPr bwMode="auto">
          <a:xfrm>
            <a:off x="3978275" y="5600700"/>
            <a:ext cx="3581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85" name="Line 8"/>
          <p:cNvSpPr>
            <a:spLocks noChangeShapeType="1"/>
          </p:cNvSpPr>
          <p:nvPr/>
        </p:nvSpPr>
        <p:spPr bwMode="auto">
          <a:xfrm>
            <a:off x="3978275" y="6208713"/>
            <a:ext cx="3581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86" name="Text Box 9"/>
          <p:cNvSpPr txBox="1">
            <a:spLocks noChangeArrowheads="1"/>
          </p:cNvSpPr>
          <p:nvPr/>
        </p:nvSpPr>
        <p:spPr bwMode="auto">
          <a:xfrm>
            <a:off x="3978275" y="5084763"/>
            <a:ext cx="3581400" cy="2185987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Profesor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grad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getGrad()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setGrad(g : String) : void;</a:t>
            </a:r>
          </a:p>
        </p:txBody>
      </p:sp>
      <p:sp>
        <p:nvSpPr>
          <p:cNvPr id="46087" name="Text Box 11"/>
          <p:cNvSpPr txBox="1">
            <a:spLocks noChangeArrowheads="1"/>
          </p:cNvSpPr>
          <p:nvPr/>
        </p:nvSpPr>
        <p:spPr bwMode="auto">
          <a:xfrm>
            <a:off x="5573713" y="1036638"/>
            <a:ext cx="3352800" cy="26574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Angajat &lt;&lt;Interface&gt;&gt;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# nume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# salar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getNume()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+ getSalar() : int;</a:t>
            </a:r>
          </a:p>
        </p:txBody>
      </p:sp>
      <p:sp>
        <p:nvSpPr>
          <p:cNvPr id="46088" name="Line 12"/>
          <p:cNvSpPr>
            <a:spLocks noChangeShapeType="1"/>
          </p:cNvSpPr>
          <p:nvPr/>
        </p:nvSpPr>
        <p:spPr bwMode="auto">
          <a:xfrm>
            <a:off x="849313" y="15700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89" name="Line 13"/>
          <p:cNvSpPr>
            <a:spLocks noChangeShapeType="1"/>
          </p:cNvSpPr>
          <p:nvPr/>
        </p:nvSpPr>
        <p:spPr bwMode="auto">
          <a:xfrm>
            <a:off x="849313" y="26368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0" name="Line 14"/>
          <p:cNvSpPr>
            <a:spLocks noChangeShapeType="1"/>
          </p:cNvSpPr>
          <p:nvPr/>
        </p:nvSpPr>
        <p:spPr bwMode="auto">
          <a:xfrm>
            <a:off x="5573713" y="14938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1" name="Line 15"/>
          <p:cNvSpPr>
            <a:spLocks noChangeShapeType="1"/>
          </p:cNvSpPr>
          <p:nvPr/>
        </p:nvSpPr>
        <p:spPr bwMode="auto">
          <a:xfrm>
            <a:off x="5573713" y="27130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2" name="Line 16"/>
          <p:cNvSpPr>
            <a:spLocks noChangeShapeType="1"/>
          </p:cNvSpPr>
          <p:nvPr/>
        </p:nvSpPr>
        <p:spPr bwMode="auto">
          <a:xfrm flipH="1">
            <a:off x="2297113" y="4008438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3" name="Line 17"/>
          <p:cNvSpPr>
            <a:spLocks noChangeShapeType="1"/>
          </p:cNvSpPr>
          <p:nvPr/>
        </p:nvSpPr>
        <p:spPr bwMode="auto">
          <a:xfrm flipV="1">
            <a:off x="2297113" y="4311650"/>
            <a:ext cx="3046412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4" name="Line 18"/>
          <p:cNvSpPr>
            <a:spLocks noChangeShapeType="1"/>
          </p:cNvSpPr>
          <p:nvPr/>
        </p:nvSpPr>
        <p:spPr bwMode="auto">
          <a:xfrm>
            <a:off x="7326313" y="4008438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5" name="Line 19"/>
          <p:cNvSpPr>
            <a:spLocks noChangeShapeType="1"/>
          </p:cNvSpPr>
          <p:nvPr/>
        </p:nvSpPr>
        <p:spPr bwMode="auto">
          <a:xfrm>
            <a:off x="5343525" y="4311650"/>
            <a:ext cx="1588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6" name="AutoShape 20"/>
          <p:cNvSpPr>
            <a:spLocks noChangeArrowheads="1"/>
          </p:cNvSpPr>
          <p:nvPr/>
        </p:nvSpPr>
        <p:spPr bwMode="auto">
          <a:xfrm>
            <a:off x="2144713" y="37036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o-RO" sz="2000"/>
          </a:p>
        </p:txBody>
      </p:sp>
      <p:sp>
        <p:nvSpPr>
          <p:cNvPr id="46097" name="AutoShape 21"/>
          <p:cNvSpPr>
            <a:spLocks noChangeArrowheads="1"/>
          </p:cNvSpPr>
          <p:nvPr/>
        </p:nvSpPr>
        <p:spPr bwMode="auto">
          <a:xfrm>
            <a:off x="7173913" y="37036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o-RO" sz="2000"/>
          </a:p>
        </p:txBody>
      </p:sp>
      <p:sp>
        <p:nvSpPr>
          <p:cNvPr id="46098" name="Line 17"/>
          <p:cNvSpPr>
            <a:spLocks noChangeShapeType="1"/>
          </p:cNvSpPr>
          <p:nvPr/>
        </p:nvSpPr>
        <p:spPr bwMode="auto">
          <a:xfrm flipV="1">
            <a:off x="5799138" y="4311650"/>
            <a:ext cx="1517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9" name="Line 19"/>
          <p:cNvSpPr>
            <a:spLocks noChangeShapeType="1"/>
          </p:cNvSpPr>
          <p:nvPr/>
        </p:nvSpPr>
        <p:spPr bwMode="auto">
          <a:xfrm>
            <a:off x="5799138" y="4311650"/>
            <a:ext cx="0" cy="7556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100" name="Text Box 4"/>
          <p:cNvSpPr txBox="1">
            <a:spLocks noChangeArrowheads="1"/>
          </p:cNvSpPr>
          <p:nvPr/>
        </p:nvSpPr>
        <p:spPr bwMode="auto">
          <a:xfrm>
            <a:off x="334963" y="5070475"/>
            <a:ext cx="3352800" cy="2109788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Student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nota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getNota()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setNota(n : int) : void;</a:t>
            </a:r>
          </a:p>
        </p:txBody>
      </p:sp>
      <p:sp>
        <p:nvSpPr>
          <p:cNvPr id="46101" name="Line 19"/>
          <p:cNvSpPr>
            <a:spLocks noChangeShapeType="1"/>
          </p:cNvSpPr>
          <p:nvPr/>
        </p:nvSpPr>
        <p:spPr bwMode="auto">
          <a:xfrm>
            <a:off x="334963" y="5584825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102" name="Line 20"/>
          <p:cNvSpPr>
            <a:spLocks noChangeShapeType="1"/>
          </p:cNvSpPr>
          <p:nvPr/>
        </p:nvSpPr>
        <p:spPr bwMode="auto">
          <a:xfrm>
            <a:off x="334963" y="6118225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103" name="Line 19"/>
          <p:cNvSpPr>
            <a:spLocks noChangeShapeType="1"/>
          </p:cNvSpPr>
          <p:nvPr/>
        </p:nvSpPr>
        <p:spPr bwMode="auto">
          <a:xfrm>
            <a:off x="2308225" y="4311650"/>
            <a:ext cx="0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Interfete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773113" y="5553075"/>
            <a:ext cx="3352800" cy="19462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Mp3PlayerModule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5116513" y="5553075"/>
            <a:ext cx="3657600" cy="19462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WavPlayerModule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1077913" y="2114550"/>
            <a:ext cx="3352800" cy="19462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Module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latin typeface="Times New Roman" panose="02020603050405020304" pitchFamily="18" charset="0"/>
              </a:rPr>
              <a:t># file : FileInputStream</a:t>
            </a: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  <a:endParaRPr lang="en-US" altLang="ro-RO" sz="22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latin typeface="Times New Roman" panose="02020603050405020304" pitchFamily="18" charset="0"/>
              </a:rPr>
              <a:t>+ open()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latin typeface="Times New Roman" panose="02020603050405020304" pitchFamily="18" charset="0"/>
              </a:rPr>
              <a:t>+ close() : void;</a:t>
            </a:r>
          </a:p>
        </p:txBody>
      </p:sp>
      <p:sp>
        <p:nvSpPr>
          <p:cNvPr id="47110" name="Line 9"/>
          <p:cNvSpPr>
            <a:spLocks noChangeShapeType="1"/>
          </p:cNvSpPr>
          <p:nvPr/>
        </p:nvSpPr>
        <p:spPr bwMode="auto">
          <a:xfrm>
            <a:off x="7021513" y="45418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1" name="Line 10"/>
          <p:cNvSpPr>
            <a:spLocks noChangeShapeType="1"/>
          </p:cNvSpPr>
          <p:nvPr/>
        </p:nvSpPr>
        <p:spPr bwMode="auto">
          <a:xfrm>
            <a:off x="1077913" y="2640013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2" name="Line 11"/>
          <p:cNvSpPr>
            <a:spLocks noChangeShapeType="1"/>
          </p:cNvSpPr>
          <p:nvPr/>
        </p:nvSpPr>
        <p:spPr bwMode="auto">
          <a:xfrm>
            <a:off x="1077913" y="3097213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3" name="Line 12"/>
          <p:cNvSpPr>
            <a:spLocks noChangeShapeType="1"/>
          </p:cNvSpPr>
          <p:nvPr/>
        </p:nvSpPr>
        <p:spPr bwMode="auto">
          <a:xfrm>
            <a:off x="773113" y="5980113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4" name="Line 13"/>
          <p:cNvSpPr>
            <a:spLocks noChangeShapeType="1"/>
          </p:cNvSpPr>
          <p:nvPr/>
        </p:nvSpPr>
        <p:spPr bwMode="auto">
          <a:xfrm>
            <a:off x="773113" y="6056313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5" name="Line 14"/>
          <p:cNvSpPr>
            <a:spLocks noChangeShapeType="1"/>
          </p:cNvSpPr>
          <p:nvPr/>
        </p:nvSpPr>
        <p:spPr bwMode="auto">
          <a:xfrm>
            <a:off x="5116513" y="5980113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6" name="Line 15"/>
          <p:cNvSpPr>
            <a:spLocks noChangeShapeType="1"/>
          </p:cNvSpPr>
          <p:nvPr/>
        </p:nvSpPr>
        <p:spPr bwMode="auto">
          <a:xfrm>
            <a:off x="5116513" y="6056313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7" name="Text Box 17"/>
          <p:cNvSpPr txBox="1">
            <a:spLocks noChangeArrowheads="1"/>
          </p:cNvSpPr>
          <p:nvPr/>
        </p:nvSpPr>
        <p:spPr bwMode="auto">
          <a:xfrm>
            <a:off x="6030913" y="1862138"/>
            <a:ext cx="3352800" cy="2449512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&lt;&lt;Interface&gt;&gt;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Player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47118" name="Line 18"/>
          <p:cNvSpPr>
            <a:spLocks noChangeShapeType="1"/>
          </p:cNvSpPr>
          <p:nvPr/>
        </p:nvSpPr>
        <p:spPr bwMode="auto">
          <a:xfrm>
            <a:off x="6030913" y="23368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9" name="Line 19"/>
          <p:cNvSpPr>
            <a:spLocks noChangeShapeType="1"/>
          </p:cNvSpPr>
          <p:nvPr/>
        </p:nvSpPr>
        <p:spPr bwMode="auto">
          <a:xfrm>
            <a:off x="6030913" y="24130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grpSp>
        <p:nvGrpSpPr>
          <p:cNvPr id="47120" name="Group 25"/>
          <p:cNvGrpSpPr>
            <a:grpSpLocks/>
          </p:cNvGrpSpPr>
          <p:nvPr/>
        </p:nvGrpSpPr>
        <p:grpSpPr bwMode="auto">
          <a:xfrm>
            <a:off x="2373313" y="4083050"/>
            <a:ext cx="5638800" cy="1443038"/>
            <a:chOff x="1495" y="2377"/>
            <a:chExt cx="3552" cy="1104"/>
          </a:xfrm>
        </p:grpSpPr>
        <p:sp>
          <p:nvSpPr>
            <p:cNvPr id="47121" name="Line 6"/>
            <p:cNvSpPr>
              <a:spLocks noChangeShapeType="1"/>
            </p:cNvSpPr>
            <p:nvPr/>
          </p:nvSpPr>
          <p:spPr bwMode="auto">
            <a:xfrm flipH="1">
              <a:off x="2215" y="2569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2" name="Line 7"/>
            <p:cNvSpPr>
              <a:spLocks noChangeShapeType="1"/>
            </p:cNvSpPr>
            <p:nvPr/>
          </p:nvSpPr>
          <p:spPr bwMode="auto">
            <a:xfrm>
              <a:off x="1495" y="3145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3" name="Line 8"/>
            <p:cNvSpPr>
              <a:spLocks noChangeShapeType="1"/>
            </p:cNvSpPr>
            <p:nvPr/>
          </p:nvSpPr>
          <p:spPr bwMode="auto">
            <a:xfrm>
              <a:off x="1495" y="3145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4" name="AutoShape 16"/>
            <p:cNvSpPr>
              <a:spLocks noChangeArrowheads="1"/>
            </p:cNvSpPr>
            <p:nvPr/>
          </p:nvSpPr>
          <p:spPr bwMode="auto">
            <a:xfrm>
              <a:off x="2119" y="2377"/>
              <a:ext cx="192" cy="19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ro-RO" sz="2000"/>
            </a:p>
          </p:txBody>
        </p:sp>
        <p:sp>
          <p:nvSpPr>
            <p:cNvPr id="47125" name="Line 20"/>
            <p:cNvSpPr>
              <a:spLocks noChangeShapeType="1"/>
            </p:cNvSpPr>
            <p:nvPr/>
          </p:nvSpPr>
          <p:spPr bwMode="auto">
            <a:xfrm flipH="1">
              <a:off x="4567" y="2761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6" name="Line 21"/>
            <p:cNvSpPr>
              <a:spLocks noChangeShapeType="1"/>
            </p:cNvSpPr>
            <p:nvPr/>
          </p:nvSpPr>
          <p:spPr bwMode="auto">
            <a:xfrm>
              <a:off x="2119" y="2953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7" name="Line 22"/>
            <p:cNvSpPr>
              <a:spLocks noChangeShapeType="1"/>
            </p:cNvSpPr>
            <p:nvPr/>
          </p:nvSpPr>
          <p:spPr bwMode="auto">
            <a:xfrm>
              <a:off x="2119" y="2953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8" name="Line 23"/>
            <p:cNvSpPr>
              <a:spLocks noChangeShapeType="1"/>
            </p:cNvSpPr>
            <p:nvPr/>
          </p:nvSpPr>
          <p:spPr bwMode="auto">
            <a:xfrm>
              <a:off x="5047" y="2953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9" name="AutoShape 24"/>
            <p:cNvSpPr>
              <a:spLocks noChangeArrowheads="1"/>
            </p:cNvSpPr>
            <p:nvPr/>
          </p:nvSpPr>
          <p:spPr bwMode="auto">
            <a:xfrm>
              <a:off x="4471" y="2569"/>
              <a:ext cx="192" cy="19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ro-RO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Interfete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ro-RO" b="1" dirty="0" smtClean="0">
                <a:latin typeface="Courier New" panose="02070309020205020404" pitchFamily="49" charset="0"/>
              </a:rPr>
              <a:t>public </a:t>
            </a:r>
            <a:r>
              <a:rPr lang="en-US" altLang="ro-RO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interface</a:t>
            </a:r>
            <a:r>
              <a:rPr lang="en-US" altLang="ro-RO" b="1" dirty="0" smtClean="0">
                <a:latin typeface="Courier New" panose="02070309020205020404" pitchFamily="49" charset="0"/>
              </a:rPr>
              <a:t> Player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ro-RO" b="1" dirty="0" smtClean="0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ro-RO" b="1" dirty="0" smtClean="0">
                <a:latin typeface="Courier New" panose="02070309020205020404" pitchFamily="49" charset="0"/>
              </a:rPr>
              <a:t>  public void play();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ro-RO" b="1" dirty="0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ro-RO" b="1" dirty="0" smtClean="0">
                <a:latin typeface="Courier New" panose="02070309020205020404" pitchFamily="49" charset="0"/>
              </a:rPr>
              <a:t>  public void stop();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ro-RO" b="1" dirty="0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ro-RO" b="1" dirty="0" smtClean="0">
                <a:latin typeface="Courier New" panose="02070309020205020404" pitchFamily="49" charset="0"/>
              </a:rPr>
              <a:t>  public void pause();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ro-RO" b="1" dirty="0" smtClean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Interfete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410717" y="2186042"/>
            <a:ext cx="9183295" cy="443500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public class Mp3PlayerModule extends Module </a:t>
            </a:r>
            <a:r>
              <a:rPr lang="en-US" altLang="ro-RO" sz="20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implements</a:t>
            </a:r>
            <a:r>
              <a:rPr lang="en-US" altLang="ro-RO" sz="2000" b="1" dirty="0" smtClean="0">
                <a:latin typeface="Courier New" panose="02070309020205020404" pitchFamily="49" charset="0"/>
              </a:rPr>
              <a:t> Player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public void play()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ro-RO" sz="2000" b="1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public void stop()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} 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ro-RO" sz="2000" b="1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public void pause() {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3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 smtClean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Interfete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183032" y="2034580"/>
            <a:ext cx="9040741" cy="4435009"/>
          </a:xfrm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ro-RO" sz="2000" dirty="0" err="1" smtClean="0"/>
              <a:t>Toate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metodele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unei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interfete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sunt</a:t>
            </a:r>
            <a:r>
              <a:rPr lang="en-US" altLang="ro-RO" sz="2000" dirty="0" smtClean="0"/>
              <a:t> automat </a:t>
            </a:r>
            <a:r>
              <a:rPr lang="en-US" altLang="ro-RO" sz="2000" dirty="0" err="1" smtClean="0"/>
              <a:t>abstracte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si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trebuie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declarate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publice</a:t>
            </a:r>
            <a:endParaRPr lang="en-US" altLang="ro-RO" sz="2000" dirty="0" smtClean="0"/>
          </a:p>
          <a:p>
            <a:pPr eaLnBrk="1" hangingPunct="1">
              <a:spcBef>
                <a:spcPts val="600"/>
              </a:spcBef>
            </a:pPr>
            <a:r>
              <a:rPr lang="en-US" altLang="ro-RO" sz="2000" dirty="0" smtClean="0"/>
              <a:t>O </a:t>
            </a:r>
            <a:r>
              <a:rPr lang="en-US" altLang="ro-RO" sz="2000" dirty="0" err="1" smtClean="0"/>
              <a:t>interfata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poate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declara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constante</a:t>
            </a:r>
            <a:r>
              <a:rPr lang="en-US" altLang="ro-RO" sz="2000" dirty="0" smtClean="0"/>
              <a:t>, care </a:t>
            </a:r>
            <a:r>
              <a:rPr lang="en-US" altLang="ro-RO" sz="2000" dirty="0" err="1" smtClean="0"/>
              <a:t>sunt</a:t>
            </a:r>
            <a:r>
              <a:rPr lang="en-US" altLang="ro-RO" sz="2000" dirty="0" smtClean="0"/>
              <a:t> automat </a:t>
            </a:r>
            <a:r>
              <a:rPr lang="en-US" altLang="ro-RO" sz="2000" dirty="0" err="1" smtClean="0"/>
              <a:t>publice</a:t>
            </a:r>
            <a:r>
              <a:rPr lang="en-US" altLang="ro-RO" sz="2000" dirty="0" smtClean="0"/>
              <a:t>, </a:t>
            </a:r>
            <a:r>
              <a:rPr lang="en-US" altLang="ro-RO" sz="2000" dirty="0" err="1" smtClean="0"/>
              <a:t>statice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si</a:t>
            </a:r>
            <a:r>
              <a:rPr lang="en-US" altLang="ro-RO" sz="2000" dirty="0" smtClean="0"/>
              <a:t> finale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ro-RO" sz="2000" dirty="0" err="1" smtClean="0"/>
              <a:t>Interfetele</a:t>
            </a:r>
            <a:r>
              <a:rPr lang="en-US" altLang="ro-RO" sz="2000" dirty="0" smtClean="0"/>
              <a:t> pot </a:t>
            </a:r>
            <a:r>
              <a:rPr lang="en-US" altLang="ro-RO" sz="2000" dirty="0" err="1" smtClean="0"/>
              <a:t>extinde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alte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interfete</a:t>
            </a:r>
            <a:endParaRPr lang="en-US" altLang="ro-RO" sz="2000" dirty="0" smtClean="0"/>
          </a:p>
          <a:p>
            <a:pPr eaLnBrk="1" hangingPunct="1">
              <a:spcBef>
                <a:spcPts val="600"/>
              </a:spcBef>
            </a:pPr>
            <a:r>
              <a:rPr lang="en-US" altLang="ro-RO" sz="2000" dirty="0" smtClean="0"/>
              <a:t>Mai </a:t>
            </a:r>
            <a:r>
              <a:rPr lang="en-US" altLang="ro-RO" sz="2000" dirty="0" err="1" smtClean="0"/>
              <a:t>multe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clase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neinrudite</a:t>
            </a:r>
            <a:r>
              <a:rPr lang="en-US" altLang="ro-RO" sz="2000" dirty="0" smtClean="0"/>
              <a:t> pot </a:t>
            </a:r>
            <a:r>
              <a:rPr lang="en-US" altLang="ro-RO" sz="2000" dirty="0" err="1" smtClean="0"/>
              <a:t>implementa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aceeasi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interfata</a:t>
            </a:r>
            <a:endParaRPr lang="en-US" altLang="ro-RO" sz="2000" dirty="0" smtClean="0"/>
          </a:p>
          <a:p>
            <a:pPr algn="just" eaLnBrk="1" hangingPunct="1">
              <a:spcBef>
                <a:spcPts val="600"/>
              </a:spcBef>
            </a:pPr>
            <a:r>
              <a:rPr lang="en-US" altLang="ro-RO" sz="2000" dirty="0" smtClean="0"/>
              <a:t>O </a:t>
            </a:r>
            <a:r>
              <a:rPr lang="en-US" altLang="ro-RO" sz="2000" dirty="0" err="1" smtClean="0"/>
              <a:t>interfaţă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descrie</a:t>
            </a:r>
            <a:r>
              <a:rPr lang="en-US" altLang="ro-RO" sz="2000" dirty="0" smtClean="0"/>
              <a:t> un model </a:t>
            </a:r>
            <a:r>
              <a:rPr lang="en-US" altLang="ro-RO" sz="2000" dirty="0" err="1" smtClean="0"/>
              <a:t>comportamental</a:t>
            </a:r>
            <a:r>
              <a:rPr lang="en-US" altLang="ro-RO" sz="2000" dirty="0" smtClean="0"/>
              <a:t> generic care </a:t>
            </a:r>
            <a:r>
              <a:rPr lang="en-US" altLang="ro-RO" sz="2000" dirty="0" err="1" smtClean="0"/>
              <a:t>poate</a:t>
            </a:r>
            <a:r>
              <a:rPr lang="en-US" altLang="ro-RO" sz="2000" dirty="0" smtClean="0"/>
              <a:t> fi </a:t>
            </a:r>
            <a:r>
              <a:rPr lang="en-US" altLang="ro-RO" sz="2000" dirty="0" err="1" smtClean="0"/>
              <a:t>implementat</a:t>
            </a:r>
            <a:r>
              <a:rPr lang="en-US" altLang="ro-RO" sz="2000" dirty="0" smtClean="0"/>
              <a:t> de </a:t>
            </a:r>
            <a:r>
              <a:rPr lang="en-US" altLang="ro-RO" sz="2000" dirty="0" err="1" smtClean="0"/>
              <a:t>orice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subclasă</a:t>
            </a:r>
            <a:r>
              <a:rPr lang="en-US" altLang="ro-RO" sz="2000" dirty="0" smtClean="0"/>
              <a:t> din </a:t>
            </a:r>
            <a:r>
              <a:rPr lang="en-US" altLang="ro-RO" sz="2000" dirty="0" err="1" smtClean="0"/>
              <a:t>ierarhia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asociată</a:t>
            </a:r>
            <a:r>
              <a:rPr lang="en-US" altLang="ro-RO" sz="2000" dirty="0" smtClean="0"/>
              <a:t>. 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ro-RO" sz="2000" dirty="0" smtClean="0"/>
              <a:t>O </a:t>
            </a:r>
            <a:r>
              <a:rPr lang="en-US" altLang="ro-RO" sz="2000" dirty="0" err="1" smtClean="0"/>
              <a:t>interfaţă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defineşte</a:t>
            </a:r>
            <a:r>
              <a:rPr lang="en-US" altLang="ro-RO" sz="2000" dirty="0" smtClean="0"/>
              <a:t> o </a:t>
            </a:r>
            <a:r>
              <a:rPr lang="en-US" altLang="ro-RO" sz="2000" dirty="0" err="1" smtClean="0"/>
              <a:t>serie</a:t>
            </a:r>
            <a:r>
              <a:rPr lang="en-US" altLang="ro-RO" sz="2000" dirty="0" smtClean="0"/>
              <a:t> de </a:t>
            </a:r>
            <a:r>
              <a:rPr lang="en-US" altLang="ro-RO" sz="2000" dirty="0" err="1" smtClean="0"/>
              <a:t>metode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dar</a:t>
            </a:r>
            <a:r>
              <a:rPr lang="en-US" altLang="ro-RO" sz="2000" dirty="0" smtClean="0"/>
              <a:t> nu </a:t>
            </a:r>
            <a:r>
              <a:rPr lang="en-US" altLang="ro-RO" sz="2000" dirty="0" err="1" smtClean="0"/>
              <a:t>şi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plementarea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acestora</a:t>
            </a:r>
            <a:endParaRPr lang="en-US" altLang="ro-RO" sz="2000" dirty="0" smtClean="0"/>
          </a:p>
          <a:p>
            <a:pPr algn="just" eaLnBrk="1" hangingPunct="1">
              <a:spcBef>
                <a:spcPts val="600"/>
              </a:spcBef>
            </a:pPr>
            <a:r>
              <a:rPr lang="en-US" altLang="ro-RO" sz="2000" dirty="0" smtClean="0"/>
              <a:t>O </a:t>
            </a:r>
            <a:r>
              <a:rPr lang="en-US" altLang="ro-RO" sz="2000" dirty="0" err="1" smtClean="0"/>
              <a:t>clasă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derivată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dintr</a:t>
            </a:r>
            <a:r>
              <a:rPr lang="en-US" altLang="ro-RO" sz="2000" dirty="0" smtClean="0"/>
              <a:t>-o </a:t>
            </a:r>
            <a:r>
              <a:rPr lang="en-US" altLang="ro-RO" sz="2000" dirty="0" err="1" smtClean="0"/>
              <a:t>interfaţă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va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implementa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şi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metodele</a:t>
            </a:r>
            <a:r>
              <a:rPr lang="en-US" altLang="ro-RO" sz="2000" dirty="0" smtClean="0"/>
              <a:t> definite </a:t>
            </a:r>
            <a:r>
              <a:rPr lang="en-US" altLang="ro-RO" sz="2000" dirty="0" err="1" smtClean="0"/>
              <a:t>în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interfaţă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pe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lâgă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cele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proprii</a:t>
            </a:r>
            <a:endParaRPr lang="en-US" altLang="ro-RO" sz="2000" dirty="0" smtClean="0"/>
          </a:p>
          <a:p>
            <a:pPr algn="just" eaLnBrk="1" hangingPunct="1">
              <a:spcBef>
                <a:spcPts val="600"/>
              </a:spcBef>
            </a:pPr>
            <a:r>
              <a:rPr lang="en-US" altLang="ro-RO" sz="2000" dirty="0" err="1" smtClean="0"/>
              <a:t>Într</a:t>
            </a:r>
            <a:r>
              <a:rPr lang="en-US" altLang="ro-RO" sz="2000" dirty="0" smtClean="0"/>
              <a:t>-o </a:t>
            </a:r>
            <a:r>
              <a:rPr lang="en-US" altLang="ro-RO" sz="2000" dirty="0" err="1" smtClean="0"/>
              <a:t>interfaţă</a:t>
            </a:r>
            <a:r>
              <a:rPr lang="en-US" altLang="ro-RO" sz="2000" dirty="0" smtClean="0"/>
              <a:t> se pot </a:t>
            </a:r>
            <a:r>
              <a:rPr lang="en-US" altLang="ro-RO" sz="2000" dirty="0" err="1" smtClean="0"/>
              <a:t>defini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şi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variabile</a:t>
            </a:r>
            <a:r>
              <a:rPr lang="en-US" altLang="ro-RO" sz="2000" dirty="0" smtClean="0"/>
              <a:t>. </a:t>
            </a:r>
            <a:r>
              <a:rPr lang="en-US" altLang="ro-RO" sz="2000" dirty="0" err="1" smtClean="0"/>
              <a:t>Aecest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lucru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este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necesar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deoarece</a:t>
            </a:r>
            <a:r>
              <a:rPr lang="en-US" altLang="ro-RO" sz="2000" dirty="0" smtClean="0"/>
              <a:t> un model </a:t>
            </a:r>
            <a:r>
              <a:rPr lang="en-US" altLang="ro-RO" sz="2000" dirty="0" err="1" smtClean="0"/>
              <a:t>poate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presupune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şi</a:t>
            </a:r>
            <a:r>
              <a:rPr lang="en-US" altLang="ro-RO" sz="2000" dirty="0" smtClean="0"/>
              <a:t> o stare </a:t>
            </a:r>
            <a:r>
              <a:rPr lang="en-US" altLang="ro-RO" sz="2000" dirty="0" err="1" smtClean="0"/>
              <a:t>iniţială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sau</a:t>
            </a:r>
            <a:r>
              <a:rPr lang="en-US" altLang="ro-RO" sz="2000" dirty="0" smtClean="0"/>
              <a:t> de </a:t>
            </a:r>
            <a:r>
              <a:rPr lang="en-US" altLang="ro-RO" sz="2000" dirty="0" err="1" smtClean="0"/>
              <a:t>echilibru</a:t>
            </a:r>
            <a:endParaRPr lang="en-US" altLang="ro-RO" sz="2000" dirty="0" smtClean="0"/>
          </a:p>
          <a:p>
            <a:pPr algn="just" eaLnBrk="1" hangingPunct="1">
              <a:spcBef>
                <a:spcPts val="600"/>
              </a:spcBef>
            </a:pPr>
            <a:r>
              <a:rPr lang="en-US" altLang="ro-RO" sz="2000" dirty="0" err="1" smtClean="0"/>
              <a:t>Într</a:t>
            </a:r>
            <a:r>
              <a:rPr lang="en-US" altLang="ro-RO" sz="2000" dirty="0" smtClean="0"/>
              <a:t>-o </a:t>
            </a:r>
            <a:r>
              <a:rPr lang="en-US" altLang="ro-RO" sz="2000" dirty="0" err="1" smtClean="0"/>
              <a:t>interfaţă</a:t>
            </a:r>
            <a:r>
              <a:rPr lang="en-US" altLang="ro-RO" sz="2000" dirty="0" smtClean="0"/>
              <a:t> nu se pot </a:t>
            </a:r>
            <a:r>
              <a:rPr lang="en-US" altLang="ro-RO" sz="2000" dirty="0" err="1" smtClean="0"/>
              <a:t>folosi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următorii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modificatori</a:t>
            </a:r>
            <a:r>
              <a:rPr lang="en-US" altLang="ro-RO" sz="2000" dirty="0" smtClean="0"/>
              <a:t>: transient, volatile </a:t>
            </a:r>
            <a:r>
              <a:rPr lang="en-US" altLang="ro-RO" sz="2000" dirty="0" err="1" smtClean="0"/>
              <a:t>sau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syncronized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şi</a:t>
            </a:r>
            <a:r>
              <a:rPr lang="en-US" altLang="ro-RO" sz="2000" dirty="0" smtClean="0"/>
              <a:t> de </a:t>
            </a:r>
            <a:r>
              <a:rPr lang="en-US" altLang="ro-RO" sz="2000" dirty="0" err="1" smtClean="0"/>
              <a:t>asemenea</a:t>
            </a:r>
            <a:r>
              <a:rPr lang="en-US" altLang="ro-RO" sz="2000" dirty="0" smtClean="0"/>
              <a:t> </a:t>
            </a:r>
            <a:r>
              <a:rPr lang="en-US" altLang="ro-RO" sz="2000" dirty="0" err="1" smtClean="0"/>
              <a:t>nici</a:t>
            </a:r>
            <a:r>
              <a:rPr lang="en-US" altLang="ro-RO" sz="2000" dirty="0" smtClean="0"/>
              <a:t> private </a:t>
            </a:r>
            <a:r>
              <a:rPr lang="en-US" altLang="ro-RO" sz="2000" dirty="0" err="1" smtClean="0"/>
              <a:t>sau</a:t>
            </a:r>
            <a:r>
              <a:rPr lang="en-US" altLang="ro-RO" sz="2000" dirty="0" smtClean="0"/>
              <a:t> protected</a:t>
            </a:r>
          </a:p>
          <a:p>
            <a:pPr eaLnBrk="1" hangingPunct="1">
              <a:spcBef>
                <a:spcPts val="600"/>
              </a:spcBef>
            </a:pPr>
            <a:endParaRPr lang="en-US" altLang="ro-RO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473200" y="592138"/>
            <a:ext cx="6719888" cy="839787"/>
          </a:xfrm>
          <a:noFill/>
        </p:spPr>
        <p:txBody>
          <a:bodyPr lIns="101494" tIns="50748" rIns="101494" bIns="50748"/>
          <a:lstStyle/>
          <a:p>
            <a:pPr eaLnBrk="1" hangingPunct="1"/>
            <a:r>
              <a:rPr lang="en-US" altLang="ro-RO" smtClean="0"/>
              <a:t>Interfeţe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790575" y="1958975"/>
            <a:ext cx="8869363" cy="5387975"/>
          </a:xfrm>
          <a:noFill/>
        </p:spPr>
        <p:txBody>
          <a:bodyPr lIns="101494" tIns="50748" rIns="101494" bIns="50748"/>
          <a:lstStyle/>
          <a:p>
            <a:pPr algn="just" eaLnBrk="1" hangingPunct="1"/>
            <a:r>
              <a:rPr lang="en-US" altLang="ro-RO" sz="2400" dirty="0" err="1" smtClean="0"/>
              <a:t>Diferenţe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între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clase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şi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interfeţe</a:t>
            </a:r>
            <a:endParaRPr lang="en-US" altLang="ro-RO" sz="2400" dirty="0" smtClean="0"/>
          </a:p>
          <a:p>
            <a:pPr lvl="1" algn="just" eaLnBrk="1" hangingPunct="1"/>
            <a:r>
              <a:rPr lang="en-US" altLang="ro-RO" sz="2400" dirty="0" err="1" smtClean="0"/>
              <a:t>Interfeţele</a:t>
            </a:r>
            <a:r>
              <a:rPr lang="en-US" altLang="ro-RO" sz="2400" dirty="0" smtClean="0"/>
              <a:t> nu </a:t>
            </a:r>
            <a:r>
              <a:rPr lang="en-US" altLang="ro-RO" sz="2400" dirty="0" err="1" smtClean="0"/>
              <a:t>implementează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metodele</a:t>
            </a:r>
            <a:endParaRPr lang="en-US" altLang="ro-RO" sz="2400" dirty="0" smtClean="0"/>
          </a:p>
          <a:p>
            <a:pPr lvl="1" algn="just" eaLnBrk="1" hangingPunct="1"/>
            <a:r>
              <a:rPr lang="en-US" altLang="ro-RO" sz="2400" dirty="0" smtClean="0"/>
              <a:t>o </a:t>
            </a:r>
            <a:r>
              <a:rPr lang="en-US" altLang="ro-RO" sz="2400" dirty="0" err="1" smtClean="0"/>
              <a:t>clasă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poate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aparţi</a:t>
            </a:r>
            <a:r>
              <a:rPr lang="ro-RO" altLang="ro-RO" sz="2400" dirty="0" smtClean="0"/>
              <a:t>n</a:t>
            </a:r>
            <a:r>
              <a:rPr lang="en-US" altLang="ro-RO" sz="2400" dirty="0" smtClean="0"/>
              <a:t>e </a:t>
            </a:r>
            <a:r>
              <a:rPr lang="en-US" altLang="ro-RO" sz="2400" dirty="0" smtClean="0"/>
              <a:t>(</a:t>
            </a:r>
            <a:r>
              <a:rPr lang="en-US" altLang="ro-RO" sz="2400" dirty="0" err="1" smtClean="0"/>
              <a:t>implementa</a:t>
            </a:r>
            <a:r>
              <a:rPr lang="en-US" altLang="ro-RO" sz="2400" dirty="0" smtClean="0"/>
              <a:t>) </a:t>
            </a:r>
            <a:r>
              <a:rPr lang="en-US" altLang="ro-RO" sz="2400" dirty="0" err="1" smtClean="0"/>
              <a:t>mai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multor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interfeţe</a:t>
            </a:r>
            <a:r>
              <a:rPr lang="en-US" altLang="ro-RO" sz="2400" dirty="0" smtClean="0"/>
              <a:t> (o </a:t>
            </a:r>
            <a:r>
              <a:rPr lang="en-US" altLang="ro-RO" sz="2400" dirty="0" err="1" smtClean="0"/>
              <a:t>formă</a:t>
            </a:r>
            <a:r>
              <a:rPr lang="en-US" altLang="ro-RO" sz="2400" dirty="0" smtClean="0"/>
              <a:t> de </a:t>
            </a:r>
            <a:r>
              <a:rPr lang="en-US" altLang="ro-RO" sz="2400" dirty="0" err="1" smtClean="0"/>
              <a:t>mostenirea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multiplă</a:t>
            </a:r>
            <a:r>
              <a:rPr lang="en-US" altLang="ro-RO" sz="2400" dirty="0" smtClean="0"/>
              <a:t>) </a:t>
            </a:r>
            <a:r>
              <a:rPr lang="en-US" altLang="ro-RO" sz="2400" dirty="0" err="1" smtClean="0"/>
              <a:t>dar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poate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avea</a:t>
            </a:r>
            <a:r>
              <a:rPr lang="en-US" altLang="ro-RO" sz="2400" dirty="0" smtClean="0"/>
              <a:t> o </a:t>
            </a:r>
            <a:r>
              <a:rPr lang="en-US" altLang="ro-RO" sz="2400" dirty="0" err="1" smtClean="0"/>
              <a:t>singură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superclasă</a:t>
            </a:r>
            <a:endParaRPr lang="en-US" altLang="ro-RO" sz="2400" dirty="0" smtClean="0"/>
          </a:p>
          <a:p>
            <a:pPr lvl="1" algn="just" eaLnBrk="1" hangingPunct="1"/>
            <a:r>
              <a:rPr lang="en-US" altLang="ro-RO" sz="2400" dirty="0" smtClean="0"/>
              <a:t>O </a:t>
            </a:r>
            <a:r>
              <a:rPr lang="en-US" altLang="ro-RO" sz="2400" dirty="0" err="1" smtClean="0"/>
              <a:t>interfaţă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este</a:t>
            </a:r>
            <a:r>
              <a:rPr lang="en-US" altLang="ro-RO" sz="2400" dirty="0" smtClean="0"/>
              <a:t> o </a:t>
            </a:r>
            <a:r>
              <a:rPr lang="en-US" altLang="ro-RO" sz="2400" dirty="0" err="1" smtClean="0"/>
              <a:t>descriere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formală</a:t>
            </a:r>
            <a:r>
              <a:rPr lang="en-US" altLang="ro-RO" sz="2400" dirty="0" smtClean="0"/>
              <a:t> de sine </a:t>
            </a:r>
            <a:r>
              <a:rPr lang="en-US" altLang="ro-RO" sz="2400" dirty="0" err="1" smtClean="0"/>
              <a:t>stătătoare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pe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când</a:t>
            </a:r>
            <a:r>
              <a:rPr lang="en-US" altLang="ro-RO" sz="2400" dirty="0" smtClean="0"/>
              <a:t> o </a:t>
            </a:r>
            <a:r>
              <a:rPr lang="en-US" altLang="ro-RO" sz="2400" dirty="0" err="1" smtClean="0"/>
              <a:t>clasă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trebuie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să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aparţină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unei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ierarhii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unice</a:t>
            </a:r>
            <a:r>
              <a:rPr lang="en-US" altLang="ro-RO" sz="2400" dirty="0" smtClean="0"/>
              <a:t> de </a:t>
            </a:r>
            <a:r>
              <a:rPr lang="en-US" altLang="ro-RO" sz="2400" dirty="0" err="1" smtClean="0"/>
              <a:t>clase</a:t>
            </a:r>
            <a:r>
              <a:rPr lang="en-US" altLang="ro-RO" sz="2400" dirty="0" smtClean="0"/>
              <a:t>. E </a:t>
            </a:r>
            <a:r>
              <a:rPr lang="en-US" altLang="ro-RO" sz="2400" dirty="0" err="1" smtClean="0"/>
              <a:t>permis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însă</a:t>
            </a:r>
            <a:r>
              <a:rPr lang="en-US" altLang="ro-RO" sz="2400" dirty="0" smtClean="0"/>
              <a:t> ca, </a:t>
            </a:r>
            <a:r>
              <a:rPr lang="en-US" altLang="ro-RO" sz="2400" dirty="0" err="1" smtClean="0"/>
              <a:t>clase</a:t>
            </a:r>
            <a:r>
              <a:rPr lang="en-US" altLang="ro-RO" sz="2400" dirty="0" smtClean="0"/>
              <a:t> din </a:t>
            </a:r>
            <a:r>
              <a:rPr lang="en-US" altLang="ro-RO" sz="2400" dirty="0" err="1" smtClean="0"/>
              <a:t>ierarhii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diferite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să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aparţină</a:t>
            </a:r>
            <a:r>
              <a:rPr lang="en-US" altLang="ro-RO" sz="2400" dirty="0" smtClean="0"/>
              <a:t> (</a:t>
            </a:r>
            <a:r>
              <a:rPr lang="en-US" altLang="ro-RO" sz="2400" dirty="0" err="1" smtClean="0"/>
              <a:t>implementeze</a:t>
            </a:r>
            <a:r>
              <a:rPr lang="en-US" altLang="ro-RO" sz="2400" dirty="0" smtClean="0"/>
              <a:t>) </a:t>
            </a:r>
            <a:r>
              <a:rPr lang="en-US" altLang="ro-RO" sz="2400" dirty="0" err="1" smtClean="0"/>
              <a:t>aceaşi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interfaţă</a:t>
            </a:r>
            <a:r>
              <a:rPr lang="en-US" altLang="ro-RO" sz="2400" dirty="0" smtClean="0"/>
              <a:t> </a:t>
            </a:r>
          </a:p>
          <a:p>
            <a:pPr algn="just" eaLnBrk="1" hangingPunct="1"/>
            <a:r>
              <a:rPr lang="en-US" altLang="ro-RO" sz="2400" dirty="0" err="1" smtClean="0"/>
              <a:t>Obervaţie</a:t>
            </a:r>
            <a:r>
              <a:rPr lang="en-US" altLang="ro-RO" sz="2400" dirty="0" smtClean="0"/>
              <a:t>: </a:t>
            </a:r>
            <a:r>
              <a:rPr lang="en-US" altLang="ro-RO" sz="2400" dirty="0" err="1" smtClean="0"/>
              <a:t>termenul</a:t>
            </a:r>
            <a:r>
              <a:rPr lang="en-US" altLang="ro-RO" sz="2400" dirty="0" smtClean="0"/>
              <a:t> de </a:t>
            </a:r>
            <a:r>
              <a:rPr lang="en-US" altLang="ro-RO" sz="2400" b="1" dirty="0" err="1" smtClean="0">
                <a:solidFill>
                  <a:srgbClr val="FF0000"/>
                </a:solidFill>
              </a:rPr>
              <a:t>implementare</a:t>
            </a:r>
            <a:r>
              <a:rPr lang="en-US" altLang="ro-RO" sz="2400" dirty="0" smtClean="0">
                <a:solidFill>
                  <a:srgbClr val="FF0000"/>
                </a:solidFill>
              </a:rPr>
              <a:t> </a:t>
            </a:r>
            <a:r>
              <a:rPr lang="en-US" altLang="ro-RO" sz="2400" dirty="0" err="1" smtClean="0"/>
              <a:t>este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abordarea</a:t>
            </a:r>
            <a:r>
              <a:rPr lang="en-US" altLang="ro-RO" sz="2400" dirty="0" smtClean="0"/>
              <a:t> din </a:t>
            </a:r>
            <a:r>
              <a:rPr lang="en-US" altLang="ro-RO" sz="2400" dirty="0" err="1" smtClean="0"/>
              <a:t>punct</a:t>
            </a:r>
            <a:r>
              <a:rPr lang="en-US" altLang="ro-RO" sz="2400" dirty="0" smtClean="0"/>
              <a:t> de </a:t>
            </a:r>
            <a:r>
              <a:rPr lang="en-US" altLang="ro-RO" sz="2400" dirty="0" err="1" smtClean="0"/>
              <a:t>vedere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practic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în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timp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ce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termenul</a:t>
            </a:r>
            <a:r>
              <a:rPr lang="en-US" altLang="ro-RO" sz="2400" dirty="0" smtClean="0"/>
              <a:t> de </a:t>
            </a:r>
            <a:r>
              <a:rPr lang="en-US" altLang="ro-RO" sz="2400" dirty="0" err="1" smtClean="0"/>
              <a:t>aparţine</a:t>
            </a:r>
            <a:r>
              <a:rPr lang="en-US" altLang="ro-RO" sz="2400" dirty="0" smtClean="0"/>
              <a:t> </a:t>
            </a:r>
            <a:r>
              <a:rPr lang="en-US" altLang="ro-RO" sz="2400" dirty="0" err="1" smtClean="0"/>
              <a:t>este</a:t>
            </a:r>
            <a:r>
              <a:rPr lang="en-US" altLang="ro-RO" sz="2400" dirty="0" smtClean="0"/>
              <a:t> din </a:t>
            </a:r>
            <a:r>
              <a:rPr lang="en-US" altLang="ro-RO" sz="2400" dirty="0" err="1" smtClean="0"/>
              <a:t>punct</a:t>
            </a:r>
            <a:r>
              <a:rPr lang="en-US" altLang="ro-RO" sz="2400" dirty="0" smtClean="0"/>
              <a:t> de </a:t>
            </a:r>
            <a:r>
              <a:rPr lang="en-US" altLang="ro-RO" sz="2400" dirty="0" err="1" smtClean="0"/>
              <a:t>vedere</a:t>
            </a:r>
            <a:r>
              <a:rPr lang="en-US" altLang="ro-RO" sz="2400" dirty="0" smtClean="0"/>
              <a:t> formal </a:t>
            </a:r>
            <a:r>
              <a:rPr lang="en-US" altLang="ro-RO" sz="2400" dirty="0" err="1" smtClean="0"/>
              <a:t>folosit</a:t>
            </a:r>
            <a:endParaRPr lang="en-US" altLang="ro-RO" sz="2400" dirty="0" smtClean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9383</TotalTime>
  <Words>2127</Words>
  <Application>Microsoft Office PowerPoint</Application>
  <PresentationFormat>Custom</PresentationFormat>
  <Paragraphs>361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Times New Roman</vt:lpstr>
      <vt:lpstr>Wingdings</vt:lpstr>
      <vt:lpstr>Arial Narrow</vt:lpstr>
      <vt:lpstr>StarSymbol</vt:lpstr>
      <vt:lpstr>Courier New</vt:lpstr>
      <vt:lpstr>Retrospect</vt:lpstr>
      <vt:lpstr>Mostenire si abstractizare</vt:lpstr>
      <vt:lpstr>Mostenire si abstractizare</vt:lpstr>
      <vt:lpstr>Mostenire si abstractizare</vt:lpstr>
      <vt:lpstr>Mostenire si abstractizare</vt:lpstr>
      <vt:lpstr>Mostenire si abstractizare</vt:lpstr>
      <vt:lpstr>Mostenire si abstractizare</vt:lpstr>
      <vt:lpstr>Mostenire si abstractizare</vt:lpstr>
      <vt:lpstr>Mostenire si abstractizare</vt:lpstr>
      <vt:lpstr>Mostenire : Cuprins</vt:lpstr>
      <vt:lpstr>Mostenirea multipla</vt:lpstr>
      <vt:lpstr>Mostenirea multipla</vt:lpstr>
      <vt:lpstr>Mostenire : Cuprins</vt:lpstr>
      <vt:lpstr>Modificatori de acces</vt:lpstr>
      <vt:lpstr>Modificatori de acces</vt:lpstr>
      <vt:lpstr>Modificatori de acces</vt:lpstr>
      <vt:lpstr>Modificatori ai claselor</vt:lpstr>
      <vt:lpstr>Modificator de tip - public</vt:lpstr>
      <vt:lpstr>Modificator de tip - Abstract</vt:lpstr>
      <vt:lpstr>Clase abstracte</vt:lpstr>
      <vt:lpstr>Clase abstracte</vt:lpstr>
      <vt:lpstr>Clase abstracte</vt:lpstr>
      <vt:lpstr>Modificator de tip - Abstract</vt:lpstr>
      <vt:lpstr>Modificator de tip - Abstract</vt:lpstr>
      <vt:lpstr>Modificator de tip - final</vt:lpstr>
      <vt:lpstr>Constuctorii si mostenirea</vt:lpstr>
      <vt:lpstr>Constuctorii si mostenirea</vt:lpstr>
      <vt:lpstr>Interfete</vt:lpstr>
      <vt:lpstr>Interfeţe</vt:lpstr>
      <vt:lpstr>Interfete</vt:lpstr>
      <vt:lpstr>Interfete</vt:lpstr>
      <vt:lpstr>Interfete</vt:lpstr>
      <vt:lpstr>Interfete</vt:lpstr>
      <vt:lpstr>Interfeţe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Admin</dc:creator>
  <cp:lastModifiedBy>Manuela Panoiu</cp:lastModifiedBy>
  <cp:revision>172</cp:revision>
  <dcterms:modified xsi:type="dcterms:W3CDTF">2020-10-28T11:18:34Z</dcterms:modified>
</cp:coreProperties>
</file>