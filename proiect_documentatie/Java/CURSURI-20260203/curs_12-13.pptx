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98"/>
  </p:notesMasterIdLst>
  <p:sldIdLst>
    <p:sldId id="264" r:id="rId2"/>
    <p:sldId id="258" r:id="rId3"/>
    <p:sldId id="334" r:id="rId4"/>
    <p:sldId id="335" r:id="rId5"/>
    <p:sldId id="336" r:id="rId6"/>
    <p:sldId id="341" r:id="rId7"/>
    <p:sldId id="342" r:id="rId8"/>
    <p:sldId id="337" r:id="rId9"/>
    <p:sldId id="320" r:id="rId10"/>
    <p:sldId id="343" r:id="rId11"/>
    <p:sldId id="344" r:id="rId12"/>
    <p:sldId id="338" r:id="rId13"/>
    <p:sldId id="345" r:id="rId14"/>
    <p:sldId id="339" r:id="rId15"/>
    <p:sldId id="346" r:id="rId16"/>
    <p:sldId id="347" r:id="rId17"/>
    <p:sldId id="348" r:id="rId18"/>
    <p:sldId id="340" r:id="rId19"/>
    <p:sldId id="352" r:id="rId20"/>
    <p:sldId id="353" r:id="rId21"/>
    <p:sldId id="354" r:id="rId22"/>
    <p:sldId id="349" r:id="rId23"/>
    <p:sldId id="355" r:id="rId24"/>
    <p:sldId id="356" r:id="rId25"/>
    <p:sldId id="350" r:id="rId26"/>
    <p:sldId id="357" r:id="rId27"/>
    <p:sldId id="351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410" r:id="rId36"/>
    <p:sldId id="411" r:id="rId37"/>
    <p:sldId id="412" r:id="rId38"/>
    <p:sldId id="415" r:id="rId39"/>
    <p:sldId id="416" r:id="rId40"/>
    <p:sldId id="424" r:id="rId41"/>
    <p:sldId id="418" r:id="rId42"/>
    <p:sldId id="419" r:id="rId43"/>
    <p:sldId id="422" r:id="rId44"/>
    <p:sldId id="365" r:id="rId45"/>
    <p:sldId id="366" r:id="rId46"/>
    <p:sldId id="367" r:id="rId47"/>
    <p:sldId id="368" r:id="rId48"/>
    <p:sldId id="369" r:id="rId49"/>
    <p:sldId id="370" r:id="rId50"/>
    <p:sldId id="371" r:id="rId51"/>
    <p:sldId id="433" r:id="rId52"/>
    <p:sldId id="434" r:id="rId53"/>
    <p:sldId id="372" r:id="rId54"/>
    <p:sldId id="373" r:id="rId55"/>
    <p:sldId id="374" r:id="rId56"/>
    <p:sldId id="375" r:id="rId57"/>
    <p:sldId id="429" r:id="rId58"/>
    <p:sldId id="430" r:id="rId59"/>
    <p:sldId id="431" r:id="rId60"/>
    <p:sldId id="432" r:id="rId61"/>
    <p:sldId id="376" r:id="rId62"/>
    <p:sldId id="377" r:id="rId63"/>
    <p:sldId id="378" r:id="rId64"/>
    <p:sldId id="379" r:id="rId65"/>
    <p:sldId id="380" r:id="rId66"/>
    <p:sldId id="381" r:id="rId67"/>
    <p:sldId id="382" r:id="rId68"/>
    <p:sldId id="383" r:id="rId69"/>
    <p:sldId id="384" r:id="rId70"/>
    <p:sldId id="385" r:id="rId71"/>
    <p:sldId id="386" r:id="rId72"/>
    <p:sldId id="387" r:id="rId73"/>
    <p:sldId id="388" r:id="rId74"/>
    <p:sldId id="389" r:id="rId75"/>
    <p:sldId id="390" r:id="rId76"/>
    <p:sldId id="391" r:id="rId77"/>
    <p:sldId id="392" r:id="rId78"/>
    <p:sldId id="393" r:id="rId79"/>
    <p:sldId id="394" r:id="rId80"/>
    <p:sldId id="395" r:id="rId81"/>
    <p:sldId id="396" r:id="rId82"/>
    <p:sldId id="397" r:id="rId83"/>
    <p:sldId id="398" r:id="rId84"/>
    <p:sldId id="399" r:id="rId85"/>
    <p:sldId id="425" r:id="rId86"/>
    <p:sldId id="426" r:id="rId87"/>
    <p:sldId id="400" r:id="rId88"/>
    <p:sldId id="401" r:id="rId89"/>
    <p:sldId id="402" r:id="rId90"/>
    <p:sldId id="403" r:id="rId91"/>
    <p:sldId id="404" r:id="rId92"/>
    <p:sldId id="405" r:id="rId93"/>
    <p:sldId id="406" r:id="rId94"/>
    <p:sldId id="407" r:id="rId95"/>
    <p:sldId id="408" r:id="rId96"/>
    <p:sldId id="409" r:id="rId97"/>
  </p:sldIdLst>
  <p:sldSz cx="10080625" cy="7559675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6">
          <p15:clr>
            <a:srgbClr val="A4A3A4"/>
          </p15:clr>
        </p15:guide>
        <p15:guide id="2" pos="20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620" y="102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32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6"/>
        <p:guide pos="20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444625" y="922338"/>
            <a:ext cx="4430713" cy="33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1888" y="4567238"/>
            <a:ext cx="5059362" cy="368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3076" name="Freeform 3"/>
          <p:cNvSpPr>
            <a:spLocks noChangeArrowheads="1"/>
          </p:cNvSpPr>
          <p:nvPr/>
        </p:nvSpPr>
        <p:spPr bwMode="auto">
          <a:xfrm>
            <a:off x="5746750" y="7578725"/>
            <a:ext cx="869950" cy="808038"/>
          </a:xfrm>
          <a:custGeom>
            <a:avLst/>
            <a:gdLst>
              <a:gd name="T0" fmla="*/ 0 w 2501"/>
              <a:gd name="T1" fmla="*/ 807392 h 2501"/>
              <a:gd name="T2" fmla="*/ 869254 w 2501"/>
              <a:gd name="T3" fmla="*/ 0 h 2501"/>
              <a:gd name="T4" fmla="*/ 869602 w 2501"/>
              <a:gd name="T5" fmla="*/ 807715 h 2501"/>
              <a:gd name="T6" fmla="*/ 0 w 2501"/>
              <a:gd name="T7" fmla="*/ 807392 h 25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01" h="2501">
                <a:moveTo>
                  <a:pt x="0" y="2499"/>
                </a:moveTo>
                <a:lnTo>
                  <a:pt x="2499" y="0"/>
                </a:lnTo>
                <a:lnTo>
                  <a:pt x="2500" y="2500"/>
                </a:lnTo>
                <a:lnTo>
                  <a:pt x="0" y="2499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pic>
        <p:nvPicPr>
          <p:cNvPr id="307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63" y="7834313"/>
            <a:ext cx="4651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6" name="Text Box 5"/>
          <p:cNvSpPr txBox="1">
            <a:spLocks noChangeArrowheads="1"/>
          </p:cNvSpPr>
          <p:nvPr/>
        </p:nvSpPr>
        <p:spPr bwMode="auto">
          <a:xfrm rot="-600000">
            <a:off x="6313488" y="7959725"/>
            <a:ext cx="282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defTabSz="847725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847725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847725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847725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847725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  <a:defRPr/>
            </a:pPr>
            <a:r>
              <a:rPr lang="en-GB" altLang="en-US" sz="1500" smtClean="0">
                <a:latin typeface="Arial Narrow" panose="020B06060202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133296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54751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98220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78224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95078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53252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77390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7659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87545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31465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3495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3499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79968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13613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0927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14910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1353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12818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17617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28247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84009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38954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957489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807636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64932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627788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74100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293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151984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930501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766597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497792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454357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001101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40920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0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1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476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8" y="1079500"/>
            <a:ext cx="4697412" cy="6316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100" y="1079500"/>
            <a:ext cx="4699000" cy="6316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7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2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35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99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21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5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1088" y="0"/>
            <a:ext cx="2386012" cy="7396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8288" y="0"/>
            <a:ext cx="7010400" cy="7396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32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6238"/>
            <a:ext cx="9072563" cy="125644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4031" y="1763925"/>
            <a:ext cx="4452276" cy="49942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763925"/>
            <a:ext cx="4452276" cy="49942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3238" y="6888163"/>
            <a:ext cx="2352675" cy="503237"/>
          </a:xfrm>
          <a:prstGeom prst="rect">
            <a:avLst/>
          </a:prstGeom>
        </p:spPr>
        <p:txBody>
          <a:bodyPr lIns="100794" tIns="50397" rIns="100794" bIns="50397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44875" y="6888163"/>
            <a:ext cx="3190875" cy="503237"/>
          </a:xfrm>
          <a:prstGeom prst="rect">
            <a:avLst/>
          </a:prstGeom>
        </p:spPr>
        <p:txBody>
          <a:bodyPr lIns="100794" tIns="50397" rIns="100794" bIns="50397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24713" y="6888163"/>
            <a:ext cx="2352675" cy="503237"/>
          </a:xfrm>
          <a:prstGeom prst="rect">
            <a:avLst/>
          </a:prstGeom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132C699D-ED1B-4FFE-999D-5559B3B3E0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1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"/>
          <p:cNvSpPr>
            <a:spLocks noChangeArrowheads="1"/>
          </p:cNvSpPr>
          <p:nvPr/>
        </p:nvSpPr>
        <p:spPr bwMode="auto">
          <a:xfrm>
            <a:off x="9178925" y="6659563"/>
            <a:ext cx="900113" cy="900112"/>
          </a:xfrm>
          <a:custGeom>
            <a:avLst/>
            <a:gdLst>
              <a:gd name="T0" fmla="*/ 0 w 2501"/>
              <a:gd name="T1" fmla="*/ 899392 h 2501"/>
              <a:gd name="T2" fmla="*/ 899393 w 2501"/>
              <a:gd name="T3" fmla="*/ 0 h 2501"/>
              <a:gd name="T4" fmla="*/ 899753 w 2501"/>
              <a:gd name="T5" fmla="*/ 899752 h 2501"/>
              <a:gd name="T6" fmla="*/ 0 w 2501"/>
              <a:gd name="T7" fmla="*/ 899392 h 25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01" h="2501">
                <a:moveTo>
                  <a:pt x="0" y="2499"/>
                </a:moveTo>
                <a:lnTo>
                  <a:pt x="2499" y="0"/>
                </a:lnTo>
                <a:lnTo>
                  <a:pt x="2500" y="2500"/>
                </a:lnTo>
                <a:lnTo>
                  <a:pt x="0" y="2499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027" name="AutoShape 2"/>
          <p:cNvSpPr>
            <a:spLocks noChangeArrowheads="1"/>
          </p:cNvSpPr>
          <p:nvPr/>
        </p:nvSpPr>
        <p:spPr bwMode="auto">
          <a:xfrm>
            <a:off x="0" y="0"/>
            <a:ext cx="10080625" cy="711200"/>
          </a:xfrm>
          <a:prstGeom prst="roundRect">
            <a:avLst>
              <a:gd name="adj" fmla="val 222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 smtClean="0"/>
          </a:p>
        </p:txBody>
      </p:sp>
      <p:pic>
        <p:nvPicPr>
          <p:cNvPr id="1028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550" y="6985000"/>
            <a:ext cx="4810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01600"/>
            <a:ext cx="457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Text Box 5"/>
          <p:cNvSpPr txBox="1">
            <a:spLocks noChangeArrowheads="1"/>
          </p:cNvSpPr>
          <p:nvPr/>
        </p:nvSpPr>
        <p:spPr bwMode="auto">
          <a:xfrm rot="-600000">
            <a:off x="9563100" y="7126288"/>
            <a:ext cx="2159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  <a:defRPr/>
            </a:pPr>
            <a:fld id="{82DAEC69-6A1D-423A-AA27-4A8B69D17299}" type="slidenum">
              <a:rPr lang="en-GB" altLang="en-US" sz="1700" smtClean="0">
                <a:latin typeface="Arial Narrow" panose="020B0606020202030204" pitchFamily="34" charset="0"/>
              </a:rPr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  <a:defRPr/>
              </a:pPr>
              <a:t>‹#›</a:t>
            </a:fld>
            <a:endParaRPr lang="en-GB" altLang="en-US" sz="1700" smtClean="0">
              <a:latin typeface="Arial Narrow" panose="020B0606020202030204" pitchFamily="34" charset="0"/>
            </a:endParaRPr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32300"/>
            <a:ext cx="2906713" cy="312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20725" y="0"/>
            <a:ext cx="8999538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title text format</a:t>
            </a:r>
          </a:p>
        </p:txBody>
      </p:sp>
      <p:sp>
        <p:nvSpPr>
          <p:cNvPr id="1033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8288" y="1079500"/>
            <a:ext cx="9548812" cy="631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outline text format</a:t>
            </a:r>
          </a:p>
          <a:p>
            <a:pPr lvl="1"/>
            <a:r>
              <a:rPr lang="en-GB" altLang="en-US" smtClean="0"/>
              <a:t>Second Outline Level</a:t>
            </a:r>
          </a:p>
          <a:p>
            <a:pPr lvl="2"/>
            <a:r>
              <a:rPr lang="en-GB" altLang="en-US" smtClean="0"/>
              <a:t>Third Outline Level</a:t>
            </a:r>
          </a:p>
          <a:p>
            <a:pPr lvl="3"/>
            <a:r>
              <a:rPr lang="en-GB" altLang="en-US" smtClean="0"/>
              <a:t>Fourth Outline Level</a:t>
            </a:r>
          </a:p>
          <a:p>
            <a:pPr lvl="4"/>
            <a:r>
              <a:rPr lang="en-GB" altLang="en-US" smtClean="0"/>
              <a:t>Fifth Outline Level</a:t>
            </a:r>
          </a:p>
          <a:p>
            <a:pPr lvl="4"/>
            <a:r>
              <a:rPr lang="en-GB" altLang="en-US" smtClean="0"/>
              <a:t>Sixth Outline Level</a:t>
            </a:r>
          </a:p>
          <a:p>
            <a:pPr lvl="4"/>
            <a:r>
              <a:rPr lang="en-GB" altLang="en-US" smtClean="0"/>
              <a:t>Seventh Outline Level</a:t>
            </a:r>
          </a:p>
          <a:p>
            <a:pPr lvl="4"/>
            <a:r>
              <a:rPr lang="en-GB" altLang="en-US" smtClean="0"/>
              <a:t>Eighth Outline Level</a:t>
            </a:r>
          </a:p>
          <a:p>
            <a:pPr lvl="4"/>
            <a:r>
              <a:rPr lang="en-GB" altLang="en-US" smtClean="0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iming>
    <p:tnLst>
      <p:par>
        <p:cTn id="1" dur="indefinite" restart="never" nodeType="tmRoot"/>
      </p:par>
    </p:tnLst>
  </p:timing>
  <p:txStyles>
    <p:titleStyle>
      <a:lvl1pPr algn="r" defTabSz="449263" rtl="0" eaLnBrk="0" fontAlgn="base" hangingPunct="0">
        <a:lnSpc>
          <a:spcPct val="118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600">
          <a:solidFill>
            <a:srgbClr val="FFFFFF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118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600">
          <a:solidFill>
            <a:srgbClr val="FFFFFF"/>
          </a:solidFill>
          <a:latin typeface="Arial Black" pitchFamily="34" charset="0"/>
        </a:defRPr>
      </a:lvl2pPr>
      <a:lvl3pPr algn="r" defTabSz="449263" rtl="0" eaLnBrk="0" fontAlgn="base" hangingPunct="0">
        <a:lnSpc>
          <a:spcPct val="118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600">
          <a:solidFill>
            <a:srgbClr val="FFFFFF"/>
          </a:solidFill>
          <a:latin typeface="Arial Black" pitchFamily="34" charset="0"/>
        </a:defRPr>
      </a:lvl3pPr>
      <a:lvl4pPr algn="r" defTabSz="449263" rtl="0" eaLnBrk="0" fontAlgn="base" hangingPunct="0">
        <a:lnSpc>
          <a:spcPct val="118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600">
          <a:solidFill>
            <a:srgbClr val="FFFFFF"/>
          </a:solidFill>
          <a:latin typeface="Arial Black" pitchFamily="34" charset="0"/>
        </a:defRPr>
      </a:lvl4pPr>
      <a:lvl5pPr algn="r" defTabSz="449263" rtl="0" eaLnBrk="0" fontAlgn="base" hangingPunct="0">
        <a:lnSpc>
          <a:spcPct val="118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600">
          <a:solidFill>
            <a:srgbClr val="FFFFFF"/>
          </a:solidFill>
          <a:latin typeface="Arial Black" pitchFamily="34" charset="0"/>
        </a:defRPr>
      </a:lvl5pPr>
      <a:lvl6pPr marL="1897063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itchFamily="18" charset="0"/>
        </a:defRPr>
      </a:lvl6pPr>
      <a:lvl7pPr marL="2354263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itchFamily="18" charset="0"/>
        </a:defRPr>
      </a:lvl7pPr>
      <a:lvl8pPr marL="2811463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itchFamily="18" charset="0"/>
        </a:defRPr>
      </a:lvl8pPr>
      <a:lvl9pPr marL="3268663" algn="l" defTabSz="449263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itchFamily="18" charset="0"/>
        </a:defRPr>
      </a:lvl9pPr>
    </p:titleStyle>
    <p:bodyStyle>
      <a:lvl1pPr marL="431800" indent="-32385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75000"/>
        <a:buFont typeface="StarSymbol" charset="0"/>
        <a:buChar char="■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862013" indent="-28575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buChar char=""/>
        <a:defRPr sz="2800">
          <a:solidFill>
            <a:srgbClr val="000000"/>
          </a:solidFill>
          <a:latin typeface="+mn-lt"/>
        </a:defRPr>
      </a:lvl2pPr>
      <a:lvl3pPr marL="1295400" indent="-2159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buChar char="➔"/>
        <a:defRPr sz="2400">
          <a:solidFill>
            <a:srgbClr val="000000"/>
          </a:solidFill>
          <a:latin typeface="+mn-lt"/>
        </a:defRPr>
      </a:lvl3pPr>
      <a:lvl4pPr marL="1727200" indent="-2159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75000"/>
        <a:buFont typeface="StarSymbol" charset="0"/>
        <a:buChar char="-"/>
        <a:defRPr sz="2000">
          <a:solidFill>
            <a:srgbClr val="000000"/>
          </a:solidFill>
          <a:latin typeface="+mn-lt"/>
        </a:defRPr>
      </a:lvl4pPr>
      <a:lvl5pPr marL="2159000" indent="-2159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StarSymbol" charset="0"/>
        <a:buChar char="."/>
        <a:defRPr sz="2000">
          <a:solidFill>
            <a:srgbClr val="000000"/>
          </a:solidFill>
          <a:latin typeface="+mn-lt"/>
        </a:defRPr>
      </a:lvl5pPr>
      <a:lvl6pPr marL="2616200" indent="-2159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StarSymbol" charset="0"/>
        <a:buChar char="."/>
        <a:defRPr sz="2000">
          <a:solidFill>
            <a:srgbClr val="000000"/>
          </a:solidFill>
          <a:latin typeface="+mn-lt"/>
        </a:defRPr>
      </a:lvl6pPr>
      <a:lvl7pPr marL="3073400" indent="-2159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StarSymbol" charset="0"/>
        <a:buChar char="."/>
        <a:defRPr sz="2000">
          <a:solidFill>
            <a:srgbClr val="000000"/>
          </a:solidFill>
          <a:latin typeface="+mn-lt"/>
        </a:defRPr>
      </a:lvl7pPr>
      <a:lvl8pPr marL="3530600" indent="-2159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StarSymbol" charset="0"/>
        <a:buChar char="."/>
        <a:defRPr sz="2000">
          <a:solidFill>
            <a:srgbClr val="000000"/>
          </a:solidFill>
          <a:latin typeface="+mn-lt"/>
        </a:defRPr>
      </a:lvl8pPr>
      <a:lvl9pPr marL="3987800" indent="-2159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StarSymbol" charset="0"/>
        <a:buChar char=".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://java.sun.com/developer/onlineTraining/new2java/divelog/part5/" TargetMode="External"/><Relationship Id="rId3" Type="http://schemas.openxmlformats.org/officeDocument/2006/relationships/hyperlink" Target="http://java.sun.com/docs/books/tutorial/uiswing/index.html" TargetMode="External"/><Relationship Id="rId7" Type="http://schemas.openxmlformats.org/officeDocument/2006/relationships/hyperlink" Target="http://java.sun.com/developer/onlineTraining/new2java/divelog/part4/" TargetMode="External"/><Relationship Id="rId2" Type="http://schemas.openxmlformats.org/officeDocument/2006/relationships/hyperlink" Target="http://java.sun.com/docs/books/tutorial/uiswing/components/component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java.sun.com/developer/onlineTraining/new2java/divelog/part3/" TargetMode="External"/><Relationship Id="rId5" Type="http://schemas.openxmlformats.org/officeDocument/2006/relationships/hyperlink" Target="http://java.sun.com/developer/onlineTraining/new2java/divelog/part2/index.jsp" TargetMode="External"/><Relationship Id="rId4" Type="http://schemas.openxmlformats.org/officeDocument/2006/relationships/hyperlink" Target="http://java.sun.com/developer/onlineTraining/new2java/divelog/part1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://java.sun.com/docs/books/tutorial/uiswing/layout/visual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Interfete grafice : Cuprins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3200" smtClean="0"/>
              <a:t>Programarea condusa de evenimente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Realizarea unei interfete grafice este o problema dificila, de aceea se folosesc componente grafice “prefabricate”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smtClean="0"/>
              <a:t>O interfata grafica trebuie sa fie intuitiva, usor de folosit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smtClean="0"/>
              <a:t>Atunci cand se realizeaza o interfata grafica, </a:t>
            </a:r>
            <a:r>
              <a:rPr lang="en-US" altLang="en-US" sz="4000" b="1" smtClean="0"/>
              <a:t>initiativa actiunilor</a:t>
            </a:r>
            <a:r>
              <a:rPr lang="en-US" altLang="en-US" sz="4000" smtClean="0"/>
              <a:t> apartine utilizatorului (apasarea unui buton, selectarea unui check-box, etc.)</a:t>
            </a:r>
            <a:endParaRPr lang="en-US" altLang="en-US" sz="4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3200" smtClean="0"/>
              <a:t>Programarea condusa de evenimente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Orice interactiune a utilizatorului cu interfata grafica se numeste </a:t>
            </a:r>
            <a:r>
              <a:rPr lang="en-US" altLang="en-US" sz="4000" b="1" smtClean="0"/>
              <a:t>eveniment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b="1" smtClean="0"/>
              <a:t>Programarea condusa de evenimente</a:t>
            </a:r>
            <a:r>
              <a:rPr lang="en-US" altLang="en-US" sz="4000" smtClean="0"/>
              <a:t> este stilul de programare in care ne propunem ca programul sa reactioneze la anumite evenimente (provocate de utilizator, sau de alte conditii)</a:t>
            </a:r>
            <a:endParaRPr lang="en-US" altLang="en-US" sz="4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3200" smtClean="0"/>
              <a:t>Programarea condusa de evenimente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Realizarea unei interfete se face in doi pasi:</a:t>
            </a:r>
          </a:p>
          <a:p>
            <a:pPr lvl="1" eaLnBrk="1"/>
            <a:r>
              <a:rPr lang="en-US" altLang="en-US" sz="3600" smtClean="0"/>
              <a:t>realizarea interfetei grafice</a:t>
            </a:r>
          </a:p>
          <a:p>
            <a:pPr lvl="1" eaLnBrk="1"/>
            <a:r>
              <a:rPr lang="en-US" altLang="en-US" sz="3600" smtClean="0"/>
              <a:t>descrierea actiunilor ce trebuie realizate pentru fiecare eveniment posibil</a:t>
            </a:r>
          </a:p>
        </p:txBody>
      </p:sp>
      <p:pic>
        <p:nvPicPr>
          <p:cNvPr id="12292" name="Picture 4" descr="ex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4160838"/>
            <a:ext cx="61722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239713" y="5075238"/>
            <a:ext cx="1001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Label</a:t>
            </a:r>
          </a:p>
        </p:txBody>
      </p:sp>
      <p:sp>
        <p:nvSpPr>
          <p:cNvPr id="12294" name="Line 7"/>
          <p:cNvSpPr>
            <a:spLocks noChangeShapeType="1"/>
          </p:cNvSpPr>
          <p:nvPr/>
        </p:nvSpPr>
        <p:spPr bwMode="auto">
          <a:xfrm flipV="1">
            <a:off x="1306513" y="4999038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>
            <a:off x="1306513" y="5303838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8469313" y="5075238"/>
            <a:ext cx="136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TextField</a:t>
            </a:r>
          </a:p>
        </p:txBody>
      </p:sp>
      <p:sp>
        <p:nvSpPr>
          <p:cNvPr id="12297" name="Line 10"/>
          <p:cNvSpPr>
            <a:spLocks noChangeShapeType="1"/>
          </p:cNvSpPr>
          <p:nvPr/>
        </p:nvSpPr>
        <p:spPr bwMode="auto">
          <a:xfrm flipH="1">
            <a:off x="7707313" y="5303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298" name="Line 11"/>
          <p:cNvSpPr>
            <a:spLocks noChangeShapeType="1"/>
          </p:cNvSpPr>
          <p:nvPr/>
        </p:nvSpPr>
        <p:spPr bwMode="auto">
          <a:xfrm flipH="1">
            <a:off x="7707313" y="5380038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299" name="Text Box 12"/>
          <p:cNvSpPr txBox="1">
            <a:spLocks noChangeArrowheads="1"/>
          </p:cNvSpPr>
          <p:nvPr/>
        </p:nvSpPr>
        <p:spPr bwMode="auto">
          <a:xfrm>
            <a:off x="8469313" y="6142038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Button</a:t>
            </a:r>
          </a:p>
        </p:txBody>
      </p:sp>
      <p:sp>
        <p:nvSpPr>
          <p:cNvPr id="12300" name="Line 14"/>
          <p:cNvSpPr>
            <a:spLocks noChangeShapeType="1"/>
          </p:cNvSpPr>
          <p:nvPr/>
        </p:nvSpPr>
        <p:spPr bwMode="auto">
          <a:xfrm flipH="1" flipV="1">
            <a:off x="6564313" y="6142038"/>
            <a:ext cx="1828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301" name="Line 15"/>
          <p:cNvSpPr>
            <a:spLocks noChangeShapeType="1"/>
          </p:cNvSpPr>
          <p:nvPr/>
        </p:nvSpPr>
        <p:spPr bwMode="auto">
          <a:xfrm flipH="1">
            <a:off x="5649913" y="6370638"/>
            <a:ext cx="2743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302" name="Text Box 16"/>
          <p:cNvSpPr txBox="1">
            <a:spLocks noChangeArrowheads="1"/>
          </p:cNvSpPr>
          <p:nvPr/>
        </p:nvSpPr>
        <p:spPr bwMode="auto">
          <a:xfrm>
            <a:off x="376238" y="6411913"/>
            <a:ext cx="657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List</a:t>
            </a:r>
          </a:p>
        </p:txBody>
      </p:sp>
      <p:sp>
        <p:nvSpPr>
          <p:cNvPr id="12303" name="Line 17"/>
          <p:cNvSpPr>
            <a:spLocks noChangeShapeType="1"/>
          </p:cNvSpPr>
          <p:nvPr/>
        </p:nvSpPr>
        <p:spPr bwMode="auto">
          <a:xfrm flipV="1">
            <a:off x="1001713" y="6142038"/>
            <a:ext cx="2286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304" name="Text Box 18"/>
          <p:cNvSpPr txBox="1">
            <a:spLocks noChangeArrowheads="1"/>
          </p:cNvSpPr>
          <p:nvPr/>
        </p:nvSpPr>
        <p:spPr bwMode="auto">
          <a:xfrm>
            <a:off x="300038" y="3973513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Frame</a:t>
            </a:r>
          </a:p>
        </p:txBody>
      </p:sp>
      <p:sp>
        <p:nvSpPr>
          <p:cNvPr id="12305" name="Line 19"/>
          <p:cNvSpPr>
            <a:spLocks noChangeShapeType="1"/>
          </p:cNvSpPr>
          <p:nvPr/>
        </p:nvSpPr>
        <p:spPr bwMode="auto">
          <a:xfrm>
            <a:off x="1306513" y="4237038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2306" name="Text Box 20"/>
          <p:cNvSpPr txBox="1">
            <a:spLocks noChangeArrowheads="1"/>
          </p:cNvSpPr>
          <p:nvPr/>
        </p:nvSpPr>
        <p:spPr bwMode="auto">
          <a:xfrm>
            <a:off x="8453438" y="4008438"/>
            <a:ext cx="860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Panel</a:t>
            </a:r>
          </a:p>
        </p:txBody>
      </p:sp>
      <p:sp>
        <p:nvSpPr>
          <p:cNvPr id="12307" name="Line 22"/>
          <p:cNvSpPr>
            <a:spLocks noChangeShapeType="1"/>
          </p:cNvSpPr>
          <p:nvPr/>
        </p:nvSpPr>
        <p:spPr bwMode="auto">
          <a:xfrm flipH="1">
            <a:off x="6488113" y="4237038"/>
            <a:ext cx="1981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</a:t>
            </a:r>
            <a:r>
              <a:rPr lang="en-GB" altLang="en-US" sz="4000" b="1" smtClean="0">
                <a:solidFill>
                  <a:srgbClr val="FF0000"/>
                </a:solidFill>
              </a:rPr>
              <a:t>Model-View-Controller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Model-View-Controller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In proiectarea unei interfete grafice trebuie sa tinem cont de trei elemente:</a:t>
            </a:r>
          </a:p>
          <a:p>
            <a:pPr lvl="1" eaLnBrk="1"/>
            <a:r>
              <a:rPr lang="en-US" altLang="en-US" sz="3600" smtClean="0"/>
              <a:t>date</a:t>
            </a:r>
          </a:p>
          <a:p>
            <a:pPr lvl="1" eaLnBrk="1"/>
            <a:r>
              <a:rPr lang="en-US" altLang="en-US" sz="3600" smtClean="0"/>
              <a:t>prezentarea grafica a datelor</a:t>
            </a:r>
          </a:p>
          <a:p>
            <a:pPr lvl="1" eaLnBrk="1"/>
            <a:r>
              <a:rPr lang="en-US" altLang="en-US" sz="3600" smtClean="0"/>
              <a:t>controlul datelor (actiunile efectuate la aparitia evenimentelor)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611313" y="5608638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Date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811713" y="4770438"/>
            <a:ext cx="1600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Prezentare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259513" y="6142038"/>
            <a:ext cx="1600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Prezentare</a:t>
            </a: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V="1">
            <a:off x="2830513" y="5075238"/>
            <a:ext cx="1905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2830513" y="5989638"/>
            <a:ext cx="3429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2433638" y="4430713"/>
            <a:ext cx="11239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Control</a:t>
            </a:r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 flipH="1">
            <a:off x="2449513" y="4922838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3592513" y="4770438"/>
            <a:ext cx="1219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3382963" y="6742113"/>
            <a:ext cx="11239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Control</a:t>
            </a:r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 flipH="1" flipV="1">
            <a:off x="2449513" y="6065838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 flipV="1">
            <a:off x="4506913" y="6523038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Model-View-Controller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Acest lucru se face respectand sablonul MVC (Model-View-Controller) care separa cele trei elemente in:</a:t>
            </a:r>
          </a:p>
          <a:p>
            <a:pPr lvl="1" eaLnBrk="1"/>
            <a:r>
              <a:rPr lang="en-US" altLang="en-US" sz="3600" b="1" smtClean="0"/>
              <a:t>Model</a:t>
            </a:r>
            <a:r>
              <a:rPr lang="en-US" altLang="en-US" sz="3600" smtClean="0"/>
              <a:t>: clasele care tin datele propriu zise (ex. clasa Student)</a:t>
            </a:r>
          </a:p>
          <a:p>
            <a:pPr lvl="1" eaLnBrk="1"/>
            <a:r>
              <a:rPr lang="en-US" altLang="en-US" sz="3600" b="1" smtClean="0"/>
              <a:t>View</a:t>
            </a:r>
            <a:r>
              <a:rPr lang="en-US" altLang="en-US" sz="3600" smtClean="0"/>
              <a:t>: clasele care prezinta datele din Model in diverse formate grafice (ex. o lista de studenti)</a:t>
            </a:r>
          </a:p>
          <a:p>
            <a:pPr lvl="1" eaLnBrk="1"/>
            <a:r>
              <a:rPr lang="en-US" altLang="en-US" sz="3600" b="1" smtClean="0"/>
              <a:t>Controller</a:t>
            </a:r>
            <a:r>
              <a:rPr lang="en-US" altLang="en-US" sz="3600" smtClean="0"/>
              <a:t>: clasele care descriu actiunile asupra datelor la interactionarea utilizatorului cu interfata grafica (ex. ce se intampla cand selectam un student)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rgbClr val="FF0000"/>
                </a:solidFill>
              </a:rPr>
              <a:t>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Ierarhia AWT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754313" y="4694238"/>
            <a:ext cx="1600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1"/>
                </a:solidFill>
              </a:rPr>
              <a:t>Window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687513" y="3475038"/>
            <a:ext cx="1524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/>
              <a:t>Checkbox</a:t>
            </a:r>
          </a:p>
        </p:txBody>
      </p:sp>
      <p:sp>
        <p:nvSpPr>
          <p:cNvPr id="22533" name="AutoShape 8"/>
          <p:cNvSpPr>
            <a:spLocks noChangeArrowheads="1"/>
          </p:cNvSpPr>
          <p:nvPr/>
        </p:nvSpPr>
        <p:spPr bwMode="auto">
          <a:xfrm>
            <a:off x="4278313" y="39322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2906713" y="2027238"/>
            <a:ext cx="2209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/>
              <a:t>Component</a:t>
            </a:r>
          </a:p>
        </p:txBody>
      </p:sp>
      <p:sp>
        <p:nvSpPr>
          <p:cNvPr id="22535" name="Line 10"/>
          <p:cNvSpPr>
            <a:spLocks noChangeShapeType="1"/>
          </p:cNvSpPr>
          <p:nvPr/>
        </p:nvSpPr>
        <p:spPr bwMode="auto">
          <a:xfrm flipH="1">
            <a:off x="4049713" y="278923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36" name="AutoShape 11"/>
          <p:cNvSpPr>
            <a:spLocks noChangeArrowheads="1"/>
          </p:cNvSpPr>
          <p:nvPr/>
        </p:nvSpPr>
        <p:spPr bwMode="auto">
          <a:xfrm>
            <a:off x="3897313" y="24844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537" name="Text Box 12"/>
          <p:cNvSpPr txBox="1">
            <a:spLocks noChangeArrowheads="1"/>
          </p:cNvSpPr>
          <p:nvPr/>
        </p:nvSpPr>
        <p:spPr bwMode="auto">
          <a:xfrm>
            <a:off x="3440113" y="3465513"/>
            <a:ext cx="1981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/>
              <a:t>Container</a:t>
            </a:r>
          </a:p>
        </p:txBody>
      </p:sp>
      <p:sp>
        <p:nvSpPr>
          <p:cNvPr id="22538" name="Line 13"/>
          <p:cNvSpPr>
            <a:spLocks noChangeShapeType="1"/>
          </p:cNvSpPr>
          <p:nvPr/>
        </p:nvSpPr>
        <p:spPr bwMode="auto">
          <a:xfrm>
            <a:off x="925513" y="3094038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39" name="Line 14"/>
          <p:cNvSpPr>
            <a:spLocks noChangeShapeType="1"/>
          </p:cNvSpPr>
          <p:nvPr/>
        </p:nvSpPr>
        <p:spPr bwMode="auto">
          <a:xfrm>
            <a:off x="925513" y="30940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40" name="Line 15"/>
          <p:cNvSpPr>
            <a:spLocks noChangeShapeType="1"/>
          </p:cNvSpPr>
          <p:nvPr/>
        </p:nvSpPr>
        <p:spPr bwMode="auto">
          <a:xfrm>
            <a:off x="4430713" y="30940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41" name="Text Box 30"/>
          <p:cNvSpPr txBox="1">
            <a:spLocks noChangeArrowheads="1"/>
          </p:cNvSpPr>
          <p:nvPr/>
        </p:nvSpPr>
        <p:spPr bwMode="auto">
          <a:xfrm>
            <a:off x="5802313" y="3475038"/>
            <a:ext cx="12954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/>
              <a:t>List</a:t>
            </a:r>
          </a:p>
        </p:txBody>
      </p:sp>
      <p:sp>
        <p:nvSpPr>
          <p:cNvPr id="22542" name="Text Box 31"/>
          <p:cNvSpPr txBox="1">
            <a:spLocks noChangeArrowheads="1"/>
          </p:cNvSpPr>
          <p:nvPr/>
        </p:nvSpPr>
        <p:spPr bwMode="auto">
          <a:xfrm>
            <a:off x="7402513" y="3475038"/>
            <a:ext cx="24384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/>
              <a:t>TextComponent</a:t>
            </a:r>
          </a:p>
        </p:txBody>
      </p:sp>
      <p:sp>
        <p:nvSpPr>
          <p:cNvPr id="22543" name="Line 32"/>
          <p:cNvSpPr>
            <a:spLocks noChangeShapeType="1"/>
          </p:cNvSpPr>
          <p:nvPr/>
        </p:nvSpPr>
        <p:spPr bwMode="auto">
          <a:xfrm>
            <a:off x="6488113" y="30940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44" name="Line 33"/>
          <p:cNvSpPr>
            <a:spLocks noChangeShapeType="1"/>
          </p:cNvSpPr>
          <p:nvPr/>
        </p:nvSpPr>
        <p:spPr bwMode="auto">
          <a:xfrm>
            <a:off x="8697913" y="30940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45" name="Text Box 34"/>
          <p:cNvSpPr txBox="1">
            <a:spLocks noChangeArrowheads="1"/>
          </p:cNvSpPr>
          <p:nvPr/>
        </p:nvSpPr>
        <p:spPr bwMode="auto">
          <a:xfrm>
            <a:off x="163513" y="3475038"/>
            <a:ext cx="13716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/>
              <a:t>Button</a:t>
            </a:r>
          </a:p>
        </p:txBody>
      </p:sp>
      <p:sp>
        <p:nvSpPr>
          <p:cNvPr id="22546" name="Line 35"/>
          <p:cNvSpPr>
            <a:spLocks noChangeShapeType="1"/>
          </p:cNvSpPr>
          <p:nvPr/>
        </p:nvSpPr>
        <p:spPr bwMode="auto">
          <a:xfrm>
            <a:off x="2449513" y="30940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47" name="Text Box 36"/>
          <p:cNvSpPr txBox="1">
            <a:spLocks noChangeArrowheads="1"/>
          </p:cNvSpPr>
          <p:nvPr/>
        </p:nvSpPr>
        <p:spPr bwMode="auto">
          <a:xfrm>
            <a:off x="4735513" y="4694238"/>
            <a:ext cx="1600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1"/>
                </a:solidFill>
              </a:rPr>
              <a:t>Panel</a:t>
            </a:r>
          </a:p>
        </p:txBody>
      </p:sp>
      <p:sp>
        <p:nvSpPr>
          <p:cNvPr id="22548" name="Text Box 37"/>
          <p:cNvSpPr txBox="1">
            <a:spLocks noChangeArrowheads="1"/>
          </p:cNvSpPr>
          <p:nvPr/>
        </p:nvSpPr>
        <p:spPr bwMode="auto">
          <a:xfrm>
            <a:off x="6564313" y="4694238"/>
            <a:ext cx="1600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1"/>
                </a:solidFill>
              </a:rPr>
              <a:t>TextArea</a:t>
            </a:r>
          </a:p>
        </p:txBody>
      </p:sp>
      <p:sp>
        <p:nvSpPr>
          <p:cNvPr id="22549" name="Text Box 38"/>
          <p:cNvSpPr txBox="1">
            <a:spLocks noChangeArrowheads="1"/>
          </p:cNvSpPr>
          <p:nvPr/>
        </p:nvSpPr>
        <p:spPr bwMode="auto">
          <a:xfrm>
            <a:off x="8393113" y="4694238"/>
            <a:ext cx="1600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1"/>
                </a:solidFill>
              </a:rPr>
              <a:t>TextField</a:t>
            </a:r>
          </a:p>
        </p:txBody>
      </p:sp>
      <p:sp>
        <p:nvSpPr>
          <p:cNvPr id="22550" name="AutoShape 39"/>
          <p:cNvSpPr>
            <a:spLocks noChangeArrowheads="1"/>
          </p:cNvSpPr>
          <p:nvPr/>
        </p:nvSpPr>
        <p:spPr bwMode="auto">
          <a:xfrm>
            <a:off x="8469313" y="39322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551" name="Line 40"/>
          <p:cNvSpPr>
            <a:spLocks noChangeShapeType="1"/>
          </p:cNvSpPr>
          <p:nvPr/>
        </p:nvSpPr>
        <p:spPr bwMode="auto">
          <a:xfrm flipH="1">
            <a:off x="8621713" y="42370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2" name="Line 41"/>
          <p:cNvSpPr>
            <a:spLocks noChangeShapeType="1"/>
          </p:cNvSpPr>
          <p:nvPr/>
        </p:nvSpPr>
        <p:spPr bwMode="auto">
          <a:xfrm>
            <a:off x="7250113" y="4465638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3" name="Line 42"/>
          <p:cNvSpPr>
            <a:spLocks noChangeShapeType="1"/>
          </p:cNvSpPr>
          <p:nvPr/>
        </p:nvSpPr>
        <p:spPr bwMode="auto">
          <a:xfrm flipH="1">
            <a:off x="9383713" y="44656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4" name="Line 43"/>
          <p:cNvSpPr>
            <a:spLocks noChangeShapeType="1"/>
          </p:cNvSpPr>
          <p:nvPr/>
        </p:nvSpPr>
        <p:spPr bwMode="auto">
          <a:xfrm flipH="1">
            <a:off x="7250113" y="44656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5" name="Line 44"/>
          <p:cNvSpPr>
            <a:spLocks noChangeShapeType="1"/>
          </p:cNvSpPr>
          <p:nvPr/>
        </p:nvSpPr>
        <p:spPr bwMode="auto">
          <a:xfrm flipH="1">
            <a:off x="4430713" y="42370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6" name="Line 45"/>
          <p:cNvSpPr>
            <a:spLocks noChangeShapeType="1"/>
          </p:cNvSpPr>
          <p:nvPr/>
        </p:nvSpPr>
        <p:spPr bwMode="auto">
          <a:xfrm>
            <a:off x="3516313" y="4465638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7" name="Line 46"/>
          <p:cNvSpPr>
            <a:spLocks noChangeShapeType="1"/>
          </p:cNvSpPr>
          <p:nvPr/>
        </p:nvSpPr>
        <p:spPr bwMode="auto">
          <a:xfrm flipH="1">
            <a:off x="3516313" y="44656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8" name="Line 47"/>
          <p:cNvSpPr>
            <a:spLocks noChangeShapeType="1"/>
          </p:cNvSpPr>
          <p:nvPr/>
        </p:nvSpPr>
        <p:spPr bwMode="auto">
          <a:xfrm flipH="1">
            <a:off x="5649913" y="44656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59" name="Text Box 48"/>
          <p:cNvSpPr txBox="1">
            <a:spLocks noChangeArrowheads="1"/>
          </p:cNvSpPr>
          <p:nvPr/>
        </p:nvSpPr>
        <p:spPr bwMode="auto">
          <a:xfrm>
            <a:off x="1839913" y="5913438"/>
            <a:ext cx="1600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1"/>
                </a:solidFill>
              </a:rPr>
              <a:t>Frame</a:t>
            </a:r>
          </a:p>
        </p:txBody>
      </p:sp>
      <p:sp>
        <p:nvSpPr>
          <p:cNvPr id="22560" name="AutoShape 49"/>
          <p:cNvSpPr>
            <a:spLocks noChangeArrowheads="1"/>
          </p:cNvSpPr>
          <p:nvPr/>
        </p:nvSpPr>
        <p:spPr bwMode="auto">
          <a:xfrm>
            <a:off x="3363913" y="51514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2561" name="Text Box 50"/>
          <p:cNvSpPr txBox="1">
            <a:spLocks noChangeArrowheads="1"/>
          </p:cNvSpPr>
          <p:nvPr/>
        </p:nvSpPr>
        <p:spPr bwMode="auto">
          <a:xfrm>
            <a:off x="3821113" y="5913438"/>
            <a:ext cx="1600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tx1"/>
                </a:solidFill>
              </a:rPr>
              <a:t>Dialog</a:t>
            </a:r>
          </a:p>
        </p:txBody>
      </p:sp>
      <p:sp>
        <p:nvSpPr>
          <p:cNvPr id="22562" name="Line 51"/>
          <p:cNvSpPr>
            <a:spLocks noChangeShapeType="1"/>
          </p:cNvSpPr>
          <p:nvPr/>
        </p:nvSpPr>
        <p:spPr bwMode="auto">
          <a:xfrm flipH="1">
            <a:off x="3516313" y="54562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63" name="Line 52"/>
          <p:cNvSpPr>
            <a:spLocks noChangeShapeType="1"/>
          </p:cNvSpPr>
          <p:nvPr/>
        </p:nvSpPr>
        <p:spPr bwMode="auto">
          <a:xfrm>
            <a:off x="2601913" y="5684838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64" name="Line 53"/>
          <p:cNvSpPr>
            <a:spLocks noChangeShapeType="1"/>
          </p:cNvSpPr>
          <p:nvPr/>
        </p:nvSpPr>
        <p:spPr bwMode="auto">
          <a:xfrm flipH="1">
            <a:off x="2601913" y="56848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565" name="Line 54"/>
          <p:cNvSpPr>
            <a:spLocks noChangeShapeType="1"/>
          </p:cNvSpPr>
          <p:nvPr/>
        </p:nvSpPr>
        <p:spPr bwMode="auto">
          <a:xfrm flipH="1">
            <a:off x="4735513" y="568483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Ierarhia AWT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Cea mai simpla modalitate de a implementa interfete grafice este oferita in Java prin </a:t>
            </a:r>
            <a:r>
              <a:rPr lang="en-US" altLang="en-US" sz="4000" b="1" smtClean="0"/>
              <a:t>AWT</a:t>
            </a:r>
            <a:r>
              <a:rPr lang="en-US" altLang="en-US" sz="4000" smtClean="0"/>
              <a:t> (Abstract Window Toolkit)</a:t>
            </a:r>
          </a:p>
          <a:p>
            <a:pPr eaLnBrk="1"/>
            <a:r>
              <a:rPr lang="en-US" altLang="en-US" sz="4000" smtClean="0"/>
              <a:t>Clasa </a:t>
            </a:r>
            <a:r>
              <a:rPr lang="en-US" altLang="en-US" sz="4000" b="1" smtClean="0"/>
              <a:t>Component</a:t>
            </a:r>
            <a:r>
              <a:rPr lang="en-US" altLang="en-US" sz="4000" smtClean="0"/>
              <a:t> este parinte pentru orice componenta grafica (butoane, liste, checkbox, zone de text)</a:t>
            </a:r>
          </a:p>
          <a:p>
            <a:pPr eaLnBrk="1"/>
            <a:r>
              <a:rPr lang="en-US" altLang="en-US" sz="4000" smtClean="0"/>
              <a:t>Clasa </a:t>
            </a:r>
            <a:r>
              <a:rPr lang="en-US" altLang="en-US" sz="4000" b="1" smtClean="0"/>
              <a:t>Container</a:t>
            </a:r>
            <a:r>
              <a:rPr lang="en-US" altLang="en-US" sz="4000" smtClean="0"/>
              <a:t> este parinte pentru orice fereastra ce poate contine alte componente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Ierarhia AWT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Din clasa </a:t>
            </a:r>
            <a:r>
              <a:rPr lang="en-US" altLang="en-US" sz="4000" b="1" smtClean="0"/>
              <a:t>Container</a:t>
            </a:r>
            <a:r>
              <a:rPr lang="en-US" altLang="en-US" sz="4000" smtClean="0"/>
              <a:t> sunt derivate doua clase:</a:t>
            </a:r>
          </a:p>
          <a:p>
            <a:pPr lvl="1" eaLnBrk="1"/>
            <a:r>
              <a:rPr lang="en-US" altLang="en-US" sz="3600" b="1" smtClean="0"/>
              <a:t>Window</a:t>
            </a:r>
            <a:r>
              <a:rPr lang="en-US" altLang="en-US" sz="3600" smtClean="0"/>
              <a:t> – este o fereastra de sine statatoare si poate contine alte componente si panel-uri</a:t>
            </a:r>
          </a:p>
          <a:p>
            <a:pPr lvl="2" eaLnBrk="1"/>
            <a:r>
              <a:rPr lang="en-US" altLang="en-US" sz="3200" b="1" smtClean="0"/>
              <a:t>Frame</a:t>
            </a:r>
            <a:r>
              <a:rPr lang="en-US" altLang="en-US" sz="3200" smtClean="0"/>
              <a:t> – este fereastra aplicatiei</a:t>
            </a:r>
          </a:p>
          <a:p>
            <a:pPr lvl="2" eaLnBrk="1"/>
            <a:r>
              <a:rPr lang="en-US" altLang="en-US" sz="3200" b="1" smtClean="0"/>
              <a:t>Dialog</a:t>
            </a:r>
            <a:r>
              <a:rPr lang="en-US" altLang="en-US" sz="3200" smtClean="0"/>
              <a:t> – este o mica fereastra de interogare sau de informare</a:t>
            </a:r>
          </a:p>
          <a:p>
            <a:pPr lvl="1" eaLnBrk="1"/>
            <a:r>
              <a:rPr lang="en-US" altLang="en-US" sz="3600" b="1" smtClean="0"/>
              <a:t>Panel</a:t>
            </a:r>
            <a:r>
              <a:rPr lang="en-US" altLang="en-US" sz="3600" smtClean="0"/>
              <a:t> – nu este o fereastra de sine statatoare, ci trebuie continuta intr-o alta fereastra de tip Frame, Dialog sau Panel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rgbClr val="FF0000"/>
                </a:solidFill>
              </a:rPr>
              <a:t>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Proiectarea interfetei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Primul pas este proiectarea (pe hartie, sau cu un program specializat a interfetei) si are ca scop identificarea tuturor componentelor grafice</a:t>
            </a:r>
          </a:p>
        </p:txBody>
      </p:sp>
      <p:pic>
        <p:nvPicPr>
          <p:cNvPr id="30724" name="Picture 4" descr="ex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932238"/>
            <a:ext cx="6781800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rgbClr val="FF0000"/>
                </a:solidFill>
              </a:rPr>
              <a:t>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Crearea componentelor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Respectand tiparul </a:t>
            </a:r>
            <a:r>
              <a:rPr lang="en-US" altLang="en-US" sz="4000" b="1" smtClean="0"/>
              <a:t>MVC</a:t>
            </a:r>
            <a:r>
              <a:rPr lang="en-US" altLang="en-US" sz="4000" smtClean="0"/>
              <a:t>, vom crea o alta clasa pentru prezentarea grafica, numita ExamenFrame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smtClean="0"/>
              <a:t>In constructorul acestei clase, sau intr-o functie apelata din constructor, se va construi interfata grafica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smtClean="0"/>
              <a:t>Urmatorul pas in realizarea interfetei grafice este crearea componentelor care au fost identificate la primul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Crearea componentelor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808038"/>
            <a:ext cx="9548812" cy="6751637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public class ExamenFrame extends WindowAdapter implements ActionListener {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Examen exam;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Label prof;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List studenti;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Label media;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TextField nume;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TextField nota;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Label lNume;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Label lNota;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Button exit;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Button del;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private Button add;</a:t>
            </a:r>
          </a:p>
        </p:txBody>
      </p:sp>
      <p:sp>
        <p:nvSpPr>
          <p:cNvPr id="36868" name="Line 4"/>
          <p:cNvSpPr>
            <a:spLocks noChangeShapeType="1"/>
          </p:cNvSpPr>
          <p:nvPr/>
        </p:nvSpPr>
        <p:spPr bwMode="auto">
          <a:xfrm flipH="1">
            <a:off x="7021513" y="2636838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7935913" y="2103438"/>
            <a:ext cx="1600200" cy="528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1"/>
              <a:t>Atribute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Crearea componentelor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808038"/>
            <a:ext cx="9548812" cy="6751637"/>
          </a:xfrm>
        </p:spPr>
        <p:txBody>
          <a:bodyPr/>
          <a:lstStyle/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public ExamenFrame(Examen exam) {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this.exam = exam;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prof = new Label(exam.getProfesor());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studenti = new List(5);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Iterator i = exam.getStudenti();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while (i.hasNext()) {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	Student s = (Student) i.next();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	studenti.add(s.toString());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}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media = new Label("media="+exam.getMedia());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nume = new TextField();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nota = new TextField();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lNume = new Label("Nume");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lNota = new Label("Nota");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exit = new Button("Exit");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del = new Button("Delete");</a:t>
            </a:r>
          </a:p>
          <a:p>
            <a:pPr eaLnBrk="1">
              <a:lnSpc>
                <a:spcPct val="83000"/>
              </a:lnSpc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add = new Button("Add");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</a:t>
            </a:r>
            <a:r>
              <a:rPr lang="en-US" altLang="en-US" sz="4000" b="1" smtClean="0">
                <a:solidFill>
                  <a:srgbClr val="FF0000"/>
                </a:solidFill>
              </a:rPr>
              <a:t>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Alegerea containerelor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Fiecare componenta grafica pe care am creat-o la pasul precedent trebuie sa fie continuta intr-un container (Frame, Panel, Dialog)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smtClean="0"/>
              <a:t>Pasul urmator consta in alegerea si crearea acestor containere si apoi adaugarea componentelor la containere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Alegerea containerelor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808038"/>
            <a:ext cx="9548812" cy="6751637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…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Panel text = new Panel();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Panel buttons = new Panel();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Frame f = new Frame("JavaExam");</a:t>
            </a: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text.setLayout(new GridLayout(3, 2));</a:t>
            </a: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f.add(prof, "North");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f.add(studenti, "Center");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f.add(media, "West");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Alegerea containerelor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808038"/>
            <a:ext cx="9548812" cy="6751637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…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text.add(lNume);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text.add(nume);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text.add(lNota);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text.add(nota);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text.add(add);</a:t>
            </a: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f.add(text, "East");</a:t>
            </a: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buttons.add(del);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buttons.add(exit);</a:t>
            </a: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f.add(buttons, "South");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</a:t>
            </a:r>
            <a:r>
              <a:rPr lang="en-US" altLang="en-US" sz="4000" b="1" smtClean="0">
                <a:solidFill>
                  <a:srgbClr val="FF0000"/>
                </a:solidFill>
              </a:rPr>
              <a:t>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Alegerea layout managerelor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3000"/>
              </a:lnSpc>
            </a:pPr>
            <a:r>
              <a:rPr lang="en-US" altLang="en-US" sz="4000" smtClean="0"/>
              <a:t>Orice container are asociat un LayoutManager care este responsabil de aranjarea componentelor in container</a:t>
            </a:r>
          </a:p>
          <a:p>
            <a:pPr lvl="1" eaLnBrk="1">
              <a:lnSpc>
                <a:spcPct val="83000"/>
              </a:lnSpc>
            </a:pPr>
            <a:r>
              <a:rPr lang="en-US" altLang="en-US" sz="3600" b="1" smtClean="0"/>
              <a:t>FlowLayout</a:t>
            </a:r>
            <a:r>
              <a:rPr lang="en-US" altLang="en-US" sz="3600" smtClean="0"/>
              <a:t> – aranjeaza componentele in ordine de la stanga la dreapta</a:t>
            </a:r>
          </a:p>
          <a:p>
            <a:pPr lvl="1" eaLnBrk="1">
              <a:lnSpc>
                <a:spcPct val="83000"/>
              </a:lnSpc>
            </a:pPr>
            <a:r>
              <a:rPr lang="en-US" altLang="en-US" sz="3600" b="1" smtClean="0"/>
              <a:t>GridLayout</a:t>
            </a:r>
            <a:r>
              <a:rPr lang="en-US" altLang="en-US" sz="3600" smtClean="0"/>
              <a:t> – aranjeaza componentele intr-o grila</a:t>
            </a:r>
          </a:p>
          <a:p>
            <a:pPr lvl="1" eaLnBrk="1">
              <a:lnSpc>
                <a:spcPct val="83000"/>
              </a:lnSpc>
            </a:pPr>
            <a:r>
              <a:rPr lang="en-US" altLang="en-US" sz="3600" b="1" smtClean="0"/>
              <a:t>CardLayout</a:t>
            </a:r>
            <a:r>
              <a:rPr lang="en-US" altLang="en-US" sz="3600" smtClean="0"/>
              <a:t> – aranjeaza componentele una peste alta</a:t>
            </a:r>
          </a:p>
          <a:p>
            <a:pPr lvl="1" eaLnBrk="1">
              <a:lnSpc>
                <a:spcPct val="83000"/>
              </a:lnSpc>
            </a:pPr>
            <a:r>
              <a:rPr lang="en-US" altLang="en-US" sz="3600" b="1" smtClean="0"/>
              <a:t>BorderLayout</a:t>
            </a:r>
            <a:r>
              <a:rPr lang="en-US" altLang="en-US" sz="3600" smtClean="0"/>
              <a:t> – imparte containerul in cinci zone: Centru, Nord, Sud, Est, Vest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Alegerea layout managerelor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Schimbarea layout managerului se face prin metoda</a:t>
            </a:r>
          </a:p>
          <a:p>
            <a:pPr eaLnBrk="1"/>
            <a:endParaRPr lang="en-US" altLang="en-US" sz="4000" smtClean="0"/>
          </a:p>
          <a:p>
            <a:pPr eaLnBrk="1">
              <a:buFont typeface="StarSymbol" charset="0"/>
              <a:buNone/>
            </a:pPr>
            <a:r>
              <a:rPr lang="en-US" altLang="en-US" sz="4000" b="1" smtClean="0">
                <a:latin typeface="Courier New" panose="02070309020205020404" pitchFamily="49" charset="0"/>
              </a:rPr>
              <a:t>setLayout(LayoutManager l)</a:t>
            </a:r>
          </a:p>
          <a:p>
            <a:pPr eaLnBrk="1"/>
            <a:endParaRPr lang="en-US" altLang="en-US" sz="4000" b="1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4000" b="1" smtClean="0"/>
              <a:t>Frame</a:t>
            </a:r>
            <a:r>
              <a:rPr lang="en-US" altLang="en-US" sz="4000" smtClean="0"/>
              <a:t> are implicit BorderLayout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b="1" smtClean="0"/>
              <a:t>Panel</a:t>
            </a:r>
            <a:r>
              <a:rPr lang="en-US" altLang="en-US" sz="4000" smtClean="0"/>
              <a:t> are implicit FlowLayout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</a:t>
            </a:r>
            <a:r>
              <a:rPr lang="en-US" altLang="en-US" sz="4000" b="1" smtClean="0">
                <a:solidFill>
                  <a:srgbClr val="FF0000"/>
                </a:solidFill>
              </a:rPr>
              <a:t>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Afisarea interfetei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Dupa ce am creat interfata trebuie sa o afisam</a:t>
            </a:r>
          </a:p>
          <a:p>
            <a:pPr eaLnBrk="1"/>
            <a:r>
              <a:rPr lang="en-US" altLang="en-US" sz="4000" smtClean="0"/>
              <a:t>Acest lucru se realizeaza prin metoda </a:t>
            </a:r>
            <a:r>
              <a:rPr lang="en-US" altLang="en-US" sz="4000" b="1" smtClean="0"/>
              <a:t>setVisible(true)</a:t>
            </a:r>
          </a:p>
          <a:p>
            <a:pPr eaLnBrk="1">
              <a:buFont typeface="StarSymbol" charset="0"/>
              <a:buNone/>
            </a:pPr>
            <a:endParaRPr lang="en-US" altLang="en-US" sz="4000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sz="4000" b="1" smtClean="0">
                <a:latin typeface="Courier New" panose="02070309020205020404" pitchFamily="49" charset="0"/>
              </a:rPr>
              <a:t> …</a:t>
            </a:r>
          </a:p>
          <a:p>
            <a:pPr eaLnBrk="1">
              <a:buFont typeface="StarSymbol" charset="0"/>
              <a:buNone/>
            </a:pPr>
            <a:r>
              <a:rPr lang="en-US" altLang="en-US" sz="4000" b="1" smtClean="0">
                <a:latin typeface="Courier New" panose="02070309020205020404" pitchFamily="49" charset="0"/>
              </a:rPr>
              <a:t> f.pack();</a:t>
            </a:r>
          </a:p>
          <a:p>
            <a:pPr eaLnBrk="1">
              <a:buFont typeface="StarSymbol" charset="0"/>
              <a:buNone/>
            </a:pPr>
            <a:r>
              <a:rPr lang="en-US" altLang="en-US" sz="4000" b="1" smtClean="0">
                <a:latin typeface="Courier New" panose="02070309020205020404" pitchFamily="49" charset="0"/>
              </a:rPr>
              <a:t> f.setVisible(true);</a:t>
            </a:r>
          </a:p>
          <a:p>
            <a:pPr eaLnBrk="1">
              <a:buFont typeface="StarSymbol" charset="0"/>
              <a:buNone/>
            </a:pPr>
            <a:r>
              <a:rPr lang="en-US" altLang="en-US" sz="4000" b="1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/>
            <a:r>
              <a:rPr lang="en-US" altLang="en-US" smtClean="0"/>
              <a:t>Interfete grafice : Cuprins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rgbClr val="FF0000"/>
                </a:solidFill>
              </a:rPr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Programarea condusa de evenimente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>
                <a:solidFill>
                  <a:schemeClr val="tx1"/>
                </a:solidFill>
              </a:rPr>
              <a:t> Model-View-Controller</a:t>
            </a:r>
            <a:endParaRPr lang="en-GB" altLang="en-US" sz="4000" b="1" smtClean="0"/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</a:t>
            </a:r>
            <a:r>
              <a:rPr lang="en-GB" altLang="en-US" sz="4000" b="1" smtClean="0">
                <a:solidFill>
                  <a:schemeClr val="tx1"/>
                </a:solidFill>
              </a:rPr>
              <a:t>Ierarhia AWT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Proiectarea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GB" altLang="en-US" sz="4000" b="1" smtClean="0"/>
              <a:t> Crearea componentelor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containerelor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Alegerea layout managerelor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Afisarea interfetei</a:t>
            </a:r>
          </a:p>
          <a:p>
            <a:pPr marL="717550" indent="-609600" eaLnBrk="1">
              <a:buSzPct val="112000"/>
              <a:buFont typeface="StarSymbol" charset="0"/>
              <a:buAutoNum type="arabicPeriod"/>
            </a:pPr>
            <a:r>
              <a:rPr lang="en-US" altLang="en-US" sz="4000" b="1" smtClean="0">
                <a:solidFill>
                  <a:schemeClr val="tx1"/>
                </a:solidFill>
              </a:rPr>
              <a:t> </a:t>
            </a:r>
            <a:r>
              <a:rPr lang="en-US" altLang="en-US" sz="4000" b="1" smtClean="0">
                <a:solidFill>
                  <a:srgbClr val="FF0000"/>
                </a:solidFill>
              </a:rPr>
              <a:t>Tratarea evenimentelor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Tratarea evenimentelor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Ultimul pas ramane scrierea codului pentru a raspunde la actiunile utilizatorului</a:t>
            </a:r>
          </a:p>
          <a:p>
            <a:pPr eaLnBrk="1"/>
            <a:r>
              <a:rPr lang="en-US" altLang="en-US" sz="4000" smtClean="0"/>
              <a:t>Pentru a raspunde la evenimentele provocate de utilizator, o clasa de tip </a:t>
            </a:r>
            <a:r>
              <a:rPr lang="en-US" altLang="en-US" sz="4000" b="1" smtClean="0"/>
              <a:t>Controller</a:t>
            </a:r>
            <a:r>
              <a:rPr lang="en-US" altLang="en-US" sz="4000" smtClean="0"/>
              <a:t> trebuie sa “</a:t>
            </a:r>
            <a:r>
              <a:rPr lang="en-US" altLang="en-US" sz="4000" b="1" smtClean="0"/>
              <a:t>asculte</a:t>
            </a:r>
            <a:r>
              <a:rPr lang="en-US" altLang="en-US" sz="4000" smtClean="0"/>
              <a:t>” dupa acele evenimente</a:t>
            </a:r>
          </a:p>
          <a:p>
            <a:pPr eaLnBrk="1"/>
            <a:r>
              <a:rPr lang="en-US" altLang="en-US" sz="4000" smtClean="0"/>
              <a:t>Orice componenta grafica permite ca mai multe clase de tip Controller sa se inregistreze la ele ca </a:t>
            </a:r>
            <a:r>
              <a:rPr lang="en-US" altLang="en-US" sz="4000" b="1" smtClean="0"/>
              <a:t>Listener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Tratarea evenimentelor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In momentul aparitiei unui eveniment intr-o componenta, acea componenta (buton, checkbox, frame, etc.) va anunta toate obiectele inregistrate la ea ca </a:t>
            </a:r>
            <a:r>
              <a:rPr lang="en-US" altLang="en-US" sz="4000" b="1" smtClean="0"/>
              <a:t>Listener</a:t>
            </a:r>
          </a:p>
          <a:p>
            <a:pPr eaLnBrk="1"/>
            <a:r>
              <a:rPr lang="en-US" altLang="en-US" sz="4000" smtClean="0"/>
              <a:t>Pentru fiecare tip de eveniment (legate de fereastra, de butoane, de tastatura, de mouse) exista o interfata de tip Listener ce trebuie implementata de obiectul care se inregistreaza (ex. ActionListener, WindowListener)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Tratarea evenimentelor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Interfetele de tip Listener care au multe metode, au si o implementare vida numita adaptor (WindowAdapter, etc.)</a:t>
            </a:r>
          </a:p>
          <a:p>
            <a:pPr eaLnBrk="1"/>
            <a:endParaRPr lang="en-US" altLang="en-US" sz="4000" smtClean="0"/>
          </a:p>
          <a:p>
            <a:pPr eaLnBrk="1"/>
            <a:r>
              <a:rPr lang="en-US" altLang="en-US" sz="4000" smtClean="0"/>
              <a:t>De multe ori este mai comod sa extindem </a:t>
            </a:r>
            <a:r>
              <a:rPr lang="en-US" altLang="en-US" sz="4000" b="1" smtClean="0"/>
              <a:t>WindowAdapter</a:t>
            </a:r>
            <a:r>
              <a:rPr lang="en-US" altLang="en-US" sz="4000" smtClean="0"/>
              <a:t> si sa modificam doar metoda care ne intereseaza, decat sa implementam </a:t>
            </a:r>
            <a:r>
              <a:rPr lang="en-US" altLang="en-US" sz="4000" b="1" smtClean="0"/>
              <a:t>WindowListener</a:t>
            </a:r>
            <a:r>
              <a:rPr lang="en-US" altLang="en-US" sz="4000" smtClean="0"/>
              <a:t> si sa fim obligati sa scriem toate metodele, din care folosim doar foarte putine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Tratarea evenimentelor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808038"/>
            <a:ext cx="9548812" cy="6751637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public class ExamenFrame extends WindowAdapter implements ActionListener {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…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f.addWindowListener(this);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add.addActionListener(this);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exit.addActionListener(this);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del.addActionListener(this);</a:t>
            </a: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f.pack();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			f.setVisible(true);</a:t>
            </a:r>
          </a:p>
          <a:p>
            <a:pPr eaLnBrk="1">
              <a:buFont typeface="StarSymbol" charset="0"/>
              <a:buNone/>
            </a:pPr>
            <a:r>
              <a:rPr lang="en-US" altLang="en-US" b="1" smtClean="0">
                <a:latin typeface="Courier New" panose="02070309020205020404" pitchFamily="49" charset="0"/>
              </a:rPr>
              <a:t>}</a:t>
            </a: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endParaRPr lang="en-US" altLang="en-US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Tratarea evenimentelor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4000" smtClean="0"/>
              <a:t>Implementarea unor interfete de tip Listener ne obliga sa implementam metodele pentru tratarea evenimentelor</a:t>
            </a:r>
          </a:p>
          <a:p>
            <a:pPr lvl="1" eaLnBrk="1"/>
            <a:r>
              <a:rPr lang="en-US" altLang="en-US" sz="3600" smtClean="0"/>
              <a:t>void actionPerformed() – pentru tratarea evenimentelor de tip apasarea unui buton</a:t>
            </a:r>
          </a:p>
          <a:p>
            <a:pPr lvl="1" eaLnBrk="1"/>
            <a:r>
              <a:rPr lang="en-US" altLang="en-US" sz="3600" smtClean="0"/>
              <a:t>void windowClosing() – pentru evenimente de tip inchiderea ferestrei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Tratarea evenimentelor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8038"/>
            <a:ext cx="10080625" cy="6751637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public void windowClosing(WindowEvent e) {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System.exit(0);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}</a:t>
            </a:r>
          </a:p>
          <a:p>
            <a:pPr eaLnBrk="1">
              <a:buFont typeface="StarSymbol" charset="0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public void actionPerformed(ActionEvent e) {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if (exit == e.getSource()) {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			System.exit(0);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}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if (del == e.getSource()) {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int i = studenti.getSelectedIndex();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if ((i&gt;=0) &amp;&amp; (i&lt;studenti.getItemCount())) {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studenti.remove(i);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exam.remove(i);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media.setText("media=" + exam.getMedia());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}</a:t>
            </a:r>
          </a:p>
          <a:p>
            <a:pPr eaLnBrk="1">
              <a:buFont typeface="StarSymbol" charset="0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}</a:t>
            </a:r>
          </a:p>
          <a:p>
            <a:pPr eaLnBrk="1">
              <a:buFont typeface="StarSymbol" charset="0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Tratarea evenimentelor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8038"/>
            <a:ext cx="10080625" cy="6751637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if (add == e.getSource()) {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try {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 Student s = new Student(nume.getText());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 s.setNota(Double.parseDouble( nota.getText()));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 exam.addStudent(s);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 studenti.add(s.toString());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 media.setText("media="+exam.getMedia());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} catch (StudentException ex) {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 System.out.println("nota gresita");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 }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}</a:t>
            </a:r>
          </a:p>
          <a:p>
            <a:pPr eaLnBrk="1">
              <a:buFont typeface="StarSymbol" charset="0"/>
              <a:buNone/>
            </a:pPr>
            <a:r>
              <a:rPr lang="en-US" altLang="en-US" sz="3000" b="1" smtClean="0">
                <a:latin typeface="Courier New" panose="02070309020205020404" pitchFamily="49" charset="0"/>
              </a:rPr>
              <a:t>}</a:t>
            </a:r>
          </a:p>
          <a:p>
            <a:pPr eaLnBrk="1">
              <a:buFont typeface="StarSymbol" charset="0"/>
              <a:buNone/>
            </a:pPr>
            <a:endParaRPr lang="en-US" altLang="en-US" sz="30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595438"/>
            <a:ext cx="8569325" cy="1716087"/>
          </a:xfrm>
        </p:spPr>
        <p:txBody>
          <a:bodyPr/>
          <a:lstStyle/>
          <a:p>
            <a:pPr eaLnBrk="1"/>
            <a:r>
              <a:rPr lang="en-US" altLang="zh-CN" smtClean="0">
                <a:ea typeface="SimSun" panose="02010600030101010101" pitchFamily="2" charset="-122"/>
              </a:rPr>
              <a:t>Lecture 8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08063" y="3359150"/>
            <a:ext cx="8148637" cy="701675"/>
          </a:xfrm>
        </p:spPr>
        <p:txBody>
          <a:bodyPr>
            <a:spAutoFit/>
          </a:bodyPr>
          <a:lstStyle/>
          <a:p>
            <a:pPr eaLnBrk="1"/>
            <a:r>
              <a:rPr lang="en-US" altLang="zh-CN" sz="4900" smtClean="0">
                <a:ea typeface="SimSun" panose="02010600030101010101" pitchFamily="2" charset="-122"/>
              </a:rPr>
              <a:t>Interfe</a:t>
            </a:r>
            <a:r>
              <a:rPr lang="ro-RO" altLang="zh-CN" sz="4900" smtClean="0">
                <a:ea typeface="SimSun" panose="02010600030101010101" pitchFamily="2" charset="-122"/>
              </a:rPr>
              <a:t>ţe utilizator cu </a:t>
            </a:r>
            <a:r>
              <a:rPr lang="en-US" altLang="zh-CN" sz="4900" smtClean="0">
                <a:ea typeface="SimSun" panose="02010600030101010101" pitchFamily="2" charset="-122"/>
              </a:rPr>
              <a:t>Swing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223838"/>
            <a:ext cx="9074150" cy="593725"/>
          </a:xfrm>
        </p:spPr>
        <p:txBody>
          <a:bodyPr>
            <a:spAutoFit/>
          </a:bodyPr>
          <a:lstStyle/>
          <a:p>
            <a:pPr eaLnBrk="1"/>
            <a:r>
              <a:rPr lang="en-US" altLang="zh-CN" sz="3500" smtClean="0">
                <a:ea typeface="SimSun" panose="02010600030101010101" pitchFamily="2" charset="-122"/>
              </a:rPr>
              <a:t>Swing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76338"/>
            <a:ext cx="9074150" cy="4664075"/>
          </a:xfrm>
        </p:spPr>
        <p:txBody>
          <a:bodyPr>
            <a:spAutoFit/>
          </a:bodyPr>
          <a:lstStyle/>
          <a:p>
            <a:pPr eaLnBrk="1"/>
            <a:r>
              <a:rPr lang="en-US" altLang="zh-CN" sz="2200" smtClean="0">
                <a:ea typeface="SimSun" panose="02010600030101010101" pitchFamily="2" charset="-122"/>
              </a:rPr>
              <a:t>Clas</a:t>
            </a:r>
            <a:r>
              <a:rPr lang="ro-RO" altLang="zh-CN" sz="2200" smtClean="0">
                <a:ea typeface="SimSun" panose="02010600030101010101" pitchFamily="2" charset="-122"/>
              </a:rPr>
              <a:t>e</a:t>
            </a:r>
            <a:r>
              <a:rPr lang="en-US" altLang="zh-CN" sz="2200" smtClean="0">
                <a:ea typeface="SimSun" panose="02010600030101010101" pitchFamily="2" charset="-122"/>
              </a:rPr>
              <a:t> </a:t>
            </a:r>
            <a:r>
              <a:rPr lang="ro-RO" altLang="zh-CN" sz="2200" smtClean="0">
                <a:ea typeface="SimSun" panose="02010600030101010101" pitchFamily="2" charset="-122"/>
              </a:rPr>
              <a:t>din </a:t>
            </a:r>
            <a:r>
              <a:rPr lang="en-US" altLang="zh-CN" sz="2200" smtClean="0">
                <a:ea typeface="SimSun" panose="02010600030101010101" pitchFamily="2" charset="-122"/>
              </a:rPr>
              <a:t>pac</a:t>
            </a:r>
            <a:r>
              <a:rPr lang="ro-RO" altLang="zh-CN" sz="2200" smtClean="0">
                <a:ea typeface="SimSun" panose="02010600030101010101" pitchFamily="2" charset="-122"/>
              </a:rPr>
              <a:t>hetul</a:t>
            </a:r>
            <a:r>
              <a:rPr lang="en-US" altLang="zh-CN" sz="2200" smtClean="0">
                <a:ea typeface="SimSun" panose="02010600030101010101" pitchFamily="2" charset="-122"/>
              </a:rPr>
              <a:t> </a:t>
            </a:r>
            <a:r>
              <a:rPr lang="en-US" altLang="zh-CN" sz="2200" smtClean="0">
                <a:latin typeface="Courier New" panose="02070309020205020404" pitchFamily="49" charset="0"/>
                <a:ea typeface="SimSun" panose="02010600030101010101" pitchFamily="2" charset="-122"/>
              </a:rPr>
              <a:t>javax.swing</a:t>
            </a:r>
            <a:endParaRPr lang="en-US" altLang="zh-CN" sz="2200" smtClean="0">
              <a:ea typeface="SimSun" panose="02010600030101010101" pitchFamily="2" charset="-122"/>
            </a:endParaRPr>
          </a:p>
          <a:p>
            <a:pPr eaLnBrk="1">
              <a:spcBef>
                <a:spcPct val="40000"/>
              </a:spcBef>
            </a:pPr>
            <a:r>
              <a:rPr lang="ro-RO" altLang="zh-CN" sz="2200" smtClean="0">
                <a:ea typeface="SimSun" panose="02010600030101010101" pitchFamily="2" charset="-122"/>
              </a:rPr>
              <a:t>Câteva componente de bază </a:t>
            </a:r>
            <a:endParaRPr lang="en-US" altLang="zh-CN" sz="2200" smtClean="0">
              <a:ea typeface="SimSun" panose="02010600030101010101" pitchFamily="2" charset="-122"/>
            </a:endParaRPr>
          </a:p>
          <a:p>
            <a:pPr lvl="1" eaLnBrk="1"/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JLabel</a:t>
            </a:r>
          </a:p>
          <a:p>
            <a:pPr lvl="1" eaLnBrk="1"/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JTextField</a:t>
            </a:r>
          </a:p>
          <a:p>
            <a:pPr lvl="1" eaLnBrk="1"/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JCheckBox</a:t>
            </a:r>
          </a:p>
          <a:p>
            <a:pPr lvl="1" eaLnBrk="1"/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JComboBox</a:t>
            </a:r>
          </a:p>
          <a:p>
            <a:pPr lvl="1" eaLnBrk="1"/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JList</a:t>
            </a:r>
          </a:p>
          <a:p>
            <a:pPr lvl="1" eaLnBrk="1"/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JPanel</a:t>
            </a:r>
          </a:p>
          <a:p>
            <a:pPr eaLnBrk="1">
              <a:spcBef>
                <a:spcPct val="40000"/>
              </a:spcBef>
            </a:pPr>
            <a:r>
              <a:rPr lang="ro-RO" altLang="zh-CN" sz="2200" smtClean="0">
                <a:ea typeface="SimSun" panose="02010600030101010101" pitchFamily="2" charset="-122"/>
              </a:rPr>
              <a:t>Cele mai multe dintre componentele swing sunt scrise complet în Java, astfel încât ele oferă portabilitate maximă şi flexibilitate mai mare decât a celor din pachetul awt</a:t>
            </a:r>
            <a:endParaRPr lang="en-US" altLang="zh-CN" sz="2200" smtClean="0">
              <a:ea typeface="SimSun" panose="02010600030101010101" pitchFamily="2" charset="-122"/>
            </a:endParaRPr>
          </a:p>
          <a:p>
            <a:pPr lvl="1" eaLnBrk="1"/>
            <a:r>
              <a:rPr lang="ro-RO" altLang="zh-CN" sz="2000" smtClean="0">
                <a:ea typeface="SimSun" panose="02010600030101010101" pitchFamily="2" charset="-122"/>
              </a:rPr>
              <a:t>Componentele a</a:t>
            </a:r>
            <a:r>
              <a:rPr lang="en-US" altLang="zh-CN" sz="2000" smtClean="0">
                <a:ea typeface="SimSun" panose="02010600030101010101" pitchFamily="2" charset="-122"/>
              </a:rPr>
              <a:t>wt </a:t>
            </a:r>
            <a:r>
              <a:rPr lang="ro-RO" altLang="zh-CN" sz="2000" smtClean="0">
                <a:ea typeface="SimSun" panose="02010600030101010101" pitchFamily="2" charset="-122"/>
              </a:rPr>
              <a:t>sunt dependente de </a:t>
            </a:r>
            <a:r>
              <a:rPr lang="en-US" altLang="zh-CN" sz="2000" smtClean="0">
                <a:ea typeface="SimSun" panose="02010600030101010101" pitchFamily="2" charset="-122"/>
              </a:rPr>
              <a:t>platform</a:t>
            </a:r>
            <a:r>
              <a:rPr lang="ro-RO" altLang="zh-CN" sz="2000" smtClean="0">
                <a:ea typeface="SimSun" panose="02010600030101010101" pitchFamily="2" charset="-122"/>
              </a:rPr>
              <a:t>ă</a:t>
            </a:r>
            <a:endParaRPr lang="en-US" altLang="zh-CN" sz="2000" smtClean="0">
              <a:ea typeface="SimSun" panose="02010600030101010101" pitchFamily="2" charset="-122"/>
            </a:endParaRPr>
          </a:p>
          <a:p>
            <a:pPr lvl="1" eaLnBrk="1"/>
            <a:r>
              <a:rPr lang="ro-RO" altLang="zh-CN" sz="2000" smtClean="0">
                <a:ea typeface="SimSun" panose="02010600030101010101" pitchFamily="2" charset="-122"/>
              </a:rPr>
              <a:t>Doar anumite componente </a:t>
            </a:r>
            <a:r>
              <a:rPr lang="en-US" altLang="zh-CN" sz="2000" smtClean="0">
                <a:ea typeface="SimSun" panose="02010600030101010101" pitchFamily="2" charset="-122"/>
              </a:rPr>
              <a:t>swing </a:t>
            </a:r>
            <a:r>
              <a:rPr lang="ro-RO" altLang="zh-CN" sz="2000" smtClean="0">
                <a:ea typeface="SimSun" panose="02010600030101010101" pitchFamily="2" charset="-122"/>
              </a:rPr>
              <a:t>sunt </a:t>
            </a:r>
            <a:r>
              <a:rPr lang="en-US" altLang="zh-CN" sz="2000" smtClean="0">
                <a:ea typeface="SimSun" panose="02010600030101010101" pitchFamily="2" charset="-122"/>
              </a:rPr>
              <a:t>dependen</a:t>
            </a:r>
            <a:r>
              <a:rPr lang="ro-RO" altLang="zh-CN" sz="2000" smtClean="0">
                <a:ea typeface="SimSun" panose="02010600030101010101" pitchFamily="2" charset="-122"/>
              </a:rPr>
              <a:t>te de </a:t>
            </a:r>
            <a:r>
              <a:rPr lang="en-US" altLang="zh-CN" sz="2000" smtClean="0">
                <a:ea typeface="SimSun" panose="02010600030101010101" pitchFamily="2" charset="-122"/>
              </a:rPr>
              <a:t>platform</a:t>
            </a:r>
            <a:r>
              <a:rPr lang="ro-RO" altLang="zh-CN" sz="2000" smtClean="0">
                <a:ea typeface="SimSun" panose="02010600030101010101" pitchFamily="2" charset="-122"/>
              </a:rPr>
              <a:t>ă</a:t>
            </a:r>
            <a:r>
              <a:rPr lang="en-US" altLang="zh-CN" sz="2000" smtClean="0">
                <a:ea typeface="SimSun" panose="02010600030101010101" pitchFamily="2" charset="-122"/>
              </a:rPr>
              <a:t>. </a:t>
            </a:r>
            <a:r>
              <a:rPr lang="ro-RO" altLang="zh-CN" sz="2000" smtClean="0">
                <a:ea typeface="SimSun" panose="02010600030101010101" pitchFamily="2" charset="-122"/>
              </a:rPr>
              <a:t>ex</a:t>
            </a:r>
            <a:r>
              <a:rPr lang="en-US" altLang="zh-CN" sz="2000" smtClean="0">
                <a:ea typeface="SimSun" panose="02010600030101010101" pitchFamily="2" charset="-122"/>
              </a:rPr>
              <a:t>, </a:t>
            </a:r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JFrame</a:t>
            </a:r>
          </a:p>
          <a:p>
            <a:pPr lvl="1" eaLnBrk="1"/>
            <a:endParaRPr lang="en-US" altLang="zh-CN" sz="2000" smtClean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223838"/>
            <a:ext cx="9074150" cy="593725"/>
          </a:xfrm>
        </p:spPr>
        <p:txBody>
          <a:bodyPr>
            <a:spAutoFit/>
          </a:bodyPr>
          <a:lstStyle/>
          <a:p>
            <a:pPr eaLnBrk="1"/>
            <a:r>
              <a:rPr lang="en-US" altLang="zh-CN" sz="3500" smtClean="0">
                <a:ea typeface="SimSun" panose="02010600030101010101" pitchFamily="2" charset="-122"/>
              </a:rPr>
              <a:t>Swing</a:t>
            </a:r>
            <a:endParaRPr lang="zh-CN" altLang="en-US" sz="3500" smtClean="0">
              <a:ea typeface="SimSun" panose="02010600030101010101" pitchFamily="2" charset="-122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243013"/>
            <a:ext cx="9074150" cy="4699000"/>
          </a:xfrm>
        </p:spPr>
        <p:txBody>
          <a:bodyPr>
            <a:spAutoFit/>
          </a:bodyPr>
          <a:lstStyle/>
          <a:p>
            <a:pPr eaLnBrk="1"/>
            <a:r>
              <a:rPr lang="ro-RO" altLang="zh-CN" sz="2200" smtClean="0">
                <a:ea typeface="SimSun" panose="02010600030101010101" pitchFamily="2" charset="-122"/>
              </a:rPr>
              <a:t>Superclase comune mai multor componente </a:t>
            </a:r>
            <a:r>
              <a:rPr lang="en-US" altLang="zh-CN" sz="2200" smtClean="0">
                <a:ea typeface="SimSun" panose="02010600030101010101" pitchFamily="2" charset="-122"/>
              </a:rPr>
              <a:t>Swing</a:t>
            </a: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>
              <a:spcBef>
                <a:spcPct val="50000"/>
              </a:spcBef>
            </a:pPr>
            <a:r>
              <a:rPr lang="ro-RO" altLang="zh-CN" sz="2200" smtClean="0">
                <a:latin typeface="Courier New" panose="02070309020205020404" pitchFamily="49" charset="0"/>
                <a:ea typeface="SimSun" panose="02010600030101010101" pitchFamily="2" charset="-122"/>
              </a:rPr>
              <a:t>Clasa </a:t>
            </a:r>
            <a:r>
              <a:rPr lang="en-US" altLang="zh-CN" sz="2200" smtClean="0">
                <a:latin typeface="Courier New" panose="02070309020205020404" pitchFamily="49" charset="0"/>
                <a:ea typeface="SimSun" panose="02010600030101010101" pitchFamily="2" charset="-122"/>
              </a:rPr>
              <a:t>Component</a:t>
            </a:r>
            <a:r>
              <a:rPr lang="en-US" altLang="zh-CN" sz="2200" smtClean="0">
                <a:ea typeface="SimSun" panose="02010600030101010101" pitchFamily="2" charset="-122"/>
              </a:rPr>
              <a:t> </a:t>
            </a:r>
          </a:p>
          <a:p>
            <a:pPr lvl="1" eaLnBrk="1"/>
            <a:r>
              <a:rPr lang="ro-RO" altLang="zh-CN" sz="2000" smtClean="0">
                <a:ea typeface="SimSun" panose="02010600030101010101" pitchFamily="2" charset="-122"/>
              </a:rPr>
              <a:t>Operaţii comune majorităţii componentelor </a:t>
            </a:r>
            <a:r>
              <a:rPr lang="en-US" altLang="zh-CN" sz="2000" smtClean="0">
                <a:ea typeface="SimSun" panose="02010600030101010101" pitchFamily="2" charset="-122"/>
              </a:rPr>
              <a:t>GUI </a:t>
            </a:r>
            <a:r>
              <a:rPr lang="ro-RO" altLang="zh-CN" sz="2000" smtClean="0">
                <a:ea typeface="SimSun" panose="02010600030101010101" pitchFamily="2" charset="-122"/>
              </a:rPr>
              <a:t>sunt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ro-RO" altLang="zh-CN" sz="2000" smtClean="0">
                <a:ea typeface="SimSun" panose="02010600030101010101" pitchFamily="2" charset="-122"/>
              </a:rPr>
              <a:t>în clasa </a:t>
            </a:r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Component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</a:p>
          <a:p>
            <a:pPr eaLnBrk="1">
              <a:spcBef>
                <a:spcPct val="50000"/>
              </a:spcBef>
            </a:pPr>
            <a:r>
              <a:rPr lang="en-US" altLang="zh-CN" sz="2200" smtClean="0">
                <a:latin typeface="Courier New" panose="02070309020205020404" pitchFamily="49" charset="0"/>
                <a:ea typeface="SimSun" panose="02010600030101010101" pitchFamily="2" charset="-122"/>
              </a:rPr>
              <a:t>Container</a:t>
            </a:r>
            <a:r>
              <a:rPr lang="en-US" altLang="zh-CN" sz="2200" smtClean="0">
                <a:ea typeface="SimSun" panose="02010600030101010101" pitchFamily="2" charset="-122"/>
              </a:rPr>
              <a:t> class</a:t>
            </a:r>
          </a:p>
          <a:p>
            <a:pPr lvl="1" eaLnBrk="1">
              <a:spcBef>
                <a:spcPct val="50000"/>
              </a:spcBef>
            </a:pPr>
            <a:r>
              <a:rPr lang="ro-RO" altLang="zh-CN" sz="2000" smtClean="0">
                <a:ea typeface="SimSun" panose="02010600030101010101" pitchFamily="2" charset="-122"/>
              </a:rPr>
              <a:t>Are două metode importante</a:t>
            </a:r>
            <a:endParaRPr lang="en-US" altLang="zh-CN" sz="2000" smtClean="0">
              <a:ea typeface="SimSun" panose="02010600030101010101" pitchFamily="2" charset="-122"/>
            </a:endParaRPr>
          </a:p>
          <a:p>
            <a:pPr lvl="2" eaLnBrk="1"/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add </a:t>
            </a:r>
            <a:r>
              <a:rPr lang="en-US" altLang="zh-CN" sz="1800" smtClean="0">
                <a:ea typeface="SimSun" panose="02010600030101010101" pitchFamily="2" charset="-122"/>
              </a:rPr>
              <a:t>— ad</a:t>
            </a:r>
            <a:r>
              <a:rPr lang="ro-RO" altLang="zh-CN" sz="1800" smtClean="0">
                <a:ea typeface="SimSun" panose="02010600030101010101" pitchFamily="2" charset="-122"/>
              </a:rPr>
              <a:t>augă</a:t>
            </a:r>
            <a:r>
              <a:rPr lang="en-US" altLang="zh-CN" sz="1800" smtClean="0">
                <a:ea typeface="SimSun" panose="02010600030101010101" pitchFamily="2" charset="-122"/>
              </a:rPr>
              <a:t> component</a:t>
            </a:r>
            <a:r>
              <a:rPr lang="ro-RO" altLang="zh-CN" sz="1800" smtClean="0">
                <a:ea typeface="SimSun" panose="02010600030101010101" pitchFamily="2" charset="-122"/>
              </a:rPr>
              <a:t>a</a:t>
            </a:r>
            <a:r>
              <a:rPr lang="en-US" altLang="zh-CN" sz="1800" smtClean="0">
                <a:ea typeface="SimSun" panose="02010600030101010101" pitchFamily="2" charset="-122"/>
              </a:rPr>
              <a:t> </a:t>
            </a:r>
            <a:r>
              <a:rPr lang="ro-RO" altLang="zh-CN" sz="1800" smtClean="0">
                <a:ea typeface="SimSun" panose="02010600030101010101" pitchFamily="2" charset="-122"/>
              </a:rPr>
              <a:t>la un </a:t>
            </a:r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container</a:t>
            </a:r>
            <a:r>
              <a:rPr lang="en-US" altLang="zh-CN" sz="1800" smtClean="0">
                <a:ea typeface="SimSun" panose="02010600030101010101" pitchFamily="2" charset="-122"/>
              </a:rPr>
              <a:t>.</a:t>
            </a:r>
          </a:p>
          <a:p>
            <a:pPr lvl="2" eaLnBrk="1"/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setLayout</a:t>
            </a:r>
            <a:r>
              <a:rPr lang="en-US" altLang="zh-CN" sz="1800" smtClean="0">
                <a:ea typeface="SimSun" panose="02010600030101010101" pitchFamily="2" charset="-122"/>
              </a:rPr>
              <a:t> —</a:t>
            </a:r>
            <a:r>
              <a:rPr lang="ro-RO" altLang="zh-CN" sz="1800" smtClean="0">
                <a:ea typeface="SimSun" panose="02010600030101010101" pitchFamily="2" charset="-122"/>
              </a:rPr>
              <a:t> stabileşte modul de poziţionare a componetelor</a:t>
            </a:r>
            <a:endParaRPr lang="en-US" altLang="zh-CN" sz="1800" smtClean="0">
              <a:ea typeface="SimSun" panose="02010600030101010101" pitchFamily="2" charset="-122"/>
            </a:endParaRPr>
          </a:p>
        </p:txBody>
      </p:sp>
      <p:grpSp>
        <p:nvGrpSpPr>
          <p:cNvPr id="77828" name="Group 21"/>
          <p:cNvGrpSpPr>
            <a:grpSpLocks/>
          </p:cNvGrpSpPr>
          <p:nvPr/>
        </p:nvGrpSpPr>
        <p:grpSpPr bwMode="auto">
          <a:xfrm>
            <a:off x="1092200" y="2016125"/>
            <a:ext cx="7224713" cy="1847850"/>
            <a:chOff x="624" y="1056"/>
            <a:chExt cx="4512" cy="1440"/>
          </a:xfrm>
        </p:grpSpPr>
        <p:grpSp>
          <p:nvGrpSpPr>
            <p:cNvPr id="77829" name="Group 20"/>
            <p:cNvGrpSpPr>
              <a:grpSpLocks/>
            </p:cNvGrpSpPr>
            <p:nvPr/>
          </p:nvGrpSpPr>
          <p:grpSpPr bwMode="auto">
            <a:xfrm>
              <a:off x="624" y="1056"/>
              <a:ext cx="4512" cy="1440"/>
              <a:chOff x="624" y="1056"/>
              <a:chExt cx="4512" cy="1440"/>
            </a:xfrm>
          </p:grpSpPr>
          <p:sp>
            <p:nvSpPr>
              <p:cNvPr id="77839" name="AutoShape 4"/>
              <p:cNvSpPr>
                <a:spLocks noChangeArrowheads="1"/>
              </p:cNvSpPr>
              <p:nvPr/>
            </p:nvSpPr>
            <p:spPr bwMode="auto">
              <a:xfrm>
                <a:off x="624" y="1056"/>
                <a:ext cx="1488" cy="288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ea typeface="SimSun" panose="02010600030101010101" pitchFamily="2" charset="-122"/>
                  </a:rPr>
                  <a:t>java.lang.Object</a:t>
                </a:r>
              </a:p>
            </p:txBody>
          </p:sp>
          <p:sp>
            <p:nvSpPr>
              <p:cNvPr id="77840" name="AutoShape 5"/>
              <p:cNvSpPr>
                <a:spLocks noChangeArrowheads="1"/>
              </p:cNvSpPr>
              <p:nvPr/>
            </p:nvSpPr>
            <p:spPr bwMode="auto">
              <a:xfrm>
                <a:off x="2400" y="1824"/>
                <a:ext cx="1536" cy="288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ea typeface="SimSun" panose="02010600030101010101" pitchFamily="2" charset="-122"/>
                  </a:rPr>
                  <a:t>java.awt.Container</a:t>
                </a:r>
              </a:p>
            </p:txBody>
          </p:sp>
          <p:sp>
            <p:nvSpPr>
              <p:cNvPr id="77841" name="AutoShape 7"/>
              <p:cNvSpPr>
                <a:spLocks noChangeArrowheads="1"/>
              </p:cNvSpPr>
              <p:nvPr/>
            </p:nvSpPr>
            <p:spPr bwMode="auto">
              <a:xfrm>
                <a:off x="3312" y="2208"/>
                <a:ext cx="1824" cy="288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ea typeface="SimSun" panose="02010600030101010101" pitchFamily="2" charset="-122"/>
                  </a:rPr>
                  <a:t>Javax.swing,JComponent</a:t>
                </a:r>
              </a:p>
            </p:txBody>
          </p:sp>
          <p:sp>
            <p:nvSpPr>
              <p:cNvPr id="77842" name="AutoShape 8"/>
              <p:cNvSpPr>
                <a:spLocks noChangeArrowheads="1"/>
              </p:cNvSpPr>
              <p:nvPr/>
            </p:nvSpPr>
            <p:spPr bwMode="auto">
              <a:xfrm>
                <a:off x="1488" y="1440"/>
                <a:ext cx="1584" cy="288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ea typeface="SimSun" panose="02010600030101010101" pitchFamily="2" charset="-122"/>
                  </a:rPr>
                  <a:t>java.awt.Component</a:t>
                </a:r>
              </a:p>
            </p:txBody>
          </p:sp>
        </p:grpSp>
        <p:grpSp>
          <p:nvGrpSpPr>
            <p:cNvPr id="77830" name="Group 13"/>
            <p:cNvGrpSpPr>
              <a:grpSpLocks/>
            </p:cNvGrpSpPr>
            <p:nvPr/>
          </p:nvGrpSpPr>
          <p:grpSpPr bwMode="auto">
            <a:xfrm>
              <a:off x="1248" y="1344"/>
              <a:ext cx="240" cy="240"/>
              <a:chOff x="1248" y="1344"/>
              <a:chExt cx="240" cy="240"/>
            </a:xfrm>
          </p:grpSpPr>
          <p:sp>
            <p:nvSpPr>
              <p:cNvPr id="77837" name="Line 10"/>
              <p:cNvSpPr>
                <a:spLocks noChangeShapeType="1"/>
              </p:cNvSpPr>
              <p:nvPr/>
            </p:nvSpPr>
            <p:spPr bwMode="auto">
              <a:xfrm flipH="1">
                <a:off x="1248" y="158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77838" name="Line 12"/>
              <p:cNvSpPr>
                <a:spLocks noChangeShapeType="1"/>
              </p:cNvSpPr>
              <p:nvPr/>
            </p:nvSpPr>
            <p:spPr bwMode="auto">
              <a:xfrm flipV="1">
                <a:off x="1248" y="13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77831" name="Group 14"/>
            <p:cNvGrpSpPr>
              <a:grpSpLocks/>
            </p:cNvGrpSpPr>
            <p:nvPr/>
          </p:nvGrpSpPr>
          <p:grpSpPr bwMode="auto">
            <a:xfrm>
              <a:off x="2160" y="1728"/>
              <a:ext cx="240" cy="240"/>
              <a:chOff x="1248" y="1344"/>
              <a:chExt cx="240" cy="240"/>
            </a:xfrm>
          </p:grpSpPr>
          <p:sp>
            <p:nvSpPr>
              <p:cNvPr id="77835" name="Line 15"/>
              <p:cNvSpPr>
                <a:spLocks noChangeShapeType="1"/>
              </p:cNvSpPr>
              <p:nvPr/>
            </p:nvSpPr>
            <p:spPr bwMode="auto">
              <a:xfrm flipH="1">
                <a:off x="1248" y="158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77836" name="Line 16"/>
              <p:cNvSpPr>
                <a:spLocks noChangeShapeType="1"/>
              </p:cNvSpPr>
              <p:nvPr/>
            </p:nvSpPr>
            <p:spPr bwMode="auto">
              <a:xfrm flipV="1">
                <a:off x="1248" y="13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77832" name="Group 17"/>
            <p:cNvGrpSpPr>
              <a:grpSpLocks/>
            </p:cNvGrpSpPr>
            <p:nvPr/>
          </p:nvGrpSpPr>
          <p:grpSpPr bwMode="auto">
            <a:xfrm>
              <a:off x="3072" y="2112"/>
              <a:ext cx="240" cy="240"/>
              <a:chOff x="1248" y="1344"/>
              <a:chExt cx="240" cy="240"/>
            </a:xfrm>
          </p:grpSpPr>
          <p:sp>
            <p:nvSpPr>
              <p:cNvPr id="77833" name="Line 18"/>
              <p:cNvSpPr>
                <a:spLocks noChangeShapeType="1"/>
              </p:cNvSpPr>
              <p:nvPr/>
            </p:nvSpPr>
            <p:spPr bwMode="auto">
              <a:xfrm flipH="1">
                <a:off x="1248" y="158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77834" name="Line 19"/>
              <p:cNvSpPr>
                <a:spLocks noChangeShapeType="1"/>
              </p:cNvSpPr>
              <p:nvPr/>
            </p:nvSpPr>
            <p:spPr bwMode="auto">
              <a:xfrm flipV="1">
                <a:off x="1248" y="13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207963"/>
            <a:ext cx="9074150" cy="725487"/>
          </a:xfrm>
        </p:spPr>
        <p:txBody>
          <a:bodyPr>
            <a:spAutoFit/>
          </a:bodyPr>
          <a:lstStyle/>
          <a:p>
            <a:pPr eaLnBrk="1"/>
            <a:r>
              <a:rPr lang="en-US" altLang="zh-CN" sz="4000" smtClean="0">
                <a:ea typeface="SimSun" panose="02010600030101010101" pitchFamily="2" charset="-122"/>
              </a:rPr>
              <a:t>Event-Handling Model (1)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3238" y="1092200"/>
            <a:ext cx="9074150" cy="1590675"/>
          </a:xfrm>
        </p:spPr>
        <p:txBody>
          <a:bodyPr>
            <a:spAutoFit/>
          </a:bodyPr>
          <a:lstStyle/>
          <a:p>
            <a:pPr eaLnBrk="1"/>
            <a:r>
              <a:rPr lang="en-US" altLang="zh-CN" sz="2000" smtClean="0">
                <a:ea typeface="SimSun" panose="02010600030101010101" pitchFamily="2" charset="-122"/>
              </a:rPr>
              <a:t>Unele componente GUI sunt componente </a:t>
            </a:r>
            <a:r>
              <a:rPr lang="en-US" altLang="zh-CN" sz="2000" i="1" smtClean="0">
                <a:ea typeface="SimSun" panose="02010600030101010101" pitchFamily="2" charset="-122"/>
              </a:rPr>
              <a:t>event driven </a:t>
            </a:r>
            <a:r>
              <a:rPr lang="en-US" altLang="zh-CN" sz="2000" smtClean="0">
                <a:ea typeface="SimSun" panose="02010600030101010101" pitchFamily="2" charset="-122"/>
              </a:rPr>
              <a:t>— gener\nd evenimente</a:t>
            </a:r>
          </a:p>
          <a:p>
            <a:pPr lvl="1" eaLnBrk="1"/>
            <a:r>
              <a:rPr lang="en-US" altLang="zh-CN" sz="1800" smtClean="0">
                <a:ea typeface="SimSun" panose="02010600030101010101" pitchFamily="2" charset="-122"/>
              </a:rPr>
              <a:t>ex, mi</a:t>
            </a:r>
            <a:r>
              <a:rPr lang="ro-RO" altLang="zh-CN" sz="1800" smtClean="0"/>
              <a:t>s</a:t>
            </a:r>
            <a:r>
              <a:rPr lang="en-US" altLang="zh-CN" sz="1800" smtClean="0">
                <a:ea typeface="SimSun" panose="02010600030101010101" pitchFamily="2" charset="-122"/>
              </a:rPr>
              <a:t>carea mouse-ului, click pe un button, tastare text </a:t>
            </a:r>
            <a:r>
              <a:rPr lang="ro-RO" altLang="zh-CN" sz="1800" smtClean="0"/>
              <a:t>în</a:t>
            </a:r>
            <a:r>
              <a:rPr lang="en-US" altLang="zh-CN" sz="1800" smtClean="0">
                <a:ea typeface="SimSun" panose="02010600030101010101" pitchFamily="2" charset="-122"/>
              </a:rPr>
              <a:t> text field, select</a:t>
            </a:r>
            <a:r>
              <a:rPr lang="ro-RO" altLang="zh-CN" sz="1800" smtClean="0"/>
              <a:t>are </a:t>
            </a:r>
            <a:r>
              <a:rPr lang="en-US" altLang="zh-CN" sz="1800" smtClean="0">
                <a:ea typeface="SimSun" panose="02010600030101010101" pitchFamily="2" charset="-122"/>
              </a:rPr>
              <a:t> item </a:t>
            </a:r>
            <a:r>
              <a:rPr lang="ro-RO" altLang="zh-CN" sz="1800" smtClean="0"/>
              <a:t>de</a:t>
            </a:r>
            <a:r>
              <a:rPr lang="en-US" altLang="zh-CN" sz="1800" smtClean="0">
                <a:ea typeface="SimSun" panose="02010600030101010101" pitchFamily="2" charset="-122"/>
              </a:rPr>
              <a:t> men</a:t>
            </a:r>
            <a:r>
              <a:rPr lang="ro-RO" altLang="zh-CN" sz="1800" smtClean="0"/>
              <a:t>i</a:t>
            </a:r>
            <a:r>
              <a:rPr lang="en-US" altLang="zh-CN" sz="1800" smtClean="0">
                <a:ea typeface="SimSun" panose="02010600030101010101" pitchFamily="2" charset="-122"/>
              </a:rPr>
              <a:t>u, etc.</a:t>
            </a:r>
          </a:p>
          <a:p>
            <a:pPr lvl="1" eaLnBrk="1"/>
            <a:r>
              <a:rPr lang="ro-RO" altLang="zh-CN" sz="1800" smtClean="0"/>
              <a:t>La interacţiunea cu utilizatorul se transmite un eveniment programului</a:t>
            </a:r>
            <a:r>
              <a:rPr lang="en-US" altLang="zh-CN" sz="1800" smtClean="0">
                <a:ea typeface="SimSun" panose="02010600030101010101" pitchFamily="2" charset="-122"/>
              </a:rPr>
              <a:t>. </a:t>
            </a:r>
            <a:r>
              <a:rPr lang="ro-RO" altLang="zh-CN" sz="1800" smtClean="0"/>
              <a:t>Tipuri de evenimente sunt în</a:t>
            </a:r>
            <a:r>
              <a:rPr lang="en-US" altLang="zh-CN" sz="1800" smtClean="0">
                <a:ea typeface="SimSun" panose="02010600030101010101" pitchFamily="2" charset="-122"/>
              </a:rPr>
              <a:t> </a:t>
            </a:r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java.awt.event</a:t>
            </a:r>
            <a:r>
              <a:rPr lang="en-US" altLang="zh-CN" sz="1800" smtClean="0">
                <a:ea typeface="SimSun" panose="02010600030101010101" pitchFamily="2" charset="-122"/>
              </a:rPr>
              <a:t> and </a:t>
            </a:r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javax.swing.event</a:t>
            </a:r>
            <a:endParaRPr lang="en-US" altLang="zh-CN" sz="1800" i="1" smtClean="0">
              <a:ea typeface="SimSun" panose="02010600030101010101" pitchFamily="2" charset="-122"/>
            </a:endParaRPr>
          </a:p>
        </p:txBody>
      </p:sp>
      <p:sp>
        <p:nvSpPr>
          <p:cNvPr id="78852" name="Line 50"/>
          <p:cNvSpPr>
            <a:spLocks noChangeShapeType="1"/>
          </p:cNvSpPr>
          <p:nvPr/>
        </p:nvSpPr>
        <p:spPr bwMode="auto">
          <a:xfrm>
            <a:off x="252413" y="3192463"/>
            <a:ext cx="957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0794" tIns="50397" rIns="100794" bIns="50397"/>
          <a:lstStyle/>
          <a:p>
            <a:endParaRPr lang="ro-RO"/>
          </a:p>
        </p:txBody>
      </p:sp>
      <p:grpSp>
        <p:nvGrpSpPr>
          <p:cNvPr id="78853" name="Group 99"/>
          <p:cNvGrpSpPr>
            <a:grpSpLocks/>
          </p:cNvGrpSpPr>
          <p:nvPr/>
        </p:nvGrpSpPr>
        <p:grpSpPr bwMode="auto">
          <a:xfrm>
            <a:off x="1344613" y="3863975"/>
            <a:ext cx="6719887" cy="2940050"/>
            <a:chOff x="768" y="2208"/>
            <a:chExt cx="3840" cy="1680"/>
          </a:xfrm>
        </p:grpSpPr>
        <p:grpSp>
          <p:nvGrpSpPr>
            <p:cNvPr id="78857" name="Group 98"/>
            <p:cNvGrpSpPr>
              <a:grpSpLocks/>
            </p:cNvGrpSpPr>
            <p:nvPr/>
          </p:nvGrpSpPr>
          <p:grpSpPr bwMode="auto">
            <a:xfrm>
              <a:off x="816" y="2208"/>
              <a:ext cx="3792" cy="1392"/>
              <a:chOff x="816" y="2208"/>
              <a:chExt cx="3792" cy="1392"/>
            </a:xfrm>
          </p:grpSpPr>
          <p:grpSp>
            <p:nvGrpSpPr>
              <p:cNvPr id="78860" name="Group 45"/>
              <p:cNvGrpSpPr>
                <a:grpSpLocks/>
              </p:cNvGrpSpPr>
              <p:nvPr/>
            </p:nvGrpSpPr>
            <p:grpSpPr bwMode="auto">
              <a:xfrm>
                <a:off x="816" y="2208"/>
                <a:ext cx="1129" cy="1392"/>
                <a:chOff x="816" y="2640"/>
                <a:chExt cx="1200" cy="1536"/>
              </a:xfrm>
            </p:grpSpPr>
            <p:sp>
              <p:nvSpPr>
                <p:cNvPr id="78883" name="Rectangle 6"/>
                <p:cNvSpPr>
                  <a:spLocks noChangeArrowheads="1"/>
                </p:cNvSpPr>
                <p:nvPr/>
              </p:nvSpPr>
              <p:spPr bwMode="auto">
                <a:xfrm>
                  <a:off x="960" y="2640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ActionEvent</a:t>
                  </a:r>
                </a:p>
              </p:txBody>
            </p:sp>
            <p:sp>
              <p:nvSpPr>
                <p:cNvPr id="78884" name="Rectangle 7"/>
                <p:cNvSpPr>
                  <a:spLocks noChangeArrowheads="1"/>
                </p:cNvSpPr>
                <p:nvPr/>
              </p:nvSpPr>
              <p:spPr bwMode="auto">
                <a:xfrm>
                  <a:off x="960" y="2976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AdjustmentEvent</a:t>
                  </a:r>
                </a:p>
              </p:txBody>
            </p:sp>
            <p:sp>
              <p:nvSpPr>
                <p:cNvPr id="78885" name="Rectangle 8"/>
                <p:cNvSpPr>
                  <a:spLocks noChangeArrowheads="1"/>
                </p:cNvSpPr>
                <p:nvPr/>
              </p:nvSpPr>
              <p:spPr bwMode="auto">
                <a:xfrm>
                  <a:off x="960" y="3936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TextEvent</a:t>
                  </a:r>
                </a:p>
              </p:txBody>
            </p:sp>
            <p:sp>
              <p:nvSpPr>
                <p:cNvPr id="78886" name="Rectangle 9"/>
                <p:cNvSpPr>
                  <a:spLocks noChangeArrowheads="1"/>
                </p:cNvSpPr>
                <p:nvPr/>
              </p:nvSpPr>
              <p:spPr bwMode="auto">
                <a:xfrm>
                  <a:off x="960" y="3312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ComponentEvent</a:t>
                  </a:r>
                </a:p>
              </p:txBody>
            </p:sp>
            <p:sp>
              <p:nvSpPr>
                <p:cNvPr id="78887" name="Rectangle 10"/>
                <p:cNvSpPr>
                  <a:spLocks noChangeArrowheads="1"/>
                </p:cNvSpPr>
                <p:nvPr/>
              </p:nvSpPr>
              <p:spPr bwMode="auto">
                <a:xfrm>
                  <a:off x="960" y="3600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ItemEvent</a:t>
                  </a:r>
                </a:p>
              </p:txBody>
            </p:sp>
            <p:grpSp>
              <p:nvGrpSpPr>
                <p:cNvPr id="78888" name="Group 26"/>
                <p:cNvGrpSpPr>
                  <a:grpSpLocks/>
                </p:cNvGrpSpPr>
                <p:nvPr/>
              </p:nvGrpSpPr>
              <p:grpSpPr bwMode="auto">
                <a:xfrm>
                  <a:off x="816" y="2784"/>
                  <a:ext cx="144" cy="1248"/>
                  <a:chOff x="816" y="2784"/>
                  <a:chExt cx="144" cy="1248"/>
                </a:xfrm>
              </p:grpSpPr>
              <p:sp>
                <p:nvSpPr>
                  <p:cNvPr id="78889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784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o-RO"/>
                  </a:p>
                </p:txBody>
              </p:sp>
              <p:sp>
                <p:nvSpPr>
                  <p:cNvPr id="7889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3120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o-RO"/>
                  </a:p>
                </p:txBody>
              </p:sp>
              <p:sp>
                <p:nvSpPr>
                  <p:cNvPr id="78891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3456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o-RO"/>
                  </a:p>
                </p:txBody>
              </p:sp>
              <p:sp>
                <p:nvSpPr>
                  <p:cNvPr id="78892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3744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o-RO"/>
                  </a:p>
                </p:txBody>
              </p:sp>
              <p:sp>
                <p:nvSpPr>
                  <p:cNvPr id="78893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4032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o-RO"/>
                  </a:p>
                </p:txBody>
              </p:sp>
              <p:sp>
                <p:nvSpPr>
                  <p:cNvPr id="78894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784"/>
                    <a:ext cx="0" cy="12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o-RO"/>
                  </a:p>
                </p:txBody>
              </p:sp>
            </p:grpSp>
          </p:grpSp>
          <p:grpSp>
            <p:nvGrpSpPr>
              <p:cNvPr id="78861" name="Group 47"/>
              <p:cNvGrpSpPr>
                <a:grpSpLocks/>
              </p:cNvGrpSpPr>
              <p:nvPr/>
            </p:nvGrpSpPr>
            <p:grpSpPr bwMode="auto">
              <a:xfrm>
                <a:off x="1945" y="2208"/>
                <a:ext cx="1354" cy="1392"/>
                <a:chOff x="2016" y="2640"/>
                <a:chExt cx="1440" cy="1536"/>
              </a:xfrm>
            </p:grpSpPr>
            <p:sp>
              <p:nvSpPr>
                <p:cNvPr id="78869" name="Rectangle 11"/>
                <p:cNvSpPr>
                  <a:spLocks noChangeArrowheads="1"/>
                </p:cNvSpPr>
                <p:nvPr/>
              </p:nvSpPr>
              <p:spPr bwMode="auto">
                <a:xfrm>
                  <a:off x="2400" y="2640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ContainerEvent</a:t>
                  </a:r>
                </a:p>
              </p:txBody>
            </p:sp>
            <p:sp>
              <p:nvSpPr>
                <p:cNvPr id="78870" name="Rectangle 12"/>
                <p:cNvSpPr>
                  <a:spLocks noChangeArrowheads="1"/>
                </p:cNvSpPr>
                <p:nvPr/>
              </p:nvSpPr>
              <p:spPr bwMode="auto">
                <a:xfrm>
                  <a:off x="2400" y="2976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FocusEvent</a:t>
                  </a:r>
                </a:p>
              </p:txBody>
            </p:sp>
            <p:sp>
              <p:nvSpPr>
                <p:cNvPr id="78871" name="Rectangle 14"/>
                <p:cNvSpPr>
                  <a:spLocks noChangeArrowheads="1"/>
                </p:cNvSpPr>
                <p:nvPr/>
              </p:nvSpPr>
              <p:spPr bwMode="auto">
                <a:xfrm>
                  <a:off x="2400" y="3600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PaintEvent</a:t>
                  </a:r>
                </a:p>
              </p:txBody>
            </p:sp>
            <p:sp>
              <p:nvSpPr>
                <p:cNvPr id="78872" name="Rectangle 15"/>
                <p:cNvSpPr>
                  <a:spLocks noChangeArrowheads="1"/>
                </p:cNvSpPr>
                <p:nvPr/>
              </p:nvSpPr>
              <p:spPr bwMode="auto">
                <a:xfrm>
                  <a:off x="2400" y="3936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WindowEvent</a:t>
                  </a:r>
                </a:p>
              </p:txBody>
            </p:sp>
            <p:sp>
              <p:nvSpPr>
                <p:cNvPr id="78873" name="AutoShape 19"/>
                <p:cNvSpPr>
                  <a:spLocks noChangeArrowheads="1"/>
                </p:cNvSpPr>
                <p:nvPr/>
              </p:nvSpPr>
              <p:spPr bwMode="auto">
                <a:xfrm>
                  <a:off x="2352" y="3312"/>
                  <a:ext cx="1104" cy="192"/>
                </a:xfrm>
                <a:prstGeom prst="parallelogram">
                  <a:avLst>
                    <a:gd name="adj" fmla="val 143750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zh-CN" sz="1500">
                      <a:ea typeface="SimSun" panose="02010600030101010101" pitchFamily="2" charset="-122"/>
                    </a:rPr>
                    <a:t>InputEvent</a:t>
                  </a:r>
                  <a:endParaRPr lang="zh-CN" altLang="en-US" sz="1500">
                    <a:ea typeface="SimSun" panose="02010600030101010101" pitchFamily="2" charset="-122"/>
                  </a:endParaRPr>
                </a:p>
              </p:txBody>
            </p:sp>
            <p:grpSp>
              <p:nvGrpSpPr>
                <p:cNvPr id="78874" name="Group 46"/>
                <p:cNvGrpSpPr>
                  <a:grpSpLocks/>
                </p:cNvGrpSpPr>
                <p:nvPr/>
              </p:nvGrpSpPr>
              <p:grpSpPr bwMode="auto">
                <a:xfrm>
                  <a:off x="2016" y="2784"/>
                  <a:ext cx="480" cy="1248"/>
                  <a:chOff x="2016" y="2784"/>
                  <a:chExt cx="480" cy="1248"/>
                </a:xfrm>
              </p:grpSpPr>
              <p:grpSp>
                <p:nvGrpSpPr>
                  <p:cNvPr id="78875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2256" y="2784"/>
                    <a:ext cx="240" cy="1248"/>
                    <a:chOff x="2256" y="2784"/>
                    <a:chExt cx="240" cy="1248"/>
                  </a:xfrm>
                </p:grpSpPr>
                <p:sp>
                  <p:nvSpPr>
                    <p:cNvPr id="78877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784"/>
                      <a:ext cx="1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ro-RO"/>
                    </a:p>
                  </p:txBody>
                </p:sp>
                <p:sp>
                  <p:nvSpPr>
                    <p:cNvPr id="78878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3120"/>
                      <a:ext cx="1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ro-RO"/>
                    </a:p>
                  </p:txBody>
                </p:sp>
                <p:sp>
                  <p:nvSpPr>
                    <p:cNvPr id="78879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3408"/>
                      <a:ext cx="24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ro-RO"/>
                    </a:p>
                  </p:txBody>
                </p:sp>
                <p:sp>
                  <p:nvSpPr>
                    <p:cNvPr id="78880" name="Line 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3744"/>
                      <a:ext cx="1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ro-RO"/>
                    </a:p>
                  </p:txBody>
                </p:sp>
                <p:sp>
                  <p:nvSpPr>
                    <p:cNvPr id="78881" name="Line 3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4032"/>
                      <a:ext cx="1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ro-RO"/>
                    </a:p>
                  </p:txBody>
                </p:sp>
                <p:sp>
                  <p:nvSpPr>
                    <p:cNvPr id="78882" name="Line 3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784"/>
                      <a:ext cx="0" cy="124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ro-RO"/>
                    </a:p>
                  </p:txBody>
                </p:sp>
              </p:grpSp>
              <p:sp>
                <p:nvSpPr>
                  <p:cNvPr id="7887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345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o-RO"/>
                  </a:p>
                </p:txBody>
              </p:sp>
            </p:grpSp>
          </p:grpSp>
          <p:grpSp>
            <p:nvGrpSpPr>
              <p:cNvPr id="78862" name="Group 48"/>
              <p:cNvGrpSpPr>
                <a:grpSpLocks/>
              </p:cNvGrpSpPr>
              <p:nvPr/>
            </p:nvGrpSpPr>
            <p:grpSpPr bwMode="auto">
              <a:xfrm>
                <a:off x="3209" y="2513"/>
                <a:ext cx="1399" cy="565"/>
                <a:chOff x="3360" y="2976"/>
                <a:chExt cx="1488" cy="624"/>
              </a:xfrm>
            </p:grpSpPr>
            <p:sp>
              <p:nvSpPr>
                <p:cNvPr id="78863" name="Rectangle 16"/>
                <p:cNvSpPr>
                  <a:spLocks noChangeArrowheads="1"/>
                </p:cNvSpPr>
                <p:nvPr/>
              </p:nvSpPr>
              <p:spPr bwMode="auto">
                <a:xfrm>
                  <a:off x="3792" y="2976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KeyEvent</a:t>
                  </a:r>
                </a:p>
              </p:txBody>
            </p:sp>
            <p:sp>
              <p:nvSpPr>
                <p:cNvPr id="78864" name="Rectangle 17"/>
                <p:cNvSpPr>
                  <a:spLocks noChangeArrowheads="1"/>
                </p:cNvSpPr>
                <p:nvPr/>
              </p:nvSpPr>
              <p:spPr bwMode="auto">
                <a:xfrm>
                  <a:off x="3792" y="3360"/>
                  <a:ext cx="1056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sz="1500">
                      <a:ea typeface="SimSun" panose="02010600030101010101" pitchFamily="2" charset="-122"/>
                    </a:rPr>
                    <a:t>MouseEvent</a:t>
                  </a:r>
                </a:p>
              </p:txBody>
            </p:sp>
            <p:sp>
              <p:nvSpPr>
                <p:cNvPr id="78865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3648" y="3120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o-RO"/>
                </a:p>
              </p:txBody>
            </p:sp>
            <p:sp>
              <p:nvSpPr>
                <p:cNvPr id="78866" name="Line 36"/>
                <p:cNvSpPr>
                  <a:spLocks noChangeShapeType="1"/>
                </p:cNvSpPr>
                <p:nvPr/>
              </p:nvSpPr>
              <p:spPr bwMode="auto">
                <a:xfrm>
                  <a:off x="3648" y="3120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o-RO"/>
                </a:p>
              </p:txBody>
            </p:sp>
            <p:sp>
              <p:nvSpPr>
                <p:cNvPr id="78867" name="Line 37"/>
                <p:cNvSpPr>
                  <a:spLocks noChangeShapeType="1"/>
                </p:cNvSpPr>
                <p:nvPr/>
              </p:nvSpPr>
              <p:spPr bwMode="auto">
                <a:xfrm>
                  <a:off x="3648" y="350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o-RO"/>
                </a:p>
              </p:txBody>
            </p:sp>
            <p:sp>
              <p:nvSpPr>
                <p:cNvPr id="78868" name="Line 39"/>
                <p:cNvSpPr>
                  <a:spLocks noChangeShapeType="1"/>
                </p:cNvSpPr>
                <p:nvPr/>
              </p:nvSpPr>
              <p:spPr bwMode="auto">
                <a:xfrm>
                  <a:off x="3360" y="3408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o-RO"/>
                </a:p>
              </p:txBody>
            </p:sp>
          </p:grpSp>
        </p:grpSp>
        <p:sp>
          <p:nvSpPr>
            <p:cNvPr id="78858" name="Rectangle 40"/>
            <p:cNvSpPr>
              <a:spLocks noChangeArrowheads="1"/>
            </p:cNvSpPr>
            <p:nvPr/>
          </p:nvSpPr>
          <p:spPr bwMode="auto">
            <a:xfrm>
              <a:off x="1217" y="3744"/>
              <a:ext cx="941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500">
                  <a:ea typeface="SimSun" panose="02010600030101010101" pitchFamily="2" charset="-122"/>
                </a:rPr>
                <a:t>CLASS</a:t>
              </a:r>
            </a:p>
          </p:txBody>
        </p:sp>
        <p:sp>
          <p:nvSpPr>
            <p:cNvPr id="78859" name="Rectangle 43"/>
            <p:cNvSpPr>
              <a:spLocks noChangeArrowheads="1"/>
            </p:cNvSpPr>
            <p:nvPr/>
          </p:nvSpPr>
          <p:spPr bwMode="auto">
            <a:xfrm>
              <a:off x="768" y="3744"/>
              <a:ext cx="314" cy="144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SimSun" panose="02010600030101010101" pitchFamily="2" charset="-122"/>
                </a:rPr>
                <a:t>key</a:t>
              </a:r>
            </a:p>
          </p:txBody>
        </p:sp>
      </p:grpSp>
      <p:sp>
        <p:nvSpPr>
          <p:cNvPr id="78854" name="Line 52"/>
          <p:cNvSpPr>
            <a:spLocks noChangeShapeType="1"/>
          </p:cNvSpPr>
          <p:nvPr/>
        </p:nvSpPr>
        <p:spPr bwMode="auto">
          <a:xfrm>
            <a:off x="252413" y="6972300"/>
            <a:ext cx="957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0794" tIns="50397" rIns="100794" bIns="50397"/>
          <a:lstStyle/>
          <a:p>
            <a:endParaRPr lang="ro-RO"/>
          </a:p>
        </p:txBody>
      </p:sp>
      <p:sp>
        <p:nvSpPr>
          <p:cNvPr id="52277" name="Rectangle 53"/>
          <p:cNvSpPr>
            <a:spLocks noChangeArrowheads="1"/>
          </p:cNvSpPr>
          <p:nvPr/>
        </p:nvSpPr>
        <p:spPr bwMode="auto">
          <a:xfrm>
            <a:off x="252413" y="3276600"/>
            <a:ext cx="9575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794" tIns="50397" rIns="100794" bIns="50397">
            <a:spAutoFit/>
          </a:bodyPr>
          <a:lstStyle>
            <a:lvl1pPr marL="377825" indent="-377825">
              <a:defRPr sz="24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C0C0C0"/>
                  </a:outerShdw>
                </a:effectLst>
                <a:ea typeface="SimSun" pitchFamily="2" charset="-122"/>
              </a:rPr>
              <a:t>		</a:t>
            </a:r>
            <a:r>
              <a:rPr lang="ro-RO" altLang="zh-CN" sz="180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Exemple din</a:t>
            </a:r>
            <a:r>
              <a:rPr lang="en-US" altLang="zh-CN" sz="1800" smtClean="0">
                <a:effectLst>
                  <a:outerShdw blurRad="38100" dist="38100" dir="2700000" algn="tl">
                    <a:srgbClr val="C0C0C0"/>
                  </a:outerShdw>
                </a:effectLst>
                <a:ea typeface="SimSun" pitchFamily="2" charset="-122"/>
              </a:rPr>
              <a:t> </a:t>
            </a:r>
            <a:r>
              <a:rPr lang="en-US" altLang="zh-CN" sz="1800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SimSun" pitchFamily="2" charset="-122"/>
              </a:rPr>
              <a:t>java.awt.event</a:t>
            </a:r>
          </a:p>
        </p:txBody>
      </p:sp>
      <p:sp>
        <p:nvSpPr>
          <p:cNvPr id="78856" name="AutoShape 97"/>
          <p:cNvSpPr>
            <a:spLocks noChangeArrowheads="1"/>
          </p:cNvSpPr>
          <p:nvPr/>
        </p:nvSpPr>
        <p:spPr bwMode="auto">
          <a:xfrm>
            <a:off x="4116388" y="6551613"/>
            <a:ext cx="3276600" cy="252412"/>
          </a:xfrm>
          <a:prstGeom prst="parallelogram">
            <a:avLst>
              <a:gd name="adj" fmla="val 32446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0794" tIns="50397" rIns="100794" bIns="50397" anchor="ctr"/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500">
                <a:ea typeface="SimSun" panose="02010600030101010101" pitchFamily="2" charset="-122"/>
              </a:rPr>
              <a:t>ABSTRACT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123825"/>
            <a:ext cx="9074150" cy="725488"/>
          </a:xfrm>
        </p:spPr>
        <p:txBody>
          <a:bodyPr>
            <a:spAutoFit/>
          </a:bodyPr>
          <a:lstStyle/>
          <a:p>
            <a:pPr eaLnBrk="1"/>
            <a:r>
              <a:rPr lang="en-US" altLang="zh-CN" sz="4000" smtClean="0">
                <a:ea typeface="SimSun" panose="02010600030101010101" pitchFamily="2" charset="-122"/>
              </a:rPr>
              <a:t>Event-Handling Model (2)</a:t>
            </a:r>
            <a:endParaRPr lang="zh-CN" altLang="en-US" sz="4000" smtClean="0">
              <a:ea typeface="SimSun" panose="02010600030101010101" pitchFamily="2" charset="-122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138" y="1041400"/>
            <a:ext cx="5461000" cy="5648325"/>
          </a:xfrm>
        </p:spPr>
        <p:txBody>
          <a:bodyPr>
            <a:spAutoFit/>
          </a:bodyPr>
          <a:lstStyle/>
          <a:p>
            <a:pPr marL="587375" indent="-587375" eaLnBrk="1"/>
            <a:r>
              <a:rPr lang="ro-RO" altLang="zh-CN" sz="2200" smtClean="0"/>
              <a:t>Componentele mecanismului </a:t>
            </a:r>
            <a:r>
              <a:rPr lang="en-US" altLang="zh-CN" sz="2200" smtClean="0">
                <a:ea typeface="SimSun" panose="02010600030101010101" pitchFamily="2" charset="-122"/>
              </a:rPr>
              <a:t>event-handling </a:t>
            </a:r>
          </a:p>
          <a:p>
            <a:pPr marL="1006475" lvl="1" indent="-503238" eaLnBrk="1"/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i="1" smtClean="0">
                <a:ea typeface="SimSun" panose="02010600030101010101" pitchFamily="2" charset="-122"/>
              </a:rPr>
              <a:t>event source</a:t>
            </a:r>
            <a:r>
              <a:rPr lang="en-US" altLang="zh-CN" sz="2000" smtClean="0">
                <a:ea typeface="SimSun" panose="02010600030101010101" pitchFamily="2" charset="-122"/>
              </a:rPr>
              <a:t>: </a:t>
            </a:r>
            <a:r>
              <a:rPr lang="ro-RO" altLang="zh-CN" sz="2000" smtClean="0"/>
              <a:t>Sursa evenimentului, comp GUI cu care interacţionează utilizatorul</a:t>
            </a:r>
            <a:endParaRPr lang="en-US" altLang="zh-CN" sz="2000" smtClean="0">
              <a:ea typeface="SimSun" panose="02010600030101010101" pitchFamily="2" charset="-122"/>
            </a:endParaRPr>
          </a:p>
          <a:p>
            <a:pPr marL="1006475" lvl="1" indent="-503238" eaLnBrk="1"/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i="1" smtClean="0">
                <a:ea typeface="SimSun" panose="02010600030101010101" pitchFamily="2" charset="-122"/>
              </a:rPr>
              <a:t>event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i="1" smtClean="0">
                <a:ea typeface="SimSun" panose="02010600030101010101" pitchFamily="2" charset="-122"/>
              </a:rPr>
              <a:t>object</a:t>
            </a:r>
            <a:r>
              <a:rPr lang="en-US" altLang="zh-CN" sz="2000" smtClean="0">
                <a:ea typeface="SimSun" panose="02010600030101010101" pitchFamily="2" charset="-122"/>
              </a:rPr>
              <a:t>: </a:t>
            </a:r>
            <a:r>
              <a:rPr lang="ro-RO" altLang="zh-CN" sz="2000" smtClean="0"/>
              <a:t>informaţia încapsulată referitoare la evenimentul produs</a:t>
            </a:r>
            <a:endParaRPr lang="en-US" altLang="zh-CN" sz="2000" smtClean="0">
              <a:ea typeface="SimSun" panose="02010600030101010101" pitchFamily="2" charset="-122"/>
            </a:endParaRPr>
          </a:p>
          <a:p>
            <a:pPr marL="1006475" lvl="1" indent="-503238" eaLnBrk="1"/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i="1" smtClean="0">
                <a:ea typeface="SimSun" panose="02010600030101010101" pitchFamily="2" charset="-122"/>
              </a:rPr>
              <a:t>event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i="1" smtClean="0">
                <a:ea typeface="SimSun" panose="02010600030101010101" pitchFamily="2" charset="-122"/>
              </a:rPr>
              <a:t>listener</a:t>
            </a:r>
            <a:r>
              <a:rPr lang="en-US" altLang="zh-CN" sz="2000" smtClean="0">
                <a:ea typeface="SimSun" panose="02010600030101010101" pitchFamily="2" charset="-122"/>
              </a:rPr>
              <a:t>: </a:t>
            </a:r>
            <a:r>
              <a:rPr lang="ro-RO" altLang="zh-CN" sz="2000" smtClean="0"/>
              <a:t>un obiect care este notificat de către sursa evenimentului şi care furniyeayă răspunsul la eveniment</a:t>
            </a:r>
            <a:endParaRPr lang="en-US" altLang="zh-CN" sz="2000" smtClean="0">
              <a:ea typeface="SimSun" panose="02010600030101010101" pitchFamily="2" charset="-122"/>
            </a:endParaRPr>
          </a:p>
          <a:p>
            <a:pPr marL="587375" indent="-587375" eaLnBrk="1"/>
            <a:r>
              <a:rPr lang="ro-RO" altLang="zh-CN" sz="2200" smtClean="0"/>
              <a:t>Programatorul are de făcut două lucruri pentru a răspunde la eveniment</a:t>
            </a:r>
            <a:endParaRPr lang="en-US" altLang="zh-CN" sz="2200" smtClean="0">
              <a:ea typeface="SimSun" panose="02010600030101010101" pitchFamily="2" charset="-122"/>
            </a:endParaRPr>
          </a:p>
          <a:p>
            <a:pPr marL="1006475" lvl="1" indent="-503238" eaLnBrk="1">
              <a:buFont typeface="StarSymbol" charset="0"/>
              <a:buNone/>
            </a:pPr>
            <a:r>
              <a:rPr lang="en-US" altLang="zh-CN" sz="1800" smtClean="0">
                <a:ea typeface="SimSun" panose="02010600030101010101" pitchFamily="2" charset="-122"/>
              </a:rPr>
              <a:t>1.	 </a:t>
            </a:r>
            <a:r>
              <a:rPr lang="ro-RO" altLang="zh-CN" sz="1800" smtClean="0"/>
              <a:t>Înregistrarea unui </a:t>
            </a:r>
            <a:r>
              <a:rPr lang="en-US" altLang="zh-CN" sz="2000" i="1" smtClean="0">
                <a:ea typeface="SimSun" panose="02010600030101010101" pitchFamily="2" charset="-122"/>
              </a:rPr>
              <a:t>event listener</a:t>
            </a:r>
          </a:p>
          <a:p>
            <a:pPr marL="1427163" lvl="2" indent="-419100" eaLnBrk="1"/>
            <a:r>
              <a:rPr lang="ro-RO" altLang="zh-CN" sz="1800" smtClean="0"/>
              <a:t>Un obiect a unei clase care implementează unul sau mai multe interfeţe </a:t>
            </a:r>
            <a:r>
              <a:rPr lang="en-US" altLang="zh-CN" sz="1800" smtClean="0">
                <a:ea typeface="SimSun" panose="02010600030101010101" pitchFamily="2" charset="-122"/>
              </a:rPr>
              <a:t>event-listener </a:t>
            </a:r>
            <a:r>
              <a:rPr lang="ro-RO" altLang="zh-CN" sz="1800" smtClean="0"/>
              <a:t>din</a:t>
            </a:r>
            <a:r>
              <a:rPr lang="en-US" altLang="zh-CN" sz="1800" smtClean="0">
                <a:ea typeface="SimSun" panose="02010600030101010101" pitchFamily="2" charset="-122"/>
              </a:rPr>
              <a:t> </a:t>
            </a:r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java.awt.event</a:t>
            </a:r>
            <a:r>
              <a:rPr lang="en-US" altLang="zh-CN" sz="1800" smtClean="0">
                <a:ea typeface="SimSun" panose="02010600030101010101" pitchFamily="2" charset="-122"/>
              </a:rPr>
              <a:t> </a:t>
            </a:r>
            <a:r>
              <a:rPr lang="ro-RO" altLang="zh-CN" sz="1800" smtClean="0"/>
              <a:t>şi</a:t>
            </a:r>
            <a:r>
              <a:rPr lang="en-US" altLang="zh-CN" sz="1800" smtClean="0">
                <a:ea typeface="SimSun" panose="02010600030101010101" pitchFamily="2" charset="-122"/>
              </a:rPr>
              <a:t> </a:t>
            </a:r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javax.swing.event</a:t>
            </a:r>
          </a:p>
          <a:p>
            <a:pPr marL="1006475" lvl="1" indent="-503238" eaLnBrk="1">
              <a:buFont typeface="Wingdings" panose="05000000000000000000" pitchFamily="2" charset="2"/>
              <a:buAutoNum type="arabicPeriod" startAt="2"/>
            </a:pPr>
            <a:r>
              <a:rPr lang="en-US" altLang="zh-CN" sz="2000" smtClean="0">
                <a:ea typeface="SimSun" panose="02010600030101010101" pitchFamily="2" charset="-122"/>
              </a:rPr>
              <a:t>implement</a:t>
            </a:r>
            <a:r>
              <a:rPr lang="ro-RO" altLang="zh-CN" sz="2000" smtClean="0"/>
              <a:t>area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ro-RO" altLang="zh-CN" sz="2000" smtClean="0"/>
              <a:t>unei metode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i="1" smtClean="0">
                <a:ea typeface="SimSun" panose="02010600030101010101" pitchFamily="2" charset="-122"/>
              </a:rPr>
              <a:t>event handling </a:t>
            </a:r>
            <a:endParaRPr lang="zh-CN" altLang="en-US" sz="2000" smtClean="0">
              <a:ea typeface="SimSun" panose="02010600030101010101" pitchFamily="2" charset="-122"/>
            </a:endParaRPr>
          </a:p>
        </p:txBody>
      </p:sp>
      <p:pic>
        <p:nvPicPr>
          <p:cNvPr id="79876" name="Picture 7" descr="event-listen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1825" y="1763713"/>
            <a:ext cx="4200525" cy="5459412"/>
          </a:xfrm>
        </p:spPr>
      </p:pic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5711825" y="1092200"/>
            <a:ext cx="4116388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50397" rIns="0" bIns="50397">
            <a:spAutoFit/>
          </a:bodyPr>
          <a:lstStyle/>
          <a:p>
            <a:pPr marL="377979" indent="-377979" eaLnBrk="1" hangingPunct="1">
              <a:spcBef>
                <a:spcPct val="20000"/>
              </a:spcBef>
              <a:buClr>
                <a:schemeClr val="hlink"/>
              </a:buClr>
              <a:buSzPct val="75000"/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10199"/>
                  </a:outerShdw>
                </a:effectLst>
                <a:ea typeface="宋体" pitchFamily="2" charset="-122"/>
              </a:rPr>
              <a:t>	Event-listener interface of package </a:t>
            </a:r>
            <a:r>
              <a:rPr lang="en-US" altLang="zh-CN" sz="1800" dirty="0" err="1">
                <a:effectLst>
                  <a:outerShdw blurRad="38100" dist="38100" dir="2700000" algn="tl">
                    <a:srgbClr val="010199"/>
                  </a:outerShdw>
                </a:effectLst>
                <a:latin typeface="Courier New" pitchFamily="49" charset="0"/>
                <a:ea typeface="宋体" pitchFamily="2" charset="-122"/>
              </a:rPr>
              <a:t>java.awt.event</a:t>
            </a:r>
            <a:endParaRPr lang="en-US" altLang="zh-CN" sz="1800" dirty="0">
              <a:effectLst>
                <a:outerShdw blurRad="38100" dist="38100" dir="2700000" algn="tl">
                  <a:srgbClr val="010199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9878" name="Line 10"/>
          <p:cNvSpPr>
            <a:spLocks noChangeShapeType="1"/>
          </p:cNvSpPr>
          <p:nvPr/>
        </p:nvSpPr>
        <p:spPr bwMode="auto">
          <a:xfrm>
            <a:off x="5461000" y="1176338"/>
            <a:ext cx="0" cy="604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0794" tIns="50397" rIns="100794" bIns="50397"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3238" y="615950"/>
            <a:ext cx="9074150" cy="635000"/>
          </a:xfrm>
        </p:spPr>
        <p:txBody>
          <a:bodyPr>
            <a:spAutoFit/>
          </a:bodyPr>
          <a:lstStyle/>
          <a:p>
            <a:pPr eaLnBrk="1"/>
            <a:r>
              <a:rPr lang="en-US" altLang="zh-CN" sz="3500" smtClean="0">
                <a:ea typeface="SimSun" panose="02010600030101010101" pitchFamily="2" charset="-122"/>
              </a:rPr>
              <a:t>To Make an Interactive GUI Program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1763713"/>
            <a:ext cx="9074150" cy="2840037"/>
          </a:xfrm>
        </p:spPr>
        <p:txBody>
          <a:bodyPr>
            <a:spAutoFit/>
          </a:bodyPr>
          <a:lstStyle/>
          <a:p>
            <a:pPr eaLnBrk="1"/>
            <a:r>
              <a:rPr lang="ro-RO" altLang="zh-CN" sz="2600" smtClean="0"/>
              <a:t>Pentru a crea o interfaţă grafică interactivă este nevoie de</a:t>
            </a:r>
            <a:r>
              <a:rPr lang="en-US" altLang="zh-CN" sz="2600" smtClean="0">
                <a:ea typeface="SimSun" panose="02010600030101010101" pitchFamily="2" charset="-122"/>
              </a:rPr>
              <a:t>:</a:t>
            </a:r>
          </a:p>
          <a:p>
            <a:pPr lvl="1" eaLnBrk="1">
              <a:spcBef>
                <a:spcPct val="40000"/>
              </a:spcBef>
            </a:pPr>
            <a:r>
              <a:rPr lang="en-US" altLang="zh-CN" sz="2200" smtClean="0">
                <a:ea typeface="SimSun" panose="02010600030101010101" pitchFamily="2" charset="-122"/>
              </a:rPr>
              <a:t>Components</a:t>
            </a:r>
          </a:p>
          <a:p>
            <a:pPr lvl="2" eaLnBrk="1"/>
            <a:r>
              <a:rPr lang="en-US" altLang="zh-CN" sz="2000" smtClean="0">
                <a:ea typeface="SimSun" panose="02010600030101010101" pitchFamily="2" charset="-122"/>
              </a:rPr>
              <a:t>buttons, windows, menus, etc.</a:t>
            </a:r>
          </a:p>
          <a:p>
            <a:pPr lvl="1" eaLnBrk="1">
              <a:spcBef>
                <a:spcPct val="40000"/>
              </a:spcBef>
            </a:pPr>
            <a:r>
              <a:rPr lang="en-US" altLang="zh-CN" sz="2200" smtClean="0">
                <a:ea typeface="SimSun" panose="02010600030101010101" pitchFamily="2" charset="-122"/>
              </a:rPr>
              <a:t>Events</a:t>
            </a:r>
          </a:p>
          <a:p>
            <a:pPr lvl="2" eaLnBrk="1"/>
            <a:r>
              <a:rPr lang="en-US" altLang="zh-CN" sz="2000" smtClean="0">
                <a:ea typeface="SimSun" panose="02010600030101010101" pitchFamily="2" charset="-122"/>
              </a:rPr>
              <a:t>mouse clicked, window closed, button clicked, etc.</a:t>
            </a:r>
          </a:p>
          <a:p>
            <a:pPr lvl="1" eaLnBrk="1">
              <a:spcBef>
                <a:spcPct val="40000"/>
              </a:spcBef>
            </a:pPr>
            <a:r>
              <a:rPr lang="en-US" altLang="zh-CN" sz="2200" smtClean="0">
                <a:ea typeface="SimSun" panose="02010600030101010101" pitchFamily="2" charset="-122"/>
              </a:rPr>
              <a:t>Event listeners (interfaces) and event handlers (methods)</a:t>
            </a:r>
          </a:p>
          <a:p>
            <a:pPr lvl="2" eaLnBrk="1"/>
            <a:r>
              <a:rPr lang="en-US" altLang="zh-CN" sz="2000" smtClean="0">
                <a:ea typeface="SimSun" panose="02010600030101010101" pitchFamily="2" charset="-122"/>
              </a:rPr>
              <a:t>listen for events to be trigged, and then perform actions to handle them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3175"/>
            <a:ext cx="9074150" cy="719138"/>
          </a:xfrm>
        </p:spPr>
        <p:txBody>
          <a:bodyPr>
            <a:spAutoFit/>
          </a:bodyPr>
          <a:lstStyle/>
          <a:p>
            <a:pPr eaLnBrk="1"/>
            <a:r>
              <a:rPr lang="en-US" altLang="zh-CN" sz="4000" smtClean="0">
                <a:ea typeface="SimSun" panose="02010600030101010101" pitchFamily="2" charset="-122"/>
              </a:rPr>
              <a:t>Buttons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092200"/>
            <a:ext cx="9074150" cy="2043113"/>
          </a:xfrm>
        </p:spPr>
        <p:txBody>
          <a:bodyPr>
            <a:spAutoFit/>
          </a:bodyPr>
          <a:lstStyle/>
          <a:p>
            <a:pPr eaLnBrk="1"/>
            <a:r>
              <a:rPr lang="ro-RO" altLang="zh-CN" sz="2200" i="1" smtClean="0"/>
              <a:t>B</a:t>
            </a:r>
            <a:r>
              <a:rPr lang="en-US" altLang="zh-CN" sz="2200" i="1" smtClean="0">
                <a:ea typeface="SimSun" panose="02010600030101010101" pitchFamily="2" charset="-122"/>
              </a:rPr>
              <a:t>utton</a:t>
            </a:r>
            <a:r>
              <a:rPr lang="en-US" altLang="zh-CN" sz="2200" smtClean="0">
                <a:ea typeface="SimSun" panose="02010600030101010101" pitchFamily="2" charset="-122"/>
              </a:rPr>
              <a:t> </a:t>
            </a:r>
            <a:endParaRPr lang="ro-RO" altLang="zh-CN" sz="2200" smtClean="0"/>
          </a:p>
          <a:p>
            <a:pPr eaLnBrk="1"/>
            <a:r>
              <a:rPr lang="ro-RO" altLang="zh-CN" sz="2200" smtClean="0"/>
              <a:t>Sunt câteva clase toate </a:t>
            </a:r>
            <a:r>
              <a:rPr lang="en-US" altLang="zh-CN" sz="2200" smtClean="0">
                <a:ea typeface="SimSun" panose="02010600030101010101" pitchFamily="2" charset="-122"/>
              </a:rPr>
              <a:t>subclase </a:t>
            </a:r>
            <a:r>
              <a:rPr lang="ro-RO" altLang="zh-CN" sz="2200" smtClean="0"/>
              <a:t>ale clasei</a:t>
            </a:r>
            <a:r>
              <a:rPr lang="en-US" altLang="zh-CN" sz="2200" smtClean="0">
                <a:ea typeface="SimSun" panose="02010600030101010101" pitchFamily="2" charset="-122"/>
              </a:rPr>
              <a:t> </a:t>
            </a:r>
            <a:r>
              <a:rPr lang="en-US" altLang="zh-CN" sz="2200" smtClean="0">
                <a:latin typeface="Courier New" panose="02070309020205020404" pitchFamily="49" charset="0"/>
                <a:ea typeface="SimSun" panose="02010600030101010101" pitchFamily="2" charset="-122"/>
              </a:rPr>
              <a:t>AbstractButton</a:t>
            </a:r>
          </a:p>
          <a:p>
            <a:pPr lvl="1" eaLnBrk="1"/>
            <a:r>
              <a:rPr lang="en-US" altLang="zh-CN" sz="2000" i="1" smtClean="0">
                <a:ea typeface="SimSun" panose="02010600030101010101" pitchFamily="2" charset="-122"/>
              </a:rPr>
              <a:t>command buttons: </a:t>
            </a:r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JButton.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ro-RO" altLang="zh-CN" sz="2000" smtClean="0"/>
              <a:t>G</a:t>
            </a:r>
            <a:r>
              <a:rPr lang="en-US" altLang="zh-CN" sz="2000" smtClean="0">
                <a:ea typeface="SimSun" panose="02010600030101010101" pitchFamily="2" charset="-122"/>
              </a:rPr>
              <a:t>ener</a:t>
            </a:r>
            <a:r>
              <a:rPr lang="ro-RO" altLang="zh-CN" sz="2000" smtClean="0"/>
              <a:t>ează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ActionEvent</a:t>
            </a:r>
          </a:p>
          <a:p>
            <a:pPr lvl="1" eaLnBrk="1"/>
            <a:r>
              <a:rPr lang="en-US" altLang="zh-CN" sz="2000" i="1" smtClean="0">
                <a:ea typeface="SimSun" panose="02010600030101010101" pitchFamily="2" charset="-122"/>
              </a:rPr>
              <a:t>toggle buttons</a:t>
            </a:r>
            <a:r>
              <a:rPr lang="en-US" altLang="zh-CN" sz="2000" smtClean="0">
                <a:ea typeface="SimSun" panose="02010600030101010101" pitchFamily="2" charset="-122"/>
              </a:rPr>
              <a:t>: have</a:t>
            </a:r>
            <a:r>
              <a:rPr lang="ro-RO" altLang="zh-CN" sz="2000" smtClean="0"/>
              <a:t>au</a:t>
            </a:r>
            <a:r>
              <a:rPr lang="en-US" altLang="zh-CN" sz="2000" smtClean="0">
                <a:ea typeface="SimSun" panose="02010600030101010101" pitchFamily="2" charset="-122"/>
              </a:rPr>
              <a:t> on/off </a:t>
            </a:r>
            <a:r>
              <a:rPr lang="ro-RO" altLang="zh-CN" sz="2000" smtClean="0"/>
              <a:t>sau</a:t>
            </a:r>
            <a:r>
              <a:rPr lang="en-US" altLang="zh-CN" sz="2000" smtClean="0">
                <a:ea typeface="SimSun" panose="02010600030101010101" pitchFamily="2" charset="-122"/>
              </a:rPr>
              <a:t> true/false values</a:t>
            </a:r>
            <a:endParaRPr lang="en-US" altLang="zh-CN" sz="2000" smtClean="0"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lvl="1" eaLnBrk="1"/>
            <a:r>
              <a:rPr lang="en-US" altLang="zh-CN" sz="2000" i="1" smtClean="0">
                <a:ea typeface="SimSun" panose="02010600030101010101" pitchFamily="2" charset="-122"/>
              </a:rPr>
              <a:t>check boxes</a:t>
            </a:r>
            <a:r>
              <a:rPr lang="en-US" altLang="zh-CN" sz="2000" smtClean="0">
                <a:ea typeface="SimSun" panose="02010600030101010101" pitchFamily="2" charset="-122"/>
              </a:rPr>
              <a:t>: </a:t>
            </a:r>
            <a:r>
              <a:rPr lang="ro-RO" altLang="zh-CN" sz="2000" smtClean="0"/>
              <a:t>un</a:t>
            </a:r>
            <a:r>
              <a:rPr lang="en-US" altLang="zh-CN" sz="2000" smtClean="0">
                <a:ea typeface="SimSun" panose="02010600030101010101" pitchFamily="2" charset="-122"/>
              </a:rPr>
              <a:t> group </a:t>
            </a:r>
            <a:r>
              <a:rPr lang="ro-RO" altLang="zh-CN" sz="2000" smtClean="0"/>
              <a:t>de</a:t>
            </a:r>
            <a:r>
              <a:rPr lang="en-US" altLang="zh-CN" sz="2000" smtClean="0">
                <a:ea typeface="SimSun" panose="02010600030101010101" pitchFamily="2" charset="-122"/>
              </a:rPr>
              <a:t> buttons. </a:t>
            </a:r>
            <a:r>
              <a:rPr lang="ro-RO" altLang="zh-CN" sz="2000" smtClean="0"/>
              <a:t>G</a:t>
            </a:r>
            <a:r>
              <a:rPr lang="en-US" altLang="zh-CN" sz="2000" smtClean="0">
                <a:ea typeface="SimSun" panose="02010600030101010101" pitchFamily="2" charset="-122"/>
              </a:rPr>
              <a:t>ener</a:t>
            </a:r>
            <a:r>
              <a:rPr lang="ro-RO" altLang="zh-CN" sz="2000" smtClean="0"/>
              <a:t>ează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ItemEvent</a:t>
            </a:r>
          </a:p>
          <a:p>
            <a:pPr lvl="1" eaLnBrk="1"/>
            <a:r>
              <a:rPr lang="en-US" altLang="zh-CN" sz="2000" i="1" smtClean="0">
                <a:ea typeface="SimSun" panose="02010600030101010101" pitchFamily="2" charset="-122"/>
              </a:rPr>
              <a:t>radio buttons</a:t>
            </a:r>
            <a:r>
              <a:rPr lang="en-US" altLang="zh-CN" sz="2000" smtClean="0">
                <a:ea typeface="SimSun" panose="02010600030101010101" pitchFamily="2" charset="-122"/>
              </a:rPr>
              <a:t>: </a:t>
            </a:r>
            <a:r>
              <a:rPr lang="ro-RO" altLang="zh-CN" sz="2000" smtClean="0"/>
              <a:t>un</a:t>
            </a:r>
            <a:r>
              <a:rPr lang="en-US" altLang="zh-CN" sz="2000" smtClean="0">
                <a:ea typeface="SimSun" panose="02010600030101010101" pitchFamily="2" charset="-122"/>
              </a:rPr>
              <a:t> group </a:t>
            </a:r>
            <a:r>
              <a:rPr lang="ro-RO" altLang="zh-CN" sz="2000" smtClean="0"/>
              <a:t>de</a:t>
            </a:r>
            <a:r>
              <a:rPr lang="en-US" altLang="zh-CN" sz="2000" smtClean="0">
                <a:ea typeface="SimSun" panose="02010600030101010101" pitchFamily="2" charset="-122"/>
              </a:rPr>
              <a:t> buttons </a:t>
            </a:r>
            <a:r>
              <a:rPr lang="ro-RO" altLang="zh-CN" sz="2000" smtClean="0"/>
              <a:t>din care doar unul poate fi selectat</a:t>
            </a:r>
            <a:r>
              <a:rPr lang="en-US" altLang="zh-CN" sz="2000" smtClean="0">
                <a:ea typeface="SimSun" panose="02010600030101010101" pitchFamily="2" charset="-122"/>
              </a:rPr>
              <a:t>. </a:t>
            </a:r>
            <a:r>
              <a:rPr lang="ro-RO" altLang="zh-CN" sz="2000" smtClean="0"/>
              <a:t>Generează</a:t>
            </a:r>
            <a:r>
              <a:rPr lang="en-US" altLang="zh-CN" sz="2000" smtClean="0">
                <a:ea typeface="SimSun" panose="02010600030101010101" pitchFamily="2" charset="-122"/>
              </a:rPr>
              <a:t> </a:t>
            </a:r>
            <a:r>
              <a:rPr lang="en-US" altLang="zh-CN" sz="2000" smtClean="0">
                <a:latin typeface="Courier New" panose="02070309020205020404" pitchFamily="49" charset="0"/>
                <a:ea typeface="SimSun" panose="02010600030101010101" pitchFamily="2" charset="-122"/>
              </a:rPr>
              <a:t>ItemEvent</a:t>
            </a:r>
          </a:p>
        </p:txBody>
      </p:sp>
      <p:grpSp>
        <p:nvGrpSpPr>
          <p:cNvPr id="81924" name="Group 19"/>
          <p:cNvGrpSpPr>
            <a:grpSpLocks/>
          </p:cNvGrpSpPr>
          <p:nvPr/>
        </p:nvGrpSpPr>
        <p:grpSpPr bwMode="auto">
          <a:xfrm>
            <a:off x="1344613" y="4535488"/>
            <a:ext cx="7307262" cy="1679575"/>
            <a:chOff x="768" y="1536"/>
            <a:chExt cx="4176" cy="960"/>
          </a:xfrm>
        </p:grpSpPr>
        <p:grpSp>
          <p:nvGrpSpPr>
            <p:cNvPr id="81925" name="Group 17"/>
            <p:cNvGrpSpPr>
              <a:grpSpLocks/>
            </p:cNvGrpSpPr>
            <p:nvPr/>
          </p:nvGrpSpPr>
          <p:grpSpPr bwMode="auto">
            <a:xfrm>
              <a:off x="768" y="1536"/>
              <a:ext cx="4176" cy="960"/>
              <a:chOff x="816" y="2064"/>
              <a:chExt cx="4368" cy="1152"/>
            </a:xfrm>
          </p:grpSpPr>
          <p:sp>
            <p:nvSpPr>
              <p:cNvPr id="81927" name="AutoShape 4"/>
              <p:cNvSpPr>
                <a:spLocks noChangeArrowheads="1"/>
              </p:cNvSpPr>
              <p:nvPr/>
            </p:nvSpPr>
            <p:spPr bwMode="auto">
              <a:xfrm>
                <a:off x="816" y="2064"/>
                <a:ext cx="1776" cy="192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 sz="1500">
                    <a:ea typeface="SimSun" panose="02010600030101010101" pitchFamily="2" charset="-122"/>
                  </a:rPr>
                  <a:t>javax.swing.JComponent</a:t>
                </a:r>
              </a:p>
            </p:txBody>
          </p:sp>
          <p:sp>
            <p:nvSpPr>
              <p:cNvPr id="81928" name="AutoShape 5"/>
              <p:cNvSpPr>
                <a:spLocks noChangeArrowheads="1"/>
              </p:cNvSpPr>
              <p:nvPr/>
            </p:nvSpPr>
            <p:spPr bwMode="auto">
              <a:xfrm>
                <a:off x="1632" y="2352"/>
                <a:ext cx="1680" cy="192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 sz="1500">
                    <a:ea typeface="SimSun" panose="02010600030101010101" pitchFamily="2" charset="-122"/>
                  </a:rPr>
                  <a:t>javax.swing.AbstractButton</a:t>
                </a:r>
              </a:p>
            </p:txBody>
          </p:sp>
          <p:sp>
            <p:nvSpPr>
              <p:cNvPr id="81929" name="AutoShape 8"/>
              <p:cNvSpPr>
                <a:spLocks noChangeArrowheads="1"/>
              </p:cNvSpPr>
              <p:nvPr/>
            </p:nvSpPr>
            <p:spPr bwMode="auto">
              <a:xfrm>
                <a:off x="960" y="2688"/>
                <a:ext cx="1392" cy="192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 sz="1500">
                    <a:ea typeface="SimSun" panose="02010600030101010101" pitchFamily="2" charset="-122"/>
                  </a:rPr>
                  <a:t>javax.swing.JButton</a:t>
                </a:r>
              </a:p>
            </p:txBody>
          </p:sp>
          <p:sp>
            <p:nvSpPr>
              <p:cNvPr id="81930" name="Line 10"/>
              <p:cNvSpPr>
                <a:spLocks noChangeShapeType="1"/>
              </p:cNvSpPr>
              <p:nvPr/>
            </p:nvSpPr>
            <p:spPr bwMode="auto">
              <a:xfrm flipH="1">
                <a:off x="1488" y="244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81931" name="Line 12"/>
              <p:cNvSpPr>
                <a:spLocks noChangeShapeType="1"/>
              </p:cNvSpPr>
              <p:nvPr/>
            </p:nvSpPr>
            <p:spPr bwMode="auto">
              <a:xfrm flipV="1">
                <a:off x="2160" y="2544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81932" name="Line 13"/>
              <p:cNvSpPr>
                <a:spLocks noChangeShapeType="1"/>
              </p:cNvSpPr>
              <p:nvPr/>
            </p:nvSpPr>
            <p:spPr bwMode="auto">
              <a:xfrm flipH="1" flipV="1">
                <a:off x="2640" y="2544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grpSp>
            <p:nvGrpSpPr>
              <p:cNvPr id="81933" name="Group 16"/>
              <p:cNvGrpSpPr>
                <a:grpSpLocks/>
              </p:cNvGrpSpPr>
              <p:nvPr/>
            </p:nvGrpSpPr>
            <p:grpSpPr bwMode="auto">
              <a:xfrm>
                <a:off x="1872" y="2688"/>
                <a:ext cx="3312" cy="528"/>
                <a:chOff x="1872" y="2688"/>
                <a:chExt cx="3312" cy="528"/>
              </a:xfrm>
            </p:grpSpPr>
            <p:sp>
              <p:nvSpPr>
                <p:cNvPr id="81934" name="AutoShape 6"/>
                <p:cNvSpPr>
                  <a:spLocks noChangeArrowheads="1"/>
                </p:cNvSpPr>
                <p:nvPr/>
              </p:nvSpPr>
              <p:spPr bwMode="auto">
                <a:xfrm>
                  <a:off x="1872" y="3024"/>
                  <a:ext cx="1488" cy="192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zh-CN" sz="1500">
                      <a:ea typeface="SimSun" panose="02010600030101010101" pitchFamily="2" charset="-122"/>
                    </a:rPr>
                    <a:t>javax.swing.JCheckBox</a:t>
                  </a:r>
                </a:p>
              </p:txBody>
            </p:sp>
            <p:sp>
              <p:nvSpPr>
                <p:cNvPr id="81935" name="AutoShape 7"/>
                <p:cNvSpPr>
                  <a:spLocks noChangeArrowheads="1"/>
                </p:cNvSpPr>
                <p:nvPr/>
              </p:nvSpPr>
              <p:spPr bwMode="auto">
                <a:xfrm>
                  <a:off x="2544" y="2688"/>
                  <a:ext cx="1728" cy="192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zh-CN" sz="1500">
                      <a:ea typeface="SimSun" panose="02010600030101010101" pitchFamily="2" charset="-122"/>
                    </a:rPr>
                    <a:t>javax.swing.ToggleButton</a:t>
                  </a:r>
                </a:p>
              </p:txBody>
            </p:sp>
            <p:sp>
              <p:nvSpPr>
                <p:cNvPr id="81936" name="AutoShape 9"/>
                <p:cNvSpPr>
                  <a:spLocks noChangeArrowheads="1"/>
                </p:cNvSpPr>
                <p:nvPr/>
              </p:nvSpPr>
              <p:spPr bwMode="auto">
                <a:xfrm>
                  <a:off x="3648" y="3024"/>
                  <a:ext cx="1536" cy="192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zh-CN" sz="1500">
                      <a:ea typeface="SimSun" panose="02010600030101010101" pitchFamily="2" charset="-122"/>
                    </a:rPr>
                    <a:t>javax.swing.JRadioButton</a:t>
                  </a:r>
                </a:p>
              </p:txBody>
            </p:sp>
            <p:sp>
              <p:nvSpPr>
                <p:cNvPr id="81937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072" y="288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o-RO"/>
                </a:p>
              </p:txBody>
            </p:sp>
            <p:sp>
              <p:nvSpPr>
                <p:cNvPr id="81938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3840" y="2880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o-RO"/>
                </a:p>
              </p:txBody>
            </p:sp>
          </p:grpSp>
        </p:grpSp>
        <p:sp>
          <p:nvSpPr>
            <p:cNvPr id="81926" name="Line 18"/>
            <p:cNvSpPr>
              <a:spLocks noChangeShapeType="1"/>
            </p:cNvSpPr>
            <p:nvPr/>
          </p:nvSpPr>
          <p:spPr bwMode="auto">
            <a:xfrm flipV="1">
              <a:off x="1399" y="16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5"/>
          <p:cNvSpPr>
            <a:spLocks noGrp="1" noChangeArrowheads="1"/>
          </p:cNvSpPr>
          <p:nvPr>
            <p:ph type="title"/>
          </p:nvPr>
        </p:nvSpPr>
        <p:spPr>
          <a:xfrm>
            <a:off x="503238" y="127000"/>
            <a:ext cx="9074150" cy="719138"/>
          </a:xfrm>
        </p:spPr>
        <p:txBody>
          <a:bodyPr>
            <a:spAutoFit/>
          </a:bodyPr>
          <a:lstStyle/>
          <a:p>
            <a:pPr eaLnBrk="1"/>
            <a:r>
              <a:rPr lang="ro-RO" altLang="zh-CN" sz="4000" smtClean="0"/>
              <a:t>Alte componente</a:t>
            </a:r>
            <a:r>
              <a:rPr lang="en-US" altLang="zh-CN" sz="4000" smtClean="0">
                <a:ea typeface="SimSun" panose="02010600030101010101" pitchFamily="2" charset="-122"/>
              </a:rPr>
              <a:t> …</a:t>
            </a:r>
          </a:p>
        </p:txBody>
      </p:sp>
      <p:graphicFrame>
        <p:nvGraphicFramePr>
          <p:cNvPr id="82947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923925" y="1763713"/>
          <a:ext cx="8316913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5" name="Bitmap Image" r:id="rId3" imgW="6980952" imgH="2542857" progId="Paint.Picture">
                  <p:embed/>
                </p:oleObj>
              </mc:Choice>
              <mc:Fallback>
                <p:oleObj name="Bitmap Image" r:id="rId3" imgW="6980952" imgH="254285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1763713"/>
                        <a:ext cx="8316913" cy="302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503238" y="990600"/>
            <a:ext cx="90741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794" tIns="50397" rIns="100794" bIns="50397">
            <a:spAutoFit/>
          </a:bodyPr>
          <a:lstStyle>
            <a:lvl1pPr marL="377825" indent="-377825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SimSun" panose="02010600030101010101" pitchFamily="2" charset="-122"/>
              </a:rPr>
              <a:t>JComboBox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: </a:t>
            </a:r>
            <a:r>
              <a:rPr lang="ro-RO" altLang="zh-CN" sz="2200">
                <a:effectLst>
                  <a:outerShdw blurRad="38100" dist="38100" dir="2700000" algn="tl">
                    <a:srgbClr val="C0C0C0"/>
                  </a:outerShdw>
                </a:effectLst>
              </a:rPr>
              <a:t>O listă ascunsă de itemuri din care se poate selecta doar unul.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 </a:t>
            </a:r>
            <a:r>
              <a:rPr lang="ro-RO" altLang="zh-CN" sz="2200">
                <a:effectLst>
                  <a:outerShdw blurRad="38100" dist="38100" dir="2700000" algn="tl">
                    <a:srgbClr val="C0C0C0"/>
                  </a:outerShdw>
                </a:effectLst>
              </a:rPr>
              <a:t>Generează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 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SimSun" panose="02010600030101010101" pitchFamily="2" charset="-122"/>
              </a:rPr>
              <a:t>ItemEvent</a:t>
            </a:r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503238" y="4956175"/>
            <a:ext cx="9074150" cy="77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794" tIns="50397" rIns="100794" bIns="50397">
            <a:spAutoFit/>
          </a:bodyPr>
          <a:lstStyle>
            <a:lvl1pPr marL="377825" indent="-377825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SimSun" panose="02010600030101010101" pitchFamily="2" charset="-122"/>
              </a:rPr>
              <a:t>JList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: </a:t>
            </a:r>
            <a:r>
              <a:rPr lang="ro-RO" altLang="zh-CN" sz="2200">
                <a:effectLst>
                  <a:outerShdw blurRad="38100" dist="38100" dir="2700000" algn="tl">
                    <a:srgbClr val="C0C0C0"/>
                  </a:outerShdw>
                </a:effectLst>
              </a:rPr>
              <a:t>O listă ce suportă atât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a </a:t>
            </a:r>
            <a:r>
              <a:rPr lang="en-US" altLang="zh-CN" sz="2200" i="1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single selection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 </a:t>
            </a:r>
            <a:r>
              <a:rPr lang="ro-RO" altLang="zh-CN" sz="2200">
                <a:effectLst>
                  <a:outerShdw blurRad="38100" dist="38100" dir="2700000" algn="tl">
                    <a:srgbClr val="C0C0C0"/>
                  </a:outerShdw>
                </a:effectLst>
              </a:rPr>
              <a:t>cât şi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 </a:t>
            </a:r>
            <a:r>
              <a:rPr lang="en-US" altLang="zh-CN" sz="2200" i="1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multiple-selection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. </a:t>
            </a:r>
            <a:r>
              <a:rPr lang="ro-RO" altLang="zh-CN" sz="2200">
                <a:effectLst>
                  <a:outerShdw blurRad="38100" dist="38100" dir="2700000" algn="tl">
                    <a:srgbClr val="C0C0C0"/>
                  </a:outerShdw>
                </a:effectLst>
              </a:rPr>
              <a:t>Generează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ea typeface="SimSun" panose="02010600030101010101" pitchFamily="2" charset="-122"/>
              </a:rPr>
              <a:t> </a:t>
            </a:r>
            <a:r>
              <a:rPr lang="en-US" altLang="zh-CN" sz="22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SimSun" panose="02010600030101010101" pitchFamily="2" charset="-122"/>
              </a:rPr>
              <a:t>ListSelectionEvent</a:t>
            </a:r>
          </a:p>
        </p:txBody>
      </p:sp>
      <p:graphicFrame>
        <p:nvGraphicFramePr>
          <p:cNvPr id="82950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1344613" y="5756275"/>
          <a:ext cx="7643812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6" name="Bitmap Image" r:id="rId5" imgW="5858693" imgH="1152381" progId="Paint.Picture">
                  <p:embed/>
                </p:oleObj>
              </mc:Choice>
              <mc:Fallback>
                <p:oleObj name="Bitmap Image" r:id="rId5" imgW="5858693" imgH="115238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5756275"/>
                        <a:ext cx="7643812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615950"/>
            <a:ext cx="9074150" cy="635000"/>
          </a:xfrm>
        </p:spPr>
        <p:txBody>
          <a:bodyPr>
            <a:spAutoFit/>
          </a:bodyPr>
          <a:lstStyle/>
          <a:p>
            <a:pPr eaLnBrk="1"/>
            <a:r>
              <a:rPr lang="en-US" altLang="zh-CN" sz="3500" smtClean="0">
                <a:ea typeface="SimSun" panose="02010600030101010101" pitchFamily="2" charset="-122"/>
              </a:rPr>
              <a:t>Supplemental Reading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763713"/>
            <a:ext cx="9074150" cy="4325937"/>
          </a:xfrm>
        </p:spPr>
        <p:txBody>
          <a:bodyPr>
            <a:spAutoFit/>
          </a:bodyPr>
          <a:lstStyle/>
          <a:p>
            <a:pPr eaLnBrk="1"/>
            <a:r>
              <a:rPr lang="en-US" altLang="zh-CN" sz="2200" smtClean="0">
                <a:ea typeface="SimSun" panose="02010600030101010101" pitchFamily="2" charset="-122"/>
              </a:rPr>
              <a:t>A visual Index to the Swing Components</a:t>
            </a:r>
          </a:p>
          <a:p>
            <a:pPr eaLnBrk="1">
              <a:buFont typeface="Wingdings" panose="05000000000000000000" pitchFamily="2" charset="2"/>
              <a:buNone/>
            </a:pPr>
            <a:r>
              <a:rPr lang="en-US" altLang="zh-CN" sz="2000" i="1" smtClean="0">
                <a:ea typeface="SimSun" panose="02010600030101010101" pitchFamily="2" charset="-122"/>
                <a:hlinkClick r:id="rId2"/>
              </a:rPr>
              <a:t>http://java.sun.com/docs/books/tutorial/uiswing/components/components.html</a:t>
            </a:r>
            <a:endParaRPr lang="en-US" altLang="zh-CN" sz="2000" i="1" smtClean="0">
              <a:ea typeface="SimSun" panose="02010600030101010101" pitchFamily="2" charset="-122"/>
            </a:endParaRPr>
          </a:p>
          <a:p>
            <a:pPr eaLnBrk="1">
              <a:buFont typeface="Wingdings" panose="05000000000000000000" pitchFamily="2" charset="2"/>
              <a:buNone/>
            </a:pPr>
            <a:endParaRPr lang="en-US" altLang="zh-CN" sz="2200" i="1" smtClean="0">
              <a:ea typeface="SimSun" panose="02010600030101010101" pitchFamily="2" charset="-122"/>
            </a:endParaRPr>
          </a:p>
          <a:p>
            <a:pPr eaLnBrk="1"/>
            <a:r>
              <a:rPr lang="en-US" altLang="zh-CN" sz="2200" b="1" smtClean="0">
                <a:ea typeface="SimSun" panose="02010600030101010101" pitchFamily="2" charset="-122"/>
              </a:rPr>
              <a:t>Creating a GUI with JFC/Swing</a:t>
            </a:r>
          </a:p>
          <a:p>
            <a:pPr eaLnBrk="1">
              <a:buFont typeface="Wingdings" panose="05000000000000000000" pitchFamily="2" charset="2"/>
              <a:buNone/>
            </a:pPr>
            <a:r>
              <a:rPr lang="en-US" altLang="zh-CN" sz="2000" i="1" smtClean="0">
                <a:ea typeface="SimSun" panose="02010600030101010101" pitchFamily="2" charset="-122"/>
                <a:hlinkClick r:id="rId3"/>
              </a:rPr>
              <a:t>http://java.sun.com/docs/books/tutorial/uiswing/index.html</a:t>
            </a:r>
            <a:endParaRPr lang="en-US" altLang="zh-CN" sz="2000" i="1" smtClean="0">
              <a:ea typeface="SimSun" panose="02010600030101010101" pitchFamily="2" charset="-122"/>
            </a:endParaRPr>
          </a:p>
          <a:p>
            <a:pPr eaLnBrk="1">
              <a:buFont typeface="Wingdings" panose="05000000000000000000" pitchFamily="2" charset="2"/>
              <a:buNone/>
            </a:pPr>
            <a:endParaRPr lang="en-US" altLang="zh-CN" sz="2200" i="1" smtClean="0">
              <a:ea typeface="SimSun" panose="02010600030101010101" pitchFamily="2" charset="-122"/>
            </a:endParaRPr>
          </a:p>
          <a:p>
            <a:pPr eaLnBrk="1"/>
            <a:r>
              <a:rPr lang="en-US" altLang="zh-CN" sz="2200" b="1" smtClean="0">
                <a:ea typeface="SimSun" panose="02010600030101010101" pitchFamily="2" charset="-122"/>
              </a:rPr>
              <a:t>Building a User Interface</a:t>
            </a:r>
          </a:p>
          <a:p>
            <a:pPr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>
                <a:ea typeface="SimSun" panose="02010600030101010101" pitchFamily="2" charset="-122"/>
                <a:hlinkClick r:id="rId4"/>
              </a:rPr>
              <a:t>http://java.sun.com/developer/onlineTraining/new2java/divelog/part1/</a:t>
            </a:r>
            <a:endParaRPr lang="en-US" altLang="zh-CN" sz="2000" i="1" smtClean="0">
              <a:ea typeface="SimSun" panose="02010600030101010101" pitchFamily="2" charset="-122"/>
            </a:endParaRPr>
          </a:p>
          <a:p>
            <a:pPr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>
                <a:ea typeface="SimSun" panose="02010600030101010101" pitchFamily="2" charset="-122"/>
                <a:hlinkClick r:id="rId5"/>
              </a:rPr>
              <a:t>http://java.sun.com/developer/onlineTraining/new2java/divelog/part2/index.jsp</a:t>
            </a:r>
            <a:endParaRPr lang="en-US" altLang="zh-CN" sz="2000" i="1" smtClean="0">
              <a:ea typeface="SimSun" panose="02010600030101010101" pitchFamily="2" charset="-122"/>
            </a:endParaRPr>
          </a:p>
          <a:p>
            <a:pPr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>
                <a:ea typeface="SimSun" panose="02010600030101010101" pitchFamily="2" charset="-122"/>
                <a:hlinkClick r:id="rId6"/>
              </a:rPr>
              <a:t>http://java.sun.com/developer/onlineTraining/new2java/divelog/part3/</a:t>
            </a:r>
            <a:endParaRPr lang="en-US" altLang="zh-CN" sz="2000" i="1" smtClean="0">
              <a:ea typeface="SimSun" panose="02010600030101010101" pitchFamily="2" charset="-122"/>
            </a:endParaRPr>
          </a:p>
          <a:p>
            <a:pPr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>
                <a:ea typeface="SimSun" panose="02010600030101010101" pitchFamily="2" charset="-122"/>
                <a:hlinkClick r:id="rId7"/>
              </a:rPr>
              <a:t>http://java.sun.com/developer/onlineTraining/new2java/divelog/part4/</a:t>
            </a:r>
            <a:endParaRPr lang="en-US" altLang="zh-CN" sz="2000" i="1" smtClean="0">
              <a:ea typeface="SimSun" panose="02010600030101010101" pitchFamily="2" charset="-122"/>
            </a:endParaRPr>
          </a:p>
          <a:p>
            <a:pPr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>
                <a:ea typeface="SimSun" panose="02010600030101010101" pitchFamily="2" charset="-122"/>
                <a:hlinkClick r:id="rId8"/>
              </a:rPr>
              <a:t>http://java.sun.com/developer/onlineTraining/new2java/divelog/part5/</a:t>
            </a:r>
            <a:endParaRPr lang="en-US" altLang="zh-CN" sz="2000" i="1" smtClean="0">
              <a:ea typeface="SimSun" panose="02010600030101010101" pitchFamily="2" charset="-122"/>
            </a:endParaRPr>
          </a:p>
          <a:p>
            <a:pPr eaLnBrk="1">
              <a:buFont typeface="Wingdings" panose="05000000000000000000" pitchFamily="2" charset="2"/>
              <a:buNone/>
            </a:pPr>
            <a:endParaRPr lang="en-US" altLang="zh-CN" sz="2000" i="1" smtClean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306513" y="-258763"/>
            <a:ext cx="8567737" cy="1092201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3200" smtClean="0">
                <a:latin typeface="Courier New" panose="02070309020205020404" pitchFamily="49" charset="0"/>
              </a:rPr>
              <a:t>JOptionPane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1163638"/>
            <a:ext cx="9548812" cy="6232525"/>
          </a:xfrm>
        </p:spPr>
        <p:txBody>
          <a:bodyPr/>
          <a:lstStyle/>
          <a:p>
            <a:pPr eaLnBrk="1">
              <a:lnSpc>
                <a:spcPct val="90000"/>
              </a:lnSpc>
              <a:buFont typeface="StarSymbol" charset="0"/>
              <a:buNone/>
            </a:pPr>
            <a:r>
              <a:rPr lang="ro-RO" altLang="en-US" sz="2800" i="1" smtClean="0"/>
              <a:t>O componentă </a:t>
            </a:r>
            <a:r>
              <a:rPr lang="en-US" altLang="en-US" sz="2800" i="1" smtClean="0"/>
              <a:t>option </a:t>
            </a:r>
            <a:r>
              <a:rPr lang="ro-RO" altLang="en-US" sz="2800" i="1" smtClean="0"/>
              <a:t>este o fereastră</a:t>
            </a:r>
            <a:r>
              <a:rPr lang="en-US" altLang="en-US" sz="2800" i="1" smtClean="0"/>
              <a:t> dialog box </a:t>
            </a:r>
            <a:r>
              <a:rPr lang="ro-RO" altLang="en-US" sz="2800" i="1" smtClean="0"/>
              <a:t>pentru</a:t>
            </a:r>
            <a:r>
              <a:rPr lang="en-US" altLang="en-US" sz="2800" i="1" smtClean="0"/>
              <a:t> input/output</a:t>
            </a:r>
            <a:r>
              <a:rPr lang="ro-RO" altLang="en-US" sz="2800" i="1" smtClean="0"/>
              <a:t> în mod grafic</a:t>
            </a:r>
            <a:endParaRPr lang="en-US" altLang="en-US" sz="2800" i="1" smtClean="0"/>
          </a:p>
          <a:p>
            <a:pPr eaLnBrk="1">
              <a:lnSpc>
                <a:spcPct val="90000"/>
              </a:lnSpc>
            </a:pPr>
            <a:endParaRPr lang="en-US" altLang="en-US" smtClean="0"/>
          </a:p>
          <a:p>
            <a:pPr eaLnBrk="1">
              <a:lnSpc>
                <a:spcPct val="90000"/>
              </a:lnSpc>
            </a:pPr>
            <a:r>
              <a:rPr lang="ro-RO" altLang="en-US" smtClean="0"/>
              <a:t>avantaje</a:t>
            </a:r>
            <a:r>
              <a:rPr lang="en-US" altLang="en-US" smtClean="0"/>
              <a:t>:</a:t>
            </a:r>
          </a:p>
          <a:p>
            <a:pPr lvl="1" eaLnBrk="1">
              <a:lnSpc>
                <a:spcPct val="90000"/>
              </a:lnSpc>
            </a:pPr>
            <a:r>
              <a:rPr lang="en-US" altLang="en-US" smtClean="0"/>
              <a:t>simpl</a:t>
            </a:r>
            <a:r>
              <a:rPr lang="ro-RO" altLang="en-US" smtClean="0"/>
              <a:t>e</a:t>
            </a:r>
            <a:endParaRPr lang="en-US" altLang="en-US" smtClean="0"/>
          </a:p>
          <a:p>
            <a:pPr lvl="1" eaLnBrk="1">
              <a:lnSpc>
                <a:spcPct val="90000"/>
              </a:lnSpc>
            </a:pPr>
            <a:r>
              <a:rPr lang="en-US" altLang="en-US" smtClean="0"/>
              <a:t>flexib</a:t>
            </a:r>
            <a:r>
              <a:rPr lang="ro-RO" altLang="en-US" smtClean="0"/>
              <a:t>i</a:t>
            </a:r>
            <a:r>
              <a:rPr lang="en-US" altLang="en-US" smtClean="0"/>
              <a:t>le</a:t>
            </a:r>
          </a:p>
          <a:p>
            <a:pPr lvl="1" eaLnBrk="1">
              <a:lnSpc>
                <a:spcPct val="90000"/>
              </a:lnSpc>
            </a:pPr>
            <a:r>
              <a:rPr lang="ro-RO" altLang="en-US" smtClean="0"/>
              <a:t>Aspectul</a:t>
            </a:r>
            <a:endParaRPr lang="en-US" altLang="en-US" smtClean="0"/>
          </a:p>
          <a:p>
            <a:pPr eaLnBrk="1">
              <a:lnSpc>
                <a:spcPct val="90000"/>
              </a:lnSpc>
            </a:pPr>
            <a:r>
              <a:rPr lang="ro-RO" altLang="en-US" smtClean="0"/>
              <a:t>dezavantaje</a:t>
            </a:r>
            <a:r>
              <a:rPr lang="en-US" altLang="en-US" smtClean="0"/>
              <a:t>:</a:t>
            </a:r>
          </a:p>
          <a:p>
            <a:pPr lvl="1" eaLnBrk="1">
              <a:lnSpc>
                <a:spcPct val="90000"/>
              </a:lnSpc>
            </a:pPr>
            <a:r>
              <a:rPr lang="ro-RO" altLang="en-US" smtClean="0"/>
              <a:t>Sunt create cu metode statice</a:t>
            </a:r>
            <a:r>
              <a:rPr lang="en-US" altLang="en-US" smtClean="0"/>
              <a:t>; </a:t>
            </a:r>
            <a:endParaRPr lang="ro-RO" altLang="en-US" smtClean="0"/>
          </a:p>
          <a:p>
            <a:pPr lvl="1" eaLnBrk="1">
              <a:lnSpc>
                <a:spcPct val="90000"/>
              </a:lnSpc>
            </a:pPr>
            <a:r>
              <a:rPr lang="ro-RO" altLang="en-US" smtClean="0"/>
              <a:t>nu sunt foarte orientate obiect</a:t>
            </a:r>
            <a:endParaRPr lang="en-US" altLang="en-US" smtClean="0"/>
          </a:p>
          <a:p>
            <a:pPr lvl="1" eaLnBrk="1">
              <a:lnSpc>
                <a:spcPct val="90000"/>
              </a:lnSpc>
            </a:pPr>
            <a:r>
              <a:rPr lang="ro-RO" altLang="en-US" smtClean="0"/>
              <a:t>Nu sunt foarte puternice</a:t>
            </a:r>
            <a:endParaRPr lang="en-US" altLang="en-US" smtClean="0"/>
          </a:p>
        </p:txBody>
      </p:sp>
      <p:pic>
        <p:nvPicPr>
          <p:cNvPr id="84996" name="Picture 4" descr="19invalidVo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352675"/>
            <a:ext cx="4032250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joptionpane-mess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575" y="2016125"/>
            <a:ext cx="27749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9" name="Picture 3" descr="joptionpane-confir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698875"/>
            <a:ext cx="3527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0" name="Picture 4" descr="joptionpane-inpu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151563"/>
            <a:ext cx="3295650" cy="14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ro-RO" altLang="en-US" smtClean="0"/>
              <a:t>Tipuri de</a:t>
            </a:r>
            <a:r>
              <a:rPr lang="en-US" altLang="en-US" smtClean="0"/>
              <a:t> </a:t>
            </a:r>
            <a:r>
              <a:rPr lang="en-US" altLang="en-US" smtClean="0">
                <a:latin typeface="Courier New" panose="02070309020205020404" pitchFamily="49" charset="0"/>
              </a:rPr>
              <a:t>JOptionPane</a:t>
            </a:r>
            <a:r>
              <a:rPr lang="ro-RO" altLang="en-US" smtClean="0">
                <a:latin typeface="Courier New" panose="02070309020205020404" pitchFamily="49" charset="0"/>
              </a:rPr>
              <a:t> </a:t>
            </a:r>
            <a:endParaRPr lang="en-US" altLang="en-US" smtClean="0"/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-168275" y="1427163"/>
            <a:ext cx="10080625" cy="6132512"/>
          </a:xfrm>
        </p:spPr>
        <p:txBody>
          <a:bodyPr/>
          <a:lstStyle/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static void showMessageDialog(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Component parent, Object message)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endParaRPr lang="en-US" altLang="en-US" sz="2400" smtClean="0"/>
          </a:p>
          <a:p>
            <a:pPr eaLnBrk="1">
              <a:lnSpc>
                <a:spcPct val="90000"/>
              </a:lnSpc>
            </a:pPr>
            <a:endParaRPr lang="en-US" altLang="en-US" sz="2400" smtClean="0"/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static int showConfirmDialog(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Component parent, Object message)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endParaRPr lang="en-US" altLang="en-US" sz="2400" smtClean="0"/>
          </a:p>
          <a:p>
            <a:pPr eaLnBrk="1">
              <a:lnSpc>
                <a:spcPct val="90000"/>
              </a:lnSpc>
            </a:pPr>
            <a:endParaRPr lang="ro-RO" altLang="en-US" sz="2400" smtClean="0"/>
          </a:p>
          <a:p>
            <a:pPr eaLnBrk="1">
              <a:lnSpc>
                <a:spcPct val="90000"/>
              </a:lnSpc>
            </a:pPr>
            <a:endParaRPr lang="en-US" altLang="en-US" sz="2400" smtClean="0"/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static String showInputDialog(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Component parent, Object message)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JOptionPane</a:t>
            </a:r>
            <a:r>
              <a:rPr lang="en-US" altLang="en-US" smtClean="0"/>
              <a:t> ex</a:t>
            </a:r>
            <a:r>
              <a:rPr lang="ro-RO" altLang="en-US" smtClean="0"/>
              <a:t>e</a:t>
            </a:r>
            <a:r>
              <a:rPr lang="en-US" altLang="en-US" smtClean="0"/>
              <a:t>mpl</a:t>
            </a:r>
            <a:r>
              <a:rPr lang="ro-RO" altLang="en-US" smtClean="0"/>
              <a:t>ul</a:t>
            </a:r>
            <a:r>
              <a:rPr lang="en-US" altLang="en-US" smtClean="0"/>
              <a:t> 1</a:t>
            </a:r>
          </a:p>
        </p:txBody>
      </p:sp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5227638"/>
            <a:ext cx="3697287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3" y="5227638"/>
            <a:ext cx="3695700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showMessageDialog</a:t>
            </a:r>
            <a:r>
              <a:rPr lang="en-US" altLang="en-US" sz="2400" smtClean="0"/>
              <a:t> </a:t>
            </a:r>
            <a:r>
              <a:rPr lang="ro-RO" altLang="en-US" sz="2400" smtClean="0"/>
              <a:t>este analog cu</a:t>
            </a:r>
            <a:r>
              <a:rPr lang="en-US" altLang="en-US" sz="2400" smtClean="0"/>
              <a:t> </a:t>
            </a:r>
            <a:r>
              <a:rPr lang="en-US" altLang="en-US" sz="2400" smtClean="0">
                <a:latin typeface="Courier New" panose="02070309020205020404" pitchFamily="49" charset="0"/>
              </a:rPr>
              <a:t>System.out.println</a:t>
            </a:r>
            <a:r>
              <a:rPr lang="en-US" altLang="en-US" sz="2400" smtClean="0"/>
              <a:t> </a:t>
            </a:r>
            <a:r>
              <a:rPr lang="ro-RO" altLang="en-US" sz="2400" smtClean="0"/>
              <a:t>pentru afişarea unui </a:t>
            </a:r>
            <a:r>
              <a:rPr lang="en-US" altLang="en-US" sz="2400" smtClean="0"/>
              <a:t>simpl</a:t>
            </a:r>
            <a:r>
              <a:rPr lang="ro-RO" altLang="en-US" sz="2400" smtClean="0"/>
              <a:t>u</a:t>
            </a:r>
            <a:r>
              <a:rPr lang="en-US" altLang="en-US" sz="2400" smtClean="0"/>
              <a:t> mesa</a:t>
            </a:r>
            <a:r>
              <a:rPr lang="ro-RO" altLang="en-US" sz="2400" smtClean="0"/>
              <a:t>j</a:t>
            </a:r>
            <a:endParaRPr lang="en-US" altLang="en-US" sz="2400" smtClean="0"/>
          </a:p>
          <a:p>
            <a:pPr eaLnBrk="1">
              <a:buFont typeface="StarSymbol" charset="0"/>
              <a:buNone/>
            </a:pPr>
            <a:endParaRPr lang="en-US" altLang="en-US" sz="2400" smtClean="0"/>
          </a:p>
          <a:p>
            <a:pPr eaLnBrk="1"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import javax.swing.*;</a:t>
            </a:r>
          </a:p>
          <a:p>
            <a:pPr eaLnBrk="1">
              <a:buFont typeface="StarSymbol" charset="0"/>
              <a:buNone/>
            </a:pPr>
            <a:endParaRPr lang="en-US" altLang="en-US" sz="1800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class MessageDialogExample {</a:t>
            </a:r>
          </a:p>
          <a:p>
            <a:pPr eaLnBrk="1"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  public static void main(String[] args) {</a:t>
            </a:r>
          </a:p>
          <a:p>
            <a:pPr eaLnBrk="1"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    </a:t>
            </a:r>
            <a:r>
              <a:rPr lang="en-US" altLang="en-US" sz="1800" b="1" smtClean="0">
                <a:latin typeface="Courier New" panose="02070309020205020404" pitchFamily="49" charset="0"/>
              </a:rPr>
              <a:t>JOptionPane.showMessageDialog</a:t>
            </a:r>
            <a:r>
              <a:rPr lang="en-US" altLang="en-US" sz="1800" smtClean="0">
                <a:latin typeface="Courier New" panose="02070309020205020404" pitchFamily="49" charset="0"/>
              </a:rPr>
              <a:t>(null, </a:t>
            </a:r>
            <a:br>
              <a:rPr lang="en-US" altLang="en-US" sz="1800" smtClean="0">
                <a:latin typeface="Courier New" panose="02070309020205020404" pitchFamily="49" charset="0"/>
              </a:rPr>
            </a:br>
            <a:r>
              <a:rPr lang="en-US" altLang="en-US" sz="1800" smtClean="0">
                <a:latin typeface="Courier New" panose="02070309020205020404" pitchFamily="49" charset="0"/>
              </a:rPr>
              <a:t>    "How's the weather?");</a:t>
            </a:r>
          </a:p>
          <a:p>
            <a:pPr eaLnBrk="1"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    </a:t>
            </a:r>
            <a:r>
              <a:rPr lang="en-US" altLang="en-US" sz="1800" b="1" smtClean="0">
                <a:latin typeface="Courier New" panose="02070309020205020404" pitchFamily="49" charset="0"/>
              </a:rPr>
              <a:t>JOptionPane.showMessageDialog</a:t>
            </a:r>
            <a:r>
              <a:rPr lang="en-US" altLang="en-US" sz="1800" smtClean="0">
                <a:latin typeface="Courier New" panose="02070309020205020404" pitchFamily="49" charset="0"/>
              </a:rPr>
              <a:t>(null, </a:t>
            </a:r>
            <a:br>
              <a:rPr lang="en-US" altLang="en-US" sz="1800" smtClean="0">
                <a:latin typeface="Courier New" panose="02070309020205020404" pitchFamily="49" charset="0"/>
              </a:rPr>
            </a:br>
            <a:r>
              <a:rPr lang="en-US" altLang="en-US" sz="1800" smtClean="0">
                <a:latin typeface="Courier New" panose="02070309020205020404" pitchFamily="49" charset="0"/>
              </a:rPr>
              <a:t>    "Second message");</a:t>
            </a:r>
          </a:p>
          <a:p>
            <a:pPr eaLnBrk="1"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  }</a:t>
            </a:r>
          </a:p>
          <a:p>
            <a:pPr eaLnBrk="1"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}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JOptionPane</a:t>
            </a:r>
            <a:r>
              <a:rPr lang="en-US" altLang="en-US" smtClean="0"/>
              <a:t> ex</a:t>
            </a:r>
            <a:r>
              <a:rPr lang="ro-RO" altLang="en-US" smtClean="0"/>
              <a:t>e</a:t>
            </a:r>
            <a:r>
              <a:rPr lang="en-US" altLang="en-US" smtClean="0"/>
              <a:t>mpl</a:t>
            </a:r>
            <a:r>
              <a:rPr lang="ro-RO" altLang="en-US" smtClean="0"/>
              <a:t>ul</a:t>
            </a:r>
            <a:r>
              <a:rPr lang="en-US" altLang="en-US" smtClean="0"/>
              <a:t> 2</a:t>
            </a:r>
          </a:p>
        </p:txBody>
      </p:sp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5075238"/>
            <a:ext cx="2814637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13" y="5380038"/>
            <a:ext cx="281305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913" y="5989638"/>
            <a:ext cx="2814637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lang="en-US" altLang="en-US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import javax.swing.*;</a:t>
            </a:r>
          </a:p>
          <a:p>
            <a:pPr eaLnBrk="1">
              <a:buFont typeface="StarSymbol" charset="0"/>
              <a:buNone/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class ConfirmDialogExample {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public static void main(String[] args) {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int choice = </a:t>
            </a:r>
            <a:r>
              <a:rPr lang="en-US" altLang="en-US" sz="2000" b="1" smtClean="0">
                <a:latin typeface="Courier New" panose="02070309020205020404" pitchFamily="49" charset="0"/>
              </a:rPr>
              <a:t>JOptionPane.showConfirmDialog</a:t>
            </a:r>
            <a:r>
              <a:rPr lang="en-US" altLang="en-US" sz="2000" smtClean="0">
                <a:latin typeface="Courier New" panose="02070309020205020404" pitchFamily="49" charset="0"/>
              </a:rPr>
              <a:t>(null,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     "Erase your hard disk?");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if (choice == </a:t>
            </a:r>
            <a:r>
              <a:rPr lang="en-US" altLang="en-US" sz="2000" b="1" smtClean="0">
                <a:latin typeface="Courier New" panose="02070309020205020404" pitchFamily="49" charset="0"/>
              </a:rPr>
              <a:t>JOptionPane.YES_OPTION</a:t>
            </a:r>
            <a:r>
              <a:rPr lang="en-US" altLang="en-US" sz="2000" smtClean="0">
                <a:latin typeface="Courier New" panose="02070309020205020404" pitchFamily="49" charset="0"/>
              </a:rPr>
              <a:t>) {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JOptionPane.showMessageDialog(null, "Disk erased!");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} else {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JOptionPane.showMessageDialog(null, "Cancelled.");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}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}</a:t>
            </a:r>
          </a:p>
          <a:p>
            <a:pPr eaLnBrk="1"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}</a:t>
            </a:r>
            <a:endParaRPr lang="en-US" altLang="en-US" sz="4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JOptionPane</a:t>
            </a:r>
            <a:r>
              <a:rPr lang="en-US" altLang="en-US" smtClean="0"/>
              <a:t> exampl</a:t>
            </a:r>
            <a:r>
              <a:rPr lang="ro-RO" altLang="en-US" smtClean="0"/>
              <a:t>ul</a:t>
            </a:r>
            <a:r>
              <a:rPr lang="en-US" altLang="en-US" smtClean="0"/>
              <a:t> 3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lang="en-US" altLang="en-US" sz="2400" smtClean="0"/>
          </a:p>
          <a:p>
            <a:pPr eaLnBrk="1">
              <a:buFont typeface="StarSymbol" charset="0"/>
              <a:buNone/>
            </a:pPr>
            <a:endParaRPr lang="en-US" altLang="en-US" sz="2400" smtClean="0"/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import javax.swing.*;</a:t>
            </a:r>
          </a:p>
          <a:p>
            <a:pPr eaLnBrk="1">
              <a:buFont typeface="StarSymbol" charset="0"/>
              <a:buNone/>
            </a:pPr>
            <a:endParaRPr lang="en-US" altLang="en-US" sz="1600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class InputDialogExample {</a:t>
            </a:r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  public static void main(String[] args) {</a:t>
            </a:r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    String name = </a:t>
            </a:r>
            <a:r>
              <a:rPr lang="en-US" altLang="en-US" sz="1600" b="1" smtClean="0">
                <a:latin typeface="Courier New" panose="02070309020205020404" pitchFamily="49" charset="0"/>
              </a:rPr>
              <a:t>JOptionPane.showInputDialog</a:t>
            </a:r>
            <a:r>
              <a:rPr lang="en-US" altLang="en-US" sz="1600" smtClean="0">
                <a:latin typeface="Courier New" panose="02070309020205020404" pitchFamily="49" charset="0"/>
              </a:rPr>
              <a:t>(null,</a:t>
            </a:r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                     "What's yer name, pardner?");</a:t>
            </a:r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    JOptionPane.showMessageDialog(null, "Yeehaw, " + name);</a:t>
            </a:r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  }</a:t>
            </a:r>
          </a:p>
          <a:p>
            <a:pPr eaLnBrk="1">
              <a:buFont typeface="StarSymbol" charset="0"/>
              <a:buNone/>
            </a:pPr>
            <a:r>
              <a:rPr lang="en-US" altLang="en-US" sz="1600" smtClean="0">
                <a:latin typeface="Courier New" panose="02070309020205020404" pitchFamily="49" charset="0"/>
              </a:rPr>
              <a:t>}</a:t>
            </a:r>
          </a:p>
          <a:p>
            <a:pPr eaLnBrk="1"/>
            <a:endParaRPr lang="en-US" altLang="en-US" smtClean="0"/>
          </a:p>
          <a:p>
            <a:pPr eaLnBrk="1"/>
            <a:endParaRPr lang="en-US" altLang="en-US" smtClean="0"/>
          </a:p>
        </p:txBody>
      </p:sp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5291138"/>
            <a:ext cx="311785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5291138"/>
            <a:ext cx="2814638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ro-RO" altLang="en-US" smtClean="0"/>
              <a:t>Elemente </a:t>
            </a:r>
            <a:r>
              <a:rPr lang="en-US" altLang="en-US" smtClean="0"/>
              <a:t>GUI </a:t>
            </a:r>
          </a:p>
        </p:txBody>
      </p:sp>
      <p:pic>
        <p:nvPicPr>
          <p:cNvPr id="90115" name="Picture 3" descr="7CelsiusConver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4956175"/>
            <a:ext cx="9155113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90000"/>
              </a:lnSpc>
            </a:pPr>
            <a:r>
              <a:rPr lang="en-US" altLang="en-US" sz="2800" b="1" smtClean="0"/>
              <a:t>windows</a:t>
            </a:r>
            <a:r>
              <a:rPr lang="en-US" altLang="en-US" sz="2800" smtClean="0"/>
              <a:t>: </a:t>
            </a:r>
            <a:r>
              <a:rPr lang="ro-RO" altLang="en-US" sz="2800" smtClean="0"/>
              <a:t>container de tip</a:t>
            </a:r>
            <a:r>
              <a:rPr lang="en-US" altLang="en-US" sz="2800" smtClean="0"/>
              <a:t> top-level </a:t>
            </a:r>
            <a:br>
              <a:rPr lang="en-US" altLang="en-US" sz="2800" smtClean="0"/>
            </a:br>
            <a:r>
              <a:rPr lang="en-US" altLang="en-US" sz="2800" i="1" smtClean="0"/>
              <a:t>ex</a:t>
            </a:r>
            <a:r>
              <a:rPr lang="ro-RO" altLang="en-US" sz="2800" i="1" smtClean="0"/>
              <a:t>e</a:t>
            </a:r>
            <a:r>
              <a:rPr lang="en-US" altLang="en-US" sz="2800" i="1" smtClean="0"/>
              <a:t>mple: frame, dialog box</a:t>
            </a:r>
          </a:p>
          <a:p>
            <a:pPr eaLnBrk="1">
              <a:lnSpc>
                <a:spcPct val="90000"/>
              </a:lnSpc>
            </a:pPr>
            <a:r>
              <a:rPr lang="en-US" altLang="en-US" sz="2800" b="1" smtClean="0"/>
              <a:t>component</a:t>
            </a:r>
            <a:r>
              <a:rPr lang="ro-RO" altLang="en-US" sz="2800" b="1" smtClean="0"/>
              <a:t>e</a:t>
            </a:r>
            <a:r>
              <a:rPr lang="en-US" altLang="en-US" sz="2800" smtClean="0"/>
              <a:t> GUI</a:t>
            </a:r>
            <a:r>
              <a:rPr lang="ro-RO" altLang="en-US" sz="2800" smtClean="0"/>
              <a:t>:</a:t>
            </a:r>
            <a:r>
              <a:rPr lang="en-US" altLang="en-US" sz="2800" smtClean="0"/>
              <a:t/>
            </a:r>
            <a:br>
              <a:rPr lang="en-US" altLang="en-US" sz="2800" smtClean="0"/>
            </a:br>
            <a:r>
              <a:rPr lang="en-US" altLang="en-US" sz="2800" i="1" smtClean="0"/>
              <a:t>ex</a:t>
            </a:r>
            <a:r>
              <a:rPr lang="ro-RO" altLang="en-US" sz="2800" i="1" smtClean="0"/>
              <a:t>e</a:t>
            </a:r>
            <a:r>
              <a:rPr lang="en-US" altLang="en-US" sz="2800" i="1" smtClean="0"/>
              <a:t>mple</a:t>
            </a:r>
            <a:r>
              <a:rPr lang="ro-RO" altLang="en-US" sz="2800" i="1" smtClean="0"/>
              <a:t>:</a:t>
            </a:r>
            <a:r>
              <a:rPr lang="en-US" altLang="en-US" sz="2800" i="1" smtClean="0"/>
              <a:t> button, text box, label</a:t>
            </a:r>
          </a:p>
          <a:p>
            <a:pPr eaLnBrk="1">
              <a:lnSpc>
                <a:spcPct val="90000"/>
              </a:lnSpc>
            </a:pPr>
            <a:r>
              <a:rPr lang="en-US" altLang="en-US" sz="2800" b="1" smtClean="0"/>
              <a:t>container</a:t>
            </a:r>
            <a:r>
              <a:rPr lang="ro-RO" altLang="en-US" sz="2800" b="1" smtClean="0"/>
              <a:t>e</a:t>
            </a:r>
            <a:r>
              <a:rPr lang="en-US" altLang="en-US" sz="2800" smtClean="0"/>
              <a:t>: </a:t>
            </a:r>
            <a:r>
              <a:rPr lang="ro-RO" altLang="en-US" sz="2800" smtClean="0"/>
              <a:t>grupuri logice de componente</a:t>
            </a:r>
          </a:p>
          <a:p>
            <a:pPr eaLnBrk="1">
              <a:lnSpc>
                <a:spcPct val="90000"/>
              </a:lnSpc>
            </a:pPr>
            <a:r>
              <a:rPr lang="en-US" altLang="en-US" sz="2800" i="1" smtClean="0"/>
              <a:t>ex</a:t>
            </a:r>
            <a:r>
              <a:rPr lang="ro-RO" altLang="en-US" sz="2800" i="1" smtClean="0"/>
              <a:t>e</a:t>
            </a:r>
            <a:r>
              <a:rPr lang="en-US" altLang="en-US" sz="2800" i="1" smtClean="0"/>
              <a:t>mple: panel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Java GUI: AWT </a:t>
            </a:r>
            <a:r>
              <a:rPr lang="ro-RO" altLang="en-US" smtClean="0"/>
              <a:t>şi</a:t>
            </a:r>
            <a:r>
              <a:rPr lang="en-US" altLang="en-US" smtClean="0"/>
              <a:t> Swing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90000"/>
              </a:lnSpc>
            </a:pPr>
            <a:r>
              <a:rPr lang="ro-RO" altLang="en-US" sz="2800" smtClean="0"/>
              <a:t>Ideea iniţială a firmei </a:t>
            </a:r>
            <a:r>
              <a:rPr lang="en-US" altLang="en-US" sz="2800" smtClean="0"/>
              <a:t>Sun: </a:t>
            </a:r>
            <a:r>
              <a:rPr lang="ro-RO" altLang="en-US" sz="2800" smtClean="0"/>
              <a:t>crearea unui set de </a:t>
            </a:r>
            <a:r>
              <a:rPr lang="en-US" altLang="en-US" sz="2800" smtClean="0"/>
              <a:t>clase/metod</a:t>
            </a:r>
            <a:r>
              <a:rPr lang="ro-RO" altLang="en-US" sz="2800" smtClean="0"/>
              <a:t>e care să se folosească pentru a implementa interfeţe GUI </a:t>
            </a:r>
            <a:r>
              <a:rPr lang="en-US" altLang="en-US" sz="2800" smtClean="0"/>
              <a:t>multiplatform</a:t>
            </a:r>
            <a:r>
              <a:rPr lang="ro-RO" altLang="en-US" sz="2800" smtClean="0"/>
              <a:t>ă</a:t>
            </a:r>
            <a:r>
              <a:rPr lang="en-US" altLang="en-US" sz="2800" smtClean="0"/>
              <a:t> (Abstract Windowing Toolkit, </a:t>
            </a:r>
            <a:r>
              <a:rPr lang="ro-RO" altLang="en-US" sz="2800" smtClean="0"/>
              <a:t>sau</a:t>
            </a:r>
            <a:r>
              <a:rPr lang="en-US" altLang="en-US" sz="2800" smtClean="0"/>
              <a:t> </a:t>
            </a:r>
            <a:r>
              <a:rPr lang="en-US" altLang="en-US" sz="2800" b="1" smtClean="0"/>
              <a:t>AWT</a:t>
            </a:r>
            <a:r>
              <a:rPr lang="en-US" altLang="en-US" sz="2800" smtClean="0"/>
              <a:t>)</a:t>
            </a:r>
          </a:p>
          <a:p>
            <a:pPr lvl="1" eaLnBrk="1">
              <a:lnSpc>
                <a:spcPct val="90000"/>
              </a:lnSpc>
            </a:pPr>
            <a:r>
              <a:rPr lang="en-US" altLang="en-US" sz="2400" smtClean="0"/>
              <a:t>problem</a:t>
            </a:r>
            <a:r>
              <a:rPr lang="ro-RO" altLang="en-US" sz="2400" smtClean="0"/>
              <a:t>ă</a:t>
            </a:r>
            <a:r>
              <a:rPr lang="en-US" altLang="en-US" sz="2400" smtClean="0"/>
              <a:t>: </a:t>
            </a:r>
            <a:r>
              <a:rPr lang="ro-RO" altLang="en-US" sz="2400" smtClean="0"/>
              <a:t>nu sunt suficient de puternice</a:t>
            </a:r>
            <a:r>
              <a:rPr lang="en-US" altLang="en-US" sz="2400" smtClean="0"/>
              <a:t>;  </a:t>
            </a:r>
            <a:r>
              <a:rPr lang="ro-RO" altLang="en-US" sz="2400" smtClean="0"/>
              <a:t>mai greoi de folosit</a:t>
            </a:r>
            <a:endParaRPr lang="en-US" altLang="en-US" sz="2400" smtClean="0"/>
          </a:p>
          <a:p>
            <a:pPr eaLnBrk="1">
              <a:lnSpc>
                <a:spcPct val="90000"/>
              </a:lnSpc>
            </a:pPr>
            <a:endParaRPr lang="en-US" altLang="en-US" sz="2800" smtClean="0"/>
          </a:p>
          <a:p>
            <a:pPr eaLnBrk="1">
              <a:lnSpc>
                <a:spcPct val="90000"/>
              </a:lnSpc>
            </a:pPr>
            <a:r>
              <a:rPr lang="ro-RO" altLang="en-US" sz="2800" smtClean="0"/>
              <a:t>A doua </a:t>
            </a:r>
            <a:r>
              <a:rPr lang="en-US" altLang="en-US" sz="2800" smtClean="0"/>
              <a:t>edi</a:t>
            </a:r>
            <a:r>
              <a:rPr lang="ro-RO" altLang="en-US" sz="2800" smtClean="0"/>
              <a:t>ţie</a:t>
            </a:r>
            <a:r>
              <a:rPr lang="en-US" altLang="en-US" sz="2800" smtClean="0"/>
              <a:t> (JDK v1.2): </a:t>
            </a:r>
            <a:r>
              <a:rPr lang="en-US" altLang="en-US" sz="2800" b="1" smtClean="0"/>
              <a:t>Swing</a:t>
            </a:r>
            <a:endParaRPr lang="en-US" altLang="en-US" sz="2800" smtClean="0"/>
          </a:p>
          <a:p>
            <a:pPr lvl="1" eaLnBrk="1">
              <a:lnSpc>
                <a:spcPct val="90000"/>
              </a:lnSpc>
            </a:pPr>
            <a:r>
              <a:rPr lang="en-US" altLang="en-US" sz="2400" smtClean="0"/>
              <a:t>o bibliotecă nouă, care permite grafica mult mai </a:t>
            </a:r>
            <a:r>
              <a:rPr lang="ro-RO" altLang="en-US" sz="2400" smtClean="0"/>
              <a:t>performantă</a:t>
            </a:r>
            <a:r>
              <a:rPr lang="en-US" altLang="en-US" sz="2400" smtClean="0"/>
              <a:t> şi construcţii GUI </a:t>
            </a:r>
          </a:p>
          <a:p>
            <a:pPr eaLnBrk="1">
              <a:lnSpc>
                <a:spcPct val="90000"/>
              </a:lnSpc>
            </a:pPr>
            <a:endParaRPr lang="en-US" altLang="en-US" sz="2800" smtClean="0"/>
          </a:p>
          <a:p>
            <a:pPr eaLnBrk="1">
              <a:lnSpc>
                <a:spcPct val="90000"/>
              </a:lnSpc>
            </a:pPr>
            <a:r>
              <a:rPr lang="ro-RO" altLang="en-US" sz="2800" smtClean="0"/>
              <a:t>Inconvenient</a:t>
            </a:r>
            <a:r>
              <a:rPr lang="en-US" altLang="en-US" sz="2800" smtClean="0"/>
              <a:t>: </a:t>
            </a:r>
            <a:r>
              <a:rPr lang="ro-RO" altLang="en-US" sz="2800" smtClean="0"/>
              <a:t>Există ambele în Java</a:t>
            </a:r>
            <a:r>
              <a:rPr lang="en-US" altLang="en-US" sz="2800" smtClean="0"/>
              <a:t>; </a:t>
            </a:r>
            <a:r>
              <a:rPr lang="ro-RO" altLang="en-US" sz="2800" smtClean="0"/>
              <a:t>uşor de încurcat între ele</a:t>
            </a:r>
            <a:r>
              <a:rPr lang="en-US" altLang="en-US" sz="2800" smtClean="0"/>
              <a:t>; </a:t>
            </a:r>
            <a:r>
              <a:rPr lang="ro-RO" altLang="en-US" sz="2800" smtClean="0"/>
              <a:t>Uneori este necesar să se utilizeze ambele</a:t>
            </a:r>
            <a:r>
              <a:rPr lang="en-US" altLang="en-US" sz="2800" smtClean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en-US" sz="2800" smtClean="0"/>
              <a:t>Asemanari  si deosebiri SWING cu AWT</a:t>
            </a:r>
            <a:br>
              <a:rPr lang="it-IT" altLang="en-US" sz="2800" smtClean="0"/>
            </a:br>
            <a:endParaRPr lang="en-US" altLang="en-US" sz="2800" smtClean="0"/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Swing nu ınlocuieste modelul AWT ci ıl extinde</a:t>
            </a:r>
          </a:p>
          <a:p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Aplicatiile GUI vor aveaın continuare nevoie de pachetul java.awt</a:t>
            </a:r>
          </a:p>
          <a:p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Exemplul 1 AWT</a:t>
            </a:r>
          </a:p>
          <a:p>
            <a:endParaRPr lang="en-US" altLang="en-US" sz="20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java . awt .*;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java . awt. event .*;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ExempluAWT extends Frame implements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ActionListener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ExempluAWT ( String titlu 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super ( titlu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setLayout (new FlowLayout ());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add (new Label (" Hello AWT "));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Button b = new Button (" Close ");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b. addActionListener ( this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add (b);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pack ();show ();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void actionPerformed ( ActionEvent e)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System . exit (0); }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 ( String args [])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new ExempluAWT (" Hello ");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}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93187" name="Content Placeholder 2"/>
          <p:cNvSpPr>
            <a:spLocks noGrp="1"/>
          </p:cNvSpPr>
          <p:nvPr>
            <p:ph idx="1"/>
          </p:nvPr>
        </p:nvSpPr>
        <p:spPr>
          <a:xfrm>
            <a:off x="239713" y="731838"/>
            <a:ext cx="9548812" cy="6316662"/>
          </a:xfrm>
        </p:spPr>
        <p:txBody>
          <a:bodyPr/>
          <a:lstStyle/>
          <a:p>
            <a:r>
              <a:rPr lang="pt-BR" altLang="en-US" sz="2400" smtClean="0"/>
              <a:t>Aplicatia rescrisa folosind Swing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javax . swing .*;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java . awt .*;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ExempluSwing extends JFrame implements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ActionListener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ExempluSwing ( String titlu 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super ( titlu );</a:t>
            </a:r>
          </a:p>
          <a:p>
            <a:r>
              <a:rPr lang="pt-BR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// Metoda setLayout nu se aplica direct ferestrei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getContentPane (). setLayout (new FlowLayout ());</a:t>
            </a:r>
          </a:p>
          <a:p>
            <a:r>
              <a:rPr lang="fr-FR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// Componentele au denumiri ce incep cu litera J</a:t>
            </a:r>
          </a:p>
          <a:p>
            <a:r>
              <a:rPr lang="it-IT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// Textul poate fi si in format HTML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getContentPane ().add( new JLabel (</a:t>
            </a:r>
          </a:p>
          <a:p>
            <a:r>
              <a:rPr lang="pl-PL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"&lt;html &gt;&lt;u&gt;Hello &lt;/u&gt; &lt;i&gt;Swing &lt;/i &gt;&lt;/ html &gt;"));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JButton b = new JButton (" Close ");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b. addActionListener ( this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getContentPane ().add(b);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pack ();show ();}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void actionPerformed ( ActionEvent e)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// Tratarea evenimentelor se face ca in AWT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System . exit (0);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 ( String args [])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new ExempluSwing (" Hello ");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ro-RO" altLang="en-US" smtClean="0"/>
              <a:t>I</a:t>
            </a:r>
            <a:r>
              <a:rPr lang="en-US" altLang="en-US" smtClean="0"/>
              <a:t>erarh</a:t>
            </a:r>
            <a:r>
              <a:rPr lang="ro-RO" altLang="en-US" smtClean="0"/>
              <a:t>ia</a:t>
            </a:r>
            <a:r>
              <a:rPr lang="en-US" altLang="en-US" smtClean="0"/>
              <a:t> component</a:t>
            </a:r>
            <a:r>
              <a:rPr lang="ro-RO" altLang="en-US" smtClean="0"/>
              <a:t>elor</a:t>
            </a:r>
            <a:r>
              <a:rPr lang="en-US" altLang="en-US" smtClean="0"/>
              <a:t> Swing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java.lang.Object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+--</a:t>
            </a:r>
            <a:r>
              <a:rPr lang="en-US" altLang="en-US" sz="2000" i="1" smtClean="0">
                <a:latin typeface="Courier New" panose="02070309020205020404" pitchFamily="49" charset="0"/>
              </a:rPr>
              <a:t>java.awt.Component</a:t>
            </a: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+--java.awt.Container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+--</a:t>
            </a:r>
            <a:r>
              <a:rPr lang="en-US" altLang="en-US" sz="2000" i="1" smtClean="0">
                <a:latin typeface="Courier New" panose="02070309020205020404" pitchFamily="49" charset="0"/>
              </a:rPr>
              <a:t>javax.swing.JComponent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     +--javax.swing.</a:t>
            </a:r>
            <a:r>
              <a:rPr lang="en-US" altLang="en-US" sz="2000" b="1" smtClean="0">
                <a:latin typeface="Courier New" panose="02070309020205020404" pitchFamily="49" charset="0"/>
              </a:rPr>
              <a:t>JButton</a:t>
            </a: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     +--javax.swing.</a:t>
            </a:r>
            <a:r>
              <a:rPr lang="en-US" altLang="en-US" sz="2000" b="1" smtClean="0">
                <a:latin typeface="Courier New" panose="02070309020205020404" pitchFamily="49" charset="0"/>
              </a:rPr>
              <a:t>JLabel</a:t>
            </a: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     +--javax.swing.JMenuBar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     +--javax.swing.</a:t>
            </a:r>
            <a:r>
              <a:rPr lang="en-US" altLang="en-US" sz="2000" b="1" smtClean="0">
                <a:latin typeface="Courier New" panose="02070309020205020404" pitchFamily="49" charset="0"/>
              </a:rPr>
              <a:t>JOptionPane</a:t>
            </a: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     +--javax.swing.</a:t>
            </a:r>
            <a:r>
              <a:rPr lang="en-US" altLang="en-US" sz="2000" b="1" smtClean="0">
                <a:latin typeface="Courier New" panose="02070309020205020404" pitchFamily="49" charset="0"/>
              </a:rPr>
              <a:t>JPanel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     +--javax.swing.</a:t>
            </a:r>
            <a:r>
              <a:rPr lang="en-US" altLang="en-US" sz="2000" b="1" smtClean="0">
                <a:latin typeface="Courier New" panose="02070309020205020404" pitchFamily="49" charset="0"/>
              </a:rPr>
              <a:t>JTextArea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     +--javax.swing.</a:t>
            </a:r>
            <a:r>
              <a:rPr lang="en-US" altLang="en-US" sz="2000" b="1" smtClean="0">
                <a:latin typeface="Courier New" panose="02070309020205020404" pitchFamily="49" charset="0"/>
              </a:rPr>
              <a:t>JTextField</a:t>
            </a: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|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+--java.awt.Window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      +--java.awt.Frame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                  +--javax.swing.</a:t>
            </a:r>
            <a:r>
              <a:rPr lang="en-US" altLang="en-US" sz="2000" b="1" smtClean="0">
                <a:latin typeface="Courier New" panose="02070309020205020404" pitchFamily="49" charset="0"/>
              </a:rPr>
              <a:t>JFrame</a:t>
            </a:r>
          </a:p>
          <a:p>
            <a:pPr eaLnBrk="1">
              <a:lnSpc>
                <a:spcPct val="60000"/>
              </a:lnSpc>
              <a:buFont typeface="StarSymbol" charset="0"/>
              <a:buNone/>
            </a:pPr>
            <a:endParaRPr lang="en-US" altLang="en-US" sz="2000" b="1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b="1" smtClean="0">
                <a:latin typeface="Courier New" panose="02070309020205020404" pitchFamily="49" charset="0"/>
              </a:rPr>
              <a:t>import java.awt.*;</a:t>
            </a:r>
            <a:br>
              <a:rPr lang="en-US" altLang="en-US" sz="2800" b="1" smtClean="0">
                <a:latin typeface="Courier New" panose="02070309020205020404" pitchFamily="49" charset="0"/>
              </a:rPr>
            </a:br>
            <a:r>
              <a:rPr lang="en-US" altLang="en-US" sz="2800" b="1" smtClean="0">
                <a:latin typeface="Courier New" panose="02070309020205020404" pitchFamily="49" charset="0"/>
              </a:rPr>
              <a:t>import javax.swing.*;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2000" smtClean="0"/>
              <a:t>Metod</a:t>
            </a:r>
            <a:r>
              <a:rPr lang="ro-RO" altLang="en-US" sz="2000" smtClean="0"/>
              <a:t>e</a:t>
            </a:r>
            <a:r>
              <a:rPr lang="en-US" altLang="en-US" sz="2000" smtClean="0"/>
              <a:t> </a:t>
            </a:r>
            <a:r>
              <a:rPr lang="ro-RO" altLang="en-US" sz="2000" smtClean="0"/>
              <a:t>ce aparţin</a:t>
            </a:r>
            <a:r>
              <a:rPr lang="en-US" altLang="en-US" sz="2000" smtClean="0"/>
              <a:t> </a:t>
            </a:r>
            <a:r>
              <a:rPr lang="ro-RO" altLang="en-US" sz="2000" smtClean="0"/>
              <a:t>tuturor </a:t>
            </a:r>
            <a:r>
              <a:rPr lang="en-US" altLang="en-US" sz="2000" smtClean="0"/>
              <a:t>component</a:t>
            </a:r>
            <a:r>
              <a:rPr lang="ro-RO" altLang="en-US" sz="2000" smtClean="0"/>
              <a:t>elor</a:t>
            </a:r>
            <a:r>
              <a:rPr lang="en-US" altLang="en-US" sz="2000" smtClean="0"/>
              <a:t> Swing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11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int getWidth()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public int getHeight()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ro-RO" altLang="en-US" sz="2400" smtClean="0"/>
              <a:t>Returnează înălţimea şi lăţimea componentei în pixeli</a:t>
            </a:r>
            <a:r>
              <a:rPr lang="en-US" altLang="en-US" sz="2400" smtClean="0"/>
              <a:t>.</a:t>
            </a:r>
          </a:p>
          <a:p>
            <a:pPr eaLnBrk="1">
              <a:lnSpc>
                <a:spcPct val="110000"/>
              </a:lnSpc>
            </a:pPr>
            <a:endParaRPr lang="en-US" altLang="en-US" sz="2400" smtClean="0"/>
          </a:p>
          <a:p>
            <a:pPr eaLnBrk="1">
              <a:lnSpc>
                <a:spcPct val="11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boolean isEnabled()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ro-RO" altLang="en-US" sz="2400" smtClean="0"/>
              <a:t>Returnează adev sau fals, după cum componenta poate sau nu să interacţioneze</a:t>
            </a:r>
            <a:r>
              <a:rPr lang="en-US" altLang="en-US" sz="2400" smtClean="0"/>
              <a:t>.</a:t>
            </a:r>
          </a:p>
          <a:p>
            <a:pPr eaLnBrk="1">
              <a:lnSpc>
                <a:spcPct val="110000"/>
              </a:lnSpc>
            </a:pPr>
            <a:endParaRPr lang="en-US" altLang="en-US" sz="2400" smtClean="0"/>
          </a:p>
          <a:p>
            <a:pPr eaLnBrk="1">
              <a:lnSpc>
                <a:spcPct val="11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boolean isVisible()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 </a:t>
            </a:r>
            <a:r>
              <a:rPr lang="ro-RO" altLang="en-US" sz="2400" smtClean="0"/>
              <a:t>Returnează adev sau fals, după cum componenta este sau nu vizibilă pe ecran</a:t>
            </a:r>
            <a:endParaRPr lang="en-US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public void setBackground(Color c)</a:t>
            </a:r>
            <a:br>
              <a:rPr lang="en-US" altLang="en-US" smtClean="0">
                <a:latin typeface="Courier New" panose="02070309020205020404" pitchFamily="49" charset="0"/>
              </a:rPr>
            </a:br>
            <a:r>
              <a:rPr lang="ro-RO" altLang="en-US" smtClean="0"/>
              <a:t>Stabileşte culoarea de fundal a componentei</a:t>
            </a:r>
            <a:r>
              <a:rPr lang="en-US" altLang="en-US" smtClean="0"/>
              <a:t>.</a:t>
            </a:r>
            <a:r>
              <a:rPr lang="en-US" altLang="en-US" smtClean="0">
                <a:latin typeface="Courier New" panose="02070309020205020404" pitchFamily="49" charset="0"/>
              </a:rPr>
              <a:t/>
            </a:r>
            <a:br>
              <a:rPr lang="en-US" altLang="en-US" smtClean="0">
                <a:latin typeface="Courier New" panose="02070309020205020404" pitchFamily="49" charset="0"/>
              </a:rPr>
            </a:br>
            <a:endParaRPr lang="en-US" altLang="en-US" sz="10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public void setFont(Font f)</a:t>
            </a:r>
            <a:br>
              <a:rPr lang="en-US" altLang="en-US" smtClean="0">
                <a:latin typeface="Courier New" panose="02070309020205020404" pitchFamily="49" charset="0"/>
              </a:rPr>
            </a:br>
            <a:r>
              <a:rPr lang="ro-RO" altLang="en-US" smtClean="0"/>
              <a:t>Stabileşte fontul textului afişat pe componentă</a:t>
            </a:r>
            <a:r>
              <a:rPr lang="en-US" altLang="en-US" smtClean="0"/>
              <a:t>.</a:t>
            </a:r>
            <a:r>
              <a:rPr lang="en-US" altLang="en-US" smtClean="0">
                <a:latin typeface="Courier New" panose="02070309020205020404" pitchFamily="49" charset="0"/>
              </a:rPr>
              <a:t/>
            </a:r>
            <a:br>
              <a:rPr lang="en-US" altLang="en-US" smtClean="0">
                <a:latin typeface="Courier New" panose="02070309020205020404" pitchFamily="49" charset="0"/>
              </a:rPr>
            </a:br>
            <a:endParaRPr lang="en-US" altLang="en-US" sz="10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public void setEnabled(boolean b)</a:t>
            </a:r>
            <a:br>
              <a:rPr lang="en-US" altLang="en-US" smtClean="0">
                <a:latin typeface="Courier New" panose="02070309020205020404" pitchFamily="49" charset="0"/>
              </a:rPr>
            </a:br>
            <a:r>
              <a:rPr lang="ro-RO" altLang="en-US" smtClean="0"/>
              <a:t>Stabileşte faptul că componenta este validă şi interacţionează cu user-ul</a:t>
            </a:r>
            <a:r>
              <a:rPr lang="en-US" altLang="en-US" smtClean="0">
                <a:latin typeface="Courier New" panose="02070309020205020404" pitchFamily="49" charset="0"/>
              </a:rPr>
              <a:t/>
            </a:r>
            <a:br>
              <a:rPr lang="en-US" altLang="en-US" smtClean="0">
                <a:latin typeface="Courier New" panose="02070309020205020404" pitchFamily="49" charset="0"/>
              </a:rPr>
            </a:br>
            <a:endParaRPr lang="en-US" altLang="en-US" sz="10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public void setVisible(boolean b)</a:t>
            </a:r>
            <a:br>
              <a:rPr lang="en-US" altLang="en-US" smtClean="0">
                <a:latin typeface="Courier New" panose="02070309020205020404" pitchFamily="49" charset="0"/>
              </a:rPr>
            </a:br>
            <a:r>
              <a:rPr lang="ro-RO" altLang="en-US" smtClean="0"/>
              <a:t>Stabileşte dacă componenta va fi vizibilă sau nu</a:t>
            </a:r>
            <a:r>
              <a:rPr lang="en-US" altLang="en-US" smtClean="0"/>
              <a:t>.</a:t>
            </a:r>
            <a:endParaRPr lang="en-US" altLang="en-US" sz="3600" smtClean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ro-RO" altLang="en-US" smtClean="0"/>
              <a:t>Alte</a:t>
            </a:r>
            <a:r>
              <a:rPr lang="en-US" altLang="en-US" smtClean="0"/>
              <a:t> metod</a:t>
            </a:r>
            <a:r>
              <a:rPr lang="ro-RO" altLang="en-US" smtClean="0"/>
              <a:t>e</a:t>
            </a:r>
            <a:r>
              <a:rPr lang="en-US" altLang="en-US" smtClean="0"/>
              <a:t> </a:t>
            </a:r>
            <a:r>
              <a:rPr lang="en-US" altLang="en-US" smtClean="0">
                <a:latin typeface="Courier New" panose="02070309020205020404" pitchFamily="49" charset="0"/>
              </a:rPr>
              <a:t>JComponent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 descr="jfr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5" y="503238"/>
            <a:ext cx="24352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2400" i="1" smtClean="0"/>
              <a:t>Un frame este o componentă pe care se pot afişa</a:t>
            </a:r>
          </a:p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2400" i="1" smtClean="0"/>
              <a:t> şi alte componente</a:t>
            </a:r>
            <a:endParaRPr lang="en-US" altLang="en-US" sz="1200" i="1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endParaRPr lang="en-US" altLang="en-US" sz="1200" i="1" smtClean="0"/>
          </a:p>
          <a:p>
            <a:pPr eaLnBrk="1">
              <a:lnSpc>
                <a:spcPct val="80000"/>
              </a:lnSpc>
            </a:pPr>
            <a:r>
              <a:rPr lang="en-US" altLang="en-US" sz="1800" smtClean="0">
                <a:latin typeface="Courier New" panose="02070309020205020404" pitchFamily="49" charset="0"/>
              </a:rPr>
              <a:t>public JFrame()	</a:t>
            </a:r>
            <a:r>
              <a:rPr lang="ro-RO" altLang="en-US" sz="1800" smtClean="0"/>
              <a:t>sau</a:t>
            </a:r>
            <a:r>
              <a:rPr lang="en-US" altLang="en-US" sz="1800" smtClean="0"/>
              <a:t>	</a:t>
            </a:r>
            <a:r>
              <a:rPr lang="en-US" altLang="en-US" sz="1800" smtClean="0">
                <a:latin typeface="Courier New" panose="02070309020205020404" pitchFamily="49" charset="0"/>
              </a:rPr>
              <a:t>public JFrame(String title)</a:t>
            </a:r>
            <a:br>
              <a:rPr lang="en-US" altLang="en-US" sz="1800" smtClean="0">
                <a:latin typeface="Courier New" panose="02070309020205020404" pitchFamily="49" charset="0"/>
              </a:rPr>
            </a:br>
            <a:r>
              <a:rPr lang="ro-RO" altLang="en-US" sz="1800" smtClean="0"/>
              <a:t>Creează un frame cu un titlu opţional</a:t>
            </a:r>
            <a:r>
              <a:rPr lang="en-US" altLang="en-US" sz="1800" smtClean="0"/>
              <a:t>.</a:t>
            </a:r>
          </a:p>
          <a:p>
            <a:pPr eaLnBrk="1">
              <a:lnSpc>
                <a:spcPct val="80000"/>
              </a:lnSpc>
            </a:pPr>
            <a:endParaRPr lang="en-US" altLang="en-US" sz="1800" smtClean="0">
              <a:latin typeface="Courier New" panose="02070309020205020404" pitchFamily="49" charset="0"/>
            </a:endParaRPr>
          </a:p>
          <a:p>
            <a:pPr eaLnBrk="1">
              <a:lnSpc>
                <a:spcPct val="80000"/>
              </a:lnSpc>
            </a:pPr>
            <a:r>
              <a:rPr lang="en-US" altLang="en-US" sz="1800" smtClean="0">
                <a:latin typeface="Courier New" panose="02070309020205020404" pitchFamily="49" charset="0"/>
              </a:rPr>
              <a:t>public void setTitle(String text)</a:t>
            </a:r>
            <a:r>
              <a:rPr lang="en-US" altLang="en-US" sz="1800" smtClean="0"/>
              <a:t/>
            </a:r>
            <a:br>
              <a:rPr lang="en-US" altLang="en-US" sz="1800" smtClean="0"/>
            </a:br>
            <a:r>
              <a:rPr lang="ro-RO" altLang="en-US" sz="1800" smtClean="0"/>
              <a:t>Afişează titlul în bara de titlu</a:t>
            </a:r>
            <a:r>
              <a:rPr lang="en-US" altLang="en-US" sz="1800" smtClean="0"/>
              <a:t>.</a:t>
            </a:r>
          </a:p>
          <a:p>
            <a:pPr eaLnBrk="1">
              <a:lnSpc>
                <a:spcPct val="80000"/>
              </a:lnSpc>
            </a:pPr>
            <a:endParaRPr lang="en-US" altLang="en-US" sz="1800" smtClean="0"/>
          </a:p>
          <a:p>
            <a:pPr eaLnBrk="1">
              <a:lnSpc>
                <a:spcPct val="80000"/>
              </a:lnSpc>
            </a:pPr>
            <a:r>
              <a:rPr lang="en-US" altLang="en-US" sz="1800" smtClean="0">
                <a:latin typeface="Courier New" panose="02070309020205020404" pitchFamily="49" charset="0"/>
              </a:rPr>
              <a:t>public void setDefaultCloseOperation(int op)</a:t>
            </a:r>
            <a:r>
              <a:rPr lang="en-US" altLang="en-US" sz="1800" smtClean="0"/>
              <a:t/>
            </a:r>
            <a:br>
              <a:rPr lang="en-US" altLang="en-US" sz="1800" smtClean="0"/>
            </a:br>
            <a:r>
              <a:rPr lang="ro-RO" altLang="en-US" sz="1800" smtClean="0"/>
              <a:t>Stabileşte care va fi operaţia efectuată la închiderea ferestrei. Valoare implicită</a:t>
            </a:r>
            <a:r>
              <a:rPr lang="en-US" altLang="en-US" sz="1800" smtClean="0"/>
              <a:t>: </a:t>
            </a:r>
            <a:r>
              <a:rPr lang="en-US" altLang="en-US" sz="1800" smtClean="0">
                <a:latin typeface="Courier New" panose="02070309020205020404" pitchFamily="49" charset="0"/>
              </a:rPr>
              <a:t>JFrame.EXIT_ON_CLOSE</a:t>
            </a:r>
          </a:p>
          <a:p>
            <a:pPr eaLnBrk="1">
              <a:lnSpc>
                <a:spcPct val="80000"/>
              </a:lnSpc>
            </a:pPr>
            <a:endParaRPr lang="en-US" altLang="en-US" sz="1800" smtClean="0"/>
          </a:p>
          <a:p>
            <a:pPr eaLnBrk="1">
              <a:lnSpc>
                <a:spcPct val="80000"/>
              </a:lnSpc>
            </a:pPr>
            <a:r>
              <a:rPr lang="en-US" altLang="en-US" sz="1800" smtClean="0">
                <a:latin typeface="Courier New" panose="02070309020205020404" pitchFamily="49" charset="0"/>
              </a:rPr>
              <a:t>public void add(Component comp)</a:t>
            </a:r>
            <a:r>
              <a:rPr lang="en-US" altLang="en-US" sz="1800" smtClean="0"/>
              <a:t/>
            </a:r>
            <a:br>
              <a:rPr lang="en-US" altLang="en-US" sz="1800" smtClean="0"/>
            </a:br>
            <a:r>
              <a:rPr lang="ro-RO" altLang="en-US" sz="1800" smtClean="0"/>
              <a:t>Apmplasează componenta dată sau containerul pe fereastra curentă</a:t>
            </a:r>
          </a:p>
          <a:p>
            <a:pPr eaLnBrk="1">
              <a:lnSpc>
                <a:spcPct val="80000"/>
              </a:lnSpc>
            </a:pPr>
            <a:endParaRPr lang="en-US" altLang="en-US" sz="1800" smtClean="0"/>
          </a:p>
          <a:p>
            <a:pPr eaLnBrk="1">
              <a:lnSpc>
                <a:spcPct val="80000"/>
              </a:lnSpc>
            </a:pPr>
            <a:r>
              <a:rPr lang="en-US" altLang="en-US" sz="1800" smtClean="0">
                <a:latin typeface="Courier New" panose="02070309020205020404" pitchFamily="49" charset="0"/>
              </a:rPr>
              <a:t>public void pack()</a:t>
            </a:r>
            <a:r>
              <a:rPr lang="en-US" altLang="en-US" sz="1800" smtClean="0"/>
              <a:t/>
            </a:r>
            <a:br>
              <a:rPr lang="en-US" altLang="en-US" sz="1800" smtClean="0"/>
            </a:br>
            <a:r>
              <a:rPr lang="ro-RO" altLang="en-US" sz="1800" smtClean="0"/>
              <a:t>Redimensionează la cea mai mică dimensiune</a:t>
            </a:r>
            <a:r>
              <a:rPr lang="en-US" altLang="en-US" sz="1800" smtClean="0"/>
              <a:t>.</a:t>
            </a:r>
          </a:p>
          <a:p>
            <a:pPr eaLnBrk="1">
              <a:lnSpc>
                <a:spcPct val="80000"/>
              </a:lnSpc>
            </a:pPr>
            <a:endParaRPr lang="en-US" altLang="en-US" sz="1800" smtClean="0"/>
          </a:p>
          <a:p>
            <a:pPr eaLnBrk="1">
              <a:lnSpc>
                <a:spcPct val="80000"/>
              </a:lnSpc>
            </a:pPr>
            <a:r>
              <a:rPr lang="ro-RO" altLang="en-US" sz="1800" i="1" smtClean="0"/>
              <a:t>Obs</a:t>
            </a:r>
            <a:r>
              <a:rPr lang="en-US" altLang="en-US" sz="1800" smtClean="0"/>
              <a:t>: </a:t>
            </a:r>
            <a:r>
              <a:rPr lang="ro-RO" altLang="en-US" sz="1800" smtClean="0"/>
              <a:t>Se apelează</a:t>
            </a:r>
            <a:r>
              <a:rPr lang="en-US" altLang="en-US" sz="1800" smtClean="0"/>
              <a:t> </a:t>
            </a:r>
            <a:r>
              <a:rPr lang="en-US" altLang="en-US" sz="1800" smtClean="0">
                <a:latin typeface="Courier New" panose="02070309020205020404" pitchFamily="49" charset="0"/>
              </a:rPr>
              <a:t>setVisible(true)</a:t>
            </a:r>
            <a:r>
              <a:rPr lang="en-US" altLang="en-US" sz="1800" smtClean="0"/>
              <a:t> </a:t>
            </a:r>
            <a:r>
              <a:rPr lang="ro-RO" altLang="en-US" sz="1800" smtClean="0"/>
              <a:t>pentru a determina afişarea ferestrei după crearea ei.</a:t>
            </a:r>
            <a:endParaRPr lang="en-US" altLang="en-US" smtClean="0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JFrame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Folosirea ferestrelor</a:t>
            </a:r>
          </a:p>
        </p:txBody>
      </p:sp>
      <p:sp>
        <p:nvSpPr>
          <p:cNvPr id="98307" name="Content Placeholder 2"/>
          <p:cNvSpPr>
            <a:spLocks noGrp="1"/>
          </p:cNvSpPr>
          <p:nvPr>
            <p:ph idx="1"/>
          </p:nvPr>
        </p:nvSpPr>
        <p:spPr>
          <a:xfrm>
            <a:off x="239713" y="884238"/>
            <a:ext cx="9548812" cy="6316662"/>
          </a:xfrm>
        </p:spPr>
        <p:txBody>
          <a:bodyPr/>
          <a:lstStyle/>
          <a:p>
            <a:r>
              <a:rPr lang="en-US" altLang="en-US" sz="2400" smtClean="0"/>
              <a:t>In general orice aplicatie Java independenta bazata pe Swing contine cel putin un container de nivel ınalt reprezentat de fereastra principala a </a:t>
            </a:r>
            <a:r>
              <a:rPr lang="it-IT" altLang="en-US" sz="2400" smtClean="0"/>
              <a:t>programului, instanta a clasei JFrame.</a:t>
            </a:r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endParaRPr lang="it-IT" altLang="en-US" sz="2400" smtClean="0"/>
          </a:p>
          <a:p>
            <a:r>
              <a:rPr lang="en-US" altLang="en-US" sz="2400" smtClean="0"/>
              <a:t>Corpul ferestrei este o instanta a clasei Container ce poate fi obtinuta cu metoda getContentPane.</a:t>
            </a:r>
          </a:p>
        </p:txBody>
      </p:sp>
      <p:pic>
        <p:nvPicPr>
          <p:cNvPr id="983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2579688"/>
            <a:ext cx="7542213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smtClean="0"/>
              <a:t>Folosirea ferestrelor Ferestre interne</a:t>
            </a:r>
          </a:p>
        </p:txBody>
      </p:sp>
      <p:sp>
        <p:nvSpPr>
          <p:cNvPr id="99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/>
              <a:t>Din punctul de vedere al folosirii ferestrelor, aplicatiile pot fi ımpartite ın</a:t>
            </a:r>
          </a:p>
          <a:p>
            <a:r>
              <a:rPr lang="en-US" altLang="en-US" sz="2400" smtClean="0"/>
              <a:t>doua categorii:</a:t>
            </a:r>
          </a:p>
          <a:p>
            <a:r>
              <a:rPr lang="en-US" altLang="en-US" sz="2400" smtClean="0"/>
              <a:t>• SDI (Single Document Interface)</a:t>
            </a:r>
          </a:p>
          <a:p>
            <a:r>
              <a:rPr lang="en-US" altLang="en-US" sz="2400" smtClean="0"/>
              <a:t>• MDI (Multiple Document Interface)</a:t>
            </a:r>
          </a:p>
          <a:p>
            <a:r>
              <a:rPr lang="it-IT" altLang="en-US" sz="2400" smtClean="0"/>
              <a:t>In Swing, clasa JInternalFrame pune la dispozitie o modalitate de a </a:t>
            </a:r>
            <a:r>
              <a:rPr lang="en-US" altLang="en-US" sz="2400" smtClean="0"/>
              <a:t>crea ferestre  ın cadrul altor ferestre</a:t>
            </a:r>
          </a:p>
          <a:p>
            <a:endParaRPr lang="en-US" altLang="en-US" sz="2400" smtClean="0"/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javax . swing .*;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java . awt .*;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class FereastraPrincipala extends JFrame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FereastraPrincipala ( String titlu 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super ( titlu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setSize (300 , 200) 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setDefaultCloseOperation ( JFrame . EXIT_ON_CLOSE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FereastraInterna fin1 = new FereastraInterna ();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fin1 . setVisible ( true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FereastraInterna fin2 = new FereastraInterna ();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fin2 . setVisible ( true 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1003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JDesktopPane desktop = new JDesktopPane ();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desktop .add( fin1 );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desktop .add( fin2 );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setContentPane ( desktop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fin2 . moveToFront ();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} }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class FereastraInterna extends JInternalFrame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int n = 0; // nr. de ferestre interne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final int x = 30, y = 30;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FereastraInterna ()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super (" Document #" + (++ n),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true , // resizable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true , // closable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true , // maximizable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true );// iconifiable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setLocation (x*n, y*n);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setSize ( new Dimension (200 , 100) 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} }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TestInternalFrame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 ( String args []) {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new FereastraPrincipala (" Test ferestre interne "). show ();</a:t>
            </a:r>
          </a:p>
          <a:p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}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10137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3150" y="1570038"/>
            <a:ext cx="5430838" cy="3619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JButton</a:t>
            </a:r>
            <a:r>
              <a:rPr lang="en-US" altLang="en-US" smtClean="0"/>
              <a:t>, </a:t>
            </a:r>
            <a:r>
              <a:rPr lang="en-US" altLang="en-US" smtClean="0">
                <a:latin typeface="Courier New" panose="02070309020205020404" pitchFamily="49" charset="0"/>
              </a:rPr>
              <a:t>JLabel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2000" i="1" smtClean="0"/>
              <a:t>Cea mai comună componentă</a:t>
            </a:r>
            <a:r>
              <a:rPr lang="en-US" altLang="en-US" sz="2000" i="1" smtClean="0"/>
              <a:t>—</a:t>
            </a:r>
            <a:br>
              <a:rPr lang="en-US" altLang="en-US" sz="2000" i="1" smtClean="0"/>
            </a:br>
            <a:r>
              <a:rPr lang="ro-RO" altLang="en-US" sz="2000" i="1" smtClean="0"/>
              <a:t>Regiune pe care se poate efectua </a:t>
            </a:r>
          </a:p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2000" i="1" smtClean="0"/>
              <a:t>    click şi interacţionează cu userul </a:t>
            </a:r>
          </a:p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2000" i="1" smtClean="0"/>
              <a:t>    pentru a efectua o singură comandă</a:t>
            </a:r>
            <a:endParaRPr lang="en-US" altLang="en-US" sz="2000" i="1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endParaRPr lang="en-US" altLang="en-US" sz="2000" i="1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2000" i="1" smtClean="0"/>
              <a:t>Un </a:t>
            </a:r>
            <a:r>
              <a:rPr lang="en-US" altLang="en-US" sz="2000" i="1" smtClean="0"/>
              <a:t>text label </a:t>
            </a:r>
            <a:r>
              <a:rPr lang="ro-RO" altLang="en-US" sz="2000" i="1" smtClean="0"/>
              <a:t>afişează un text pe ecran</a:t>
            </a:r>
            <a:r>
              <a:rPr lang="en-US" altLang="en-US" sz="2000" i="1" smtClean="0"/>
              <a:t/>
            </a:r>
            <a:br>
              <a:rPr lang="en-US" altLang="en-US" sz="2000" i="1" smtClean="0"/>
            </a:br>
            <a:r>
              <a:rPr lang="ro-RO" altLang="en-US" sz="2000" i="1" smtClean="0"/>
              <a:t>Nu interacţionează cu user-ul</a:t>
            </a:r>
            <a:endParaRPr lang="en-US" altLang="en-US" sz="2000" i="1" smtClean="0"/>
          </a:p>
          <a:p>
            <a:pPr eaLnBrk="1">
              <a:lnSpc>
                <a:spcPct val="80000"/>
              </a:lnSpc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JButton(String text)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r>
              <a:rPr lang="en-US" altLang="en-US" sz="2000" smtClean="0">
                <a:latin typeface="Courier New" panose="02070309020205020404" pitchFamily="49" charset="0"/>
              </a:rPr>
              <a:t>public JLabel(String text)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r>
              <a:rPr lang="en-US" altLang="en-US" sz="2000" smtClean="0"/>
              <a:t/>
            </a:r>
            <a:br>
              <a:rPr lang="en-US" altLang="en-US" sz="2000" smtClean="0"/>
            </a:br>
            <a:endParaRPr lang="en-US" altLang="en-US" sz="2000" smtClean="0"/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String getText()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r>
              <a:rPr lang="en-US" altLang="en-US" sz="2000" smtClean="0"/>
              <a:t>Return</a:t>
            </a:r>
            <a:r>
              <a:rPr lang="ro-RO" altLang="en-US" sz="2000" smtClean="0"/>
              <a:t>ează </a:t>
            </a:r>
            <a:r>
              <a:rPr lang="en-US" altLang="en-US" sz="2000" smtClean="0"/>
              <a:t>text</a:t>
            </a:r>
            <a:r>
              <a:rPr lang="ro-RO" altLang="en-US" sz="2000" smtClean="0"/>
              <a:t>ul de pe </a:t>
            </a:r>
            <a:r>
              <a:rPr lang="en-US" altLang="en-US" sz="2000" smtClean="0"/>
              <a:t>buton / label.</a:t>
            </a:r>
            <a:br>
              <a:rPr lang="en-US" altLang="en-US" sz="2000" smtClean="0"/>
            </a:br>
            <a:endParaRPr lang="en-US" altLang="en-US" sz="2000" smtClean="0"/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void setText(String text)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r>
              <a:rPr lang="ro-RO" altLang="en-US" sz="2000" smtClean="0"/>
              <a:t>Stabileşte textul de pe </a:t>
            </a:r>
            <a:r>
              <a:rPr lang="en-US" altLang="en-US" sz="2000" smtClean="0"/>
              <a:t>buton / label</a:t>
            </a:r>
          </a:p>
        </p:txBody>
      </p:sp>
      <p:pic>
        <p:nvPicPr>
          <p:cNvPr id="102404" name="Picture 4" descr="ButtonDe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67" r="27415"/>
          <a:stretch>
            <a:fillRect/>
          </a:stretch>
        </p:blipFill>
        <p:spPr bwMode="auto">
          <a:xfrm>
            <a:off x="5292725" y="1344613"/>
            <a:ext cx="4535488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5" name="Picture 5" descr="lab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0" y="3108325"/>
            <a:ext cx="17637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JTextField</a:t>
            </a:r>
            <a:r>
              <a:rPr lang="en-US" altLang="en-US" smtClean="0"/>
              <a:t>, </a:t>
            </a:r>
            <a:r>
              <a:rPr lang="en-US" altLang="en-US" smtClean="0">
                <a:latin typeface="Courier New" panose="02070309020205020404" pitchFamily="49" charset="0"/>
              </a:rPr>
              <a:t>JTextArea</a:t>
            </a:r>
            <a:endParaRPr lang="en-US" altLang="en-US" smtClean="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1079500"/>
            <a:ext cx="9186863" cy="5895975"/>
          </a:xfrm>
        </p:spPr>
        <p:txBody>
          <a:bodyPr/>
          <a:lstStyle/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1800" i="1" smtClean="0"/>
              <a:t>Sunt componente de text editabil pe una sau</a:t>
            </a:r>
          </a:p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ro-RO" altLang="en-US" sz="1800" i="1" smtClean="0"/>
              <a:t>pe mai multe linii</a:t>
            </a:r>
            <a:endParaRPr lang="en-US" altLang="en-US" sz="1800" i="1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endParaRPr lang="en-US" altLang="en-US" sz="1800" i="1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endParaRPr lang="ro-RO" altLang="en-US" sz="1800" i="1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endParaRPr lang="ro-RO" altLang="en-US" sz="1800" i="1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endParaRPr lang="en-US" altLang="en-US" sz="1800" i="1" smtClean="0"/>
          </a:p>
          <a:p>
            <a:pPr eaLnBrk="1">
              <a:lnSpc>
                <a:spcPct val="80000"/>
              </a:lnSpc>
            </a:pPr>
            <a:endParaRPr lang="en-US" altLang="en-US" sz="1800" smtClean="0">
              <a:latin typeface="Courier New" panose="02070309020205020404" pitchFamily="49" charset="0"/>
            </a:endParaRPr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JTextField(int columns)</a:t>
            </a:r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JTextArea(int lines, int columns)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r>
              <a:rPr lang="ro-RO" altLang="en-US" sz="2000" smtClean="0"/>
              <a:t> </a:t>
            </a:r>
          </a:p>
          <a:p>
            <a:pPr eaLnBrk="1">
              <a:lnSpc>
                <a:spcPct val="80000"/>
              </a:lnSpc>
            </a:pPr>
            <a:r>
              <a:rPr lang="en-US" altLang="en-US" sz="2000" smtClean="0"/>
              <a:t/>
            </a:r>
            <a:br>
              <a:rPr lang="en-US" altLang="en-US" sz="2000" smtClean="0"/>
            </a:br>
            <a:endParaRPr lang="en-US" altLang="en-US" sz="2000" smtClean="0"/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String getText()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r>
              <a:rPr lang="ro-RO" altLang="en-US" sz="2000" smtClean="0"/>
              <a:t>returnează textul</a:t>
            </a:r>
            <a:r>
              <a:rPr lang="en-US" altLang="en-US" sz="2000" smtClean="0"/>
              <a:t>.</a:t>
            </a:r>
            <a:br>
              <a:rPr lang="en-US" altLang="en-US" sz="2000" smtClean="0"/>
            </a:br>
            <a:endParaRPr lang="en-US" altLang="en-US" sz="2000" smtClean="0"/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void setText(String text)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r>
              <a:rPr lang="ro-RO" altLang="en-US" sz="2000" smtClean="0"/>
              <a:t>stabileşte textul</a:t>
            </a:r>
            <a:r>
              <a:rPr lang="en-US" altLang="en-US" sz="2000" smtClean="0"/>
              <a:t>.</a:t>
            </a:r>
          </a:p>
        </p:txBody>
      </p:sp>
      <p:pic>
        <p:nvPicPr>
          <p:cNvPr id="103428" name="Picture 4" descr="cg-textfie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169"/>
          <a:stretch>
            <a:fillRect/>
          </a:stretch>
        </p:blipFill>
        <p:spPr bwMode="auto">
          <a:xfrm>
            <a:off x="7308850" y="923925"/>
            <a:ext cx="2519363" cy="117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Picture 5" descr="cg-textare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2184400"/>
            <a:ext cx="2771775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8288" y="1663700"/>
            <a:ext cx="9548812" cy="5732463"/>
          </a:xfrm>
        </p:spPr>
        <p:txBody>
          <a:bodyPr/>
          <a:lstStyle/>
          <a:p>
            <a:pPr eaLnBrk="1">
              <a:lnSpc>
                <a:spcPct val="90000"/>
              </a:lnSpc>
              <a:buFont typeface="StarSymbol" charset="0"/>
              <a:buNone/>
            </a:pPr>
            <a:endParaRPr lang="en-US" altLang="en-US" sz="2400" i="1" smtClean="0"/>
          </a:p>
          <a:p>
            <a:pPr eaLnBrk="1">
              <a:lnSpc>
                <a:spcPct val="90000"/>
              </a:lnSpc>
              <a:buFont typeface="StarSymbol" charset="0"/>
              <a:buNone/>
            </a:pPr>
            <a:endParaRPr lang="en-US" altLang="en-US" sz="2400" i="1" smtClean="0"/>
          </a:p>
          <a:p>
            <a:pPr eaLnBrk="1">
              <a:lnSpc>
                <a:spcPct val="90000"/>
              </a:lnSpc>
              <a:buFont typeface="StarSymbol" charset="0"/>
              <a:buNone/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  <a:buFont typeface="StarSymbol" charset="0"/>
              <a:buNone/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JCheckBox / JRadioButton(String text)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public JCheckBox(String text, boolean isChecked)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boolean isSelected()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void setSelected(boolean selected)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</p:txBody>
      </p:sp>
      <p:pic>
        <p:nvPicPr>
          <p:cNvPr id="104451" name="Picture 3" descr="check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38" y="1008063"/>
            <a:ext cx="285591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2" name="Picture 4" descr="RadioButtonDem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 t="48813" r="71355" b="38170"/>
          <a:stretch>
            <a:fillRect/>
          </a:stretch>
        </p:blipFill>
        <p:spPr bwMode="auto">
          <a:xfrm>
            <a:off x="6888163" y="1931988"/>
            <a:ext cx="3024187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3200" smtClean="0">
                <a:latin typeface="Courier New" panose="02070309020205020404" pitchFamily="49" charset="0"/>
              </a:rPr>
              <a:t>JCheckBox</a:t>
            </a:r>
            <a:r>
              <a:rPr lang="en-US" altLang="en-US" sz="3200" smtClean="0"/>
              <a:t>, </a:t>
            </a:r>
            <a:r>
              <a:rPr lang="en-US" altLang="en-US" sz="3200" smtClean="0">
                <a:latin typeface="Courier New" panose="02070309020205020404" pitchFamily="49" charset="0"/>
              </a:rPr>
              <a:t>JRadioButton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ButtonGroup</a:t>
            </a:r>
          </a:p>
        </p:txBody>
      </p:sp>
      <p:pic>
        <p:nvPicPr>
          <p:cNvPr id="105475" name="Picture 3" descr="RadioButtonDe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3" r="46318"/>
          <a:stretch>
            <a:fillRect/>
          </a:stretch>
        </p:blipFill>
        <p:spPr bwMode="auto">
          <a:xfrm>
            <a:off x="6972300" y="1511300"/>
            <a:ext cx="2259013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8288" y="2463800"/>
            <a:ext cx="9548812" cy="4932363"/>
          </a:xfrm>
        </p:spPr>
        <p:txBody>
          <a:bodyPr/>
          <a:lstStyle/>
          <a:p>
            <a:pPr eaLnBrk="1">
              <a:lnSpc>
                <a:spcPct val="90000"/>
              </a:lnSpc>
              <a:buFont typeface="StarSymbol" charset="0"/>
              <a:buNone/>
            </a:pPr>
            <a:endParaRPr lang="en-US" altLang="en-US" sz="2400" i="1" smtClean="0"/>
          </a:p>
          <a:p>
            <a:pPr eaLnBrk="1">
              <a:lnSpc>
                <a:spcPct val="90000"/>
              </a:lnSpc>
            </a:pPr>
            <a:endParaRPr lang="en-US" altLang="en-US" sz="2400" smtClean="0"/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ButtonGroup()</a:t>
            </a:r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void add(JRadioButton button)</a:t>
            </a:r>
          </a:p>
          <a:p>
            <a:pPr eaLnBrk="1">
              <a:lnSpc>
                <a:spcPct val="90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</a:pPr>
            <a:endParaRPr lang="en-US" altLang="en-US" sz="2400" smtClean="0"/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ButtonGroup</a:t>
            </a:r>
            <a:r>
              <a:rPr lang="en-US" altLang="en-US" sz="2400" smtClean="0"/>
              <a:t> </a:t>
            </a:r>
            <a:r>
              <a:rPr lang="ro-RO" altLang="en-US" sz="2400" smtClean="0"/>
              <a:t>nu este o componentă grafică</a:t>
            </a:r>
            <a:endParaRPr lang="en-US" altLang="en-US" sz="2400" smtClean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Icon/ImageIcon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2179638"/>
            <a:ext cx="9548812" cy="5216525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ro-RO" altLang="en-US" sz="2400" i="1" smtClean="0"/>
              <a:t>Permite adăugarea unei imagini la un buton, label sau altă componentă grafică</a:t>
            </a:r>
            <a:endParaRPr lang="en-US" altLang="en-US" sz="2400" i="1" smtClean="0"/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class ImageIcon implements Icon</a:t>
            </a:r>
          </a:p>
          <a:p>
            <a:pPr lvl="1" eaLnBrk="1"/>
            <a:r>
              <a:rPr lang="en-US" altLang="en-US" sz="2000" smtClean="0">
                <a:latin typeface="Courier New" panose="02070309020205020404" pitchFamily="49" charset="0"/>
              </a:rPr>
              <a:t>public ImageIcon(String filename)</a:t>
            </a:r>
          </a:p>
          <a:p>
            <a:pPr lvl="1" eaLnBrk="1"/>
            <a:r>
              <a:rPr lang="en-US" altLang="en-US" sz="2000" smtClean="0">
                <a:latin typeface="Courier New" panose="02070309020205020404" pitchFamily="49" charset="0"/>
              </a:rPr>
              <a:t>public ImageIcon(URL address)</a:t>
            </a:r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/>
              <a:t>in </a:t>
            </a:r>
            <a:r>
              <a:rPr lang="en-US" altLang="en-US" sz="2400" smtClean="0">
                <a:latin typeface="Courier New" panose="02070309020205020404" pitchFamily="49" charset="0"/>
              </a:rPr>
              <a:t>JButton</a:t>
            </a:r>
            <a:r>
              <a:rPr lang="en-US" altLang="en-US" sz="2400" smtClean="0"/>
              <a:t>, </a:t>
            </a:r>
            <a:r>
              <a:rPr lang="en-US" altLang="en-US" sz="2400" smtClean="0">
                <a:latin typeface="Courier New" panose="02070309020205020404" pitchFamily="49" charset="0"/>
              </a:rPr>
              <a:t>JRadioButton</a:t>
            </a:r>
            <a:r>
              <a:rPr lang="en-US" altLang="en-US" sz="2400" smtClean="0"/>
              <a:t>, </a:t>
            </a:r>
            <a:r>
              <a:rPr lang="en-US" altLang="en-US" sz="2400" smtClean="0">
                <a:latin typeface="Courier New" panose="02070309020205020404" pitchFamily="49" charset="0"/>
              </a:rPr>
              <a:t>JCheckBox</a:t>
            </a:r>
            <a:r>
              <a:rPr lang="en-US" altLang="en-US" sz="2400" smtClean="0"/>
              <a:t>, </a:t>
            </a:r>
            <a:r>
              <a:rPr lang="en-US" altLang="en-US" sz="2400" smtClean="0">
                <a:latin typeface="Courier New" panose="02070309020205020404" pitchFamily="49" charset="0"/>
              </a:rPr>
              <a:t>JLabel</a:t>
            </a:r>
            <a:r>
              <a:rPr lang="en-US" altLang="en-US" sz="2400" smtClean="0"/>
              <a:t>, etc...</a:t>
            </a:r>
          </a:p>
          <a:p>
            <a:pPr lvl="1" eaLnBrk="1"/>
            <a:r>
              <a:rPr lang="ro-RO" altLang="en-US" sz="2000" smtClean="0"/>
              <a:t>Metode ce utilizează</a:t>
            </a:r>
            <a:r>
              <a:rPr lang="en-US" altLang="en-US" sz="2000" smtClean="0"/>
              <a:t> </a:t>
            </a:r>
            <a:r>
              <a:rPr lang="en-US" altLang="en-US" sz="2000" smtClean="0">
                <a:latin typeface="Courier New" panose="02070309020205020404" pitchFamily="49" charset="0"/>
              </a:rPr>
              <a:t>Icon</a:t>
            </a:r>
          </a:p>
          <a:p>
            <a:pPr lvl="1" eaLnBrk="1"/>
            <a:r>
              <a:rPr lang="en-US" altLang="en-US" sz="2000" smtClean="0">
                <a:latin typeface="Courier New" panose="02070309020205020404" pitchFamily="49" charset="0"/>
              </a:rPr>
              <a:t>public void setIcon(Icon)</a:t>
            </a:r>
          </a:p>
          <a:p>
            <a:pPr lvl="1" eaLnBrk="1"/>
            <a:r>
              <a:rPr lang="en-US" altLang="en-US" sz="2000" smtClean="0">
                <a:latin typeface="Courier New" panose="02070309020205020404" pitchFamily="49" charset="0"/>
              </a:rPr>
              <a:t>public void setSelectedIcon(Icon)</a:t>
            </a:r>
          </a:p>
          <a:p>
            <a:pPr lvl="1" eaLnBrk="1"/>
            <a:r>
              <a:rPr lang="en-US" altLang="en-US" sz="2000" smtClean="0">
                <a:latin typeface="Courier New" panose="02070309020205020404" pitchFamily="49" charset="0"/>
              </a:rPr>
              <a:t>public void setRolloverIcon(Icon)</a:t>
            </a:r>
          </a:p>
        </p:txBody>
      </p:sp>
      <p:pic>
        <p:nvPicPr>
          <p:cNvPr id="106500" name="Picture 4" descr="ButtonDe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22" t="28081" r="37823" b="8424"/>
          <a:stretch>
            <a:fillRect/>
          </a:stretch>
        </p:blipFill>
        <p:spPr bwMode="auto">
          <a:xfrm>
            <a:off x="7432675" y="655638"/>
            <a:ext cx="2647950" cy="121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JScrollPane</a:t>
            </a:r>
            <a:endParaRPr lang="en-US" altLang="en-US" smtClean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2103438"/>
            <a:ext cx="9548812" cy="5292725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ro-RO" altLang="en-US" i="1" smtClean="0"/>
              <a:t>Container special care utilizează bare de derulare pentru a afişa componente</a:t>
            </a:r>
            <a:endParaRPr lang="en-US" altLang="en-US" i="1" smtClean="0"/>
          </a:p>
          <a:p>
            <a:pPr eaLnBrk="1"/>
            <a:endParaRPr lang="en-US" altLang="en-US" smtClean="0"/>
          </a:p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public JScrollPane(Component comp)</a:t>
            </a:r>
            <a:r>
              <a:rPr lang="en-US" altLang="en-US" sz="3600" smtClean="0"/>
              <a:t/>
            </a:r>
            <a:br>
              <a:rPr lang="en-US" altLang="en-US" sz="3600" smtClean="0"/>
            </a:br>
            <a:r>
              <a:rPr lang="en-US" altLang="en-US" smtClean="0"/>
              <a:t>  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ro-RO" altLang="en-US" smtClean="0"/>
              <a:t>Se adaugă apoi pe suprafaţa containerului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3600" smtClean="0"/>
              <a:t/>
            </a:r>
            <a:br>
              <a:rPr lang="en-US" altLang="en-US" sz="3600" smtClean="0"/>
            </a:br>
            <a:r>
              <a:rPr lang="en-US" altLang="en-US" sz="2800" smtClean="0">
                <a:latin typeface="Courier New" panose="02070309020205020404" pitchFamily="49" charset="0"/>
              </a:rPr>
              <a:t>contentPane.add(new JScrollPane(textarea),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                BorderLayout.CENTER);</a:t>
            </a:r>
            <a:endParaRPr lang="en-US" altLang="en-US" sz="4400" smtClean="0"/>
          </a:p>
        </p:txBody>
      </p:sp>
      <p:pic>
        <p:nvPicPr>
          <p:cNvPr id="107524" name="Picture 4" descr="cg-scrollpa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13" y="731838"/>
            <a:ext cx="20161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3200" smtClean="0">
                <a:latin typeface="Courier New" panose="02070309020205020404" pitchFamily="49" charset="0"/>
              </a:rPr>
              <a:t>JFileChooser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3170238"/>
            <a:ext cx="9548812" cy="4225925"/>
          </a:xfrm>
        </p:spPr>
        <p:txBody>
          <a:bodyPr/>
          <a:lstStyle/>
          <a:p>
            <a:pPr eaLnBrk="1">
              <a:buFont typeface="StarSymbol" charset="0"/>
              <a:buNone/>
            </a:pPr>
            <a:endParaRPr lang="ro-RO" altLang="en-US" sz="2400" i="1" smtClean="0"/>
          </a:p>
          <a:p>
            <a:pPr eaLnBrk="1">
              <a:buFont typeface="StarSymbol" charset="0"/>
              <a:buNone/>
            </a:pPr>
            <a:endParaRPr lang="en-US" altLang="en-US" sz="2400" i="1" smtClean="0"/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>
              <a:lnSpc>
                <a:spcPct val="7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JFileChooser()</a:t>
            </a:r>
          </a:p>
          <a:p>
            <a:pPr eaLnBrk="1">
              <a:lnSpc>
                <a:spcPct val="7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JFileChooser(String currentDir)</a:t>
            </a:r>
          </a:p>
          <a:p>
            <a:pPr eaLnBrk="1">
              <a:lnSpc>
                <a:spcPct val="70000"/>
              </a:lnSpc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7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int showOpenDialog(Component parent)</a:t>
            </a:r>
          </a:p>
          <a:p>
            <a:pPr eaLnBrk="1">
              <a:lnSpc>
                <a:spcPct val="7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int showSaveDialog(Component parent)</a:t>
            </a:r>
          </a:p>
          <a:p>
            <a:pPr eaLnBrk="1">
              <a:lnSpc>
                <a:spcPct val="7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File getSelectedFile()</a:t>
            </a:r>
          </a:p>
          <a:p>
            <a:pPr eaLnBrk="1">
              <a:lnSpc>
                <a:spcPct val="70000"/>
              </a:lnSpc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7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static int APPROVE_OPTION, CANCEL_OPTION</a:t>
            </a:r>
            <a:br>
              <a:rPr lang="en-US" altLang="en-US" sz="2000" smtClean="0">
                <a:latin typeface="Courier New" panose="02070309020205020404" pitchFamily="49" charset="0"/>
              </a:rPr>
            </a:br>
            <a:r>
              <a:rPr lang="ro-RO" altLang="en-US" sz="2000" smtClean="0"/>
              <a:t>Rezultate posibile de la</a:t>
            </a:r>
            <a:r>
              <a:rPr lang="en-US" altLang="en-US" sz="2000" smtClean="0"/>
              <a:t> showXxxDialog(..).</a:t>
            </a:r>
          </a:p>
          <a:p>
            <a:pPr eaLnBrk="1">
              <a:lnSpc>
                <a:spcPct val="70000"/>
              </a:lnSpc>
              <a:buFont typeface="StarSymbol" charset="0"/>
              <a:buNone/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eaLnBrk="1">
              <a:lnSpc>
                <a:spcPct val="7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JFileChooser chooser = new JFileChooser();</a:t>
            </a:r>
          </a:p>
          <a:p>
            <a:pPr eaLnBrk="1">
              <a:lnSpc>
                <a:spcPct val="7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int result = chooser.showSaveDialog(this);</a:t>
            </a:r>
          </a:p>
          <a:p>
            <a:pPr eaLnBrk="1">
              <a:lnSpc>
                <a:spcPct val="7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if (result == JFileChooser.APPROVE_OPTION)</a:t>
            </a:r>
          </a:p>
          <a:p>
            <a:pPr eaLnBrk="1">
              <a:lnSpc>
                <a:spcPct val="70000"/>
              </a:lnSpc>
              <a:buFont typeface="StarSymbol" charset="0"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this.saveData(chooser.getSelectedFile().getName());</a:t>
            </a:r>
          </a:p>
        </p:txBody>
      </p:sp>
      <p:pic>
        <p:nvPicPr>
          <p:cNvPr id="108548" name="Picture 4" descr="FileChooserOp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884238"/>
            <a:ext cx="4179887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3200" smtClean="0">
                <a:latin typeface="Courier New" panose="02070309020205020404" pitchFamily="49" charset="0"/>
              </a:rPr>
              <a:t>JColorChooser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2560638"/>
            <a:ext cx="9548812" cy="4835525"/>
          </a:xfrm>
        </p:spPr>
        <p:txBody>
          <a:bodyPr/>
          <a:lstStyle/>
          <a:p>
            <a:pPr eaLnBrk="1">
              <a:buFont typeface="StarSymbol" charset="0"/>
              <a:buNone/>
            </a:pPr>
            <a:r>
              <a:rPr lang="ro-RO" altLang="en-US" sz="2800" i="1" smtClean="0"/>
              <a:t> </a:t>
            </a:r>
          </a:p>
          <a:p>
            <a:pPr eaLnBrk="1">
              <a:buFont typeface="StarSymbol" charset="0"/>
              <a:buNone/>
            </a:pPr>
            <a:endParaRPr lang="en-US" altLang="en-US" sz="2800" i="1" smtClean="0"/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JColorChooser()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JColorChooser(Color initial)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Color showDialog(</a:t>
            </a:r>
            <a:r>
              <a:rPr lang="en-US" altLang="en-US" sz="2400" smtClean="0">
                <a:latin typeface="Courier New" panose="02070309020205020404" pitchFamily="49" charset="0"/>
              </a:rPr>
              <a:t>Component parent</a:t>
            </a:r>
            <a:r>
              <a:rPr lang="en-US" altLang="en-US" sz="2800" smtClean="0">
                <a:latin typeface="Courier New" panose="02070309020205020404" pitchFamily="49" charset="0"/>
              </a:rPr>
              <a:t>,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  String title, Color initialColor)</a:t>
            </a:r>
          </a:p>
          <a:p>
            <a:pPr lvl="1" eaLnBrk="1"/>
            <a:r>
              <a:rPr lang="en-US" altLang="en-US" sz="2400" smtClean="0"/>
              <a:t>return</a:t>
            </a:r>
            <a:r>
              <a:rPr lang="ro-RO" altLang="en-US" sz="2400" smtClean="0"/>
              <a:t>ează</a:t>
            </a:r>
            <a:r>
              <a:rPr lang="en-US" altLang="en-US" sz="2400" smtClean="0"/>
              <a:t> null </a:t>
            </a:r>
            <a:r>
              <a:rPr lang="ro-RO" altLang="en-US" sz="2400" smtClean="0"/>
              <a:t>dacă</a:t>
            </a:r>
            <a:r>
              <a:rPr lang="en-US" altLang="en-US" sz="2400" smtClean="0"/>
              <a:t> u</a:t>
            </a:r>
            <a:r>
              <a:rPr lang="ro-RO" altLang="en-US" sz="2400" smtClean="0"/>
              <a:t>tilizatorul</a:t>
            </a:r>
            <a:r>
              <a:rPr lang="en-US" altLang="en-US" sz="2400" smtClean="0"/>
              <a:t> </a:t>
            </a:r>
            <a:r>
              <a:rPr lang="ro-RO" altLang="en-US" sz="2400" smtClean="0"/>
              <a:t>selectează</a:t>
            </a:r>
            <a:r>
              <a:rPr lang="en-US" altLang="en-US" sz="2400" smtClean="0"/>
              <a:t> </a:t>
            </a:r>
            <a:r>
              <a:rPr lang="ro-RO" altLang="en-US" sz="2400" smtClean="0"/>
              <a:t>opţiunea </a:t>
            </a:r>
            <a:r>
              <a:rPr lang="en-US" altLang="en-US" sz="2400" smtClean="0"/>
              <a:t>Cancel </a:t>
            </a:r>
          </a:p>
        </p:txBody>
      </p:sp>
      <p:pic>
        <p:nvPicPr>
          <p:cNvPr id="109572" name="Picture 4" descr="ColorChooserDe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69"/>
          <a:stretch>
            <a:fillRect/>
          </a:stretch>
        </p:blipFill>
        <p:spPr bwMode="auto">
          <a:xfrm>
            <a:off x="544513" y="503238"/>
            <a:ext cx="4075112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336550"/>
            <a:ext cx="8999538" cy="382588"/>
          </a:xfrm>
        </p:spPr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JMenuBar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StarSymbol" charset="0"/>
              <a:buNone/>
            </a:pPr>
            <a:endParaRPr lang="ro-RO" altLang="en-US" sz="2400" i="1" smtClean="0"/>
          </a:p>
          <a:p>
            <a:pPr eaLnBrk="1">
              <a:buFont typeface="StarSymbol" charset="0"/>
              <a:buNone/>
            </a:pPr>
            <a:endParaRPr lang="en-US" altLang="en-US" sz="2400" i="1" smtClean="0"/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JMenuBar()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add(JMenu menu)</a:t>
            </a:r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r>
              <a:rPr lang="ro-RO" altLang="en-US" sz="2400" smtClean="0"/>
              <a:t>Mod de utilizare</a:t>
            </a:r>
            <a:r>
              <a:rPr lang="en-US" altLang="en-US" sz="2400" smtClean="0"/>
              <a:t>: in </a:t>
            </a:r>
            <a:r>
              <a:rPr lang="en-US" altLang="en-US" sz="2400" smtClean="0">
                <a:latin typeface="Courier New" panose="02070309020205020404" pitchFamily="49" charset="0"/>
              </a:rPr>
              <a:t>JFrame</a:t>
            </a:r>
            <a:r>
              <a:rPr lang="en-US" altLang="en-US" sz="2400" smtClean="0"/>
              <a:t>:</a:t>
            </a:r>
          </a:p>
          <a:p>
            <a:pPr lvl="1" eaLnBrk="1"/>
            <a:r>
              <a:rPr lang="en-US" altLang="en-US" sz="2400" smtClean="0">
                <a:latin typeface="Courier New" panose="02070309020205020404" pitchFamily="49" charset="0"/>
              </a:rPr>
              <a:t>public void setJMenuBar(JMenuBar bar)</a:t>
            </a:r>
          </a:p>
        </p:txBody>
      </p:sp>
      <p:pic>
        <p:nvPicPr>
          <p:cNvPr id="110596" name="Picture 4" descr="jmenu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1036638"/>
            <a:ext cx="52800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336550"/>
            <a:ext cx="8999538" cy="382588"/>
          </a:xfrm>
        </p:spPr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JMenu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StarSymbol" charset="0"/>
              <a:buNone/>
            </a:pPr>
            <a:endParaRPr lang="ro-RO" altLang="en-US" sz="2400" i="1" smtClean="0"/>
          </a:p>
          <a:p>
            <a:pPr eaLnBrk="1">
              <a:buFont typeface="StarSymbol" charset="0"/>
              <a:buNone/>
            </a:pPr>
            <a:endParaRPr lang="en-US" altLang="en-US" sz="2400" i="1" smtClean="0"/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JMenu(String text)</a:t>
            </a:r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add(JMenuItem item)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addSeparator()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setMnemonic(int mnemonic)</a:t>
            </a:r>
          </a:p>
        </p:txBody>
      </p:sp>
      <p:pic>
        <p:nvPicPr>
          <p:cNvPr id="111620" name="Picture 4" descr="jmenu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38" y="2940050"/>
            <a:ext cx="1662112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21" name="Picture 5" descr="jmenu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808038"/>
            <a:ext cx="6089650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336550"/>
            <a:ext cx="8999538" cy="382588"/>
          </a:xfrm>
        </p:spPr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JMenuItem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90000"/>
              </a:lnSpc>
              <a:buFont typeface="StarSymbol" charset="0"/>
              <a:buNone/>
            </a:pPr>
            <a:endParaRPr lang="en-US" altLang="en-US" sz="2800" i="1" smtClean="0"/>
          </a:p>
          <a:p>
            <a:pPr eaLnBrk="1">
              <a:lnSpc>
                <a:spcPct val="90000"/>
              </a:lnSpc>
            </a:pPr>
            <a:endParaRPr lang="en-US" altLang="en-US" sz="28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JMenuItem(String text)</a:t>
            </a:r>
          </a:p>
          <a:p>
            <a:pPr eaLnBrk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JMenuItem(String text, Icon icon)</a:t>
            </a:r>
          </a:p>
          <a:p>
            <a:pPr eaLnBrk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JMenuItem(String text, int mnemonic)</a:t>
            </a:r>
          </a:p>
          <a:p>
            <a:pPr eaLnBrk="1">
              <a:lnSpc>
                <a:spcPct val="90000"/>
              </a:lnSpc>
            </a:pPr>
            <a:endParaRPr lang="en-US" altLang="en-US" sz="2800" smtClean="0">
              <a:latin typeface="Courier New" panose="02070309020205020404" pitchFamily="49" charset="0"/>
            </a:endParaRPr>
          </a:p>
          <a:p>
            <a:pPr eaLnBrk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addActionListener(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  ActionListener al)</a:t>
            </a:r>
          </a:p>
          <a:p>
            <a:pPr eaLnBrk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setAccelerator(</a:t>
            </a:r>
            <a:r>
              <a:rPr lang="en-US" altLang="en-US" sz="2400" smtClean="0">
                <a:latin typeface="Courier New" panose="02070309020205020404" pitchFamily="49" charset="0"/>
              </a:rPr>
              <a:t>KeyStroke ks</a:t>
            </a:r>
            <a:r>
              <a:rPr lang="en-US" altLang="en-US" sz="2800" smtClean="0">
                <a:latin typeface="Courier New" panose="02070309020205020404" pitchFamily="49" charset="0"/>
              </a:rPr>
              <a:t>)</a:t>
            </a:r>
          </a:p>
          <a:p>
            <a:pPr eaLnBrk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setEnabled(boolean b)</a:t>
            </a:r>
          </a:p>
          <a:p>
            <a:pPr eaLnBrk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setMnemonic(int mnemonic)</a:t>
            </a:r>
          </a:p>
        </p:txBody>
      </p:sp>
      <p:pic>
        <p:nvPicPr>
          <p:cNvPr id="112644" name="Picture 4" descr="jmenui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3" y="731838"/>
            <a:ext cx="468630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0"/>
            <a:ext cx="8432800" cy="1176338"/>
          </a:xfrm>
        </p:spPr>
        <p:txBody>
          <a:bodyPr/>
          <a:lstStyle/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JCheckBoxMenuItem</a:t>
            </a:r>
            <a:r>
              <a:rPr lang="en-US" altLang="en-US" sz="2400" smtClean="0"/>
              <a:t> / </a:t>
            </a:r>
            <a:r>
              <a:rPr lang="en-US" altLang="en-US" sz="2400" smtClean="0">
                <a:latin typeface="Courier New" panose="02070309020205020404" pitchFamily="49" charset="0"/>
              </a:rPr>
              <a:t>JRadioButtonMenuItem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StarSymbol" charset="0"/>
              <a:buNone/>
            </a:pPr>
            <a:endParaRPr lang="en-US" altLang="en-US" sz="2400" i="1" smtClean="0"/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</a:t>
            </a:r>
            <a:r>
              <a:rPr lang="en-US" altLang="en-US" sz="2400" i="1" smtClean="0">
                <a:solidFill>
                  <a:schemeClr val="tx1"/>
                </a:solidFill>
                <a:latin typeface="Courier New" panose="02070309020205020404" pitchFamily="49" charset="0"/>
              </a:rPr>
              <a:t>_____</a:t>
            </a:r>
            <a:r>
              <a:rPr lang="en-US" altLang="en-US" sz="2400" smtClean="0">
                <a:latin typeface="Courier New" panose="02070309020205020404" pitchFamily="49" charset="0"/>
              </a:rPr>
              <a:t>MenuItem(String text)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</a:t>
            </a:r>
            <a:r>
              <a:rPr lang="en-US" altLang="en-US" sz="2400" i="1" smtClean="0">
                <a:latin typeface="Courier New" panose="02070309020205020404" pitchFamily="49" charset="0"/>
              </a:rPr>
              <a:t>_____</a:t>
            </a:r>
            <a:r>
              <a:rPr lang="en-US" altLang="en-US" sz="2400" smtClean="0">
                <a:latin typeface="Courier New" panose="02070309020205020404" pitchFamily="49" charset="0"/>
              </a:rPr>
              <a:t>MenuItem(String text, boolean select)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</a:t>
            </a:r>
            <a:r>
              <a:rPr lang="en-US" altLang="en-US" sz="2400" i="1" smtClean="0">
                <a:latin typeface="Courier New" panose="02070309020205020404" pitchFamily="49" charset="0"/>
              </a:rPr>
              <a:t>_____</a:t>
            </a:r>
            <a:r>
              <a:rPr lang="en-US" altLang="en-US" sz="2400" smtClean="0">
                <a:latin typeface="Courier New" panose="02070309020205020404" pitchFamily="49" charset="0"/>
              </a:rPr>
              <a:t>MenuItem(String text, Icon icon)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</a:t>
            </a:r>
            <a:r>
              <a:rPr lang="en-US" altLang="en-US" sz="2400" i="1" smtClean="0">
                <a:latin typeface="Courier New" panose="02070309020205020404" pitchFamily="49" charset="0"/>
              </a:rPr>
              <a:t>_____</a:t>
            </a:r>
            <a:r>
              <a:rPr lang="en-US" altLang="en-US" sz="2400" smtClean="0">
                <a:latin typeface="Courier New" panose="02070309020205020404" pitchFamily="49" charset="0"/>
              </a:rPr>
              <a:t>MenuItem(String text,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  Icon icon, boolean selected)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addActionListener(ActionListener al)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boolean isSelected()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setSelected(boolean b)</a:t>
            </a:r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>
              <a:buFont typeface="StarSymbol" charset="0"/>
              <a:buNone/>
            </a:pPr>
            <a:endParaRPr lang="en-US" altLang="en-US" sz="2800" smtClean="0"/>
          </a:p>
        </p:txBody>
      </p:sp>
      <p:pic>
        <p:nvPicPr>
          <p:cNvPr id="113668" name="Picture 4" descr="jcheckboxmenui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04"/>
          <a:stretch>
            <a:fillRect/>
          </a:stretch>
        </p:blipFill>
        <p:spPr bwMode="auto">
          <a:xfrm>
            <a:off x="5268913" y="5303838"/>
            <a:ext cx="2679700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73000"/>
              </a:lnSpc>
            </a:pPr>
            <a:r>
              <a:rPr lang="en-US" altLang="en-US" sz="2800" b="1" smtClean="0"/>
              <a:t>mnemonic: </a:t>
            </a:r>
            <a:r>
              <a:rPr lang="en-US" altLang="en-US" sz="2800" smtClean="0"/>
              <a:t>tasta “fierbinte” (hotkey) pt un button sau alt[ comp grafic</a:t>
            </a:r>
            <a:r>
              <a:rPr lang="ro-RO" altLang="en-US" sz="2800" smtClean="0"/>
              <a:t>ă</a:t>
            </a:r>
          </a:p>
          <a:p>
            <a:pPr eaLnBrk="1">
              <a:lnSpc>
                <a:spcPct val="73000"/>
              </a:lnSpc>
            </a:pPr>
            <a:r>
              <a:rPr lang="ro-RO" altLang="en-US" sz="2800" smtClean="0"/>
              <a:t>Usual este vizibilă fiind subliniată şi se activează prin tastarea </a:t>
            </a:r>
            <a:r>
              <a:rPr lang="en-US" altLang="en-US" sz="2800" smtClean="0"/>
              <a:t>Ctrl+key (but</a:t>
            </a:r>
            <a:r>
              <a:rPr lang="ro-RO" altLang="en-US" sz="2800" smtClean="0"/>
              <a:t>oane</a:t>
            </a:r>
            <a:r>
              <a:rPr lang="en-US" altLang="en-US" sz="2800" smtClean="0"/>
              <a:t>) </a:t>
            </a:r>
            <a:r>
              <a:rPr lang="ro-RO" altLang="en-US" sz="2800" smtClean="0"/>
              <a:t>sau</a:t>
            </a:r>
            <a:r>
              <a:rPr lang="en-US" altLang="en-US" sz="2800" smtClean="0"/>
              <a:t> Alt+key (men</a:t>
            </a:r>
            <a:r>
              <a:rPr lang="ro-RO" altLang="en-US" sz="2800" smtClean="0"/>
              <a:t>iuri</a:t>
            </a:r>
            <a:r>
              <a:rPr lang="en-US" altLang="en-US" sz="2800" smtClean="0"/>
              <a:t>)</a:t>
            </a:r>
          </a:p>
          <a:p>
            <a:pPr eaLnBrk="1">
              <a:lnSpc>
                <a:spcPct val="73000"/>
              </a:lnSpc>
            </a:pPr>
            <a:r>
              <a:rPr lang="ro-RO" altLang="en-US" sz="2800" smtClean="0"/>
              <a:t>Funcţionează doar dacă componenta este în focar</a:t>
            </a:r>
          </a:p>
          <a:p>
            <a:pPr eaLnBrk="1">
              <a:lnSpc>
                <a:spcPct val="73000"/>
              </a:lnSpc>
            </a:pPr>
            <a:endParaRPr lang="en-US" altLang="en-US" sz="2800" smtClean="0"/>
          </a:p>
          <a:p>
            <a:pPr eaLnBrk="1">
              <a:lnSpc>
                <a:spcPct val="73000"/>
              </a:lnSpc>
            </a:pPr>
            <a:r>
              <a:rPr lang="en-US" altLang="en-US" sz="2800" b="1" smtClean="0"/>
              <a:t>u</a:t>
            </a:r>
            <a:r>
              <a:rPr lang="ro-RO" altLang="en-US" sz="2800" b="1" smtClean="0"/>
              <a:t>tilizare</a:t>
            </a:r>
            <a:r>
              <a:rPr lang="en-US" altLang="en-US" sz="2800" b="1" smtClean="0"/>
              <a:t>: </a:t>
            </a:r>
            <a:r>
              <a:rPr lang="ro-RO" altLang="en-US" sz="2800" smtClean="0"/>
              <a:t>apel metodă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Courier New" panose="02070309020205020404" pitchFamily="49" charset="0"/>
              </a:rPr>
              <a:t>setMnemonic(char)</a:t>
            </a:r>
            <a:endParaRPr lang="en-US" altLang="en-US" sz="2800" smtClean="0"/>
          </a:p>
          <a:p>
            <a:pPr eaLnBrk="1">
              <a:lnSpc>
                <a:spcPct val="73000"/>
              </a:lnSpc>
            </a:pPr>
            <a:endParaRPr lang="en-US" altLang="en-US" sz="2800" smtClean="0"/>
          </a:p>
          <a:p>
            <a:pPr eaLnBrk="1">
              <a:lnSpc>
                <a:spcPct val="73000"/>
              </a:lnSpc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myQuitButton.setMnemonic('Q');</a:t>
            </a:r>
          </a:p>
          <a:p>
            <a:pPr eaLnBrk="1">
              <a:lnSpc>
                <a:spcPct val="73000"/>
              </a:lnSpc>
              <a:buFont typeface="StarSymbol" charset="0"/>
              <a:buNone/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 eaLnBrk="1">
              <a:lnSpc>
                <a:spcPct val="73000"/>
              </a:lnSpc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JMenuItem myNewItem = new JMenuItem("New", 'N');</a:t>
            </a:r>
          </a:p>
          <a:p>
            <a:pPr eaLnBrk="1">
              <a:lnSpc>
                <a:spcPct val="73000"/>
              </a:lnSpc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// </a:t>
            </a:r>
            <a:r>
              <a:rPr lang="ro-RO" altLang="en-US" sz="2400" smtClean="0">
                <a:latin typeface="Times New Roman" panose="02020603050405020304" pitchFamily="18" charset="0"/>
              </a:rPr>
              <a:t>sau</a:t>
            </a:r>
            <a:r>
              <a:rPr lang="en-US" altLang="en-US" sz="2400" smtClean="0">
                <a:latin typeface="Courier New" panose="02070309020205020404" pitchFamily="49" charset="0"/>
              </a:rPr>
              <a:t>,</a:t>
            </a:r>
          </a:p>
          <a:p>
            <a:pPr eaLnBrk="1">
              <a:lnSpc>
                <a:spcPct val="73000"/>
              </a:lnSpc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myNewItem.setMnemonic('N');</a:t>
            </a:r>
          </a:p>
        </p:txBody>
      </p:sp>
      <p:pic>
        <p:nvPicPr>
          <p:cNvPr id="114691" name="Picture 3" descr="Menu-mnemon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3" y="5303838"/>
            <a:ext cx="3779837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Mnemonic</a:t>
            </a:r>
            <a:r>
              <a:rPr lang="ro-RO" altLang="en-US" smtClean="0"/>
              <a:t>e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90000"/>
              </a:lnSpc>
            </a:pPr>
            <a:r>
              <a:rPr lang="en-US" altLang="en-US" b="1" smtClean="0"/>
              <a:t>accelerato</a:t>
            </a:r>
            <a:r>
              <a:rPr lang="ro-RO" altLang="en-US" b="1" smtClean="0"/>
              <a:t>a</a:t>
            </a:r>
            <a:r>
              <a:rPr lang="en-US" altLang="en-US" b="1" smtClean="0"/>
              <a:t>r</a:t>
            </a:r>
            <a:r>
              <a:rPr lang="ro-RO" altLang="en-US" b="1" smtClean="0"/>
              <a:t>e</a:t>
            </a:r>
            <a:r>
              <a:rPr lang="en-US" altLang="en-US" smtClean="0"/>
              <a:t>: </a:t>
            </a:r>
            <a:r>
              <a:rPr lang="ro-RO" altLang="en-US" smtClean="0"/>
              <a:t>combinaţie globală de taste care efectuează o acţiune </a:t>
            </a:r>
            <a:r>
              <a:rPr lang="en-US" altLang="en-US" smtClean="0"/>
              <a:t>(ex: Alt-X </a:t>
            </a:r>
            <a:r>
              <a:rPr lang="ro-RO" altLang="en-US" smtClean="0"/>
              <a:t>pt.</a:t>
            </a:r>
            <a:r>
              <a:rPr lang="en-US" altLang="en-US" smtClean="0"/>
              <a:t> exit</a:t>
            </a:r>
            <a:r>
              <a:rPr lang="ro-RO" altLang="en-US" smtClean="0"/>
              <a:t> din</a:t>
            </a:r>
            <a:r>
              <a:rPr lang="en-US" altLang="en-US" smtClean="0"/>
              <a:t> program) </a:t>
            </a:r>
            <a:r>
              <a:rPr lang="ro-RO" altLang="en-US" smtClean="0"/>
              <a:t>chiar dacă componenta nu este în focar</a:t>
            </a:r>
            <a:endParaRPr lang="en-US" altLang="en-US" smtClean="0"/>
          </a:p>
          <a:p>
            <a:pPr lvl="1" eaLnBrk="1">
              <a:lnSpc>
                <a:spcPct val="90000"/>
              </a:lnSpc>
            </a:pPr>
            <a:r>
              <a:rPr lang="ro-RO" altLang="en-US" smtClean="0"/>
              <a:t>Poate rula în orice moment în cadrul unei aplicaţii</a:t>
            </a:r>
            <a:endParaRPr lang="en-US" altLang="en-US" smtClean="0"/>
          </a:p>
          <a:p>
            <a:pPr lvl="1" eaLnBrk="1">
              <a:lnSpc>
                <a:spcPct val="90000"/>
              </a:lnSpc>
            </a:pPr>
            <a:r>
              <a:rPr lang="ro-RO" altLang="en-US" smtClean="0"/>
              <a:t>Opţional poate utiliza şi modificatori (</a:t>
            </a:r>
            <a:r>
              <a:rPr lang="en-US" altLang="en-US" smtClean="0"/>
              <a:t>Shift, Alt</a:t>
            </a:r>
            <a:r>
              <a:rPr lang="ro-RO" altLang="en-US" smtClean="0"/>
              <a:t>)</a:t>
            </a:r>
            <a:endParaRPr lang="en-US" altLang="en-US" smtClean="0"/>
          </a:p>
          <a:p>
            <a:pPr lvl="1" eaLnBrk="1">
              <a:lnSpc>
                <a:spcPct val="90000"/>
              </a:lnSpc>
            </a:pPr>
            <a:r>
              <a:rPr lang="ro-RO" altLang="en-US" smtClean="0"/>
              <a:t>Se creează prin apelul metodei </a:t>
            </a:r>
            <a:r>
              <a:rPr lang="en-US" altLang="en-US" smtClean="0"/>
              <a:t>getKeyStroke method </a:t>
            </a:r>
            <a:r>
              <a:rPr lang="ro-RO" altLang="en-US" smtClean="0"/>
              <a:t>din clasa </a:t>
            </a:r>
            <a:r>
              <a:rPr lang="en-US" altLang="en-US" smtClean="0"/>
              <a:t>KeyStroke, </a:t>
            </a:r>
            <a:r>
              <a:rPr lang="ro-RO" altLang="en-US" smtClean="0"/>
              <a:t>şi transmiterea acesteia către metoda </a:t>
            </a:r>
            <a:r>
              <a:rPr lang="en-US" altLang="en-US" smtClean="0"/>
              <a:t>setAccelerator </a:t>
            </a:r>
            <a:r>
              <a:rPr lang="ro-RO" altLang="en-US" smtClean="0"/>
              <a:t>a diferitelor </a:t>
            </a:r>
            <a:r>
              <a:rPr lang="en-US" altLang="en-US" smtClean="0"/>
              <a:t>  component</a:t>
            </a:r>
            <a:r>
              <a:rPr lang="ro-RO" altLang="en-US" smtClean="0"/>
              <a:t>e</a:t>
            </a:r>
            <a:r>
              <a:rPr lang="en-US" altLang="en-US" smtClean="0"/>
              <a:t> (buttons, menus)</a:t>
            </a:r>
          </a:p>
          <a:p>
            <a:pPr eaLnBrk="1">
              <a:lnSpc>
                <a:spcPct val="9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menuItem.setAccelerator(</a:t>
            </a:r>
          </a:p>
          <a:p>
            <a:pPr eaLnBrk="1">
              <a:lnSpc>
                <a:spcPct val="50000"/>
              </a:lnSpc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 KeyStroke.getKeyStroke('T',KeyEvent.ALT_MASK));</a:t>
            </a:r>
            <a:r>
              <a:rPr lang="en-US" altLang="en-US" smtClean="0"/>
              <a:t> </a:t>
            </a:r>
          </a:p>
        </p:txBody>
      </p:sp>
      <p:pic>
        <p:nvPicPr>
          <p:cNvPr id="115715" name="Picture 3" descr="Menu-acc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913" y="5837238"/>
            <a:ext cx="50403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Accelerato</a:t>
            </a:r>
            <a:r>
              <a:rPr lang="ro-RO" altLang="en-US" smtClean="0"/>
              <a:t>a</a:t>
            </a:r>
            <a:r>
              <a:rPr lang="en-US" altLang="en-US" smtClean="0"/>
              <a:t>r</a:t>
            </a:r>
            <a:r>
              <a:rPr lang="ro-RO" altLang="en-US" smtClean="0"/>
              <a:t>e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JComboBox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JComboBox()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JComboBox(Vector items)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JComboBox(ComboBoxModel model)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endParaRPr lang="ro-RO" altLang="en-US" sz="2800" smtClean="0">
              <a:latin typeface="Times New Roman" panose="02020603050405020304" pitchFamily="18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addItem(Object item)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Object getItemAt(int index)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removeAllItems()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removeItem(Object item)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removeItemAt(int index)</a:t>
            </a:r>
          </a:p>
        </p:txBody>
      </p:sp>
      <p:pic>
        <p:nvPicPr>
          <p:cNvPr id="116740" name="Picture 4" descr="ComboBoxDem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52" b="42772"/>
          <a:stretch>
            <a:fillRect/>
          </a:stretch>
        </p:blipFill>
        <p:spPr bwMode="auto">
          <a:xfrm>
            <a:off x="3973513" y="5608638"/>
            <a:ext cx="4860925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JComboBox</a:t>
            </a:r>
            <a:r>
              <a:rPr lang="en-US" altLang="en-US" smtClean="0"/>
              <a:t>: Selected Item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int getSelectedIndex()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Object getSelectedItem()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setSelectedItem(</a:t>
            </a:r>
            <a:r>
              <a:rPr lang="en-US" altLang="en-US" sz="2400" smtClean="0">
                <a:latin typeface="Courier New" panose="02070309020205020404" pitchFamily="49" charset="0"/>
              </a:rPr>
              <a:t>Object item</a:t>
            </a:r>
            <a:r>
              <a:rPr lang="en-US" altLang="en-US" sz="2800" smtClean="0">
                <a:latin typeface="Courier New" panose="02070309020205020404" pitchFamily="49" charset="0"/>
              </a:rPr>
              <a:t>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setSelectedIndex(int index)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setEnabled(boolean enabled)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setEditable(</a:t>
            </a:r>
            <a:r>
              <a:rPr lang="en-US" altLang="en-US" sz="2400" smtClean="0">
                <a:latin typeface="Courier New" panose="02070309020205020404" pitchFamily="49" charset="0"/>
              </a:rPr>
              <a:t>boolean editable</a:t>
            </a:r>
            <a:r>
              <a:rPr lang="en-US" altLang="en-US" sz="2800" smtClean="0">
                <a:latin typeface="Courier New" panose="02070309020205020404" pitchFamily="49" charset="0"/>
              </a:rPr>
              <a:t>)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endParaRPr lang="en-US" altLang="en-US" sz="2800" smtClean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JComboBox</a:t>
            </a:r>
            <a:r>
              <a:rPr lang="en-US" altLang="en-US" smtClean="0"/>
              <a:t> Ex</a:t>
            </a:r>
            <a:r>
              <a:rPr lang="ro-RO" altLang="en-US" smtClean="0"/>
              <a:t>e</a:t>
            </a:r>
            <a:r>
              <a:rPr lang="en-US" altLang="en-US" smtClean="0"/>
              <a:t>mpl</a:t>
            </a:r>
            <a:r>
              <a:rPr lang="ro-RO" altLang="en-US" smtClean="0"/>
              <a:t>u</a:t>
            </a:r>
            <a:endParaRPr lang="en-US" altLang="en-US" smtClean="0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final JComboBox box = new JComboBox();</a:t>
            </a:r>
          </a:p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box.addItem(“Mirela");   box.addItem(“Alin");</a:t>
            </a:r>
          </a:p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box.addItem(“Jeni");</a:t>
            </a:r>
          </a:p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box.addActionListener(new ActionListener() {</a:t>
            </a:r>
          </a:p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  public void actionPerformed(ActionEvent event) {</a:t>
            </a:r>
          </a:p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    JOptionPane.showMessageDialog(null,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   "You chose " + box.getSelectedItem());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}</a:t>
            </a:r>
          </a:p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});</a:t>
            </a:r>
          </a:p>
          <a:p>
            <a:pPr eaLnBrk="1"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getContentPane().add(box, BorderLayout.NORTH);</a:t>
            </a:r>
          </a:p>
          <a:p>
            <a:pPr eaLnBrk="1">
              <a:buFont typeface="StarSymbol" charset="0"/>
              <a:buNone/>
            </a:pPr>
            <a:endParaRPr lang="en-US" altLang="en-US" sz="2400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JTabbedPane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0000"/>
              </a:lnSpc>
              <a:buFont typeface="StarSymbol" charset="0"/>
              <a:buNone/>
            </a:pPr>
            <a:endParaRPr lang="en-US" altLang="en-US" sz="2400" i="1" smtClean="0"/>
          </a:p>
          <a:p>
            <a:pPr eaLnBrk="1">
              <a:lnSpc>
                <a:spcPct val="80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 eaLnBrk="1">
              <a:lnSpc>
                <a:spcPct val="8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JTabbedPane()</a:t>
            </a:r>
          </a:p>
          <a:p>
            <a:pPr eaLnBrk="1">
              <a:lnSpc>
                <a:spcPct val="80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JTabbedPane(int tabAlignment)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/>
              <a:t>Constru</a:t>
            </a:r>
            <a:r>
              <a:rPr lang="ro-RO" altLang="en-US" sz="2400" smtClean="0"/>
              <a:t>iesc o nouă componentă </a:t>
            </a:r>
            <a:r>
              <a:rPr lang="en-US" altLang="en-US" sz="2400" smtClean="0"/>
              <a:t>tabbed pane.  </a:t>
            </a:r>
            <a:r>
              <a:rPr lang="ro-RO" altLang="en-US" sz="2400" smtClean="0"/>
              <a:t>Implicit tab-urile sunt sus</a:t>
            </a:r>
            <a:r>
              <a:rPr lang="en-US" altLang="en-US" sz="2400" smtClean="0"/>
              <a:t>; </a:t>
            </a:r>
            <a:r>
              <a:rPr lang="ro-RO" altLang="en-US" sz="2400" smtClean="0"/>
              <a:t>se pot </a:t>
            </a:r>
            <a:r>
              <a:rPr lang="en-US" altLang="en-US" sz="2400" smtClean="0"/>
              <a:t>set</a:t>
            </a:r>
            <a:r>
              <a:rPr lang="ro-RO" altLang="en-US" sz="2400" smtClean="0"/>
              <a:t>a</a:t>
            </a:r>
            <a:r>
              <a:rPr lang="en-US" altLang="en-US" sz="2400" smtClean="0"/>
              <a:t> </a:t>
            </a:r>
            <a:r>
              <a:rPr lang="en-US" altLang="en-US" sz="2400" smtClean="0">
                <a:latin typeface="Courier New" panose="02070309020205020404" pitchFamily="49" charset="0"/>
              </a:rPr>
              <a:t>JTabbedPane.BOTTOM</a:t>
            </a:r>
            <a:r>
              <a:rPr lang="en-US" altLang="en-US" sz="2400" smtClean="0"/>
              <a:t>, </a:t>
            </a:r>
            <a:r>
              <a:rPr lang="en-US" altLang="en-US" sz="2400" smtClean="0">
                <a:latin typeface="Courier New" panose="02070309020205020404" pitchFamily="49" charset="0"/>
              </a:rPr>
              <a:t>LEFT</a:t>
            </a:r>
            <a:r>
              <a:rPr lang="en-US" altLang="en-US" sz="2400" smtClean="0"/>
              <a:t>,</a:t>
            </a:r>
            <a:r>
              <a:rPr lang="en-US" altLang="en-US" sz="2400" smtClean="0">
                <a:latin typeface="Courier New" panose="02070309020205020404" pitchFamily="49" charset="0"/>
              </a:rPr>
              <a:t>RIGHT</a:t>
            </a:r>
            <a:r>
              <a:rPr lang="en-US" altLang="en-US" sz="2400" smtClean="0"/>
              <a:t>, etc.</a:t>
            </a:r>
          </a:p>
          <a:p>
            <a:pPr eaLnBrk="1">
              <a:lnSpc>
                <a:spcPct val="80000"/>
              </a:lnSpc>
            </a:pPr>
            <a:endParaRPr lang="en-US" altLang="en-US" sz="2400" smtClean="0"/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void addTab(String title, Component comp)</a:t>
            </a:r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void addTab(String title, Icon icon,</a:t>
            </a:r>
            <a:br>
              <a:rPr lang="en-US" altLang="en-US" sz="2000" smtClean="0">
                <a:latin typeface="Courier New" panose="02070309020205020404" pitchFamily="49" charset="0"/>
              </a:rPr>
            </a:br>
            <a:r>
              <a:rPr lang="en-US" altLang="en-US" sz="2000" smtClean="0">
                <a:latin typeface="Courier New" panose="02070309020205020404" pitchFamily="49" charset="0"/>
              </a:rPr>
              <a:t>  Component comp)</a:t>
            </a:r>
          </a:p>
          <a:p>
            <a:pPr eaLnBrk="1">
              <a:lnSpc>
                <a:spcPct val="8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void addTab(String title, Icon icon,</a:t>
            </a:r>
            <a:br>
              <a:rPr lang="en-US" altLang="en-US" sz="2000" smtClean="0">
                <a:latin typeface="Courier New" panose="02070309020205020404" pitchFamily="49" charset="0"/>
              </a:rPr>
            </a:br>
            <a:r>
              <a:rPr lang="en-US" altLang="en-US" sz="2000" smtClean="0">
                <a:latin typeface="Courier New" panose="02070309020205020404" pitchFamily="49" charset="0"/>
              </a:rPr>
              <a:t>  Component comp, String tooltip)</a:t>
            </a:r>
            <a:br>
              <a:rPr lang="en-US" altLang="en-US" sz="2000" smtClean="0">
                <a:latin typeface="Courier New" panose="02070309020205020404" pitchFamily="49" charset="0"/>
              </a:rPr>
            </a:br>
            <a:endParaRPr lang="en-US" altLang="en-US" sz="2400" smtClean="0"/>
          </a:p>
        </p:txBody>
      </p:sp>
      <p:pic>
        <p:nvPicPr>
          <p:cNvPr id="119812" name="Picture 4" descr="jtabbedpa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87"/>
          <a:stretch>
            <a:fillRect/>
          </a:stretch>
        </p:blipFill>
        <p:spPr bwMode="auto">
          <a:xfrm>
            <a:off x="5421313" y="4541838"/>
            <a:ext cx="2901950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metod</a:t>
            </a:r>
            <a:r>
              <a:rPr lang="ro-RO" altLang="en-US" smtClean="0"/>
              <a:t>e</a:t>
            </a:r>
            <a:r>
              <a:rPr lang="en-US" altLang="en-US" smtClean="0">
                <a:latin typeface="Courier New" panose="02070309020205020404" pitchFamily="49" charset="0"/>
              </a:rPr>
              <a:t> JTabbedPane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insertTab(String title,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  Icon icon, Component comp, 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  String tooltip, int index)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remove(Component comp)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remove(int index)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removeAll()</a:t>
            </a:r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setSelectedComponent(Component c)</a:t>
            </a:r>
          </a:p>
          <a:p>
            <a:pPr eaLnBrk="1"/>
            <a:r>
              <a:rPr lang="en-US" altLang="en-US" sz="2800" smtClean="0">
                <a:latin typeface="Courier New" panose="02070309020205020404" pitchFamily="49" charset="0"/>
              </a:rPr>
              <a:t>public void setSelectedIndex(int index)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JToolBar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3000"/>
              </a:lnSpc>
              <a:buFont typeface="StarSymbol" charset="0"/>
              <a:buNone/>
            </a:pPr>
            <a:endParaRPr lang="en-US" altLang="en-US" sz="2800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JToolBar()</a:t>
            </a: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JToolBar(int orientation)</a:t>
            </a: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JToolBar(String title)</a:t>
            </a: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JToolBar(</a:t>
            </a:r>
            <a:r>
              <a:rPr lang="en-US" altLang="en-US" sz="2400" smtClean="0">
                <a:latin typeface="Courier New" panose="02070309020205020404" pitchFamily="49" charset="0"/>
              </a:rPr>
              <a:t>String title, int orientation</a:t>
            </a:r>
            <a:r>
              <a:rPr lang="en-US" altLang="en-US" sz="2800" smtClean="0">
                <a:latin typeface="Courier New" panose="02070309020205020404" pitchFamily="49" charset="0"/>
              </a:rPr>
              <a:t>)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/>
              <a:t>Constru</a:t>
            </a:r>
            <a:r>
              <a:rPr lang="ro-RO" altLang="en-US" sz="2800" smtClean="0"/>
              <a:t>iesc</a:t>
            </a:r>
            <a:r>
              <a:rPr lang="en-US" altLang="en-US" sz="2800" smtClean="0"/>
              <a:t> </a:t>
            </a:r>
            <a:r>
              <a:rPr lang="ro-RO" altLang="en-US" sz="2800" smtClean="0"/>
              <a:t>un </a:t>
            </a:r>
            <a:r>
              <a:rPr lang="en-US" altLang="en-US" sz="2800" smtClean="0"/>
              <a:t>tool bar, optional</a:t>
            </a:r>
            <a:r>
              <a:rPr lang="ro-RO" altLang="en-US" sz="2800" smtClean="0"/>
              <a:t> cu un</a:t>
            </a:r>
            <a:r>
              <a:rPr lang="en-US" altLang="en-US" sz="2800" smtClean="0"/>
              <a:t> titl</a:t>
            </a:r>
            <a:r>
              <a:rPr lang="ro-RO" altLang="en-US" sz="2800" smtClean="0"/>
              <a:t>u</a:t>
            </a:r>
            <a:r>
              <a:rPr lang="en-US" altLang="en-US" sz="2800" smtClean="0"/>
              <a:t> </a:t>
            </a:r>
            <a:r>
              <a:rPr lang="ro-RO" altLang="en-US" sz="2800" smtClean="0"/>
              <a:t>şi o</a:t>
            </a:r>
            <a:r>
              <a:rPr lang="en-US" altLang="en-US" sz="2800" smtClean="0"/>
              <a:t> orienta</a:t>
            </a:r>
            <a:r>
              <a:rPr lang="ro-RO" altLang="en-US" sz="2800" smtClean="0"/>
              <a:t>re</a:t>
            </a:r>
            <a:r>
              <a:rPr lang="en-US" altLang="en-US" sz="2800" smtClean="0"/>
              <a:t>; </a:t>
            </a:r>
            <a:r>
              <a:rPr lang="ro-RO" altLang="en-US" sz="2800" smtClean="0"/>
              <a:t>poate fi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Courier New" panose="02070309020205020404" pitchFamily="49" charset="0"/>
              </a:rPr>
              <a:t>JToolBar.HORIZONTAL</a:t>
            </a:r>
            <a:r>
              <a:rPr lang="en-US" altLang="en-US" sz="2800" smtClean="0"/>
              <a:t> </a:t>
            </a:r>
            <a:r>
              <a:rPr lang="ro-RO" altLang="en-US" sz="2800" smtClean="0"/>
              <a:t>sau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Courier New" panose="02070309020205020404" pitchFamily="49" charset="0"/>
              </a:rPr>
              <a:t>VERTICAL</a:t>
            </a:r>
            <a:r>
              <a:rPr lang="en-US" altLang="en-US" sz="2800" smtClean="0"/>
              <a:t>, </a:t>
            </a:r>
            <a:r>
              <a:rPr lang="ro-RO" altLang="en-US" sz="2800" smtClean="0"/>
              <a:t>implicit</a:t>
            </a:r>
            <a:r>
              <a:rPr lang="en-US" altLang="en-US" sz="2800" smtClean="0"/>
              <a:t> horizontal</a:t>
            </a:r>
          </a:p>
          <a:p>
            <a:pPr eaLnBrk="1">
              <a:lnSpc>
                <a:spcPct val="83000"/>
              </a:lnSpc>
            </a:pPr>
            <a:endParaRPr lang="en-US" altLang="en-US" sz="2800" smtClean="0"/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add(Component comp)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ro-RO" altLang="en-US" sz="2800" smtClean="0"/>
              <a:t>adaugă o nouă componentă</a:t>
            </a:r>
            <a:r>
              <a:rPr lang="en-US" altLang="en-US" sz="2800" smtClean="0"/>
              <a:t>.</a:t>
            </a:r>
          </a:p>
        </p:txBody>
      </p:sp>
      <p:pic>
        <p:nvPicPr>
          <p:cNvPr id="121860" name="Picture 4" descr="ToolBarDe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6" r="73512" b="52827"/>
          <a:stretch>
            <a:fillRect/>
          </a:stretch>
        </p:blipFill>
        <p:spPr bwMode="auto">
          <a:xfrm>
            <a:off x="5192713" y="5426075"/>
            <a:ext cx="36671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JToolBar</a:t>
            </a:r>
            <a:r>
              <a:rPr lang="en-US" altLang="en-US" smtClean="0"/>
              <a:t>: </a:t>
            </a:r>
            <a:r>
              <a:rPr lang="ro-RO" altLang="en-US" smtClean="0"/>
              <a:t>Utilizare</a:t>
            </a:r>
            <a:endParaRPr lang="en-US" altLang="en-US" smtClean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ro-RO" altLang="en-US" smtClean="0"/>
              <a:t>Apel </a:t>
            </a:r>
            <a:r>
              <a:rPr lang="en-US" altLang="en-US" smtClean="0"/>
              <a:t>construct</a:t>
            </a:r>
            <a:r>
              <a:rPr lang="ro-RO" altLang="en-US" smtClean="0"/>
              <a:t>or</a:t>
            </a:r>
            <a:r>
              <a:rPr lang="en-US" altLang="en-US" smtClean="0"/>
              <a:t> toolbar</a:t>
            </a:r>
          </a:p>
          <a:p>
            <a:pPr eaLnBrk="1"/>
            <a:r>
              <a:rPr lang="en-US" altLang="en-US" smtClean="0"/>
              <a:t>add items (usual butto</a:t>
            </a:r>
            <a:r>
              <a:rPr lang="ro-RO" altLang="en-US" smtClean="0"/>
              <a:t>a</a:t>
            </a:r>
            <a:r>
              <a:rPr lang="en-US" altLang="en-US" smtClean="0"/>
              <a:t>n</a:t>
            </a:r>
            <a:r>
              <a:rPr lang="ro-RO" altLang="en-US" smtClean="0"/>
              <a:t>e</a:t>
            </a:r>
            <a:r>
              <a:rPr lang="en-US" altLang="en-US" smtClean="0"/>
              <a:t>)</a:t>
            </a:r>
          </a:p>
          <a:p>
            <a:pPr eaLnBrk="1"/>
            <a:r>
              <a:rPr lang="en-US" altLang="en-US" smtClean="0"/>
              <a:t>add toolbar </a:t>
            </a:r>
            <a:r>
              <a:rPr lang="ro-RO" altLang="en-US" smtClean="0"/>
              <a:t>la content pane</a:t>
            </a:r>
            <a:r>
              <a:rPr lang="en-US" altLang="en-US" smtClean="0"/>
              <a:t> </a:t>
            </a:r>
            <a:r>
              <a:rPr lang="ro-RO" altLang="en-US" smtClean="0"/>
              <a:t>cu ajutorul </a:t>
            </a:r>
            <a:r>
              <a:rPr lang="en-US" altLang="en-US" smtClean="0">
                <a:latin typeface="Courier New" panose="02070309020205020404" pitchFamily="49" charset="0"/>
              </a:rPr>
              <a:t>BorderLayout</a:t>
            </a:r>
            <a:r>
              <a:rPr lang="en-US" altLang="en-US" smtClean="0"/>
              <a:t> (usual </a:t>
            </a:r>
            <a:r>
              <a:rPr lang="en-US" altLang="en-US" smtClean="0">
                <a:latin typeface="Courier New" panose="02070309020205020404" pitchFamily="49" charset="0"/>
              </a:rPr>
              <a:t>NORTH</a:t>
            </a:r>
            <a:r>
              <a:rPr lang="en-US" altLang="en-US" smtClean="0"/>
              <a:t>)</a:t>
            </a:r>
          </a:p>
          <a:p>
            <a:pPr lvl="1" eaLnBrk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StarSymbol" charset="0"/>
              <a:buNone/>
            </a:pPr>
            <a:endParaRPr lang="en-US" altLang="en-US" sz="2800" i="1" smtClean="0"/>
          </a:p>
          <a:p>
            <a:pPr eaLnBrk="1"/>
            <a:endParaRPr lang="en-US" altLang="en-US" sz="28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JList()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ro-RO" altLang="en-US" sz="2400" smtClean="0"/>
              <a:t>Construieşte un</a:t>
            </a:r>
            <a:r>
              <a:rPr lang="en-US" altLang="en-US" sz="2400" smtClean="0"/>
              <a:t> JList</a:t>
            </a:r>
            <a:r>
              <a:rPr lang="ro-RO" altLang="en-US" sz="2400" smtClean="0"/>
              <a:t> gol</a:t>
            </a:r>
            <a:r>
              <a:rPr lang="en-US" altLang="en-US" sz="2400" smtClean="0"/>
              <a:t>.</a:t>
            </a:r>
            <a:r>
              <a:rPr lang="en-US" altLang="en-US" sz="2400" smtClean="0">
                <a:latin typeface="Courier New" panose="02070309020205020404" pitchFamily="49" charset="0"/>
              </a:rPr>
              <a:t/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JList(ListModel model)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JList(Object[] data)</a:t>
            </a: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JList(Vector data)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/>
              <a:t>Constructs a JList </a:t>
            </a:r>
            <a:r>
              <a:rPr lang="ro-RO" altLang="en-US" sz="2400" smtClean="0"/>
              <a:t>care afişează datele primite</a:t>
            </a:r>
            <a:r>
              <a:rPr lang="en-US" altLang="en-US" sz="2400" smtClean="0"/>
              <a:t>.</a:t>
            </a:r>
          </a:p>
          <a:p>
            <a:pPr eaLnBrk="1"/>
            <a:endParaRPr lang="en-US" altLang="en-US" sz="2400" smtClean="0">
              <a:latin typeface="Courier New" panose="02070309020205020404" pitchFamily="49" charset="0"/>
            </a:endParaRPr>
          </a:p>
          <a:p>
            <a:pPr eaLnBrk="1"/>
            <a:r>
              <a:rPr lang="en-US" altLang="en-US" sz="2400" smtClean="0">
                <a:latin typeface="Courier New" panose="02070309020205020404" pitchFamily="49" charset="0"/>
              </a:rPr>
              <a:t>public void addListSelectionListener(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  ListSelectionListener lsl)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ro-RO" altLang="en-US" sz="2400" smtClean="0"/>
              <a:t>Pentru răspuns la evenimente legate de liste</a:t>
            </a:r>
            <a:r>
              <a:rPr lang="en-US" altLang="en-US" sz="2400" smtClean="0"/>
              <a:t>.</a:t>
            </a:r>
          </a:p>
        </p:txBody>
      </p:sp>
      <p:pic>
        <p:nvPicPr>
          <p:cNvPr id="123907" name="Picture 3" descr="cg-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113" y="1036638"/>
            <a:ext cx="3044825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9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JList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JList</a:t>
            </a:r>
            <a:r>
              <a:rPr lang="en-US" altLang="en-US" smtClean="0"/>
              <a:t>: </a:t>
            </a:r>
            <a:r>
              <a:rPr lang="ro-RO" altLang="en-US" smtClean="0"/>
              <a:t>alte metode</a:t>
            </a:r>
            <a:endParaRPr lang="en-US" altLang="en-US" smtClean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clearSelection()</a:t>
            </a:r>
          </a:p>
          <a:p>
            <a:pPr eaLnBrk="1">
              <a:lnSpc>
                <a:spcPct val="83000"/>
              </a:lnSpc>
            </a:pPr>
            <a:endParaRPr lang="en-US" altLang="en-US" sz="2800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int getSelectedIndex()</a:t>
            </a: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int[] getSelectedIndices()</a:t>
            </a:r>
          </a:p>
          <a:p>
            <a:pPr eaLnBrk="1">
              <a:lnSpc>
                <a:spcPct val="83000"/>
              </a:lnSpc>
            </a:pPr>
            <a:endParaRPr lang="en-US" altLang="en-US" sz="2800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Object getSelectedValue()</a:t>
            </a: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Object[] getSelectedValues()</a:t>
            </a:r>
          </a:p>
          <a:p>
            <a:pPr eaLnBrk="1">
              <a:lnSpc>
                <a:spcPct val="83000"/>
              </a:lnSpc>
            </a:pPr>
            <a:endParaRPr lang="en-US" altLang="en-US" sz="2800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setSelectedIndex(int index)</a:t>
            </a:r>
          </a:p>
          <a:p>
            <a:pPr eaLnBrk="1">
              <a:lnSpc>
                <a:spcPct val="83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public void setSelectedIndices(int[] indices)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endParaRPr lang="en-US" altLang="en-US" sz="2800" smtClean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06513" y="960438"/>
            <a:ext cx="8567737" cy="6299200"/>
          </a:xfrm>
        </p:spPr>
        <p:txBody>
          <a:bodyPr/>
          <a:lstStyle/>
          <a:p>
            <a:pPr eaLnBrk="1">
              <a:lnSpc>
                <a:spcPct val="90000"/>
              </a:lnSpc>
              <a:buFont typeface="StarSymbol" charset="0"/>
              <a:buNone/>
            </a:pPr>
            <a:endParaRPr lang="en-US" altLang="en-US" sz="2000" i="1" smtClean="0"/>
          </a:p>
          <a:p>
            <a:pPr eaLnBrk="1">
              <a:lnSpc>
                <a:spcPct val="90000"/>
              </a:lnSpc>
            </a:pPr>
            <a:endParaRPr lang="ro-RO" altLang="en-US" sz="2000" smtClean="0">
              <a:latin typeface="Times New Roman" panose="02020603050405020304" pitchFamily="18" charset="0"/>
            </a:endParaRPr>
          </a:p>
          <a:p>
            <a:pPr eaLnBrk="1">
              <a:lnSpc>
                <a:spcPct val="90000"/>
              </a:lnSpc>
            </a:pPr>
            <a:endParaRPr lang="ro-RO" altLang="en-US" sz="2000" smtClean="0">
              <a:latin typeface="Times New Roman" panose="02020603050405020304" pitchFamily="18" charset="0"/>
            </a:endParaRPr>
          </a:p>
          <a:p>
            <a:pPr eaLnBrk="1">
              <a:lnSpc>
                <a:spcPct val="90000"/>
              </a:lnSpc>
            </a:pPr>
            <a:endParaRPr lang="en-US" altLang="en-US" sz="2000" smtClean="0">
              <a:latin typeface="Times New Roman" panose="02020603050405020304" pitchFamily="18" charset="0"/>
            </a:endParaRPr>
          </a:p>
          <a:p>
            <a:pPr eaLnBrk="1">
              <a:lnSpc>
                <a:spcPct val="9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JDialog(Dialog parent, boolean modal)</a:t>
            </a:r>
          </a:p>
          <a:p>
            <a:pPr eaLnBrk="1">
              <a:lnSpc>
                <a:spcPct val="9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JDialog(Frame parent, String title,</a:t>
            </a:r>
            <a:br>
              <a:rPr lang="en-US" altLang="en-US" sz="2000" smtClean="0">
                <a:latin typeface="Courier New" panose="02070309020205020404" pitchFamily="49" charset="0"/>
              </a:rPr>
            </a:br>
            <a:r>
              <a:rPr lang="en-US" altLang="en-US" sz="2000" smtClean="0">
                <a:latin typeface="Courier New" panose="02070309020205020404" pitchFamily="49" charset="0"/>
              </a:rPr>
              <a:t>  boolean modal)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endParaRPr lang="en-US" altLang="en-US" sz="2000" smtClean="0"/>
          </a:p>
          <a:p>
            <a:pPr eaLnBrk="1">
              <a:lnSpc>
                <a:spcPct val="90000"/>
              </a:lnSpc>
            </a:pPr>
            <a:endParaRPr lang="en-US" altLang="en-US" sz="2000" smtClean="0"/>
          </a:p>
          <a:p>
            <a:pPr eaLnBrk="1">
              <a:lnSpc>
                <a:spcPct val="9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public void show()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endParaRPr lang="en-US" altLang="en-US" sz="2000" smtClean="0"/>
          </a:p>
          <a:p>
            <a:pPr eaLnBrk="1">
              <a:lnSpc>
                <a:spcPct val="90000"/>
              </a:lnSpc>
            </a:pPr>
            <a:endParaRPr lang="en-US" altLang="en-US" sz="2000" smtClean="0"/>
          </a:p>
          <a:p>
            <a:pPr eaLnBrk="1">
              <a:lnSpc>
                <a:spcPct val="90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JDialog</a:t>
            </a:r>
            <a:r>
              <a:rPr lang="en-US" altLang="en-US" sz="2000" smtClean="0"/>
              <a:t> </a:t>
            </a:r>
            <a:r>
              <a:rPr lang="ro-RO" altLang="en-US" sz="2000" smtClean="0"/>
              <a:t>posedă cele mai multe metode</a:t>
            </a:r>
            <a:r>
              <a:rPr lang="en-US" altLang="en-US" sz="2000" smtClean="0"/>
              <a:t> </a:t>
            </a:r>
            <a:r>
              <a:rPr lang="en-US" altLang="en-US" sz="2000" smtClean="0">
                <a:latin typeface="Courier New" panose="02070309020205020404" pitchFamily="49" charset="0"/>
              </a:rPr>
              <a:t>JFrame</a:t>
            </a:r>
            <a:r>
              <a:rPr lang="en-US" altLang="en-US" sz="2000" smtClean="0"/>
              <a:t> : </a:t>
            </a:r>
            <a:r>
              <a:rPr lang="en-US" altLang="en-US" sz="2000" smtClean="0">
                <a:latin typeface="Courier New" panose="02070309020205020404" pitchFamily="49" charset="0"/>
              </a:rPr>
              <a:t>getContentPane()</a:t>
            </a:r>
            <a:r>
              <a:rPr lang="en-US" altLang="en-US" sz="2000" smtClean="0"/>
              <a:t>, </a:t>
            </a:r>
            <a:r>
              <a:rPr lang="en-US" altLang="en-US" sz="2000" smtClean="0">
                <a:latin typeface="Courier New" panose="02070309020205020404" pitchFamily="49" charset="0"/>
              </a:rPr>
              <a:t>setJMenuBar(JMenuBar)</a:t>
            </a:r>
            <a:r>
              <a:rPr lang="en-US" altLang="en-US" sz="2000" smtClean="0"/>
              <a:t>, </a:t>
            </a:r>
            <a:r>
              <a:rPr lang="en-US" altLang="en-US" sz="2000" smtClean="0">
                <a:latin typeface="Courier New" panose="02070309020205020404" pitchFamily="49" charset="0"/>
              </a:rPr>
              <a:t>setResizable(boolean)</a:t>
            </a:r>
            <a:r>
              <a:rPr lang="en-US" altLang="en-US" sz="2000" smtClean="0"/>
              <a:t>, </a:t>
            </a:r>
            <a:r>
              <a:rPr lang="en-US" altLang="en-US" sz="2000" smtClean="0">
                <a:latin typeface="Courier New" panose="02070309020205020404" pitchFamily="49" charset="0"/>
              </a:rPr>
              <a:t>setTitle(String)</a:t>
            </a:r>
            <a:r>
              <a:rPr lang="en-US" altLang="en-US" sz="2000" smtClean="0"/>
              <a:t>, ...</a:t>
            </a:r>
          </a:p>
        </p:txBody>
      </p:sp>
      <p:pic>
        <p:nvPicPr>
          <p:cNvPr id="125955" name="Picture 3" descr="DialogDe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3" y="5489575"/>
            <a:ext cx="3611562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JDialog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4513" y="3175"/>
            <a:ext cx="9074150" cy="719138"/>
          </a:xfrm>
        </p:spPr>
        <p:txBody>
          <a:bodyPr>
            <a:spAutoFit/>
          </a:bodyPr>
          <a:lstStyle/>
          <a:p>
            <a:pPr eaLnBrk="1"/>
            <a:r>
              <a:rPr lang="en-US" altLang="zh-CN" sz="4000" smtClean="0">
                <a:ea typeface="SimSun" panose="02010600030101010101" pitchFamily="2" charset="-122"/>
              </a:rPr>
              <a:t>Layout Management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6550" y="1176338"/>
            <a:ext cx="9575800" cy="5527675"/>
          </a:xfrm>
        </p:spPr>
        <p:txBody>
          <a:bodyPr>
            <a:spAutoFit/>
          </a:bodyPr>
          <a:lstStyle/>
          <a:p>
            <a:pPr eaLnBrk="1"/>
            <a:r>
              <a:rPr lang="ro-RO" altLang="zh-CN" sz="2200" smtClean="0"/>
              <a:t>Exemple</a:t>
            </a:r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ro-RO" altLang="zh-CN" sz="2200" smtClean="0"/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endParaRPr lang="en-US" altLang="zh-CN" sz="2200" smtClean="0">
              <a:ea typeface="SimSun" panose="02010600030101010101" pitchFamily="2" charset="-122"/>
            </a:endParaRPr>
          </a:p>
          <a:p>
            <a:pPr eaLnBrk="1"/>
            <a:r>
              <a:rPr lang="ro-RO" altLang="zh-CN" sz="2200" smtClean="0"/>
              <a:t>Toate componentele dintr-un container sunt poziţionate de un </a:t>
            </a:r>
            <a:r>
              <a:rPr lang="en-US" altLang="zh-CN" sz="2200" i="1" smtClean="0">
                <a:ea typeface="SimSun" panose="02010600030101010101" pitchFamily="2" charset="-122"/>
              </a:rPr>
              <a:t>layout manager</a:t>
            </a:r>
            <a:r>
              <a:rPr lang="en-US" altLang="zh-CN" sz="2200" smtClean="0">
                <a:ea typeface="SimSun" panose="02010600030101010101" pitchFamily="2" charset="-122"/>
              </a:rPr>
              <a:t>. </a:t>
            </a:r>
            <a:r>
              <a:rPr lang="ro-RO" altLang="zh-CN" sz="2200" smtClean="0"/>
              <a:t>În exemplul anterior s-a utilizat</a:t>
            </a:r>
            <a:r>
              <a:rPr lang="en-US" altLang="zh-CN" sz="2200" smtClean="0">
                <a:ea typeface="SimSun" panose="02010600030101010101" pitchFamily="2" charset="-122"/>
              </a:rPr>
              <a:t> </a:t>
            </a:r>
            <a:r>
              <a:rPr lang="en-US" altLang="zh-CN" sz="2200" i="1" smtClean="0">
                <a:ea typeface="SimSun" panose="02010600030101010101" pitchFamily="2" charset="-122"/>
              </a:rPr>
              <a:t>flow layout manager</a:t>
            </a:r>
            <a:r>
              <a:rPr lang="en-US" altLang="zh-CN" sz="2200" smtClean="0">
                <a:ea typeface="SimSun" panose="02010600030101010101" pitchFamily="2" charset="-122"/>
              </a:rPr>
              <a:t>, </a:t>
            </a:r>
            <a:r>
              <a:rPr lang="ro-RO" altLang="zh-CN" sz="2200" smtClean="0"/>
              <a:t>care este managerul implicit de componente a unui panel</a:t>
            </a:r>
            <a:r>
              <a:rPr lang="en-US" altLang="zh-CN" sz="2200" smtClean="0">
                <a:ea typeface="SimSun" panose="02010600030101010101" pitchFamily="2" charset="-122"/>
              </a:rPr>
              <a:t>.</a:t>
            </a:r>
          </a:p>
          <a:p>
            <a:pPr lvl="1" eaLnBrk="1">
              <a:lnSpc>
                <a:spcPct val="90000"/>
              </a:lnSpc>
              <a:spcBef>
                <a:spcPct val="25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The default manager lines the components horizontally until there is no more room and then start a new row of components</a:t>
            </a:r>
          </a:p>
          <a:p>
            <a:pPr lvl="1" eaLnBrk="1">
              <a:lnSpc>
                <a:spcPct val="90000"/>
              </a:lnSpc>
              <a:spcBef>
                <a:spcPct val="25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After resizing the container, the layout manager reflows the components automatically</a:t>
            </a:r>
          </a:p>
          <a:p>
            <a:pPr lvl="1" eaLnBrk="1">
              <a:lnSpc>
                <a:spcPct val="90000"/>
              </a:lnSpc>
              <a:spcBef>
                <a:spcPct val="25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The default is to center the components in each row. You can choose aligning them to the left or to the right of the container.</a:t>
            </a:r>
          </a:p>
          <a:p>
            <a:pPr lvl="2" eaLnBrk="1">
              <a:buFont typeface="Wingdings" panose="05000000000000000000" pitchFamily="2" charset="2"/>
              <a:buNone/>
            </a:pPr>
            <a:r>
              <a:rPr lang="en-US" altLang="zh-CN" sz="1800" smtClean="0">
                <a:latin typeface="Courier New" panose="02070309020205020404" pitchFamily="49" charset="0"/>
                <a:ea typeface="SimSun" panose="02010600030101010101" pitchFamily="2" charset="-122"/>
              </a:rPr>
              <a:t>panel.setLayout(new FlowLayout(FlowLayout.LEFT));</a:t>
            </a:r>
          </a:p>
          <a:p>
            <a:pPr eaLnBrk="1"/>
            <a:r>
              <a:rPr lang="en-US" altLang="zh-CN" sz="2200" smtClean="0">
                <a:ea typeface="SimSun" panose="02010600030101010101" pitchFamily="2" charset="-122"/>
              </a:rPr>
              <a:t>Other managers: see </a:t>
            </a:r>
            <a:r>
              <a:rPr lang="en-US" altLang="zh-CN" sz="2000" smtClean="0">
                <a:ea typeface="SimSun" panose="02010600030101010101" pitchFamily="2" charset="-122"/>
                <a:hlinkClick r:id="rId2"/>
              </a:rPr>
              <a:t>http://java.sun.com/docs/books/tutorial/uiswing/layout/visual.html</a:t>
            </a:r>
            <a:r>
              <a:rPr lang="en-US" altLang="zh-CN" sz="2000" smtClean="0">
                <a:ea typeface="SimSun" panose="02010600030101010101" pitchFamily="2" charset="-122"/>
              </a:rPr>
              <a:t>.</a:t>
            </a:r>
          </a:p>
        </p:txBody>
      </p:sp>
      <p:grpSp>
        <p:nvGrpSpPr>
          <p:cNvPr id="126980" name="Group 11"/>
          <p:cNvGrpSpPr>
            <a:grpSpLocks/>
          </p:cNvGrpSpPr>
          <p:nvPr/>
        </p:nvGrpSpPr>
        <p:grpSpPr bwMode="auto">
          <a:xfrm>
            <a:off x="1344613" y="1620838"/>
            <a:ext cx="7056437" cy="1487487"/>
            <a:chOff x="624" y="926"/>
            <a:chExt cx="4032" cy="850"/>
          </a:xfrm>
        </p:grpSpPr>
        <p:pic>
          <p:nvPicPr>
            <p:cNvPr id="126981" name="Picture 8" descr="flow1-358x6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1114"/>
              <a:ext cx="2352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982" name="Picture 10" descr="flow2-165x12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926"/>
              <a:ext cx="1104" cy="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0713" y="0"/>
            <a:ext cx="9074150" cy="574675"/>
          </a:xfrm>
        </p:spPr>
        <p:txBody>
          <a:bodyPr>
            <a:spAutoFit/>
          </a:bodyPr>
          <a:lstStyle/>
          <a:p>
            <a:pPr eaLnBrk="1"/>
            <a:r>
              <a:rPr lang="en-US" altLang="zh-CN" sz="3200" smtClean="0">
                <a:ea typeface="SimSun" panose="02010600030101010101" pitchFamily="2" charset="-122"/>
              </a:rPr>
              <a:t>Layout Management — Using Panel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36550" y="1427163"/>
            <a:ext cx="5291138" cy="5210175"/>
          </a:xfrm>
        </p:spPr>
        <p:txBody>
          <a:bodyPr>
            <a:spAutoFit/>
          </a:bodyPr>
          <a:lstStyle/>
          <a:p>
            <a:pPr eaLnBrk="1"/>
            <a:r>
              <a:rPr lang="en-US" altLang="zh-CN" sz="2200" smtClean="0">
                <a:ea typeface="SimSun" panose="02010600030101010101" pitchFamily="2" charset="-122"/>
              </a:rPr>
              <a:t>Potential problem with BorderLayout:</a:t>
            </a:r>
          </a:p>
          <a:p>
            <a:pPr lvl="1" eaLnBrk="1">
              <a:spcBef>
                <a:spcPct val="30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The button is stretched to fill the entire southern region of the frame</a:t>
            </a:r>
          </a:p>
          <a:p>
            <a:pPr lvl="1" eaLnBrk="1">
              <a:spcBef>
                <a:spcPct val="30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If you add another button to the southern region, it would just displace the first button</a:t>
            </a:r>
          </a:p>
          <a:p>
            <a:pPr eaLnBrk="1">
              <a:spcBef>
                <a:spcPct val="80000"/>
              </a:spcBef>
            </a:pPr>
            <a:r>
              <a:rPr lang="en-US" altLang="zh-CN" sz="2200" smtClean="0">
                <a:ea typeface="SimSun" panose="02010600030101010101" pitchFamily="2" charset="-122"/>
              </a:rPr>
              <a:t>Solution – use additional </a:t>
            </a:r>
            <a:r>
              <a:rPr lang="en-US" altLang="zh-CN" sz="2200" i="1" smtClean="0">
                <a:ea typeface="SimSun" panose="02010600030101010101" pitchFamily="2" charset="-122"/>
              </a:rPr>
              <a:t>panels</a:t>
            </a:r>
            <a:r>
              <a:rPr lang="en-US" altLang="zh-CN" sz="2200" smtClean="0">
                <a:ea typeface="SimSun" panose="02010600030101010101" pitchFamily="2" charset="-122"/>
              </a:rPr>
              <a:t>.</a:t>
            </a:r>
          </a:p>
          <a:p>
            <a:pPr lvl="1" eaLnBrk="1">
              <a:spcBef>
                <a:spcPct val="30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It acts as containers for interface elements and can themselves be arranged inside a larger panel </a:t>
            </a:r>
          </a:p>
          <a:p>
            <a:pPr lvl="1" eaLnBrk="1">
              <a:spcBef>
                <a:spcPct val="30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Use flow layout by default</a:t>
            </a:r>
          </a:p>
          <a:p>
            <a:pPr lvl="1" eaLnBrk="1">
              <a:spcBef>
                <a:spcPct val="30000"/>
              </a:spcBef>
            </a:pPr>
            <a:r>
              <a:rPr lang="en-US" altLang="zh-CN" sz="2000" smtClean="0">
                <a:ea typeface="SimSun" panose="02010600030101010101" pitchFamily="2" charset="-122"/>
              </a:rPr>
              <a:t>To fix the problem of BorderLayout</a:t>
            </a:r>
          </a:p>
          <a:p>
            <a:pPr lvl="2"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1800" smtClean="0">
                <a:ea typeface="SimSun" panose="02010600030101010101" pitchFamily="2" charset="-122"/>
              </a:rPr>
              <a:t>1. Create a panel</a:t>
            </a:r>
          </a:p>
          <a:p>
            <a:pPr lvl="2"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1800" smtClean="0">
                <a:ea typeface="SimSun" panose="02010600030101010101" pitchFamily="2" charset="-122"/>
              </a:rPr>
              <a:t>2. Add components to the panel</a:t>
            </a:r>
          </a:p>
          <a:p>
            <a:pPr lvl="2" eaLnBrk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1800" smtClean="0">
                <a:ea typeface="SimSun" panose="02010600030101010101" pitchFamily="2" charset="-122"/>
              </a:rPr>
              <a:t>3. Add the panel to the larger container</a:t>
            </a:r>
            <a:endParaRPr lang="en-US" altLang="zh-CN" sz="1800" smtClean="0"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pic>
        <p:nvPicPr>
          <p:cNvPr id="128004" name="Picture 13" descr="border_withoutPanel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48375" y="1511300"/>
            <a:ext cx="3041650" cy="2012950"/>
          </a:xfrm>
        </p:spPr>
      </p:pic>
      <p:grpSp>
        <p:nvGrpSpPr>
          <p:cNvPr id="128005" name="Group 10"/>
          <p:cNvGrpSpPr>
            <a:grpSpLocks/>
          </p:cNvGrpSpPr>
          <p:nvPr/>
        </p:nvGrpSpPr>
        <p:grpSpPr bwMode="auto">
          <a:xfrm>
            <a:off x="5461000" y="6037263"/>
            <a:ext cx="4619625" cy="1270000"/>
            <a:chOff x="3120" y="3312"/>
            <a:chExt cx="2544" cy="576"/>
          </a:xfrm>
        </p:grpSpPr>
        <p:sp>
          <p:nvSpPr>
            <p:cNvPr id="38918" name="Rectangle 6"/>
            <p:cNvSpPr>
              <a:spLocks noChangeArrowheads="1"/>
            </p:cNvSpPr>
            <p:nvPr/>
          </p:nvSpPr>
          <p:spPr bwMode="auto">
            <a:xfrm>
              <a:off x="3120" y="3323"/>
              <a:ext cx="2544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rIns="0" anchor="ctr" anchorCtr="1">
              <a:spAutoFit/>
            </a:bodyPr>
            <a:lstStyle/>
            <a:p>
              <a:pPr marL="377979" indent="-377979" eaLnBrk="1" hangingPunct="1">
                <a:lnSpc>
                  <a:spcPct val="80000"/>
                </a:lnSpc>
                <a:spcBef>
                  <a:spcPct val="50000"/>
                </a:spcBef>
                <a:buClr>
                  <a:schemeClr val="hlink"/>
                </a:buClr>
                <a:buSzPct val="75000"/>
                <a:defRPr/>
              </a:pPr>
              <a:r>
                <a:rPr lang="en-US" altLang="zh-CN" sz="1500" dirty="0" err="1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JPanel</a:t>
              </a:r>
              <a:r>
                <a:rPr lang="en-US" altLang="zh-CN" sz="1500" dirty="0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 p = new </a:t>
              </a:r>
              <a:r>
                <a:rPr lang="en-US" altLang="zh-CN" sz="1500" dirty="0" err="1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JPanel</a:t>
              </a:r>
              <a:r>
                <a:rPr lang="en-US" altLang="zh-CN" sz="1500" dirty="0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();</a:t>
              </a:r>
            </a:p>
            <a:p>
              <a:pPr marL="377979" indent="-377979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75000"/>
                <a:defRPr/>
              </a:pPr>
              <a:r>
                <a:rPr lang="en-US" altLang="zh-CN" sz="1500" dirty="0" err="1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p.add</a:t>
              </a:r>
              <a:r>
                <a:rPr lang="en-US" altLang="zh-CN" sz="1500" dirty="0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(button1);</a:t>
              </a:r>
            </a:p>
            <a:p>
              <a:pPr marL="377979" indent="-377979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75000"/>
                <a:defRPr/>
              </a:pPr>
              <a:r>
                <a:rPr lang="en-US" altLang="zh-CN" sz="1500" dirty="0" err="1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p.add</a:t>
              </a:r>
              <a:r>
                <a:rPr lang="en-US" altLang="zh-CN" sz="1500" dirty="0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(button2);</a:t>
              </a:r>
            </a:p>
            <a:p>
              <a:pPr marL="377979" indent="-377979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75000"/>
                <a:defRPr/>
              </a:pPr>
              <a:r>
                <a:rPr lang="en-US" altLang="zh-CN" sz="1500" dirty="0" err="1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P.add</a:t>
              </a:r>
              <a:r>
                <a:rPr lang="en-US" altLang="zh-CN" sz="1500" dirty="0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(button3);</a:t>
              </a:r>
            </a:p>
            <a:p>
              <a:pPr marL="377979" indent="-377979" eaLnBrk="1" hangingPunct="1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75000"/>
                <a:defRPr/>
              </a:pPr>
              <a:r>
                <a:rPr lang="en-US" altLang="zh-CN" sz="1500" dirty="0" err="1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frame.add</a:t>
              </a:r>
              <a:r>
                <a:rPr lang="en-US" altLang="zh-CN" sz="1500" dirty="0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(panel, </a:t>
              </a:r>
              <a:r>
                <a:rPr lang="en-US" altLang="zh-CN" sz="1500" dirty="0" err="1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BorderLayout.SOUTH</a:t>
              </a:r>
              <a:r>
                <a:rPr lang="en-US" altLang="zh-CN" sz="1500" dirty="0">
                  <a:effectLst>
                    <a:outerShdw blurRad="38100" dist="38100" dir="2700000" algn="tl">
                      <a:srgbClr val="010199"/>
                    </a:outerShdw>
                  </a:effectLst>
                  <a:latin typeface="Courier New" pitchFamily="49" charset="0"/>
                  <a:ea typeface="宋体" pitchFamily="2" charset="-122"/>
                </a:rPr>
                <a:t>);</a:t>
              </a:r>
            </a:p>
          </p:txBody>
        </p:sp>
        <p:sp>
          <p:nvSpPr>
            <p:cNvPr id="128008" name="Rectangle 9"/>
            <p:cNvSpPr>
              <a:spLocks noChangeArrowheads="1"/>
            </p:cNvSpPr>
            <p:nvPr/>
          </p:nvSpPr>
          <p:spPr bwMode="auto">
            <a:xfrm>
              <a:off x="3120" y="3312"/>
              <a:ext cx="2496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</p:grpSp>
      <p:pic>
        <p:nvPicPr>
          <p:cNvPr id="128006" name="Picture 16" descr="border_withPanel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0913" y="3863975"/>
            <a:ext cx="3041650" cy="20129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 descr="26allLayou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679575"/>
            <a:ext cx="8653462" cy="540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1411288" y="6384925"/>
            <a:ext cx="480536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>
            <a:spAutoFit/>
          </a:bodyPr>
          <a:lstStyle>
            <a:lvl1pPr defTabSz="100806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0000"/>
              </a:lnSpc>
            </a:pPr>
            <a:endParaRPr lang="en-US" altLang="en-US" sz="2400" smtClean="0"/>
          </a:p>
          <a:p>
            <a:pPr eaLnBrk="1">
              <a:buFont typeface="StarSymbol" charset="0"/>
              <a:buNone/>
            </a:pPr>
            <a:endParaRPr lang="en-US" altLang="en-US" smtClean="0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Container</a:t>
            </a:r>
            <a:r>
              <a:rPr lang="ro-RO" altLang="en-US" smtClean="0"/>
              <a:t>e</a:t>
            </a:r>
            <a:r>
              <a:rPr lang="en-US" altLang="en-US" smtClean="0"/>
              <a:t> </a:t>
            </a:r>
            <a:r>
              <a:rPr lang="ro-RO" altLang="en-US" smtClean="0"/>
              <a:t>cu</a:t>
            </a:r>
            <a:r>
              <a:rPr lang="en-US" altLang="en-US" smtClean="0"/>
              <a:t> layout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65088"/>
            <a:ext cx="8966200" cy="654050"/>
          </a:xfrm>
        </p:spPr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Container</a:t>
            </a:r>
            <a:r>
              <a:rPr lang="ro-RO" altLang="en-US" smtClean="0">
                <a:latin typeface="Times New Roman" panose="02020603050405020304" pitchFamily="18" charset="0"/>
              </a:rPr>
              <a:t>e: JPanel</a:t>
            </a:r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73000"/>
              </a:lnSpc>
              <a:buFont typeface="StarSymbol" charset="0"/>
              <a:buNone/>
            </a:pPr>
            <a:r>
              <a:rPr lang="en-US" altLang="en-US" sz="2400" b="1" smtClean="0"/>
              <a:t>container</a:t>
            </a:r>
            <a:r>
              <a:rPr lang="en-US" altLang="en-US" sz="2400" smtClean="0"/>
              <a:t>:</a:t>
            </a:r>
            <a:r>
              <a:rPr lang="en-US" altLang="en-US" sz="2400" b="1" smtClean="0"/>
              <a:t> </a:t>
            </a:r>
            <a:r>
              <a:rPr lang="ro-RO" altLang="en-US" sz="2400" i="1" smtClean="0"/>
              <a:t>un obiect care poate păstra componente</a:t>
            </a:r>
            <a:r>
              <a:rPr lang="en-US" altLang="en-US" sz="2400" i="1" smtClean="0"/>
              <a:t>; </a:t>
            </a:r>
            <a:endParaRPr lang="en-US" altLang="en-US" sz="1000" smtClean="0"/>
          </a:p>
          <a:p>
            <a:pPr eaLnBrk="1">
              <a:lnSpc>
                <a:spcPct val="73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void add(Component comp)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en-US" altLang="en-US" sz="2400" smtClean="0">
                <a:latin typeface="Courier New" panose="02070309020205020404" pitchFamily="49" charset="0"/>
              </a:rPr>
              <a:t>public void add(Component comp, Object info)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  <a:p>
            <a:pPr eaLnBrk="1">
              <a:lnSpc>
                <a:spcPct val="73000"/>
              </a:lnSpc>
            </a:pPr>
            <a:endParaRPr lang="en-US" altLang="en-US" sz="1200" smtClean="0"/>
          </a:p>
          <a:p>
            <a:pPr eaLnBrk="1">
              <a:lnSpc>
                <a:spcPct val="73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void remove(Component comp)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endParaRPr lang="en-US" altLang="en-US" sz="2400" smtClean="0">
              <a:latin typeface="Courier New" panose="02070309020205020404" pitchFamily="49" charset="0"/>
            </a:endParaRPr>
          </a:p>
          <a:p>
            <a:pPr eaLnBrk="1">
              <a:lnSpc>
                <a:spcPct val="73000"/>
              </a:lnSpc>
            </a:pPr>
            <a:endParaRPr lang="en-US" altLang="en-US" sz="1200" smtClean="0">
              <a:latin typeface="Courier New" panose="02070309020205020404" pitchFamily="49" charset="0"/>
            </a:endParaRPr>
          </a:p>
          <a:p>
            <a:pPr eaLnBrk="1">
              <a:lnSpc>
                <a:spcPct val="73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void setLayout(LayoutManager mgr)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  <a:p>
            <a:pPr eaLnBrk="1">
              <a:lnSpc>
                <a:spcPct val="73000"/>
              </a:lnSpc>
            </a:pPr>
            <a:endParaRPr lang="en-US" altLang="en-US" sz="1200" smtClean="0"/>
          </a:p>
          <a:p>
            <a:pPr eaLnBrk="1">
              <a:lnSpc>
                <a:spcPct val="73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void validate()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r>
              <a:rPr lang="ro-RO" altLang="en-US" sz="2400" smtClean="0"/>
              <a:t>Se apelează în caz de modificare conţinut container care este deja afişat pe ecran</a:t>
            </a:r>
            <a:r>
              <a:rPr lang="en-US" altLang="en-US" sz="2400" smtClean="0"/>
              <a:t>.</a:t>
            </a:r>
            <a:endParaRPr lang="ro-RO" altLang="en-US" sz="2400" smtClean="0"/>
          </a:p>
          <a:p>
            <a:pPr eaLnBrk="1">
              <a:lnSpc>
                <a:spcPct val="73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JPanel()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endParaRPr lang="en-US" altLang="en-US" sz="2400" smtClean="0"/>
          </a:p>
          <a:p>
            <a:pPr eaLnBrk="1">
              <a:lnSpc>
                <a:spcPct val="73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public JPanel(LayoutManager mgr)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ro-RO" altLang="en-US" smtClean="0"/>
              <a:t>Dimensionare componente</a:t>
            </a:r>
            <a:endParaRPr lang="en-US" altLang="en-US" smtClean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lang="en-US" altLang="en-US" smtClean="0"/>
          </a:p>
          <a:p>
            <a:pPr eaLnBrk="1">
              <a:buFont typeface="StarSymbol" charset="0"/>
              <a:buNone/>
            </a:pPr>
            <a:endParaRPr lang="en-US" altLang="en-US" smtClean="0"/>
          </a:p>
          <a:p>
            <a:pPr eaLnBrk="1">
              <a:buFont typeface="StarSymbol" charset="0"/>
              <a:buNone/>
            </a:pPr>
            <a:r>
              <a:rPr lang="en-US" altLang="en-US" i="1" smtClean="0"/>
              <a:t>Buttons </a:t>
            </a:r>
            <a:r>
              <a:rPr lang="ro-RO" altLang="en-US" i="1" smtClean="0"/>
              <a:t>dimensionate                 Dimensionare automată</a:t>
            </a:r>
            <a:r>
              <a:rPr lang="en-US" altLang="en-US" i="1" smtClean="0"/>
              <a:t>:</a:t>
            </a:r>
            <a:endParaRPr lang="ro-RO" altLang="en-US" i="1" smtClean="0"/>
          </a:p>
          <a:p>
            <a:pPr eaLnBrk="1">
              <a:buFont typeface="StarSymbol" charset="0"/>
              <a:buNone/>
            </a:pPr>
            <a:r>
              <a:rPr lang="ro-RO" altLang="en-US" i="1" smtClean="0"/>
              <a:t>după preferinţă</a:t>
            </a:r>
            <a:r>
              <a:rPr lang="en-US" altLang="en-US" i="1" smtClean="0"/>
              <a:t>:</a:t>
            </a:r>
          </a:p>
        </p:txBody>
      </p:sp>
      <p:pic>
        <p:nvPicPr>
          <p:cNvPr id="131076" name="Picture 4" descr="border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84" b="21649"/>
          <a:stretch>
            <a:fillRect/>
          </a:stretch>
        </p:blipFill>
        <p:spPr bwMode="auto">
          <a:xfrm>
            <a:off x="5124450" y="3359150"/>
            <a:ext cx="36957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77" name="Picture 5" descr="flowlayou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95"/>
          <a:stretch>
            <a:fillRect/>
          </a:stretch>
        </p:blipFill>
        <p:spPr bwMode="auto">
          <a:xfrm>
            <a:off x="168275" y="3527425"/>
            <a:ext cx="2603500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BorderLayout</a:t>
            </a:r>
          </a:p>
        </p:txBody>
      </p:sp>
      <p:pic>
        <p:nvPicPr>
          <p:cNvPr id="132099" name="Picture 3" descr="border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3108325"/>
            <a:ext cx="5461000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public BorderLayout()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endParaRPr lang="en-US" altLang="en-US" sz="2400" smtClean="0"/>
          </a:p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Container panel = new JPanel(new BorderLayout());</a:t>
            </a:r>
          </a:p>
          <a:p>
            <a:pPr eaLnBrk="1">
              <a:lnSpc>
                <a:spcPct val="80000"/>
              </a:lnSpc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panel.add(new JButton("Button 1 (NORTH)", BorderLayout.NORTH);</a:t>
            </a:r>
            <a:endParaRPr lang="en-US" altLang="en-U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FlowLayout</a:t>
            </a:r>
          </a:p>
        </p:txBody>
      </p:sp>
      <p:pic>
        <p:nvPicPr>
          <p:cNvPr id="133123" name="Picture 3" descr="flow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3192463"/>
            <a:ext cx="9348788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90000"/>
              </a:lnSpc>
              <a:buFont typeface="StarSymbol" charset="0"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public FlowLayout()</a:t>
            </a:r>
          </a:p>
          <a:p>
            <a:pPr eaLnBrk="1">
              <a:lnSpc>
                <a:spcPct val="90000"/>
              </a:lnSpc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Container panel = new JPanel(new FlowLayout());</a:t>
            </a:r>
          </a:p>
          <a:p>
            <a:pPr eaLnBrk="1">
              <a:lnSpc>
                <a:spcPct val="90000"/>
              </a:lnSpc>
              <a:buFont typeface="StarSymbol" charset="0"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panel.add(new JButton("Button 1"));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GridLayout</a:t>
            </a:r>
          </a:p>
        </p:txBody>
      </p:sp>
      <p:pic>
        <p:nvPicPr>
          <p:cNvPr id="134147" name="Picture 3" descr="grid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2940050"/>
            <a:ext cx="6553200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StarSymbol" charset="0"/>
              <a:buNone/>
            </a:pPr>
            <a:r>
              <a:rPr lang="en-US" altLang="en-US" sz="2600" smtClean="0">
                <a:latin typeface="Courier New" panose="02070309020205020404" pitchFamily="49" charset="0"/>
              </a:rPr>
              <a:t>public GridLayout(int rows, int columns)</a:t>
            </a:r>
          </a:p>
          <a:p>
            <a:pPr eaLnBrk="1"/>
            <a:endParaRPr lang="en-US" altLang="en-US" sz="2600" smtClean="0"/>
          </a:p>
          <a:p>
            <a:pPr eaLnBrk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>
                <a:latin typeface="Courier New" panose="02070309020205020404" pitchFamily="49" charset="0"/>
              </a:rPr>
              <a:t>BoxLayout</a:t>
            </a:r>
          </a:p>
        </p:txBody>
      </p:sp>
      <p:pic>
        <p:nvPicPr>
          <p:cNvPr id="135171" name="Picture 3" descr="box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4367213"/>
            <a:ext cx="2689225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90000"/>
              </a:lnSpc>
              <a:buFont typeface="StarSymbol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Box.createHorizontalBox()</a:t>
            </a:r>
          </a:p>
          <a:p>
            <a:pPr eaLnBrk="1">
              <a:lnSpc>
                <a:spcPct val="90000"/>
              </a:lnSpc>
              <a:buFont typeface="StarSymbol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Box.createVerticalBox()</a:t>
            </a:r>
            <a:endParaRPr lang="en-US" altLang="en-US" smtClean="0"/>
          </a:p>
          <a:p>
            <a:pPr eaLnBrk="1">
              <a:lnSpc>
                <a:spcPct val="90000"/>
              </a:lnSpc>
            </a:pPr>
            <a:endParaRPr lang="en-US" altLang="en-US" sz="900" smtClean="0"/>
          </a:p>
          <a:p>
            <a:pPr eaLnBrk="1">
              <a:lnSpc>
                <a:spcPct val="90000"/>
              </a:lnSpc>
            </a:pPr>
            <a:r>
              <a:rPr lang="en-US" altLang="en-US" sz="2800" smtClean="0"/>
              <a:t/>
            </a:r>
            <a:br>
              <a:rPr lang="en-US" altLang="en-US" sz="2800" smtClean="0"/>
            </a:br>
            <a:r>
              <a:rPr lang="en-US" altLang="en-US" sz="2800" smtClean="0">
                <a:latin typeface="Courier New" panose="02070309020205020404" pitchFamily="49" charset="0"/>
              </a:rPr>
              <a:t>Box.createHorizontalBox();</a:t>
            </a:r>
            <a:r>
              <a:rPr lang="en-US" altLang="en-US" sz="2800" smtClean="0"/>
              <a:t> </a:t>
            </a:r>
            <a:r>
              <a:rPr lang="ro-RO" altLang="en-US" sz="2800" smtClean="0"/>
              <a:t>sau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Courier New" panose="02070309020205020404" pitchFamily="49" charset="0"/>
              </a:rPr>
              <a:t>Box.createVerticalBox();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ro-RO" altLang="en-US" smtClean="0"/>
              <a:t>Alte tipuri de layout-uri</a:t>
            </a:r>
            <a:endParaRPr lang="en-US" altLang="en-US" smtClean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1079500"/>
            <a:ext cx="9367837" cy="6316663"/>
          </a:xfrm>
        </p:spPr>
        <p:txBody>
          <a:bodyPr/>
          <a:lstStyle/>
          <a:p>
            <a:pPr eaLnBrk="1">
              <a:lnSpc>
                <a:spcPct val="83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CardLayout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  <a:p>
            <a:pPr eaLnBrk="1">
              <a:lnSpc>
                <a:spcPct val="83000"/>
              </a:lnSpc>
            </a:pPr>
            <a:endParaRPr lang="en-US" altLang="en-US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</a:pPr>
            <a:endParaRPr lang="en-US" altLang="en-US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</a:pPr>
            <a:endParaRPr lang="en-US" altLang="en-US" smtClean="0">
              <a:latin typeface="Courier New" panose="02070309020205020404" pitchFamily="49" charset="0"/>
            </a:endParaRPr>
          </a:p>
          <a:p>
            <a:pPr eaLnBrk="1">
              <a:lnSpc>
                <a:spcPct val="83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GridBagLayout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  <a:p>
            <a:pPr eaLnBrk="1">
              <a:lnSpc>
                <a:spcPct val="83000"/>
              </a:lnSpc>
            </a:pPr>
            <a:endParaRPr lang="en-US" altLang="en-US" smtClean="0"/>
          </a:p>
          <a:p>
            <a:pPr eaLnBrk="1">
              <a:lnSpc>
                <a:spcPct val="83000"/>
              </a:lnSpc>
            </a:pPr>
            <a:r>
              <a:rPr lang="en-US" altLang="en-US" smtClean="0"/>
              <a:t>custom / null layout</a:t>
            </a:r>
            <a:br>
              <a:rPr lang="en-US" altLang="en-US" smtClean="0"/>
            </a:br>
            <a:r>
              <a:rPr lang="ro-RO" altLang="en-US" smtClean="0"/>
              <a:t>poziţionare absolută cu</a:t>
            </a:r>
            <a:r>
              <a:rPr lang="en-US" altLang="en-US" smtClean="0"/>
              <a:t> </a:t>
            </a:r>
            <a:r>
              <a:rPr lang="en-US" altLang="en-US" smtClean="0">
                <a:latin typeface="Courier New" panose="02070309020205020404" pitchFamily="49" charset="0"/>
              </a:rPr>
              <a:t>setX/Y</a:t>
            </a:r>
            <a:r>
              <a:rPr lang="en-US" altLang="en-US" smtClean="0"/>
              <a:t> </a:t>
            </a:r>
            <a:r>
              <a:rPr lang="ro-RO" altLang="en-US" smtClean="0"/>
              <a:t>şi</a:t>
            </a:r>
            <a:r>
              <a:rPr lang="en-US" altLang="en-US" smtClean="0"/>
              <a:t> </a:t>
            </a:r>
            <a:r>
              <a:rPr lang="en-US" altLang="en-US" smtClean="0">
                <a:latin typeface="Courier New" panose="02070309020205020404" pitchFamily="49" charset="0"/>
              </a:rPr>
              <a:t>setWidth/Height</a:t>
            </a:r>
          </a:p>
          <a:p>
            <a:pPr eaLnBrk="1">
              <a:lnSpc>
                <a:spcPct val="83000"/>
              </a:lnSpc>
            </a:pPr>
            <a:endParaRPr lang="en-US" altLang="en-US" smtClean="0"/>
          </a:p>
        </p:txBody>
      </p:sp>
      <p:pic>
        <p:nvPicPr>
          <p:cNvPr id="136196" name="Picture 4" descr="card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100" y="1344613"/>
            <a:ext cx="4024313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197" name="Picture 5" descr="gridbaglayou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313" y="5227638"/>
            <a:ext cx="330835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8288" y="1079500"/>
            <a:ext cx="9367837" cy="6316663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ro-RO" altLang="en-US" sz="2800" smtClean="0"/>
              <a:t>Cum se poate crea o GUI complexă, ca cea din imagine</a:t>
            </a:r>
            <a:r>
              <a:rPr lang="en-US" altLang="en-US" sz="2800" smtClean="0"/>
              <a:t>?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mtClean="0"/>
              <a:t>Problem</a:t>
            </a:r>
            <a:r>
              <a:rPr lang="ro-RO" altLang="en-US" smtClean="0"/>
              <a:t>e cu</a:t>
            </a:r>
            <a:r>
              <a:rPr lang="en-US" altLang="en-US" smtClean="0"/>
              <a:t> layout manager</a:t>
            </a:r>
            <a:r>
              <a:rPr lang="ro-RO" altLang="en-US" smtClean="0"/>
              <a:t>ii</a:t>
            </a:r>
            <a:endParaRPr lang="en-US" altLang="en-US" smtClean="0"/>
          </a:p>
        </p:txBody>
      </p:sp>
      <p:pic>
        <p:nvPicPr>
          <p:cNvPr id="137220" name="Picture 4" descr="complex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2519363"/>
            <a:ext cx="6300787" cy="486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 descr="compos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3443288"/>
            <a:ext cx="5216525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ro-RO" altLang="en-US" smtClean="0"/>
              <a:t>Se creează panouri intermediare</a:t>
            </a:r>
            <a:endParaRPr lang="en-US" altLang="en-US" smtClean="0"/>
          </a:p>
          <a:p>
            <a:pPr eaLnBrk="1"/>
            <a:r>
              <a:rPr lang="ro-RO" altLang="en-US" smtClean="0"/>
              <a:t>Fiecare panou are alt </a:t>
            </a:r>
            <a:r>
              <a:rPr lang="en-US" altLang="en-US" smtClean="0"/>
              <a:t>layout, 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3200" smtClean="0"/>
              <a:t>Solu</a:t>
            </a:r>
            <a:r>
              <a:rPr lang="ro-RO" altLang="en-US" sz="3200" smtClean="0"/>
              <a:t>ţie</a:t>
            </a:r>
            <a:r>
              <a:rPr lang="en-US" altLang="en-US" sz="3200" smtClean="0"/>
              <a:t>: </a:t>
            </a:r>
            <a:r>
              <a:rPr lang="ro-RO" altLang="en-US" sz="3200" smtClean="0"/>
              <a:t>combinarea </a:t>
            </a:r>
            <a:r>
              <a:rPr lang="en-US" altLang="en-US" sz="3200" smtClean="0"/>
              <a:t>layout</a:t>
            </a:r>
            <a:r>
              <a:rPr lang="ro-RO" altLang="en-US" sz="3200" smtClean="0"/>
              <a:t>-urilor</a:t>
            </a:r>
            <a:endParaRPr lang="en-US" altLang="en-US" sz="3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l implicit">
  <a:themeElements>
    <a:clrScheme name="Model implic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el implici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odel implici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 implici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3683</Words>
  <Application>Microsoft Office PowerPoint</Application>
  <PresentationFormat>Custom</PresentationFormat>
  <Paragraphs>919</Paragraphs>
  <Slides>96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7" baseType="lpstr">
      <vt:lpstr>SimSun</vt:lpstr>
      <vt:lpstr>SimSun</vt:lpstr>
      <vt:lpstr>Arial</vt:lpstr>
      <vt:lpstr>Arial Black</vt:lpstr>
      <vt:lpstr>Arial Narrow</vt:lpstr>
      <vt:lpstr>Courier New</vt:lpstr>
      <vt:lpstr>StarSymbol</vt:lpstr>
      <vt:lpstr>Times New Roman</vt:lpstr>
      <vt:lpstr>Wingdings</vt:lpstr>
      <vt:lpstr>Model implicit</vt:lpstr>
      <vt:lpstr>Bitmap Image</vt:lpstr>
      <vt:lpstr>Interfete grafice : Cuprins</vt:lpstr>
      <vt:lpstr>Programarea condusa de evenimente</vt:lpstr>
      <vt:lpstr>Programarea condusa de evenimente</vt:lpstr>
      <vt:lpstr>Programarea condusa de evenimente</vt:lpstr>
      <vt:lpstr>Interfete grafice : Cuprins</vt:lpstr>
      <vt:lpstr>Model-View-Controller</vt:lpstr>
      <vt:lpstr>Model-View-Controller</vt:lpstr>
      <vt:lpstr>Interfete grafice : Cuprins</vt:lpstr>
      <vt:lpstr>Ierarhia AWT</vt:lpstr>
      <vt:lpstr>Ierarhia AWT</vt:lpstr>
      <vt:lpstr>Ierarhia AWT</vt:lpstr>
      <vt:lpstr>Interfete grafice : Cuprins</vt:lpstr>
      <vt:lpstr>Proiectarea interfetei</vt:lpstr>
      <vt:lpstr>Interfete grafice : Cuprins</vt:lpstr>
      <vt:lpstr>Crearea componentelor</vt:lpstr>
      <vt:lpstr>Crearea componentelor</vt:lpstr>
      <vt:lpstr>Crearea componentelor</vt:lpstr>
      <vt:lpstr>Interfete grafice : Cuprins</vt:lpstr>
      <vt:lpstr>Alegerea containerelor</vt:lpstr>
      <vt:lpstr>Alegerea containerelor</vt:lpstr>
      <vt:lpstr>Alegerea containerelor</vt:lpstr>
      <vt:lpstr>Interfete grafice : Cuprins</vt:lpstr>
      <vt:lpstr>Alegerea layout managerelor</vt:lpstr>
      <vt:lpstr>Alegerea layout managerelor</vt:lpstr>
      <vt:lpstr>Interfete grafice : Cuprins</vt:lpstr>
      <vt:lpstr>Afisarea interfetei</vt:lpstr>
      <vt:lpstr>Interfete grafice : Cuprins</vt:lpstr>
      <vt:lpstr>Tratarea evenimentelor</vt:lpstr>
      <vt:lpstr>Tratarea evenimentelor</vt:lpstr>
      <vt:lpstr>Tratarea evenimentelor</vt:lpstr>
      <vt:lpstr>Tratarea evenimentelor</vt:lpstr>
      <vt:lpstr>Tratarea evenimentelor</vt:lpstr>
      <vt:lpstr>Tratarea evenimentelor</vt:lpstr>
      <vt:lpstr>Tratarea evenimentelor</vt:lpstr>
      <vt:lpstr>Lecture 8</vt:lpstr>
      <vt:lpstr>Swing</vt:lpstr>
      <vt:lpstr>Swing</vt:lpstr>
      <vt:lpstr>Event-Handling Model (1)</vt:lpstr>
      <vt:lpstr>Event-Handling Model (2)</vt:lpstr>
      <vt:lpstr>To Make an Interactive GUI Program</vt:lpstr>
      <vt:lpstr>Buttons</vt:lpstr>
      <vt:lpstr>Alte componente …</vt:lpstr>
      <vt:lpstr>Supplemental Reading</vt:lpstr>
      <vt:lpstr> JOptionPane</vt:lpstr>
      <vt:lpstr>Tipuri de JOptionPane </vt:lpstr>
      <vt:lpstr>JOptionPane exemplul 1</vt:lpstr>
      <vt:lpstr>JOptionPane exemplul 2</vt:lpstr>
      <vt:lpstr>JOptionPane examplul 3</vt:lpstr>
      <vt:lpstr>Elemente GUI </vt:lpstr>
      <vt:lpstr>Java GUI: AWT şi Swing</vt:lpstr>
      <vt:lpstr>Asemanari  si deosebiri SWING cu AWT </vt:lpstr>
      <vt:lpstr>PowerPoint Presentation</vt:lpstr>
      <vt:lpstr>Ierarhia componentelor Swing</vt:lpstr>
      <vt:lpstr>Metode ce aparţin tuturor componentelor Swing</vt:lpstr>
      <vt:lpstr>Alte metode JComponent</vt:lpstr>
      <vt:lpstr>JFrame</vt:lpstr>
      <vt:lpstr>Folosirea ferestrelor</vt:lpstr>
      <vt:lpstr>Folosirea ferestrelor Ferestre interne</vt:lpstr>
      <vt:lpstr>PowerPoint Presentation</vt:lpstr>
      <vt:lpstr>PowerPoint Presentation</vt:lpstr>
      <vt:lpstr>JButton, JLabel</vt:lpstr>
      <vt:lpstr>JTextField, JTextArea</vt:lpstr>
      <vt:lpstr>JCheckBox, JRadioButton</vt:lpstr>
      <vt:lpstr>ButtonGroup</vt:lpstr>
      <vt:lpstr>Icon/ImageIcon</vt:lpstr>
      <vt:lpstr>JScrollPane</vt:lpstr>
      <vt:lpstr>JFileChooser</vt:lpstr>
      <vt:lpstr>JColorChooser</vt:lpstr>
      <vt:lpstr>JMenuBar</vt:lpstr>
      <vt:lpstr>JMenu</vt:lpstr>
      <vt:lpstr>JMenuItem</vt:lpstr>
      <vt:lpstr>JCheckBoxMenuItem / JRadioButtonMenuItem</vt:lpstr>
      <vt:lpstr>Mnemonice</vt:lpstr>
      <vt:lpstr>Acceleratoare</vt:lpstr>
      <vt:lpstr>JComboBox</vt:lpstr>
      <vt:lpstr>JComboBox: Selected Item</vt:lpstr>
      <vt:lpstr>JComboBox Exemplu</vt:lpstr>
      <vt:lpstr>JTabbedPane</vt:lpstr>
      <vt:lpstr>metode JTabbedPane</vt:lpstr>
      <vt:lpstr>JToolBar</vt:lpstr>
      <vt:lpstr>JToolBar: Utilizare</vt:lpstr>
      <vt:lpstr>JList</vt:lpstr>
      <vt:lpstr>JList: alte metode</vt:lpstr>
      <vt:lpstr>JDialog</vt:lpstr>
      <vt:lpstr>Layout Management</vt:lpstr>
      <vt:lpstr>Layout Management — Using Panel</vt:lpstr>
      <vt:lpstr>Containere cu layout</vt:lpstr>
      <vt:lpstr>Containere: JPanel</vt:lpstr>
      <vt:lpstr>Dimensionare componente</vt:lpstr>
      <vt:lpstr>BorderLayout</vt:lpstr>
      <vt:lpstr>FlowLayout</vt:lpstr>
      <vt:lpstr>GridLayout</vt:lpstr>
      <vt:lpstr>BoxLayout</vt:lpstr>
      <vt:lpstr>Alte tipuri de layout-uri</vt:lpstr>
      <vt:lpstr>Probleme cu layout managerii</vt:lpstr>
      <vt:lpstr>Soluţie: combinarea layout-urilor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Admin</dc:creator>
  <cp:lastModifiedBy>Manuela Panoiu</cp:lastModifiedBy>
  <cp:revision>551</cp:revision>
  <dcterms:modified xsi:type="dcterms:W3CDTF">2020-11-08T07:57:10Z</dcterms:modified>
</cp:coreProperties>
</file>