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36"/>
  </p:notesMasterIdLst>
  <p:sldIdLst>
    <p:sldId id="264" r:id="rId2"/>
    <p:sldId id="258" r:id="rId3"/>
    <p:sldId id="266" r:id="rId4"/>
    <p:sldId id="267" r:id="rId5"/>
    <p:sldId id="269" r:id="rId6"/>
    <p:sldId id="270" r:id="rId7"/>
    <p:sldId id="268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</p:sldIdLst>
  <p:sldSz cx="10080625" cy="7559675"/>
  <p:notesSz cx="7315200" cy="96012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86">
          <p15:clr>
            <a:srgbClr val="A4A3A4"/>
          </p15:clr>
        </p15:guide>
        <p15:guide id="2" pos="209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620" y="90"/>
      </p:cViewPr>
      <p:guideLst>
        <p:guide orient="horz" pos="2161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586"/>
        <p:guide pos="209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/>
          <p:cNvSpPr>
            <a:spLocks noChangeArrowheads="1" noTextEdit="1"/>
          </p:cNvSpPr>
          <p:nvPr>
            <p:ph type="sldImg"/>
          </p:nvPr>
        </p:nvSpPr>
        <p:spPr bwMode="auto">
          <a:xfrm>
            <a:off x="1444625" y="922338"/>
            <a:ext cx="4430713" cy="33226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0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31888" y="4567238"/>
            <a:ext cx="5059362" cy="3687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smtClean="0"/>
          </a:p>
        </p:txBody>
      </p:sp>
      <p:sp>
        <p:nvSpPr>
          <p:cNvPr id="3076" name="Freeform 3"/>
          <p:cNvSpPr>
            <a:spLocks noChangeArrowheads="1"/>
          </p:cNvSpPr>
          <p:nvPr/>
        </p:nvSpPr>
        <p:spPr bwMode="auto">
          <a:xfrm>
            <a:off x="5746750" y="7578725"/>
            <a:ext cx="869950" cy="808038"/>
          </a:xfrm>
          <a:custGeom>
            <a:avLst/>
            <a:gdLst>
              <a:gd name="T0" fmla="*/ 0 w 2501"/>
              <a:gd name="T1" fmla="*/ 2499 h 2501"/>
              <a:gd name="T2" fmla="*/ 2499 w 2501"/>
              <a:gd name="T3" fmla="*/ 0 h 2501"/>
              <a:gd name="T4" fmla="*/ 2500 w 2501"/>
              <a:gd name="T5" fmla="*/ 2500 h 2501"/>
              <a:gd name="T6" fmla="*/ 0 w 2501"/>
              <a:gd name="T7" fmla="*/ 2499 h 250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501" h="2501">
                <a:moveTo>
                  <a:pt x="0" y="2499"/>
                </a:moveTo>
                <a:lnTo>
                  <a:pt x="2499" y="0"/>
                </a:lnTo>
                <a:lnTo>
                  <a:pt x="2500" y="2500"/>
                </a:lnTo>
                <a:lnTo>
                  <a:pt x="0" y="2499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ro-RO"/>
          </a:p>
        </p:txBody>
      </p:sp>
      <p:pic>
        <p:nvPicPr>
          <p:cNvPr id="307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1563" y="7834313"/>
            <a:ext cx="465137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8" name="Text Box 5"/>
          <p:cNvSpPr txBox="1">
            <a:spLocks noChangeArrowheads="1"/>
          </p:cNvSpPr>
          <p:nvPr/>
        </p:nvSpPr>
        <p:spPr bwMode="auto">
          <a:xfrm rot="-600000">
            <a:off x="6313488" y="7959725"/>
            <a:ext cx="2825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1">
            <a:spAutoFit/>
          </a:bodyPr>
          <a:lstStyle>
            <a:lvl1pPr defTabSz="8477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477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477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477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477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477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>
              <a:lnSpc>
                <a:spcPct val="102000"/>
              </a:lnSpc>
              <a:buClr>
                <a:srgbClr val="000000"/>
              </a:buClr>
              <a:buSzPct val="45000"/>
              <a:buFont typeface="StarSymbol" charset="0"/>
              <a:buNone/>
            </a:pPr>
            <a:r>
              <a:rPr lang="en-GB" altLang="ro-RO" sz="1500">
                <a:solidFill>
                  <a:srgbClr val="000000"/>
                </a:solidFill>
                <a:latin typeface="Arial Narrow" panose="020B060602020203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521099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57385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89819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66020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05791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93721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170709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271400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79079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487188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443038" y="922338"/>
            <a:ext cx="4429125" cy="3322637"/>
          </a:xfrm>
          <a:ln/>
        </p:spPr>
      </p:sp>
      <p:sp>
        <p:nvSpPr>
          <p:cNvPr id="25603" name="Rectangle 3"/>
          <p:cNvSpPr txBox="1">
            <a:spLocks noChangeArrowheads="1"/>
          </p:cNvSpPr>
          <p:nvPr>
            <p:ph type="body" idx="1"/>
          </p:nvPr>
        </p:nvSpPr>
        <p:spPr>
          <a:xfrm>
            <a:off x="1131888" y="4567238"/>
            <a:ext cx="5059362" cy="36893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4765" tIns="42382" rIns="84765" bIns="42382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709023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832641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195190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06526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27355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2367543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93142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885284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643226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042116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859874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561658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984970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0803475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8565497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9281661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2003231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3229179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736461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62250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6738742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047515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9121301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1886796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Rectangle 3"/>
          <p:cNvSpPr txBox="1"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938047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0080625" cy="7559675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0794" tIns="50397" rIns="100794" bIns="50397" anchor="ctr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ro-RO" sz="26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6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7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7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7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>
                <a:lvl1pPr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008063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008063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ro-RO" sz="26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4849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276600" y="2016125"/>
            <a:ext cx="6635750" cy="2435225"/>
          </a:xfrm>
        </p:spPr>
        <p:txBody>
          <a:bodyPr/>
          <a:lstStyle>
            <a:lvl1pPr>
              <a:defRPr sz="55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850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276600" y="4703763"/>
            <a:ext cx="6635750" cy="1931987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7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504825" y="6888163"/>
            <a:ext cx="2351088" cy="503237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866EE53-B671-454D-A3C9-4EE0A8FC18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10609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627F0-A692-4DB9-A8F4-EE440AE862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444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D610A7-FD8E-45FE-A220-242869C84A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174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825" y="2184400"/>
            <a:ext cx="4459288" cy="4283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6513" y="2184400"/>
            <a:ext cx="4460875" cy="4283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08507-08BA-4FD1-876C-7769ED9D8D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281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6D34BC-16AF-417D-A40B-3532DA1A76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330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E08B7A-D628-4580-9C0B-2BADB11B7B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5797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EF7F50-BCA7-49C9-A392-D6DB36ED0C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1500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A4ED01-177D-48AF-8AA0-C8E8343E61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1977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148C94-FF5E-49DA-85F4-64D2E5AE39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0940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2F6DC-7260-4D80-A6AA-E57B86601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2021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10438" y="503238"/>
            <a:ext cx="2266950" cy="59642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4825" y="503238"/>
            <a:ext cx="6653213" cy="59642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80E84D-0034-4CF3-B785-2987E99536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2397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44875" y="6888163"/>
            <a:ext cx="319087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3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24713" y="6888163"/>
            <a:ext cx="235267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80F1EF28-60DB-4266-B0A0-C8CA8460FC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0080625" cy="601663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0794" tIns="50397" rIns="100794" bIns="50397" anchor="ctr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ro-RO" sz="26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6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6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6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>
              <a:lvl1pPr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008063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00806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ro-RO" sz="2000">
                <a:solidFill>
                  <a:schemeClr val="accent2"/>
                </a:solidFill>
              </a:endParaRPr>
            </a:p>
          </p:txBody>
        </p:sp>
      </p:grpSp>
      <p:sp>
        <p:nvSpPr>
          <p:cNvPr id="14747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503238"/>
            <a:ext cx="9072563" cy="151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4747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4825" y="2184400"/>
            <a:ext cx="9072563" cy="428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4747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04825" y="6884988"/>
            <a:ext cx="23510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 smtClean="0"/>
            </a:lvl1pPr>
          </a:lstStyle>
          <a:p>
            <a:pPr>
              <a:defRPr/>
            </a:pP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70" grpId="0"/>
      <p:bldP spid="147471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14747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l" defTabSz="1008063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+mj-lt"/>
          <a:ea typeface="+mj-ea"/>
          <a:cs typeface="+mj-cs"/>
        </a:defRPr>
      </a:lvl1pPr>
      <a:lvl2pPr algn="l" defTabSz="1008063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2pPr>
      <a:lvl3pPr algn="l" defTabSz="1008063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3pPr>
      <a:lvl4pPr algn="l" defTabSz="1008063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4pPr>
      <a:lvl5pPr algn="l" defTabSz="1008063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5pPr>
      <a:lvl6pPr marL="457200" algn="l" defTabSz="1008063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6pPr>
      <a:lvl7pPr marL="914400" algn="l" defTabSz="1008063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7pPr>
      <a:lvl8pPr marL="1371600" algn="l" defTabSz="1008063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8pPr>
      <a:lvl9pPr marL="1828800" algn="l" defTabSz="1008063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Arial" charset="0"/>
        </a:defRPr>
      </a:lvl9pPr>
    </p:titleStyle>
    <p:bodyStyle>
      <a:lvl1pPr marL="377825" indent="-377825" algn="l" defTabSz="1008063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819150" indent="-315913" algn="l" defTabSz="1008063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3100">
          <a:solidFill>
            <a:schemeClr val="tx1"/>
          </a:solidFill>
          <a:latin typeface="+mn-lt"/>
        </a:defRPr>
      </a:lvl2pPr>
      <a:lvl3pPr marL="1260475" indent="-252413" algn="l" defTabSz="1008063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3pPr>
      <a:lvl4pPr marL="1763713" indent="-252413" algn="l" defTabSz="1008063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200">
          <a:solidFill>
            <a:schemeClr val="tx1"/>
          </a:solidFill>
          <a:latin typeface="+mn-lt"/>
        </a:defRPr>
      </a:lvl4pPr>
      <a:lvl5pPr marL="2268538" indent="-252413" algn="l" defTabSz="1008063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</a:defRPr>
      </a:lvl5pPr>
      <a:lvl6pPr marL="2725738" indent="-252413" algn="l" defTabSz="1008063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6pPr>
      <a:lvl7pPr marL="3182938" indent="-252413" algn="l" defTabSz="1008063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7pPr>
      <a:lvl8pPr marL="3640138" indent="-252413" algn="l" defTabSz="1008063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8pPr>
      <a:lvl9pPr marL="4097338" indent="-252413" algn="l" defTabSz="1008063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Polimorfism : Cuprins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>
                <a:solidFill>
                  <a:srgbClr val="FF0000"/>
                </a:solidFill>
              </a:rPr>
              <a:t> Supraincarcarea metodelor (overloading)</a:t>
            </a:r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Suprascrierea metodelor (overriding)</a:t>
            </a:r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Legarea dinamica a metodelor</a:t>
            </a:r>
            <a:endParaRPr lang="en-US" altLang="en-US" sz="39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altLang="en-US" smtClean="0"/>
              <a:t>Supraîncărcarea - </a:t>
            </a:r>
            <a:r>
              <a:rPr lang="en-US" altLang="en-US" smtClean="0"/>
              <a:t>Overloading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smtClean="0"/>
              <a:t>Doua metode din aceeasi clasa se numesc supraincarcate (</a:t>
            </a:r>
            <a:r>
              <a:rPr lang="en-US" altLang="en-US" sz="2800" b="1" smtClean="0"/>
              <a:t>overloaded</a:t>
            </a:r>
            <a:r>
              <a:rPr lang="en-US" altLang="en-US" sz="2800" smtClean="0"/>
              <a:t>) daca:</a:t>
            </a:r>
          </a:p>
          <a:p>
            <a:pPr lvl="1" eaLnBrk="1" hangingPunct="1"/>
            <a:r>
              <a:rPr lang="en-US" altLang="en-US" sz="2800" smtClean="0"/>
              <a:t>Au acelasi nume</a:t>
            </a:r>
          </a:p>
          <a:p>
            <a:pPr lvl="1" eaLnBrk="1" hangingPunct="1"/>
            <a:r>
              <a:rPr lang="en-US" altLang="en-US" sz="2800" smtClean="0"/>
              <a:t>Difera prin numarul sau tipul argumentelor</a:t>
            </a:r>
          </a:p>
          <a:p>
            <a:pPr lvl="1" eaLnBrk="1" hangingPunct="1"/>
            <a:r>
              <a:rPr lang="en-US" altLang="en-US" sz="2800" smtClean="0"/>
              <a:t>Nu difera doar prin tipul returnat</a:t>
            </a:r>
          </a:p>
          <a:p>
            <a:pPr lvl="1" eaLnBrk="1" hangingPunct="1"/>
            <a:endParaRPr lang="en-US" altLang="en-US" sz="2800" smtClean="0"/>
          </a:p>
          <a:p>
            <a:pPr eaLnBrk="1" hangingPunct="1"/>
            <a:r>
              <a:rPr lang="en-US" altLang="en-US" sz="2800" smtClean="0"/>
              <a:t>Numele unei metode impreuna cu numarul si tipul argumentelor se numeste </a:t>
            </a:r>
            <a:r>
              <a:rPr lang="en-US" altLang="en-US" sz="2800" b="1" smtClean="0"/>
              <a:t>semnatura</a:t>
            </a:r>
            <a:r>
              <a:rPr lang="en-US" altLang="en-US" sz="2800" smtClean="0"/>
              <a:t> metodei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392113" y="122238"/>
            <a:ext cx="9072562" cy="1512887"/>
          </a:xfrm>
        </p:spPr>
        <p:txBody>
          <a:bodyPr/>
          <a:lstStyle/>
          <a:p>
            <a:pPr marL="1439863" eaLnBrk="1" hangingPunct="1"/>
            <a:r>
              <a:rPr lang="en-US" altLang="en-US" smtClean="0"/>
              <a:t>Overloading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313" y="1325563"/>
            <a:ext cx="5638800" cy="4283075"/>
          </a:xfrm>
        </p:spPr>
        <p:txBody>
          <a:bodyPr/>
          <a:lstStyle/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400" b="1" smtClean="0">
                <a:latin typeface="Courier New" panose="02070309020205020404" pitchFamily="49" charset="0"/>
              </a:rPr>
              <a:t>public class Number {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400" b="1" smtClean="0">
                <a:latin typeface="Courier New" panose="02070309020205020404" pitchFamily="49" charset="0"/>
              </a:rPr>
              <a:t>  private double n;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en-US" sz="24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400" b="1" smtClean="0">
                <a:latin typeface="Courier New" panose="02070309020205020404" pitchFamily="49" charset="0"/>
              </a:rPr>
              <a:t>  public Number(double n) {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400" b="1" smtClean="0">
                <a:latin typeface="Courier New" panose="02070309020205020404" pitchFamily="49" charset="0"/>
              </a:rPr>
              <a:t>    this.n = n; }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en-US" sz="24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400" b="1" smtClean="0">
                <a:latin typeface="Courier New" panose="02070309020205020404" pitchFamily="49" charset="0"/>
              </a:rPr>
              <a:t>  public double getNumber() {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400" b="1" smtClean="0">
                <a:latin typeface="Courier New" panose="02070309020205020404" pitchFamily="49" charset="0"/>
              </a:rPr>
              <a:t>    return n; }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en-US" sz="24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400" b="1" smtClean="0">
                <a:latin typeface="Courier New" panose="02070309020205020404" pitchFamily="49" charset="0"/>
              </a:rPr>
              <a:t>  public double </a:t>
            </a:r>
            <a:r>
              <a:rPr lang="en-US" altLang="en-US" sz="24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add</a:t>
            </a:r>
            <a:r>
              <a:rPr lang="en-US" altLang="en-US" sz="2400" b="1" smtClean="0">
                <a:latin typeface="Courier New" panose="02070309020205020404" pitchFamily="49" charset="0"/>
              </a:rPr>
              <a:t>(double m) {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400" b="1" smtClean="0">
                <a:latin typeface="Courier New" panose="02070309020205020404" pitchFamily="49" charset="0"/>
              </a:rPr>
              <a:t>    return n + m; }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en-US" sz="2400" b="1" smtClean="0">
              <a:latin typeface="Courier New" panose="02070309020205020404" pitchFamily="49" charset="0"/>
            </a:endParaRP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400" b="1" smtClean="0">
                <a:latin typeface="Courier New" panose="02070309020205020404" pitchFamily="49" charset="0"/>
              </a:rPr>
              <a:t>  public double </a:t>
            </a:r>
            <a:r>
              <a:rPr lang="en-US" altLang="en-US" sz="24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add</a:t>
            </a:r>
            <a:r>
              <a:rPr lang="en-US" altLang="en-US" sz="2400" b="1" smtClean="0">
                <a:latin typeface="Courier New" panose="02070309020205020404" pitchFamily="49" charset="0"/>
              </a:rPr>
              <a:t>(Number m) {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400" b="1" smtClean="0">
                <a:latin typeface="Courier New" panose="02070309020205020404" pitchFamily="49" charset="0"/>
              </a:rPr>
              <a:t>    return n + m.getNumber(); }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r>
              <a:rPr lang="en-US" altLang="en-US" sz="2400" b="1" smtClean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5649913" y="1493838"/>
            <a:ext cx="3927475" cy="4973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94" tIns="50397" rIns="100794" bIns="50397"/>
          <a:lstStyle>
            <a:lvl1pPr marL="377825" indent="-377825" defTabSz="1008063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5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08063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08063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08063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08063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08063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80000"/>
              </a:lnSpc>
            </a:pPr>
            <a:r>
              <a:rPr lang="en-US" altLang="en-US" sz="2400"/>
              <a:t>Contextul în care va fi apelată fiecare este determinat automat funcţie de parametrii de apel.</a:t>
            </a:r>
          </a:p>
          <a:p>
            <a:pPr algn="just" eaLnBrk="1" hangingPunct="1">
              <a:lnSpc>
                <a:spcPct val="80000"/>
              </a:lnSpc>
            </a:pPr>
            <a:r>
              <a:rPr lang="ro-RO" altLang="en-US" sz="2400"/>
              <a:t>oricând mai pot introduce o nouă metodă ceea ce sporeşte flexibilitatea programării;</a:t>
            </a:r>
          </a:p>
          <a:p>
            <a:pPr algn="just" eaLnBrk="1" hangingPunct="1">
              <a:lnSpc>
                <a:spcPct val="80000"/>
              </a:lnSpc>
            </a:pPr>
            <a:r>
              <a:rPr lang="ro-RO" altLang="en-US" sz="2400"/>
              <a:t>dacă metodele nu se găsesc în aceaşi clasă atunci trebuie să li se atribuie aceaşi modificatori de vizibilitate.</a:t>
            </a:r>
            <a:endParaRPr lang="en-US" altLang="en-US" sz="2400"/>
          </a:p>
          <a:p>
            <a:pPr eaLnBrk="1" hangingPunct="1">
              <a:lnSpc>
                <a:spcPct val="80000"/>
              </a:lnSpc>
            </a:pPr>
            <a:endParaRPr lang="en-US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Polimorfism : Cuprins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>
                <a:solidFill>
                  <a:srgbClr val="FF0000"/>
                </a:solidFill>
              </a:rPr>
              <a:t> </a:t>
            </a:r>
            <a:r>
              <a:rPr lang="en-GB" altLang="en-US" sz="4400" b="1" smtClean="0"/>
              <a:t>Supraincarcarea metodelor (overloading)</a:t>
            </a:r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</a:t>
            </a:r>
            <a:r>
              <a:rPr lang="en-GB" altLang="en-US" sz="4400" b="1" smtClean="0">
                <a:solidFill>
                  <a:srgbClr val="FF0000"/>
                </a:solidFill>
              </a:rPr>
              <a:t>Suprascrierea metodelor (overriding)</a:t>
            </a:r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Legarea dinamica a metodelor</a:t>
            </a:r>
            <a:endParaRPr lang="en-US" altLang="en-US" sz="39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98438"/>
            <a:ext cx="9072562" cy="1512887"/>
          </a:xfrm>
        </p:spPr>
        <p:txBody>
          <a:bodyPr/>
          <a:lstStyle/>
          <a:p>
            <a:pPr marL="1439863" eaLnBrk="1" hangingPunct="1"/>
            <a:r>
              <a:rPr lang="en-US" altLang="en-US" smtClean="0"/>
              <a:t>Overriding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5913" y="16462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O metoda dintr-o clasa parinte poate fi suprascrisa (</a:t>
            </a:r>
            <a:r>
              <a:rPr lang="en-US" altLang="en-US" sz="2800" b="1" smtClean="0"/>
              <a:t>overrided</a:t>
            </a:r>
            <a:r>
              <a:rPr lang="en-US" altLang="en-US" sz="2800" smtClean="0"/>
              <a:t>) de o metoda din clasa derivata daca:</a:t>
            </a:r>
          </a:p>
          <a:p>
            <a:pPr lvl="1" eaLnBrk="1" hangingPunct="1"/>
            <a:r>
              <a:rPr lang="en-US" altLang="en-US" sz="2800" smtClean="0"/>
              <a:t>Au acelasi nume</a:t>
            </a:r>
          </a:p>
          <a:p>
            <a:pPr lvl="1" eaLnBrk="1" hangingPunct="1"/>
            <a:r>
              <a:rPr lang="en-US" altLang="en-US" sz="2800" smtClean="0"/>
              <a:t>Au acelasi numar si tip de argumente</a:t>
            </a:r>
          </a:p>
          <a:p>
            <a:pPr lvl="1" eaLnBrk="1" hangingPunct="1"/>
            <a:r>
              <a:rPr lang="en-US" altLang="en-US" sz="2800" smtClean="0"/>
              <a:t>Au acelasi tipul returnat</a:t>
            </a:r>
          </a:p>
          <a:p>
            <a:pPr lvl="1" eaLnBrk="1" hangingPunct="1"/>
            <a:r>
              <a:rPr lang="en-US" altLang="en-US" sz="2800" smtClean="0"/>
              <a:t>Drepturile de acces nu sunt mai restranse</a:t>
            </a:r>
          </a:p>
          <a:p>
            <a:pPr lvl="1" eaLnBrk="1" hangingPunct="1"/>
            <a:endParaRPr lang="en-US" altLang="en-US" sz="2800" smtClean="0"/>
          </a:p>
          <a:p>
            <a:pPr eaLnBrk="1" hangingPunct="1"/>
            <a:r>
              <a:rPr lang="en-US" altLang="en-US" sz="2800" smtClean="0"/>
              <a:t>O metoda nu poate fi suprascrisa decat o data intr-o clasa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-1512888" y="285750"/>
            <a:ext cx="5029201" cy="1512888"/>
          </a:xfrm>
        </p:spPr>
        <p:txBody>
          <a:bodyPr/>
          <a:lstStyle/>
          <a:p>
            <a:pPr marL="1439863" eaLnBrk="1" hangingPunct="1"/>
            <a:r>
              <a:rPr lang="en-US" altLang="en-US" smtClean="0"/>
              <a:t>Overriding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773113" y="5403850"/>
            <a:ext cx="3352800" cy="2109788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Mp3Player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pause() : void</a:t>
            </a: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5116513" y="5403850"/>
            <a:ext cx="3657600" cy="2109788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WavPlayer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pause() : void;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3059113" y="1136650"/>
            <a:ext cx="3352800" cy="3205163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 i="1">
                <a:solidFill>
                  <a:srgbClr val="000000"/>
                </a:solidFill>
                <a:latin typeface="Times New Roman" panose="02020603050405020304" pitchFamily="18" charset="0"/>
              </a:rPr>
              <a:t>Player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# file : FileInputStream</a:t>
            </a: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;</a:t>
            </a: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US" altLang="en-US" sz="2400">
                <a:latin typeface="Times New Roman" panose="02020603050405020304" pitchFamily="18" charset="0"/>
              </a:rPr>
              <a:t>+ open() : void;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play() : void;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stop() : void;</a:t>
            </a:r>
          </a:p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+ pause() : void;</a:t>
            </a:r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 flipH="1">
            <a:off x="4659313" y="464185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1" name="Line 7"/>
          <p:cNvSpPr>
            <a:spLocks noChangeShapeType="1"/>
          </p:cNvSpPr>
          <p:nvPr/>
        </p:nvSpPr>
        <p:spPr bwMode="auto">
          <a:xfrm>
            <a:off x="2373313" y="4870450"/>
            <a:ext cx="464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2" name="Line 8"/>
          <p:cNvSpPr>
            <a:spLocks noChangeShapeType="1"/>
          </p:cNvSpPr>
          <p:nvPr/>
        </p:nvSpPr>
        <p:spPr bwMode="auto">
          <a:xfrm>
            <a:off x="2373313" y="487045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>
            <a:off x="7021513" y="487045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4" name="Line 10"/>
          <p:cNvSpPr>
            <a:spLocks noChangeShapeType="1"/>
          </p:cNvSpPr>
          <p:nvPr/>
        </p:nvSpPr>
        <p:spPr bwMode="auto">
          <a:xfrm>
            <a:off x="3059113" y="167005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5" name="Line 11"/>
          <p:cNvSpPr>
            <a:spLocks noChangeShapeType="1"/>
          </p:cNvSpPr>
          <p:nvPr/>
        </p:nvSpPr>
        <p:spPr bwMode="auto">
          <a:xfrm>
            <a:off x="3059113" y="220345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6" name="Line 12"/>
          <p:cNvSpPr>
            <a:spLocks noChangeShapeType="1"/>
          </p:cNvSpPr>
          <p:nvPr/>
        </p:nvSpPr>
        <p:spPr bwMode="auto">
          <a:xfrm>
            <a:off x="773113" y="593725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7" name="Line 13"/>
          <p:cNvSpPr>
            <a:spLocks noChangeShapeType="1"/>
          </p:cNvSpPr>
          <p:nvPr/>
        </p:nvSpPr>
        <p:spPr bwMode="auto">
          <a:xfrm>
            <a:off x="773113" y="601345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8" name="Line 14"/>
          <p:cNvSpPr>
            <a:spLocks noChangeShapeType="1"/>
          </p:cNvSpPr>
          <p:nvPr/>
        </p:nvSpPr>
        <p:spPr bwMode="auto">
          <a:xfrm>
            <a:off x="5116513" y="593725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399" name="Line 15"/>
          <p:cNvSpPr>
            <a:spLocks noChangeShapeType="1"/>
          </p:cNvSpPr>
          <p:nvPr/>
        </p:nvSpPr>
        <p:spPr bwMode="auto">
          <a:xfrm>
            <a:off x="5116513" y="6013450"/>
            <a:ext cx="3657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6400" name="AutoShape 16"/>
          <p:cNvSpPr>
            <a:spLocks noChangeArrowheads="1"/>
          </p:cNvSpPr>
          <p:nvPr/>
        </p:nvSpPr>
        <p:spPr bwMode="auto">
          <a:xfrm>
            <a:off x="4506913" y="4337050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Polimorfism : Cuprins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>
                <a:solidFill>
                  <a:srgbClr val="FF0000"/>
                </a:solidFill>
              </a:rPr>
              <a:t> </a:t>
            </a:r>
            <a:r>
              <a:rPr lang="en-GB" altLang="en-US" sz="4400" b="1" smtClean="0"/>
              <a:t>Supraincarcarea metodelor (overloading)</a:t>
            </a:r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Suprascrierea metodelor (overriding)</a:t>
            </a:r>
          </a:p>
          <a:p>
            <a:pPr marL="717550" indent="-717550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</a:t>
            </a:r>
            <a:r>
              <a:rPr lang="en-GB" altLang="en-US" sz="4400" b="1" smtClean="0">
                <a:solidFill>
                  <a:srgbClr val="FF0000"/>
                </a:solidFill>
              </a:rPr>
              <a:t>Legarea dinamica a metodelor</a:t>
            </a:r>
            <a:endParaRPr lang="en-US" altLang="en-US" sz="390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0"/>
            <a:ext cx="9072562" cy="1512888"/>
          </a:xfrm>
        </p:spPr>
        <p:txBody>
          <a:bodyPr/>
          <a:lstStyle/>
          <a:p>
            <a:pPr marL="1439863" eaLnBrk="1" hangingPunct="1"/>
            <a:r>
              <a:rPr lang="en-US" altLang="en-US" smtClean="0"/>
              <a:t>Legarea dinamica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176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2800" smtClean="0"/>
              <a:t>In cazul unor metode suprascrise (</a:t>
            </a:r>
            <a:r>
              <a:rPr lang="en-US" altLang="en-US" sz="2800" b="1" smtClean="0"/>
              <a:t>overrided</a:t>
            </a:r>
            <a:r>
              <a:rPr lang="en-US" altLang="en-US" sz="2800" smtClean="0"/>
              <a:t>) nu se va sti decat la executie care dintre metode va fi apelata</a:t>
            </a:r>
          </a:p>
          <a:p>
            <a:pPr eaLnBrk="1" hangingPunct="1"/>
            <a:endParaRPr lang="en-US" altLang="en-US" sz="2800" smtClean="0"/>
          </a:p>
          <a:p>
            <a:pPr eaLnBrk="1" hangingPunct="1"/>
            <a:r>
              <a:rPr lang="en-US" altLang="en-US" sz="2800" smtClean="0"/>
              <a:t>La apelarea unei metode suprascrise, Java nu </a:t>
            </a:r>
            <a:r>
              <a:rPr lang="ro-RO" altLang="en-US" sz="2800" smtClean="0"/>
              <a:t>verifică </a:t>
            </a:r>
            <a:r>
              <a:rPr lang="en-US" altLang="en-US" sz="2800" smtClean="0"/>
              <a:t>tipul referintei ci tipul intern al obiectului pentru care este apelata metoda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98438"/>
            <a:ext cx="9072562" cy="1512887"/>
          </a:xfrm>
        </p:spPr>
        <p:txBody>
          <a:bodyPr/>
          <a:lstStyle/>
          <a:p>
            <a:pPr marL="1439863" eaLnBrk="1" hangingPunct="1"/>
            <a:r>
              <a:rPr lang="en-US" altLang="en-US" smtClean="0"/>
              <a:t>Legarea dinamica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4513" y="1798638"/>
            <a:ext cx="9072562" cy="42830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Player p1 = new Mp3Player();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Player p2 = new WavPlayer();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…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p1.play();</a:t>
            </a:r>
            <a:r>
              <a:rPr lang="en-US" altLang="en-US" sz="2800" b="1" smtClean="0">
                <a:latin typeface="Courier New" panose="02070309020205020404" pitchFamily="49" charset="0"/>
              </a:rPr>
              <a:t> /* Se va apela metoda play() a clasei Mp3Player */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p2.play();</a:t>
            </a:r>
            <a:r>
              <a:rPr lang="en-US" altLang="en-US" sz="2800" b="1" smtClean="0">
                <a:latin typeface="Courier New" panose="02070309020205020404" pitchFamily="49" charset="0"/>
              </a:rPr>
              <a:t> /* Se va apela metoda play() a clasei WavPlayer */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274638"/>
            <a:ext cx="9074150" cy="1516062"/>
          </a:xfrm>
        </p:spPr>
        <p:txBody>
          <a:bodyPr lIns="0" tIns="0" rIns="0" bIns="0"/>
          <a:lstStyle/>
          <a:p>
            <a:pPr defTabSz="449263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5713" algn="l"/>
                <a:tab pos="5791200" algn="l"/>
                <a:tab pos="6515100" algn="l"/>
                <a:tab pos="7237413" algn="l"/>
                <a:tab pos="7961313" algn="l"/>
                <a:tab pos="8686800" algn="l"/>
              </a:tabLst>
            </a:pPr>
            <a:r>
              <a:rPr lang="en-GB" altLang="en-US" smtClean="0"/>
              <a:t>Cuprins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5913" y="1570038"/>
            <a:ext cx="9074150" cy="4286250"/>
          </a:xfrm>
        </p:spPr>
        <p:txBody>
          <a:bodyPr lIns="0" tIns="0" rIns="0" bIns="0"/>
          <a:lstStyle/>
          <a:p>
            <a:pPr marL="433388" indent="-323850" defTabSz="449263" eaLnBrk="1" hangingPunct="1">
              <a:buSzPct val="100000"/>
              <a:buFont typeface="StarSymbol" charset="0"/>
              <a:buAutoNum type="romanUcPeriod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5713" algn="l"/>
                <a:tab pos="5791200" algn="l"/>
                <a:tab pos="6515100" algn="l"/>
                <a:tab pos="7237413" algn="l"/>
                <a:tab pos="7961313" algn="l"/>
                <a:tab pos="8686800" algn="l"/>
                <a:tab pos="9409113" algn="l"/>
              </a:tabLst>
            </a:pPr>
            <a:r>
              <a:rPr lang="en-GB" altLang="en-US" sz="3000" b="1" smtClean="0">
                <a:solidFill>
                  <a:srgbClr val="FF0000"/>
                </a:solidFill>
              </a:rPr>
              <a:t>	</a:t>
            </a:r>
            <a:r>
              <a:rPr lang="en-GB" altLang="en-US" sz="3000" b="1" smtClean="0"/>
              <a:t>Notiuni de programare orientata obiect</a:t>
            </a:r>
          </a:p>
          <a:p>
            <a:pPr marL="433388" indent="-323850" defTabSz="449263" eaLnBrk="1" hangingPunct="1">
              <a:buSzPct val="100000"/>
              <a:buFont typeface="StarSymbol" charset="0"/>
              <a:buAutoNum type="romanUcPeriod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5713" algn="l"/>
                <a:tab pos="5791200" algn="l"/>
                <a:tab pos="6515100" algn="l"/>
                <a:tab pos="7237413" algn="l"/>
                <a:tab pos="7961313" algn="l"/>
                <a:tab pos="8686800" algn="l"/>
                <a:tab pos="9409113" algn="l"/>
              </a:tabLst>
            </a:pPr>
            <a:r>
              <a:rPr lang="en-GB" altLang="en-US" sz="3000" b="1" smtClean="0"/>
              <a:t>	Organizarea claselor in pachete. Clase fundamentale</a:t>
            </a:r>
          </a:p>
          <a:p>
            <a:pPr marL="433388" indent="-323850" defTabSz="449263" eaLnBrk="1" hangingPunct="1">
              <a:buSzPct val="100000"/>
              <a:buFont typeface="StarSymbol" charset="0"/>
              <a:buAutoNum type="romanUcPeriod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5713" algn="l"/>
                <a:tab pos="5791200" algn="l"/>
                <a:tab pos="6515100" algn="l"/>
                <a:tab pos="7237413" algn="l"/>
                <a:tab pos="7961313" algn="l"/>
                <a:tab pos="8686800" algn="l"/>
                <a:tab pos="9409113" algn="l"/>
              </a:tabLst>
            </a:pPr>
            <a:r>
              <a:rPr lang="en-GB" altLang="en-US" sz="3000" b="1" smtClean="0"/>
              <a:t>	Mostenirea claselor</a:t>
            </a:r>
          </a:p>
          <a:p>
            <a:pPr marL="433388" indent="-323850" defTabSz="449263" eaLnBrk="1" hangingPunct="1">
              <a:buSzPct val="100000"/>
              <a:buFont typeface="StarSymbol" charset="0"/>
              <a:buAutoNum type="romanUcPeriod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5713" algn="l"/>
                <a:tab pos="5791200" algn="l"/>
                <a:tab pos="6515100" algn="l"/>
                <a:tab pos="7237413" algn="l"/>
                <a:tab pos="7961313" algn="l"/>
                <a:tab pos="8686800" algn="l"/>
                <a:tab pos="9409113" algn="l"/>
              </a:tabLst>
            </a:pPr>
            <a:r>
              <a:rPr lang="en-GB" altLang="en-US" sz="3000" b="1" smtClean="0"/>
              <a:t>	Clase abstracte si interfete</a:t>
            </a:r>
          </a:p>
          <a:p>
            <a:pPr marL="433388" indent="-323850" defTabSz="449263" eaLnBrk="1" hangingPunct="1">
              <a:buSzPct val="100000"/>
              <a:buFont typeface="StarSymbol" charset="0"/>
              <a:buAutoNum type="romanUcPeriod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5713" algn="l"/>
                <a:tab pos="5791200" algn="l"/>
                <a:tab pos="6515100" algn="l"/>
                <a:tab pos="7237413" algn="l"/>
                <a:tab pos="7961313" algn="l"/>
                <a:tab pos="8686800" algn="l"/>
                <a:tab pos="9409113" algn="l"/>
              </a:tabLst>
            </a:pPr>
            <a:r>
              <a:rPr lang="en-GB" altLang="en-US" sz="3000" b="1" smtClean="0"/>
              <a:t>	Polimorfismul</a:t>
            </a:r>
          </a:p>
          <a:p>
            <a:pPr marL="433388" indent="-323850" defTabSz="449263" eaLnBrk="1" hangingPunct="1">
              <a:buSzPct val="100000"/>
              <a:buFont typeface="StarSymbol" charset="0"/>
              <a:buAutoNum type="romanUcPeriod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5713" algn="l"/>
                <a:tab pos="5791200" algn="l"/>
                <a:tab pos="6515100" algn="l"/>
                <a:tab pos="7237413" algn="l"/>
                <a:tab pos="7961313" algn="l"/>
                <a:tab pos="8686800" algn="l"/>
                <a:tab pos="9409113" algn="l"/>
              </a:tabLst>
            </a:pPr>
            <a:r>
              <a:rPr lang="en-GB" altLang="en-US" sz="3000" b="1" smtClean="0"/>
              <a:t>	</a:t>
            </a:r>
            <a:r>
              <a:rPr lang="en-GB" altLang="en-US" sz="3000" b="1" smtClean="0">
                <a:solidFill>
                  <a:srgbClr val="FF0000"/>
                </a:solidFill>
              </a:rPr>
              <a:t>Tratarea erorilor</a:t>
            </a:r>
          </a:p>
          <a:p>
            <a:pPr marL="433388" indent="-323850" defTabSz="449263" eaLnBrk="1" hangingPunct="1">
              <a:buSzPct val="100000"/>
              <a:buFont typeface="StarSymbol" charset="0"/>
              <a:buAutoNum type="romanUcPeriod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5713" algn="l"/>
                <a:tab pos="5791200" algn="l"/>
                <a:tab pos="6515100" algn="l"/>
                <a:tab pos="7237413" algn="l"/>
                <a:tab pos="7961313" algn="l"/>
                <a:tab pos="8686800" algn="l"/>
                <a:tab pos="9409113" algn="l"/>
              </a:tabLst>
            </a:pPr>
            <a:r>
              <a:rPr lang="en-GB" altLang="en-US" sz="3000" b="1" smtClean="0"/>
              <a:t>Lucrul cu fisiere</a:t>
            </a:r>
          </a:p>
          <a:p>
            <a:pPr marL="433388" indent="-323850" defTabSz="449263" eaLnBrk="1" hangingPunct="1">
              <a:buSzPct val="100000"/>
              <a:buFont typeface="StarSymbol" charset="0"/>
              <a:buAutoNum type="romanUcPeriod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5713" algn="l"/>
                <a:tab pos="5791200" algn="l"/>
                <a:tab pos="6515100" algn="l"/>
                <a:tab pos="7237413" algn="l"/>
                <a:tab pos="7961313" algn="l"/>
                <a:tab pos="8686800" algn="l"/>
                <a:tab pos="9409113" algn="l"/>
              </a:tabLst>
            </a:pPr>
            <a:r>
              <a:rPr lang="en-GB" altLang="en-US" sz="3000" b="1" smtClean="0"/>
              <a:t>Colectii de obiecte</a:t>
            </a:r>
          </a:p>
          <a:p>
            <a:pPr marL="433388" indent="-323850" defTabSz="449263" eaLnBrk="1" hangingPunct="1">
              <a:buSzPct val="100000"/>
              <a:buFont typeface="StarSymbol" charset="0"/>
              <a:buAutoNum type="romanUcPeriod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5713" algn="l"/>
                <a:tab pos="5791200" algn="l"/>
                <a:tab pos="6515100" algn="l"/>
                <a:tab pos="7237413" algn="l"/>
                <a:tab pos="7961313" algn="l"/>
                <a:tab pos="8686800" algn="l"/>
                <a:tab pos="9409113" algn="l"/>
              </a:tabLst>
            </a:pPr>
            <a:r>
              <a:rPr lang="en-GB" altLang="en-US" sz="3000" b="1" smtClean="0"/>
              <a:t>	Interfete grafice folosind AWT. Applet-uri</a:t>
            </a:r>
          </a:p>
          <a:p>
            <a:pPr marL="433388" indent="-323850" defTabSz="449263" eaLnBrk="1" hangingPunct="1">
              <a:buSzPct val="100000"/>
              <a:buFont typeface="StarSymbol" charset="0"/>
              <a:buAutoNum type="romanUcPeriod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5713" algn="l"/>
                <a:tab pos="5791200" algn="l"/>
                <a:tab pos="6515100" algn="l"/>
                <a:tab pos="7237413" algn="l"/>
                <a:tab pos="7961313" algn="l"/>
                <a:tab pos="8686800" algn="l"/>
                <a:tab pos="9409113" algn="l"/>
              </a:tabLst>
            </a:pPr>
            <a:r>
              <a:rPr lang="en-GB" altLang="en-US" sz="3000" b="1" smtClean="0"/>
              <a:t>	Fire de executie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Erori : Cuprins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>
                <a:solidFill>
                  <a:srgbClr val="FF0000"/>
                </a:solidFill>
              </a:rPr>
              <a:t> Tipuri de erori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Tratarea erorilor in Java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Aruncarea unei exceptii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Tratarea unei exceptii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Crearea unei exceptii proprii</a:t>
            </a:r>
            <a:endParaRPr lang="en-US" altLang="en-US" sz="44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50838"/>
            <a:ext cx="9072562" cy="1219200"/>
          </a:xfrm>
        </p:spPr>
        <p:txBody>
          <a:bodyPr/>
          <a:lstStyle/>
          <a:p>
            <a:pPr eaLnBrk="1" hangingPunct="1"/>
            <a:r>
              <a:rPr lang="en-US" altLang="en-US" smtClean="0"/>
              <a:t>Tipuri de erori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493838"/>
            <a:ext cx="9072562" cy="4283075"/>
          </a:xfrm>
        </p:spPr>
        <p:txBody>
          <a:bodyPr/>
          <a:lstStyle/>
          <a:p>
            <a:pPr eaLnBrk="1" hangingPunct="1">
              <a:lnSpc>
                <a:spcPct val="83000"/>
              </a:lnSpc>
            </a:pPr>
            <a:r>
              <a:rPr lang="en-US" altLang="en-US" sz="3200" b="1" smtClean="0"/>
              <a:t>Erori de compilare</a:t>
            </a:r>
          </a:p>
          <a:p>
            <a:pPr lvl="1" eaLnBrk="1" hangingPunct="1">
              <a:lnSpc>
                <a:spcPct val="83000"/>
              </a:lnSpc>
            </a:pPr>
            <a:r>
              <a:rPr lang="en-US" altLang="en-US" sz="3200" smtClean="0"/>
              <a:t>Sunt detectate si corectate in faza de compilare</a:t>
            </a:r>
          </a:p>
          <a:p>
            <a:pPr eaLnBrk="1" hangingPunct="1">
              <a:lnSpc>
                <a:spcPct val="83000"/>
              </a:lnSpc>
            </a:pPr>
            <a:r>
              <a:rPr lang="en-US" altLang="en-US" sz="3200" b="1" smtClean="0"/>
              <a:t>Erori de executie</a:t>
            </a:r>
          </a:p>
          <a:p>
            <a:pPr lvl="1" eaLnBrk="1" hangingPunct="1">
              <a:lnSpc>
                <a:spcPct val="83000"/>
              </a:lnSpc>
            </a:pPr>
            <a:r>
              <a:rPr lang="en-US" altLang="en-US" sz="3200" smtClean="0"/>
              <a:t>Sunt erori care nu pot fi detectate la compilare: accesarea unor elemente inexistente, fisiere care nu exista, conexiuni de retea gresite, etc.</a:t>
            </a:r>
          </a:p>
          <a:p>
            <a:pPr eaLnBrk="1" hangingPunct="1">
              <a:lnSpc>
                <a:spcPct val="83000"/>
              </a:lnSpc>
            </a:pPr>
            <a:r>
              <a:rPr lang="en-US" altLang="en-US" sz="3200" b="1" smtClean="0"/>
              <a:t>Erori logice</a:t>
            </a:r>
          </a:p>
          <a:p>
            <a:pPr lvl="1" eaLnBrk="1" hangingPunct="1">
              <a:lnSpc>
                <a:spcPct val="83000"/>
              </a:lnSpc>
            </a:pPr>
            <a:r>
              <a:rPr lang="en-US" altLang="en-US" sz="3200" smtClean="0"/>
              <a:t>Programul functioneaza dar nu face ce trebuie</a:t>
            </a:r>
          </a:p>
          <a:p>
            <a:pPr lvl="1" eaLnBrk="1" hangingPunct="1">
              <a:lnSpc>
                <a:spcPct val="83000"/>
              </a:lnSpc>
            </a:pPr>
            <a:r>
              <a:rPr lang="en-US" altLang="en-US" sz="3200" smtClean="0"/>
              <a:t>Nu pot fi detectate decat din functionalitatea programului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Tipuri de erori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986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La aparitia unei erori trebuie realizate cel putin urmatoarele lucruri</a:t>
            </a:r>
          </a:p>
          <a:p>
            <a:pPr lvl="1" eaLnBrk="1" hangingPunct="1"/>
            <a:r>
              <a:rPr lang="en-US" altLang="en-US" sz="3200" smtClean="0"/>
              <a:t>Informarea utilizatorului ca a aparut o eroare</a:t>
            </a:r>
          </a:p>
          <a:p>
            <a:pPr lvl="1" eaLnBrk="1" hangingPunct="1"/>
            <a:r>
              <a:rPr lang="en-US" altLang="en-US" sz="3200" smtClean="0"/>
              <a:t>Salvarea datelor</a:t>
            </a:r>
          </a:p>
          <a:p>
            <a:pPr lvl="1" eaLnBrk="1" hangingPunct="1"/>
            <a:r>
              <a:rPr lang="en-US" altLang="en-US" sz="3200" smtClean="0"/>
              <a:t>Permiterea utilizatorului sa iasa din program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50838"/>
            <a:ext cx="9072562" cy="1512887"/>
          </a:xfrm>
        </p:spPr>
        <p:txBody>
          <a:bodyPr/>
          <a:lstStyle/>
          <a:p>
            <a:pPr eaLnBrk="1" hangingPunct="1"/>
            <a:r>
              <a:rPr lang="en-US" altLang="en-US" smtClean="0"/>
              <a:t>Tipuri de erori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4513" y="17224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Mecanismele de tratare a erorilor isi propun detectarea si corectarea </a:t>
            </a:r>
            <a:r>
              <a:rPr lang="en-US" altLang="en-US" sz="3200" b="1" smtClean="0"/>
              <a:t>erorilor de executie</a:t>
            </a:r>
          </a:p>
          <a:p>
            <a:pPr eaLnBrk="1" hangingPunct="1"/>
            <a:endParaRPr lang="en-US" altLang="en-US" sz="3200" b="1" smtClean="0"/>
          </a:p>
          <a:p>
            <a:pPr eaLnBrk="1" hangingPunct="1"/>
            <a:r>
              <a:rPr lang="en-US" altLang="en-US" sz="3200" smtClean="0"/>
              <a:t>Mecanismele clasice de tratare a erorilor presupun folosirea unor variabile (flag-uri) pentru a testa starea programului.</a:t>
            </a:r>
          </a:p>
          <a:p>
            <a:pPr lvl="1" eaLnBrk="1" hangingPunct="1"/>
            <a:r>
              <a:rPr lang="en-US" altLang="en-US" sz="3200" smtClean="0"/>
              <a:t>Ex: dupa o operatie cu fisiere daca apare o eroare aceasta este scrisa intr-o variabila ce trebuie testata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Erori : Cuprins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>
                <a:solidFill>
                  <a:srgbClr val="FF0000"/>
                </a:solidFill>
              </a:rPr>
              <a:t> </a:t>
            </a:r>
            <a:r>
              <a:rPr lang="en-GB" altLang="en-US" sz="4400" b="1" smtClean="0"/>
              <a:t>Tipuri de erori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</a:t>
            </a:r>
            <a:r>
              <a:rPr lang="en-GB" altLang="en-US" sz="4400" b="1" smtClean="0">
                <a:solidFill>
                  <a:srgbClr val="FF0000"/>
                </a:solidFill>
              </a:rPr>
              <a:t>Tratarea erorilor in Java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Aruncarea unei exceptii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Tratarea unei exceptii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Crearea unei exceptii proprii</a:t>
            </a:r>
            <a:endParaRPr lang="en-US" altLang="en-US" sz="44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504825" y="503238"/>
            <a:ext cx="9072563" cy="1219200"/>
          </a:xfrm>
        </p:spPr>
        <p:txBody>
          <a:bodyPr/>
          <a:lstStyle/>
          <a:p>
            <a:pPr eaLnBrk="1" hangingPunct="1"/>
            <a:r>
              <a:rPr lang="en-US" altLang="en-US" smtClean="0"/>
              <a:t>Tratarea erorilor in Java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113" y="17224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Mecanismul de tratare a erorilor in Java isi propune sa </a:t>
            </a:r>
            <a:r>
              <a:rPr lang="en-US" altLang="en-US" sz="3600" b="1" smtClean="0"/>
              <a:t>separe</a:t>
            </a:r>
            <a:r>
              <a:rPr lang="en-US" altLang="en-US" sz="3600" smtClean="0"/>
              <a:t> codul util de codul de tratare a erorilor, si se realizaza prin </a:t>
            </a:r>
            <a:r>
              <a:rPr lang="en-US" altLang="en-US" sz="3600" b="1" smtClean="0"/>
              <a:t>exceptii</a:t>
            </a:r>
          </a:p>
          <a:p>
            <a:pPr eaLnBrk="1" hangingPunct="1"/>
            <a:r>
              <a:rPr lang="en-US" altLang="en-US" sz="3600" b="1" smtClean="0"/>
              <a:t>Exceptiile</a:t>
            </a:r>
            <a:r>
              <a:rPr lang="en-US" altLang="en-US" sz="3600" smtClean="0"/>
              <a:t> in Java sunt situatii care apar in timpul executiei unui program si care fac </a:t>
            </a:r>
            <a:r>
              <a:rPr lang="en-US" altLang="en-US" sz="3600" b="1" smtClean="0"/>
              <a:t>imposibila</a:t>
            </a:r>
            <a:r>
              <a:rPr lang="en-US" altLang="en-US" sz="3600" smtClean="0"/>
              <a:t> continuarea programului</a:t>
            </a:r>
          </a:p>
          <a:p>
            <a:pPr eaLnBrk="1" hangingPunct="1"/>
            <a:r>
              <a:rPr lang="en-US" altLang="en-US" sz="3600" smtClean="0"/>
              <a:t>Exceptiile sunt </a:t>
            </a:r>
            <a:r>
              <a:rPr lang="en-US" altLang="en-US" sz="3600" b="1" smtClean="0"/>
              <a:t>obiecte</a:t>
            </a:r>
            <a:r>
              <a:rPr lang="en-US" altLang="en-US" sz="3600" smtClean="0"/>
              <a:t> care contin informatii despre eroarea aparuta la executie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Tratarea erorilor in Java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20272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La aparitia unei exceptii:</a:t>
            </a:r>
          </a:p>
          <a:p>
            <a:pPr lvl="1" eaLnBrk="1" hangingPunct="1"/>
            <a:r>
              <a:rPr lang="en-US" altLang="en-US" sz="3200" smtClean="0"/>
              <a:t>se intrerupe executia normala a programului</a:t>
            </a:r>
          </a:p>
          <a:p>
            <a:pPr lvl="1" eaLnBrk="1" hangingPunct="1"/>
            <a:r>
              <a:rPr lang="en-US" altLang="en-US" sz="3200" smtClean="0"/>
              <a:t>se creeaza un obiect de tip exceptie</a:t>
            </a:r>
          </a:p>
          <a:p>
            <a:pPr lvl="1" eaLnBrk="1" hangingPunct="1"/>
            <a:r>
              <a:rPr lang="en-US" altLang="en-US" sz="3200" smtClean="0"/>
              <a:t>se cauta un handler pentru rezolvarea acelei exceptii</a:t>
            </a:r>
          </a:p>
          <a:p>
            <a:pPr lvl="1" eaLnBrk="1" hangingPunct="1"/>
            <a:r>
              <a:rPr lang="en-US" altLang="en-US" sz="3200" smtClean="0"/>
              <a:t>daca nu se gaseste un handler programul se va opri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Erori : Cuprins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>
                <a:solidFill>
                  <a:srgbClr val="FF0000"/>
                </a:solidFill>
              </a:rPr>
              <a:t> </a:t>
            </a:r>
            <a:r>
              <a:rPr lang="en-GB" altLang="en-US" sz="4400" b="1" smtClean="0"/>
              <a:t>Tipuri de erori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Tratarea erorilor in Java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</a:t>
            </a:r>
            <a:r>
              <a:rPr lang="en-GB" altLang="en-US" sz="4400" b="1" smtClean="0">
                <a:solidFill>
                  <a:srgbClr val="FF0000"/>
                </a:solidFill>
              </a:rPr>
              <a:t>Aruncarea unei exceptii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Tratarea unei exceptii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Crearea unei exceptii proprii</a:t>
            </a:r>
            <a:endParaRPr lang="en-US" altLang="en-US" sz="4400" b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504825" y="503238"/>
            <a:ext cx="9072563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Aruncarea unei exceptii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4513" y="17224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Detectarea unei conditii de eroare si generarea unei exceptii se numeste “</a:t>
            </a:r>
            <a:r>
              <a:rPr lang="en-US" altLang="en-US" sz="3600" b="1" smtClean="0"/>
              <a:t>aruncarea</a:t>
            </a:r>
            <a:r>
              <a:rPr lang="en-US" altLang="en-US" sz="3600" smtClean="0"/>
              <a:t> unei exceptii” (throw)</a:t>
            </a:r>
          </a:p>
          <a:p>
            <a:pPr eaLnBrk="1" hangingPunct="1"/>
            <a:r>
              <a:rPr lang="en-US" altLang="en-US" sz="3600" smtClean="0"/>
              <a:t>Compilatorul obliga orice metoda care poate genera o exceptie sa </a:t>
            </a:r>
            <a:r>
              <a:rPr lang="en-US" altLang="en-US" sz="3600" b="1" smtClean="0"/>
              <a:t>declare</a:t>
            </a:r>
            <a:r>
              <a:rPr lang="en-US" altLang="en-US" sz="3600" smtClean="0"/>
              <a:t> lucrul acesta in definitia ei</a:t>
            </a:r>
          </a:p>
          <a:p>
            <a:pPr eaLnBrk="1" hangingPunct="1"/>
            <a:r>
              <a:rPr lang="en-US" altLang="en-US" sz="3600" smtClean="0"/>
              <a:t>Orice program care foloseste aceasta metoda trebuie </a:t>
            </a:r>
            <a:r>
              <a:rPr lang="en-US" altLang="en-US" sz="3600" b="1" smtClean="0"/>
              <a:t>trateze</a:t>
            </a:r>
            <a:r>
              <a:rPr lang="en-US" altLang="en-US" sz="3600" smtClean="0"/>
              <a:t> acea exceptie (handle)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Aruncarea unei exceptii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98638"/>
            <a:ext cx="9072562" cy="42830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public class ReadFile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private FileInputStream fisier;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public void open() </a:t>
            </a:r>
            <a:r>
              <a:rPr lang="en-US" altLang="en-US" sz="2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throws</a:t>
            </a:r>
            <a:r>
              <a:rPr lang="en-US" altLang="en-US" sz="2800" b="1" smtClean="0">
                <a:latin typeface="Courier New" panose="02070309020205020404" pitchFamily="49" charset="0"/>
              </a:rPr>
              <a:t> IOException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  // daca nu exista fisierul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  </a:t>
            </a:r>
            <a:r>
              <a:rPr lang="en-US" altLang="en-US" sz="2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throw</a:t>
            </a:r>
            <a:r>
              <a:rPr lang="en-US" altLang="en-US" sz="2800" b="1" smtClean="0">
                <a:latin typeface="Courier New" panose="02070309020205020404" pitchFamily="49" charset="0"/>
              </a:rPr>
              <a:t> new IOException();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  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0"/>
            <a:ext cx="9072562" cy="1512888"/>
          </a:xfrm>
        </p:spPr>
        <p:txBody>
          <a:bodyPr/>
          <a:lstStyle/>
          <a:p>
            <a:pPr eaLnBrk="1" hangingPunct="1"/>
            <a:r>
              <a:rPr lang="en-US" altLang="en-US" smtClean="0"/>
              <a:t>Exceptii: Ierarhia de clase</a:t>
            </a: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1077913" y="4075113"/>
            <a:ext cx="16764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Error</a:t>
            </a: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5116513" y="4075113"/>
            <a:ext cx="22098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Exception</a:t>
            </a:r>
          </a:p>
        </p:txBody>
      </p:sp>
      <p:sp>
        <p:nvSpPr>
          <p:cNvPr id="47109" name="Text Box 5"/>
          <p:cNvSpPr txBox="1">
            <a:spLocks noChangeArrowheads="1"/>
          </p:cNvSpPr>
          <p:nvPr/>
        </p:nvSpPr>
        <p:spPr bwMode="auto">
          <a:xfrm>
            <a:off x="3516313" y="2541588"/>
            <a:ext cx="22860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Throwable</a:t>
            </a:r>
          </a:p>
        </p:txBody>
      </p:sp>
      <p:sp>
        <p:nvSpPr>
          <p:cNvPr id="47110" name="Line 6"/>
          <p:cNvSpPr>
            <a:spLocks noChangeShapeType="1"/>
          </p:cNvSpPr>
          <p:nvPr/>
        </p:nvSpPr>
        <p:spPr bwMode="auto">
          <a:xfrm flipH="1">
            <a:off x="4659313" y="33131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1" name="Line 7"/>
          <p:cNvSpPr>
            <a:spLocks noChangeShapeType="1"/>
          </p:cNvSpPr>
          <p:nvPr/>
        </p:nvSpPr>
        <p:spPr bwMode="auto">
          <a:xfrm>
            <a:off x="1916113" y="3541713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2" name="Line 8"/>
          <p:cNvSpPr>
            <a:spLocks noChangeShapeType="1"/>
          </p:cNvSpPr>
          <p:nvPr/>
        </p:nvSpPr>
        <p:spPr bwMode="auto">
          <a:xfrm>
            <a:off x="1916113" y="354171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3" name="Line 9"/>
          <p:cNvSpPr>
            <a:spLocks noChangeShapeType="1"/>
          </p:cNvSpPr>
          <p:nvPr/>
        </p:nvSpPr>
        <p:spPr bwMode="auto">
          <a:xfrm>
            <a:off x="6259513" y="354171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4" name="AutoShape 10"/>
          <p:cNvSpPr>
            <a:spLocks noChangeArrowheads="1"/>
          </p:cNvSpPr>
          <p:nvPr/>
        </p:nvSpPr>
        <p:spPr bwMode="auto">
          <a:xfrm>
            <a:off x="4506913" y="3008313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7115" name="Line 11"/>
          <p:cNvSpPr>
            <a:spLocks noChangeShapeType="1"/>
          </p:cNvSpPr>
          <p:nvPr/>
        </p:nvSpPr>
        <p:spPr bwMode="auto">
          <a:xfrm flipH="1">
            <a:off x="6259513" y="48371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6" name="Line 12"/>
          <p:cNvSpPr>
            <a:spLocks noChangeShapeType="1"/>
          </p:cNvSpPr>
          <p:nvPr/>
        </p:nvSpPr>
        <p:spPr bwMode="auto">
          <a:xfrm>
            <a:off x="6259513" y="5065713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7" name="Line 13"/>
          <p:cNvSpPr>
            <a:spLocks noChangeShapeType="1"/>
          </p:cNvSpPr>
          <p:nvPr/>
        </p:nvSpPr>
        <p:spPr bwMode="auto">
          <a:xfrm>
            <a:off x="7859713" y="506571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18" name="AutoShape 14"/>
          <p:cNvSpPr>
            <a:spLocks noChangeArrowheads="1"/>
          </p:cNvSpPr>
          <p:nvPr/>
        </p:nvSpPr>
        <p:spPr bwMode="auto">
          <a:xfrm>
            <a:off x="6107113" y="4532313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7119" name="Text Box 15"/>
          <p:cNvSpPr txBox="1">
            <a:spLocks noChangeArrowheads="1"/>
          </p:cNvSpPr>
          <p:nvPr/>
        </p:nvSpPr>
        <p:spPr bwMode="auto">
          <a:xfrm>
            <a:off x="6488113" y="5599113"/>
            <a:ext cx="26670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RuntimeException</a:t>
            </a:r>
          </a:p>
        </p:txBody>
      </p:sp>
      <p:sp>
        <p:nvSpPr>
          <p:cNvPr id="47120" name="Text Box 16"/>
          <p:cNvSpPr txBox="1">
            <a:spLocks noChangeArrowheads="1"/>
          </p:cNvSpPr>
          <p:nvPr/>
        </p:nvSpPr>
        <p:spPr bwMode="auto">
          <a:xfrm>
            <a:off x="3516313" y="1322388"/>
            <a:ext cx="2209800" cy="466725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Object</a:t>
            </a:r>
          </a:p>
        </p:txBody>
      </p:sp>
      <p:sp>
        <p:nvSpPr>
          <p:cNvPr id="47121" name="Line 17"/>
          <p:cNvSpPr>
            <a:spLocks noChangeShapeType="1"/>
          </p:cNvSpPr>
          <p:nvPr/>
        </p:nvSpPr>
        <p:spPr bwMode="auto">
          <a:xfrm flipH="1">
            <a:off x="4659313" y="2093913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47122" name="AutoShape 18"/>
          <p:cNvSpPr>
            <a:spLocks noChangeArrowheads="1"/>
          </p:cNvSpPr>
          <p:nvPr/>
        </p:nvSpPr>
        <p:spPr bwMode="auto">
          <a:xfrm>
            <a:off x="4506913" y="1789113"/>
            <a:ext cx="304800" cy="304800"/>
          </a:xfrm>
          <a:prstGeom prst="triangle">
            <a:avLst>
              <a:gd name="adj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7123" name="Text Box 19"/>
          <p:cNvSpPr txBox="1">
            <a:spLocks noChangeArrowheads="1"/>
          </p:cNvSpPr>
          <p:nvPr/>
        </p:nvSpPr>
        <p:spPr bwMode="auto">
          <a:xfrm>
            <a:off x="0" y="2713038"/>
            <a:ext cx="1752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Erori de compilare, neverificate</a:t>
            </a:r>
          </a:p>
        </p:txBody>
      </p:sp>
      <p:sp>
        <p:nvSpPr>
          <p:cNvPr id="47124" name="Text Box 20"/>
          <p:cNvSpPr txBox="1">
            <a:spLocks noChangeArrowheads="1"/>
          </p:cNvSpPr>
          <p:nvPr/>
        </p:nvSpPr>
        <p:spPr bwMode="auto">
          <a:xfrm>
            <a:off x="7478713" y="3049588"/>
            <a:ext cx="1752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Erori de executie, verificate</a:t>
            </a:r>
          </a:p>
        </p:txBody>
      </p:sp>
      <p:sp>
        <p:nvSpPr>
          <p:cNvPr id="47125" name="Text Box 21"/>
          <p:cNvSpPr txBox="1">
            <a:spLocks noChangeArrowheads="1"/>
          </p:cNvSpPr>
          <p:nvPr/>
        </p:nvSpPr>
        <p:spPr bwMode="auto">
          <a:xfrm>
            <a:off x="7402513" y="6249988"/>
            <a:ext cx="17526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b="1">
                <a:solidFill>
                  <a:srgbClr val="000000"/>
                </a:solidFill>
                <a:latin typeface="Times New Roman" panose="02020603050405020304" pitchFamily="18" charset="0"/>
              </a:rPr>
              <a:t>Erori de executie, neverificate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Aruncarea unei exceptii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21796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Se pot arunca doar obiecte derivate din clasa </a:t>
            </a:r>
            <a:r>
              <a:rPr lang="en-US" altLang="en-US" sz="3600" b="1" smtClean="0"/>
              <a:t>Throwable</a:t>
            </a:r>
          </a:p>
          <a:p>
            <a:pPr eaLnBrk="1" hangingPunct="1"/>
            <a:r>
              <a:rPr lang="en-US" altLang="en-US" sz="3600" smtClean="0"/>
              <a:t>Obiectele derivate din clasa </a:t>
            </a:r>
            <a:r>
              <a:rPr lang="en-US" altLang="en-US" sz="3600" b="1" smtClean="0"/>
              <a:t>Error</a:t>
            </a:r>
            <a:r>
              <a:rPr lang="en-US" altLang="en-US" sz="3600" smtClean="0"/>
              <a:t> sunt considerate erori interne si nu se asteapta ca programatorul sa le trateze</a:t>
            </a:r>
          </a:p>
          <a:p>
            <a:pPr eaLnBrk="1" hangingPunct="1"/>
            <a:r>
              <a:rPr lang="en-US" altLang="en-US" sz="3600" smtClean="0"/>
              <a:t>Obiectele derivate din clasa </a:t>
            </a:r>
            <a:r>
              <a:rPr lang="en-US" altLang="en-US" sz="3600" b="1" smtClean="0"/>
              <a:t>Exception</a:t>
            </a:r>
            <a:r>
              <a:rPr lang="en-US" altLang="en-US" sz="3600" smtClean="0"/>
              <a:t>, daca sunt aruncate trebuie tratate de programator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9072562" cy="1512888"/>
          </a:xfrm>
        </p:spPr>
        <p:txBody>
          <a:bodyPr/>
          <a:lstStyle/>
          <a:p>
            <a:pPr eaLnBrk="1" hangingPunct="1"/>
            <a:r>
              <a:rPr lang="en-US" altLang="en-US" smtClean="0"/>
              <a:t>Aruncarea unei exceptii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5913" y="16462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Obiectele derivate din clasa </a:t>
            </a:r>
            <a:r>
              <a:rPr lang="en-US" altLang="en-US" sz="3600" b="1" smtClean="0"/>
              <a:t>RuntimeException</a:t>
            </a:r>
            <a:r>
              <a:rPr lang="en-US" altLang="en-US" sz="3600" smtClean="0"/>
              <a:t> nu trebuiesc tratate pentru ca sunt exceptii care pot fi rezolvate prin corectarea programului (ex. ArrayIndexOutOfBounds)</a:t>
            </a:r>
          </a:p>
          <a:p>
            <a:pPr eaLnBrk="1" hangingPunct="1"/>
            <a:r>
              <a:rPr lang="en-US" altLang="en-US" sz="3600" smtClean="0"/>
              <a:t>O metoda care </a:t>
            </a:r>
            <a:r>
              <a:rPr lang="en-US" altLang="en-US" sz="3600" b="1" smtClean="0"/>
              <a:t>suprascrie</a:t>
            </a:r>
            <a:r>
              <a:rPr lang="en-US" altLang="en-US" sz="3600" smtClean="0"/>
              <a:t> o metoda ce arunca o exceptie, trebuie si ea sa declare ca arunca acea exceptie sau o exceptie mai concreta, dar nu mai generala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Erori : Cuprins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>
                <a:solidFill>
                  <a:srgbClr val="FF0000"/>
                </a:solidFill>
              </a:rPr>
              <a:t> </a:t>
            </a:r>
            <a:r>
              <a:rPr lang="en-GB" altLang="en-US" sz="4400" b="1" smtClean="0"/>
              <a:t>Tipuri de erori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Tratarea erorilor in Java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Aruncarea unei exceptii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</a:t>
            </a:r>
            <a:r>
              <a:rPr lang="en-GB" altLang="en-US" sz="4400" b="1" smtClean="0">
                <a:solidFill>
                  <a:srgbClr val="FF0000"/>
                </a:solidFill>
              </a:rPr>
              <a:t>Tratarea unei exceptii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>
                <a:solidFill>
                  <a:srgbClr val="FF0000"/>
                </a:solidFill>
              </a:rPr>
              <a:t> </a:t>
            </a:r>
            <a:r>
              <a:rPr lang="en-GB" altLang="en-US" sz="4400" b="1" smtClean="0"/>
              <a:t>Crearea unei exceptii proprii</a:t>
            </a:r>
            <a:endParaRPr lang="en-US" altLang="en-US" sz="39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274638"/>
            <a:ext cx="9072562" cy="1512887"/>
          </a:xfrm>
        </p:spPr>
        <p:txBody>
          <a:bodyPr/>
          <a:lstStyle/>
          <a:p>
            <a:pPr eaLnBrk="1" hangingPunct="1"/>
            <a:r>
              <a:rPr lang="en-US" altLang="en-US" smtClean="0"/>
              <a:t>Tratarea unei exceptii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22438"/>
            <a:ext cx="9072562" cy="4283075"/>
          </a:xfrm>
        </p:spPr>
        <p:txBody>
          <a:bodyPr/>
          <a:lstStyle/>
          <a:p>
            <a:pPr eaLnBrk="1" hangingPunct="1">
              <a:lnSpc>
                <a:spcPct val="83000"/>
              </a:lnSpc>
            </a:pPr>
            <a:r>
              <a:rPr lang="en-US" altLang="en-US" sz="3600" smtClean="0"/>
              <a:t>La aparitia unei exceptii se </a:t>
            </a:r>
            <a:r>
              <a:rPr lang="en-US" altLang="en-US" sz="3600" b="1" smtClean="0"/>
              <a:t>opreste</a:t>
            </a:r>
            <a:r>
              <a:rPr lang="en-US" altLang="en-US" sz="3600" smtClean="0"/>
              <a:t> executia normala a programului si se incepe cautarea unui handler pentru tratarea acelei exceptii</a:t>
            </a:r>
          </a:p>
          <a:p>
            <a:pPr eaLnBrk="1" hangingPunct="1">
              <a:lnSpc>
                <a:spcPct val="83000"/>
              </a:lnSpc>
            </a:pPr>
            <a:endParaRPr lang="en-US" altLang="en-US" sz="3600" smtClean="0"/>
          </a:p>
          <a:p>
            <a:pPr eaLnBrk="1" hangingPunct="1">
              <a:lnSpc>
                <a:spcPct val="83000"/>
              </a:lnSpc>
            </a:pPr>
            <a:r>
              <a:rPr lang="en-US" altLang="en-US" sz="3600" smtClean="0"/>
              <a:t>Un </a:t>
            </a:r>
            <a:r>
              <a:rPr lang="en-US" altLang="en-US" sz="3600" b="1" smtClean="0"/>
              <a:t>handler</a:t>
            </a:r>
            <a:r>
              <a:rPr lang="en-US" altLang="en-US" sz="3600" smtClean="0"/>
              <a:t> este o bucata de cod care prinde si trateaza o exceptie</a:t>
            </a:r>
          </a:p>
          <a:p>
            <a:pPr eaLnBrk="1" hangingPunct="1">
              <a:lnSpc>
                <a:spcPct val="83000"/>
              </a:lnSpc>
            </a:pPr>
            <a:endParaRPr lang="en-US" altLang="en-US" sz="3600" smtClean="0"/>
          </a:p>
          <a:p>
            <a:pPr eaLnBrk="1" hangingPunct="1">
              <a:lnSpc>
                <a:spcPct val="83000"/>
              </a:lnSpc>
            </a:pPr>
            <a:r>
              <a:rPr lang="en-US" altLang="en-US" sz="3600" smtClean="0"/>
              <a:t>Cautarea unui handler se face intorcandu-ne inapoi in metodele care au apelat metoda in care a aparut exceptia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98438"/>
            <a:ext cx="9072562" cy="1512887"/>
          </a:xfrm>
        </p:spPr>
        <p:txBody>
          <a:bodyPr/>
          <a:lstStyle/>
          <a:p>
            <a:pPr eaLnBrk="1" hangingPunct="1"/>
            <a:r>
              <a:rPr lang="en-US" altLang="en-US" smtClean="0"/>
              <a:t>Tratarea unei exceptii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113" y="18748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O metoda care foloseste cod Java ce poate genera o exceptie, trebuie sa faca unul din urmatoarele lucruri:</a:t>
            </a:r>
          </a:p>
          <a:p>
            <a:pPr lvl="1" eaLnBrk="1" hangingPunct="1"/>
            <a:r>
              <a:rPr lang="en-US" altLang="en-US" sz="3200" smtClean="0"/>
              <a:t>Sa </a:t>
            </a:r>
            <a:r>
              <a:rPr lang="en-US" altLang="en-US" sz="3200" b="1" smtClean="0"/>
              <a:t>declare</a:t>
            </a:r>
            <a:r>
              <a:rPr lang="en-US" altLang="en-US" sz="3200" smtClean="0"/>
              <a:t> la randul ei ca arunca mai departe acea exceptie</a:t>
            </a:r>
          </a:p>
          <a:p>
            <a:pPr lvl="1" eaLnBrk="1" hangingPunct="1"/>
            <a:r>
              <a:rPr lang="en-US" altLang="en-US" sz="3200" smtClean="0"/>
              <a:t>Sa </a:t>
            </a:r>
            <a:r>
              <a:rPr lang="en-US" altLang="en-US" sz="3200" b="1" smtClean="0"/>
              <a:t>prinda</a:t>
            </a:r>
            <a:r>
              <a:rPr lang="en-US" altLang="en-US" sz="3200" smtClean="0"/>
              <a:t> acea exceptie intr-un handler si sa o rezolve</a:t>
            </a:r>
          </a:p>
          <a:p>
            <a:pPr lvl="1" eaLnBrk="1" hangingPunct="1"/>
            <a:r>
              <a:rPr lang="en-US" altLang="en-US" sz="3200" smtClean="0"/>
              <a:t>Sa prinda acea exceptie intr-un handler si sa o </a:t>
            </a:r>
            <a:r>
              <a:rPr lang="en-US" altLang="en-US" sz="3200" b="1" smtClean="0"/>
              <a:t>rearunce</a:t>
            </a:r>
            <a:r>
              <a:rPr lang="en-US" altLang="en-US" sz="3200" smtClean="0"/>
              <a:t> mai departe, declarand ca arunca acea exceptie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0"/>
            <a:ext cx="9072562" cy="1512888"/>
          </a:xfrm>
        </p:spPr>
        <p:txBody>
          <a:bodyPr/>
          <a:lstStyle/>
          <a:p>
            <a:pPr eaLnBrk="1" hangingPunct="1"/>
            <a:r>
              <a:rPr lang="en-US" altLang="en-US" smtClean="0"/>
              <a:t>Tratarea unei exceptii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713" y="1123950"/>
            <a:ext cx="9548812" cy="6435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public class Student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FileInputStream f;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public void readFile(String fName)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</a:t>
            </a:r>
            <a:r>
              <a:rPr lang="en-US" altLang="en-US" sz="2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try</a:t>
            </a:r>
            <a:r>
              <a:rPr lang="en-US" altLang="en-US" sz="2800" b="1" smtClean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 f = new FileInputStream(fName);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 f.read();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} </a:t>
            </a:r>
            <a:r>
              <a:rPr lang="en-US" altLang="en-US" sz="2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catch</a:t>
            </a:r>
            <a:r>
              <a:rPr lang="en-US" altLang="en-US" sz="2800" b="1" smtClean="0">
                <a:latin typeface="Courier New" panose="02070309020205020404" pitchFamily="49" charset="0"/>
              </a:rPr>
              <a:t> (IOException e)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 System.out.println(“Nu pot citi”);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} </a:t>
            </a:r>
            <a:r>
              <a:rPr lang="en-US" altLang="en-US" sz="2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catch</a:t>
            </a:r>
            <a:r>
              <a:rPr lang="en-US" altLang="en-US" sz="2800" b="1" smtClean="0">
                <a:latin typeface="Courier New" panose="02070309020205020404" pitchFamily="49" charset="0"/>
              </a:rPr>
              <a:t> (FileNotFoundException e)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 System.out.println(“Nu exista”);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}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98438"/>
            <a:ext cx="9072562" cy="1512887"/>
          </a:xfrm>
        </p:spPr>
        <p:txBody>
          <a:bodyPr/>
          <a:lstStyle/>
          <a:p>
            <a:pPr eaLnBrk="1" hangingPunct="1"/>
            <a:r>
              <a:rPr lang="en-US" altLang="en-US" smtClean="0"/>
              <a:t>Tratarea unei exceptii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113" y="15700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Pentru prinderea unei exceptii se include codul care poate arunca o exceptie intr-un </a:t>
            </a:r>
            <a:r>
              <a:rPr lang="en-US" altLang="en-US" sz="3600" b="1" smtClean="0"/>
              <a:t>bloc try-catch</a:t>
            </a:r>
          </a:p>
          <a:p>
            <a:pPr eaLnBrk="1" hangingPunct="1"/>
            <a:r>
              <a:rPr lang="en-US" altLang="en-US" sz="3600" smtClean="0"/>
              <a:t>In blocul </a:t>
            </a:r>
            <a:r>
              <a:rPr lang="en-US" altLang="en-US" sz="3600" b="1" smtClean="0"/>
              <a:t>try</a:t>
            </a:r>
            <a:r>
              <a:rPr lang="en-US" altLang="en-US" sz="3600" smtClean="0"/>
              <a:t> este programul normal</a:t>
            </a:r>
          </a:p>
          <a:p>
            <a:pPr eaLnBrk="1" hangingPunct="1"/>
            <a:r>
              <a:rPr lang="en-US" altLang="en-US" sz="3600" smtClean="0"/>
              <a:t>In blocurile </a:t>
            </a:r>
            <a:r>
              <a:rPr lang="en-US" altLang="en-US" sz="3600" b="1" smtClean="0"/>
              <a:t>catch</a:t>
            </a:r>
            <a:r>
              <a:rPr lang="en-US" altLang="en-US" sz="3600" smtClean="0"/>
              <a:t> sunt handlerele de exceptii</a:t>
            </a:r>
          </a:p>
          <a:p>
            <a:pPr eaLnBrk="1" hangingPunct="1"/>
            <a:r>
              <a:rPr lang="en-US" altLang="en-US" sz="3600" smtClean="0"/>
              <a:t>Un try trebuie sa aiba cel putin un catch</a:t>
            </a:r>
          </a:p>
          <a:p>
            <a:pPr eaLnBrk="1" hangingPunct="1"/>
            <a:r>
              <a:rPr lang="en-US" altLang="en-US" sz="3600" smtClean="0"/>
              <a:t>Un try poate avea mai multe blocuri catch, cate unul pentru fiecare exceptie ce poate sa apara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198438"/>
            <a:ext cx="9072562" cy="1512887"/>
          </a:xfrm>
        </p:spPr>
        <p:txBody>
          <a:bodyPr/>
          <a:lstStyle/>
          <a:p>
            <a:pPr eaLnBrk="1" hangingPunct="1"/>
            <a:r>
              <a:rPr lang="en-US" altLang="en-US" smtClean="0"/>
              <a:t>Tratarea unei exceptii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2113" y="1646238"/>
            <a:ext cx="9072562" cy="4283075"/>
          </a:xfrm>
        </p:spPr>
        <p:txBody>
          <a:bodyPr/>
          <a:lstStyle/>
          <a:p>
            <a:pPr eaLnBrk="1" hangingPunct="1"/>
            <a:r>
              <a:rPr lang="en-US" altLang="en-US" sz="3200" smtClean="0"/>
              <a:t>Din cauza polimorfismului, un bloc catch poate prinde orice exceptie derivata din clasa pe care el o declara</a:t>
            </a:r>
          </a:p>
          <a:p>
            <a:pPr eaLnBrk="1" hangingPunct="1"/>
            <a:endParaRPr lang="en-US" altLang="en-US" sz="3200" smtClean="0"/>
          </a:p>
          <a:p>
            <a:pPr eaLnBrk="1" hangingPunct="1"/>
            <a:r>
              <a:rPr lang="en-US" altLang="en-US" sz="3200" smtClean="0"/>
              <a:t>Din aceasta cauza prima data se declara handlerele pentru exceptii mai concrete (mai jos in ierarhie), si apoi se declara handlerele pentru exceptii mai generale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9072562" cy="1512888"/>
          </a:xfrm>
        </p:spPr>
        <p:txBody>
          <a:bodyPr/>
          <a:lstStyle/>
          <a:p>
            <a:pPr eaLnBrk="1" hangingPunct="1"/>
            <a:r>
              <a:rPr lang="en-US" altLang="en-US" smtClean="0"/>
              <a:t>Tratarea unei exceptii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713" y="1123950"/>
            <a:ext cx="9548812" cy="6435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 smtClean="0">
                <a:latin typeface="Courier New" panose="02070309020205020404" pitchFamily="49" charset="0"/>
              </a:rPr>
              <a:t>public class Student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 smtClean="0">
                <a:latin typeface="Courier New" panose="02070309020205020404" pitchFamily="49" charset="0"/>
              </a:rPr>
              <a:t> </a:t>
            </a:r>
            <a:r>
              <a:rPr lang="en-US" altLang="en-US" sz="2800" b="1" dirty="0" err="1" smtClean="0">
                <a:latin typeface="Courier New" panose="02070309020205020404" pitchFamily="49" charset="0"/>
              </a:rPr>
              <a:t>FileInputStream</a:t>
            </a:r>
            <a:r>
              <a:rPr lang="en-US" altLang="en-US" sz="2800" b="1" dirty="0" smtClean="0">
                <a:latin typeface="Courier New" panose="02070309020205020404" pitchFamily="49" charset="0"/>
              </a:rPr>
              <a:t> f;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 smtClean="0">
                <a:latin typeface="Courier New" panose="02070309020205020404" pitchFamily="49" charset="0"/>
              </a:rPr>
              <a:t> public void </a:t>
            </a:r>
            <a:r>
              <a:rPr lang="en-US" altLang="en-US" sz="2800" b="1" dirty="0" err="1" smtClean="0">
                <a:latin typeface="Courier New" panose="02070309020205020404" pitchFamily="49" charset="0"/>
              </a:rPr>
              <a:t>readFile</a:t>
            </a:r>
            <a:r>
              <a:rPr lang="en-US" altLang="en-US" sz="2800" b="1" dirty="0" smtClean="0">
                <a:latin typeface="Courier New" panose="02070309020205020404" pitchFamily="49" charset="0"/>
              </a:rPr>
              <a:t>(String </a:t>
            </a:r>
            <a:r>
              <a:rPr lang="en-US" altLang="en-US" sz="2800" b="1" dirty="0" err="1" smtClean="0">
                <a:latin typeface="Courier New" panose="02070309020205020404" pitchFamily="49" charset="0"/>
              </a:rPr>
              <a:t>fName</a:t>
            </a:r>
            <a:r>
              <a:rPr lang="en-US" altLang="en-US" sz="2800" b="1" dirty="0" smtClean="0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 smtClean="0">
                <a:latin typeface="Courier New" panose="02070309020205020404" pitchFamily="49" charset="0"/>
              </a:rPr>
              <a:t>  </a:t>
            </a:r>
            <a:r>
              <a:rPr lang="en-US" altLang="en-US" sz="2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try</a:t>
            </a:r>
            <a:r>
              <a:rPr lang="en-US" altLang="en-US" sz="2800" b="1" dirty="0" smtClean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 smtClean="0">
                <a:latin typeface="Courier New" panose="02070309020205020404" pitchFamily="49" charset="0"/>
              </a:rPr>
              <a:t>   f = new </a:t>
            </a:r>
            <a:r>
              <a:rPr lang="en-US" altLang="en-US" sz="2800" b="1" dirty="0" err="1" smtClean="0">
                <a:latin typeface="Courier New" panose="02070309020205020404" pitchFamily="49" charset="0"/>
              </a:rPr>
              <a:t>FileInputStream</a:t>
            </a:r>
            <a:r>
              <a:rPr lang="en-US" altLang="en-US" sz="2800" b="1" dirty="0" smtClean="0">
                <a:latin typeface="Courier New" panose="02070309020205020404" pitchFamily="49" charset="0"/>
              </a:rPr>
              <a:t>(</a:t>
            </a:r>
            <a:r>
              <a:rPr lang="en-US" altLang="en-US" sz="2800" b="1" dirty="0" err="1" smtClean="0">
                <a:latin typeface="Courier New" panose="02070309020205020404" pitchFamily="49" charset="0"/>
              </a:rPr>
              <a:t>fName</a:t>
            </a:r>
            <a:r>
              <a:rPr lang="en-US" altLang="en-US" sz="2800" b="1" dirty="0" smtClean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 smtClean="0">
                <a:latin typeface="Courier New" panose="02070309020205020404" pitchFamily="49" charset="0"/>
              </a:rPr>
              <a:t>   </a:t>
            </a:r>
            <a:r>
              <a:rPr lang="en-US" altLang="en-US" sz="2800" b="1" dirty="0" err="1" smtClean="0">
                <a:latin typeface="Courier New" panose="02070309020205020404" pitchFamily="49" charset="0"/>
              </a:rPr>
              <a:t>f.read</a:t>
            </a:r>
            <a:r>
              <a:rPr lang="en-US" altLang="en-US" sz="2800" b="1" dirty="0" smtClean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 smtClean="0">
                <a:latin typeface="Courier New" panose="02070309020205020404" pitchFamily="49" charset="0"/>
              </a:rPr>
              <a:t>  } </a:t>
            </a:r>
            <a:r>
              <a:rPr lang="en-US" altLang="en-US" sz="2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catch</a:t>
            </a:r>
            <a:r>
              <a:rPr lang="en-US" altLang="en-US" sz="2800" b="1" dirty="0" smtClean="0">
                <a:latin typeface="Courier New" panose="02070309020205020404" pitchFamily="49" charset="0"/>
              </a:rPr>
              <a:t> (</a:t>
            </a:r>
            <a:r>
              <a:rPr lang="en-US" altLang="en-US" sz="2800" b="1" dirty="0" err="1" smtClean="0">
                <a:latin typeface="Courier New" panose="02070309020205020404" pitchFamily="49" charset="0"/>
              </a:rPr>
              <a:t>IOException</a:t>
            </a:r>
            <a:r>
              <a:rPr lang="en-US" altLang="en-US" sz="2800" b="1" dirty="0" smtClean="0">
                <a:latin typeface="Courier New" panose="02070309020205020404" pitchFamily="49" charset="0"/>
              </a:rPr>
              <a:t> e)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 smtClean="0">
                <a:latin typeface="Courier New" panose="02070309020205020404" pitchFamily="49" charset="0"/>
              </a:rPr>
              <a:t>   </a:t>
            </a:r>
            <a:r>
              <a:rPr lang="en-US" altLang="en-US" sz="2800" b="1" dirty="0" err="1" smtClean="0">
                <a:latin typeface="Courier New" panose="02070309020205020404" pitchFamily="49" charset="0"/>
              </a:rPr>
              <a:t>System.out.println</a:t>
            </a:r>
            <a:r>
              <a:rPr lang="en-US" altLang="en-US" sz="2800" b="1" dirty="0" smtClean="0">
                <a:latin typeface="Courier New" panose="02070309020205020404" pitchFamily="49" charset="0"/>
              </a:rPr>
              <a:t>(“Nu pot </a:t>
            </a:r>
            <a:r>
              <a:rPr lang="en-US" altLang="en-US" sz="2800" b="1" dirty="0" err="1" smtClean="0">
                <a:latin typeface="Courier New" panose="02070309020205020404" pitchFamily="49" charset="0"/>
              </a:rPr>
              <a:t>citi</a:t>
            </a:r>
            <a:r>
              <a:rPr lang="en-US" altLang="en-US" sz="2800" b="1" dirty="0" smtClean="0">
                <a:latin typeface="Courier New" panose="02070309020205020404" pitchFamily="49" charset="0"/>
              </a:rPr>
              <a:t>”);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 smtClean="0">
                <a:latin typeface="Courier New" panose="02070309020205020404" pitchFamily="49" charset="0"/>
              </a:rPr>
              <a:t>  } </a:t>
            </a:r>
            <a:r>
              <a:rPr lang="en-US" altLang="en-US" sz="2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catch</a:t>
            </a:r>
            <a:r>
              <a:rPr lang="en-US" altLang="en-US" sz="2800" b="1" dirty="0" smtClean="0">
                <a:latin typeface="Courier New" panose="02070309020205020404" pitchFamily="49" charset="0"/>
              </a:rPr>
              <a:t> (Exception e)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 smtClean="0">
                <a:latin typeface="Courier New" panose="02070309020205020404" pitchFamily="49" charset="0"/>
              </a:rPr>
              <a:t>   </a:t>
            </a:r>
            <a:r>
              <a:rPr lang="en-US" altLang="en-US" sz="2800" b="1" dirty="0" err="1" smtClean="0">
                <a:latin typeface="Courier New" panose="02070309020205020404" pitchFamily="49" charset="0"/>
              </a:rPr>
              <a:t>System.out.println</a:t>
            </a:r>
            <a:r>
              <a:rPr lang="en-US" altLang="en-US" sz="2800" b="1" dirty="0" smtClean="0">
                <a:latin typeface="Courier New" panose="02070309020205020404" pitchFamily="49" charset="0"/>
              </a:rPr>
              <a:t>(“Nu </a:t>
            </a:r>
            <a:r>
              <a:rPr lang="en-US" altLang="en-US" sz="2800" b="1" dirty="0" err="1" smtClean="0">
                <a:latin typeface="Courier New" panose="02070309020205020404" pitchFamily="49" charset="0"/>
              </a:rPr>
              <a:t>exista</a:t>
            </a:r>
            <a:r>
              <a:rPr lang="en-US" altLang="en-US" sz="2800" b="1" dirty="0" smtClean="0">
                <a:latin typeface="Courier New" panose="02070309020205020404" pitchFamily="49" charset="0"/>
              </a:rPr>
              <a:t>”);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 smtClean="0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dirty="0" smtClean="0">
                <a:latin typeface="Courier New" panose="02070309020205020404" pitchFamily="49" charset="0"/>
              </a:rPr>
              <a:t> }}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198438"/>
            <a:ext cx="9072562" cy="1512887"/>
          </a:xfrm>
        </p:spPr>
        <p:txBody>
          <a:bodyPr/>
          <a:lstStyle/>
          <a:p>
            <a:pPr eaLnBrk="1" hangingPunct="1"/>
            <a:r>
              <a:rPr lang="en-US" altLang="en-US" smtClean="0"/>
              <a:t>Tratarea unei exceptii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5913" y="1493838"/>
            <a:ext cx="9072562" cy="4283075"/>
          </a:xfrm>
        </p:spPr>
        <p:txBody>
          <a:bodyPr/>
          <a:lstStyle/>
          <a:p>
            <a:pPr eaLnBrk="1" hangingPunct="1">
              <a:lnSpc>
                <a:spcPct val="83000"/>
              </a:lnSpc>
            </a:pPr>
            <a:r>
              <a:rPr lang="en-US" altLang="en-US" sz="3600" smtClean="0"/>
              <a:t>Un bloc try-catch poate avea optional un bloc </a:t>
            </a:r>
            <a:r>
              <a:rPr lang="en-US" altLang="en-US" sz="3600" b="1" smtClean="0"/>
              <a:t>finally</a:t>
            </a:r>
            <a:r>
              <a:rPr lang="en-US" altLang="en-US" sz="3600" smtClean="0"/>
              <a:t>, care se executa indiferend daca a aparut sau nu o exceptie</a:t>
            </a:r>
          </a:p>
          <a:p>
            <a:pPr eaLnBrk="1" hangingPunct="1">
              <a:lnSpc>
                <a:spcPct val="83000"/>
              </a:lnSpc>
            </a:pPr>
            <a:endParaRPr lang="en-US" altLang="en-US" sz="3600" smtClean="0"/>
          </a:p>
          <a:p>
            <a:pPr eaLnBrk="1" hangingPunct="1">
              <a:lnSpc>
                <a:spcPct val="83000"/>
              </a:lnSpc>
            </a:pPr>
            <a:r>
              <a:rPr lang="en-US" altLang="en-US" sz="3600" smtClean="0"/>
              <a:t>Blocul finally este folosit pentru actiuni care trebuie efectuate indiferent daca a aparut sau nu o exeptie (inchiderea fisierelor, a conexiunilor de retea, etc)</a:t>
            </a:r>
          </a:p>
          <a:p>
            <a:pPr eaLnBrk="1" hangingPunct="1">
              <a:lnSpc>
                <a:spcPct val="83000"/>
              </a:lnSpc>
            </a:pPr>
            <a:endParaRPr lang="en-US" altLang="en-US" sz="3600" smtClean="0"/>
          </a:p>
          <a:p>
            <a:pPr eaLnBrk="1" hangingPunct="1">
              <a:lnSpc>
                <a:spcPct val="83000"/>
              </a:lnSpc>
            </a:pPr>
            <a:r>
              <a:rPr lang="en-US" altLang="en-US" sz="3600" smtClean="0"/>
              <a:t>Singurul caz in care nu se executa blocul finally este atunci cand apare un System.exit() inaintea lui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544513" y="0"/>
            <a:ext cx="9072562" cy="1512888"/>
          </a:xfrm>
        </p:spPr>
        <p:txBody>
          <a:bodyPr/>
          <a:lstStyle/>
          <a:p>
            <a:pPr eaLnBrk="1" hangingPunct="1"/>
            <a:r>
              <a:rPr lang="en-US" altLang="en-US" smtClean="0"/>
              <a:t>Tratarea unei exceptii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5913" y="1123950"/>
            <a:ext cx="9548812" cy="6435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public class Student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FileInputStream f;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b="1" smtClean="0">
              <a:latin typeface="Courier New" panose="020703090202050204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public void readFile(String fName)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try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 f = new FileInputStream(fName);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 f.read();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} catch (Exception e)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 System.out.println(“Nu exista”);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} </a:t>
            </a:r>
            <a:r>
              <a:rPr lang="en-US" altLang="en-US" sz="2800" b="1" smtClean="0">
                <a:solidFill>
                  <a:srgbClr val="FF0000"/>
                </a:solidFill>
                <a:latin typeface="Courier New" panose="02070309020205020404" pitchFamily="49" charset="0"/>
              </a:rPr>
              <a:t>finally</a:t>
            </a:r>
            <a:r>
              <a:rPr lang="en-US" altLang="en-US" sz="2800" b="1" smtClean="0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 f.close();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 smtClean="0">
                <a:latin typeface="Courier New" panose="02070309020205020404" pitchFamily="49" charset="0"/>
              </a:rPr>
              <a:t>  }}}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Erori : Cuprins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>
                <a:solidFill>
                  <a:srgbClr val="FF0000"/>
                </a:solidFill>
              </a:rPr>
              <a:t> </a:t>
            </a:r>
            <a:r>
              <a:rPr lang="en-GB" altLang="en-US" sz="4400" b="1" smtClean="0"/>
              <a:t>Tipuri de erori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Tratarea erorilor in Java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Aruncarea unei exceptii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/>
              <a:t> Tratarea unei exceptii</a:t>
            </a:r>
          </a:p>
          <a:p>
            <a:pPr marL="717550" indent="-609600" defTabSz="449263" eaLnBrk="1" hangingPunct="1">
              <a:buSzPct val="112000"/>
              <a:buFont typeface="StarSymbol" charset="0"/>
              <a:buAutoNum type="arabicPeriod"/>
            </a:pPr>
            <a:r>
              <a:rPr lang="en-GB" altLang="en-US" sz="4400" b="1" smtClean="0">
                <a:solidFill>
                  <a:srgbClr val="FF0000"/>
                </a:solidFill>
              </a:rPr>
              <a:t> Crearea unei exceptii proprii</a:t>
            </a:r>
            <a:endParaRPr lang="en-US" altLang="en-US" sz="390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Crearea unei exceptii proprii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 err="1" smtClean="0"/>
              <a:t>Pentru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definirea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unei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noi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exceptii</a:t>
            </a:r>
            <a:r>
              <a:rPr lang="en-US" altLang="en-US" sz="3600" dirty="0" smtClean="0"/>
              <a:t>, tot </a:t>
            </a:r>
            <a:r>
              <a:rPr lang="en-US" altLang="en-US" sz="3600" dirty="0" err="1" smtClean="0"/>
              <a:t>ceea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ce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trebuie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sa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facem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este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sa</a:t>
            </a:r>
            <a:r>
              <a:rPr lang="en-US" altLang="en-US" sz="3600" dirty="0" smtClean="0"/>
              <a:t> cream o </a:t>
            </a:r>
            <a:r>
              <a:rPr lang="en-US" altLang="en-US" sz="3600" dirty="0" err="1" smtClean="0"/>
              <a:t>clasa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proprie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derivata</a:t>
            </a:r>
            <a:r>
              <a:rPr lang="en-US" altLang="en-US" sz="3600" dirty="0" smtClean="0"/>
              <a:t> din </a:t>
            </a:r>
            <a:r>
              <a:rPr lang="en-US" altLang="en-US" sz="3600" dirty="0" err="1" smtClean="0"/>
              <a:t>clasa</a:t>
            </a:r>
            <a:r>
              <a:rPr lang="en-US" altLang="en-US" sz="3600" dirty="0" smtClean="0"/>
              <a:t> </a:t>
            </a:r>
            <a:r>
              <a:rPr lang="en-US" altLang="en-US" sz="3600" b="1" dirty="0" smtClean="0"/>
              <a:t>Exception</a:t>
            </a:r>
          </a:p>
          <a:p>
            <a:pPr eaLnBrk="1" hangingPunct="1"/>
            <a:r>
              <a:rPr lang="en-US" altLang="en-US" sz="3600" dirty="0" smtClean="0"/>
              <a:t>In </a:t>
            </a:r>
            <a:r>
              <a:rPr lang="en-US" altLang="en-US" sz="3600" dirty="0" err="1" smtClean="0"/>
              <a:t>continuarea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aruncarea</a:t>
            </a:r>
            <a:r>
              <a:rPr lang="en-US" altLang="en-US" sz="3600" dirty="0" smtClean="0"/>
              <a:t>, </a:t>
            </a:r>
            <a:r>
              <a:rPr lang="en-US" altLang="en-US" sz="3600" dirty="0" err="1" smtClean="0"/>
              <a:t>declararea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si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prinderea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acestei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exceptii</a:t>
            </a:r>
            <a:r>
              <a:rPr lang="en-US" altLang="en-US" sz="3600" dirty="0" smtClean="0"/>
              <a:t> se face ca </a:t>
            </a:r>
            <a:r>
              <a:rPr lang="en-US" altLang="en-US" sz="3600" dirty="0" err="1" smtClean="0"/>
              <a:t>pentru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orice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alta</a:t>
            </a:r>
            <a:r>
              <a:rPr lang="en-US" altLang="en-US" sz="3600" dirty="0" smtClean="0"/>
              <a:t> </a:t>
            </a:r>
            <a:r>
              <a:rPr lang="en-US" altLang="en-US" sz="3600" dirty="0" err="1" smtClean="0"/>
              <a:t>exceptie</a:t>
            </a:r>
            <a:endParaRPr lang="en-US" altLang="en-US" sz="3600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9456</TotalTime>
  <Words>1515</Words>
  <Application>Microsoft Office PowerPoint</Application>
  <PresentationFormat>Custom</PresentationFormat>
  <Paragraphs>245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Wingdings</vt:lpstr>
      <vt:lpstr>Times New Roman</vt:lpstr>
      <vt:lpstr>Arial Black</vt:lpstr>
      <vt:lpstr>Arial Narrow</vt:lpstr>
      <vt:lpstr>StarSymbol</vt:lpstr>
      <vt:lpstr>Courier New</vt:lpstr>
      <vt:lpstr>Pixel</vt:lpstr>
      <vt:lpstr>Polimorfism : Cuprins</vt:lpstr>
      <vt:lpstr>Supraîncărcarea - Overloading</vt:lpstr>
      <vt:lpstr>Overloading</vt:lpstr>
      <vt:lpstr>Polimorfism : Cuprins</vt:lpstr>
      <vt:lpstr>Overriding</vt:lpstr>
      <vt:lpstr>Overriding</vt:lpstr>
      <vt:lpstr>Polimorfism : Cuprins</vt:lpstr>
      <vt:lpstr>Legarea dinamica</vt:lpstr>
      <vt:lpstr>Legarea dinamica</vt:lpstr>
      <vt:lpstr>Cuprins</vt:lpstr>
      <vt:lpstr>Erori : Cuprins</vt:lpstr>
      <vt:lpstr>Tipuri de erori</vt:lpstr>
      <vt:lpstr>Tipuri de erori</vt:lpstr>
      <vt:lpstr>Tipuri de erori</vt:lpstr>
      <vt:lpstr>Erori : Cuprins</vt:lpstr>
      <vt:lpstr>Tratarea erorilor in Java</vt:lpstr>
      <vt:lpstr>Tratarea erorilor in Java</vt:lpstr>
      <vt:lpstr>Erori : Cuprins</vt:lpstr>
      <vt:lpstr>Aruncarea unei exceptii</vt:lpstr>
      <vt:lpstr>Aruncarea unei exceptii</vt:lpstr>
      <vt:lpstr>Exceptii: Ierarhia de clase</vt:lpstr>
      <vt:lpstr>Aruncarea unei exceptii</vt:lpstr>
      <vt:lpstr>Aruncarea unei exceptii</vt:lpstr>
      <vt:lpstr>Erori : Cuprins</vt:lpstr>
      <vt:lpstr>Tratarea unei exceptii</vt:lpstr>
      <vt:lpstr>Tratarea unei exceptii</vt:lpstr>
      <vt:lpstr>Tratarea unei exceptii</vt:lpstr>
      <vt:lpstr>Tratarea unei exceptii</vt:lpstr>
      <vt:lpstr>Tratarea unei exceptii</vt:lpstr>
      <vt:lpstr>Tratarea unei exceptii</vt:lpstr>
      <vt:lpstr>Tratarea unei exceptii</vt:lpstr>
      <vt:lpstr>Tratarea unei exceptii</vt:lpstr>
      <vt:lpstr>Erori : Cuprins</vt:lpstr>
      <vt:lpstr>Crearea unei exceptii proprii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</dc:title>
  <dc:creator>Admin</dc:creator>
  <cp:lastModifiedBy>Manuela Panoiu</cp:lastModifiedBy>
  <cp:revision>233</cp:revision>
  <dcterms:modified xsi:type="dcterms:W3CDTF">2020-10-28T11:18:22Z</dcterms:modified>
</cp:coreProperties>
</file>