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36"/>
  </p:notesMasterIdLst>
  <p:sldIdLst>
    <p:sldId id="258" r:id="rId2"/>
    <p:sldId id="289" r:id="rId3"/>
    <p:sldId id="290" r:id="rId4"/>
    <p:sldId id="291" r:id="rId5"/>
    <p:sldId id="292" r:id="rId6"/>
    <p:sldId id="293" r:id="rId7"/>
    <p:sldId id="294" r:id="rId8"/>
    <p:sldId id="286" r:id="rId9"/>
    <p:sldId id="295" r:id="rId10"/>
    <p:sldId id="296" r:id="rId11"/>
    <p:sldId id="297" r:id="rId12"/>
    <p:sldId id="354" r:id="rId13"/>
    <p:sldId id="287" r:id="rId14"/>
    <p:sldId id="298" r:id="rId15"/>
    <p:sldId id="299" r:id="rId16"/>
    <p:sldId id="355" r:id="rId17"/>
    <p:sldId id="300" r:id="rId18"/>
    <p:sldId id="356" r:id="rId19"/>
    <p:sldId id="302" r:id="rId20"/>
    <p:sldId id="303" r:id="rId21"/>
    <p:sldId id="357" r:id="rId22"/>
    <p:sldId id="305" r:id="rId23"/>
    <p:sldId id="306" r:id="rId24"/>
    <p:sldId id="307" r:id="rId25"/>
    <p:sldId id="309" r:id="rId26"/>
    <p:sldId id="358" r:id="rId27"/>
    <p:sldId id="359" r:id="rId28"/>
    <p:sldId id="360" r:id="rId29"/>
    <p:sldId id="361" r:id="rId30"/>
    <p:sldId id="362" r:id="rId31"/>
    <p:sldId id="363" r:id="rId32"/>
    <p:sldId id="364" r:id="rId33"/>
    <p:sldId id="365" r:id="rId34"/>
    <p:sldId id="366" r:id="rId35"/>
  </p:sldIdLst>
  <p:sldSz cx="10080625" cy="7559675"/>
  <p:notesSz cx="7315200" cy="96012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586">
          <p15:clr>
            <a:srgbClr val="A4A3A4"/>
          </p15:clr>
        </p15:guide>
        <p15:guide id="2" pos="209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1620" y="90"/>
      </p:cViewPr>
      <p:guideLst>
        <p:guide orient="horz" pos="2161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164"/>
    </p:cViewPr>
  </p:sorter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586"/>
        <p:guide pos="209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444625" y="922338"/>
            <a:ext cx="4430713" cy="33226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5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131888" y="4567238"/>
            <a:ext cx="5059362" cy="3687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smtClean="0"/>
          </a:p>
        </p:txBody>
      </p:sp>
      <p:sp>
        <p:nvSpPr>
          <p:cNvPr id="87044" name="Freeform 3"/>
          <p:cNvSpPr>
            <a:spLocks noChangeArrowheads="1"/>
          </p:cNvSpPr>
          <p:nvPr/>
        </p:nvSpPr>
        <p:spPr bwMode="auto">
          <a:xfrm>
            <a:off x="5746750" y="7578725"/>
            <a:ext cx="869950" cy="808038"/>
          </a:xfrm>
          <a:custGeom>
            <a:avLst/>
            <a:gdLst>
              <a:gd name="T0" fmla="*/ 0 w 2501"/>
              <a:gd name="T1" fmla="*/ 807392 h 2501"/>
              <a:gd name="T2" fmla="*/ 869254 w 2501"/>
              <a:gd name="T3" fmla="*/ 0 h 2501"/>
              <a:gd name="T4" fmla="*/ 869602 w 2501"/>
              <a:gd name="T5" fmla="*/ 807715 h 2501"/>
              <a:gd name="T6" fmla="*/ 0 w 2501"/>
              <a:gd name="T7" fmla="*/ 807392 h 2501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501" h="2501">
                <a:moveTo>
                  <a:pt x="0" y="2499"/>
                </a:moveTo>
                <a:lnTo>
                  <a:pt x="2499" y="0"/>
                </a:lnTo>
                <a:lnTo>
                  <a:pt x="2500" y="2500"/>
                </a:lnTo>
                <a:lnTo>
                  <a:pt x="0" y="2499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o-RO"/>
          </a:p>
        </p:txBody>
      </p:sp>
      <p:pic>
        <p:nvPicPr>
          <p:cNvPr id="8704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1563" y="7834313"/>
            <a:ext cx="465137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6" name="Text Box 5"/>
          <p:cNvSpPr txBox="1">
            <a:spLocks noChangeArrowheads="1"/>
          </p:cNvSpPr>
          <p:nvPr/>
        </p:nvSpPr>
        <p:spPr bwMode="auto">
          <a:xfrm rot="-600000">
            <a:off x="6313488" y="7959725"/>
            <a:ext cx="282575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 defTabSz="847725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847725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847725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847725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847725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  <a:defRPr/>
            </a:pPr>
            <a:r>
              <a:rPr lang="en-GB" sz="1500" smtClean="0">
                <a:solidFill>
                  <a:srgbClr val="000000"/>
                </a:solidFill>
                <a:latin typeface="Arial Narrow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4984181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011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19969145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3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15383441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33239662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22200503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421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27263935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523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32043937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625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21230080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728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18126588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830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9724618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933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5760955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035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6334905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354608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137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37266966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0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24119420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342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33361095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955618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45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34195228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076443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547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8944360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649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2536983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074665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37877785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854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14400769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957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784438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0595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ro-RO" smtClean="0"/>
          </a:p>
        </p:txBody>
      </p:sp>
    </p:spTree>
    <p:extLst>
      <p:ext uri="{BB962C8B-B14F-4D97-AF65-F5344CB8AC3E}">
        <p14:creationId xmlns:p14="http://schemas.microsoft.com/office/powerpoint/2010/main" val="28354962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346800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5729581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9863075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4174405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6473341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170483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5202009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8221180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71810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10080625" cy="7559675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0794" tIns="50397" rIns="100794" bIns="50397" anchor="ctr"/>
            <a:lstStyle>
              <a:lvl1pPr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ro-RO" sz="2600"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>
              <a:lvl1pPr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ro-RO" sz="2600"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>
                <a:lvl1pPr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ro-RO" sz="2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>
                <a:lvl1pPr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ro-RO" sz="2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>
                <a:lvl1pPr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ro-RO" sz="2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6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>
                <a:lvl1pPr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ro-RO" sz="2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>
                <a:lvl1pPr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ro-RO" sz="2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6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>
                <a:lvl1pPr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ro-RO" sz="2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>
                <a:lvl1pPr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ro-RO" sz="2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>
                <a:lvl1pPr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ro-RO" sz="2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>
                <a:lvl1pPr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ro-RO" sz="2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6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>
                <a:lvl1pPr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ro-RO" sz="26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214035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3276600" y="2016125"/>
            <a:ext cx="6635750" cy="2435225"/>
          </a:xfrm>
        </p:spPr>
        <p:txBody>
          <a:bodyPr/>
          <a:lstStyle>
            <a:lvl1pPr>
              <a:defRPr sz="55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4036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3276600" y="4703763"/>
            <a:ext cx="6635750" cy="1931987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7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504825" y="6888163"/>
            <a:ext cx="2351088" cy="5032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0F83A9-EE8E-43AF-B47A-A086A2A4CBF9}" type="slidenum">
              <a:rPr lang="en-US" altLang="ro-RO"/>
              <a:pPr/>
              <a:t>‹#›</a:t>
            </a:fld>
            <a:endParaRPr lang="en-US" altLang="ro-RO"/>
          </a:p>
        </p:txBody>
      </p:sp>
    </p:spTree>
    <p:extLst>
      <p:ext uri="{BB962C8B-B14F-4D97-AF65-F5344CB8AC3E}">
        <p14:creationId xmlns:p14="http://schemas.microsoft.com/office/powerpoint/2010/main" val="2195206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F5A1D8-0C8E-45F4-8BCA-9ADDBF295B50}" type="slidenum">
              <a:rPr lang="en-US" altLang="ro-RO"/>
              <a:pPr/>
              <a:t>‹#›</a:t>
            </a:fld>
            <a:endParaRPr lang="en-US" altLang="ro-RO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259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9ED091-929E-4539-ABE4-32B2DEDD411B}" type="slidenum">
              <a:rPr lang="en-US" altLang="ro-RO"/>
              <a:pPr/>
              <a:t>‹#›</a:t>
            </a:fld>
            <a:endParaRPr lang="en-US" altLang="ro-RO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45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4825" y="2184400"/>
            <a:ext cx="4459288" cy="4283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6513" y="2184400"/>
            <a:ext cx="4460875" cy="4283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8FE3B4-276F-43E0-A750-D5C1E563102B}" type="slidenum">
              <a:rPr lang="en-US" altLang="ro-RO"/>
              <a:pPr/>
              <a:t>‹#›</a:t>
            </a:fld>
            <a:endParaRPr lang="en-US" altLang="ro-RO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573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BD26BE-2377-4765-A663-D84A72736F44}" type="slidenum">
              <a:rPr lang="en-US" altLang="ro-RO"/>
              <a:pPr/>
              <a:t>‹#›</a:t>
            </a:fld>
            <a:endParaRPr lang="en-US" altLang="ro-RO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488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8FF078-9C8F-4233-B92D-6E5B674C538C}" type="slidenum">
              <a:rPr lang="en-US" altLang="ro-RO"/>
              <a:pPr/>
              <a:t>‹#›</a:t>
            </a:fld>
            <a:endParaRPr lang="en-US" altLang="ro-RO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679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E961E7-9E41-4F55-9370-20ED8C994AE4}" type="slidenum">
              <a:rPr lang="en-US" altLang="ro-RO"/>
              <a:pPr/>
              <a:t>‹#›</a:t>
            </a:fld>
            <a:endParaRPr lang="en-US" altLang="ro-RO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68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6E8408-9739-4F9F-9AE1-BFC1FD870847}" type="slidenum">
              <a:rPr lang="en-US" altLang="ro-RO"/>
              <a:pPr/>
              <a:t>‹#›</a:t>
            </a:fld>
            <a:endParaRPr lang="en-US" altLang="ro-RO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811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4AB6DC-1459-4047-BA23-CB87EADB9AD0}" type="slidenum">
              <a:rPr lang="en-US" altLang="ro-RO"/>
              <a:pPr/>
              <a:t>‹#›</a:t>
            </a:fld>
            <a:endParaRPr lang="en-US" altLang="ro-RO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62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5D7E02-DC38-4ABB-A0D4-F07273F8CE1F}" type="slidenum">
              <a:rPr lang="en-US" altLang="ro-RO"/>
              <a:pPr/>
              <a:t>‹#›</a:t>
            </a:fld>
            <a:endParaRPr lang="en-US" altLang="ro-RO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649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10438" y="503238"/>
            <a:ext cx="2266950" cy="596423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4825" y="503238"/>
            <a:ext cx="6653213" cy="596423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79AA360-319B-433C-9B82-3ED0D6B207DC}" type="slidenum">
              <a:rPr lang="en-US" altLang="ro-RO"/>
              <a:pPr/>
              <a:t>‹#›</a:t>
            </a:fld>
            <a:endParaRPr lang="en-US" altLang="ro-RO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497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44875" y="6888163"/>
            <a:ext cx="3190875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0794" tIns="50397" rIns="100794" bIns="50397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299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24713" y="6888163"/>
            <a:ext cx="2352675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0794" tIns="50397" rIns="100794" bIns="5039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 Black" panose="020B0A04020102020204" pitchFamily="34" charset="0"/>
              </a:defRPr>
            </a:lvl1pPr>
          </a:lstStyle>
          <a:p>
            <a:fld id="{FFE4EC0B-32C6-433A-8A7A-30CFDC43A7EB}" type="slidenum">
              <a:rPr lang="en-US" altLang="ro-RO"/>
              <a:pPr/>
              <a:t>‹#›</a:t>
            </a:fld>
            <a:endParaRPr lang="en-US" altLang="ro-RO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10080625" cy="601663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0794" tIns="50397" rIns="100794" bIns="50397" anchor="ctr"/>
            <a:lstStyle>
              <a:lvl1pPr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ro-RO" sz="260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>
              <a:lvl1pPr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ro-RO" sz="260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>
              <a:lvl1pPr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ro-RO" sz="2000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>
              <a:lvl1pPr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ro-RO" sz="200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>
              <a:lvl1pPr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ro-RO" sz="200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4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>
              <a:lvl1pPr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ro-RO" sz="2000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>
              <a:lvl1pPr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ro-RO" sz="2600">
                <a:latin typeface="Times New Roman" panose="02020603050405020304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>
              <a:lvl1pPr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ro-RO" sz="200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>
              <a:lvl1pPr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ro-RO" sz="2000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504825" y="503238"/>
            <a:ext cx="9072563" cy="151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0794" tIns="50397" rIns="100794" bIns="5039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4825" y="2184400"/>
            <a:ext cx="9072563" cy="428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0794" tIns="50397" rIns="100794" bIns="5039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21300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04825" y="6884988"/>
            <a:ext cx="235108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0794" tIns="50397" rIns="100794" bIns="50397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iming>
    <p:tnLst>
      <p:par>
        <p:cTn id="1" dur="indefinite" restart="never" nodeType="tmRoot"/>
      </p:par>
    </p:tnLst>
  </p:timing>
  <p:txStyles>
    <p:titleStyle>
      <a:lvl1pPr algn="l" defTabSz="1008063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+mj-lt"/>
          <a:ea typeface="+mj-ea"/>
          <a:cs typeface="+mj-cs"/>
        </a:defRPr>
      </a:lvl1pPr>
      <a:lvl2pPr algn="l" defTabSz="1008063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Arial" charset="0"/>
        </a:defRPr>
      </a:lvl2pPr>
      <a:lvl3pPr algn="l" defTabSz="1008063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Arial" charset="0"/>
        </a:defRPr>
      </a:lvl3pPr>
      <a:lvl4pPr algn="l" defTabSz="1008063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Arial" charset="0"/>
        </a:defRPr>
      </a:lvl4pPr>
      <a:lvl5pPr algn="l" defTabSz="1008063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Arial" charset="0"/>
        </a:defRPr>
      </a:lvl5pPr>
      <a:lvl6pPr marL="457200" algn="l" defTabSz="1008063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Arial" charset="0"/>
        </a:defRPr>
      </a:lvl6pPr>
      <a:lvl7pPr marL="914400" algn="l" defTabSz="1008063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Arial" charset="0"/>
        </a:defRPr>
      </a:lvl7pPr>
      <a:lvl8pPr marL="1371600" algn="l" defTabSz="1008063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Arial" charset="0"/>
        </a:defRPr>
      </a:lvl8pPr>
      <a:lvl9pPr marL="1828800" algn="l" defTabSz="1008063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Arial" charset="0"/>
        </a:defRPr>
      </a:lvl9pPr>
    </p:titleStyle>
    <p:bodyStyle>
      <a:lvl1pPr marL="377825" indent="-377825" algn="l" defTabSz="1008063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500">
          <a:solidFill>
            <a:schemeClr val="tx1"/>
          </a:solidFill>
          <a:latin typeface="+mn-lt"/>
          <a:ea typeface="+mn-ea"/>
          <a:cs typeface="+mn-cs"/>
        </a:defRPr>
      </a:lvl1pPr>
      <a:lvl2pPr marL="819150" indent="-315913" algn="l" defTabSz="1008063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3100">
          <a:solidFill>
            <a:schemeClr val="tx1"/>
          </a:solidFill>
          <a:latin typeface="+mn-lt"/>
        </a:defRPr>
      </a:lvl2pPr>
      <a:lvl3pPr marL="1260475" indent="-252413" algn="l" defTabSz="1008063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3pPr>
      <a:lvl4pPr marL="1763713" indent="-252413" algn="l" defTabSz="1008063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200">
          <a:solidFill>
            <a:schemeClr val="tx1"/>
          </a:solidFill>
          <a:latin typeface="+mn-lt"/>
        </a:defRPr>
      </a:lvl4pPr>
      <a:lvl5pPr marL="2268538" indent="-252413" algn="l" defTabSz="1008063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200">
          <a:solidFill>
            <a:schemeClr val="tx1"/>
          </a:solidFill>
          <a:latin typeface="+mn-lt"/>
        </a:defRPr>
      </a:lvl5pPr>
      <a:lvl6pPr marL="2725738" indent="-252413" algn="l" defTabSz="1008063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200">
          <a:solidFill>
            <a:schemeClr val="tx1"/>
          </a:solidFill>
          <a:latin typeface="+mn-lt"/>
        </a:defRPr>
      </a:lvl6pPr>
      <a:lvl7pPr marL="3182938" indent="-252413" algn="l" defTabSz="1008063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200">
          <a:solidFill>
            <a:schemeClr val="tx1"/>
          </a:solidFill>
          <a:latin typeface="+mn-lt"/>
        </a:defRPr>
      </a:lvl7pPr>
      <a:lvl8pPr marL="3640138" indent="-252413" algn="l" defTabSz="1008063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200">
          <a:solidFill>
            <a:schemeClr val="tx1"/>
          </a:solidFill>
          <a:latin typeface="+mn-lt"/>
        </a:defRPr>
      </a:lvl8pPr>
      <a:lvl9pPr marL="4097338" indent="-252413" algn="l" defTabSz="1008063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o-RO" smtClean="0"/>
              <a:t>Operatii cu fisiere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ro-RO" sz="2800" smtClean="0"/>
              <a:t>Datele stocate in atributele unor obiecte din memorie, sunt </a:t>
            </a:r>
            <a:r>
              <a:rPr lang="en-US" altLang="ro-RO" sz="2800" b="1" smtClean="0"/>
              <a:t>volatile</a:t>
            </a:r>
            <a:r>
              <a:rPr lang="en-US" altLang="ro-RO" sz="2800" smtClean="0"/>
              <a:t>, se pierd la oprirea programului</a:t>
            </a:r>
          </a:p>
          <a:p>
            <a:pPr eaLnBrk="1" hangingPunct="1"/>
            <a:endParaRPr lang="en-US" altLang="ro-RO" sz="2800" smtClean="0"/>
          </a:p>
          <a:p>
            <a:pPr eaLnBrk="1" hangingPunct="1"/>
            <a:r>
              <a:rPr lang="en-US" altLang="ro-RO" sz="2800" smtClean="0"/>
              <a:t>Pentru a stoca datele si dupa terminarea programului e nevoie ca ele sa fie tinute in fisiere, baze de date, etc.</a:t>
            </a:r>
          </a:p>
          <a:p>
            <a:pPr eaLnBrk="1" hangingPunct="1"/>
            <a:endParaRPr lang="en-US" altLang="ro-RO" sz="2800" smtClean="0"/>
          </a:p>
          <a:p>
            <a:pPr eaLnBrk="1" hangingPunct="1"/>
            <a:r>
              <a:rPr lang="en-US" altLang="ro-RO" sz="2800" smtClean="0"/>
              <a:t>Java ofera clasa </a:t>
            </a:r>
            <a:r>
              <a:rPr lang="en-US" altLang="ro-RO" sz="2800" b="1" smtClean="0"/>
              <a:t>File</a:t>
            </a:r>
            <a:r>
              <a:rPr lang="en-US" altLang="ro-RO" sz="2800" smtClean="0"/>
              <a:t> pentru operatii cu fisiere dar nu pentru a citi sau scrie continutul fisierelor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439863" eaLnBrk="1" hangingPunct="1"/>
            <a:r>
              <a:rPr lang="en-US" altLang="ro-RO" smtClean="0"/>
              <a:t>Operatii cu fisiere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3000"/>
              </a:lnSpc>
            </a:pPr>
            <a:r>
              <a:rPr lang="en-US" altLang="ro-RO" sz="2800" b="1" smtClean="0"/>
              <a:t>Constructori</a:t>
            </a:r>
            <a:r>
              <a:rPr lang="en-US" altLang="ro-RO" sz="2800" smtClean="0"/>
              <a:t> pentru clasa File:</a:t>
            </a:r>
          </a:p>
          <a:p>
            <a:pPr eaLnBrk="1" hangingPunct="1">
              <a:lnSpc>
                <a:spcPct val="83000"/>
              </a:lnSpc>
            </a:pPr>
            <a:endParaRPr lang="en-US" altLang="ro-RO" sz="2800" smtClean="0"/>
          </a:p>
          <a:p>
            <a:pPr lvl="1" eaLnBrk="1" hangingPunct="1">
              <a:lnSpc>
                <a:spcPct val="83000"/>
              </a:lnSpc>
            </a:pPr>
            <a:r>
              <a:rPr lang="en-US" altLang="ro-RO" sz="2800" b="1" smtClean="0">
                <a:latin typeface="Courier New" panose="02070309020205020404" pitchFamily="49" charset="0"/>
              </a:rPr>
              <a:t>File(String cale)</a:t>
            </a:r>
          </a:p>
          <a:p>
            <a:pPr lvl="1" eaLnBrk="1" hangingPunct="1">
              <a:lnSpc>
                <a:spcPct val="83000"/>
              </a:lnSpc>
            </a:pPr>
            <a:endParaRPr lang="en-US" altLang="ro-RO" sz="2800" b="1" smtClean="0">
              <a:latin typeface="Courier New" panose="02070309020205020404" pitchFamily="49" charset="0"/>
            </a:endParaRPr>
          </a:p>
          <a:p>
            <a:pPr lvl="1" eaLnBrk="1" hangingPunct="1">
              <a:lnSpc>
                <a:spcPct val="83000"/>
              </a:lnSpc>
            </a:pPr>
            <a:r>
              <a:rPr lang="en-US" altLang="ro-RO" sz="2800" b="1" smtClean="0">
                <a:latin typeface="Courier New" panose="02070309020205020404" pitchFamily="49" charset="0"/>
              </a:rPr>
              <a:t>File(File director, String fisier)</a:t>
            </a:r>
          </a:p>
          <a:p>
            <a:pPr lvl="1" eaLnBrk="1" hangingPunct="1">
              <a:lnSpc>
                <a:spcPct val="83000"/>
              </a:lnSpc>
            </a:pPr>
            <a:endParaRPr lang="en-US" altLang="ro-RO" sz="2800" b="1" smtClean="0">
              <a:latin typeface="Courier New" panose="02070309020205020404" pitchFamily="49" charset="0"/>
            </a:endParaRPr>
          </a:p>
          <a:p>
            <a:pPr lvl="1" eaLnBrk="1" hangingPunct="1">
              <a:lnSpc>
                <a:spcPct val="83000"/>
              </a:lnSpc>
            </a:pPr>
            <a:r>
              <a:rPr lang="en-US" altLang="ro-RO" sz="2800" b="1" smtClean="0">
                <a:latin typeface="Courier New" panose="02070309020205020404" pitchFamily="49" charset="0"/>
              </a:rPr>
              <a:t>File(String director, String fisier)</a:t>
            </a:r>
          </a:p>
          <a:p>
            <a:pPr lvl="1" eaLnBrk="1" hangingPunct="1">
              <a:lnSpc>
                <a:spcPct val="83000"/>
              </a:lnSpc>
            </a:pPr>
            <a:endParaRPr lang="en-US" altLang="ro-RO" sz="2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83000"/>
              </a:lnSpc>
            </a:pPr>
            <a:r>
              <a:rPr lang="en-US" altLang="ro-RO" sz="2800" smtClean="0"/>
              <a:t>Obiectele de tip File pot descrie fisiere sau directoare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439863" eaLnBrk="1" hangingPunct="1"/>
            <a:r>
              <a:rPr lang="en-US" altLang="ro-RO" smtClean="0"/>
              <a:t>Operatii cu fisiere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ro-RO" sz="2800" b="1" smtClean="0"/>
              <a:t>Calea</a:t>
            </a:r>
            <a:r>
              <a:rPr lang="en-US" altLang="ro-RO" sz="2800" smtClean="0"/>
              <a:t> catre un fisier reprezinta o modalitate de a specifica pozitia lui in sistemul de fisiere </a:t>
            </a:r>
          </a:p>
          <a:p>
            <a:pPr lvl="1" eaLnBrk="1" hangingPunct="1"/>
            <a:r>
              <a:rPr lang="en-US" altLang="ro-RO" sz="2800" b="1" smtClean="0"/>
              <a:t>Absoluta</a:t>
            </a:r>
            <a:r>
              <a:rPr lang="en-US" altLang="ro-RO" sz="2800" smtClean="0"/>
              <a:t>: porneste din radacina sistemului de fisiere pana la fisier</a:t>
            </a:r>
          </a:p>
          <a:p>
            <a:pPr lvl="1" eaLnBrk="1" hangingPunct="1"/>
            <a:r>
              <a:rPr lang="en-US" altLang="ro-RO" sz="2800" b="1" smtClean="0"/>
              <a:t>Relativa</a:t>
            </a:r>
            <a:r>
              <a:rPr lang="en-US" altLang="ro-RO" sz="2800" smtClean="0"/>
              <a:t>: porneste directorul curent pana la fisier</a:t>
            </a:r>
          </a:p>
          <a:p>
            <a:pPr lvl="1" eaLnBrk="1" hangingPunct="1"/>
            <a:endParaRPr lang="en-US" altLang="ro-RO" sz="2800" smtClean="0"/>
          </a:p>
          <a:p>
            <a:pPr eaLnBrk="1" hangingPunct="1"/>
            <a:r>
              <a:rPr lang="en-US" altLang="ro-RO" sz="2800" smtClean="0"/>
              <a:t>In Unix se foloseste ca separator ‘/’</a:t>
            </a:r>
          </a:p>
          <a:p>
            <a:pPr eaLnBrk="1" hangingPunct="1"/>
            <a:r>
              <a:rPr lang="en-US" altLang="ro-RO" sz="2800" smtClean="0"/>
              <a:t>In Windows se foloseste ca separator ‘\’</a:t>
            </a:r>
            <a:endParaRPr lang="en-US" altLang="ro-RO" sz="2800" b="1" smtClean="0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439863" eaLnBrk="1" hangingPunct="1"/>
            <a:r>
              <a:rPr lang="en-US" altLang="ro-RO" smtClean="0"/>
              <a:t>Operatii cu fisiere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ro-RO" sz="2800" smtClean="0"/>
              <a:t>Exemple:</a:t>
            </a:r>
          </a:p>
          <a:p>
            <a:pPr eaLnBrk="1" hangingPunct="1"/>
            <a:endParaRPr lang="en-US" altLang="ro-RO" sz="280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ro-RO" sz="2800" b="1" smtClean="0">
                <a:latin typeface="Courier New" panose="02070309020205020404" pitchFamily="49" charset="0"/>
              </a:rPr>
              <a:t>File f1 = new File(“proiect”, “Student.java”);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ro-RO" sz="2800" b="1" smtClean="0">
              <a:latin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ro-RO" sz="2800" b="1" smtClean="0">
                <a:latin typeface="Courier New" panose="02070309020205020404" pitchFamily="49" charset="0"/>
              </a:rPr>
              <a:t>File f2 = new File(“Profesor.java”);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ro-RO" sz="2800" b="1" smtClean="0">
              <a:latin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ro-RO" sz="2800" b="1" smtClean="0">
                <a:latin typeface="Courier New" panose="02070309020205020404" pitchFamily="49" charset="0"/>
              </a:rPr>
              <a:t>File f3 = new File(“C:\\proiect\\n1”);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ro-RO" sz="2800" b="1" smtClean="0">
              <a:latin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ro-RO" sz="2800" b="1" smtClean="0">
                <a:latin typeface="Courier New" panose="02070309020205020404" pitchFamily="49" charset="0"/>
              </a:rPr>
              <a:t>File f4 = new File(f3, “Test.java”);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439863" eaLnBrk="1" hangingPunct="1"/>
            <a:r>
              <a:rPr lang="en-US" altLang="ro-RO" smtClean="0"/>
              <a:t>Operatii cu fisiere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ro-RO" sz="2800" smtClean="0"/>
              <a:t>Metode ale clasei File:</a:t>
            </a:r>
          </a:p>
          <a:p>
            <a:pPr eaLnBrk="1" hangingPunct="1"/>
            <a:endParaRPr lang="en-US" altLang="ro-RO" sz="2800" smtClean="0"/>
          </a:p>
          <a:p>
            <a:pPr lvl="1" eaLnBrk="1" hangingPunct="1"/>
            <a:r>
              <a:rPr lang="en-US" altLang="ro-RO" sz="2800" b="1" smtClean="0">
                <a:latin typeface="Courier New" panose="02070309020205020404" pitchFamily="49" charset="0"/>
              </a:rPr>
              <a:t>String getName()</a:t>
            </a:r>
          </a:p>
          <a:p>
            <a:pPr lvl="1" eaLnBrk="1" hangingPunct="1"/>
            <a:r>
              <a:rPr lang="en-US" altLang="ro-RO" sz="2800" b="1" smtClean="0">
                <a:latin typeface="Courier New" panose="02070309020205020404" pitchFamily="49" charset="0"/>
              </a:rPr>
              <a:t>String getParent()</a:t>
            </a:r>
          </a:p>
          <a:p>
            <a:pPr lvl="1" eaLnBrk="1" hangingPunct="1"/>
            <a:r>
              <a:rPr lang="en-US" altLang="ro-RO" sz="2800" b="1" smtClean="0">
                <a:latin typeface="Courier New" panose="02070309020205020404" pitchFamily="49" charset="0"/>
              </a:rPr>
              <a:t>String getAbsolutePath()</a:t>
            </a:r>
          </a:p>
          <a:p>
            <a:pPr lvl="1" eaLnBrk="1" hangingPunct="1"/>
            <a:r>
              <a:rPr lang="en-US" altLang="ro-RO" sz="2800" b="1" smtClean="0">
                <a:latin typeface="Courier New" panose="02070309020205020404" pitchFamily="49" charset="0"/>
              </a:rPr>
              <a:t>boolean exists()</a:t>
            </a:r>
          </a:p>
          <a:p>
            <a:pPr lvl="1" eaLnBrk="1" hangingPunct="1"/>
            <a:r>
              <a:rPr lang="en-US" altLang="ro-RO" sz="2800" b="1" smtClean="0">
                <a:latin typeface="Courier New" panose="02070309020205020404" pitchFamily="49" charset="0"/>
              </a:rPr>
              <a:t>boolean isFile()</a:t>
            </a:r>
          </a:p>
          <a:p>
            <a:pPr lvl="1" eaLnBrk="1" hangingPunct="1"/>
            <a:r>
              <a:rPr lang="en-US" altLang="ro-RO" sz="2800" b="1" smtClean="0">
                <a:latin typeface="Courier New" panose="02070309020205020404" pitchFamily="49" charset="0"/>
              </a:rPr>
              <a:t>boolean isDirectory()</a:t>
            </a:r>
          </a:p>
          <a:p>
            <a:pPr lvl="1" eaLnBrk="1" hangingPunct="1"/>
            <a:r>
              <a:rPr lang="en-US" altLang="ro-RO" sz="2800" b="1" smtClean="0">
                <a:latin typeface="Courier New" panose="02070309020205020404" pitchFamily="49" charset="0"/>
              </a:rPr>
              <a:t>boolean canRead()</a:t>
            </a:r>
          </a:p>
          <a:p>
            <a:pPr lvl="1" eaLnBrk="1" hangingPunct="1"/>
            <a:r>
              <a:rPr lang="en-US" altLang="ro-RO" sz="2800" b="1" smtClean="0">
                <a:latin typeface="Courier New" panose="02070309020205020404" pitchFamily="49" charset="0"/>
              </a:rPr>
              <a:t>boolean canWrite()</a:t>
            </a:r>
          </a:p>
          <a:p>
            <a:pPr lvl="1" eaLnBrk="1" hangingPunct="1"/>
            <a:endParaRPr lang="en-US" altLang="ro-RO" sz="2800" b="1" smtClean="0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439863" eaLnBrk="1" hangingPunct="1"/>
            <a:r>
              <a:rPr lang="en-US" altLang="ro-RO" smtClean="0"/>
              <a:t>Operatii cu fisiere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ro-RO" sz="2800" smtClean="0"/>
              <a:t>Metode ale clasei File:</a:t>
            </a:r>
          </a:p>
          <a:p>
            <a:pPr eaLnBrk="1" hangingPunct="1"/>
            <a:endParaRPr lang="en-US" altLang="ro-RO" sz="2800" smtClean="0"/>
          </a:p>
          <a:p>
            <a:pPr lvl="1" eaLnBrk="1" hangingPunct="1"/>
            <a:r>
              <a:rPr lang="en-US" altLang="ro-RO" sz="2800" b="1" smtClean="0">
                <a:latin typeface="Courier New" panose="02070309020205020404" pitchFamily="49" charset="0"/>
              </a:rPr>
              <a:t>long length()</a:t>
            </a:r>
          </a:p>
          <a:p>
            <a:pPr lvl="1" eaLnBrk="1" hangingPunct="1"/>
            <a:r>
              <a:rPr lang="en-US" altLang="ro-RO" sz="2800" b="1" smtClean="0">
                <a:latin typeface="Courier New" panose="02070309020205020404" pitchFamily="49" charset="0"/>
              </a:rPr>
              <a:t>boolean delete()</a:t>
            </a:r>
          </a:p>
          <a:p>
            <a:pPr lvl="1" eaLnBrk="1" hangingPunct="1"/>
            <a:r>
              <a:rPr lang="en-US" altLang="ro-RO" sz="2800" b="1" smtClean="0">
                <a:latin typeface="Courier New" panose="02070309020205020404" pitchFamily="49" charset="0"/>
              </a:rPr>
              <a:t>boolean mkdir()</a:t>
            </a:r>
          </a:p>
          <a:p>
            <a:pPr lvl="1" eaLnBrk="1" hangingPunct="1"/>
            <a:r>
              <a:rPr lang="en-US" altLang="ro-RO" sz="2800" b="1" smtClean="0">
                <a:latin typeface="Courier New" panose="02070309020205020404" pitchFamily="49" charset="0"/>
              </a:rPr>
              <a:t>String[] list() – afiseaza toate fisierele dintr-un subdir</a:t>
            </a:r>
          </a:p>
          <a:p>
            <a:pPr lvl="1" eaLnBrk="1" hangingPunct="1"/>
            <a:r>
              <a:rPr lang="en-US" altLang="ro-RO" sz="2800" b="1" smtClean="0">
                <a:latin typeface="Courier New" panose="02070309020205020404" pitchFamily="49" charset="0"/>
              </a:rPr>
              <a:t>File[] listFiles() afiseaza toate fisierele si subdirectoarele dintr-un subdir</a:t>
            </a:r>
          </a:p>
          <a:p>
            <a:pPr lvl="1" eaLnBrk="1" hangingPunct="1"/>
            <a:endParaRPr lang="en-US" altLang="ro-RO" sz="2800" b="1" smtClean="0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439863" eaLnBrk="1" hangingPunct="1"/>
            <a:r>
              <a:rPr lang="en-US" altLang="ro-RO" smtClean="0"/>
              <a:t>Operatii cu fisiere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ro-RO" sz="2800" dirty="0" smtClean="0"/>
              <a:t>Este </a:t>
            </a:r>
            <a:r>
              <a:rPr lang="en-US" altLang="ro-RO" sz="2800" dirty="0" err="1" smtClean="0"/>
              <a:t>recomandat</a:t>
            </a:r>
            <a:r>
              <a:rPr lang="en-US" altLang="ro-RO" sz="2800" dirty="0" smtClean="0"/>
              <a:t> ca </a:t>
            </a:r>
            <a:r>
              <a:rPr lang="en-US" altLang="ro-RO" sz="2800" dirty="0" err="1" smtClean="0"/>
              <a:t>inainte</a:t>
            </a:r>
            <a:r>
              <a:rPr lang="en-US" altLang="ro-RO" sz="2800" dirty="0" smtClean="0"/>
              <a:t> de a </a:t>
            </a:r>
            <a:r>
              <a:rPr lang="en-US" altLang="ro-RO" sz="2800" dirty="0" err="1" smtClean="0"/>
              <a:t>citi</a:t>
            </a:r>
            <a:r>
              <a:rPr lang="en-US" altLang="ro-RO" sz="2800" dirty="0" smtClean="0"/>
              <a:t> </a:t>
            </a:r>
            <a:r>
              <a:rPr lang="en-US" altLang="ro-RO" sz="2800" dirty="0" err="1" smtClean="0"/>
              <a:t>sau</a:t>
            </a:r>
            <a:r>
              <a:rPr lang="en-US" altLang="ro-RO" sz="2800" dirty="0" smtClean="0"/>
              <a:t> </a:t>
            </a:r>
            <a:r>
              <a:rPr lang="en-US" altLang="ro-RO" sz="2800" dirty="0" err="1" smtClean="0"/>
              <a:t>scrie</a:t>
            </a:r>
            <a:r>
              <a:rPr lang="en-US" altLang="ro-RO" sz="2800" dirty="0" smtClean="0"/>
              <a:t> </a:t>
            </a:r>
            <a:r>
              <a:rPr lang="en-US" altLang="ro-RO" sz="2800" dirty="0" err="1" smtClean="0"/>
              <a:t>intr</a:t>
            </a:r>
            <a:r>
              <a:rPr lang="en-US" altLang="ro-RO" sz="2800" dirty="0" smtClean="0"/>
              <a:t>-un </a:t>
            </a:r>
            <a:r>
              <a:rPr lang="en-US" altLang="ro-RO" sz="2800" dirty="0" err="1" smtClean="0"/>
              <a:t>fisier</a:t>
            </a:r>
            <a:r>
              <a:rPr lang="en-US" altLang="ro-RO" sz="2800" dirty="0" smtClean="0"/>
              <a:t> </a:t>
            </a:r>
            <a:r>
              <a:rPr lang="en-US" altLang="ro-RO" sz="2800" dirty="0" err="1" smtClean="0"/>
              <a:t>sa</a:t>
            </a:r>
            <a:r>
              <a:rPr lang="en-US" altLang="ro-RO" sz="2800" dirty="0" smtClean="0"/>
              <a:t> se </a:t>
            </a:r>
            <a:r>
              <a:rPr lang="en-US" altLang="ro-RO" sz="2800" dirty="0" err="1" smtClean="0"/>
              <a:t>foloseasca</a:t>
            </a:r>
            <a:r>
              <a:rPr lang="en-US" altLang="ro-RO" sz="2800" dirty="0" smtClean="0"/>
              <a:t> un </a:t>
            </a:r>
            <a:r>
              <a:rPr lang="en-US" altLang="ro-RO" sz="2800" dirty="0" err="1" smtClean="0"/>
              <a:t>obiect</a:t>
            </a:r>
            <a:r>
              <a:rPr lang="en-US" altLang="ro-RO" sz="2800" dirty="0" smtClean="0"/>
              <a:t> de tip File </a:t>
            </a:r>
            <a:r>
              <a:rPr lang="en-US" altLang="ro-RO" sz="2800" dirty="0" err="1" smtClean="0"/>
              <a:t>pentru</a:t>
            </a:r>
            <a:r>
              <a:rPr lang="en-US" altLang="ro-RO" sz="2800" dirty="0" smtClean="0"/>
              <a:t> a </a:t>
            </a:r>
            <a:r>
              <a:rPr lang="en-US" altLang="ro-RO" sz="2800" b="1" dirty="0" err="1" smtClean="0"/>
              <a:t>testa</a:t>
            </a:r>
            <a:r>
              <a:rPr lang="en-US" altLang="ro-RO" sz="2800" dirty="0" smtClean="0"/>
              <a:t> </a:t>
            </a:r>
            <a:r>
              <a:rPr lang="en-US" altLang="ro-RO" sz="2800" dirty="0" err="1" smtClean="0"/>
              <a:t>daca</a:t>
            </a:r>
            <a:r>
              <a:rPr lang="en-US" altLang="ro-RO" sz="2800" dirty="0" smtClean="0"/>
              <a:t> </a:t>
            </a:r>
            <a:r>
              <a:rPr lang="en-US" altLang="ro-RO" sz="2800" dirty="0" err="1" smtClean="0"/>
              <a:t>acel</a:t>
            </a:r>
            <a:r>
              <a:rPr lang="en-US" altLang="ro-RO" sz="2800" dirty="0" smtClean="0"/>
              <a:t> </a:t>
            </a:r>
            <a:r>
              <a:rPr lang="en-US" altLang="ro-RO" sz="2800" dirty="0" err="1" smtClean="0"/>
              <a:t>fisier</a:t>
            </a:r>
            <a:r>
              <a:rPr lang="en-US" altLang="ro-RO" sz="2800" dirty="0" smtClean="0"/>
              <a:t> </a:t>
            </a:r>
            <a:r>
              <a:rPr lang="en-US" altLang="ro-RO" sz="2800" dirty="0" err="1" smtClean="0"/>
              <a:t>exista</a:t>
            </a:r>
            <a:r>
              <a:rPr lang="en-US" altLang="ro-RO" sz="2800" dirty="0" smtClean="0"/>
              <a:t> </a:t>
            </a:r>
            <a:r>
              <a:rPr lang="en-US" altLang="ro-RO" sz="2800" dirty="0" err="1" smtClean="0"/>
              <a:t>si</a:t>
            </a:r>
            <a:r>
              <a:rPr lang="en-US" altLang="ro-RO" sz="2800" dirty="0" smtClean="0"/>
              <a:t> </a:t>
            </a:r>
            <a:r>
              <a:rPr lang="en-US" altLang="ro-RO" sz="2800" dirty="0" err="1" smtClean="0"/>
              <a:t>daca</a:t>
            </a:r>
            <a:r>
              <a:rPr lang="en-US" altLang="ro-RO" sz="2800" dirty="0" smtClean="0"/>
              <a:t> </a:t>
            </a:r>
            <a:r>
              <a:rPr lang="en-US" altLang="ro-RO" sz="2800" dirty="0" err="1" smtClean="0"/>
              <a:t>avem</a:t>
            </a:r>
            <a:r>
              <a:rPr lang="en-US" altLang="ro-RO" sz="2800" dirty="0" smtClean="0"/>
              <a:t> </a:t>
            </a:r>
            <a:r>
              <a:rPr lang="en-US" altLang="ro-RO" sz="2800" dirty="0" err="1" smtClean="0"/>
              <a:t>drepturile</a:t>
            </a:r>
            <a:r>
              <a:rPr lang="en-US" altLang="ro-RO" sz="2800" dirty="0" smtClean="0"/>
              <a:t> de </a:t>
            </a:r>
            <a:r>
              <a:rPr lang="en-US" altLang="ro-RO" sz="2800" dirty="0" err="1" smtClean="0"/>
              <a:t>citire</a:t>
            </a:r>
            <a:r>
              <a:rPr lang="en-US" altLang="ro-RO" sz="2800" dirty="0" smtClean="0"/>
              <a:t> </a:t>
            </a:r>
            <a:r>
              <a:rPr lang="en-US" altLang="ro-RO" sz="2800" dirty="0" err="1" smtClean="0"/>
              <a:t>sau</a:t>
            </a:r>
            <a:r>
              <a:rPr lang="en-US" altLang="ro-RO" sz="2800" dirty="0" smtClean="0"/>
              <a:t> </a:t>
            </a:r>
            <a:r>
              <a:rPr lang="en-US" altLang="ro-RO" sz="2800" dirty="0" err="1" smtClean="0"/>
              <a:t>scriere</a:t>
            </a:r>
            <a:endParaRPr lang="en-US" altLang="ro-RO" sz="2800" smtClean="0"/>
          </a:p>
          <a:p>
            <a:pPr eaLnBrk="1" hangingPunct="1"/>
            <a:endParaRPr lang="en-US" altLang="ro-RO" sz="2800" smtClean="0"/>
          </a:p>
          <a:p>
            <a:pPr eaLnBrk="1" hangingPunct="1"/>
            <a:r>
              <a:rPr lang="en-US" altLang="ro-RO" sz="2800" dirty="0" err="1" smtClean="0"/>
              <a:t>Obiectele</a:t>
            </a:r>
            <a:r>
              <a:rPr lang="en-US" altLang="ro-RO" sz="2800" dirty="0" smtClean="0"/>
              <a:t> File </a:t>
            </a:r>
            <a:r>
              <a:rPr lang="en-US" altLang="ro-RO" sz="2800" dirty="0" err="1" smtClean="0"/>
              <a:t>sunt</a:t>
            </a:r>
            <a:r>
              <a:rPr lang="en-US" altLang="ro-RO" sz="2800" dirty="0" smtClean="0"/>
              <a:t> </a:t>
            </a:r>
            <a:r>
              <a:rPr lang="en-US" altLang="ro-RO" sz="2800" b="1" dirty="0" smtClean="0"/>
              <a:t>finale</a:t>
            </a:r>
            <a:r>
              <a:rPr lang="en-US" altLang="ro-RO" sz="2800" dirty="0" smtClean="0"/>
              <a:t>, nu pot </a:t>
            </a:r>
            <a:r>
              <a:rPr lang="en-US" altLang="ro-RO" sz="2800" dirty="0" err="1" smtClean="0"/>
              <a:t>descrie</a:t>
            </a:r>
            <a:r>
              <a:rPr lang="en-US" altLang="ro-RO" sz="2800" dirty="0" smtClean="0"/>
              <a:t> alt </a:t>
            </a:r>
            <a:r>
              <a:rPr lang="en-US" altLang="ro-RO" sz="2800" dirty="0" err="1" smtClean="0"/>
              <a:t>fisier</a:t>
            </a:r>
            <a:r>
              <a:rPr lang="en-US" altLang="ro-RO" sz="2800" dirty="0" smtClean="0"/>
              <a:t> </a:t>
            </a:r>
            <a:r>
              <a:rPr lang="en-US" altLang="ro-RO" sz="2800" dirty="0" err="1" smtClean="0"/>
              <a:t>decat</a:t>
            </a:r>
            <a:r>
              <a:rPr lang="en-US" altLang="ro-RO" sz="2800" dirty="0" smtClean="0"/>
              <a:t> </a:t>
            </a:r>
            <a:r>
              <a:rPr lang="en-US" altLang="ro-RO" sz="2800" dirty="0" err="1" smtClean="0"/>
              <a:t>cel</a:t>
            </a:r>
            <a:r>
              <a:rPr lang="en-US" altLang="ro-RO" sz="2800" dirty="0" smtClean="0"/>
              <a:t> </a:t>
            </a:r>
            <a:r>
              <a:rPr lang="en-US" altLang="ro-RO" sz="2800" dirty="0" err="1" smtClean="0"/>
              <a:t>specificat</a:t>
            </a:r>
            <a:r>
              <a:rPr lang="en-US" altLang="ro-RO" sz="2800" dirty="0" smtClean="0"/>
              <a:t> in constructor</a:t>
            </a:r>
            <a:endParaRPr lang="en-US" altLang="ro-RO" sz="2800" b="1" dirty="0" smtClean="0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439863" eaLnBrk="1" hangingPunct="1"/>
            <a:r>
              <a:rPr lang="en-US" altLang="ro-RO" smtClean="0"/>
              <a:t>Fisiere : Cuprins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717550" indent="-717550" eaLnBrk="1" hangingPunct="1">
              <a:buSzPct val="112000"/>
              <a:buFont typeface="StarSymbol" charset="0"/>
              <a:buAutoNum type="arabicPeriod"/>
            </a:pPr>
            <a:r>
              <a:rPr lang="en-GB" altLang="ro-RO" sz="4400" b="1" smtClean="0">
                <a:solidFill>
                  <a:srgbClr val="FF0000"/>
                </a:solidFill>
              </a:rPr>
              <a:t> </a:t>
            </a:r>
            <a:r>
              <a:rPr lang="en-GB" altLang="ro-RO" sz="4400" b="1" smtClean="0"/>
              <a:t>Operatii cu fisiere. Clasa File</a:t>
            </a:r>
          </a:p>
          <a:p>
            <a:pPr marL="717550" indent="-717550" eaLnBrk="1" hangingPunct="1">
              <a:buSzPct val="112000"/>
              <a:buFont typeface="StarSymbol" charset="0"/>
              <a:buAutoNum type="arabicPeriod"/>
            </a:pPr>
            <a:r>
              <a:rPr lang="en-GB" altLang="ro-RO" sz="4400" b="1" smtClean="0"/>
              <a:t> </a:t>
            </a:r>
            <a:r>
              <a:rPr lang="en-GB" altLang="ro-RO" sz="4400" b="1" smtClean="0">
                <a:solidFill>
                  <a:srgbClr val="FF0000"/>
                </a:solidFill>
              </a:rPr>
              <a:t>Acces aleator la fisiere</a:t>
            </a:r>
          </a:p>
          <a:p>
            <a:pPr marL="717550" indent="-717550" eaLnBrk="1" hangingPunct="1">
              <a:buSzPct val="112000"/>
              <a:buFont typeface="StarSymbol" charset="0"/>
              <a:buAutoNum type="arabicPeriod"/>
            </a:pPr>
            <a:r>
              <a:rPr lang="en-GB" altLang="ro-RO" sz="4400" b="1" smtClean="0"/>
              <a:t> Fluxuri de date</a:t>
            </a:r>
          </a:p>
          <a:p>
            <a:pPr marL="717550" indent="-717550" eaLnBrk="1" hangingPunct="1">
              <a:buSzPct val="112000"/>
              <a:buFont typeface="StarSymbol" charset="0"/>
              <a:buAutoNum type="arabicPeriod"/>
            </a:pPr>
            <a:r>
              <a:rPr lang="en-GB" altLang="ro-RO" sz="4400" b="1" smtClean="0"/>
              <a:t> Serializarea obiectelor</a:t>
            </a:r>
            <a:endParaRPr lang="en-US" altLang="ro-RO" sz="4400" b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439863" eaLnBrk="1" hangingPunct="1"/>
            <a:r>
              <a:rPr lang="en-US" altLang="ro-RO" smtClean="0"/>
              <a:t>Acces aleator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ro-RO" sz="2800" smtClean="0"/>
              <a:t>Accesul aleator la un fisier inseamna ca putem citi sau scrie in fisier la orice pozitie</a:t>
            </a:r>
          </a:p>
          <a:p>
            <a:pPr eaLnBrk="1" hangingPunct="1"/>
            <a:endParaRPr lang="en-US" altLang="ro-RO" sz="2800" smtClean="0"/>
          </a:p>
          <a:p>
            <a:pPr eaLnBrk="1" hangingPunct="1"/>
            <a:r>
              <a:rPr lang="en-US" altLang="ro-RO" sz="2800" smtClean="0"/>
              <a:t>Acest lucru se poate realiza in Java prin obiecte din clasa </a:t>
            </a:r>
            <a:r>
              <a:rPr lang="en-US" altLang="ro-RO" sz="2800" b="1" smtClean="0"/>
              <a:t>RandomAccessFile</a:t>
            </a:r>
          </a:p>
          <a:p>
            <a:pPr eaLnBrk="1" hangingPunct="1"/>
            <a:endParaRPr lang="en-US" altLang="ro-RO" sz="2800" b="1" smtClean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ro-RO" sz="2800" b="1" smtClean="0">
                <a:latin typeface="Courier New" panose="02070309020205020404" pitchFamily="49" charset="0"/>
              </a:rPr>
              <a:t>new RandomAccessFile(“date”, “r”);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ro-RO" sz="2800" b="1" smtClean="0">
              <a:latin typeface="Courier New" panose="02070309020205020404" pitchFamily="49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ro-RO" sz="2800" b="1" smtClean="0">
                <a:latin typeface="Courier New" panose="02070309020205020404" pitchFamily="49" charset="0"/>
              </a:rPr>
              <a:t>new RandomAccessFile(“test”, “rw”);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392113" y="0"/>
            <a:ext cx="9072562" cy="1512888"/>
          </a:xfrm>
        </p:spPr>
        <p:txBody>
          <a:bodyPr/>
          <a:lstStyle/>
          <a:p>
            <a:pPr marL="1439863" eaLnBrk="1" hangingPunct="1"/>
            <a:r>
              <a:rPr lang="en-US" altLang="ro-RO" smtClean="0"/>
              <a:t>Acces aleator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2113" y="1265238"/>
            <a:ext cx="9072562" cy="4511675"/>
          </a:xfrm>
        </p:spPr>
        <p:txBody>
          <a:bodyPr/>
          <a:lstStyle/>
          <a:p>
            <a:pPr eaLnBrk="1" hangingPunct="1"/>
            <a:r>
              <a:rPr lang="en-GB" altLang="ro-RO" sz="2400" smtClean="0"/>
              <a:t>Daca fisierul nu exista si modul de deschidere a fost “r” (doar citire), atunci se arunca o exceptie </a:t>
            </a:r>
            <a:r>
              <a:rPr lang="en-GB" altLang="ro-RO" sz="2400" b="1" smtClean="0"/>
              <a:t>FileNotFoundException</a:t>
            </a:r>
          </a:p>
          <a:p>
            <a:pPr eaLnBrk="1" hangingPunct="1"/>
            <a:r>
              <a:rPr lang="en-GB" altLang="ro-RO" sz="2400" smtClean="0"/>
              <a:t>Daca fisierul nu exista dar modul de deschidere a fost “rw” (citire si scriere), atunci se creaza un fisier de lungime zero</a:t>
            </a:r>
          </a:p>
          <a:p>
            <a:pPr eaLnBrk="1" hangingPunct="1"/>
            <a:r>
              <a:rPr lang="en-US" altLang="ro-RO" sz="2400" smtClean="0"/>
              <a:t>Clasa RandomAccesFile suporta notiunea de </a:t>
            </a:r>
            <a:r>
              <a:rPr lang="en-US" altLang="ro-RO" sz="2400" i="1" smtClean="0"/>
              <a:t>pointer de fisier</a:t>
            </a:r>
            <a:r>
              <a:rPr lang="en-US" altLang="ro-RO" sz="2400" smtClean="0"/>
              <a:t>. Acesta este un indicator ce specifica pozitia curenta în fisier.</a:t>
            </a:r>
            <a:endParaRPr lang="ro-RO" altLang="ro-RO" sz="2400" smtClean="0"/>
          </a:p>
          <a:p>
            <a:pPr eaLnBrk="1" hangingPunct="1"/>
            <a:r>
              <a:rPr lang="en-US" altLang="ro-RO" sz="2400" smtClean="0"/>
              <a:t> La deschiderea unui fisier pointerul are valoarea 0, indicând începutul fisierului.</a:t>
            </a:r>
            <a:endParaRPr lang="ro-RO" altLang="ro-RO" sz="2400" smtClean="0"/>
          </a:p>
          <a:p>
            <a:pPr eaLnBrk="1" hangingPunct="1"/>
            <a:endParaRPr lang="ro-RO" altLang="ro-RO" sz="2400" smtClean="0"/>
          </a:p>
          <a:p>
            <a:pPr eaLnBrk="1" hangingPunct="1"/>
            <a:endParaRPr lang="ro-RO" altLang="ro-RO" sz="2400" smtClean="0"/>
          </a:p>
          <a:p>
            <a:pPr eaLnBrk="1" hangingPunct="1"/>
            <a:endParaRPr lang="ro-RO" altLang="ro-RO" sz="2400" smtClean="0"/>
          </a:p>
        </p:txBody>
      </p:sp>
      <p:pic>
        <p:nvPicPr>
          <p:cNvPr id="1434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2913" y="4541838"/>
            <a:ext cx="447675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392113" y="46038"/>
            <a:ext cx="9072562" cy="1512887"/>
          </a:xfrm>
        </p:spPr>
        <p:txBody>
          <a:bodyPr/>
          <a:lstStyle/>
          <a:p>
            <a:pPr marL="1439863" eaLnBrk="1" hangingPunct="1"/>
            <a:r>
              <a:rPr lang="en-US" altLang="ro-RO" smtClean="0"/>
              <a:t>Acces aleator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341438"/>
            <a:ext cx="10080625" cy="4283075"/>
          </a:xfrm>
        </p:spPr>
        <p:txBody>
          <a:bodyPr/>
          <a:lstStyle/>
          <a:p>
            <a:pPr eaLnBrk="1" hangingPunct="1">
              <a:lnSpc>
                <a:spcPct val="83000"/>
              </a:lnSpc>
            </a:pPr>
            <a:r>
              <a:rPr lang="en-GB" altLang="ro-RO" sz="2800" smtClean="0"/>
              <a:t>Clasa </a:t>
            </a:r>
            <a:r>
              <a:rPr lang="en-GB" altLang="ro-RO" sz="2800" b="1" smtClean="0"/>
              <a:t>RandomAccessFile</a:t>
            </a:r>
            <a:r>
              <a:rPr lang="en-GB" altLang="ro-RO" sz="2800" smtClean="0"/>
              <a:t> ne ofera metode pentru a citi si a scrie in fisier date de orice tip primitiv si siruri de caractere Unicode (UTF – Unicode Transformation Format)</a:t>
            </a:r>
          </a:p>
          <a:p>
            <a:pPr eaLnBrk="1" hangingPunct="1">
              <a:lnSpc>
                <a:spcPct val="83000"/>
              </a:lnSpc>
            </a:pPr>
            <a:r>
              <a:rPr lang="en-GB" altLang="ro-RO" sz="2800" smtClean="0"/>
              <a:t>Ex:</a:t>
            </a:r>
          </a:p>
          <a:p>
            <a:pPr lvl="1" eaLnBrk="1" hangingPunct="1">
              <a:lnSpc>
                <a:spcPct val="83000"/>
              </a:lnSpc>
            </a:pPr>
            <a:r>
              <a:rPr lang="en-GB" altLang="ro-RO" sz="2800" b="1" smtClean="0">
                <a:latin typeface="Courier New" panose="02070309020205020404" pitchFamily="49" charset="0"/>
              </a:rPr>
              <a:t>boolean readBoolean()</a:t>
            </a:r>
          </a:p>
          <a:p>
            <a:pPr lvl="1" eaLnBrk="1" hangingPunct="1">
              <a:lnSpc>
                <a:spcPct val="83000"/>
              </a:lnSpc>
            </a:pPr>
            <a:r>
              <a:rPr lang="en-GB" altLang="ro-RO" sz="2800" b="1" smtClean="0">
                <a:latin typeface="Courier New" panose="02070309020205020404" pitchFamily="49" charset="0"/>
              </a:rPr>
              <a:t>void writeBoolean(boolean b)</a:t>
            </a:r>
          </a:p>
          <a:p>
            <a:pPr lvl="1" eaLnBrk="1" hangingPunct="1">
              <a:lnSpc>
                <a:spcPct val="83000"/>
              </a:lnSpc>
            </a:pPr>
            <a:r>
              <a:rPr lang="en-GB" altLang="ro-RO" sz="2800" b="1" smtClean="0">
                <a:latin typeface="Courier New" panose="02070309020205020404" pitchFamily="49" charset="0"/>
              </a:rPr>
              <a:t>char readChar()</a:t>
            </a:r>
          </a:p>
          <a:p>
            <a:pPr lvl="1" eaLnBrk="1" hangingPunct="1">
              <a:lnSpc>
                <a:spcPct val="83000"/>
              </a:lnSpc>
            </a:pPr>
            <a:r>
              <a:rPr lang="en-GB" altLang="ro-RO" sz="2800" b="1" smtClean="0">
                <a:latin typeface="Courier New" panose="02070309020205020404" pitchFamily="49" charset="0"/>
              </a:rPr>
              <a:t>void writeChar(char c)</a:t>
            </a:r>
          </a:p>
          <a:p>
            <a:pPr lvl="1" eaLnBrk="1" hangingPunct="1">
              <a:lnSpc>
                <a:spcPct val="83000"/>
              </a:lnSpc>
            </a:pPr>
            <a:r>
              <a:rPr lang="en-GB" altLang="ro-RO" sz="2800" b="1" smtClean="0">
                <a:latin typeface="Courier New" panose="02070309020205020404" pitchFamily="49" charset="0"/>
              </a:rPr>
              <a:t>int readInt()</a:t>
            </a:r>
          </a:p>
          <a:p>
            <a:pPr lvl="1" eaLnBrk="1" hangingPunct="1">
              <a:lnSpc>
                <a:spcPct val="83000"/>
              </a:lnSpc>
            </a:pPr>
            <a:r>
              <a:rPr lang="en-GB" altLang="ro-RO" sz="2800" b="1" smtClean="0">
                <a:latin typeface="Courier New" panose="02070309020205020404" pitchFamily="49" charset="0"/>
              </a:rPr>
              <a:t>void writeInt(int i)</a:t>
            </a:r>
          </a:p>
          <a:p>
            <a:pPr lvl="1" eaLnBrk="1" hangingPunct="1">
              <a:lnSpc>
                <a:spcPct val="83000"/>
              </a:lnSpc>
            </a:pPr>
            <a:r>
              <a:rPr lang="en-GB" altLang="ro-RO" sz="2800" b="1" smtClean="0">
                <a:latin typeface="Courier New" panose="02070309020205020404" pitchFamily="49" charset="0"/>
              </a:rPr>
              <a:t>String readUTF()</a:t>
            </a:r>
          </a:p>
          <a:p>
            <a:pPr lvl="1" eaLnBrk="1" hangingPunct="1">
              <a:lnSpc>
                <a:spcPct val="83000"/>
              </a:lnSpc>
            </a:pPr>
            <a:r>
              <a:rPr lang="en-GB" altLang="ro-RO" sz="2800" b="1" smtClean="0">
                <a:latin typeface="Courier New" panose="02070309020205020404" pitchFamily="49" charset="0"/>
              </a:rPr>
              <a:t>void writeUTF(String s)</a:t>
            </a:r>
            <a:endParaRPr lang="ro-RO" altLang="ro-RO" sz="2800" b="1" smtClean="0">
              <a:latin typeface="Courier New" panose="02070309020205020404" pitchFamily="49" charset="0"/>
            </a:endParaRPr>
          </a:p>
          <a:p>
            <a:pPr lvl="1" eaLnBrk="1" hangingPunct="1">
              <a:lnSpc>
                <a:spcPct val="83000"/>
              </a:lnSpc>
            </a:pPr>
            <a:r>
              <a:rPr lang="en-US" altLang="ro-RO" sz="2800" smtClean="0"/>
              <a:t>Apeluri la metode readXXX sau writeXXX deplaseaza pointerul fisierului cu numarul de octeti cititi sau scrisi de metodele respective.</a:t>
            </a:r>
            <a:endParaRPr lang="en-GB" altLang="ro-RO" sz="2800" smtClean="0"/>
          </a:p>
          <a:p>
            <a:pPr lvl="1" eaLnBrk="1" hangingPunct="1">
              <a:lnSpc>
                <a:spcPct val="83000"/>
              </a:lnSpc>
            </a:pPr>
            <a:endParaRPr lang="en-GB" altLang="ro-RO" sz="2800" b="1" smtClean="0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o-RO" smtClean="0"/>
              <a:t>Acces aleator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ro-RO" sz="2400" smtClean="0"/>
              <a:t>In plus fata de metodele de citire/scriere clasa pune la dispozitie si metode pentru controlul pozitiei pointerului de fisier. Acestea sunt:</a:t>
            </a:r>
            <a:endParaRPr lang="ro-RO" altLang="ro-RO" sz="2400" smtClean="0"/>
          </a:p>
          <a:p>
            <a:pPr eaLnBrk="1" hangingPunct="1"/>
            <a:r>
              <a:rPr lang="en-US" altLang="ro-RO" sz="2400" smtClean="0">
                <a:latin typeface="Courier New" panose="02070309020205020404" pitchFamily="49" charset="0"/>
                <a:cs typeface="Courier New" panose="02070309020205020404" pitchFamily="49" charset="0"/>
              </a:rPr>
              <a:t>int skipBytes ( int n ) </a:t>
            </a:r>
            <a:r>
              <a:rPr lang="ro-RO" altLang="ro-RO" sz="240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ro-RO" sz="2400" smtClean="0"/>
              <a:t>Muta pointerul fisierului înainte cu un numar specificat de octeti </a:t>
            </a:r>
            <a:endParaRPr lang="ro-RO" altLang="ro-RO" sz="2400" smtClean="0"/>
          </a:p>
          <a:p>
            <a:pPr eaLnBrk="1" hangingPunct="1"/>
            <a:r>
              <a:rPr lang="en-US" altLang="ro-RO" sz="2400" smtClean="0">
                <a:latin typeface="Courier New" panose="02070309020205020404" pitchFamily="49" charset="0"/>
                <a:cs typeface="Courier New" panose="02070309020205020404" pitchFamily="49" charset="0"/>
              </a:rPr>
              <a:t>void seek (long pozitie) </a:t>
            </a:r>
            <a:r>
              <a:rPr lang="ro-RO" altLang="ro-RO" sz="240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ro-RO" sz="2400" smtClean="0"/>
              <a:t>Pozitioneaza pointerului fisierului înaintea octetului specificat. </a:t>
            </a:r>
            <a:endParaRPr lang="ro-RO" altLang="ro-RO" sz="2400" smtClean="0"/>
          </a:p>
          <a:p>
            <a:pPr eaLnBrk="1" hangingPunct="1"/>
            <a:r>
              <a:rPr lang="en-US" altLang="ro-RO" sz="2400" smtClean="0">
                <a:latin typeface="Courier New" panose="02070309020205020404" pitchFamily="49" charset="0"/>
                <a:cs typeface="Courier New" panose="02070309020205020404" pitchFamily="49" charset="0"/>
              </a:rPr>
              <a:t>long getFilePointer ( ) </a:t>
            </a:r>
            <a:r>
              <a:rPr lang="ro-RO" altLang="ro-RO" sz="240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ro-RO" sz="2400" smtClean="0"/>
              <a:t>Returneaza pozitia pointerului de fisier (pozitia de la care se citeste/la care se scrie)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439863" eaLnBrk="1" hangingPunct="1"/>
            <a:r>
              <a:rPr lang="en-US" altLang="ro-RO" smtClean="0"/>
              <a:t>Fisiere : Cuprins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717550" indent="-717550" eaLnBrk="1" hangingPunct="1">
              <a:buSzPct val="112000"/>
              <a:buFont typeface="StarSymbol" charset="0"/>
              <a:buAutoNum type="arabicPeriod"/>
            </a:pPr>
            <a:r>
              <a:rPr lang="en-GB" altLang="ro-RO" sz="4400" b="1" smtClean="0">
                <a:solidFill>
                  <a:srgbClr val="FF0000"/>
                </a:solidFill>
              </a:rPr>
              <a:t> </a:t>
            </a:r>
            <a:r>
              <a:rPr lang="en-GB" altLang="ro-RO" sz="4400" b="1" smtClean="0"/>
              <a:t>Operatii cu fisiere. Clasa File</a:t>
            </a:r>
          </a:p>
          <a:p>
            <a:pPr marL="717550" indent="-717550" eaLnBrk="1" hangingPunct="1">
              <a:buSzPct val="112000"/>
              <a:buFont typeface="StarSymbol" charset="0"/>
              <a:buAutoNum type="arabicPeriod"/>
            </a:pPr>
            <a:r>
              <a:rPr lang="en-GB" altLang="ro-RO" sz="4400" b="1" smtClean="0"/>
              <a:t> Acces aleator la fisiere</a:t>
            </a:r>
          </a:p>
          <a:p>
            <a:pPr marL="717550" indent="-717550" eaLnBrk="1" hangingPunct="1">
              <a:buSzPct val="112000"/>
              <a:buFont typeface="StarSymbol" charset="0"/>
              <a:buAutoNum type="arabicPeriod"/>
            </a:pPr>
            <a:r>
              <a:rPr lang="en-GB" altLang="ro-RO" sz="4400" b="1" smtClean="0"/>
              <a:t> </a:t>
            </a:r>
            <a:r>
              <a:rPr lang="en-GB" altLang="ro-RO" sz="4400" b="1" smtClean="0">
                <a:solidFill>
                  <a:srgbClr val="FF0000"/>
                </a:solidFill>
              </a:rPr>
              <a:t>Fluxuri de date</a:t>
            </a:r>
          </a:p>
          <a:p>
            <a:pPr marL="717550" indent="-717550" eaLnBrk="1" hangingPunct="1">
              <a:buSzPct val="112000"/>
              <a:buFont typeface="StarSymbol" charset="0"/>
              <a:buAutoNum type="arabicPeriod"/>
            </a:pPr>
            <a:r>
              <a:rPr lang="en-GB" altLang="ro-RO" sz="4400" b="1" smtClean="0"/>
              <a:t> Serializarea obiectelor</a:t>
            </a:r>
            <a:endParaRPr lang="en-US" altLang="ro-RO" sz="4400" b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544513" y="0"/>
            <a:ext cx="9072562" cy="1512888"/>
          </a:xfrm>
        </p:spPr>
        <p:txBody>
          <a:bodyPr/>
          <a:lstStyle/>
          <a:p>
            <a:pPr marL="1439863" eaLnBrk="1" hangingPunct="1"/>
            <a:r>
              <a:rPr lang="en-US" altLang="ro-RO" smtClean="0"/>
              <a:t>Fluxuri de date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9072562" cy="4283075"/>
          </a:xfrm>
        </p:spPr>
        <p:txBody>
          <a:bodyPr/>
          <a:lstStyle/>
          <a:p>
            <a:pPr eaLnBrk="1" hangingPunct="1"/>
            <a:r>
              <a:rPr lang="en-GB" altLang="ro-RO" sz="2400" smtClean="0"/>
              <a:t>Toate clasele pentru lucrul cu fisiere se gasesc in pachetul </a:t>
            </a:r>
            <a:r>
              <a:rPr lang="en-GB" altLang="ro-RO" sz="2400" b="1" smtClean="0"/>
              <a:t>java.io</a:t>
            </a:r>
          </a:p>
          <a:p>
            <a:pPr eaLnBrk="1" hangingPunct="1"/>
            <a:r>
              <a:rPr lang="en-GB" altLang="ro-RO" sz="2400" smtClean="0"/>
              <a:t>Exista doua abordari in lucrul cu fisiere:</a:t>
            </a:r>
          </a:p>
          <a:p>
            <a:pPr lvl="1" eaLnBrk="1" hangingPunct="1"/>
            <a:r>
              <a:rPr lang="en-GB" altLang="ro-RO" sz="2400" smtClean="0"/>
              <a:t>Accesul aleator la fisiere</a:t>
            </a:r>
          </a:p>
          <a:p>
            <a:pPr lvl="1" eaLnBrk="1" hangingPunct="1"/>
            <a:r>
              <a:rPr lang="en-GB" altLang="ro-RO" sz="2400" smtClean="0"/>
              <a:t>Tratarea fisierelor ca un flux de date</a:t>
            </a:r>
          </a:p>
          <a:p>
            <a:pPr eaLnBrk="1" hangingPunct="1"/>
            <a:r>
              <a:rPr lang="en-GB" altLang="ro-RO" sz="2400" smtClean="0"/>
              <a:t>Intr-un flux datele pot curge intr-o singura directie</a:t>
            </a:r>
          </a:p>
          <a:p>
            <a:pPr eaLnBrk="1" hangingPunct="1"/>
            <a:r>
              <a:rPr lang="en-GB" altLang="ro-RO" sz="2400" smtClean="0"/>
              <a:t>Orice flux de date are o sursa (care poate doar scrie date in flux) si o destinatie (care poate doar citi date din flux)</a:t>
            </a:r>
          </a:p>
        </p:txBody>
      </p:sp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4713" y="4770438"/>
            <a:ext cx="5181600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9072562" cy="1512888"/>
          </a:xfrm>
        </p:spPr>
        <p:txBody>
          <a:bodyPr/>
          <a:lstStyle/>
          <a:p>
            <a:pPr marL="1439863" eaLnBrk="1" hangingPunct="1"/>
            <a:r>
              <a:rPr lang="en-US" altLang="ro-RO" smtClean="0"/>
              <a:t>Fluxuri de date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9713" y="1722438"/>
            <a:ext cx="9677400" cy="4283075"/>
          </a:xfrm>
        </p:spPr>
        <p:txBody>
          <a:bodyPr/>
          <a:lstStyle/>
          <a:p>
            <a:pPr eaLnBrk="1" hangingPunct="1"/>
            <a:r>
              <a:rPr lang="en-US" altLang="ro-RO" sz="2400" smtClean="0"/>
              <a:t>Un </a:t>
            </a:r>
            <a:r>
              <a:rPr lang="en-US" altLang="ro-RO" sz="2400" i="1" smtClean="0"/>
              <a:t>flux</a:t>
            </a:r>
            <a:r>
              <a:rPr lang="en-US" altLang="ro-RO" sz="2400" smtClean="0"/>
              <a:t> este un canal de comunica</a:t>
            </a:r>
            <a:r>
              <a:rPr lang="ro-RO" altLang="ro-RO" sz="2400" smtClean="0"/>
              <a:t>ţ</a:t>
            </a:r>
            <a:r>
              <a:rPr lang="en-US" altLang="ro-RO" sz="2400" smtClean="0"/>
              <a:t>ie unidirec</a:t>
            </a:r>
            <a:r>
              <a:rPr lang="ro-RO" altLang="ro-RO" sz="2400" smtClean="0"/>
              <a:t>ţ</a:t>
            </a:r>
            <a:r>
              <a:rPr lang="en-US" altLang="ro-RO" sz="2400" smtClean="0"/>
              <a:t>ional între doua procese. </a:t>
            </a:r>
            <a:endParaRPr lang="ro-RO" altLang="ro-RO" sz="2400" smtClean="0"/>
          </a:p>
          <a:p>
            <a:pPr eaLnBrk="1" hangingPunct="1"/>
            <a:r>
              <a:rPr lang="en-US" altLang="ro-RO" sz="2400" smtClean="0"/>
              <a:t>Un proces care descrie o sursa externa de date se numeste </a:t>
            </a:r>
            <a:r>
              <a:rPr lang="en-US" altLang="ro-RO" sz="2400" i="1" smtClean="0"/>
              <a:t>proces producator</a:t>
            </a:r>
            <a:r>
              <a:rPr lang="en-US" altLang="ro-RO" sz="2400" smtClean="0"/>
              <a:t>. </a:t>
            </a:r>
            <a:endParaRPr lang="ro-RO" altLang="ro-RO" sz="2400" smtClean="0"/>
          </a:p>
          <a:p>
            <a:pPr eaLnBrk="1" hangingPunct="1"/>
            <a:r>
              <a:rPr lang="en-US" altLang="ro-RO" sz="2400" smtClean="0"/>
              <a:t>Un proces care descrie o destinatie externa pentru date se numeste </a:t>
            </a:r>
            <a:r>
              <a:rPr lang="en-US" altLang="ro-RO" sz="2400" i="1" smtClean="0"/>
              <a:t>proces consumator</a:t>
            </a:r>
            <a:r>
              <a:rPr lang="en-US" altLang="ro-RO" sz="2400" smtClean="0"/>
              <a:t>. </a:t>
            </a:r>
            <a:endParaRPr lang="ro-RO" altLang="ro-RO" sz="2400" smtClean="0"/>
          </a:p>
          <a:p>
            <a:pPr eaLnBrk="1" hangingPunct="1"/>
            <a:r>
              <a:rPr lang="en-GB" altLang="ro-RO" sz="2400" smtClean="0"/>
              <a:t>Fluxurile de date pot fi impartite in doua categorii, dupa pozitia programului fata de flux:</a:t>
            </a:r>
          </a:p>
          <a:p>
            <a:pPr lvl="1" eaLnBrk="1" hangingPunct="1"/>
            <a:r>
              <a:rPr lang="en-GB" altLang="ro-RO" sz="2400" b="1" smtClean="0"/>
              <a:t>Fluxuri de intrare</a:t>
            </a:r>
            <a:r>
              <a:rPr lang="en-GB" altLang="ro-RO" sz="2400" smtClean="0"/>
              <a:t> – programul este destinatia fluxului iar sursa este un fisier, un array, un alt program</a:t>
            </a:r>
          </a:p>
          <a:p>
            <a:pPr lvl="1" eaLnBrk="1" hangingPunct="1"/>
            <a:r>
              <a:rPr lang="en-GB" altLang="ro-RO" sz="2400" b="1" smtClean="0"/>
              <a:t>Fluxuri de iesire</a:t>
            </a:r>
            <a:r>
              <a:rPr lang="en-GB" altLang="ro-RO" sz="2400" smtClean="0"/>
              <a:t> – programul este sursa fluxului iar destinatia este un fisier, un array sau un alt program</a:t>
            </a:r>
            <a:endParaRPr lang="ro-RO" altLang="ro-RO" sz="2400" smtClean="0"/>
          </a:p>
          <a:p>
            <a:pPr lvl="1" eaLnBrk="1" hangingPunct="1"/>
            <a:endParaRPr lang="en-GB" altLang="ro-RO" sz="2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o-RO" smtClean="0"/>
              <a:t>Fluxuri de date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ro-RO" sz="2400" smtClean="0"/>
              <a:t>Observatii:</a:t>
            </a:r>
            <a:endParaRPr lang="ro-RO" altLang="ro-RO" sz="2400" smtClean="0"/>
          </a:p>
          <a:p>
            <a:pPr eaLnBrk="1" hangingPunct="1"/>
            <a:r>
              <a:rPr lang="en-US" altLang="ro-RO" sz="2400" smtClean="0"/>
              <a:t>Fluxurile sunt canale de comunicatie seriale pe 8 sau 16 biti. </a:t>
            </a:r>
            <a:endParaRPr lang="ro-RO" altLang="ro-RO" sz="2400" smtClean="0"/>
          </a:p>
          <a:p>
            <a:pPr eaLnBrk="1" hangingPunct="1"/>
            <a:r>
              <a:rPr lang="en-US" altLang="ro-RO" sz="2400" smtClean="0"/>
              <a:t>Fluxurile sunt unidirectionale, de la producator la consumator </a:t>
            </a:r>
            <a:endParaRPr lang="ro-RO" altLang="ro-RO" sz="2400" smtClean="0"/>
          </a:p>
          <a:p>
            <a:pPr eaLnBrk="1" hangingPunct="1"/>
            <a:r>
              <a:rPr lang="en-US" altLang="ro-RO" sz="2400" smtClean="0"/>
              <a:t>Fiecare flux are un singur proces producator si un singur proces consumator</a:t>
            </a:r>
            <a:endParaRPr lang="ro-RO" altLang="ro-RO" sz="2400" smtClean="0"/>
          </a:p>
          <a:p>
            <a:pPr eaLnBrk="1" hangingPunct="1"/>
            <a:r>
              <a:rPr lang="en-US" altLang="ro-RO" sz="2400" smtClean="0"/>
              <a:t>Intre doua procese pot exista oricâte fluxuri, orice proces putând fi atât producator si consumator în acelasi timp, dar pe fluxuri diferite</a:t>
            </a:r>
            <a:endParaRPr lang="ro-RO" altLang="ro-RO" sz="2400" smtClean="0"/>
          </a:p>
          <a:p>
            <a:pPr eaLnBrk="1" hangingPunct="1"/>
            <a:r>
              <a:rPr lang="en-US" altLang="ro-RO" sz="2400" smtClean="0"/>
              <a:t>Consumatorul si producatorul nu comunica direct printr-o interfata de flux ci prin intermediul codului Java de tratare a fluxurilor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544513" y="122238"/>
            <a:ext cx="9072562" cy="1512887"/>
          </a:xfrm>
        </p:spPr>
        <p:txBody>
          <a:bodyPr/>
          <a:lstStyle/>
          <a:p>
            <a:pPr eaLnBrk="1" hangingPunct="1"/>
            <a:r>
              <a:rPr lang="en-US" altLang="ro-RO" b="1" smtClean="0"/>
              <a:t>Clasificarea fluxurilor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493838"/>
            <a:ext cx="9072562" cy="4745037"/>
          </a:xfrm>
        </p:spPr>
        <p:txBody>
          <a:bodyPr/>
          <a:lstStyle/>
          <a:p>
            <a:pPr eaLnBrk="1" hangingPunct="1">
              <a:lnSpc>
                <a:spcPct val="83000"/>
              </a:lnSpc>
            </a:pPr>
            <a:r>
              <a:rPr lang="pt-BR" altLang="ro-RO" sz="2800" smtClean="0"/>
              <a:t>Exista trei tipuri de clasificare a fluxurilor: </a:t>
            </a:r>
            <a:endParaRPr lang="ro-RO" altLang="ro-RO" sz="2800" smtClean="0"/>
          </a:p>
          <a:p>
            <a:pPr eaLnBrk="1" hangingPunct="1">
              <a:lnSpc>
                <a:spcPct val="83000"/>
              </a:lnSpc>
            </a:pPr>
            <a:r>
              <a:rPr lang="en-US" altLang="ro-RO" sz="2800" smtClean="0"/>
              <a:t>Dupa "directia" canalului de comunicatie deschis fluxurile se împart în</a:t>
            </a:r>
            <a:endParaRPr lang="ro-RO" altLang="ro-RO" sz="2800" smtClean="0"/>
          </a:p>
          <a:p>
            <a:pPr lvl="1" eaLnBrk="1" hangingPunct="1"/>
            <a:r>
              <a:rPr lang="en-US" altLang="ro-RO" sz="2800" smtClean="0"/>
              <a:t>fluxuri de intrare (pentru citirea datelor) </a:t>
            </a:r>
          </a:p>
          <a:p>
            <a:pPr lvl="1" eaLnBrk="1" hangingPunct="1"/>
            <a:r>
              <a:rPr lang="en-US" altLang="ro-RO" sz="2800" smtClean="0"/>
              <a:t>fluxuri de iesire (pentru scrierea datelor) </a:t>
            </a:r>
          </a:p>
          <a:p>
            <a:pPr eaLnBrk="1" hangingPunct="1">
              <a:lnSpc>
                <a:spcPct val="83000"/>
              </a:lnSpc>
            </a:pPr>
            <a:r>
              <a:rPr lang="pt-BR" altLang="ro-RO" sz="2800" smtClean="0"/>
              <a:t>Dupa tipul de date pe care opereaza: </a:t>
            </a:r>
            <a:endParaRPr lang="en-GB" altLang="ro-RO" sz="2800" smtClean="0"/>
          </a:p>
          <a:p>
            <a:pPr lvl="1" eaLnBrk="1" hangingPunct="1">
              <a:lnSpc>
                <a:spcPct val="83000"/>
              </a:lnSpc>
            </a:pPr>
            <a:r>
              <a:rPr lang="en-GB" altLang="ro-RO" sz="2800" smtClean="0"/>
              <a:t>Fluxuri de octeti – lucreaza cu informatie la nivel de octeti</a:t>
            </a:r>
            <a:r>
              <a:rPr lang="ro-RO" altLang="ro-RO" sz="2800" smtClean="0"/>
              <a:t> (comunicaţia serială pe 8 biţi)</a:t>
            </a:r>
            <a:r>
              <a:rPr lang="en-GB" altLang="ro-RO" sz="2800" smtClean="0"/>
              <a:t>, sunt derivate din clasele InputStream si OutputStream</a:t>
            </a:r>
          </a:p>
          <a:p>
            <a:pPr lvl="1" eaLnBrk="1" hangingPunct="1">
              <a:lnSpc>
                <a:spcPct val="83000"/>
              </a:lnSpc>
            </a:pPr>
            <a:r>
              <a:rPr lang="en-GB" altLang="ro-RO" sz="2800" smtClean="0"/>
              <a:t>Fluxuri de caractere – lucreaza cu caractere format Unicode</a:t>
            </a:r>
            <a:r>
              <a:rPr lang="ro-RO" altLang="ro-RO" sz="2800" smtClean="0"/>
              <a:t> (comunicaţia serială pe 16 biţi)</a:t>
            </a:r>
            <a:r>
              <a:rPr lang="en-GB" altLang="ro-RO" sz="2800" smtClean="0"/>
              <a:t>, sunt derivate din clasele Reader si Writer</a:t>
            </a:r>
            <a:endParaRPr lang="ro-RO" altLang="ro-RO" sz="2800" smtClean="0"/>
          </a:p>
          <a:p>
            <a:pPr eaLnBrk="1" hangingPunct="1"/>
            <a:r>
              <a:rPr lang="en-US" altLang="ro-RO" sz="2800" smtClean="0"/>
              <a:t> </a:t>
            </a:r>
          </a:p>
          <a:p>
            <a:pPr lvl="1" eaLnBrk="1" hangingPunct="1">
              <a:lnSpc>
                <a:spcPct val="83000"/>
              </a:lnSpc>
            </a:pPr>
            <a:endParaRPr lang="en-GB" altLang="ro-RO" sz="2800" b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ro-RO" smtClean="0"/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ro-RO" sz="2800" smtClean="0"/>
              <a:t>Dupa actiunea lor: </a:t>
            </a:r>
          </a:p>
          <a:p>
            <a:pPr lvl="1" eaLnBrk="1" hangingPunct="1"/>
            <a:r>
              <a:rPr lang="en-US" altLang="ro-RO" sz="2800" smtClean="0"/>
              <a:t>fluxuri primare de citire/scriere a datelor </a:t>
            </a:r>
            <a:r>
              <a:rPr lang="ro-RO" altLang="ro-RO" sz="2800" smtClean="0"/>
              <a:t>, sau fluxuri de nivel scăzut </a:t>
            </a:r>
            <a:r>
              <a:rPr lang="en-US" altLang="ro-RO" sz="2800" smtClean="0"/>
              <a:t>(se ocupa efectiv cu citirea/scrierea datelor) </a:t>
            </a:r>
          </a:p>
          <a:p>
            <a:pPr lvl="1" eaLnBrk="1" hangingPunct="1"/>
            <a:r>
              <a:rPr lang="en-US" altLang="ro-RO" sz="2800" smtClean="0"/>
              <a:t>fluxuri pentru procesarea datelor</a:t>
            </a:r>
            <a:r>
              <a:rPr lang="ro-RO" altLang="ro-RO" sz="2800" smtClean="0"/>
              <a:t> sau fluxuri de nivel înalt acestea fiind</a:t>
            </a:r>
            <a:r>
              <a:rPr lang="en-GB" altLang="ro-RO" sz="2800" smtClean="0"/>
              <a:t> conectate la un flux de nivel scazut </a:t>
            </a:r>
            <a:r>
              <a:rPr lang="ro-RO" altLang="ro-RO" sz="2800" smtClean="0"/>
              <a:t>pe care</a:t>
            </a:r>
            <a:r>
              <a:rPr lang="en-GB" altLang="ro-RO" sz="2800" smtClean="0"/>
              <a:t> </a:t>
            </a:r>
            <a:r>
              <a:rPr lang="ro-RO" altLang="ro-RO" sz="2800" smtClean="0"/>
              <a:t>î</a:t>
            </a:r>
            <a:r>
              <a:rPr lang="en-GB" altLang="ro-RO" sz="2800" smtClean="0"/>
              <a:t>l extinde ca functionalitate cu buffering, filtre pentru conversii de date, etc</a:t>
            </a:r>
            <a:endParaRPr lang="en-US" altLang="ro-RO" sz="28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439863" eaLnBrk="1" hangingPunct="1"/>
            <a:r>
              <a:rPr lang="en-US" altLang="ro-RO" smtClean="0"/>
              <a:t>Ierarhia fluxurilor de octeti</a:t>
            </a:r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163513" y="5065713"/>
            <a:ext cx="2438400" cy="46672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ro-RO" sz="2400" b="1">
                <a:solidFill>
                  <a:srgbClr val="FF0000"/>
                </a:solidFill>
                <a:latin typeface="Times New Roman" panose="02020603050405020304" pitchFamily="18" charset="0"/>
              </a:rPr>
              <a:t>FileInputStream</a:t>
            </a:r>
          </a:p>
        </p:txBody>
      </p:sp>
      <p:sp>
        <p:nvSpPr>
          <p:cNvPr id="23556" name="Text Box 5"/>
          <p:cNvSpPr txBox="1">
            <a:spLocks noChangeArrowheads="1"/>
          </p:cNvSpPr>
          <p:nvPr/>
        </p:nvSpPr>
        <p:spPr bwMode="auto">
          <a:xfrm>
            <a:off x="1382713" y="3398838"/>
            <a:ext cx="2286000" cy="46672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ro-RO" sz="2400" b="1">
                <a:solidFill>
                  <a:srgbClr val="000000"/>
                </a:solidFill>
                <a:latin typeface="Times New Roman" panose="02020603050405020304" pitchFamily="18" charset="0"/>
              </a:rPr>
              <a:t>InputStream</a:t>
            </a:r>
          </a:p>
        </p:txBody>
      </p:sp>
      <p:sp>
        <p:nvSpPr>
          <p:cNvPr id="23557" name="Line 6"/>
          <p:cNvSpPr>
            <a:spLocks noChangeShapeType="1"/>
          </p:cNvSpPr>
          <p:nvPr/>
        </p:nvSpPr>
        <p:spPr bwMode="auto">
          <a:xfrm flipH="1">
            <a:off x="2754313" y="4160838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3558" name="Line 7"/>
          <p:cNvSpPr>
            <a:spLocks noChangeShapeType="1"/>
          </p:cNvSpPr>
          <p:nvPr/>
        </p:nvSpPr>
        <p:spPr bwMode="auto">
          <a:xfrm flipV="1">
            <a:off x="1382713" y="4541838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3559" name="Line 8"/>
          <p:cNvSpPr>
            <a:spLocks noChangeShapeType="1"/>
          </p:cNvSpPr>
          <p:nvPr/>
        </p:nvSpPr>
        <p:spPr bwMode="auto">
          <a:xfrm>
            <a:off x="1382713" y="454183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3560" name="AutoShape 10"/>
          <p:cNvSpPr>
            <a:spLocks noChangeArrowheads="1"/>
          </p:cNvSpPr>
          <p:nvPr/>
        </p:nvSpPr>
        <p:spPr bwMode="auto">
          <a:xfrm>
            <a:off x="2601913" y="3856038"/>
            <a:ext cx="304800" cy="3048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ro-RO"/>
          </a:p>
        </p:txBody>
      </p:sp>
      <p:sp>
        <p:nvSpPr>
          <p:cNvPr id="23561" name="Text Box 16"/>
          <p:cNvSpPr txBox="1">
            <a:spLocks noChangeArrowheads="1"/>
          </p:cNvSpPr>
          <p:nvPr/>
        </p:nvSpPr>
        <p:spPr bwMode="auto">
          <a:xfrm>
            <a:off x="3592513" y="1951038"/>
            <a:ext cx="2209800" cy="46672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ro-RO" sz="2400" b="1">
                <a:solidFill>
                  <a:srgbClr val="000000"/>
                </a:solidFill>
                <a:latin typeface="Times New Roman" panose="02020603050405020304" pitchFamily="18" charset="0"/>
              </a:rPr>
              <a:t>Object</a:t>
            </a:r>
          </a:p>
        </p:txBody>
      </p:sp>
      <p:sp>
        <p:nvSpPr>
          <p:cNvPr id="23562" name="Line 17"/>
          <p:cNvSpPr>
            <a:spLocks noChangeShapeType="1"/>
          </p:cNvSpPr>
          <p:nvPr/>
        </p:nvSpPr>
        <p:spPr bwMode="auto">
          <a:xfrm flipH="1">
            <a:off x="4735513" y="2713038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3563" name="AutoShape 18"/>
          <p:cNvSpPr>
            <a:spLocks noChangeArrowheads="1"/>
          </p:cNvSpPr>
          <p:nvPr/>
        </p:nvSpPr>
        <p:spPr bwMode="auto">
          <a:xfrm>
            <a:off x="4583113" y="2408238"/>
            <a:ext cx="304800" cy="3048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ro-RO"/>
          </a:p>
        </p:txBody>
      </p:sp>
      <p:sp>
        <p:nvSpPr>
          <p:cNvPr id="23564" name="Text Box 22"/>
          <p:cNvSpPr txBox="1">
            <a:spLocks noChangeArrowheads="1"/>
          </p:cNvSpPr>
          <p:nvPr/>
        </p:nvSpPr>
        <p:spPr bwMode="auto">
          <a:xfrm>
            <a:off x="5726113" y="3389313"/>
            <a:ext cx="2286000" cy="46672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ro-RO" sz="2400" b="1">
                <a:solidFill>
                  <a:srgbClr val="000000"/>
                </a:solidFill>
                <a:latin typeface="Times New Roman" panose="02020603050405020304" pitchFamily="18" charset="0"/>
              </a:rPr>
              <a:t>OutputStream</a:t>
            </a:r>
          </a:p>
        </p:txBody>
      </p:sp>
      <p:sp>
        <p:nvSpPr>
          <p:cNvPr id="23565" name="Line 23"/>
          <p:cNvSpPr>
            <a:spLocks noChangeShapeType="1"/>
          </p:cNvSpPr>
          <p:nvPr/>
        </p:nvSpPr>
        <p:spPr bwMode="auto">
          <a:xfrm>
            <a:off x="2525713" y="3017838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3566" name="Line 24"/>
          <p:cNvSpPr>
            <a:spLocks noChangeShapeType="1"/>
          </p:cNvSpPr>
          <p:nvPr/>
        </p:nvSpPr>
        <p:spPr bwMode="auto">
          <a:xfrm>
            <a:off x="2525713" y="3017838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3567" name="Line 25"/>
          <p:cNvSpPr>
            <a:spLocks noChangeShapeType="1"/>
          </p:cNvSpPr>
          <p:nvPr/>
        </p:nvSpPr>
        <p:spPr bwMode="auto">
          <a:xfrm>
            <a:off x="6869113" y="3017838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3568" name="Text Box 26"/>
          <p:cNvSpPr txBox="1">
            <a:spLocks noChangeArrowheads="1"/>
          </p:cNvSpPr>
          <p:nvPr/>
        </p:nvSpPr>
        <p:spPr bwMode="auto">
          <a:xfrm>
            <a:off x="1077913" y="5837238"/>
            <a:ext cx="3276600" cy="46672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ro-RO" sz="2400" b="1">
                <a:solidFill>
                  <a:srgbClr val="000000"/>
                </a:solidFill>
                <a:latin typeface="Times New Roman" panose="02020603050405020304" pitchFamily="18" charset="0"/>
              </a:rPr>
              <a:t>ByteArrayInputStream</a:t>
            </a:r>
          </a:p>
        </p:txBody>
      </p:sp>
      <p:sp>
        <p:nvSpPr>
          <p:cNvPr id="23569" name="Text Box 27"/>
          <p:cNvSpPr txBox="1">
            <a:spLocks noChangeArrowheads="1"/>
          </p:cNvSpPr>
          <p:nvPr/>
        </p:nvSpPr>
        <p:spPr bwMode="auto">
          <a:xfrm>
            <a:off x="2906713" y="5075238"/>
            <a:ext cx="2667000" cy="46672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ro-RO" sz="2400" b="1">
                <a:solidFill>
                  <a:srgbClr val="000000"/>
                </a:solidFill>
                <a:latin typeface="Times New Roman" panose="02020603050405020304" pitchFamily="18" charset="0"/>
              </a:rPr>
              <a:t>PipedInputStream</a:t>
            </a:r>
          </a:p>
        </p:txBody>
      </p:sp>
      <p:sp>
        <p:nvSpPr>
          <p:cNvPr id="23570" name="Line 28"/>
          <p:cNvSpPr>
            <a:spLocks noChangeShapeType="1"/>
          </p:cNvSpPr>
          <p:nvPr/>
        </p:nvSpPr>
        <p:spPr bwMode="auto">
          <a:xfrm>
            <a:off x="4202113" y="454183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3571" name="Line 29"/>
          <p:cNvSpPr>
            <a:spLocks noChangeShapeType="1"/>
          </p:cNvSpPr>
          <p:nvPr/>
        </p:nvSpPr>
        <p:spPr bwMode="auto">
          <a:xfrm>
            <a:off x="2754313" y="4541838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3572" name="Text Box 30"/>
          <p:cNvSpPr txBox="1">
            <a:spLocks noChangeArrowheads="1"/>
          </p:cNvSpPr>
          <p:nvPr/>
        </p:nvSpPr>
        <p:spPr bwMode="auto">
          <a:xfrm>
            <a:off x="4430713" y="6361113"/>
            <a:ext cx="2590800" cy="46672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ro-RO" sz="2400" b="1">
                <a:solidFill>
                  <a:srgbClr val="FF0000"/>
                </a:solidFill>
                <a:latin typeface="Times New Roman" panose="02020603050405020304" pitchFamily="18" charset="0"/>
              </a:rPr>
              <a:t>FileOutputStream</a:t>
            </a:r>
          </a:p>
        </p:txBody>
      </p:sp>
      <p:sp>
        <p:nvSpPr>
          <p:cNvPr id="23573" name="Line 31"/>
          <p:cNvSpPr>
            <a:spLocks noChangeShapeType="1"/>
          </p:cNvSpPr>
          <p:nvPr/>
        </p:nvSpPr>
        <p:spPr bwMode="auto">
          <a:xfrm flipH="1">
            <a:off x="7173913" y="4160838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3574" name="Line 32"/>
          <p:cNvSpPr>
            <a:spLocks noChangeShapeType="1"/>
          </p:cNvSpPr>
          <p:nvPr/>
        </p:nvSpPr>
        <p:spPr bwMode="auto">
          <a:xfrm flipV="1">
            <a:off x="5726113" y="4541838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3575" name="Line 33"/>
          <p:cNvSpPr>
            <a:spLocks noChangeShapeType="1"/>
          </p:cNvSpPr>
          <p:nvPr/>
        </p:nvSpPr>
        <p:spPr bwMode="auto">
          <a:xfrm>
            <a:off x="5726113" y="4541838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3576" name="AutoShape 34"/>
          <p:cNvSpPr>
            <a:spLocks noChangeArrowheads="1"/>
          </p:cNvSpPr>
          <p:nvPr/>
        </p:nvSpPr>
        <p:spPr bwMode="auto">
          <a:xfrm>
            <a:off x="7021513" y="3856038"/>
            <a:ext cx="304800" cy="3048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ro-RO"/>
          </a:p>
        </p:txBody>
      </p:sp>
      <p:sp>
        <p:nvSpPr>
          <p:cNvPr id="23577" name="Text Box 35"/>
          <p:cNvSpPr txBox="1">
            <a:spLocks noChangeArrowheads="1"/>
          </p:cNvSpPr>
          <p:nvPr/>
        </p:nvSpPr>
        <p:spPr bwMode="auto">
          <a:xfrm>
            <a:off x="5878513" y="5065713"/>
            <a:ext cx="3505200" cy="46672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ro-RO" sz="2400" b="1">
                <a:solidFill>
                  <a:srgbClr val="000000"/>
                </a:solidFill>
                <a:latin typeface="Times New Roman" panose="02020603050405020304" pitchFamily="18" charset="0"/>
              </a:rPr>
              <a:t>ByteArrayOutputStream</a:t>
            </a:r>
          </a:p>
        </p:txBody>
      </p:sp>
      <p:sp>
        <p:nvSpPr>
          <p:cNvPr id="23578" name="Text Box 36"/>
          <p:cNvSpPr txBox="1">
            <a:spLocks noChangeArrowheads="1"/>
          </p:cNvSpPr>
          <p:nvPr/>
        </p:nvSpPr>
        <p:spPr bwMode="auto">
          <a:xfrm>
            <a:off x="7173913" y="6437313"/>
            <a:ext cx="2906712" cy="46672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ro-RO" sz="2400" b="1">
                <a:solidFill>
                  <a:srgbClr val="000000"/>
                </a:solidFill>
                <a:latin typeface="Times New Roman" panose="02020603050405020304" pitchFamily="18" charset="0"/>
              </a:rPr>
              <a:t>PipedOutputStream</a:t>
            </a:r>
          </a:p>
        </p:txBody>
      </p:sp>
      <p:sp>
        <p:nvSpPr>
          <p:cNvPr id="23579" name="Line 37"/>
          <p:cNvSpPr>
            <a:spLocks noChangeShapeType="1"/>
          </p:cNvSpPr>
          <p:nvPr/>
        </p:nvSpPr>
        <p:spPr bwMode="auto">
          <a:xfrm>
            <a:off x="9688513" y="4541838"/>
            <a:ext cx="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3580" name="Line 38"/>
          <p:cNvSpPr>
            <a:spLocks noChangeShapeType="1"/>
          </p:cNvSpPr>
          <p:nvPr/>
        </p:nvSpPr>
        <p:spPr bwMode="auto">
          <a:xfrm>
            <a:off x="7173913" y="454183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239713" y="198438"/>
            <a:ext cx="9337675" cy="1512887"/>
          </a:xfrm>
        </p:spPr>
        <p:txBody>
          <a:bodyPr/>
          <a:lstStyle/>
          <a:p>
            <a:pPr marL="1439863" eaLnBrk="1" hangingPunct="1"/>
            <a:r>
              <a:rPr lang="en-US" altLang="ro-RO" sz="4500" smtClean="0"/>
              <a:t>Ierarhia fluxurilor de caractere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0" y="4913313"/>
            <a:ext cx="2971800" cy="46672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ro-RO" sz="2400" b="1">
                <a:latin typeface="Times New Roman" panose="02020603050405020304" pitchFamily="18" charset="0"/>
              </a:rPr>
              <a:t>InputStreamReader</a:t>
            </a:r>
          </a:p>
        </p:txBody>
      </p:sp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1219200" y="3246438"/>
            <a:ext cx="2286000" cy="46672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ro-RO" sz="2400" b="1">
                <a:solidFill>
                  <a:srgbClr val="000000"/>
                </a:solidFill>
                <a:latin typeface="Times New Roman" panose="02020603050405020304" pitchFamily="18" charset="0"/>
              </a:rPr>
              <a:t>Reader</a:t>
            </a:r>
          </a:p>
        </p:txBody>
      </p:sp>
      <p:sp>
        <p:nvSpPr>
          <p:cNvPr id="24581" name="Line 5"/>
          <p:cNvSpPr>
            <a:spLocks noChangeShapeType="1"/>
          </p:cNvSpPr>
          <p:nvPr/>
        </p:nvSpPr>
        <p:spPr bwMode="auto">
          <a:xfrm flipH="1">
            <a:off x="2590800" y="4008438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4582" name="Line 6"/>
          <p:cNvSpPr>
            <a:spLocks noChangeShapeType="1"/>
          </p:cNvSpPr>
          <p:nvPr/>
        </p:nvSpPr>
        <p:spPr bwMode="auto">
          <a:xfrm>
            <a:off x="1219200" y="4389438"/>
            <a:ext cx="716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4583" name="Line 7"/>
          <p:cNvSpPr>
            <a:spLocks noChangeShapeType="1"/>
          </p:cNvSpPr>
          <p:nvPr/>
        </p:nvSpPr>
        <p:spPr bwMode="auto">
          <a:xfrm>
            <a:off x="1219200" y="438943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4584" name="AutoShape 8"/>
          <p:cNvSpPr>
            <a:spLocks noChangeArrowheads="1"/>
          </p:cNvSpPr>
          <p:nvPr/>
        </p:nvSpPr>
        <p:spPr bwMode="auto">
          <a:xfrm>
            <a:off x="2438400" y="3703638"/>
            <a:ext cx="304800" cy="3048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ro-RO"/>
          </a:p>
        </p:txBody>
      </p:sp>
      <p:sp>
        <p:nvSpPr>
          <p:cNvPr id="24585" name="Text Box 9"/>
          <p:cNvSpPr txBox="1">
            <a:spLocks noChangeArrowheads="1"/>
          </p:cNvSpPr>
          <p:nvPr/>
        </p:nvSpPr>
        <p:spPr bwMode="auto">
          <a:xfrm>
            <a:off x="3429000" y="1798638"/>
            <a:ext cx="2209800" cy="46672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ro-RO" sz="2400" b="1">
                <a:solidFill>
                  <a:srgbClr val="000000"/>
                </a:solidFill>
                <a:latin typeface="Times New Roman" panose="02020603050405020304" pitchFamily="18" charset="0"/>
              </a:rPr>
              <a:t>Object</a:t>
            </a:r>
          </a:p>
        </p:txBody>
      </p:sp>
      <p:sp>
        <p:nvSpPr>
          <p:cNvPr id="24586" name="Line 10"/>
          <p:cNvSpPr>
            <a:spLocks noChangeShapeType="1"/>
          </p:cNvSpPr>
          <p:nvPr/>
        </p:nvSpPr>
        <p:spPr bwMode="auto">
          <a:xfrm flipH="1">
            <a:off x="4572000" y="2560638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4587" name="AutoShape 11"/>
          <p:cNvSpPr>
            <a:spLocks noChangeArrowheads="1"/>
          </p:cNvSpPr>
          <p:nvPr/>
        </p:nvSpPr>
        <p:spPr bwMode="auto">
          <a:xfrm>
            <a:off x="4419600" y="2255838"/>
            <a:ext cx="304800" cy="3048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ro-RO"/>
          </a:p>
        </p:txBody>
      </p:sp>
      <p:sp>
        <p:nvSpPr>
          <p:cNvPr id="24588" name="Text Box 12"/>
          <p:cNvSpPr txBox="1">
            <a:spLocks noChangeArrowheads="1"/>
          </p:cNvSpPr>
          <p:nvPr/>
        </p:nvSpPr>
        <p:spPr bwMode="auto">
          <a:xfrm>
            <a:off x="5562600" y="3236913"/>
            <a:ext cx="2286000" cy="46672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ro-RO" sz="2400" b="1">
                <a:solidFill>
                  <a:srgbClr val="000000"/>
                </a:solidFill>
                <a:latin typeface="Times New Roman" panose="02020603050405020304" pitchFamily="18" charset="0"/>
              </a:rPr>
              <a:t>Writer</a:t>
            </a:r>
          </a:p>
        </p:txBody>
      </p:sp>
      <p:sp>
        <p:nvSpPr>
          <p:cNvPr id="24589" name="Line 13"/>
          <p:cNvSpPr>
            <a:spLocks noChangeShapeType="1"/>
          </p:cNvSpPr>
          <p:nvPr/>
        </p:nvSpPr>
        <p:spPr bwMode="auto">
          <a:xfrm>
            <a:off x="2362200" y="2865438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4590" name="Line 14"/>
          <p:cNvSpPr>
            <a:spLocks noChangeShapeType="1"/>
          </p:cNvSpPr>
          <p:nvPr/>
        </p:nvSpPr>
        <p:spPr bwMode="auto">
          <a:xfrm>
            <a:off x="2362200" y="2865438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4591" name="Line 15"/>
          <p:cNvSpPr>
            <a:spLocks noChangeShapeType="1"/>
          </p:cNvSpPr>
          <p:nvPr/>
        </p:nvSpPr>
        <p:spPr bwMode="auto">
          <a:xfrm>
            <a:off x="6705600" y="2865438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4592" name="Text Box 16"/>
          <p:cNvSpPr txBox="1">
            <a:spLocks noChangeArrowheads="1"/>
          </p:cNvSpPr>
          <p:nvPr/>
        </p:nvSpPr>
        <p:spPr bwMode="auto">
          <a:xfrm>
            <a:off x="3276600" y="4922838"/>
            <a:ext cx="3276600" cy="46672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ro-RO" sz="2400" b="1">
                <a:solidFill>
                  <a:srgbClr val="000000"/>
                </a:solidFill>
                <a:latin typeface="Times New Roman" panose="02020603050405020304" pitchFamily="18" charset="0"/>
              </a:rPr>
              <a:t>CharArrayReader</a:t>
            </a:r>
          </a:p>
        </p:txBody>
      </p:sp>
      <p:sp>
        <p:nvSpPr>
          <p:cNvPr id="24593" name="Text Box 17"/>
          <p:cNvSpPr txBox="1">
            <a:spLocks noChangeArrowheads="1"/>
          </p:cNvSpPr>
          <p:nvPr/>
        </p:nvSpPr>
        <p:spPr bwMode="auto">
          <a:xfrm>
            <a:off x="7010400" y="4922838"/>
            <a:ext cx="2667000" cy="46672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ro-RO" sz="2400" b="1">
                <a:solidFill>
                  <a:srgbClr val="000000"/>
                </a:solidFill>
                <a:latin typeface="Times New Roman" panose="02020603050405020304" pitchFamily="18" charset="0"/>
              </a:rPr>
              <a:t>PipedReader</a:t>
            </a:r>
          </a:p>
        </p:txBody>
      </p:sp>
      <p:sp>
        <p:nvSpPr>
          <p:cNvPr id="24594" name="Line 18"/>
          <p:cNvSpPr>
            <a:spLocks noChangeShapeType="1"/>
          </p:cNvSpPr>
          <p:nvPr/>
        </p:nvSpPr>
        <p:spPr bwMode="auto">
          <a:xfrm>
            <a:off x="4800600" y="438943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4595" name="Line 19"/>
          <p:cNvSpPr>
            <a:spLocks noChangeShapeType="1"/>
          </p:cNvSpPr>
          <p:nvPr/>
        </p:nvSpPr>
        <p:spPr bwMode="auto">
          <a:xfrm>
            <a:off x="1752600" y="5684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4596" name="Text Box 29"/>
          <p:cNvSpPr txBox="1">
            <a:spLocks noChangeArrowheads="1"/>
          </p:cNvSpPr>
          <p:nvPr/>
        </p:nvSpPr>
        <p:spPr bwMode="auto">
          <a:xfrm>
            <a:off x="304800" y="6284913"/>
            <a:ext cx="2971800" cy="46672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ro-RO" sz="2400" b="1">
                <a:solidFill>
                  <a:srgbClr val="FF0000"/>
                </a:solidFill>
                <a:latin typeface="Times New Roman" panose="02020603050405020304" pitchFamily="18" charset="0"/>
              </a:rPr>
              <a:t>FileReader</a:t>
            </a:r>
          </a:p>
        </p:txBody>
      </p:sp>
      <p:sp>
        <p:nvSpPr>
          <p:cNvPr id="24597" name="AutoShape 30"/>
          <p:cNvSpPr>
            <a:spLocks noChangeArrowheads="1"/>
          </p:cNvSpPr>
          <p:nvPr/>
        </p:nvSpPr>
        <p:spPr bwMode="auto">
          <a:xfrm>
            <a:off x="1600200" y="5380038"/>
            <a:ext cx="304800" cy="3048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ro-RO"/>
          </a:p>
        </p:txBody>
      </p:sp>
      <p:sp>
        <p:nvSpPr>
          <p:cNvPr id="24598" name="Line 31"/>
          <p:cNvSpPr>
            <a:spLocks noChangeShapeType="1"/>
          </p:cNvSpPr>
          <p:nvPr/>
        </p:nvSpPr>
        <p:spPr bwMode="auto">
          <a:xfrm>
            <a:off x="8382000" y="438943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4599" name="Line 32"/>
          <p:cNvSpPr>
            <a:spLocks noChangeShapeType="1"/>
          </p:cNvSpPr>
          <p:nvPr/>
        </p:nvSpPr>
        <p:spPr bwMode="auto">
          <a:xfrm>
            <a:off x="6781800" y="4389438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4600" name="Text Box 33"/>
          <p:cNvSpPr txBox="1">
            <a:spLocks noChangeArrowheads="1"/>
          </p:cNvSpPr>
          <p:nvPr/>
        </p:nvSpPr>
        <p:spPr bwMode="auto">
          <a:xfrm>
            <a:off x="5410200" y="6218238"/>
            <a:ext cx="2667000" cy="46672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ro-RO" sz="2400" b="1">
                <a:solidFill>
                  <a:srgbClr val="000000"/>
                </a:solidFill>
                <a:latin typeface="Times New Roman" panose="02020603050405020304" pitchFamily="18" charset="0"/>
              </a:rPr>
              <a:t>StringReader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o-RO" b="1" smtClean="0"/>
              <a:t>Metode comune fluxurilor</a:t>
            </a:r>
            <a:br>
              <a:rPr lang="en-US" altLang="ro-RO" b="1" smtClean="0"/>
            </a:br>
            <a:endParaRPr lang="en-US" altLang="ro-RO" smtClean="0"/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0" y="1265238"/>
            <a:ext cx="9840913" cy="4973637"/>
          </a:xfrm>
        </p:spPr>
        <p:txBody>
          <a:bodyPr/>
          <a:lstStyle/>
          <a:p>
            <a:pPr eaLnBrk="1" hangingPunct="1"/>
            <a:r>
              <a:rPr lang="en-US" altLang="ro-RO" sz="2400" smtClean="0"/>
              <a:t>Superclasele abstracte Reader si InputStream definesc metode similare pentru citirea datelor.</a:t>
            </a:r>
            <a:endParaRPr lang="ro-RO" altLang="ro-RO" sz="2400" smtClean="0"/>
          </a:p>
          <a:p>
            <a:pPr eaLnBrk="1" hangingPunct="1"/>
            <a:endParaRPr lang="ro-RO" altLang="ro-RO" sz="2400" smtClean="0"/>
          </a:p>
          <a:p>
            <a:pPr eaLnBrk="1" hangingPunct="1"/>
            <a:endParaRPr lang="ro-RO" altLang="ro-RO" sz="2400" smtClean="0"/>
          </a:p>
          <a:p>
            <a:pPr eaLnBrk="1" hangingPunct="1"/>
            <a:endParaRPr lang="ro-RO" altLang="ro-RO" sz="2400" smtClean="0"/>
          </a:p>
          <a:p>
            <a:pPr eaLnBrk="1" hangingPunct="1"/>
            <a:r>
              <a:rPr lang="en-US" altLang="ro-RO" sz="2400" smtClean="0"/>
              <a:t>Superclasele abstracte Writer si OutputStream sunt de asemenea paralele, definind metode similare pentru scrierea datelor. </a:t>
            </a:r>
            <a:endParaRPr lang="ro-RO" altLang="ro-RO" sz="2400" smtClean="0"/>
          </a:p>
          <a:p>
            <a:pPr eaLnBrk="1" hangingPunct="1"/>
            <a:endParaRPr lang="ro-RO" altLang="ro-RO" sz="2400" smtClean="0"/>
          </a:p>
          <a:p>
            <a:pPr eaLnBrk="1" hangingPunct="1"/>
            <a:endParaRPr lang="ro-RO" altLang="ro-RO" sz="2400" smtClean="0"/>
          </a:p>
          <a:p>
            <a:pPr eaLnBrk="1" hangingPunct="1"/>
            <a:endParaRPr lang="ro-RO" altLang="ro-RO" sz="2400" smtClean="0"/>
          </a:p>
          <a:p>
            <a:pPr eaLnBrk="1" hangingPunct="1"/>
            <a:r>
              <a:rPr lang="en-US" altLang="ro-RO" sz="2400" smtClean="0"/>
              <a:t>Inchiderea oricarui flux se realizeaza prin metoda </a:t>
            </a:r>
            <a:r>
              <a:rPr lang="en-US" altLang="ro-RO" sz="2400" b="1" smtClean="0"/>
              <a:t>close</a:t>
            </a:r>
            <a:r>
              <a:rPr lang="en-US" altLang="ro-RO" sz="2400" smtClean="0"/>
              <a:t>. In cazul în care aceasta nu este apelata explicit fluxul va fi automat închis când nu va mai exista nici o referinta la el. </a:t>
            </a:r>
            <a:br>
              <a:rPr lang="en-US" altLang="ro-RO" sz="2400" smtClean="0"/>
            </a:br>
            <a:r>
              <a:rPr lang="en-US" altLang="ro-RO" sz="2400" smtClean="0"/>
              <a:t>Metodele referitoare la fluxuri pot genera exceptii de tipul </a:t>
            </a:r>
            <a:r>
              <a:rPr lang="en-US" altLang="ro-RO" sz="2400" b="1" smtClean="0"/>
              <a:t>IOException</a:t>
            </a:r>
            <a:r>
              <a:rPr lang="en-US" altLang="ro-RO" sz="2400" smtClean="0"/>
              <a:t>. </a:t>
            </a:r>
            <a:br>
              <a:rPr lang="en-US" altLang="ro-RO" sz="2400" smtClean="0"/>
            </a:br>
            <a:r>
              <a:rPr lang="en-US" altLang="ro-RO" sz="2400" smtClean="0"/>
              <a:t/>
            </a:r>
            <a:br>
              <a:rPr lang="en-US" altLang="ro-RO" sz="2400" smtClean="0"/>
            </a:br>
            <a:r>
              <a:rPr lang="en-US" altLang="ro-RO" sz="2400" smtClean="0"/>
              <a:t> </a:t>
            </a:r>
            <a:br>
              <a:rPr lang="en-US" altLang="ro-RO" sz="2400" smtClean="0"/>
            </a:br>
            <a:endParaRPr lang="ro-RO" altLang="ro-RO" sz="2400" smtClean="0"/>
          </a:p>
          <a:p>
            <a:pPr eaLnBrk="1" hangingPunct="1"/>
            <a:r>
              <a:rPr lang="en-US" altLang="ro-RO" sz="2400" smtClean="0"/>
              <a:t> </a:t>
            </a:r>
            <a:br>
              <a:rPr lang="en-US" altLang="ro-RO" sz="2400" smtClean="0"/>
            </a:br>
            <a:endParaRPr lang="en-US" altLang="ro-RO" sz="240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01713" y="2255838"/>
          <a:ext cx="8305800" cy="10112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2900"/>
                <a:gridCol w="415290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Reader</a:t>
                      </a:r>
                    </a:p>
                  </a:txBody>
                  <a:tcPr marT="45734" marB="4573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InputStream</a:t>
                      </a:r>
                      <a:endParaRPr lang="en-US" sz="1800" dirty="0"/>
                    </a:p>
                  </a:txBody>
                  <a:tcPr marT="45734" marB="45734" anchor="ctr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int</a:t>
                      </a:r>
                      <a:r>
                        <a:rPr lang="en-US" sz="1800" dirty="0" smtClean="0"/>
                        <a:t> read()         </a:t>
                      </a:r>
                      <a:r>
                        <a:rPr lang="en-US" sz="1800" dirty="0" err="1" smtClean="0"/>
                        <a:t>int</a:t>
                      </a:r>
                      <a:r>
                        <a:rPr lang="en-US" sz="1800" dirty="0" smtClean="0"/>
                        <a:t> read(char </a:t>
                      </a:r>
                      <a:r>
                        <a:rPr lang="en-US" sz="1800" dirty="0" err="1" smtClean="0"/>
                        <a:t>buf</a:t>
                      </a:r>
                      <a:r>
                        <a:rPr lang="en-US" sz="1800" dirty="0" smtClean="0"/>
                        <a:t>[]) </a:t>
                      </a:r>
                    </a:p>
                    <a:p>
                      <a:r>
                        <a:rPr lang="en-US" sz="1800" dirty="0" err="1" smtClean="0"/>
                        <a:t>int</a:t>
                      </a:r>
                      <a:r>
                        <a:rPr lang="en-US" sz="1800" dirty="0" smtClean="0"/>
                        <a:t> read(char </a:t>
                      </a:r>
                      <a:r>
                        <a:rPr lang="en-US" sz="1800" dirty="0" err="1" smtClean="0"/>
                        <a:t>buf</a:t>
                      </a:r>
                      <a:r>
                        <a:rPr lang="en-US" sz="1800" dirty="0" smtClean="0"/>
                        <a:t>[], </a:t>
                      </a:r>
                      <a:r>
                        <a:rPr lang="en-US" sz="1800" dirty="0" err="1" smtClean="0"/>
                        <a:t>int</a:t>
                      </a:r>
                      <a:r>
                        <a:rPr lang="en-US" sz="1800" dirty="0" smtClean="0"/>
                        <a:t> </a:t>
                      </a:r>
                      <a:r>
                        <a:rPr lang="en-US" sz="1800" dirty="0" err="1" smtClean="0"/>
                        <a:t>offset,int</a:t>
                      </a:r>
                      <a:r>
                        <a:rPr lang="en-US" sz="1800" dirty="0" smtClean="0"/>
                        <a:t> length) </a:t>
                      </a:r>
                      <a:endParaRPr lang="en-US" sz="1800" dirty="0"/>
                    </a:p>
                  </a:txBody>
                  <a:tcPr marT="45734" marB="45734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int</a:t>
                      </a:r>
                      <a:r>
                        <a:rPr lang="en-US" sz="1800" dirty="0" smtClean="0"/>
                        <a:t> read()      </a:t>
                      </a:r>
                      <a:r>
                        <a:rPr lang="en-US" sz="1800" dirty="0" err="1" smtClean="0"/>
                        <a:t>int</a:t>
                      </a:r>
                      <a:r>
                        <a:rPr lang="en-US" sz="1800" dirty="0" smtClean="0"/>
                        <a:t> read(byte </a:t>
                      </a:r>
                      <a:r>
                        <a:rPr lang="en-US" sz="1800" dirty="0" err="1" smtClean="0"/>
                        <a:t>buf</a:t>
                      </a:r>
                      <a:r>
                        <a:rPr lang="en-US" sz="1800" dirty="0" smtClean="0"/>
                        <a:t>[]) </a:t>
                      </a:r>
                    </a:p>
                    <a:p>
                      <a:r>
                        <a:rPr lang="en-US" sz="1800" dirty="0" err="1" smtClean="0"/>
                        <a:t>int</a:t>
                      </a:r>
                      <a:r>
                        <a:rPr lang="en-US" sz="1800" dirty="0" smtClean="0"/>
                        <a:t> read(byte </a:t>
                      </a:r>
                      <a:r>
                        <a:rPr lang="en-US" sz="1800" dirty="0" err="1" smtClean="0"/>
                        <a:t>buf</a:t>
                      </a:r>
                      <a:r>
                        <a:rPr lang="en-US" sz="1800" dirty="0" smtClean="0"/>
                        <a:t>[], </a:t>
                      </a:r>
                      <a:r>
                        <a:rPr lang="en-US" sz="1800" dirty="0" err="1" smtClean="0"/>
                        <a:t>int</a:t>
                      </a:r>
                      <a:r>
                        <a:rPr lang="en-US" sz="1800" dirty="0" smtClean="0"/>
                        <a:t> </a:t>
                      </a:r>
                      <a:r>
                        <a:rPr lang="en-US" sz="1800" dirty="0" err="1" smtClean="0"/>
                        <a:t>offset,int</a:t>
                      </a:r>
                      <a:r>
                        <a:rPr lang="en-US" sz="1800" dirty="0" smtClean="0"/>
                        <a:t> length) </a:t>
                      </a:r>
                      <a:endParaRPr lang="en-US" sz="1800" dirty="0"/>
                    </a:p>
                  </a:txBody>
                  <a:tcPr marT="45734" marB="45734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3113" y="4313238"/>
          <a:ext cx="8610600" cy="10112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5300"/>
                <a:gridCol w="4305300"/>
              </a:tblGrid>
              <a:tr h="37095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Writer</a:t>
                      </a:r>
                    </a:p>
                  </a:txBody>
                  <a:tcPr marT="45734" marB="4573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OutputStream</a:t>
                      </a:r>
                      <a:endParaRPr lang="en-US" sz="1800" dirty="0"/>
                    </a:p>
                  </a:txBody>
                  <a:tcPr marT="45734" marB="45734" anchor="ctr"/>
                </a:tc>
              </a:tr>
              <a:tr h="640281"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int</a:t>
                      </a:r>
                      <a:r>
                        <a:rPr lang="en-US" sz="1800" dirty="0" smtClean="0"/>
                        <a:t> write()   </a:t>
                      </a:r>
                      <a:r>
                        <a:rPr lang="en-US" sz="1800" dirty="0" err="1" smtClean="0"/>
                        <a:t>int</a:t>
                      </a:r>
                      <a:r>
                        <a:rPr lang="en-US" sz="1800" dirty="0" smtClean="0"/>
                        <a:t> write(char </a:t>
                      </a:r>
                      <a:r>
                        <a:rPr lang="en-US" sz="1800" dirty="0" err="1" smtClean="0"/>
                        <a:t>buf</a:t>
                      </a:r>
                      <a:r>
                        <a:rPr lang="en-US" sz="1800" dirty="0" smtClean="0"/>
                        <a:t>[]) </a:t>
                      </a:r>
                    </a:p>
                    <a:p>
                      <a:r>
                        <a:rPr lang="en-US" sz="1800" dirty="0" err="1" smtClean="0"/>
                        <a:t>int</a:t>
                      </a:r>
                      <a:r>
                        <a:rPr lang="en-US" sz="1800" dirty="0" smtClean="0"/>
                        <a:t> write(char </a:t>
                      </a:r>
                      <a:r>
                        <a:rPr lang="en-US" sz="1800" dirty="0" err="1" smtClean="0"/>
                        <a:t>buf</a:t>
                      </a:r>
                      <a:r>
                        <a:rPr lang="en-US" sz="1800" dirty="0" smtClean="0"/>
                        <a:t>[], </a:t>
                      </a:r>
                      <a:r>
                        <a:rPr lang="en-US" sz="1800" dirty="0" err="1" smtClean="0"/>
                        <a:t>int</a:t>
                      </a:r>
                      <a:r>
                        <a:rPr lang="en-US" sz="1800" dirty="0" smtClean="0"/>
                        <a:t> </a:t>
                      </a:r>
                      <a:r>
                        <a:rPr lang="en-US" sz="1800" dirty="0" err="1" smtClean="0"/>
                        <a:t>offset,int</a:t>
                      </a:r>
                      <a:r>
                        <a:rPr lang="en-US" sz="1800" dirty="0" smtClean="0"/>
                        <a:t> length) </a:t>
                      </a:r>
                      <a:endParaRPr lang="en-US" sz="1800" dirty="0"/>
                    </a:p>
                  </a:txBody>
                  <a:tcPr marT="45734" marB="45734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int</a:t>
                      </a:r>
                      <a:r>
                        <a:rPr lang="en-US" sz="1800" dirty="0" smtClean="0"/>
                        <a:t> write()     </a:t>
                      </a:r>
                      <a:r>
                        <a:rPr lang="en-US" sz="1800" dirty="0" err="1" smtClean="0"/>
                        <a:t>int</a:t>
                      </a:r>
                      <a:r>
                        <a:rPr lang="en-US" sz="1800" dirty="0" smtClean="0"/>
                        <a:t> write(byte </a:t>
                      </a:r>
                      <a:r>
                        <a:rPr lang="en-US" sz="1800" dirty="0" err="1" smtClean="0"/>
                        <a:t>buf</a:t>
                      </a:r>
                      <a:r>
                        <a:rPr lang="en-US" sz="1800" dirty="0" smtClean="0"/>
                        <a:t>[]) </a:t>
                      </a:r>
                    </a:p>
                    <a:p>
                      <a:r>
                        <a:rPr lang="en-US" sz="1800" dirty="0" err="1" smtClean="0"/>
                        <a:t>int</a:t>
                      </a:r>
                      <a:r>
                        <a:rPr lang="en-US" sz="1800" dirty="0" smtClean="0"/>
                        <a:t> write(byte </a:t>
                      </a:r>
                      <a:r>
                        <a:rPr lang="en-US" sz="1800" dirty="0" err="1" smtClean="0"/>
                        <a:t>buf</a:t>
                      </a:r>
                      <a:r>
                        <a:rPr lang="en-US" sz="1800" dirty="0" smtClean="0"/>
                        <a:t>[], </a:t>
                      </a:r>
                      <a:r>
                        <a:rPr lang="en-US" sz="1800" dirty="0" err="1" smtClean="0"/>
                        <a:t>int</a:t>
                      </a:r>
                      <a:r>
                        <a:rPr lang="en-US" sz="1800" dirty="0" smtClean="0"/>
                        <a:t> </a:t>
                      </a:r>
                      <a:r>
                        <a:rPr lang="en-US" sz="1800" dirty="0" err="1" smtClean="0"/>
                        <a:t>offset,int</a:t>
                      </a:r>
                      <a:r>
                        <a:rPr lang="en-US" sz="1800" dirty="0" smtClean="0"/>
                        <a:t> length) </a:t>
                      </a:r>
                      <a:endParaRPr lang="en-US" sz="1800" dirty="0"/>
                    </a:p>
                  </a:txBody>
                  <a:tcPr marT="45734" marB="45734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439863" eaLnBrk="1" hangingPunct="1"/>
            <a:r>
              <a:rPr lang="en-US" altLang="ro-RO" smtClean="0"/>
              <a:t>Fluxuri de date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 altLang="ro-RO" sz="2800" b="1" smtClean="0"/>
              <a:t>Buffering</a:t>
            </a:r>
            <a:r>
              <a:rPr lang="en-GB" altLang="ro-RO" sz="2800" smtClean="0"/>
              <a:t> – este o tehnica ce creste performanta lucrului cu fisiere prin scrierea/citirea unui bloc de date si nu doar a unui octet</a:t>
            </a:r>
          </a:p>
          <a:p>
            <a:pPr eaLnBrk="1" hangingPunct="1"/>
            <a:r>
              <a:rPr lang="en-GB" altLang="ro-RO" sz="2800" smtClean="0"/>
              <a:t>Ex: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GB" altLang="ro-RO" sz="2800" b="1" smtClean="0">
                <a:latin typeface="Courier New" panose="02070309020205020404" pitchFamily="49" charset="0"/>
              </a:rPr>
              <a:t>File f = new File(“a.txt”);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GB" altLang="ro-RO" sz="2800" b="1" smtClean="0">
                <a:latin typeface="Courier New" panose="02070309020205020404" pitchFamily="49" charset="0"/>
              </a:rPr>
              <a:t>FileInputStream fs = new FileInputStream(f);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GB" altLang="ro-RO" sz="2800" b="1" smtClean="0">
                <a:latin typeface="Courier New" panose="02070309020205020404" pitchFamily="49" charset="0"/>
              </a:rPr>
              <a:t>BufferedInputStream bf = new BufferedInputStream(fs);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GB" altLang="ro-RO" sz="2800" b="1" smtClean="0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439863" eaLnBrk="1" hangingPunct="1"/>
            <a:r>
              <a:rPr lang="en-US" altLang="ro-RO" smtClean="0"/>
              <a:t>Fluxuri de date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 altLang="ro-RO" sz="2800" b="1" smtClean="0"/>
              <a:t>DataInputStream</a:t>
            </a:r>
            <a:r>
              <a:rPr lang="en-GB" altLang="ro-RO" sz="2800" smtClean="0"/>
              <a:t> ofera posibilitatea lucrului cu tipurile de date primitive</a:t>
            </a:r>
          </a:p>
          <a:p>
            <a:pPr eaLnBrk="1" hangingPunct="1"/>
            <a:r>
              <a:rPr lang="en-GB" altLang="ro-RO" sz="2800" smtClean="0"/>
              <a:t>Ex: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GB" altLang="ro-RO" sz="2800" b="1" smtClean="0">
                <a:latin typeface="Courier New" panose="02070309020205020404" pitchFamily="49" charset="0"/>
              </a:rPr>
              <a:t>File f = new File(“a.txt”);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GB" altLang="ro-RO" sz="2800" b="1" smtClean="0">
                <a:latin typeface="Courier New" panose="02070309020205020404" pitchFamily="49" charset="0"/>
              </a:rPr>
              <a:t>FileInputStream fs = new FileInputStream(f);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GB" altLang="ro-RO" sz="2800" b="1" smtClean="0">
                <a:latin typeface="Courier New" panose="02070309020205020404" pitchFamily="49" charset="0"/>
              </a:rPr>
              <a:t>BufferedInputStream bf = new BufferedInputStream(fs);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GB" altLang="ro-RO" sz="2800" b="1" smtClean="0">
                <a:latin typeface="Courier New" panose="02070309020205020404" pitchFamily="49" charset="0"/>
              </a:rPr>
              <a:t>DataInputStream ds = new DataInputStream(bf);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GB" altLang="ro-RO" sz="2800" b="1" smtClean="0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439863" eaLnBrk="1" hangingPunct="1"/>
            <a:r>
              <a:rPr lang="en-US" altLang="ro-RO" smtClean="0"/>
              <a:t>Fluxuri de date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 altLang="ro-RO" sz="2800" smtClean="0"/>
              <a:t>In continuare se poate citi din fisier cu metode specifice fiecarui tip iar inchiderea fisierului se face prin metoda close()</a:t>
            </a:r>
          </a:p>
          <a:p>
            <a:pPr eaLnBrk="1" hangingPunct="1"/>
            <a:r>
              <a:rPr lang="en-GB" altLang="ro-RO" sz="2800" smtClean="0"/>
              <a:t>Ex:</a:t>
            </a:r>
            <a:endParaRPr lang="en-GB" altLang="ro-RO" sz="2800" b="1" smtClean="0">
              <a:latin typeface="Courier New" panose="02070309020205020404" pitchFamily="49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GB" altLang="ro-RO" sz="2800" b="1" smtClean="0">
                <a:latin typeface="Courier New" panose="02070309020205020404" pitchFamily="49" charset="0"/>
              </a:rPr>
              <a:t>…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GB" altLang="ro-RO" sz="2800" b="1" smtClean="0">
                <a:latin typeface="Courier New" panose="02070309020205020404" pitchFamily="49" charset="0"/>
              </a:rPr>
              <a:t>int i = df.readInt();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GB" altLang="ro-RO" sz="2800" b="1" smtClean="0">
                <a:latin typeface="Courier New" panose="02070309020205020404" pitchFamily="49" charset="0"/>
              </a:rPr>
              <a:t>String s = df.readUTF();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GB" altLang="ro-RO" sz="2800" b="1" smtClean="0">
                <a:latin typeface="Courier New" panose="02070309020205020404" pitchFamily="49" charset="0"/>
              </a:rPr>
              <a:t>Long l = df.readLong();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GB" altLang="ro-RO" sz="2800" b="1" smtClean="0">
              <a:latin typeface="Courier New" panose="02070309020205020404" pitchFamily="49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GB" altLang="ro-RO" sz="2800" b="1" smtClean="0">
                <a:latin typeface="Courier New" panose="02070309020205020404" pitchFamily="49" charset="0"/>
              </a:rPr>
              <a:t>df.close();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439863" eaLnBrk="1" hangingPunct="1"/>
            <a:r>
              <a:rPr lang="en-US" altLang="ro-RO" smtClean="0"/>
              <a:t>Fluxuri de date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 altLang="ro-RO" sz="2800" smtClean="0"/>
              <a:t>Orice flux de date se deschide prin crearea unui obiect (new); fluxurile de nivel inalt primesc la constructor un flux de nivel scazut (inlantuire)</a:t>
            </a:r>
          </a:p>
          <a:p>
            <a:pPr eaLnBrk="1" hangingPunct="1"/>
            <a:r>
              <a:rPr lang="en-GB" altLang="ro-RO" sz="2800" smtClean="0"/>
              <a:t>Se poate citi/scrie in flux cu metode read/write octeti, caractere sau date primitive in functie de tipul fluxului</a:t>
            </a:r>
          </a:p>
          <a:p>
            <a:pPr eaLnBrk="1" hangingPunct="1"/>
            <a:r>
              <a:rPr lang="en-GB" altLang="ro-RO" sz="2800" smtClean="0"/>
              <a:t>Pentru fluxuri de iesire cu buffering metoda flush forteaza scrierea datelor</a:t>
            </a:r>
          </a:p>
          <a:p>
            <a:pPr eaLnBrk="1" hangingPunct="1"/>
            <a:r>
              <a:rPr lang="en-GB" altLang="ro-RO" sz="2800" smtClean="0"/>
              <a:t>Se inchide fluxul cu metoda close()</a:t>
            </a:r>
            <a:endParaRPr lang="en-GB" altLang="ro-RO" sz="2800" b="1" smtClean="0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620713" y="209550"/>
            <a:ext cx="9459912" cy="1512888"/>
          </a:xfrm>
        </p:spPr>
        <p:txBody>
          <a:bodyPr/>
          <a:lstStyle/>
          <a:p>
            <a:pPr eaLnBrk="1" hangingPunct="1"/>
            <a:r>
              <a:rPr lang="en-US" altLang="ro-RO" sz="3200" b="1" smtClean="0"/>
              <a:t>Fluxuri pentru citirea/scrierea efectiva a datelor</a:t>
            </a:r>
            <a:br>
              <a:rPr lang="en-US" altLang="ro-RO" sz="3200" b="1" smtClean="0"/>
            </a:br>
            <a:endParaRPr lang="en-US" altLang="ro-RO" sz="3200" smtClean="0"/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544513" y="960438"/>
            <a:ext cx="9072562" cy="4283075"/>
          </a:xfrm>
        </p:spPr>
        <p:txBody>
          <a:bodyPr/>
          <a:lstStyle/>
          <a:p>
            <a:pPr eaLnBrk="1" hangingPunct="1"/>
            <a:r>
              <a:rPr lang="en-US" altLang="ro-RO" sz="2400" smtClean="0"/>
              <a:t>Clasele ce descriu fluxuri pentru citirea/scrierea efectiva a datelor pot fi împartite în functie de tipul sursei datelor astfel: </a:t>
            </a:r>
            <a:endParaRPr lang="ro-RO" altLang="ro-RO" sz="2400" smtClean="0"/>
          </a:p>
          <a:p>
            <a:pPr eaLnBrk="1" hangingPunct="1"/>
            <a:r>
              <a:rPr lang="en-US" altLang="ro-RO" sz="2800" smtClean="0"/>
              <a:t/>
            </a:r>
            <a:br>
              <a:rPr lang="en-US" altLang="ro-RO" sz="2800" smtClean="0"/>
            </a:br>
            <a:endParaRPr lang="en-US" altLang="ro-RO" sz="2800" smtClean="0"/>
          </a:p>
        </p:txBody>
      </p:sp>
      <p:graphicFrame>
        <p:nvGraphicFramePr>
          <p:cNvPr id="30770" name="Group 50"/>
          <p:cNvGraphicFramePr>
            <a:graphicFrameLocks noGrp="1"/>
          </p:cNvGraphicFramePr>
          <p:nvPr/>
        </p:nvGraphicFramePr>
        <p:xfrm>
          <a:off x="315913" y="1824038"/>
          <a:ext cx="8991600" cy="5113337"/>
        </p:xfrm>
        <a:graphic>
          <a:graphicData uri="http://schemas.openxmlformats.org/drawingml/2006/table">
            <a:tbl>
              <a:tblPr/>
              <a:tblGrid>
                <a:gridCol w="1162050"/>
                <a:gridCol w="3181350"/>
                <a:gridCol w="182562"/>
                <a:gridCol w="4465638"/>
              </a:tblGrid>
              <a:tr h="37149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31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7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o-RO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Tip sursa 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31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7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o-RO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Fluxuri caractere 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31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7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o-RO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Fluxuri octeti 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579156">
                <a:tc row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31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7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Memorie</a:t>
                      </a:r>
                      <a:endParaRPr kumimoji="0" lang="en-US" altLang="ro-RO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31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7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o-RO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CharArrayReader, CharArrayWriter</a:t>
                      </a:r>
                      <a:r>
                        <a:rPr kumimoji="0" lang="en-US" altLang="ro-RO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31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7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o-RO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ByteArrayInputStream, ByteArrayOutputStream</a:t>
                      </a:r>
                      <a:r>
                        <a:rPr kumimoji="0" lang="en-US" altLang="ro-RO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</a:tr>
              <a:tr h="823011">
                <a:tc v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31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7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F</a:t>
                      </a:r>
                      <a:r>
                        <a:rPr kumimoji="0" lang="en-US" altLang="ro-RO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olosesc pentru scrierea/citirea informatiilor în memorie si sunt create pe un vector existent deja</a:t>
                      </a:r>
                      <a:r>
                        <a:rPr kumimoji="0" lang="ro-RO" altLang="ro-RO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, </a:t>
                      </a:r>
                      <a:r>
                        <a:rPr kumimoji="0" lang="en-US" altLang="ro-RO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permi</a:t>
                      </a:r>
                      <a:r>
                        <a:rPr kumimoji="0" lang="ro-RO" altLang="ro-RO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ţând</a:t>
                      </a:r>
                      <a:r>
                        <a:rPr kumimoji="0" lang="en-US" altLang="ro-RO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tratarea vectorilor ca sursa/destinatie pentru crearea unor fluxuri de intrare/iesire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</a:tr>
              <a:tr h="371498">
                <a:tc v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31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7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o-RO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StringReader, StringWriter</a:t>
                      </a:r>
                      <a:r>
                        <a:rPr kumimoji="0" lang="en-US" altLang="ro-RO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31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7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o-RO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StringBufferInputStream</a:t>
                      </a:r>
                      <a:r>
                        <a:rPr kumimoji="0" lang="en-US" altLang="ro-RO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</a:tr>
              <a:tr h="823011">
                <a:tc v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31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7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o-RO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Permit tratarea sirurilor de caractere aflate în memorie ca sursa/destinatie pentru crearea unor fluxuri de intrare/iesire. StringReader si StringWriter sunt folosite cu obiecte de tip String iar StringBufferInputStream cu obiecte de tip StringBuffer. 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</a:tr>
              <a:tr h="371498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31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7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Pipe</a:t>
                      </a:r>
                      <a:endParaRPr kumimoji="0" lang="en-US" altLang="ro-RO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31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7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o-RO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PipedReader, PipedWriter</a:t>
                      </a:r>
                      <a:r>
                        <a:rPr kumimoji="0" lang="en-US" altLang="ro-RO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31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7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o-RO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PipedInputStream, PipedOutputStream</a:t>
                      </a:r>
                      <a:r>
                        <a:rPr kumimoji="0" lang="en-US" altLang="ro-RO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</a:tr>
              <a:tr h="823011">
                <a:tc v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31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7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o-RO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Implementeaza componentele de intrare/iesire ale unei conducte de date (pipe). Pipe-urile sunt folosite pentru a canaliza iesirea unui program sau fir de executie catre intrarea altui program sau fir de executie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</a:tr>
              <a:tr h="371498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31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7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altLang="ro-RO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Fişier</a:t>
                      </a:r>
                      <a:endParaRPr kumimoji="0" lang="en-US" altLang="ro-RO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31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7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o-RO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FileReader, FileWriter</a:t>
                      </a:r>
                      <a:r>
                        <a:rPr kumimoji="0" lang="en-US" altLang="ro-RO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31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7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o-RO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FileInputStream, FileOutputStream</a:t>
                      </a:r>
                      <a:r>
                        <a:rPr kumimoji="0" lang="en-US" altLang="ro-RO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</a:tr>
              <a:tr h="579156">
                <a:tc v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31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sz="27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o-RO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Numite si </a:t>
                      </a:r>
                      <a:r>
                        <a:rPr kumimoji="0" lang="en-US" altLang="ro-RO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fluxuri fisier</a:t>
                      </a:r>
                      <a:r>
                        <a:rPr kumimoji="0" lang="en-US" altLang="ro-RO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, acestea sunt folosite pentru citirea datelor dintr-un fisier, respectiv scrierea datelor într-un fisier 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504825" y="503238"/>
            <a:ext cx="9072563" cy="914400"/>
          </a:xfrm>
        </p:spPr>
        <p:txBody>
          <a:bodyPr/>
          <a:lstStyle/>
          <a:p>
            <a:pPr eaLnBrk="1" hangingPunct="1"/>
            <a:r>
              <a:rPr lang="en-US" altLang="ro-RO" sz="3600" b="1" smtClean="0"/>
              <a:t>Fluxuri pentru procesarea datelor</a:t>
            </a:r>
            <a:br>
              <a:rPr lang="en-US" altLang="ro-RO" sz="3600" b="1" smtClean="0"/>
            </a:br>
            <a:endParaRPr lang="en-US" altLang="ro-RO" sz="3600" smtClean="0"/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468313" y="960438"/>
            <a:ext cx="9072562" cy="4283075"/>
          </a:xfrm>
        </p:spPr>
        <p:txBody>
          <a:bodyPr/>
          <a:lstStyle/>
          <a:p>
            <a:pPr eaLnBrk="1" hangingPunct="1"/>
            <a:r>
              <a:rPr lang="en-US" altLang="ro-RO" sz="2000" smtClean="0"/>
              <a:t>Clasele ce descriu fluxuri pentru procesarea datelor pot fi împartite în functie de tipul de procesare pe care îl efectueaza: </a:t>
            </a:r>
            <a:br>
              <a:rPr lang="en-US" altLang="ro-RO" sz="2000" smtClean="0"/>
            </a:br>
            <a:endParaRPr lang="en-US" altLang="ro-RO" sz="200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3513" y="1798638"/>
          <a:ext cx="9917112" cy="5719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4191000"/>
                <a:gridCol w="4125912"/>
              </a:tblGrid>
              <a:tr h="370797">
                <a:tc>
                  <a:txBody>
                    <a:bodyPr/>
                    <a:lstStyle/>
                    <a:p>
                      <a:r>
                        <a:rPr lang="en-US" sz="1600" smtClean="0"/>
                        <a:t>Tip procesare </a:t>
                      </a:r>
                      <a:endParaRPr lang="en-US" sz="1600" dirty="0"/>
                    </a:p>
                  </a:txBody>
                  <a:tcPr marT="45714" marB="45714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Fluxuri caractere </a:t>
                      </a:r>
                    </a:p>
                  </a:txBody>
                  <a:tcPr marT="45714" marB="45714" anchor="ctr"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Fluxuri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octeti</a:t>
                      </a:r>
                      <a:r>
                        <a:rPr lang="en-US" sz="1600" dirty="0" smtClean="0"/>
                        <a:t> </a:t>
                      </a:r>
                      <a:endParaRPr lang="en-US" sz="1600" dirty="0"/>
                    </a:p>
                  </a:txBody>
                  <a:tcPr marT="45714" marB="45714" anchor="ctr"/>
                </a:tc>
              </a:tr>
              <a:tr h="640055">
                <a:tc rowSpan="2">
                  <a:txBody>
                    <a:bodyPr/>
                    <a:lstStyle/>
                    <a:p>
                      <a:r>
                        <a:rPr lang="en-US" sz="1600" b="1" dirty="0" smtClean="0"/>
                        <a:t>"</a:t>
                      </a:r>
                      <a:r>
                        <a:rPr lang="en-US" sz="1600" b="1" dirty="0" err="1" smtClean="0"/>
                        <a:t>Bufferizare</a:t>
                      </a:r>
                      <a:r>
                        <a:rPr lang="en-US" sz="1600" b="1" dirty="0" smtClean="0"/>
                        <a:t>"</a:t>
                      </a:r>
                      <a:endParaRPr lang="en-US" sz="16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b="1" dirty="0" err="1"/>
                        <a:t>BufferedReader,BufferedWriter</a:t>
                      </a:r>
                      <a:r>
                        <a:rPr lang="en-US" sz="1800" b="1" dirty="0"/>
                        <a:t> </a:t>
                      </a:r>
                      <a:endParaRPr lang="en-US" sz="1800" dirty="0"/>
                    </a:p>
                  </a:txBody>
                  <a:tcPr marT="45714" marB="45714" anchor="ctr"/>
                </a:tc>
                <a:tc>
                  <a:txBody>
                    <a:bodyPr/>
                    <a:lstStyle/>
                    <a:p>
                      <a:r>
                        <a:rPr lang="en-US" sz="1800" b="1" dirty="0" err="1"/>
                        <a:t>BufferedInputStream,BufferedOutputStream</a:t>
                      </a:r>
                      <a:r>
                        <a:rPr lang="en-US" sz="1800" dirty="0"/>
                        <a:t> </a:t>
                      </a:r>
                    </a:p>
                  </a:txBody>
                  <a:tcPr marT="45714" marB="45714" anchor="ctr"/>
                </a:tc>
              </a:tr>
              <a:tr h="1066765">
                <a:tc vMerge="1"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600" dirty="0" err="1" smtClean="0"/>
                        <a:t>Sunt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folosite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pentru</a:t>
                      </a:r>
                      <a:r>
                        <a:rPr lang="en-US" sz="1600" dirty="0" smtClean="0"/>
                        <a:t> a introduce un buffer </a:t>
                      </a:r>
                      <a:r>
                        <a:rPr lang="en-US" sz="1600" dirty="0" err="1" smtClean="0"/>
                        <a:t>în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procesul</a:t>
                      </a:r>
                      <a:r>
                        <a:rPr lang="en-US" sz="1600" dirty="0" smtClean="0"/>
                        <a:t> de </a:t>
                      </a:r>
                      <a:r>
                        <a:rPr lang="en-US" sz="1600" dirty="0" err="1" smtClean="0"/>
                        <a:t>scriere</a:t>
                      </a:r>
                      <a:r>
                        <a:rPr lang="en-US" sz="1600" dirty="0" smtClean="0"/>
                        <a:t>/</a:t>
                      </a:r>
                      <a:r>
                        <a:rPr lang="en-US" sz="1600" dirty="0" err="1" smtClean="0"/>
                        <a:t>citire</a:t>
                      </a:r>
                      <a:r>
                        <a:rPr lang="en-US" sz="1600" dirty="0" smtClean="0"/>
                        <a:t> a </a:t>
                      </a:r>
                      <a:r>
                        <a:rPr lang="en-US" sz="1600" dirty="0" err="1" smtClean="0"/>
                        <a:t>informatiilor</a:t>
                      </a:r>
                      <a:r>
                        <a:rPr lang="en-US" sz="1600" dirty="0" smtClean="0"/>
                        <a:t>, </a:t>
                      </a:r>
                      <a:r>
                        <a:rPr lang="en-US" sz="1600" dirty="0" err="1" smtClean="0"/>
                        <a:t>reducând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astfel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numarul</a:t>
                      </a:r>
                      <a:r>
                        <a:rPr lang="en-US" sz="1600" dirty="0" smtClean="0"/>
                        <a:t> de </a:t>
                      </a:r>
                      <a:r>
                        <a:rPr lang="en-US" sz="1600" dirty="0" err="1" smtClean="0"/>
                        <a:t>accese</a:t>
                      </a:r>
                      <a:r>
                        <a:rPr lang="en-US" sz="1600" dirty="0" smtClean="0"/>
                        <a:t> la </a:t>
                      </a:r>
                      <a:r>
                        <a:rPr lang="en-US" sz="1600" dirty="0" err="1" smtClean="0"/>
                        <a:t>dispozitivul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ce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reprezinta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sursa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originala</a:t>
                      </a:r>
                      <a:r>
                        <a:rPr lang="en-US" sz="1600" dirty="0" smtClean="0"/>
                        <a:t> de date. </a:t>
                      </a:r>
                      <a:r>
                        <a:rPr lang="en-US" sz="1600" dirty="0" err="1" smtClean="0"/>
                        <a:t>Sunt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mult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mai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eficiente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decât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fluxurile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fara</a:t>
                      </a:r>
                      <a:r>
                        <a:rPr lang="en-US" sz="1600" dirty="0" smtClean="0"/>
                        <a:t> buffer </a:t>
                      </a:r>
                      <a:r>
                        <a:rPr lang="en-US" sz="1600" dirty="0" err="1" smtClean="0"/>
                        <a:t>si</a:t>
                      </a:r>
                      <a:r>
                        <a:rPr lang="en-US" sz="1600" dirty="0" smtClean="0"/>
                        <a:t> din </a:t>
                      </a:r>
                      <a:r>
                        <a:rPr lang="en-US" sz="1600" dirty="0" err="1" smtClean="0"/>
                        <a:t>acest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motiv</a:t>
                      </a:r>
                      <a:r>
                        <a:rPr lang="en-US" sz="1600" dirty="0" smtClean="0"/>
                        <a:t> se </a:t>
                      </a:r>
                      <a:r>
                        <a:rPr lang="en-US" sz="1600" dirty="0" err="1" smtClean="0"/>
                        <a:t>recomanda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folosirea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lor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ori</a:t>
                      </a:r>
                      <a:r>
                        <a:rPr lang="en-US" sz="1600" dirty="0" smtClean="0"/>
                        <a:t> de </a:t>
                      </a:r>
                      <a:r>
                        <a:rPr lang="en-US" sz="1600" dirty="0" err="1" smtClean="0"/>
                        <a:t>câte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ori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eset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posibil</a:t>
                      </a:r>
                      <a:r>
                        <a:rPr lang="en-US" sz="1600" dirty="0" smtClean="0"/>
                        <a:t> </a:t>
                      </a:r>
                      <a:endParaRPr lang="en-US" sz="1600" dirty="0"/>
                    </a:p>
                  </a:txBody>
                  <a:tcPr marT="45714" marB="45714"/>
                </a:tc>
                <a:tc hMerge="1"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</a:tr>
              <a:tr h="640055">
                <a:tc rowSpan="2">
                  <a:txBody>
                    <a:bodyPr/>
                    <a:lstStyle/>
                    <a:p>
                      <a:r>
                        <a:rPr lang="en-US" sz="1600" b="1" dirty="0" err="1" smtClean="0"/>
                        <a:t>Filtrare</a:t>
                      </a:r>
                      <a:r>
                        <a:rPr lang="en-US" sz="1600" b="1" dirty="0" smtClean="0"/>
                        <a:t> </a:t>
                      </a:r>
                      <a:endParaRPr lang="en-US" sz="16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b="1" dirty="0" err="1"/>
                        <a:t>FilterReader</a:t>
                      </a:r>
                      <a:r>
                        <a:rPr lang="en-US" sz="1800" b="1" dirty="0"/>
                        <a:t>, </a:t>
                      </a:r>
                      <a:r>
                        <a:rPr lang="en-US" sz="1800" b="1" dirty="0" err="1"/>
                        <a:t>FilterWriter</a:t>
                      </a:r>
                      <a:r>
                        <a:rPr lang="en-US" sz="1800" dirty="0"/>
                        <a:t> </a:t>
                      </a:r>
                    </a:p>
                  </a:txBody>
                  <a:tcPr marT="45714" marB="45714" anchor="ctr"/>
                </a:tc>
                <a:tc>
                  <a:txBody>
                    <a:bodyPr/>
                    <a:lstStyle/>
                    <a:p>
                      <a:r>
                        <a:rPr lang="en-US" sz="1800" b="1" dirty="0" err="1"/>
                        <a:t>FilterInputStream</a:t>
                      </a:r>
                      <a:r>
                        <a:rPr lang="en-US" sz="1800" b="1" dirty="0"/>
                        <a:t>, </a:t>
                      </a:r>
                      <a:r>
                        <a:rPr lang="en-US" sz="1800" b="1" dirty="0" err="1"/>
                        <a:t>FilterOutputStream</a:t>
                      </a:r>
                      <a:r>
                        <a:rPr lang="en-US" sz="1800" b="1" dirty="0"/>
                        <a:t> </a:t>
                      </a:r>
                      <a:endParaRPr lang="en-US" sz="1800" dirty="0"/>
                    </a:p>
                  </a:txBody>
                  <a:tcPr marT="45714" marB="45714" anchor="ctr"/>
                </a:tc>
              </a:tr>
              <a:tr h="579097">
                <a:tc vMerge="1"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600" dirty="0" err="1" smtClean="0"/>
                        <a:t>Sunt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clase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abstracte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ce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definesc</a:t>
                      </a:r>
                      <a:r>
                        <a:rPr lang="en-US" sz="1600" dirty="0" smtClean="0"/>
                        <a:t> o </a:t>
                      </a:r>
                      <a:r>
                        <a:rPr lang="en-US" sz="1600" dirty="0" err="1" smtClean="0"/>
                        <a:t>interfata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pentru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fluxuri</a:t>
                      </a:r>
                      <a:r>
                        <a:rPr lang="en-US" sz="1600" dirty="0" smtClean="0"/>
                        <a:t> care </a:t>
                      </a:r>
                      <a:r>
                        <a:rPr lang="en-US" sz="1600" dirty="0" err="1" smtClean="0"/>
                        <a:t>filtreaza</a:t>
                      </a:r>
                      <a:r>
                        <a:rPr lang="en-US" sz="1600" dirty="0" smtClean="0"/>
                        <a:t> automat </a:t>
                      </a:r>
                      <a:r>
                        <a:rPr lang="en-US" sz="1600" dirty="0" err="1" smtClean="0"/>
                        <a:t>datele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citite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sau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scrise</a:t>
                      </a:r>
                      <a:endParaRPr lang="en-US" sz="1600" dirty="0"/>
                    </a:p>
                  </a:txBody>
                  <a:tcPr marT="45714" marB="45714"/>
                </a:tc>
                <a:tc hMerge="1"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</a:tr>
              <a:tr h="370797">
                <a:tc rowSpan="2">
                  <a:txBody>
                    <a:bodyPr/>
                    <a:lstStyle/>
                    <a:p>
                      <a:r>
                        <a:rPr lang="en-US" sz="1600" b="1" dirty="0" err="1" smtClean="0"/>
                        <a:t>Conversie</a:t>
                      </a:r>
                      <a:r>
                        <a:rPr lang="en-US" sz="1600" b="1" dirty="0" smtClean="0"/>
                        <a:t> </a:t>
                      </a:r>
                      <a:br>
                        <a:rPr lang="en-US" sz="1600" b="1" dirty="0" smtClean="0"/>
                      </a:br>
                      <a:r>
                        <a:rPr lang="en-US" sz="1600" b="1" dirty="0" err="1" smtClean="0"/>
                        <a:t>octeti-caractere</a:t>
                      </a:r>
                      <a:r>
                        <a:rPr lang="en-US" sz="1600" dirty="0" smtClean="0"/>
                        <a:t> </a:t>
                      </a:r>
                      <a:endParaRPr lang="en-US" sz="16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600" b="1" dirty="0" err="1" smtClean="0"/>
                        <a:t>InputStreamReader</a:t>
                      </a:r>
                      <a:r>
                        <a:rPr lang="en-US" sz="1600" b="1" dirty="0" smtClean="0"/>
                        <a:t>, </a:t>
                      </a:r>
                      <a:r>
                        <a:rPr lang="en-US" sz="1600" b="1" dirty="0" err="1" smtClean="0"/>
                        <a:t>OutputStreamWriter</a:t>
                      </a:r>
                      <a:r>
                        <a:rPr lang="en-US" sz="1600" b="1" dirty="0" smtClean="0"/>
                        <a:t> </a:t>
                      </a:r>
                      <a:endParaRPr lang="en-US" sz="16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T="45714" marB="45714"/>
                </a:tc>
              </a:tr>
              <a:tr h="1310600">
                <a:tc vMerge="1"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600" dirty="0" err="1" smtClean="0"/>
                        <a:t>Formeaza</a:t>
                      </a:r>
                      <a:r>
                        <a:rPr lang="en-US" sz="1600" dirty="0" smtClean="0"/>
                        <a:t> o </a:t>
                      </a:r>
                      <a:r>
                        <a:rPr lang="en-US" sz="1600" dirty="0" err="1" smtClean="0"/>
                        <a:t>punte</a:t>
                      </a:r>
                      <a:r>
                        <a:rPr lang="en-US" sz="1600" dirty="0" smtClean="0"/>
                        <a:t> de </a:t>
                      </a:r>
                      <a:r>
                        <a:rPr lang="en-US" sz="1600" dirty="0" err="1" smtClean="0"/>
                        <a:t>legatura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între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fluxurile</a:t>
                      </a:r>
                      <a:r>
                        <a:rPr lang="en-US" sz="1600" dirty="0" smtClean="0"/>
                        <a:t> de </a:t>
                      </a:r>
                      <a:r>
                        <a:rPr lang="en-US" sz="1600" dirty="0" err="1" smtClean="0"/>
                        <a:t>caractere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si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fluxurile</a:t>
                      </a:r>
                      <a:r>
                        <a:rPr lang="en-US" sz="1600" dirty="0" smtClean="0"/>
                        <a:t> de </a:t>
                      </a:r>
                      <a:r>
                        <a:rPr lang="en-US" sz="1600" dirty="0" err="1" smtClean="0"/>
                        <a:t>octeti</a:t>
                      </a:r>
                      <a:r>
                        <a:rPr lang="en-US" sz="1600" dirty="0" smtClean="0"/>
                        <a:t>. Un flux </a:t>
                      </a:r>
                      <a:r>
                        <a:rPr lang="en-US" sz="1600" dirty="0" err="1" smtClean="0"/>
                        <a:t>InputStreamReader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citeste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octeti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dintr</a:t>
                      </a:r>
                      <a:r>
                        <a:rPr lang="en-US" sz="1600" dirty="0" smtClean="0"/>
                        <a:t>-un flux </a:t>
                      </a:r>
                      <a:r>
                        <a:rPr lang="en-US" sz="1600" dirty="0" err="1" smtClean="0"/>
                        <a:t>InputStream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ai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îi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converteate</a:t>
                      </a:r>
                      <a:r>
                        <a:rPr lang="en-US" sz="1600" dirty="0" smtClean="0"/>
                        <a:t> la </a:t>
                      </a:r>
                      <a:r>
                        <a:rPr lang="en-US" sz="1600" dirty="0" err="1" smtClean="0"/>
                        <a:t>caractere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folosind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codificarea</a:t>
                      </a:r>
                      <a:r>
                        <a:rPr lang="en-US" sz="1600" dirty="0" smtClean="0"/>
                        <a:t> standard a </a:t>
                      </a:r>
                      <a:r>
                        <a:rPr lang="en-US" sz="1600" dirty="0" err="1" smtClean="0"/>
                        <a:t>caracterelor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sau</a:t>
                      </a:r>
                      <a:r>
                        <a:rPr lang="en-US" sz="1600" dirty="0" smtClean="0"/>
                        <a:t> o </a:t>
                      </a:r>
                      <a:r>
                        <a:rPr lang="en-US" sz="1600" dirty="0" err="1" smtClean="0"/>
                        <a:t>codificare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specificata</a:t>
                      </a:r>
                      <a:r>
                        <a:rPr lang="en-US" sz="1600" dirty="0" smtClean="0"/>
                        <a:t> de program. Similar, un flux </a:t>
                      </a:r>
                      <a:r>
                        <a:rPr lang="en-US" sz="1600" dirty="0" err="1" smtClean="0"/>
                        <a:t>OutputStreamWriter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converteste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caractere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în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octeti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si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trimite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rezutatul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catre</a:t>
                      </a:r>
                      <a:r>
                        <a:rPr lang="en-US" sz="1600" dirty="0" smtClean="0"/>
                        <a:t> un flux de </a:t>
                      </a:r>
                      <a:r>
                        <a:rPr lang="en-US" sz="1600" dirty="0" err="1" smtClean="0"/>
                        <a:t>tipul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OutputStream</a:t>
                      </a:r>
                      <a:endParaRPr lang="en-US" sz="1600" dirty="0"/>
                    </a:p>
                  </a:txBody>
                  <a:tcPr marT="45714" marB="45714"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</a:tr>
              <a:tr h="370797">
                <a:tc rowSpan="2">
                  <a:txBody>
                    <a:bodyPr/>
                    <a:lstStyle/>
                    <a:p>
                      <a:r>
                        <a:rPr lang="en-US" sz="1600" b="1" dirty="0" err="1" smtClean="0"/>
                        <a:t>Concatenare</a:t>
                      </a:r>
                      <a:endParaRPr lang="en-US" sz="16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600" b="1" dirty="0" err="1" smtClean="0"/>
                        <a:t>SequenceInputStream</a:t>
                      </a:r>
                      <a:r>
                        <a:rPr lang="en-US" sz="1600" b="1" dirty="0" smtClean="0"/>
                        <a:t> </a:t>
                      </a:r>
                      <a:endParaRPr lang="en-US" sz="1600" dirty="0"/>
                    </a:p>
                  </a:txBody>
                  <a:tcPr marT="45714" marB="45714"/>
                </a:tc>
              </a:tr>
              <a:tr h="370797">
                <a:tc vMerge="1"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it-IT" sz="1600" dirty="0" smtClean="0"/>
                        <a:t>Concateneaza mai multe fluxuri de intrare într-unul singur </a:t>
                      </a:r>
                      <a:endParaRPr lang="en-US" sz="1600" dirty="0"/>
                    </a:p>
                  </a:txBody>
                  <a:tcPr marT="45714" marB="45714"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o-RO" sz="4000" b="1" smtClean="0"/>
              <a:t>Fluxuri pentru procesarea datelor</a:t>
            </a:r>
            <a:endParaRPr lang="en-US" altLang="ro-RO" sz="4000" smtClean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63513" y="2184400"/>
          <a:ext cx="9413875" cy="462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/>
                <a:gridCol w="4038599"/>
                <a:gridCol w="4079876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Tip </a:t>
                      </a:r>
                      <a:r>
                        <a:rPr lang="en-US" sz="1600" dirty="0" err="1" smtClean="0"/>
                        <a:t>procesare</a:t>
                      </a:r>
                      <a:r>
                        <a:rPr lang="en-US" sz="1600" dirty="0" smtClean="0"/>
                        <a:t> 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Fluxuri caractere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Fluxuri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octeti</a:t>
                      </a:r>
                      <a:r>
                        <a:rPr lang="en-US" sz="1600" dirty="0" smtClean="0"/>
                        <a:t> </a:t>
                      </a:r>
                      <a:endParaRPr lang="en-US" sz="1600" dirty="0"/>
                    </a:p>
                  </a:txBody>
                  <a:tcPr anchor="ctr"/>
                </a:tc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b="1" dirty="0" err="1" smtClean="0"/>
                        <a:t>Conversie</a:t>
                      </a:r>
                      <a:r>
                        <a:rPr lang="en-US" b="1" dirty="0" smtClean="0"/>
                        <a:t> </a:t>
                      </a:r>
                      <a:br>
                        <a:rPr lang="en-US" b="1" dirty="0" smtClean="0"/>
                      </a:br>
                      <a:r>
                        <a:rPr lang="en-US" b="1" dirty="0" err="1" smtClean="0"/>
                        <a:t>tipuri</a:t>
                      </a:r>
                      <a:r>
                        <a:rPr lang="en-US" b="1" dirty="0" smtClean="0"/>
                        <a:t> de date</a:t>
                      </a:r>
                      <a:r>
                        <a:rPr lang="en-US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 smtClean="0"/>
                        <a:t>DataInputStream</a:t>
                      </a:r>
                      <a:r>
                        <a:rPr lang="en-US" b="1" dirty="0" smtClean="0"/>
                        <a:t>, </a:t>
                      </a:r>
                      <a:r>
                        <a:rPr lang="en-US" b="1" dirty="0" err="1" smtClean="0"/>
                        <a:t>DataOutputStream</a:t>
                      </a:r>
                      <a:r>
                        <a:rPr lang="en-US" dirty="0" smtClean="0"/>
                        <a:t> 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 err="1" smtClean="0"/>
                        <a:t>Folosite</a:t>
                      </a:r>
                      <a:r>
                        <a:rPr lang="en-US" dirty="0" smtClean="0"/>
                        <a:t> la </a:t>
                      </a:r>
                      <a:r>
                        <a:rPr lang="en-US" dirty="0" err="1" smtClean="0"/>
                        <a:t>scrierea</a:t>
                      </a:r>
                      <a:r>
                        <a:rPr lang="en-US" dirty="0" smtClean="0"/>
                        <a:t>/</a:t>
                      </a:r>
                      <a:r>
                        <a:rPr lang="en-US" dirty="0" err="1" smtClean="0"/>
                        <a:t>citirea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datelor</a:t>
                      </a:r>
                      <a:r>
                        <a:rPr lang="en-US" dirty="0" smtClean="0"/>
                        <a:t> de tip </a:t>
                      </a:r>
                      <a:r>
                        <a:rPr lang="en-US" dirty="0" err="1" smtClean="0"/>
                        <a:t>primitiv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într</a:t>
                      </a:r>
                      <a:r>
                        <a:rPr lang="en-US" dirty="0" smtClean="0"/>
                        <a:t>-un format independent de </a:t>
                      </a:r>
                      <a:r>
                        <a:rPr lang="en-US" dirty="0" err="1" smtClean="0"/>
                        <a:t>masina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pe</a:t>
                      </a:r>
                      <a:r>
                        <a:rPr lang="en-US" dirty="0" smtClean="0"/>
                        <a:t> care se </a:t>
                      </a:r>
                      <a:r>
                        <a:rPr lang="en-US" dirty="0" err="1" smtClean="0"/>
                        <a:t>lucreaza</a:t>
                      </a:r>
                      <a:r>
                        <a:rPr lang="en-US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b="1" dirty="0" err="1" smtClean="0"/>
                        <a:t>Numarare</a:t>
                      </a:r>
                      <a:r>
                        <a:rPr lang="en-US" b="1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LineNumberReader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LineNumberInputStream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 err="1" smtClean="0"/>
                        <a:t>Numara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liniile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citite</a:t>
                      </a:r>
                      <a:r>
                        <a:rPr lang="en-US" dirty="0" smtClean="0"/>
                        <a:t> de la un flux de </a:t>
                      </a:r>
                      <a:r>
                        <a:rPr lang="en-US" dirty="0" err="1" smtClean="0"/>
                        <a:t>intrare</a:t>
                      </a:r>
                      <a:r>
                        <a:rPr lang="en-US" dirty="0" smtClean="0"/>
                        <a:t>. 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b="1" dirty="0" err="1" smtClean="0"/>
                        <a:t>Citire</a:t>
                      </a:r>
                      <a:r>
                        <a:rPr lang="en-US" b="1" dirty="0" smtClean="0"/>
                        <a:t> </a:t>
                      </a:r>
                      <a:r>
                        <a:rPr lang="en-US" b="1" dirty="0" err="1" smtClean="0"/>
                        <a:t>în</a:t>
                      </a:r>
                      <a:r>
                        <a:rPr lang="en-US" b="1" dirty="0" smtClean="0"/>
                        <a:t> </a:t>
                      </a:r>
                      <a:r>
                        <a:rPr lang="en-US" b="1" dirty="0" err="1" smtClean="0"/>
                        <a:t>avans</a:t>
                      </a:r>
                      <a:r>
                        <a:rPr lang="en-US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PushbackReader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PushbackInputStream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 err="1" smtClean="0"/>
                        <a:t>Fluxuri</a:t>
                      </a:r>
                      <a:r>
                        <a:rPr lang="en-US" dirty="0" smtClean="0"/>
                        <a:t> de </a:t>
                      </a:r>
                      <a:r>
                        <a:rPr lang="en-US" dirty="0" err="1" smtClean="0"/>
                        <a:t>intrare</a:t>
                      </a:r>
                      <a:r>
                        <a:rPr lang="en-US" dirty="0" smtClean="0"/>
                        <a:t> care au un buffer de 1-caracter(octet) </a:t>
                      </a:r>
                      <a:r>
                        <a:rPr lang="en-US" dirty="0" err="1" smtClean="0"/>
                        <a:t>în</a:t>
                      </a:r>
                      <a:r>
                        <a:rPr lang="en-US" dirty="0" smtClean="0"/>
                        <a:t> care </a:t>
                      </a:r>
                      <a:r>
                        <a:rPr lang="en-US" dirty="0" err="1" smtClean="0"/>
                        <a:t>este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citit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în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avans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si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caracterul</a:t>
                      </a:r>
                      <a:r>
                        <a:rPr lang="en-US" dirty="0" smtClean="0"/>
                        <a:t> (</a:t>
                      </a:r>
                      <a:r>
                        <a:rPr lang="en-US" dirty="0" err="1" smtClean="0"/>
                        <a:t>octetul</a:t>
                      </a:r>
                      <a:r>
                        <a:rPr lang="en-US" dirty="0" smtClean="0"/>
                        <a:t>) care </a:t>
                      </a:r>
                      <a:r>
                        <a:rPr lang="en-US" dirty="0" err="1" smtClean="0"/>
                        <a:t>urmeaza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celui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curent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citit</a:t>
                      </a:r>
                      <a:r>
                        <a:rPr lang="en-US" dirty="0" smtClean="0"/>
                        <a:t>. 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b="1" dirty="0" err="1" smtClean="0"/>
                        <a:t>Afisare</a:t>
                      </a:r>
                      <a:r>
                        <a:rPr lang="en-US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PrintWriter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PrintStream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Metode convenabile pentru afisarea informatiilor. 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>
          <a:xfrm>
            <a:off x="468313" y="0"/>
            <a:ext cx="9448800" cy="1512888"/>
          </a:xfrm>
        </p:spPr>
        <p:txBody>
          <a:bodyPr/>
          <a:lstStyle/>
          <a:p>
            <a:pPr eaLnBrk="1" hangingPunct="1"/>
            <a:r>
              <a:rPr lang="en-US" altLang="ro-RO" smtClean="0"/>
              <a:t>Exemplul 1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0" y="1112838"/>
            <a:ext cx="9840913" cy="4283075"/>
          </a:xfrm>
        </p:spPr>
        <p:txBody>
          <a:bodyPr/>
          <a:lstStyle/>
          <a:p>
            <a:pPr eaLnBrk="1" hangingPunct="1"/>
            <a:r>
              <a:rPr lang="ro-RO" altLang="ro-RO" sz="3200" smtClean="0"/>
              <a:t>P</a:t>
            </a:r>
            <a:r>
              <a:rPr lang="en-US" altLang="ro-RO" sz="3200" smtClean="0"/>
              <a:t>rogram care copi</a:t>
            </a:r>
            <a:r>
              <a:rPr lang="ro-RO" altLang="ro-RO" sz="3200" smtClean="0"/>
              <a:t>ază</a:t>
            </a:r>
            <a:r>
              <a:rPr lang="en-US" altLang="ro-RO" sz="3200" smtClean="0"/>
              <a:t> con</a:t>
            </a:r>
            <a:r>
              <a:rPr lang="ro-RO" altLang="ro-RO" sz="3200" smtClean="0"/>
              <a:t>ţ</a:t>
            </a:r>
            <a:r>
              <a:rPr lang="en-US" altLang="ro-RO" sz="3200" smtClean="0"/>
              <a:t>inutul unui fisier în alt fisier:</a:t>
            </a:r>
            <a:endParaRPr lang="ro-RO" altLang="ro-RO" sz="3200" smtClean="0"/>
          </a:p>
          <a:p>
            <a:pPr eaLnBrk="1" hangingPunct="1"/>
            <a:r>
              <a:rPr lang="en-US" altLang="ro-RO" sz="2800" smtClean="0">
                <a:latin typeface="Courier New" panose="02070309020205020404" pitchFamily="49" charset="0"/>
                <a:cs typeface="Courier New" panose="02070309020205020404" pitchFamily="49" charset="0"/>
              </a:rPr>
              <a:t>import java.io.*;</a:t>
            </a:r>
            <a:endParaRPr lang="ro-RO" altLang="ro-RO" sz="280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ro-RO" sz="280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class Copy {</a:t>
            </a:r>
            <a:endParaRPr lang="ro-RO" altLang="ro-RO" sz="280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ro-RO" sz="280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static void main(String[] args) throws IOException {</a:t>
            </a:r>
            <a:endParaRPr lang="ro-RO" altLang="ro-RO" sz="280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ro-RO" sz="2800" smtClean="0">
                <a:latin typeface="Courier New" panose="02070309020205020404" pitchFamily="49" charset="0"/>
                <a:cs typeface="Courier New" panose="02070309020205020404" pitchFamily="49" charset="0"/>
              </a:rPr>
              <a:t>FileReader in = new FileReader("in.txt"); FileWriter out = new FileWriter("out.txt"); </a:t>
            </a:r>
            <a:endParaRPr lang="ro-RO" altLang="ro-RO" sz="280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ro-RO" sz="2800" smtClean="0">
                <a:latin typeface="Courier New" panose="02070309020205020404" pitchFamily="49" charset="0"/>
                <a:cs typeface="Courier New" panose="02070309020205020404" pitchFamily="49" charset="0"/>
              </a:rPr>
              <a:t>int c; </a:t>
            </a:r>
            <a:endParaRPr lang="ro-RO" altLang="ro-RO" sz="280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ro-RO" sz="2800" smtClean="0">
                <a:latin typeface="Courier New" panose="02070309020205020404" pitchFamily="49" charset="0"/>
                <a:cs typeface="Courier New" panose="02070309020205020404" pitchFamily="49" charset="0"/>
              </a:rPr>
              <a:t>while ((c = in.read()) != -1) out.write(c); in.close(); out.close(); </a:t>
            </a:r>
            <a:endParaRPr lang="ro-RO" altLang="ro-RO" sz="280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ro-RO" sz="2800" smtClean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endParaRPr lang="ro-RO" altLang="ro-RO" sz="280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ro-RO" sz="280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>
          <a:xfrm>
            <a:off x="504825" y="503238"/>
            <a:ext cx="9072563" cy="762000"/>
          </a:xfrm>
        </p:spPr>
        <p:txBody>
          <a:bodyPr/>
          <a:lstStyle/>
          <a:p>
            <a:r>
              <a:rPr lang="en-US" altLang="ro-RO" sz="2000" smtClean="0"/>
              <a:t>Exemplul 2</a:t>
            </a:r>
            <a:br>
              <a:rPr lang="en-US" altLang="ro-RO" sz="2000" smtClean="0"/>
            </a:br>
            <a:r>
              <a:rPr lang="en-US" altLang="ro-RO" sz="2000" smtClean="0"/>
              <a:t>Program care creeaz</a:t>
            </a:r>
            <a:r>
              <a:rPr lang="ro-RO" altLang="ro-RO" sz="2000" smtClean="0"/>
              <a:t>ă un fişier binar prin scrierea unui vector de octeţi</a:t>
            </a:r>
            <a:endParaRPr lang="en-US" altLang="ro-RO" sz="2000" smtClean="0"/>
          </a:p>
        </p:txBody>
      </p:sp>
      <p:sp>
        <p:nvSpPr>
          <p:cNvPr id="34819" name="Rectangle 1"/>
          <p:cNvSpPr>
            <a:spLocks noGrp="1" noChangeArrowheads="1"/>
          </p:cNvSpPr>
          <p:nvPr>
            <p:ph idx="1"/>
          </p:nvPr>
        </p:nvSpPr>
        <p:spPr>
          <a:xfrm>
            <a:off x="504825" y="1371600"/>
            <a:ext cx="8456613" cy="5908675"/>
          </a:xfrm>
        </p:spPr>
        <p:txBody>
          <a:bodyPr wrap="none" lIns="91440" tIns="45720" rIns="91440" bIns="45720" anchor="ctr">
            <a:spAutoFit/>
          </a:bodyPr>
          <a:lstStyle/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800" b="1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import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java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io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.*;</a:t>
            </a:r>
            <a:endParaRPr lang="en-US" altLang="ro-RO" sz="18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800" smtClean="0">
                <a:solidFill>
                  <a:srgbClr val="8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public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8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class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ScrieOcteti 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en-US" altLang="ro-RO" sz="18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</a:t>
            </a:r>
            <a:r>
              <a:rPr lang="en-US" altLang="ro-RO" sz="1800" smtClean="0">
                <a:solidFill>
                  <a:srgbClr val="8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public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8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static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8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void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main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String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[]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arg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en-US" altLang="ro-RO" sz="18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</a:t>
            </a:r>
            <a:r>
              <a:rPr lang="en-US" altLang="ro-RO" sz="1800" smtClean="0">
                <a:solidFill>
                  <a:srgbClr val="8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int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[]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data 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71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73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70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56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57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97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15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0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15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0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endParaRPr lang="en-US" altLang="ro-RO" sz="18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128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0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0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255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255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255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0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0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0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44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0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0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0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endParaRPr lang="en-US" altLang="ro-RO" sz="18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0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15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0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15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0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0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2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33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132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127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161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200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endParaRPr lang="en-US" altLang="ro-RO" sz="18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185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205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84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128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241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81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35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175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155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26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endParaRPr lang="en-US" altLang="ro-RO" sz="18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228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254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105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33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102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121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165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201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145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169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endParaRPr lang="en-US" altLang="ro-RO" sz="18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154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142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172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116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162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240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90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197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5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0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59</a:t>
            </a:r>
            <a:endParaRPr lang="en-US" altLang="ro-RO" sz="18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};</a:t>
            </a:r>
            <a:endParaRPr lang="en-US" altLang="ro-RO" sz="18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</a:t>
            </a:r>
            <a:r>
              <a:rPr lang="en-US" altLang="ro-RO" sz="1800" b="1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try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en-US" altLang="ro-RO" sz="18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FileOutputStream fis 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b="1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new</a:t>
            </a:r>
            <a:endParaRPr lang="en-US" altLang="ro-RO" sz="18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FileOutputStream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altLang="ro-RO" sz="1800" smtClean="0">
                <a:solidFill>
                  <a:srgbClr val="808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"test.jpg"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  <a:endParaRPr lang="en-US" altLang="ro-RO" sz="18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</a:t>
            </a:r>
            <a:r>
              <a:rPr lang="en-US" altLang="ro-RO" sz="1800" b="1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for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altLang="ro-RO" sz="1800" smtClean="0">
                <a:solidFill>
                  <a:srgbClr val="8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int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 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0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 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&lt;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data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length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++)</a:t>
            </a:r>
            <a:endParaRPr lang="en-US" altLang="ro-RO" sz="18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fis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write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data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[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]);</a:t>
            </a:r>
            <a:endParaRPr lang="en-US" altLang="ro-RO" sz="18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fis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close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();</a:t>
            </a:r>
            <a:endParaRPr lang="en-US" altLang="ro-RO" sz="18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b="1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catch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IOException e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en-US" altLang="ro-RO" sz="18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System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out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println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altLang="ro-RO" sz="1800" smtClean="0">
                <a:solidFill>
                  <a:srgbClr val="808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"Error -- "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+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e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toString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());</a:t>
            </a:r>
            <a:endParaRPr lang="en-US" altLang="ro-RO" sz="18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endParaRPr lang="en-US" altLang="ro-RO" sz="18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endParaRPr lang="en-US" altLang="ro-RO" sz="18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endParaRPr lang="en-US" altLang="ro-RO" sz="1800" smtClean="0"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>
          <a:xfrm>
            <a:off x="468313" y="198438"/>
            <a:ext cx="9072562" cy="1512887"/>
          </a:xfrm>
        </p:spPr>
        <p:txBody>
          <a:bodyPr/>
          <a:lstStyle/>
          <a:p>
            <a:r>
              <a:rPr lang="ro-RO" altLang="ro-RO" sz="2000" smtClean="0"/>
              <a:t>Exemplul 3.</a:t>
            </a:r>
            <a:br>
              <a:rPr lang="ro-RO" altLang="ro-RO" sz="2000" smtClean="0"/>
            </a:br>
            <a:r>
              <a:rPr lang="ro-RO" altLang="ro-RO" sz="2000" smtClean="0"/>
              <a:t>Program care citeşte un fişier binar şi afişează pe ecran conţinutul acestuia (octeţii)</a:t>
            </a:r>
            <a:endParaRPr lang="en-US" altLang="ro-RO" sz="2000" smtClean="0"/>
          </a:p>
        </p:txBody>
      </p:sp>
      <p:sp>
        <p:nvSpPr>
          <p:cNvPr id="35843" name="Rectangle 1"/>
          <p:cNvSpPr>
            <a:spLocks noGrp="1" noChangeArrowheads="1"/>
          </p:cNvSpPr>
          <p:nvPr>
            <p:ph idx="1"/>
          </p:nvPr>
        </p:nvSpPr>
        <p:spPr>
          <a:xfrm>
            <a:off x="504825" y="1403350"/>
            <a:ext cx="9183688" cy="6186488"/>
          </a:xfrm>
        </p:spPr>
        <p:txBody>
          <a:bodyPr lIns="91440" tIns="45720" rIns="91440" bIns="45720" anchor="ctr">
            <a:spAutoFit/>
          </a:bodyPr>
          <a:lstStyle/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800" b="1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import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java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io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.*;</a:t>
            </a:r>
            <a:endParaRPr lang="en-US" altLang="ro-RO" sz="18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800" smtClean="0">
                <a:solidFill>
                  <a:srgbClr val="8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public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8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class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CitesteOcteti 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en-US" altLang="ro-RO" sz="18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</a:t>
            </a:r>
            <a:r>
              <a:rPr lang="en-US" altLang="ro-RO" sz="1800" smtClean="0">
                <a:solidFill>
                  <a:srgbClr val="8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public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8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static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8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void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main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String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[]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arg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en-US" altLang="ro-RO" sz="18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</a:t>
            </a:r>
            <a:r>
              <a:rPr lang="en-US" altLang="ro-RO" sz="1800" b="1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try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en-US" altLang="ro-RO" sz="18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FileInputStream fisier 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b="1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new</a:t>
            </a:r>
            <a:endParaRPr lang="en-US" altLang="ro-RO" sz="18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FileInputStream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altLang="ro-RO" sz="1800" smtClean="0">
                <a:solidFill>
                  <a:srgbClr val="808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"desen.jpg"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  <a:endParaRPr lang="en-US" altLang="ro-RO" sz="18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</a:t>
            </a:r>
            <a:r>
              <a:rPr lang="en-US" altLang="ro-RO" sz="1800" smtClean="0">
                <a:solidFill>
                  <a:srgbClr val="8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boolean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eof 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b="1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false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endParaRPr lang="en-US" altLang="ro-RO" sz="18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</a:t>
            </a:r>
            <a:r>
              <a:rPr lang="en-US" altLang="ro-RO" sz="1800" smtClean="0">
                <a:solidFill>
                  <a:srgbClr val="8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int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nr 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0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endParaRPr lang="en-US" altLang="ro-RO" sz="18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</a:t>
            </a:r>
            <a:r>
              <a:rPr lang="en-US" altLang="ro-RO" sz="1800" b="1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while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(!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eof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en-US" altLang="ro-RO" sz="18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</a:t>
            </a:r>
            <a:r>
              <a:rPr lang="en-US" altLang="ro-RO" sz="1800" smtClean="0">
                <a:solidFill>
                  <a:srgbClr val="8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int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intrare 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fisier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read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();</a:t>
            </a:r>
            <a:endParaRPr lang="en-US" altLang="ro-RO" sz="18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</a:t>
            </a:r>
            <a:r>
              <a:rPr lang="en-US" altLang="ro-RO" sz="1800" b="1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intrare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!=-</a:t>
            </a:r>
            <a:r>
              <a:rPr lang="en-US" altLang="ro-RO" sz="18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  <a:endParaRPr lang="en-US" altLang="ro-RO" sz="18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System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out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print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intrare 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+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smtClean="0">
                <a:solidFill>
                  <a:srgbClr val="808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" "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  <a:endParaRPr lang="en-US" altLang="ro-RO" sz="18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nr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++;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endParaRPr lang="en-US" altLang="ro-RO" sz="18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</a:t>
            </a:r>
            <a:r>
              <a:rPr lang="en-US" altLang="ro-RO" sz="1800" b="1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else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eof 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b="1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true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endParaRPr lang="en-US" altLang="ro-RO" sz="18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endParaRPr lang="en-US" altLang="ro-RO" sz="18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fisier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close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();</a:t>
            </a:r>
            <a:endParaRPr lang="en-US" altLang="ro-RO" sz="18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System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out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println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altLang="ro-RO" sz="1800" smtClean="0">
                <a:solidFill>
                  <a:srgbClr val="808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"\nOcteti cititi: "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+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nr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  <a:endParaRPr lang="en-US" altLang="ro-RO" sz="18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b="1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catch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IOException e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en-US" altLang="ro-RO" sz="18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System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out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println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altLang="ro-RO" sz="1800" smtClean="0">
                <a:solidFill>
                  <a:srgbClr val="808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"Error -- "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+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e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toString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());</a:t>
            </a:r>
            <a:endParaRPr lang="en-US" altLang="ro-RO" sz="18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endParaRPr lang="en-US" altLang="ro-RO" sz="18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8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</a:t>
            </a: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endParaRPr lang="en-US" altLang="ro-RO" sz="18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8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endParaRPr lang="en-US" altLang="ro-RO" sz="1800" smtClean="0"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altLang="ro-RO" sz="2000" smtClean="0"/>
              <a:t>Exemplul 4. </a:t>
            </a:r>
            <a:br>
              <a:rPr lang="ro-RO" altLang="ro-RO" sz="2000" smtClean="0"/>
            </a:br>
            <a:r>
              <a:rPr lang="ro-RO" altLang="ro-RO" sz="2000" smtClean="0"/>
              <a:t>Program care scrie într-un fişier de date primele 1000 numere prime din şirul numerelor naturale </a:t>
            </a:r>
            <a:endParaRPr lang="en-US" altLang="ro-RO" sz="2000" smtClean="0"/>
          </a:p>
        </p:txBody>
      </p:sp>
      <p:sp>
        <p:nvSpPr>
          <p:cNvPr id="36867" name="Rectangle 1"/>
          <p:cNvSpPr>
            <a:spLocks noGrp="1" noChangeArrowheads="1"/>
          </p:cNvSpPr>
          <p:nvPr>
            <p:ph idx="1"/>
          </p:nvPr>
        </p:nvSpPr>
        <p:spPr>
          <a:xfrm>
            <a:off x="163513" y="1909763"/>
            <a:ext cx="4910137" cy="4832350"/>
          </a:xfrm>
        </p:spPr>
        <p:txBody>
          <a:bodyPr wrap="none" lIns="91440" tIns="45720" rIns="91440" bIns="45720" anchor="ctr">
            <a:spAutoFit/>
          </a:bodyPr>
          <a:lstStyle/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400" b="1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import</a:t>
            </a: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java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io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.*;</a:t>
            </a:r>
            <a:endParaRPr lang="en-US" altLang="ro-RO" sz="14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400" smtClean="0">
                <a:solidFill>
                  <a:srgbClr val="8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class</a:t>
            </a: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ScriePrime 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en-US" altLang="ro-RO" sz="14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</a:t>
            </a:r>
            <a:endParaRPr lang="en-US" altLang="ro-RO" sz="14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400" smtClean="0">
                <a:solidFill>
                  <a:srgbClr val="8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public</a:t>
            </a: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400" smtClean="0">
                <a:solidFill>
                  <a:srgbClr val="8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static</a:t>
            </a: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400" smtClean="0">
                <a:solidFill>
                  <a:srgbClr val="8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boolean</a:t>
            </a: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Prim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altLang="ro-RO" sz="1400" smtClean="0">
                <a:solidFill>
                  <a:srgbClr val="8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int</a:t>
            </a: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x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en-US" altLang="ro-RO" sz="14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</a:t>
            </a:r>
            <a:r>
              <a:rPr lang="en-US" altLang="ro-RO" sz="1400" smtClean="0">
                <a:solidFill>
                  <a:srgbClr val="8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double</a:t>
            </a: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radical 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Math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sqrt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x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  <a:endParaRPr lang="en-US" altLang="ro-RO" sz="14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</a:t>
            </a:r>
            <a:r>
              <a:rPr lang="en-US" altLang="ro-RO" sz="1400" b="1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for</a:t>
            </a: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altLang="ro-RO" sz="1400" smtClean="0">
                <a:solidFill>
                  <a:srgbClr val="8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int</a:t>
            </a: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 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4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2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 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&lt;=</a:t>
            </a: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radical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++)</a:t>
            </a: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en-US" altLang="ro-RO" sz="14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</a:t>
            </a:r>
            <a:r>
              <a:rPr lang="en-US" altLang="ro-RO" sz="1400" b="1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</a:t>
            </a: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x 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%</a:t>
            </a: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 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==</a:t>
            </a: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4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0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  <a:endParaRPr lang="en-US" altLang="ro-RO" sz="14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</a:t>
            </a:r>
            <a:r>
              <a:rPr lang="en-US" altLang="ro-RO" sz="1400" b="1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return</a:t>
            </a: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400" b="1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false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endParaRPr lang="en-US" altLang="ro-RO" sz="14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endParaRPr lang="en-US" altLang="ro-RO" sz="14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</a:t>
            </a:r>
            <a:r>
              <a:rPr lang="en-US" altLang="ro-RO" sz="1400" b="1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return</a:t>
            </a: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400" b="1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true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endParaRPr lang="en-US" altLang="ro-RO" sz="14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endParaRPr lang="en-US" altLang="ro-RO" sz="14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400" smtClean="0">
                <a:solidFill>
                  <a:srgbClr val="8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public</a:t>
            </a: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400" smtClean="0">
                <a:solidFill>
                  <a:srgbClr val="8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static</a:t>
            </a: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400" smtClean="0">
                <a:solidFill>
                  <a:srgbClr val="8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void</a:t>
            </a: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main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String arg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[])</a:t>
            </a: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en-US" altLang="ro-RO" sz="14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</a:t>
            </a:r>
            <a:r>
              <a:rPr lang="en-US" altLang="ro-RO" sz="1400" smtClean="0">
                <a:solidFill>
                  <a:srgbClr val="8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int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[]</a:t>
            </a: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prime 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400" b="1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new</a:t>
            </a: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400" smtClean="0">
                <a:solidFill>
                  <a:srgbClr val="8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int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[</a:t>
            </a:r>
            <a:r>
              <a:rPr lang="ro-RO" altLang="ro-RO" sz="14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10</a:t>
            </a:r>
            <a:r>
              <a:rPr lang="en-US" altLang="ro-RO" sz="14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00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];</a:t>
            </a:r>
            <a:endParaRPr lang="en-US" altLang="ro-RO" sz="14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</a:t>
            </a:r>
            <a:r>
              <a:rPr lang="en-US" altLang="ro-RO" sz="1400" smtClean="0">
                <a:solidFill>
                  <a:srgbClr val="8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int</a:t>
            </a: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nrPrime 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4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0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endParaRPr lang="en-US" altLang="ro-RO" sz="14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</a:t>
            </a:r>
            <a:r>
              <a:rPr lang="en-US" altLang="ro-RO" sz="1400" smtClean="0">
                <a:solidFill>
                  <a:srgbClr val="8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int</a:t>
            </a: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curent 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4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2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endParaRPr lang="en-US" altLang="ro-RO" sz="14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</a:t>
            </a:r>
            <a:r>
              <a:rPr lang="en-US" altLang="ro-RO" sz="1400" b="1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while</a:t>
            </a: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nrPrime 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&lt;</a:t>
            </a: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ro-RO" altLang="ro-RO" sz="14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10</a:t>
            </a:r>
            <a:r>
              <a:rPr lang="en-US" altLang="ro-RO" sz="1400" smtClean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00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en-US" altLang="ro-RO" sz="14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</a:t>
            </a:r>
            <a:r>
              <a:rPr lang="en-US" altLang="ro-RO" sz="1400" b="1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</a:t>
            </a: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Prim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curent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))</a:t>
            </a: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en-US" altLang="ro-RO" sz="14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prime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[</a:t>
            </a: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nrPrime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]</a:t>
            </a: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curent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endParaRPr lang="en-US" altLang="ro-RO" sz="14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nrPrime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++;</a:t>
            </a:r>
            <a:endParaRPr lang="en-US" altLang="ro-RO" sz="14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endParaRPr lang="en-US" altLang="ro-RO" sz="14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curent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++;</a:t>
            </a:r>
            <a:endParaRPr lang="en-US" altLang="ro-RO" sz="14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4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</a:t>
            </a:r>
            <a:r>
              <a:rPr lang="en-US" altLang="ro-RO" sz="14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endParaRPr lang="en-US" altLang="ro-RO" sz="1400" smtClean="0"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36868" name="Rectangle 3"/>
          <p:cNvSpPr>
            <a:spLocks noChangeArrowheads="1"/>
          </p:cNvSpPr>
          <p:nvPr/>
        </p:nvSpPr>
        <p:spPr bwMode="auto">
          <a:xfrm>
            <a:off x="5040313" y="2265363"/>
            <a:ext cx="4800600" cy="375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ro-RO" sz="1400" b="1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try</a:t>
            </a:r>
            <a:r>
              <a:rPr lang="en-US" altLang="ro-RO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400" b="1" dirty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en-US" altLang="ro-RO" sz="1400" dirty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altLang="ro-RO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</a:t>
            </a:r>
            <a:r>
              <a:rPr lang="en-US" altLang="ro-RO" sz="1400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FileOutputStream</a:t>
            </a:r>
            <a:r>
              <a:rPr lang="en-US" altLang="ro-RO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file </a:t>
            </a:r>
            <a:r>
              <a:rPr lang="en-US" altLang="ro-RO" sz="1400" b="1" dirty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altLang="ro-RO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400" b="1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new</a:t>
            </a:r>
            <a:endParaRPr lang="ro-RO" altLang="ro-RO" sz="1400" b="1" dirty="0">
              <a:solidFill>
                <a:srgbClr val="0000FF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ro-RO" altLang="ro-RO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</a:t>
            </a:r>
            <a:r>
              <a:rPr lang="en-US" altLang="ro-RO" sz="1400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FileOutputStream</a:t>
            </a:r>
            <a:r>
              <a:rPr lang="en-US" altLang="ro-RO" sz="1400" b="1" dirty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altLang="ro-RO" sz="1400" dirty="0">
                <a:solidFill>
                  <a:srgbClr val="808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"Nrprime.dat"</a:t>
            </a:r>
            <a:r>
              <a:rPr lang="en-US" altLang="ro-RO" sz="1400" b="1" dirty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  <a:endParaRPr lang="en-US" altLang="ro-RO" sz="1400" dirty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altLang="ro-RO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</a:t>
            </a:r>
            <a:r>
              <a:rPr lang="en-US" altLang="ro-RO" sz="1400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BufferedOutputStream</a:t>
            </a:r>
            <a:r>
              <a:rPr lang="en-US" altLang="ro-RO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buff </a:t>
            </a:r>
            <a:r>
              <a:rPr lang="en-US" altLang="ro-RO" sz="1400" b="1" dirty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altLang="ro-RO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400" b="1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new</a:t>
            </a:r>
            <a:endParaRPr lang="en-US" altLang="ro-RO" sz="1400" dirty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altLang="ro-RO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</a:t>
            </a:r>
            <a:r>
              <a:rPr lang="en-US" altLang="ro-RO" sz="1400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BufferedOutputStream</a:t>
            </a:r>
            <a:r>
              <a:rPr lang="en-US" altLang="ro-RO" sz="1400" b="1" dirty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altLang="ro-RO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file</a:t>
            </a:r>
            <a:r>
              <a:rPr lang="en-US" altLang="ro-RO" sz="1400" b="1" dirty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  <a:endParaRPr lang="en-US" altLang="ro-RO" sz="1400" dirty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altLang="ro-RO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</a:t>
            </a:r>
            <a:r>
              <a:rPr lang="en-US" altLang="ro-RO" sz="1400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DataOutputStream</a:t>
            </a:r>
            <a:r>
              <a:rPr lang="en-US" altLang="ro-RO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data </a:t>
            </a:r>
            <a:r>
              <a:rPr lang="en-US" altLang="ro-RO" sz="1400" b="1" dirty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altLang="ro-RO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400" b="1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new</a:t>
            </a:r>
            <a:endParaRPr lang="en-US" altLang="ro-RO" sz="1400" dirty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altLang="ro-RO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</a:t>
            </a:r>
            <a:r>
              <a:rPr lang="en-US" altLang="ro-RO" sz="1400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DataOutputStream</a:t>
            </a:r>
            <a:r>
              <a:rPr lang="en-US" altLang="ro-RO" sz="1400" b="1" dirty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altLang="ro-RO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buff</a:t>
            </a:r>
            <a:r>
              <a:rPr lang="en-US" altLang="ro-RO" sz="1400" b="1" dirty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  <a:endParaRPr lang="en-US" altLang="ro-RO" sz="1400" dirty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altLang="ro-RO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</a:t>
            </a:r>
            <a:r>
              <a:rPr lang="en-US" altLang="ro-RO" sz="1400" b="1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for</a:t>
            </a:r>
            <a:r>
              <a:rPr lang="en-US" altLang="ro-RO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400" b="1" dirty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altLang="ro-RO" sz="1400" dirty="0" err="1">
                <a:solidFill>
                  <a:srgbClr val="8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int</a:t>
            </a:r>
            <a:r>
              <a:rPr lang="en-US" altLang="ro-RO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400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</a:t>
            </a:r>
            <a:r>
              <a:rPr lang="en-US" altLang="ro-RO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400" b="1" dirty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altLang="ro-RO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400" dirty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0</a:t>
            </a:r>
            <a:r>
              <a:rPr lang="en-US" altLang="ro-RO" sz="1400" b="1" dirty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r>
              <a:rPr lang="en-US" altLang="ro-RO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400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</a:t>
            </a:r>
            <a:r>
              <a:rPr lang="en-US" altLang="ro-RO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400" b="1" dirty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&lt;</a:t>
            </a:r>
            <a:r>
              <a:rPr lang="en-US" altLang="ro-RO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400" dirty="0">
                <a:solidFill>
                  <a:srgbClr val="FF8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400</a:t>
            </a:r>
            <a:r>
              <a:rPr lang="en-US" altLang="ro-RO" sz="1400" b="1" dirty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r>
              <a:rPr lang="en-US" altLang="ro-RO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400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</a:t>
            </a:r>
            <a:r>
              <a:rPr lang="en-US" altLang="ro-RO" sz="1400" b="1" dirty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++)</a:t>
            </a:r>
            <a:endParaRPr lang="en-US" altLang="ro-RO" sz="1400" dirty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altLang="ro-RO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</a:t>
            </a:r>
            <a:r>
              <a:rPr lang="en-US" altLang="ro-RO" sz="1400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data</a:t>
            </a:r>
            <a:r>
              <a:rPr lang="en-US" altLang="ro-RO" sz="1400" b="1" dirty="0" err="1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altLang="ro-RO" sz="1400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writeInt</a:t>
            </a:r>
            <a:r>
              <a:rPr lang="en-US" altLang="ro-RO" sz="1400" b="1" dirty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altLang="ro-RO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prime</a:t>
            </a:r>
            <a:r>
              <a:rPr lang="en-US" altLang="ro-RO" sz="1400" b="1" dirty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[</a:t>
            </a:r>
            <a:r>
              <a:rPr lang="en-US" altLang="ro-RO" sz="1400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</a:t>
            </a:r>
            <a:r>
              <a:rPr lang="en-US" altLang="ro-RO" sz="1400" b="1" dirty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]);</a:t>
            </a:r>
            <a:endParaRPr lang="en-US" altLang="ro-RO" sz="1400" dirty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altLang="ro-RO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</a:t>
            </a:r>
            <a:r>
              <a:rPr lang="en-US" altLang="ro-RO" sz="1400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data</a:t>
            </a:r>
            <a:r>
              <a:rPr lang="en-US" altLang="ro-RO" sz="1400" b="1" dirty="0" err="1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altLang="ro-RO" sz="1400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close</a:t>
            </a:r>
            <a:r>
              <a:rPr lang="en-US" altLang="ro-RO" sz="1400" b="1" dirty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();</a:t>
            </a:r>
            <a:endParaRPr lang="en-US" altLang="ro-RO" sz="1400" dirty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altLang="ro-RO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</a:t>
            </a:r>
            <a:r>
              <a:rPr lang="en-US" altLang="ro-RO" sz="1400" b="1" dirty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r>
              <a:rPr lang="en-US" altLang="ro-RO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400" b="1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catch</a:t>
            </a:r>
            <a:r>
              <a:rPr lang="en-US" altLang="ro-RO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400" b="1" dirty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altLang="ro-RO" sz="1400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IOException</a:t>
            </a:r>
            <a:r>
              <a:rPr lang="en-US" altLang="ro-RO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e</a:t>
            </a:r>
            <a:r>
              <a:rPr lang="en-US" altLang="ro-RO" sz="1400" b="1" dirty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  <a:r>
              <a:rPr lang="en-US" altLang="ro-RO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400" b="1" dirty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en-US" altLang="ro-RO" sz="1400" dirty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altLang="ro-RO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</a:t>
            </a:r>
            <a:r>
              <a:rPr lang="en-US" altLang="ro-RO" sz="1400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System</a:t>
            </a:r>
            <a:r>
              <a:rPr lang="en-US" altLang="ro-RO" sz="1400" b="1" dirty="0" err="1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altLang="ro-RO" sz="1400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out</a:t>
            </a:r>
            <a:r>
              <a:rPr lang="en-US" altLang="ro-RO" sz="1400" b="1" dirty="0" err="1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altLang="ro-RO" sz="1400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println</a:t>
            </a:r>
            <a:r>
              <a:rPr lang="en-US" altLang="ro-RO" sz="1400" b="1" dirty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altLang="ro-RO" sz="1400" dirty="0">
                <a:solidFill>
                  <a:srgbClr val="808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"Error -- "</a:t>
            </a:r>
            <a:r>
              <a:rPr lang="en-US" altLang="ro-RO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400" b="1" dirty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+</a:t>
            </a:r>
            <a:endParaRPr lang="ro-RO" altLang="ro-RO" sz="1400" b="1" dirty="0">
              <a:solidFill>
                <a:srgbClr val="000080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ro-RO" altLang="ro-RO" sz="1400" b="1" dirty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</a:t>
            </a:r>
            <a:r>
              <a:rPr lang="en-US" altLang="ro-RO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400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</a:t>
            </a:r>
            <a:r>
              <a:rPr lang="en-US" altLang="ro-RO" sz="1400" b="1" dirty="0" err="1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altLang="ro-RO" sz="1400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toString</a:t>
            </a:r>
            <a:r>
              <a:rPr lang="en-US" altLang="ro-RO" sz="1400" b="1" dirty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());</a:t>
            </a:r>
            <a:endParaRPr lang="en-US" altLang="ro-RO" sz="1400" dirty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altLang="ro-RO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</a:t>
            </a:r>
            <a:r>
              <a:rPr lang="en-US" altLang="ro-RO" sz="1400" b="1" dirty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endParaRPr lang="en-US" altLang="ro-RO" sz="1400" dirty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altLang="ro-RO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</a:t>
            </a:r>
            <a:r>
              <a:rPr lang="en-US" altLang="ro-RO" sz="1400" b="1" dirty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endParaRPr lang="en-US" altLang="ro-RO" sz="1400" dirty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altLang="ro-RO" sz="14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</a:t>
            </a:r>
            <a:endParaRPr lang="en-US" altLang="ro-RO" sz="1400" dirty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altLang="ro-RO" sz="1400" b="1" dirty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endParaRPr lang="en-US" altLang="ro-RO" sz="1400" dirty="0"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>
          <a:xfrm>
            <a:off x="504825" y="198438"/>
            <a:ext cx="9072563" cy="1512887"/>
          </a:xfrm>
        </p:spPr>
        <p:txBody>
          <a:bodyPr/>
          <a:lstStyle/>
          <a:p>
            <a:r>
              <a:rPr lang="ro-RO" altLang="ro-RO" sz="2000" smtClean="0"/>
              <a:t>Exemplul 5.</a:t>
            </a:r>
            <a:br>
              <a:rPr lang="ro-RO" altLang="ro-RO" sz="2000" smtClean="0"/>
            </a:br>
            <a:r>
              <a:rPr lang="ro-RO" altLang="ro-RO" sz="2000" smtClean="0"/>
              <a:t>Program care citeşte un fişier de date ce conţine primele 1000 numere prime</a:t>
            </a:r>
            <a:endParaRPr lang="en-US" altLang="ro-RO" sz="2000" smtClean="0"/>
          </a:p>
        </p:txBody>
      </p:sp>
      <p:sp>
        <p:nvSpPr>
          <p:cNvPr id="37891" name="Rectangle 1"/>
          <p:cNvSpPr>
            <a:spLocks noGrp="1" noChangeArrowheads="1"/>
          </p:cNvSpPr>
          <p:nvPr>
            <p:ph idx="1"/>
          </p:nvPr>
        </p:nvSpPr>
        <p:spPr>
          <a:xfrm>
            <a:off x="504825" y="1447800"/>
            <a:ext cx="7467600" cy="5756275"/>
          </a:xfrm>
        </p:spPr>
        <p:txBody>
          <a:bodyPr wrap="none" lIns="91440" tIns="45720" rIns="91440" bIns="45720" anchor="ctr">
            <a:spAutoFit/>
          </a:bodyPr>
          <a:lstStyle/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600" b="1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import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java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io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.*;</a:t>
            </a:r>
            <a:endParaRPr lang="en-US" altLang="ro-RO" sz="16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600" smtClean="0">
                <a:solidFill>
                  <a:srgbClr val="8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class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CitestePrime 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en-US" altLang="ro-RO" sz="16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</a:t>
            </a:r>
            <a:r>
              <a:rPr lang="en-US" altLang="ro-RO" sz="1600" smtClean="0">
                <a:solidFill>
                  <a:srgbClr val="8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public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600" smtClean="0">
                <a:solidFill>
                  <a:srgbClr val="8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static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600" smtClean="0">
                <a:solidFill>
                  <a:srgbClr val="8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void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main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String arg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[])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en-US" altLang="ro-RO" sz="16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</a:t>
            </a:r>
            <a:r>
              <a:rPr lang="en-US" altLang="ro-RO" sz="1600" b="1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try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en-US" altLang="ro-RO" sz="16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FileInputStream file 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600" b="1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new</a:t>
            </a:r>
            <a:endParaRPr lang="en-US" altLang="ro-RO" sz="16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FileInputStream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altLang="ro-RO" sz="1600" smtClean="0">
                <a:solidFill>
                  <a:srgbClr val="808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"Nrprime.dat"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  <a:endParaRPr lang="en-US" altLang="ro-RO" sz="16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BufferedInputStream buff 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600" b="1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new</a:t>
            </a:r>
            <a:endParaRPr lang="en-US" altLang="ro-RO" sz="16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BufferedInputStream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file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  <a:endParaRPr lang="en-US" altLang="ro-RO" sz="16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DataInputStream data 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600" b="1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new</a:t>
            </a:r>
            <a:endParaRPr lang="en-US" altLang="ro-RO" sz="16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DataInputStream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buff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  <a:endParaRPr lang="en-US" altLang="ro-RO" sz="16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</a:t>
            </a:r>
            <a:r>
              <a:rPr lang="en-US" altLang="ro-RO" sz="1600" b="1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try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en-US" altLang="ro-RO" sz="16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</a:t>
            </a:r>
            <a:r>
              <a:rPr lang="en-US" altLang="ro-RO" sz="1600" b="1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while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altLang="ro-RO" sz="1600" b="1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true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en-US" altLang="ro-RO" sz="16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</a:t>
            </a:r>
            <a:r>
              <a:rPr lang="en-US" altLang="ro-RO" sz="1600" smtClean="0">
                <a:solidFill>
                  <a:srgbClr val="8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int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 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data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readInt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();</a:t>
            </a:r>
            <a:endParaRPr lang="en-US" altLang="ro-RO" sz="16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System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out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print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 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+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600" smtClean="0">
                <a:solidFill>
                  <a:srgbClr val="808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" "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  <a:endParaRPr lang="en-US" altLang="ro-RO" sz="16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endParaRPr lang="en-US" altLang="ro-RO" sz="16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600" b="1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catch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EOFException eof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en-US" altLang="ro-RO" sz="16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buff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close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();</a:t>
            </a:r>
            <a:endParaRPr lang="en-US" altLang="ro-RO" sz="16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endParaRPr lang="en-US" altLang="ro-RO" sz="16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600" b="1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catch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IOException e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en-US" altLang="ro-RO" sz="16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System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out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println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altLang="ro-RO" sz="1600" smtClean="0">
                <a:solidFill>
                  <a:srgbClr val="808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"Error -- "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+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e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toString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());</a:t>
            </a:r>
            <a:endParaRPr lang="en-US" altLang="ro-RO" sz="16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endParaRPr lang="en-US" altLang="ro-RO" sz="16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endParaRPr lang="en-US" altLang="ro-RO" sz="16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endParaRPr lang="en-US" altLang="ro-RO" sz="1600" smtClean="0"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altLang="ro-RO" sz="2000" smtClean="0"/>
              <a:t>Exemplul 6.</a:t>
            </a:r>
            <a:br>
              <a:rPr lang="ro-RO" altLang="ro-RO" sz="2000" smtClean="0"/>
            </a:br>
            <a:r>
              <a:rPr lang="ro-RO" altLang="ro-RO" sz="2000" smtClean="0"/>
              <a:t>Program care citeşte un fişier text şi îi afişează conţinutul pe ecran. Fişierul text este chiar sursa programului în Java.</a:t>
            </a:r>
            <a:endParaRPr lang="en-US" altLang="ro-RO" sz="2000" smtClean="0"/>
          </a:p>
        </p:txBody>
      </p:sp>
      <p:sp>
        <p:nvSpPr>
          <p:cNvPr id="38915" name="Rectangle 1"/>
          <p:cNvSpPr>
            <a:spLocks noGrp="1" noChangeArrowheads="1"/>
          </p:cNvSpPr>
          <p:nvPr>
            <p:ph idx="1"/>
          </p:nvPr>
        </p:nvSpPr>
        <p:spPr>
          <a:xfrm>
            <a:off x="504825" y="1928813"/>
            <a:ext cx="7467600" cy="5508625"/>
          </a:xfrm>
        </p:spPr>
        <p:txBody>
          <a:bodyPr wrap="none" lIns="91440" tIns="45720" rIns="91440" bIns="45720" anchor="ctr">
            <a:spAutoFit/>
          </a:bodyPr>
          <a:lstStyle/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600" b="1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import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java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io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.*;</a:t>
            </a:r>
            <a:endParaRPr lang="en-US" altLang="ro-RO" sz="16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600" smtClean="0">
                <a:solidFill>
                  <a:srgbClr val="8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public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600" smtClean="0">
                <a:solidFill>
                  <a:srgbClr val="8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class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CitesteSursa 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en-US" altLang="ro-RO" sz="16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</a:t>
            </a:r>
            <a:r>
              <a:rPr lang="en-US" altLang="ro-RO" sz="1600" smtClean="0">
                <a:solidFill>
                  <a:srgbClr val="8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public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600" smtClean="0">
                <a:solidFill>
                  <a:srgbClr val="8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static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600" smtClean="0">
                <a:solidFill>
                  <a:srgbClr val="8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void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main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String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[]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arg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en-US" altLang="ro-RO" sz="16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</a:t>
            </a:r>
            <a:r>
              <a:rPr lang="en-US" altLang="ro-RO" sz="1600" b="1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try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en-US" altLang="ro-RO" sz="16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FileReader file 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600" b="1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new</a:t>
            </a:r>
            <a:endParaRPr lang="en-US" altLang="ro-RO" sz="16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FileReader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altLang="ro-RO" sz="1600" smtClean="0">
                <a:solidFill>
                  <a:srgbClr val="808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“</a:t>
            </a:r>
            <a:r>
              <a:rPr lang="ro-RO" altLang="ro-RO" sz="1600" smtClean="0">
                <a:solidFill>
                  <a:srgbClr val="808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CitesteSursa</a:t>
            </a:r>
            <a:r>
              <a:rPr lang="en-US" altLang="ro-RO" sz="1600" smtClean="0">
                <a:solidFill>
                  <a:srgbClr val="808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ro-RO" altLang="ro-RO" sz="1600" smtClean="0">
                <a:solidFill>
                  <a:srgbClr val="808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java</a:t>
            </a:r>
            <a:r>
              <a:rPr lang="en-US" altLang="ro-RO" sz="1600" smtClean="0">
                <a:solidFill>
                  <a:srgbClr val="808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"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  <a:endParaRPr lang="en-US" altLang="ro-RO" sz="16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BufferedReader buff 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600" b="1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new</a:t>
            </a:r>
            <a:endParaRPr lang="en-US" altLang="ro-RO" sz="16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BufferedReader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file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  <a:endParaRPr lang="en-US" altLang="ro-RO" sz="16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</a:t>
            </a:r>
            <a:r>
              <a:rPr lang="en-US" altLang="ro-RO" sz="1600" smtClean="0">
                <a:solidFill>
                  <a:srgbClr val="8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boolean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eof 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600" b="1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false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endParaRPr lang="en-US" altLang="ro-RO" sz="16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</a:t>
            </a:r>
            <a:r>
              <a:rPr lang="en-US" altLang="ro-RO" sz="1600" b="1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while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(!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eof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en-US" altLang="ro-RO" sz="16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String line 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buff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readLine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();</a:t>
            </a:r>
            <a:endParaRPr lang="en-US" altLang="ro-RO" sz="16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</a:t>
            </a:r>
            <a:r>
              <a:rPr lang="en-US" altLang="ro-RO" sz="1600" b="1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line 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==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600" b="1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null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  <a:endParaRPr lang="en-US" altLang="ro-RO" sz="16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eof 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600" b="1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true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endParaRPr lang="en-US" altLang="ro-RO" sz="16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</a:t>
            </a:r>
            <a:r>
              <a:rPr lang="en-US" altLang="ro-RO" sz="1600" b="1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else</a:t>
            </a:r>
            <a:endParaRPr lang="en-US" altLang="ro-RO" sz="16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System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out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println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line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  <a:endParaRPr lang="en-US" altLang="ro-RO" sz="16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endParaRPr lang="en-US" altLang="ro-RO" sz="16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buff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close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();</a:t>
            </a:r>
            <a:endParaRPr lang="en-US" altLang="ro-RO" sz="16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600" b="1" smtClean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catch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IOException e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en-US" altLang="ro-RO" sz="16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System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out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println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altLang="ro-RO" sz="1600" smtClean="0">
                <a:solidFill>
                  <a:srgbClr val="808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"Error -- "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+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e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toString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());</a:t>
            </a:r>
            <a:endParaRPr lang="en-US" altLang="ro-RO" sz="16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endParaRPr lang="en-US" altLang="ro-RO" sz="16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600" smtClean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</a:t>
            </a: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endParaRPr lang="en-US" altLang="ro-RO" sz="1600" smtClean="0"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9144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o-RO" sz="1600" b="1" smtClean="0">
                <a:solidFill>
                  <a:srgbClr val="00008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endParaRPr lang="en-US" altLang="ro-RO" sz="1600" smtClean="0"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14937</TotalTime>
  <Words>2645</Words>
  <Application>Microsoft Office PowerPoint</Application>
  <PresentationFormat>Custom</PresentationFormat>
  <Paragraphs>400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Arial</vt:lpstr>
      <vt:lpstr>Arial Black</vt:lpstr>
      <vt:lpstr>Arial Narrow</vt:lpstr>
      <vt:lpstr>Calibri</vt:lpstr>
      <vt:lpstr>Courier New</vt:lpstr>
      <vt:lpstr>StarSymbol</vt:lpstr>
      <vt:lpstr>Times New Roman</vt:lpstr>
      <vt:lpstr>Wingdings</vt:lpstr>
      <vt:lpstr>Pixel</vt:lpstr>
      <vt:lpstr>Operatii cu fisiere</vt:lpstr>
      <vt:lpstr>Operatii cu fisiere</vt:lpstr>
      <vt:lpstr>Operatii cu fisiere</vt:lpstr>
      <vt:lpstr>Operatii cu fisiere</vt:lpstr>
      <vt:lpstr>Operatii cu fisiere</vt:lpstr>
      <vt:lpstr>Operatii cu fisiere</vt:lpstr>
      <vt:lpstr>Operatii cu fisiere</vt:lpstr>
      <vt:lpstr>Fisiere : Cuprins</vt:lpstr>
      <vt:lpstr>Acces aleator</vt:lpstr>
      <vt:lpstr>Acces aleator</vt:lpstr>
      <vt:lpstr>Acces aleator</vt:lpstr>
      <vt:lpstr>Acces aleator</vt:lpstr>
      <vt:lpstr>Fisiere : Cuprins</vt:lpstr>
      <vt:lpstr>Fluxuri de date</vt:lpstr>
      <vt:lpstr>Fluxuri de date</vt:lpstr>
      <vt:lpstr>Fluxuri de date</vt:lpstr>
      <vt:lpstr>Clasificarea fluxurilor</vt:lpstr>
      <vt:lpstr>PowerPoint Presentation</vt:lpstr>
      <vt:lpstr>Ierarhia fluxurilor de octeti</vt:lpstr>
      <vt:lpstr>Ierarhia fluxurilor de caractere</vt:lpstr>
      <vt:lpstr>Metode comune fluxurilor </vt:lpstr>
      <vt:lpstr>Fluxuri de date</vt:lpstr>
      <vt:lpstr>Fluxuri de date</vt:lpstr>
      <vt:lpstr>Fluxuri de date</vt:lpstr>
      <vt:lpstr>Fluxuri de date</vt:lpstr>
      <vt:lpstr>Fluxuri pentru citirea/scrierea efectiva a datelor </vt:lpstr>
      <vt:lpstr>Fluxuri pentru procesarea datelor </vt:lpstr>
      <vt:lpstr>Fluxuri pentru procesarea datelor</vt:lpstr>
      <vt:lpstr>Exemplul 1</vt:lpstr>
      <vt:lpstr>Exemplul 2 Program care creează un fişier binar prin scrierea unui vector de octeţi</vt:lpstr>
      <vt:lpstr>Exemplul 3. Program care citeşte un fişier binar şi afişează pe ecran conţinutul acestuia (octeţii)</vt:lpstr>
      <vt:lpstr>Exemplul 4.  Program care scrie într-un fişier de date primele 1000 numere prime din şirul numerelor naturale </vt:lpstr>
      <vt:lpstr>Exemplul 5. Program care citeşte un fişier de date ce conţine primele 1000 numere prime</vt:lpstr>
      <vt:lpstr>Exemplul 6. Program care citeşte un fişier text şi îi afişează conţinutul pe ecran. Fişierul text este chiar sursa programului în Java.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</dc:title>
  <dc:creator>Admin</dc:creator>
  <cp:lastModifiedBy>Manuela Panoiu</cp:lastModifiedBy>
  <cp:revision>447</cp:revision>
  <dcterms:modified xsi:type="dcterms:W3CDTF">2020-11-08T07:37:39Z</dcterms:modified>
</cp:coreProperties>
</file>