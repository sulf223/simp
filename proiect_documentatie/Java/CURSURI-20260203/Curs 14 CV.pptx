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CC374D9-8446-463F-AFC0-C64F95C748D4}" type="datetimeFigureOut">
              <a:rPr lang="ro-RO" smtClean="0"/>
              <a:t>28.11.2020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CD535F2-BDDF-4EBB-BBC7-A9ADBF27DD2C}" type="slidenum">
              <a:rPr lang="ro-RO" smtClean="0"/>
              <a:t>‹#›</a:t>
            </a:fld>
            <a:endParaRPr lang="ro-RO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2022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74D9-8446-463F-AFC0-C64F95C748D4}" type="datetimeFigureOut">
              <a:rPr lang="ro-RO" smtClean="0"/>
              <a:t>28.11.2020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35F2-BDDF-4EBB-BBC7-A9ADBF27DD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96435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74D9-8446-463F-AFC0-C64F95C748D4}" type="datetimeFigureOut">
              <a:rPr lang="ro-RO" smtClean="0"/>
              <a:t>28.11.2020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35F2-BDDF-4EBB-BBC7-A9ADBF27DD2C}" type="slidenum">
              <a:rPr lang="ro-RO" smtClean="0"/>
              <a:t>‹#›</a:t>
            </a:fld>
            <a:endParaRPr lang="ro-RO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99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74D9-8446-463F-AFC0-C64F95C748D4}" type="datetimeFigureOut">
              <a:rPr lang="ro-RO" smtClean="0"/>
              <a:t>28.11.2020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35F2-BDDF-4EBB-BBC7-A9ADBF27DD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22642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74D9-8446-463F-AFC0-C64F95C748D4}" type="datetimeFigureOut">
              <a:rPr lang="ro-RO" smtClean="0"/>
              <a:t>28.11.2020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35F2-BDDF-4EBB-BBC7-A9ADBF27DD2C}" type="slidenum">
              <a:rPr lang="ro-RO" smtClean="0"/>
              <a:t>‹#›</a:t>
            </a:fld>
            <a:endParaRPr lang="ro-RO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004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74D9-8446-463F-AFC0-C64F95C748D4}" type="datetimeFigureOut">
              <a:rPr lang="ro-RO" smtClean="0"/>
              <a:t>28.11.2020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35F2-BDDF-4EBB-BBC7-A9ADBF27DD2C}" type="slidenum">
              <a:rPr lang="ro-RO" smtClean="0"/>
              <a:t>‹#›</a:t>
            </a:fld>
            <a:endParaRPr lang="ro-RO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820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74D9-8446-463F-AFC0-C64F95C748D4}" type="datetimeFigureOut">
              <a:rPr lang="ro-RO" smtClean="0"/>
              <a:t>28.11.2020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35F2-BDDF-4EBB-BBC7-A9ADBF27DD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53033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74D9-8446-463F-AFC0-C64F95C748D4}" type="datetimeFigureOut">
              <a:rPr lang="ro-RO" smtClean="0"/>
              <a:t>28.11.2020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35F2-BDDF-4EBB-BBC7-A9ADBF27DD2C}" type="slidenum">
              <a:rPr lang="ro-RO" smtClean="0"/>
              <a:t>‹#›</a:t>
            </a:fld>
            <a:endParaRPr lang="ro-RO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375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74D9-8446-463F-AFC0-C64F95C748D4}" type="datetimeFigureOut">
              <a:rPr lang="ro-RO" smtClean="0"/>
              <a:t>28.11.2020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35F2-BDDF-4EBB-BBC7-A9ADBF27DD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93699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74D9-8446-463F-AFC0-C64F95C748D4}" type="datetimeFigureOut">
              <a:rPr lang="ro-RO" smtClean="0"/>
              <a:t>28.11.2020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35F2-BDDF-4EBB-BBC7-A9ADBF27DD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30875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74D9-8446-463F-AFC0-C64F95C748D4}" type="datetimeFigureOut">
              <a:rPr lang="ro-RO" smtClean="0"/>
              <a:t>28.11.2020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35F2-BDDF-4EBB-BBC7-A9ADBF27DD2C}" type="slidenum">
              <a:rPr lang="ro-RO" smtClean="0"/>
              <a:t>‹#›</a:t>
            </a:fld>
            <a:endParaRPr lang="ro-RO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057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74D9-8446-463F-AFC0-C64F95C748D4}" type="datetimeFigureOut">
              <a:rPr lang="ro-RO" smtClean="0"/>
              <a:t>28.11.2020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35F2-BDDF-4EBB-BBC7-A9ADBF27DD2C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07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74D9-8446-463F-AFC0-C64F95C748D4}" type="datetimeFigureOut">
              <a:rPr lang="ro-RO" smtClean="0"/>
              <a:t>28.11.2020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35F2-BDDF-4EBB-BBC7-A9ADBF27DD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47002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74D9-8446-463F-AFC0-C64F95C748D4}" type="datetimeFigureOut">
              <a:rPr lang="ro-RO" smtClean="0"/>
              <a:t>28.11.2020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35F2-BDDF-4EBB-BBC7-A9ADBF27DD2C}" type="slidenum">
              <a:rPr lang="ro-RO" smtClean="0"/>
              <a:t>‹#›</a:t>
            </a:fld>
            <a:endParaRPr lang="ro-RO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228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74D9-8446-463F-AFC0-C64F95C748D4}" type="datetimeFigureOut">
              <a:rPr lang="ro-RO" smtClean="0"/>
              <a:t>28.11.2020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35F2-BDDF-4EBB-BBC7-A9ADBF27DD2C}" type="slidenum">
              <a:rPr lang="ro-RO" smtClean="0"/>
              <a:t>‹#›</a:t>
            </a:fld>
            <a:endParaRPr lang="ro-RO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1752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74D9-8446-463F-AFC0-C64F95C748D4}" type="datetimeFigureOut">
              <a:rPr lang="ro-RO" smtClean="0"/>
              <a:t>28.11.2020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35F2-BDDF-4EBB-BBC7-A9ADBF27DD2C}" type="slidenum">
              <a:rPr lang="ro-RO" smtClean="0"/>
              <a:t>‹#›</a:t>
            </a:fld>
            <a:endParaRPr lang="ro-RO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2440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74D9-8446-463F-AFC0-C64F95C748D4}" type="datetimeFigureOut">
              <a:rPr lang="ro-RO" smtClean="0"/>
              <a:t>28.11.2020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535F2-BDDF-4EBB-BBC7-A9ADBF27DD2C}" type="slidenum">
              <a:rPr lang="ro-RO" smtClean="0"/>
              <a:t>‹#›</a:t>
            </a:fld>
            <a:endParaRPr lang="ro-RO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948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CC374D9-8446-463F-AFC0-C64F95C748D4}" type="datetimeFigureOut">
              <a:rPr lang="ro-RO" smtClean="0"/>
              <a:t>28.11.2020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CD535F2-BDDF-4EBB-BBC7-A9ADBF27DD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00187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Comunicarea prin </a:t>
            </a:r>
            <a:r>
              <a:rPr lang="ro-RO" b="1" dirty="0" smtClean="0"/>
              <a:t>Internet</a:t>
            </a:r>
            <a:endParaRPr lang="ro-RO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Biblioteca</a:t>
            </a:r>
            <a:r>
              <a:rPr lang="en-US" dirty="0"/>
              <a:t> de </a:t>
            </a:r>
            <a:r>
              <a:rPr lang="en-US" dirty="0" err="1"/>
              <a:t>clase</a:t>
            </a:r>
            <a:r>
              <a:rPr lang="en-US" dirty="0"/>
              <a:t> Java </a:t>
            </a:r>
            <a:r>
              <a:rPr lang="en-US" dirty="0" err="1"/>
              <a:t>conţine</a:t>
            </a:r>
            <a:r>
              <a:rPr lang="en-US" dirty="0"/>
              <a:t> </a:t>
            </a:r>
            <a:r>
              <a:rPr lang="en-US" dirty="0" err="1"/>
              <a:t>pachetul</a:t>
            </a:r>
            <a:r>
              <a:rPr lang="en-US" dirty="0"/>
              <a:t> </a:t>
            </a:r>
            <a:r>
              <a:rPr lang="en-US" b="1" dirty="0"/>
              <a:t>java.net</a:t>
            </a:r>
            <a:r>
              <a:rPr lang="en-US" dirty="0"/>
              <a:t>, care face </a:t>
            </a:r>
            <a:r>
              <a:rPr lang="en-US" dirty="0" err="1"/>
              <a:t>posibilă</a:t>
            </a:r>
            <a:r>
              <a:rPr lang="en-US" dirty="0"/>
              <a:t> </a:t>
            </a:r>
            <a:r>
              <a:rPr lang="en-US" dirty="0" err="1"/>
              <a:t>comunicarea</a:t>
            </a:r>
            <a:r>
              <a:rPr lang="en-US" dirty="0"/>
              <a:t> cu </a:t>
            </a:r>
            <a:r>
              <a:rPr lang="en-US" dirty="0" err="1"/>
              <a:t>programele</a:t>
            </a:r>
            <a:r>
              <a:rPr lang="en-US" dirty="0"/>
              <a:t> Java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reţelelor</a:t>
            </a:r>
            <a:r>
              <a:rPr lang="en-US" dirty="0"/>
              <a:t>. </a:t>
            </a:r>
            <a:r>
              <a:rPr lang="en-US" dirty="0" err="1"/>
              <a:t>Pachetul</a:t>
            </a:r>
            <a:r>
              <a:rPr lang="en-US" dirty="0"/>
              <a:t>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funcţii</a:t>
            </a:r>
            <a:r>
              <a:rPr lang="en-US" dirty="0"/>
              <a:t> </a:t>
            </a:r>
            <a:r>
              <a:rPr lang="en-US" dirty="0" err="1"/>
              <a:t>abstracte</a:t>
            </a:r>
            <a:r>
              <a:rPr lang="en-US" dirty="0"/>
              <a:t> inter-</a:t>
            </a:r>
            <a:r>
              <a:rPr lang="en-US" dirty="0" err="1"/>
              <a:t>platformă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operaţiile</a:t>
            </a:r>
            <a:r>
              <a:rPr lang="en-US" dirty="0"/>
              <a:t> de </a:t>
            </a:r>
            <a:r>
              <a:rPr lang="en-US" dirty="0" err="1"/>
              <a:t>reţea</a:t>
            </a:r>
            <a:r>
              <a:rPr lang="en-US" dirty="0"/>
              <a:t> simple, cum </a:t>
            </a:r>
            <a:r>
              <a:rPr lang="en-US" dirty="0" err="1"/>
              <a:t>ar</a:t>
            </a:r>
            <a:r>
              <a:rPr lang="en-US" dirty="0"/>
              <a:t> fi </a:t>
            </a:r>
            <a:r>
              <a:rPr lang="en-US" dirty="0" err="1"/>
              <a:t>conectarea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transferul</a:t>
            </a:r>
            <a:r>
              <a:rPr lang="en-US" dirty="0"/>
              <a:t> de </a:t>
            </a:r>
            <a:r>
              <a:rPr lang="en-US" dirty="0" err="1"/>
              <a:t>fişiere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protocoale</a:t>
            </a:r>
            <a:r>
              <a:rPr lang="en-US" dirty="0"/>
              <a:t> Web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crearea</a:t>
            </a:r>
            <a:r>
              <a:rPr lang="en-US" dirty="0"/>
              <a:t> de </a:t>
            </a:r>
            <a:r>
              <a:rPr lang="en-US" dirty="0" err="1"/>
              <a:t>socluri</a:t>
            </a:r>
            <a:r>
              <a:rPr lang="en-US" dirty="0"/>
              <a:t> (sockets) </a:t>
            </a:r>
            <a:r>
              <a:rPr lang="en-US" dirty="0" err="1"/>
              <a:t>specifice</a:t>
            </a:r>
            <a:r>
              <a:rPr lang="en-US" dirty="0"/>
              <a:t> UNIX.</a:t>
            </a:r>
            <a:endParaRPr lang="ro-RO" dirty="0"/>
          </a:p>
          <a:p>
            <a:r>
              <a:rPr lang="en-US" dirty="0" err="1"/>
              <a:t>Folosite</a:t>
            </a:r>
            <a:r>
              <a:rPr lang="en-US" dirty="0"/>
              <a:t> </a:t>
            </a:r>
            <a:r>
              <a:rPr lang="en-US" dirty="0" err="1"/>
              <a:t>împreună</a:t>
            </a:r>
            <a:r>
              <a:rPr lang="en-US" dirty="0"/>
              <a:t> cu </a:t>
            </a:r>
            <a:r>
              <a:rPr lang="en-US" dirty="0" err="1"/>
              <a:t>fluxurile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de </a:t>
            </a:r>
            <a:r>
              <a:rPr lang="en-US" dirty="0" err="1"/>
              <a:t>ieşire</a:t>
            </a:r>
            <a:r>
              <a:rPr lang="en-US" dirty="0"/>
              <a:t>, </a:t>
            </a:r>
            <a:r>
              <a:rPr lang="en-US" dirty="0" err="1"/>
              <a:t>citirea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scrierea</a:t>
            </a:r>
            <a:r>
              <a:rPr lang="en-US" dirty="0"/>
              <a:t> </a:t>
            </a:r>
            <a:r>
              <a:rPr lang="en-US" dirty="0" err="1"/>
              <a:t>fişierelor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reţea</a:t>
            </a:r>
            <a:r>
              <a:rPr lang="en-US" dirty="0"/>
              <a:t> </a:t>
            </a:r>
            <a:r>
              <a:rPr lang="en-US" dirty="0" err="1"/>
              <a:t>devin</a:t>
            </a:r>
            <a:r>
              <a:rPr lang="en-US" dirty="0"/>
              <a:t> la </a:t>
            </a:r>
            <a:r>
              <a:rPr lang="en-US" dirty="0" err="1"/>
              <a:t>fel</a:t>
            </a:r>
            <a:r>
              <a:rPr lang="en-US" dirty="0"/>
              <a:t> de simple ca </a:t>
            </a:r>
            <a:r>
              <a:rPr lang="en-US" dirty="0" err="1"/>
              <a:t>folosirea</a:t>
            </a:r>
            <a:r>
              <a:rPr lang="en-US" dirty="0"/>
              <a:t> </a:t>
            </a:r>
            <a:r>
              <a:rPr lang="en-US" dirty="0" err="1"/>
              <a:t>fişierelor</a:t>
            </a:r>
            <a:r>
              <a:rPr lang="en-US" dirty="0"/>
              <a:t> de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discul</a:t>
            </a:r>
            <a:r>
              <a:rPr lang="en-US" dirty="0"/>
              <a:t> local.</a:t>
            </a:r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233975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 err="1"/>
              <a:t>Comunicaţia</a:t>
            </a:r>
            <a:r>
              <a:rPr lang="ro-RO" b="1" dirty="0"/>
              <a:t> prin </a:t>
            </a:r>
            <a:r>
              <a:rPr lang="ro-RO" b="1" dirty="0" err="1"/>
              <a:t>reţea</a:t>
            </a:r>
            <a:r>
              <a:rPr lang="ro-RO" b="1" dirty="0"/>
              <a:t> în </a:t>
            </a:r>
            <a:r>
              <a:rPr lang="ro-RO" b="1" dirty="0" smtClean="0"/>
              <a:t>Java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i="1" dirty="0" err="1"/>
              <a:t>Comunicaţia</a:t>
            </a:r>
            <a:r>
              <a:rPr lang="en-US" b="1" i="1" dirty="0"/>
              <a:t> </a:t>
            </a:r>
            <a:r>
              <a:rPr lang="en-US" b="1" i="1" dirty="0" err="1"/>
              <a:t>în</a:t>
            </a:r>
            <a:r>
              <a:rPr lang="en-US" b="1" i="1" dirty="0"/>
              <a:t> </a:t>
            </a:r>
            <a:r>
              <a:rPr lang="en-US" b="1" i="1" dirty="0" err="1"/>
              <a:t>reţea</a:t>
            </a:r>
            <a:r>
              <a:rPr lang="en-US" dirty="0"/>
              <a:t> (networking) </a:t>
            </a:r>
            <a:r>
              <a:rPr lang="en-US" dirty="0" err="1"/>
              <a:t>reprezintă</a:t>
            </a:r>
            <a:r>
              <a:rPr lang="en-US" dirty="0"/>
              <a:t> </a:t>
            </a:r>
            <a:r>
              <a:rPr lang="en-US" dirty="0" err="1"/>
              <a:t>capacitatea</a:t>
            </a:r>
            <a:r>
              <a:rPr lang="en-US" dirty="0"/>
              <a:t> </a:t>
            </a:r>
            <a:r>
              <a:rPr lang="en-US" dirty="0" err="1" smtClean="0"/>
              <a:t>unei</a:t>
            </a:r>
            <a:r>
              <a:rPr lang="en-US" dirty="0" smtClean="0"/>
              <a:t> </a:t>
            </a:r>
            <a:r>
              <a:rPr lang="en-US" dirty="0" err="1"/>
              <a:t>aplicaţii</a:t>
            </a:r>
            <a:r>
              <a:rPr lang="en-US" dirty="0"/>
              <a:t> de a </a:t>
            </a:r>
            <a:r>
              <a:rPr lang="en-US" dirty="0" err="1"/>
              <a:t>stabili</a:t>
            </a:r>
            <a:r>
              <a:rPr lang="en-US" dirty="0"/>
              <a:t> </a:t>
            </a:r>
            <a:r>
              <a:rPr lang="en-US" dirty="0" err="1"/>
              <a:t>conexiuni</a:t>
            </a:r>
            <a:r>
              <a:rPr lang="en-US" dirty="0"/>
              <a:t> cu un alt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reţelei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err="1" smtClean="0"/>
              <a:t>Comunicaţia</a:t>
            </a:r>
            <a:r>
              <a:rPr lang="en-US" dirty="0" smtClean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reţea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Java </a:t>
            </a:r>
            <a:r>
              <a:rPr lang="en-US" dirty="0" err="1"/>
              <a:t>presupune</a:t>
            </a:r>
            <a:r>
              <a:rPr lang="en-US" dirty="0"/>
              <a:t> </a:t>
            </a:r>
            <a:r>
              <a:rPr lang="en-US" dirty="0" err="1"/>
              <a:t>folosirea</a:t>
            </a:r>
            <a:r>
              <a:rPr lang="en-US" dirty="0"/>
              <a:t> </a:t>
            </a:r>
            <a:r>
              <a:rPr lang="en-US" dirty="0" err="1"/>
              <a:t>claselor</a:t>
            </a:r>
            <a:r>
              <a:rPr lang="en-US" dirty="0"/>
              <a:t> din </a:t>
            </a:r>
            <a:r>
              <a:rPr lang="en-US" dirty="0" err="1"/>
              <a:t>pachetul</a:t>
            </a:r>
            <a:r>
              <a:rPr lang="en-US" dirty="0"/>
              <a:t> </a:t>
            </a:r>
            <a:r>
              <a:rPr lang="en-US" b="1" dirty="0"/>
              <a:t>java.net</a:t>
            </a:r>
            <a:r>
              <a:rPr lang="en-US" dirty="0"/>
              <a:t>, care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funcţii</a:t>
            </a:r>
            <a:r>
              <a:rPr lang="en-US" dirty="0"/>
              <a:t> de </a:t>
            </a:r>
            <a:r>
              <a:rPr lang="en-US" dirty="0" err="1"/>
              <a:t>reţea</a:t>
            </a:r>
            <a:r>
              <a:rPr lang="en-US" dirty="0"/>
              <a:t> </a:t>
            </a:r>
            <a:r>
              <a:rPr lang="en-US" dirty="0" err="1"/>
              <a:t>abstracte</a:t>
            </a:r>
            <a:r>
              <a:rPr lang="en-US" dirty="0"/>
              <a:t>, multi-</a:t>
            </a:r>
            <a:r>
              <a:rPr lang="en-US" dirty="0" err="1"/>
              <a:t>platformă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principalele</a:t>
            </a:r>
            <a:r>
              <a:rPr lang="en-US" dirty="0"/>
              <a:t> </a:t>
            </a:r>
            <a:r>
              <a:rPr lang="en-US" dirty="0" err="1"/>
              <a:t>operaţii</a:t>
            </a:r>
            <a:r>
              <a:rPr lang="en-US" dirty="0"/>
              <a:t> de </a:t>
            </a:r>
            <a:r>
              <a:rPr lang="en-US" dirty="0" err="1"/>
              <a:t>lucru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reţea</a:t>
            </a:r>
            <a:r>
              <a:rPr lang="en-US" dirty="0"/>
              <a:t>, cum </a:t>
            </a:r>
            <a:r>
              <a:rPr lang="en-US" dirty="0" err="1"/>
              <a:t>ar</a:t>
            </a:r>
            <a:r>
              <a:rPr lang="en-US" dirty="0"/>
              <a:t> fi </a:t>
            </a:r>
            <a:r>
              <a:rPr lang="en-US" dirty="0" err="1"/>
              <a:t>conectarea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transferul</a:t>
            </a:r>
            <a:r>
              <a:rPr lang="en-US" dirty="0"/>
              <a:t> de </a:t>
            </a:r>
            <a:r>
              <a:rPr lang="en-US" dirty="0" err="1"/>
              <a:t>fişiere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protocoale</a:t>
            </a:r>
            <a:r>
              <a:rPr lang="en-US" dirty="0"/>
              <a:t> Web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crearea</a:t>
            </a:r>
            <a:r>
              <a:rPr lang="en-US" dirty="0"/>
              <a:t> de </a:t>
            </a:r>
            <a:r>
              <a:rPr lang="en-US" dirty="0" err="1"/>
              <a:t>socluri</a:t>
            </a:r>
            <a:r>
              <a:rPr lang="en-US" dirty="0"/>
              <a:t> (sockets) tip UNIX. </a:t>
            </a:r>
            <a:endParaRPr lang="en-US" dirty="0" smtClean="0"/>
          </a:p>
          <a:p>
            <a:r>
              <a:rPr lang="en-US" dirty="0" err="1" smtClean="0"/>
              <a:t>Folosite</a:t>
            </a:r>
            <a:r>
              <a:rPr lang="en-US" dirty="0" smtClean="0"/>
              <a:t> </a:t>
            </a:r>
            <a:r>
              <a:rPr lang="en-US" dirty="0" err="1"/>
              <a:t>împreună</a:t>
            </a:r>
            <a:r>
              <a:rPr lang="en-US" dirty="0"/>
              <a:t> cu </a:t>
            </a:r>
            <a:r>
              <a:rPr lang="en-US" dirty="0" err="1"/>
              <a:t>fluxurile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de </a:t>
            </a:r>
            <a:r>
              <a:rPr lang="en-US" dirty="0" err="1"/>
              <a:t>ieşire</a:t>
            </a:r>
            <a:r>
              <a:rPr lang="en-US" dirty="0"/>
              <a:t>, </a:t>
            </a:r>
            <a:r>
              <a:rPr lang="en-US" dirty="0" err="1"/>
              <a:t>operaţiile</a:t>
            </a:r>
            <a:r>
              <a:rPr lang="en-US" dirty="0"/>
              <a:t> de </a:t>
            </a:r>
            <a:r>
              <a:rPr lang="en-US" dirty="0" err="1"/>
              <a:t>citire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scriere</a:t>
            </a:r>
            <a:r>
              <a:rPr lang="en-US" dirty="0"/>
              <a:t> de </a:t>
            </a:r>
            <a:r>
              <a:rPr lang="en-US" dirty="0" err="1"/>
              <a:t>fişiere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reţea</a:t>
            </a:r>
            <a:r>
              <a:rPr lang="en-US" dirty="0"/>
              <a:t> </a:t>
            </a:r>
            <a:r>
              <a:rPr lang="en-US" dirty="0" err="1"/>
              <a:t>devin</a:t>
            </a:r>
            <a:r>
              <a:rPr lang="en-US" dirty="0"/>
              <a:t> la </a:t>
            </a:r>
            <a:r>
              <a:rPr lang="en-US" dirty="0" err="1"/>
              <a:t>fel</a:t>
            </a:r>
            <a:r>
              <a:rPr lang="en-US" dirty="0"/>
              <a:t> de simple ca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citirea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scrierea</a:t>
            </a:r>
            <a:r>
              <a:rPr lang="en-US" dirty="0"/>
              <a:t> </a:t>
            </a:r>
            <a:r>
              <a:rPr lang="en-US" dirty="0" err="1"/>
              <a:t>fişierelor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sistemul</a:t>
            </a:r>
            <a:r>
              <a:rPr lang="en-US" dirty="0"/>
              <a:t> local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două</a:t>
            </a:r>
            <a:r>
              <a:rPr lang="en-US" dirty="0" smtClean="0"/>
              <a:t> </a:t>
            </a:r>
            <a:r>
              <a:rPr lang="en-US" dirty="0" err="1" smtClean="0"/>
              <a:t>modalităţi</a:t>
            </a:r>
            <a:r>
              <a:rPr lang="en-US" dirty="0" smtClean="0"/>
              <a:t> simple de </a:t>
            </a:r>
            <a:r>
              <a:rPr lang="en-US" dirty="0" err="1" smtClean="0"/>
              <a:t>comunicare</a:t>
            </a:r>
            <a:r>
              <a:rPr lang="en-US" dirty="0" smtClean="0"/>
              <a:t> cu </a:t>
            </a:r>
            <a:r>
              <a:rPr lang="en-US" dirty="0" err="1" smtClean="0"/>
              <a:t>sistemele</a:t>
            </a:r>
            <a:r>
              <a:rPr lang="en-US" dirty="0" smtClean="0"/>
              <a:t> din Internet:</a:t>
            </a:r>
            <a:endParaRPr lang="ro-RO" dirty="0" smtClean="0"/>
          </a:p>
          <a:p>
            <a:pPr lvl="0"/>
            <a:r>
              <a:rPr lang="en-US" b="1" dirty="0" err="1" smtClean="0"/>
              <a:t>getInputStream</a:t>
            </a:r>
            <a:r>
              <a:rPr lang="en-US" b="1" dirty="0" smtClean="0"/>
              <a:t>()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o </a:t>
            </a:r>
            <a:r>
              <a:rPr lang="en-US" dirty="0" err="1" smtClean="0"/>
              <a:t>metodă</a:t>
            </a:r>
            <a:r>
              <a:rPr lang="en-US" dirty="0" smtClean="0"/>
              <a:t> care </a:t>
            </a:r>
            <a:r>
              <a:rPr lang="en-US" dirty="0" err="1" smtClean="0"/>
              <a:t>deschide</a:t>
            </a:r>
            <a:r>
              <a:rPr lang="en-US" dirty="0" smtClean="0"/>
              <a:t> o </a:t>
            </a:r>
            <a:r>
              <a:rPr lang="en-US" dirty="0" err="1" smtClean="0"/>
              <a:t>conexiune</a:t>
            </a:r>
            <a:r>
              <a:rPr lang="en-US" dirty="0" smtClean="0"/>
              <a:t> </a:t>
            </a:r>
            <a:r>
              <a:rPr lang="en-US" dirty="0" err="1" smtClean="0"/>
              <a:t>către</a:t>
            </a:r>
            <a:r>
              <a:rPr lang="en-US" dirty="0" smtClean="0"/>
              <a:t> o </a:t>
            </a:r>
            <a:r>
              <a:rPr lang="en-US" dirty="0" err="1" smtClean="0"/>
              <a:t>adresă</a:t>
            </a:r>
            <a:r>
              <a:rPr lang="en-US" dirty="0" smtClean="0"/>
              <a:t> URL </a:t>
            </a:r>
            <a:r>
              <a:rPr lang="en-US" dirty="0" err="1" smtClean="0"/>
              <a:t>şi</a:t>
            </a:r>
            <a:r>
              <a:rPr lang="en-US" dirty="0" smtClean="0"/>
              <a:t> </a:t>
            </a:r>
            <a:r>
              <a:rPr lang="en-US" dirty="0" err="1" smtClean="0"/>
              <a:t>vă</a:t>
            </a:r>
            <a:r>
              <a:rPr lang="en-US" dirty="0" smtClean="0"/>
              <a:t> </a:t>
            </a:r>
            <a:r>
              <a:rPr lang="en-US" dirty="0" err="1" smtClean="0"/>
              <a:t>permite</a:t>
            </a:r>
            <a:r>
              <a:rPr lang="en-US" dirty="0" smtClean="0"/>
              <a:t> </a:t>
            </a:r>
            <a:r>
              <a:rPr lang="en-US" dirty="0" err="1" smtClean="0"/>
              <a:t>să</a:t>
            </a:r>
            <a:r>
              <a:rPr lang="en-US" dirty="0" smtClean="0"/>
              <a:t> </a:t>
            </a:r>
            <a:r>
              <a:rPr lang="en-US" dirty="0" err="1" smtClean="0"/>
              <a:t>extrageţi</a:t>
            </a:r>
            <a:r>
              <a:rPr lang="en-US" dirty="0" smtClean="0"/>
              <a:t> date din </a:t>
            </a:r>
            <a:r>
              <a:rPr lang="en-US" dirty="0" err="1" smtClean="0"/>
              <a:t>acea</a:t>
            </a:r>
            <a:r>
              <a:rPr lang="en-US" dirty="0" smtClean="0"/>
              <a:t> </a:t>
            </a:r>
            <a:r>
              <a:rPr lang="en-US" dirty="0" err="1" smtClean="0"/>
              <a:t>conexiune</a:t>
            </a:r>
            <a:endParaRPr lang="ro-RO" dirty="0" smtClean="0"/>
          </a:p>
          <a:p>
            <a:pPr lvl="0"/>
            <a:r>
              <a:rPr lang="en-US" dirty="0" err="1" smtClean="0"/>
              <a:t>Clasele</a:t>
            </a:r>
            <a:r>
              <a:rPr lang="en-US" dirty="0" smtClean="0"/>
              <a:t> </a:t>
            </a:r>
            <a:r>
              <a:rPr lang="en-US" dirty="0" err="1" smtClean="0"/>
              <a:t>soclu</a:t>
            </a:r>
            <a:r>
              <a:rPr lang="en-US" dirty="0" smtClean="0"/>
              <a:t>, </a:t>
            </a:r>
            <a:r>
              <a:rPr lang="en-US" b="1" dirty="0" smtClean="0"/>
              <a:t>Socket</a:t>
            </a:r>
            <a:r>
              <a:rPr lang="en-US" dirty="0" smtClean="0"/>
              <a:t> </a:t>
            </a:r>
            <a:r>
              <a:rPr lang="en-US" dirty="0" err="1" smtClean="0"/>
              <a:t>şi</a:t>
            </a:r>
            <a:r>
              <a:rPr lang="en-US" dirty="0" smtClean="0"/>
              <a:t> </a:t>
            </a:r>
            <a:r>
              <a:rPr lang="en-US" b="1" dirty="0" err="1" smtClean="0"/>
              <a:t>ServerSocket</a:t>
            </a:r>
            <a:r>
              <a:rPr lang="en-US" dirty="0" smtClean="0"/>
              <a:t>, permit </a:t>
            </a:r>
            <a:r>
              <a:rPr lang="en-US" dirty="0" err="1" smtClean="0"/>
              <a:t>deschiderea</a:t>
            </a:r>
            <a:r>
              <a:rPr lang="en-US" dirty="0" smtClean="0"/>
              <a:t> </a:t>
            </a:r>
            <a:r>
              <a:rPr lang="en-US" dirty="0" err="1" smtClean="0"/>
              <a:t>unei</a:t>
            </a:r>
            <a:r>
              <a:rPr lang="en-US" dirty="0" smtClean="0"/>
              <a:t> </a:t>
            </a:r>
            <a:r>
              <a:rPr lang="en-US" dirty="0" err="1" smtClean="0"/>
              <a:t>conexiuni</a:t>
            </a:r>
            <a:r>
              <a:rPr lang="en-US" dirty="0" smtClean="0"/>
              <a:t> standard care </a:t>
            </a:r>
            <a:r>
              <a:rPr lang="en-US" dirty="0" err="1" smtClean="0"/>
              <a:t>foloseşte</a:t>
            </a:r>
            <a:r>
              <a:rPr lang="en-US" dirty="0" smtClean="0"/>
              <a:t> </a:t>
            </a:r>
            <a:r>
              <a:rPr lang="en-US" dirty="0" err="1" smtClean="0"/>
              <a:t>socluri</a:t>
            </a:r>
            <a:r>
              <a:rPr lang="en-US" dirty="0" smtClean="0"/>
              <a:t>, </a:t>
            </a:r>
            <a:r>
              <a:rPr lang="en-US" dirty="0" err="1" smtClean="0"/>
              <a:t>conexiune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care se pot </a:t>
            </a:r>
            <a:r>
              <a:rPr lang="en-US" dirty="0" err="1" smtClean="0"/>
              <a:t>citi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scrie</a:t>
            </a:r>
            <a:r>
              <a:rPr lang="en-US" dirty="0" smtClean="0"/>
              <a:t> date.</a:t>
            </a:r>
            <a:endParaRPr lang="ro-RO" dirty="0" smtClean="0"/>
          </a:p>
          <a:p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06419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b="1" dirty="0"/>
              <a:t>Deschiderea de conexiuni </a:t>
            </a:r>
            <a:r>
              <a:rPr lang="ro-RO" b="1" dirty="0" smtClean="0"/>
              <a:t>Web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368" y="2425124"/>
            <a:ext cx="11063416" cy="3318936"/>
          </a:xfrm>
        </p:spPr>
        <p:txBody>
          <a:bodyPr>
            <a:noAutofit/>
          </a:bodyPr>
          <a:lstStyle/>
          <a:p>
            <a:r>
              <a:rPr lang="ro-RO" sz="1600" b="1" dirty="0"/>
              <a:t>Deschiderea unui flux în </a:t>
            </a:r>
            <a:r>
              <a:rPr lang="ro-RO" sz="1600" b="1" dirty="0" err="1"/>
              <a:t>reţea</a:t>
            </a:r>
            <a:endParaRPr lang="ro-RO" sz="1600" b="1" dirty="0"/>
          </a:p>
          <a:p>
            <a:r>
              <a:rPr lang="en-US" sz="1600" dirty="0" err="1"/>
              <a:t>Există</a:t>
            </a:r>
            <a:r>
              <a:rPr lang="en-US" sz="1600" dirty="0"/>
              <a:t> </a:t>
            </a:r>
            <a:r>
              <a:rPr lang="en-US" sz="1600" dirty="0" err="1"/>
              <a:t>mai</a:t>
            </a:r>
            <a:r>
              <a:rPr lang="en-US" sz="1600" dirty="0"/>
              <a:t> </a:t>
            </a:r>
            <a:r>
              <a:rPr lang="en-US" sz="1600" dirty="0" err="1"/>
              <a:t>multe</a:t>
            </a:r>
            <a:r>
              <a:rPr lang="en-US" sz="1600" dirty="0"/>
              <a:t> </a:t>
            </a:r>
            <a:r>
              <a:rPr lang="en-US" sz="1600" dirty="0" err="1"/>
              <a:t>modalităţi</a:t>
            </a:r>
            <a:r>
              <a:rPr lang="en-US" sz="1600" dirty="0"/>
              <a:t> de </a:t>
            </a:r>
            <a:r>
              <a:rPr lang="en-US" sz="1600" dirty="0" err="1"/>
              <a:t>transferare</a:t>
            </a:r>
            <a:r>
              <a:rPr lang="en-US" sz="1600" dirty="0"/>
              <a:t> a </a:t>
            </a:r>
            <a:r>
              <a:rPr lang="en-US" sz="1600" dirty="0" err="1"/>
              <a:t>informaţiilor</a:t>
            </a:r>
            <a:r>
              <a:rPr lang="en-US" sz="1600" dirty="0"/>
              <a:t> </a:t>
            </a:r>
            <a:r>
              <a:rPr lang="en-US" sz="1600" dirty="0" err="1"/>
              <a:t>prin</a:t>
            </a:r>
            <a:r>
              <a:rPr lang="en-US" sz="1600" dirty="0"/>
              <a:t> </a:t>
            </a:r>
            <a:r>
              <a:rPr lang="en-US" sz="1600" dirty="0" err="1"/>
              <a:t>intermediul</a:t>
            </a:r>
            <a:r>
              <a:rPr lang="en-US" sz="1600" dirty="0"/>
              <a:t> </a:t>
            </a:r>
            <a:r>
              <a:rPr lang="en-US" sz="1600" dirty="0" err="1"/>
              <a:t>unui</a:t>
            </a:r>
            <a:r>
              <a:rPr lang="en-US" sz="1600" dirty="0"/>
              <a:t> flux. </a:t>
            </a:r>
            <a:r>
              <a:rPr lang="en-US" sz="1600" dirty="0" err="1"/>
              <a:t>Clasele</a:t>
            </a:r>
            <a:r>
              <a:rPr lang="en-US" sz="1600" dirty="0"/>
              <a:t> </a:t>
            </a:r>
            <a:r>
              <a:rPr lang="en-US" sz="1600" dirty="0" err="1"/>
              <a:t>şi</a:t>
            </a:r>
            <a:r>
              <a:rPr lang="en-US" sz="1600" dirty="0"/>
              <a:t> </a:t>
            </a:r>
            <a:r>
              <a:rPr lang="en-US" sz="1600" dirty="0" err="1"/>
              <a:t>metodele</a:t>
            </a:r>
            <a:r>
              <a:rPr lang="en-US" sz="1600" dirty="0"/>
              <a:t> </a:t>
            </a:r>
            <a:r>
              <a:rPr lang="en-US" sz="1600" dirty="0" err="1"/>
              <a:t>alese</a:t>
            </a:r>
            <a:r>
              <a:rPr lang="en-US" sz="1600" dirty="0"/>
              <a:t> </a:t>
            </a:r>
            <a:r>
              <a:rPr lang="en-US" sz="1600" dirty="0" err="1"/>
              <a:t>depind</a:t>
            </a:r>
            <a:r>
              <a:rPr lang="en-US" sz="1600" dirty="0"/>
              <a:t> de </a:t>
            </a:r>
            <a:r>
              <a:rPr lang="en-US" sz="1600" dirty="0" err="1"/>
              <a:t>formatul</a:t>
            </a:r>
            <a:r>
              <a:rPr lang="en-US" sz="1600" dirty="0"/>
              <a:t> </a:t>
            </a:r>
            <a:r>
              <a:rPr lang="en-US" sz="1600" dirty="0" err="1"/>
              <a:t>informaţiei</a:t>
            </a:r>
            <a:r>
              <a:rPr lang="en-US" sz="1600" dirty="0"/>
              <a:t> </a:t>
            </a:r>
            <a:r>
              <a:rPr lang="en-US" sz="1600" dirty="0" err="1"/>
              <a:t>şi</a:t>
            </a:r>
            <a:r>
              <a:rPr lang="en-US" sz="1600" dirty="0"/>
              <a:t> de </a:t>
            </a:r>
            <a:r>
              <a:rPr lang="en-US" sz="1600" dirty="0" err="1"/>
              <a:t>ceea</a:t>
            </a:r>
            <a:r>
              <a:rPr lang="en-US" sz="1600" dirty="0"/>
              <a:t> </a:t>
            </a:r>
            <a:r>
              <a:rPr lang="en-US" sz="1600" dirty="0" err="1"/>
              <a:t>ce</a:t>
            </a:r>
            <a:r>
              <a:rPr lang="en-US" sz="1600" dirty="0"/>
              <a:t> </a:t>
            </a:r>
            <a:r>
              <a:rPr lang="en-US" sz="1600" dirty="0" err="1"/>
              <a:t>doriţi</a:t>
            </a:r>
            <a:r>
              <a:rPr lang="en-US" sz="1600" dirty="0"/>
              <a:t> </a:t>
            </a:r>
            <a:r>
              <a:rPr lang="en-US" sz="1600" dirty="0" err="1"/>
              <a:t>să</a:t>
            </a:r>
            <a:r>
              <a:rPr lang="en-US" sz="1600" dirty="0"/>
              <a:t> </a:t>
            </a:r>
            <a:r>
              <a:rPr lang="en-US" sz="1600" dirty="0" err="1"/>
              <a:t>faceţi</a:t>
            </a:r>
            <a:r>
              <a:rPr lang="en-US" sz="1600" dirty="0"/>
              <a:t> cu </a:t>
            </a:r>
            <a:r>
              <a:rPr lang="en-US" sz="1600" dirty="0" err="1"/>
              <a:t>ele</a:t>
            </a:r>
            <a:r>
              <a:rPr lang="en-US" sz="1600" dirty="0"/>
              <a:t>.</a:t>
            </a:r>
            <a:endParaRPr lang="ro-RO" sz="1600" dirty="0"/>
          </a:p>
          <a:p>
            <a:r>
              <a:rPr lang="en-US" sz="1600" dirty="0"/>
              <a:t>Una </a:t>
            </a:r>
            <a:r>
              <a:rPr lang="en-US" sz="1600" dirty="0" err="1"/>
              <a:t>dintre</a:t>
            </a:r>
            <a:r>
              <a:rPr lang="en-US" sz="1600" dirty="0"/>
              <a:t> </a:t>
            </a:r>
            <a:r>
              <a:rPr lang="en-US" sz="1600" dirty="0" err="1"/>
              <a:t>resursele</a:t>
            </a:r>
            <a:r>
              <a:rPr lang="en-US" sz="1600" dirty="0"/>
              <a:t> </a:t>
            </a:r>
            <a:r>
              <a:rPr lang="en-US" sz="1600" dirty="0" err="1"/>
              <a:t>pe</a:t>
            </a:r>
            <a:r>
              <a:rPr lang="en-US" sz="1600" dirty="0"/>
              <a:t> care le </a:t>
            </a:r>
            <a:r>
              <a:rPr lang="en-US" sz="1600" dirty="0" err="1"/>
              <a:t>puteţi</a:t>
            </a:r>
            <a:r>
              <a:rPr lang="en-US" sz="1600" dirty="0"/>
              <a:t> </a:t>
            </a:r>
            <a:r>
              <a:rPr lang="en-US" sz="1600" dirty="0" err="1"/>
              <a:t>apela</a:t>
            </a:r>
            <a:r>
              <a:rPr lang="en-US" sz="1600" dirty="0"/>
              <a:t> din </a:t>
            </a:r>
            <a:r>
              <a:rPr lang="en-US" sz="1600" dirty="0" err="1"/>
              <a:t>programele</a:t>
            </a:r>
            <a:r>
              <a:rPr lang="en-US" sz="1600" dirty="0"/>
              <a:t> Java o </a:t>
            </a:r>
            <a:r>
              <a:rPr lang="en-US" sz="1600" dirty="0" err="1"/>
              <a:t>reprezintă</a:t>
            </a:r>
            <a:r>
              <a:rPr lang="en-US" sz="1600" dirty="0"/>
              <a:t> </a:t>
            </a:r>
            <a:r>
              <a:rPr lang="en-US" sz="1600" dirty="0" err="1"/>
              <a:t>fişierele</a:t>
            </a:r>
            <a:r>
              <a:rPr lang="en-US" sz="1600" dirty="0"/>
              <a:t> text din World Wide Web, </a:t>
            </a:r>
            <a:r>
              <a:rPr lang="en-US" sz="1600" dirty="0" err="1"/>
              <a:t>indiferent</a:t>
            </a:r>
            <a:r>
              <a:rPr lang="en-US" sz="1600" dirty="0"/>
              <a:t> </a:t>
            </a:r>
            <a:r>
              <a:rPr lang="en-US" sz="1600" dirty="0" err="1"/>
              <a:t>daca</a:t>
            </a:r>
            <a:r>
              <a:rPr lang="en-US" sz="1600" dirty="0"/>
              <a:t> </a:t>
            </a:r>
            <a:r>
              <a:rPr lang="en-US" sz="1600" dirty="0" err="1"/>
              <a:t>sunt</a:t>
            </a:r>
            <a:r>
              <a:rPr lang="en-US" sz="1600" dirty="0"/>
              <a:t> </a:t>
            </a:r>
            <a:r>
              <a:rPr lang="en-US" sz="1600" dirty="0" err="1"/>
              <a:t>fişiere</a:t>
            </a:r>
            <a:r>
              <a:rPr lang="en-US" sz="1600" dirty="0"/>
              <a:t> HTML </a:t>
            </a:r>
            <a:r>
              <a:rPr lang="en-US" sz="1600" dirty="0" err="1"/>
              <a:t>sau</a:t>
            </a:r>
            <a:r>
              <a:rPr lang="en-US" sz="1600" dirty="0"/>
              <a:t> un alt tip de </a:t>
            </a:r>
            <a:r>
              <a:rPr lang="en-US" sz="1600" dirty="0" err="1"/>
              <a:t>fişiere</a:t>
            </a:r>
            <a:r>
              <a:rPr lang="en-US" sz="1600" dirty="0"/>
              <a:t> de text </a:t>
            </a:r>
            <a:r>
              <a:rPr lang="en-US" sz="1600" dirty="0" err="1"/>
              <a:t>simplu</a:t>
            </a:r>
            <a:r>
              <a:rPr lang="en-US" sz="1600" dirty="0"/>
              <a:t>.</a:t>
            </a:r>
            <a:endParaRPr lang="ro-RO" sz="1600" dirty="0"/>
          </a:p>
          <a:p>
            <a:r>
              <a:rPr lang="en-US" sz="1600" dirty="0" err="1"/>
              <a:t>Pentru</a:t>
            </a:r>
            <a:r>
              <a:rPr lang="en-US" sz="1600" dirty="0"/>
              <a:t> a </a:t>
            </a:r>
            <a:r>
              <a:rPr lang="en-US" sz="1600" dirty="0" err="1"/>
              <a:t>încărca</a:t>
            </a:r>
            <a:r>
              <a:rPr lang="en-US" sz="1600" dirty="0"/>
              <a:t> un document text din Web </a:t>
            </a:r>
            <a:r>
              <a:rPr lang="en-US" sz="1600" dirty="0" err="1"/>
              <a:t>şi</a:t>
            </a:r>
            <a:r>
              <a:rPr lang="en-US" sz="1600" dirty="0"/>
              <a:t> a-l </a:t>
            </a:r>
            <a:r>
              <a:rPr lang="en-US" sz="1600" dirty="0" err="1"/>
              <a:t>citi</a:t>
            </a:r>
            <a:r>
              <a:rPr lang="en-US" sz="1600" dirty="0"/>
              <a:t> </a:t>
            </a:r>
            <a:r>
              <a:rPr lang="en-US" sz="1600" dirty="0" err="1"/>
              <a:t>linie</a:t>
            </a:r>
            <a:r>
              <a:rPr lang="en-US" sz="1600" dirty="0"/>
              <a:t> cu </a:t>
            </a:r>
            <a:r>
              <a:rPr lang="en-US" sz="1600" dirty="0" err="1"/>
              <a:t>linie</a:t>
            </a:r>
            <a:r>
              <a:rPr lang="en-US" sz="1600" dirty="0"/>
              <a:t>, </a:t>
            </a:r>
            <a:r>
              <a:rPr lang="en-US" sz="1600" dirty="0" err="1"/>
              <a:t>puteţi</a:t>
            </a:r>
            <a:r>
              <a:rPr lang="en-US" sz="1600" dirty="0"/>
              <a:t> </a:t>
            </a:r>
            <a:r>
              <a:rPr lang="en-US" sz="1600" dirty="0" err="1"/>
              <a:t>folosi</a:t>
            </a:r>
            <a:r>
              <a:rPr lang="en-US" sz="1600" dirty="0"/>
              <a:t> </a:t>
            </a:r>
            <a:r>
              <a:rPr lang="en-US" sz="1600" dirty="0" err="1"/>
              <a:t>următoarea</a:t>
            </a:r>
            <a:r>
              <a:rPr lang="en-US" sz="1600" dirty="0"/>
              <a:t> </a:t>
            </a:r>
            <a:r>
              <a:rPr lang="en-US" sz="1600" dirty="0" err="1"/>
              <a:t>tehnică</a:t>
            </a:r>
            <a:r>
              <a:rPr lang="en-US" sz="1600" dirty="0"/>
              <a:t>, </a:t>
            </a:r>
            <a:r>
              <a:rPr lang="en-US" sz="1600" dirty="0" err="1"/>
              <a:t>formată</a:t>
            </a:r>
            <a:r>
              <a:rPr lang="en-US" sz="1600" dirty="0"/>
              <a:t> din </a:t>
            </a:r>
            <a:r>
              <a:rPr lang="en-US" sz="1600" dirty="0" err="1"/>
              <a:t>patru</a:t>
            </a:r>
            <a:r>
              <a:rPr lang="en-US" sz="1600" dirty="0"/>
              <a:t> </a:t>
            </a:r>
            <a:r>
              <a:rPr lang="en-US" sz="1600" dirty="0" err="1"/>
              <a:t>etape</a:t>
            </a:r>
            <a:r>
              <a:rPr lang="en-US" sz="1600" dirty="0"/>
              <a:t>:</a:t>
            </a:r>
            <a:endParaRPr lang="ro-RO" sz="1600" dirty="0"/>
          </a:p>
          <a:p>
            <a:pPr lvl="0"/>
            <a:r>
              <a:rPr lang="en-US" sz="1600" dirty="0" err="1"/>
              <a:t>Creaţi</a:t>
            </a:r>
            <a:r>
              <a:rPr lang="en-US" sz="1600" dirty="0"/>
              <a:t> un </a:t>
            </a:r>
            <a:r>
              <a:rPr lang="en-US" sz="1600" dirty="0" err="1"/>
              <a:t>obiect</a:t>
            </a:r>
            <a:r>
              <a:rPr lang="en-US" sz="1600" dirty="0"/>
              <a:t> </a:t>
            </a:r>
            <a:r>
              <a:rPr lang="en-US" sz="1600" b="1" dirty="0"/>
              <a:t>URL</a:t>
            </a:r>
            <a:r>
              <a:rPr lang="en-US" sz="1600" dirty="0"/>
              <a:t> care </a:t>
            </a:r>
            <a:r>
              <a:rPr lang="en-US" sz="1600" dirty="0" err="1"/>
              <a:t>reprezintă</a:t>
            </a:r>
            <a:r>
              <a:rPr lang="en-US" sz="1600" dirty="0"/>
              <a:t> </a:t>
            </a:r>
            <a:r>
              <a:rPr lang="en-US" sz="1600" dirty="0" err="1"/>
              <a:t>adresa</a:t>
            </a:r>
            <a:r>
              <a:rPr lang="en-US" sz="1600" dirty="0"/>
              <a:t> World Wide Web a </a:t>
            </a:r>
            <a:r>
              <a:rPr lang="en-US" sz="1600" dirty="0" err="1"/>
              <a:t>resursei</a:t>
            </a:r>
            <a:r>
              <a:rPr lang="en-US" sz="1600" dirty="0"/>
              <a:t>.</a:t>
            </a:r>
            <a:endParaRPr lang="ro-RO" sz="1600" dirty="0"/>
          </a:p>
          <a:p>
            <a:pPr lvl="0"/>
            <a:r>
              <a:rPr lang="en-US" sz="1600" dirty="0" err="1"/>
              <a:t>Creaţi</a:t>
            </a:r>
            <a:r>
              <a:rPr lang="en-US" sz="1600" dirty="0"/>
              <a:t> un </a:t>
            </a:r>
            <a:r>
              <a:rPr lang="en-US" sz="1600" dirty="0" err="1"/>
              <a:t>obiect</a:t>
            </a:r>
            <a:r>
              <a:rPr lang="en-US" sz="1600" dirty="0"/>
              <a:t> </a:t>
            </a:r>
            <a:r>
              <a:rPr lang="en-US" sz="1600" b="1" dirty="0" err="1"/>
              <a:t>URLConnection</a:t>
            </a:r>
            <a:r>
              <a:rPr lang="en-US" sz="1600" dirty="0"/>
              <a:t> care </a:t>
            </a:r>
            <a:r>
              <a:rPr lang="en-US" sz="1600" dirty="0" err="1"/>
              <a:t>încarcă</a:t>
            </a:r>
            <a:r>
              <a:rPr lang="en-US" sz="1600" dirty="0"/>
              <a:t> </a:t>
            </a:r>
            <a:r>
              <a:rPr lang="en-US" sz="1600" dirty="0" err="1"/>
              <a:t>obiectul</a:t>
            </a:r>
            <a:r>
              <a:rPr lang="en-US" sz="1600" dirty="0"/>
              <a:t> </a:t>
            </a:r>
            <a:r>
              <a:rPr lang="en-US" sz="1600" b="1" dirty="0"/>
              <a:t>URL</a:t>
            </a:r>
            <a:r>
              <a:rPr lang="en-US" sz="1600" dirty="0"/>
              <a:t> </a:t>
            </a:r>
            <a:r>
              <a:rPr lang="en-US" sz="1600" dirty="0" err="1"/>
              <a:t>şi</a:t>
            </a:r>
            <a:r>
              <a:rPr lang="en-US" sz="1600" dirty="0"/>
              <a:t> </a:t>
            </a:r>
            <a:r>
              <a:rPr lang="en-US" sz="1600" dirty="0" err="1"/>
              <a:t>realizează</a:t>
            </a:r>
            <a:r>
              <a:rPr lang="en-US" sz="1600" dirty="0"/>
              <a:t> o </a:t>
            </a:r>
            <a:r>
              <a:rPr lang="en-US" sz="1600" dirty="0" err="1"/>
              <a:t>conexiune</a:t>
            </a:r>
            <a:r>
              <a:rPr lang="en-US" sz="1600" dirty="0"/>
              <a:t> la </a:t>
            </a:r>
            <a:r>
              <a:rPr lang="en-US" sz="1600" dirty="0" err="1"/>
              <a:t>maşina</a:t>
            </a:r>
            <a:r>
              <a:rPr lang="en-US" sz="1600" dirty="0"/>
              <a:t> care </a:t>
            </a:r>
            <a:r>
              <a:rPr lang="en-US" sz="1600" dirty="0" err="1"/>
              <a:t>stochează</a:t>
            </a:r>
            <a:r>
              <a:rPr lang="en-US" sz="1600" dirty="0"/>
              <a:t> </a:t>
            </a:r>
            <a:r>
              <a:rPr lang="en-US" sz="1600" dirty="0" err="1"/>
              <a:t>resursa</a:t>
            </a:r>
            <a:r>
              <a:rPr lang="en-US" sz="1600" dirty="0"/>
              <a:t> </a:t>
            </a:r>
            <a:r>
              <a:rPr lang="en-US" sz="1600" dirty="0" err="1"/>
              <a:t>respectivă</a:t>
            </a:r>
            <a:r>
              <a:rPr lang="en-US" sz="1600" dirty="0"/>
              <a:t>.</a:t>
            </a:r>
            <a:endParaRPr lang="ro-RO" sz="1600" dirty="0"/>
          </a:p>
          <a:p>
            <a:pPr lvl="0"/>
            <a:r>
              <a:rPr lang="en-US" sz="1600" dirty="0" err="1"/>
              <a:t>Folosind</a:t>
            </a:r>
            <a:r>
              <a:rPr lang="en-US" sz="1600" dirty="0"/>
              <a:t> </a:t>
            </a:r>
            <a:r>
              <a:rPr lang="en-US" sz="1600" dirty="0" err="1"/>
              <a:t>metoda</a:t>
            </a:r>
            <a:r>
              <a:rPr lang="en-US" sz="1600" dirty="0"/>
              <a:t> </a:t>
            </a:r>
            <a:r>
              <a:rPr lang="en-US" sz="1600" b="1" dirty="0" err="1"/>
              <a:t>getInputStream</a:t>
            </a:r>
            <a:r>
              <a:rPr lang="en-US" sz="1600" dirty="0"/>
              <a:t>() a </a:t>
            </a:r>
            <a:r>
              <a:rPr lang="en-US" sz="1600" dirty="0" err="1"/>
              <a:t>obiectului</a:t>
            </a:r>
            <a:r>
              <a:rPr lang="en-US" sz="1600" dirty="0"/>
              <a:t> </a:t>
            </a:r>
            <a:r>
              <a:rPr lang="en-US" sz="1600" b="1" dirty="0" err="1"/>
              <a:t>URLConnection</a:t>
            </a:r>
            <a:r>
              <a:rPr lang="en-US" sz="1600" dirty="0"/>
              <a:t>, </a:t>
            </a:r>
            <a:r>
              <a:rPr lang="en-US" sz="1600" dirty="0" err="1"/>
              <a:t>creaţi</a:t>
            </a:r>
            <a:r>
              <a:rPr lang="en-US" sz="1600" dirty="0"/>
              <a:t> un flux de </a:t>
            </a:r>
            <a:r>
              <a:rPr lang="en-US" sz="1600" dirty="0" err="1"/>
              <a:t>intrare</a:t>
            </a:r>
            <a:r>
              <a:rPr lang="en-US" sz="1600" dirty="0"/>
              <a:t> </a:t>
            </a:r>
            <a:r>
              <a:rPr lang="en-US" sz="1600" b="1" dirty="0" err="1"/>
              <a:t>InputStreamReader</a:t>
            </a:r>
            <a:r>
              <a:rPr lang="en-US" sz="1600" dirty="0"/>
              <a:t> care </a:t>
            </a:r>
            <a:r>
              <a:rPr lang="en-US" sz="1600" dirty="0" err="1"/>
              <a:t>poate</a:t>
            </a:r>
            <a:r>
              <a:rPr lang="en-US" sz="1600" dirty="0"/>
              <a:t> </a:t>
            </a:r>
            <a:r>
              <a:rPr lang="en-US" sz="1600" dirty="0" err="1"/>
              <a:t>citi</a:t>
            </a:r>
            <a:r>
              <a:rPr lang="en-US" sz="1600" dirty="0"/>
              <a:t> un flux de date de la </a:t>
            </a:r>
            <a:r>
              <a:rPr lang="en-US" sz="1600" dirty="0" err="1"/>
              <a:t>adresa</a:t>
            </a:r>
            <a:r>
              <a:rPr lang="en-US" sz="1600" dirty="0"/>
              <a:t> </a:t>
            </a:r>
            <a:r>
              <a:rPr lang="en-US" sz="1600" b="1" dirty="0"/>
              <a:t>URL</a:t>
            </a:r>
            <a:r>
              <a:rPr lang="en-US" sz="1600" dirty="0"/>
              <a:t>.</a:t>
            </a:r>
            <a:endParaRPr lang="ro-RO" sz="1600" dirty="0"/>
          </a:p>
          <a:p>
            <a:pPr lvl="0"/>
            <a:r>
              <a:rPr lang="en-US" sz="1600" dirty="0" err="1"/>
              <a:t>Folosind</a:t>
            </a:r>
            <a:r>
              <a:rPr lang="en-US" sz="1600" dirty="0"/>
              <a:t> </a:t>
            </a:r>
            <a:r>
              <a:rPr lang="en-US" sz="1600" dirty="0" err="1"/>
              <a:t>fluxul</a:t>
            </a:r>
            <a:r>
              <a:rPr lang="en-US" sz="1600" dirty="0"/>
              <a:t> de </a:t>
            </a:r>
            <a:r>
              <a:rPr lang="en-US" sz="1600" dirty="0" err="1"/>
              <a:t>intrare</a:t>
            </a:r>
            <a:r>
              <a:rPr lang="en-US" sz="1600" dirty="0"/>
              <a:t>, </a:t>
            </a:r>
            <a:r>
              <a:rPr lang="en-US" sz="1600" dirty="0" err="1"/>
              <a:t>creaţi</a:t>
            </a:r>
            <a:r>
              <a:rPr lang="en-US" sz="1600" dirty="0"/>
              <a:t> un </a:t>
            </a:r>
            <a:r>
              <a:rPr lang="en-US" sz="1600" dirty="0" err="1"/>
              <a:t>obiect</a:t>
            </a:r>
            <a:r>
              <a:rPr lang="en-US" sz="1600" dirty="0"/>
              <a:t> </a:t>
            </a:r>
            <a:r>
              <a:rPr lang="en-US" sz="1600" b="1" dirty="0" err="1"/>
              <a:t>BufferedReader</a:t>
            </a:r>
            <a:r>
              <a:rPr lang="en-US" sz="1600" dirty="0"/>
              <a:t>, care </a:t>
            </a:r>
            <a:r>
              <a:rPr lang="en-US" sz="1600" dirty="0" err="1"/>
              <a:t>măreşte</a:t>
            </a:r>
            <a:r>
              <a:rPr lang="en-US" sz="1600" dirty="0"/>
              <a:t> </a:t>
            </a:r>
            <a:r>
              <a:rPr lang="en-US" sz="1600" dirty="0" err="1"/>
              <a:t>eficienţa</a:t>
            </a:r>
            <a:r>
              <a:rPr lang="en-US" sz="1600" dirty="0"/>
              <a:t> </a:t>
            </a:r>
            <a:r>
              <a:rPr lang="en-US" sz="1600" dirty="0" err="1"/>
              <a:t>citirii</a:t>
            </a:r>
            <a:r>
              <a:rPr lang="en-US" sz="1600" dirty="0"/>
              <a:t> </a:t>
            </a:r>
            <a:r>
              <a:rPr lang="en-US" sz="1600" dirty="0" err="1"/>
              <a:t>caracterelor</a:t>
            </a:r>
            <a:r>
              <a:rPr lang="en-US" sz="1600" dirty="0"/>
              <a:t> </a:t>
            </a:r>
            <a:r>
              <a:rPr lang="en-US" sz="1600" dirty="0" err="1"/>
              <a:t>dintr</a:t>
            </a:r>
            <a:r>
              <a:rPr lang="en-US" sz="1600" dirty="0"/>
              <a:t>-un flux de </a:t>
            </a:r>
            <a:r>
              <a:rPr lang="en-US" sz="1600" dirty="0" err="1"/>
              <a:t>intrare</a:t>
            </a:r>
            <a:r>
              <a:rPr lang="en-US" sz="1600" dirty="0"/>
              <a:t>.</a:t>
            </a:r>
            <a:endParaRPr lang="ro-RO" sz="1600" dirty="0"/>
          </a:p>
          <a:p>
            <a:endParaRPr lang="ro-RO" sz="1600" dirty="0"/>
          </a:p>
        </p:txBody>
      </p:sp>
    </p:spTree>
    <p:extLst>
      <p:ext uri="{BB962C8B-B14F-4D97-AF65-F5344CB8AC3E}">
        <p14:creationId xmlns:p14="http://schemas.microsoft.com/office/powerpoint/2010/main" val="1028961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b="1" dirty="0"/>
              <a:t>Deschiderea unui flux în </a:t>
            </a:r>
            <a:r>
              <a:rPr lang="ro-RO" b="1" dirty="0" err="1" smtClean="0"/>
              <a:t>reţea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Între punctul A (documentul Web) </a:t>
            </a:r>
            <a:r>
              <a:rPr lang="ro-RO" dirty="0" err="1"/>
              <a:t>şi</a:t>
            </a:r>
            <a:r>
              <a:rPr lang="ro-RO" dirty="0"/>
              <a:t> punctul B (programul Java) se </a:t>
            </a:r>
            <a:r>
              <a:rPr lang="ro-RO" dirty="0" err="1"/>
              <a:t>desfăşoară</a:t>
            </a:r>
            <a:r>
              <a:rPr lang="ro-RO" dirty="0"/>
              <a:t> o </a:t>
            </a:r>
            <a:r>
              <a:rPr lang="ro-RO" dirty="0" err="1"/>
              <a:t>mulţime</a:t>
            </a:r>
            <a:r>
              <a:rPr lang="ro-RO" dirty="0"/>
              <a:t> de </a:t>
            </a:r>
            <a:r>
              <a:rPr lang="ro-RO" dirty="0" err="1"/>
              <a:t>operaţii</a:t>
            </a:r>
            <a:r>
              <a:rPr lang="ro-RO" dirty="0"/>
              <a:t>: </a:t>
            </a:r>
            <a:endParaRPr lang="en-US" dirty="0" smtClean="0"/>
          </a:p>
          <a:p>
            <a:pPr lvl="1"/>
            <a:r>
              <a:rPr lang="ro-RO" dirty="0" smtClean="0"/>
              <a:t>adresa </a:t>
            </a:r>
            <a:r>
              <a:rPr lang="ro-RO" b="1" dirty="0"/>
              <a:t>URL</a:t>
            </a:r>
            <a:r>
              <a:rPr lang="ro-RO" dirty="0"/>
              <a:t> se </a:t>
            </a:r>
            <a:r>
              <a:rPr lang="ro-RO" dirty="0" err="1"/>
              <a:t>foloseşte</a:t>
            </a:r>
            <a:r>
              <a:rPr lang="ro-RO" dirty="0"/>
              <a:t> pentru a crea o conexiune </a:t>
            </a:r>
            <a:r>
              <a:rPr lang="ro-RO" b="1" dirty="0"/>
              <a:t>URL</a:t>
            </a:r>
            <a:r>
              <a:rPr lang="ro-RO" dirty="0" smtClean="0"/>
              <a:t>,</a:t>
            </a:r>
            <a:endParaRPr lang="en-US" dirty="0" smtClean="0"/>
          </a:p>
          <a:p>
            <a:pPr lvl="1"/>
            <a:r>
              <a:rPr lang="ro-RO" dirty="0" smtClean="0"/>
              <a:t>care </a:t>
            </a:r>
            <a:r>
              <a:rPr lang="ro-RO" dirty="0"/>
              <a:t>se </a:t>
            </a:r>
            <a:r>
              <a:rPr lang="ro-RO" dirty="0" err="1"/>
              <a:t>foloseşte</a:t>
            </a:r>
            <a:r>
              <a:rPr lang="ro-RO" dirty="0"/>
              <a:t> pentru a crea un flux de intrare, </a:t>
            </a:r>
            <a:endParaRPr lang="en-US" dirty="0" smtClean="0"/>
          </a:p>
          <a:p>
            <a:pPr lvl="1"/>
            <a:r>
              <a:rPr lang="ro-RO" dirty="0" smtClean="0"/>
              <a:t>care </a:t>
            </a:r>
            <a:r>
              <a:rPr lang="ro-RO" dirty="0"/>
              <a:t>se </a:t>
            </a:r>
            <a:r>
              <a:rPr lang="ro-RO" dirty="0" err="1"/>
              <a:t>foloseşte</a:t>
            </a:r>
            <a:r>
              <a:rPr lang="ro-RO" dirty="0"/>
              <a:t> pentru a crea un flux de intrare cu tampon. </a:t>
            </a:r>
            <a:endParaRPr lang="en-US" dirty="0" smtClean="0"/>
          </a:p>
          <a:p>
            <a:r>
              <a:rPr lang="ro-RO" dirty="0" smtClean="0"/>
              <a:t>Necesitatea </a:t>
            </a:r>
            <a:r>
              <a:rPr lang="ro-RO" dirty="0"/>
              <a:t>interceptării eventualelor </a:t>
            </a:r>
            <a:r>
              <a:rPr lang="ro-RO" dirty="0" err="1"/>
              <a:t>excepţii</a:t>
            </a:r>
            <a:r>
              <a:rPr lang="ro-RO" dirty="0"/>
              <a:t> care pot apărea pe parcursul acestui proces </a:t>
            </a:r>
            <a:r>
              <a:rPr lang="ro-RO" dirty="0" err="1"/>
              <a:t>măreşte</a:t>
            </a:r>
            <a:r>
              <a:rPr lang="ro-RO" dirty="0"/>
              <a:t> </a:t>
            </a:r>
            <a:r>
              <a:rPr lang="ro-RO" dirty="0" err="1"/>
              <a:t>şi</a:t>
            </a:r>
            <a:r>
              <a:rPr lang="ro-RO" dirty="0"/>
              <a:t> mai mult gradul lui de complexitate.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88668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Exemplu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10336426" cy="3318936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E</a:t>
            </a:r>
            <a:r>
              <a:rPr lang="ro-RO" dirty="0" err="1" smtClean="0"/>
              <a:t>xemplu</a:t>
            </a:r>
            <a:r>
              <a:rPr lang="en-US" dirty="0" smtClean="0"/>
              <a:t>l</a:t>
            </a:r>
            <a:r>
              <a:rPr lang="ro-RO" dirty="0" smtClean="0"/>
              <a:t> </a:t>
            </a:r>
            <a:r>
              <a:rPr lang="ro-RO" dirty="0" err="1"/>
              <a:t>foloseşte</a:t>
            </a:r>
            <a:r>
              <a:rPr lang="ro-RO" dirty="0"/>
              <a:t> această tehnică în patru </a:t>
            </a:r>
            <a:r>
              <a:rPr lang="ro-RO" dirty="0" err="1"/>
              <a:t>paşi</a:t>
            </a:r>
            <a:r>
              <a:rPr lang="ro-RO" dirty="0"/>
              <a:t> pentru a deschide o conexiune la un site web pentru a citi un document </a:t>
            </a:r>
            <a:r>
              <a:rPr lang="ro-RO" dirty="0" err="1"/>
              <a:t>html</a:t>
            </a:r>
            <a:r>
              <a:rPr lang="ro-RO" dirty="0"/>
              <a:t>. După citirea completă a documentului acesta este </a:t>
            </a:r>
            <a:r>
              <a:rPr lang="ro-RO" dirty="0" err="1"/>
              <a:t>afişat</a:t>
            </a:r>
            <a:r>
              <a:rPr lang="ro-RO" dirty="0"/>
              <a:t> într-o zonă de text (</a:t>
            </a:r>
            <a:r>
              <a:rPr lang="ro-RO" dirty="0" err="1"/>
              <a:t>TextArea</a:t>
            </a:r>
            <a:r>
              <a:rPr lang="ro-RO" dirty="0"/>
              <a:t>).</a:t>
            </a:r>
          </a:p>
          <a:p>
            <a:r>
              <a:rPr lang="ro-RO" dirty="0"/>
              <a:t>import </a:t>
            </a:r>
            <a:r>
              <a:rPr lang="ro-RO" dirty="0" err="1"/>
              <a:t>java.awt</a:t>
            </a:r>
            <a:r>
              <a:rPr lang="ro-RO" dirty="0"/>
              <a:t>.*;</a:t>
            </a:r>
          </a:p>
          <a:p>
            <a:r>
              <a:rPr lang="ro-RO" dirty="0"/>
              <a:t>import </a:t>
            </a:r>
            <a:r>
              <a:rPr lang="ro-RO" dirty="0" err="1"/>
              <a:t>java.awt.event</a:t>
            </a:r>
            <a:r>
              <a:rPr lang="ro-RO" dirty="0"/>
              <a:t>.*;</a:t>
            </a:r>
          </a:p>
          <a:p>
            <a:r>
              <a:rPr lang="ro-RO" dirty="0"/>
              <a:t>import java.net.*;</a:t>
            </a:r>
          </a:p>
          <a:p>
            <a:r>
              <a:rPr lang="ro-RO" dirty="0"/>
              <a:t>import java.io.*;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69011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413" y="561289"/>
            <a:ext cx="9601196" cy="534976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err="1" smtClean="0"/>
              <a:t>Exemplu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946" y="1444594"/>
            <a:ext cx="6184556" cy="372853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o-RO" sz="1600" dirty="0"/>
              <a:t>public </a:t>
            </a:r>
            <a:r>
              <a:rPr lang="ro-RO" sz="1600" dirty="0" err="1"/>
              <a:t>class</a:t>
            </a:r>
            <a:r>
              <a:rPr lang="ro-RO" sz="1600" dirty="0"/>
              <a:t> </a:t>
            </a:r>
            <a:r>
              <a:rPr lang="ro-RO" sz="1600" dirty="0" err="1"/>
              <a:t>CitireFisier</a:t>
            </a:r>
            <a:r>
              <a:rPr lang="ro-RO" sz="1600" dirty="0"/>
              <a:t> </a:t>
            </a:r>
            <a:r>
              <a:rPr lang="ro-RO" sz="1600" dirty="0" err="1"/>
              <a:t>extends</a:t>
            </a:r>
            <a:r>
              <a:rPr lang="ro-RO" sz="1600" dirty="0"/>
              <a:t> </a:t>
            </a:r>
            <a:r>
              <a:rPr lang="ro-RO" sz="1600" dirty="0" err="1"/>
              <a:t>Frame</a:t>
            </a:r>
            <a:r>
              <a:rPr lang="ro-RO" sz="1600" dirty="0"/>
              <a:t> </a:t>
            </a:r>
            <a:r>
              <a:rPr lang="ro-RO" sz="1600" dirty="0" err="1"/>
              <a:t>implements</a:t>
            </a:r>
            <a:r>
              <a:rPr lang="ro-RO" sz="1600" dirty="0"/>
              <a:t> </a:t>
            </a:r>
            <a:r>
              <a:rPr lang="ro-RO" sz="1600" dirty="0" err="1"/>
              <a:t>Runnable</a:t>
            </a:r>
            <a:r>
              <a:rPr lang="ro-RO" sz="1600" dirty="0"/>
              <a:t> {</a:t>
            </a:r>
          </a:p>
          <a:p>
            <a:pPr>
              <a:spcBef>
                <a:spcPts val="0"/>
              </a:spcBef>
            </a:pPr>
            <a:r>
              <a:rPr lang="ro-RO" sz="1600" dirty="0"/>
              <a:t>    </a:t>
            </a:r>
            <a:r>
              <a:rPr lang="ro-RO" sz="1600" dirty="0" err="1"/>
              <a:t>Thread</a:t>
            </a:r>
            <a:r>
              <a:rPr lang="ro-RO" sz="1600" dirty="0"/>
              <a:t> executabil;</a:t>
            </a:r>
          </a:p>
          <a:p>
            <a:pPr>
              <a:spcBef>
                <a:spcPts val="0"/>
              </a:spcBef>
            </a:pPr>
            <a:r>
              <a:rPr lang="ro-RO" sz="1600" dirty="0"/>
              <a:t>    URL page;</a:t>
            </a:r>
          </a:p>
          <a:p>
            <a:pPr>
              <a:spcBef>
                <a:spcPts val="0"/>
              </a:spcBef>
            </a:pPr>
            <a:r>
              <a:rPr lang="ro-RO" sz="1600" dirty="0"/>
              <a:t>    </a:t>
            </a:r>
            <a:r>
              <a:rPr lang="ro-RO" sz="1600" dirty="0" err="1"/>
              <a:t>TextArea</a:t>
            </a:r>
            <a:r>
              <a:rPr lang="ro-RO" sz="1600" dirty="0"/>
              <a:t> box = </a:t>
            </a:r>
            <a:r>
              <a:rPr lang="ro-RO" sz="1600" dirty="0" err="1"/>
              <a:t>new</a:t>
            </a:r>
            <a:r>
              <a:rPr lang="ro-RO" sz="1600" dirty="0"/>
              <a:t> </a:t>
            </a:r>
            <a:r>
              <a:rPr lang="ro-RO" sz="1600" dirty="0" err="1"/>
              <a:t>TextArea</a:t>
            </a:r>
            <a:r>
              <a:rPr lang="ro-RO" sz="1600" dirty="0"/>
              <a:t>("Transfer text ...");</a:t>
            </a:r>
          </a:p>
          <a:p>
            <a:pPr>
              <a:spcBef>
                <a:spcPts val="0"/>
              </a:spcBef>
            </a:pPr>
            <a:r>
              <a:rPr lang="ro-RO" sz="1600" dirty="0"/>
              <a:t> </a:t>
            </a:r>
          </a:p>
          <a:p>
            <a:pPr>
              <a:spcBef>
                <a:spcPts val="0"/>
              </a:spcBef>
            </a:pPr>
            <a:r>
              <a:rPr lang="ro-RO" sz="1600" dirty="0"/>
              <a:t>    public </a:t>
            </a:r>
            <a:r>
              <a:rPr lang="ro-RO" sz="1600" dirty="0" err="1"/>
              <a:t>CitireFisier</a:t>
            </a:r>
            <a:r>
              <a:rPr lang="ro-RO" sz="1600" dirty="0"/>
              <a:t>() {</a:t>
            </a:r>
          </a:p>
          <a:p>
            <a:pPr>
              <a:spcBef>
                <a:spcPts val="0"/>
              </a:spcBef>
            </a:pPr>
            <a:r>
              <a:rPr lang="ro-RO" sz="1600" dirty="0"/>
              <a:t>        super("Transfer </a:t>
            </a:r>
            <a:r>
              <a:rPr lang="ro-RO" sz="1600" dirty="0" err="1"/>
              <a:t>fisier</a:t>
            </a:r>
            <a:r>
              <a:rPr lang="ro-RO" sz="1600" dirty="0"/>
              <a:t>");</a:t>
            </a:r>
          </a:p>
          <a:p>
            <a:pPr>
              <a:spcBef>
                <a:spcPts val="0"/>
              </a:spcBef>
            </a:pPr>
            <a:r>
              <a:rPr lang="ro-RO" sz="1600" dirty="0"/>
              <a:t>        </a:t>
            </a:r>
            <a:r>
              <a:rPr lang="ro-RO" sz="1600" dirty="0" err="1"/>
              <a:t>add</a:t>
            </a:r>
            <a:r>
              <a:rPr lang="ro-RO" sz="1600" dirty="0"/>
              <a:t>(box);</a:t>
            </a:r>
          </a:p>
          <a:p>
            <a:pPr>
              <a:spcBef>
                <a:spcPts val="0"/>
              </a:spcBef>
            </a:pPr>
            <a:r>
              <a:rPr lang="ro-RO" sz="1600" dirty="0"/>
              <a:t>        </a:t>
            </a:r>
            <a:r>
              <a:rPr lang="ro-RO" sz="1600" dirty="0" err="1"/>
              <a:t>try</a:t>
            </a:r>
            <a:r>
              <a:rPr lang="ro-RO" sz="1600" dirty="0"/>
              <a:t> {</a:t>
            </a:r>
          </a:p>
          <a:p>
            <a:pPr>
              <a:spcBef>
                <a:spcPts val="0"/>
              </a:spcBef>
            </a:pPr>
            <a:r>
              <a:rPr lang="ro-RO" sz="1600" dirty="0"/>
              <a:t>            page = </a:t>
            </a:r>
            <a:r>
              <a:rPr lang="ro-RO" sz="1600" dirty="0" err="1"/>
              <a:t>new</a:t>
            </a:r>
            <a:r>
              <a:rPr lang="ro-RO" sz="1600" dirty="0"/>
              <a:t> URL("http://www.youtube.com/?hl=ro&amp;gl=RO");</a:t>
            </a:r>
          </a:p>
          <a:p>
            <a:pPr>
              <a:spcBef>
                <a:spcPts val="0"/>
              </a:spcBef>
            </a:pPr>
            <a:r>
              <a:rPr lang="ro-RO" sz="1600" dirty="0"/>
              <a:t>        }</a:t>
            </a:r>
          </a:p>
          <a:p>
            <a:pPr>
              <a:spcBef>
                <a:spcPts val="0"/>
              </a:spcBef>
            </a:pPr>
            <a:r>
              <a:rPr lang="ro-RO" sz="1600" dirty="0"/>
              <a:t>        catch (</a:t>
            </a:r>
            <a:r>
              <a:rPr lang="ro-RO" sz="1600" dirty="0" err="1"/>
              <a:t>MalformedURLException</a:t>
            </a:r>
            <a:r>
              <a:rPr lang="ro-RO" sz="1600" dirty="0"/>
              <a:t> e) {</a:t>
            </a:r>
          </a:p>
          <a:p>
            <a:pPr>
              <a:spcBef>
                <a:spcPts val="0"/>
              </a:spcBef>
            </a:pPr>
            <a:r>
              <a:rPr lang="ro-RO" sz="1600" dirty="0"/>
              <a:t>            </a:t>
            </a:r>
            <a:r>
              <a:rPr lang="ro-RO" sz="1600" dirty="0" err="1"/>
              <a:t>System.out.println</a:t>
            </a:r>
            <a:r>
              <a:rPr lang="ro-RO" sz="1600" dirty="0"/>
              <a:t>("URL </a:t>
            </a:r>
            <a:r>
              <a:rPr lang="ro-RO" sz="1600" dirty="0" err="1"/>
              <a:t>gresit</a:t>
            </a:r>
            <a:r>
              <a:rPr lang="ro-RO" sz="1600" dirty="0"/>
              <a:t>: " + page);</a:t>
            </a:r>
          </a:p>
          <a:p>
            <a:pPr>
              <a:spcBef>
                <a:spcPts val="0"/>
              </a:spcBef>
            </a:pPr>
            <a:r>
              <a:rPr lang="ro-RO" sz="1600" dirty="0"/>
              <a:t>        }</a:t>
            </a:r>
          </a:p>
          <a:p>
            <a:pPr>
              <a:spcBef>
                <a:spcPts val="0"/>
              </a:spcBef>
            </a:pPr>
            <a:r>
              <a:rPr lang="ro-RO" sz="1600" dirty="0"/>
              <a:t>    }</a:t>
            </a:r>
          </a:p>
          <a:p>
            <a:pPr>
              <a:spcBef>
                <a:spcPts val="0"/>
              </a:spcBef>
            </a:pPr>
            <a:endParaRPr lang="ro-RO" sz="1600" dirty="0"/>
          </a:p>
        </p:txBody>
      </p:sp>
      <p:sp>
        <p:nvSpPr>
          <p:cNvPr id="6" name="Rectangle 5"/>
          <p:cNvSpPr/>
          <p:nvPr/>
        </p:nvSpPr>
        <p:spPr>
          <a:xfrm>
            <a:off x="6771502" y="1716443"/>
            <a:ext cx="5791200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1600" dirty="0" smtClean="0"/>
              <a:t>public static </a:t>
            </a:r>
            <a:r>
              <a:rPr lang="ro-RO" sz="1600" dirty="0" err="1" smtClean="0"/>
              <a:t>void</a:t>
            </a:r>
            <a:r>
              <a:rPr lang="ro-RO" sz="1600" dirty="0" smtClean="0"/>
              <a:t> </a:t>
            </a:r>
            <a:r>
              <a:rPr lang="ro-RO" sz="1600" dirty="0" err="1" smtClean="0"/>
              <a:t>main</a:t>
            </a:r>
            <a:r>
              <a:rPr lang="ro-RO" sz="1600" dirty="0" smtClean="0"/>
              <a:t>(</a:t>
            </a:r>
            <a:r>
              <a:rPr lang="ro-RO" sz="1600" dirty="0" err="1" smtClean="0"/>
              <a:t>String</a:t>
            </a:r>
            <a:r>
              <a:rPr lang="ro-RO" sz="1600" dirty="0" smtClean="0"/>
              <a:t>[] </a:t>
            </a:r>
            <a:r>
              <a:rPr lang="ro-RO" sz="1600" dirty="0" err="1" smtClean="0"/>
              <a:t>arguments</a:t>
            </a:r>
            <a:r>
              <a:rPr lang="ro-RO" sz="1600" dirty="0" smtClean="0"/>
              <a:t>) {</a:t>
            </a:r>
          </a:p>
          <a:p>
            <a:r>
              <a:rPr lang="ro-RO" sz="1600" dirty="0" smtClean="0"/>
              <a:t>        </a:t>
            </a:r>
            <a:r>
              <a:rPr lang="ro-RO" sz="1600" dirty="0" err="1" smtClean="0"/>
              <a:t>CitireFisier</a:t>
            </a:r>
            <a:r>
              <a:rPr lang="ro-RO" sz="1600" dirty="0" smtClean="0"/>
              <a:t> cadru = </a:t>
            </a:r>
            <a:r>
              <a:rPr lang="ro-RO" sz="1600" dirty="0" err="1" smtClean="0"/>
              <a:t>new</a:t>
            </a:r>
            <a:r>
              <a:rPr lang="ro-RO" sz="1600" dirty="0" smtClean="0"/>
              <a:t> </a:t>
            </a:r>
            <a:r>
              <a:rPr lang="ro-RO" sz="1600" dirty="0" err="1" smtClean="0"/>
              <a:t>CitireFisier</a:t>
            </a:r>
            <a:r>
              <a:rPr lang="ro-RO" sz="1600" dirty="0" smtClean="0"/>
              <a:t>();</a:t>
            </a:r>
          </a:p>
          <a:p>
            <a:endParaRPr lang="ro-RO" sz="1600" dirty="0" smtClean="0"/>
          </a:p>
          <a:p>
            <a:r>
              <a:rPr lang="ro-RO" sz="1600" dirty="0" smtClean="0"/>
              <a:t>        </a:t>
            </a:r>
            <a:r>
              <a:rPr lang="ro-RO" sz="1600" dirty="0" err="1" smtClean="0"/>
              <a:t>WindowListener</a:t>
            </a:r>
            <a:r>
              <a:rPr lang="ro-RO" sz="1600" dirty="0" smtClean="0"/>
              <a:t> l = </a:t>
            </a:r>
            <a:r>
              <a:rPr lang="ro-RO" sz="1600" dirty="0" err="1" smtClean="0"/>
              <a:t>new</a:t>
            </a:r>
            <a:r>
              <a:rPr lang="ro-RO" sz="1600" dirty="0" smtClean="0"/>
              <a:t> </a:t>
            </a:r>
            <a:r>
              <a:rPr lang="ro-RO" sz="1600" dirty="0" err="1" smtClean="0"/>
              <a:t>WindowAdapter</a:t>
            </a:r>
            <a:r>
              <a:rPr lang="ro-RO" sz="1600" dirty="0" smtClean="0"/>
              <a:t>() {</a:t>
            </a:r>
          </a:p>
          <a:p>
            <a:r>
              <a:rPr lang="ro-RO" sz="1600" dirty="0" smtClean="0"/>
              <a:t>            public </a:t>
            </a:r>
            <a:r>
              <a:rPr lang="ro-RO" sz="1600" dirty="0" err="1" smtClean="0"/>
              <a:t>void</a:t>
            </a:r>
            <a:r>
              <a:rPr lang="ro-RO" sz="1600" dirty="0" smtClean="0"/>
              <a:t> </a:t>
            </a:r>
            <a:r>
              <a:rPr lang="ro-RO" sz="1600" dirty="0" err="1" smtClean="0"/>
              <a:t>windowClosing</a:t>
            </a:r>
            <a:r>
              <a:rPr lang="ro-RO" sz="1600" dirty="0" smtClean="0"/>
              <a:t>(</a:t>
            </a:r>
            <a:r>
              <a:rPr lang="ro-RO" sz="1600" dirty="0" err="1" smtClean="0"/>
              <a:t>WindowEvent</a:t>
            </a:r>
            <a:r>
              <a:rPr lang="ro-RO" sz="1600" dirty="0" smtClean="0"/>
              <a:t> e) {</a:t>
            </a:r>
          </a:p>
          <a:p>
            <a:r>
              <a:rPr lang="ro-RO" sz="1600" dirty="0" smtClean="0"/>
              <a:t>                </a:t>
            </a:r>
            <a:r>
              <a:rPr lang="ro-RO" sz="1600" dirty="0" err="1" smtClean="0"/>
              <a:t>System.exit</a:t>
            </a:r>
            <a:r>
              <a:rPr lang="ro-RO" sz="1600" dirty="0" smtClean="0"/>
              <a:t>(0);</a:t>
            </a:r>
          </a:p>
          <a:p>
            <a:r>
              <a:rPr lang="ro-RO" sz="1600" dirty="0" smtClean="0"/>
              <a:t>            }</a:t>
            </a:r>
          </a:p>
          <a:p>
            <a:r>
              <a:rPr lang="ro-RO" sz="1600" dirty="0" smtClean="0"/>
              <a:t>        };</a:t>
            </a:r>
          </a:p>
          <a:p>
            <a:r>
              <a:rPr lang="ro-RO" sz="1600" dirty="0" smtClean="0"/>
              <a:t>        </a:t>
            </a:r>
            <a:r>
              <a:rPr lang="ro-RO" sz="1600" dirty="0" err="1" smtClean="0"/>
              <a:t>cadru.addWindowListener</a:t>
            </a:r>
            <a:r>
              <a:rPr lang="ro-RO" sz="1600" dirty="0" smtClean="0"/>
              <a:t>(l);</a:t>
            </a:r>
          </a:p>
          <a:p>
            <a:endParaRPr lang="ro-RO" sz="1600" dirty="0" smtClean="0"/>
          </a:p>
          <a:p>
            <a:r>
              <a:rPr lang="ro-RO" sz="1600" dirty="0" smtClean="0"/>
              <a:t>        </a:t>
            </a:r>
            <a:r>
              <a:rPr lang="ro-RO" sz="1600" dirty="0" err="1" smtClean="0"/>
              <a:t>cadru.pack</a:t>
            </a:r>
            <a:r>
              <a:rPr lang="ro-RO" sz="1600" dirty="0" smtClean="0"/>
              <a:t>();</a:t>
            </a:r>
          </a:p>
          <a:p>
            <a:r>
              <a:rPr lang="ro-RO" sz="1600" dirty="0" smtClean="0"/>
              <a:t>        </a:t>
            </a:r>
            <a:r>
              <a:rPr lang="ro-RO" sz="1600" dirty="0" err="1" smtClean="0"/>
              <a:t>cadru.setVisible</a:t>
            </a:r>
            <a:r>
              <a:rPr lang="ro-RO" sz="1600" dirty="0" smtClean="0"/>
              <a:t>(</a:t>
            </a:r>
            <a:r>
              <a:rPr lang="ro-RO" sz="1600" dirty="0" err="1" smtClean="0"/>
              <a:t>true</a:t>
            </a:r>
            <a:r>
              <a:rPr lang="ro-RO" sz="1600" dirty="0" smtClean="0"/>
              <a:t>);</a:t>
            </a:r>
          </a:p>
          <a:p>
            <a:r>
              <a:rPr lang="ro-RO" sz="1600" dirty="0" smtClean="0"/>
              <a:t>        </a:t>
            </a:r>
            <a:r>
              <a:rPr lang="ro-RO" sz="1600" dirty="0" err="1" smtClean="0"/>
              <a:t>if</a:t>
            </a:r>
            <a:r>
              <a:rPr lang="ro-RO" sz="1600" dirty="0" smtClean="0"/>
              <a:t> (</a:t>
            </a:r>
            <a:r>
              <a:rPr lang="ro-RO" sz="1600" dirty="0" err="1" smtClean="0"/>
              <a:t>cadru.executabil</a:t>
            </a:r>
            <a:r>
              <a:rPr lang="ro-RO" sz="1600" dirty="0" smtClean="0"/>
              <a:t> == </a:t>
            </a:r>
            <a:r>
              <a:rPr lang="ro-RO" sz="1600" dirty="0" err="1" smtClean="0"/>
              <a:t>null</a:t>
            </a:r>
            <a:r>
              <a:rPr lang="ro-RO" sz="1600" dirty="0" smtClean="0"/>
              <a:t>) {</a:t>
            </a:r>
          </a:p>
          <a:p>
            <a:r>
              <a:rPr lang="ro-RO" sz="1600" dirty="0" smtClean="0"/>
              <a:t>            </a:t>
            </a:r>
            <a:r>
              <a:rPr lang="ro-RO" sz="1600" dirty="0" err="1" smtClean="0"/>
              <a:t>cadru.executabil</a:t>
            </a:r>
            <a:r>
              <a:rPr lang="ro-RO" sz="1600" dirty="0" smtClean="0"/>
              <a:t> = </a:t>
            </a:r>
            <a:r>
              <a:rPr lang="ro-RO" sz="1600" dirty="0" err="1" smtClean="0"/>
              <a:t>new</a:t>
            </a:r>
            <a:r>
              <a:rPr lang="ro-RO" sz="1600" dirty="0" smtClean="0"/>
              <a:t> </a:t>
            </a:r>
            <a:r>
              <a:rPr lang="ro-RO" sz="1600" dirty="0" err="1" smtClean="0"/>
              <a:t>Thread</a:t>
            </a:r>
            <a:r>
              <a:rPr lang="ro-RO" sz="1600" dirty="0" smtClean="0"/>
              <a:t>(cadru);</a:t>
            </a:r>
          </a:p>
          <a:p>
            <a:r>
              <a:rPr lang="ro-RO" sz="1600" dirty="0" smtClean="0"/>
              <a:t>            </a:t>
            </a:r>
            <a:r>
              <a:rPr lang="ro-RO" sz="1600" dirty="0" err="1" smtClean="0"/>
              <a:t>cadru.executabil.start</a:t>
            </a:r>
            <a:r>
              <a:rPr lang="ro-RO" sz="1600" dirty="0" smtClean="0"/>
              <a:t>();</a:t>
            </a:r>
          </a:p>
          <a:p>
            <a:r>
              <a:rPr lang="ro-RO" sz="1600" dirty="0" smtClean="0"/>
              <a:t>        }</a:t>
            </a:r>
          </a:p>
          <a:p>
            <a:r>
              <a:rPr lang="ro-RO" sz="1600" dirty="0" smtClean="0"/>
              <a:t>    }</a:t>
            </a:r>
            <a:endParaRPr lang="ro-RO" sz="1600" dirty="0"/>
          </a:p>
        </p:txBody>
      </p:sp>
    </p:spTree>
    <p:extLst>
      <p:ext uri="{BB962C8B-B14F-4D97-AF65-F5344CB8AC3E}">
        <p14:creationId xmlns:p14="http://schemas.microsoft.com/office/powerpoint/2010/main" val="344633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4168" y="630194"/>
            <a:ext cx="9601196" cy="331893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o-RO" sz="1100" dirty="0"/>
              <a:t>public </a:t>
            </a:r>
            <a:r>
              <a:rPr lang="ro-RO" sz="1100" dirty="0" err="1"/>
              <a:t>void</a:t>
            </a:r>
            <a:r>
              <a:rPr lang="ro-RO" sz="1100" dirty="0"/>
              <a:t> </a:t>
            </a:r>
            <a:r>
              <a:rPr lang="ro-RO" sz="1100" dirty="0" err="1"/>
              <a:t>run</a:t>
            </a:r>
            <a:r>
              <a:rPr lang="ro-RO" sz="1100" dirty="0"/>
              <a:t>() {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        </a:t>
            </a:r>
            <a:r>
              <a:rPr lang="ro-RO" sz="1100" dirty="0" err="1"/>
              <a:t>URLConnection</a:t>
            </a:r>
            <a:r>
              <a:rPr lang="ro-RO" sz="1100" dirty="0"/>
              <a:t> </a:t>
            </a:r>
            <a:r>
              <a:rPr lang="ro-RO" sz="1100" dirty="0" err="1"/>
              <a:t>conn</a:t>
            </a:r>
            <a:r>
              <a:rPr lang="ro-RO" sz="1100" dirty="0"/>
              <a:t> = </a:t>
            </a:r>
            <a:r>
              <a:rPr lang="ro-RO" sz="1100" dirty="0" err="1"/>
              <a:t>null</a:t>
            </a:r>
            <a:r>
              <a:rPr lang="ro-RO" sz="1100" dirty="0"/>
              <a:t>;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        </a:t>
            </a:r>
            <a:r>
              <a:rPr lang="ro-RO" sz="1100" dirty="0" err="1"/>
              <a:t>InputStreamReader</a:t>
            </a:r>
            <a:r>
              <a:rPr lang="ro-RO" sz="1100" dirty="0"/>
              <a:t> in;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        </a:t>
            </a:r>
            <a:r>
              <a:rPr lang="ro-RO" sz="1100" dirty="0" err="1"/>
              <a:t>BufferedReader</a:t>
            </a:r>
            <a:r>
              <a:rPr lang="ro-RO" sz="1100" dirty="0"/>
              <a:t> data;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        </a:t>
            </a:r>
            <a:r>
              <a:rPr lang="ro-RO" sz="1100" dirty="0" err="1"/>
              <a:t>String</a:t>
            </a:r>
            <a:r>
              <a:rPr lang="ro-RO" sz="1100" dirty="0"/>
              <a:t> line;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        </a:t>
            </a:r>
            <a:r>
              <a:rPr lang="ro-RO" sz="1100" dirty="0" err="1"/>
              <a:t>StringBuffer</a:t>
            </a:r>
            <a:r>
              <a:rPr lang="ro-RO" sz="1100" dirty="0"/>
              <a:t> buf = </a:t>
            </a:r>
            <a:r>
              <a:rPr lang="ro-RO" sz="1100" dirty="0" err="1"/>
              <a:t>new</a:t>
            </a:r>
            <a:r>
              <a:rPr lang="ro-RO" sz="1100" dirty="0"/>
              <a:t> </a:t>
            </a:r>
            <a:r>
              <a:rPr lang="ro-RO" sz="1100" dirty="0" err="1"/>
              <a:t>StringBuffer</a:t>
            </a:r>
            <a:r>
              <a:rPr lang="ro-RO" sz="1100" dirty="0"/>
              <a:t>();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        </a:t>
            </a:r>
            <a:r>
              <a:rPr lang="ro-RO" sz="1100" dirty="0" err="1"/>
              <a:t>try</a:t>
            </a:r>
            <a:r>
              <a:rPr lang="ro-RO" sz="1100" dirty="0"/>
              <a:t> {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            </a:t>
            </a:r>
            <a:r>
              <a:rPr lang="ro-RO" sz="1100" dirty="0" err="1"/>
              <a:t>conn</a:t>
            </a:r>
            <a:r>
              <a:rPr lang="ro-RO" sz="1100" dirty="0"/>
              <a:t> = </a:t>
            </a:r>
            <a:r>
              <a:rPr lang="ro-RO" sz="1100" dirty="0" err="1"/>
              <a:t>this.page.openConnection</a:t>
            </a:r>
            <a:r>
              <a:rPr lang="ro-RO" sz="1100" dirty="0"/>
              <a:t>();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            </a:t>
            </a:r>
            <a:r>
              <a:rPr lang="ro-RO" sz="1100" dirty="0" err="1"/>
              <a:t>conn.connect</a:t>
            </a:r>
            <a:r>
              <a:rPr lang="ro-RO" sz="1100" dirty="0"/>
              <a:t>();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            </a:t>
            </a:r>
            <a:r>
              <a:rPr lang="ro-RO" sz="1100" dirty="0" err="1"/>
              <a:t>box.setText</a:t>
            </a:r>
            <a:r>
              <a:rPr lang="ro-RO" sz="1100" dirty="0"/>
              <a:t>("Conexiune deschisa ...");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            in = </a:t>
            </a:r>
            <a:r>
              <a:rPr lang="ro-RO" sz="1100" dirty="0" err="1"/>
              <a:t>new</a:t>
            </a:r>
            <a:r>
              <a:rPr lang="ro-RO" sz="1100" dirty="0"/>
              <a:t> </a:t>
            </a:r>
            <a:r>
              <a:rPr lang="ro-RO" sz="1100" dirty="0" err="1"/>
              <a:t>InputStreamReader</a:t>
            </a:r>
            <a:r>
              <a:rPr lang="ro-RO" sz="1100" dirty="0"/>
              <a:t>(</a:t>
            </a:r>
            <a:r>
              <a:rPr lang="ro-RO" sz="1100" dirty="0" err="1"/>
              <a:t>conn.getInputStream</a:t>
            </a:r>
            <a:r>
              <a:rPr lang="ro-RO" sz="1100" dirty="0"/>
              <a:t>());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            data = </a:t>
            </a:r>
            <a:r>
              <a:rPr lang="ro-RO" sz="1100" dirty="0" err="1"/>
              <a:t>new</a:t>
            </a:r>
            <a:r>
              <a:rPr lang="ro-RO" sz="1100" dirty="0"/>
              <a:t> </a:t>
            </a:r>
            <a:r>
              <a:rPr lang="ro-RO" sz="1100" dirty="0" err="1"/>
              <a:t>BufferedReader</a:t>
            </a:r>
            <a:r>
              <a:rPr lang="ro-RO" sz="1100" dirty="0"/>
              <a:t>(in);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            </a:t>
            </a:r>
            <a:r>
              <a:rPr lang="ro-RO" sz="1100" dirty="0" err="1"/>
              <a:t>box.setText</a:t>
            </a:r>
            <a:r>
              <a:rPr lang="ro-RO" sz="1100" dirty="0"/>
              <a:t>("</a:t>
            </a:r>
            <a:r>
              <a:rPr lang="ro-RO" sz="1100" dirty="0" err="1"/>
              <a:t>Citeste</a:t>
            </a:r>
            <a:r>
              <a:rPr lang="ro-RO" sz="1100" dirty="0"/>
              <a:t> date ...");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            </a:t>
            </a:r>
            <a:r>
              <a:rPr lang="ro-RO" sz="1100" dirty="0" err="1"/>
              <a:t>while</a:t>
            </a:r>
            <a:r>
              <a:rPr lang="ro-RO" sz="1100" dirty="0"/>
              <a:t> ((line = </a:t>
            </a:r>
            <a:r>
              <a:rPr lang="ro-RO" sz="1100" dirty="0" err="1"/>
              <a:t>data.readLine</a:t>
            </a:r>
            <a:r>
              <a:rPr lang="ro-RO" sz="1100" dirty="0"/>
              <a:t>()) != </a:t>
            </a:r>
            <a:r>
              <a:rPr lang="ro-RO" sz="1100" dirty="0" err="1"/>
              <a:t>null</a:t>
            </a:r>
            <a:r>
              <a:rPr lang="ro-RO" sz="1100" dirty="0"/>
              <a:t>) {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                </a:t>
            </a:r>
            <a:r>
              <a:rPr lang="ro-RO" sz="1100" dirty="0" err="1"/>
              <a:t>buf.append</a:t>
            </a:r>
            <a:r>
              <a:rPr lang="ro-RO" sz="1100" dirty="0"/>
              <a:t>(line + "\n");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            }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            </a:t>
            </a:r>
            <a:r>
              <a:rPr lang="ro-RO" sz="1100" dirty="0" err="1"/>
              <a:t>box.setText</a:t>
            </a:r>
            <a:r>
              <a:rPr lang="ro-RO" sz="1100" dirty="0"/>
              <a:t>(</a:t>
            </a:r>
            <a:r>
              <a:rPr lang="ro-RO" sz="1100" dirty="0" err="1"/>
              <a:t>buf.toString</a:t>
            </a:r>
            <a:r>
              <a:rPr lang="ro-RO" sz="1100" dirty="0"/>
              <a:t>());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        }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        catch (</a:t>
            </a:r>
            <a:r>
              <a:rPr lang="ro-RO" sz="1100" dirty="0" err="1"/>
              <a:t>IOException</a:t>
            </a:r>
            <a:r>
              <a:rPr lang="ro-RO" sz="1100" dirty="0"/>
              <a:t> e) {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            </a:t>
            </a:r>
            <a:r>
              <a:rPr lang="ro-RO" sz="1100" dirty="0" err="1"/>
              <a:t>System.out.println</a:t>
            </a:r>
            <a:r>
              <a:rPr lang="ro-RO" sz="1100" dirty="0"/>
              <a:t>("Eroare ! :" + </a:t>
            </a:r>
            <a:r>
              <a:rPr lang="ro-RO" sz="1100" dirty="0" err="1"/>
              <a:t>e.getMessage</a:t>
            </a:r>
            <a:r>
              <a:rPr lang="ro-RO" sz="1100" dirty="0"/>
              <a:t>());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        }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    }</a:t>
            </a:r>
          </a:p>
          <a:p>
            <a:pPr>
              <a:spcBef>
                <a:spcPts val="0"/>
              </a:spcBef>
            </a:pPr>
            <a:r>
              <a:rPr lang="ro-RO" sz="1100" dirty="0"/>
              <a:t>}</a:t>
            </a:r>
          </a:p>
          <a:p>
            <a:pPr>
              <a:spcBef>
                <a:spcPts val="0"/>
              </a:spcBef>
            </a:pPr>
            <a:endParaRPr lang="ro-RO" sz="1100" dirty="0"/>
          </a:p>
        </p:txBody>
      </p:sp>
    </p:spTree>
    <p:extLst>
      <p:ext uri="{BB962C8B-B14F-4D97-AF65-F5344CB8AC3E}">
        <p14:creationId xmlns:p14="http://schemas.microsoft.com/office/powerpoint/2010/main" val="231249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Socluri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aplicaţiile</a:t>
            </a:r>
            <a:r>
              <a:rPr lang="en-US" sz="2000" dirty="0"/>
              <a:t> de </a:t>
            </a:r>
            <a:r>
              <a:rPr lang="en-US" sz="2000" dirty="0" err="1"/>
              <a:t>reţea</a:t>
            </a:r>
            <a:r>
              <a:rPr lang="en-US" sz="2000" dirty="0"/>
              <a:t> </a:t>
            </a:r>
            <a:r>
              <a:rPr lang="en-US" sz="2000" dirty="0" err="1"/>
              <a:t>unde</a:t>
            </a:r>
            <a:r>
              <a:rPr lang="en-US" sz="2000" dirty="0"/>
              <a:t> </a:t>
            </a:r>
            <a:r>
              <a:rPr lang="en-US" sz="2000" dirty="0" err="1"/>
              <a:t>folosirea</a:t>
            </a:r>
            <a:r>
              <a:rPr lang="en-US" sz="2000" dirty="0"/>
              <a:t> </a:t>
            </a:r>
            <a:r>
              <a:rPr lang="en-US" sz="2000" dirty="0" err="1"/>
              <a:t>claselor</a:t>
            </a:r>
            <a:r>
              <a:rPr lang="en-US" sz="2000" dirty="0"/>
              <a:t> </a:t>
            </a:r>
            <a:r>
              <a:rPr lang="en-US" sz="2000" b="1" dirty="0"/>
              <a:t>URL</a:t>
            </a:r>
            <a:r>
              <a:rPr lang="en-US" sz="2000" dirty="0"/>
              <a:t> </a:t>
            </a:r>
            <a:r>
              <a:rPr lang="en-US" sz="2000" dirty="0" err="1"/>
              <a:t>sau</a:t>
            </a:r>
            <a:r>
              <a:rPr lang="en-US" sz="2000" dirty="0"/>
              <a:t> </a:t>
            </a:r>
            <a:r>
              <a:rPr lang="en-US" sz="2000" b="1" dirty="0" err="1"/>
              <a:t>URLConnection</a:t>
            </a:r>
            <a:r>
              <a:rPr lang="en-US" sz="2000" dirty="0"/>
              <a:t> nu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suficientă</a:t>
            </a:r>
            <a:r>
              <a:rPr lang="en-US" sz="2000" dirty="0"/>
              <a:t> (cum </a:t>
            </a:r>
            <a:r>
              <a:rPr lang="en-US" sz="2000" dirty="0" err="1"/>
              <a:t>ar</a:t>
            </a:r>
            <a:r>
              <a:rPr lang="en-US" sz="2000" dirty="0"/>
              <a:t> fi </a:t>
            </a:r>
            <a:r>
              <a:rPr lang="en-US" sz="2000" dirty="0" err="1"/>
              <a:t>cazurile</a:t>
            </a:r>
            <a:r>
              <a:rPr lang="en-US" sz="2000" dirty="0"/>
              <a:t> </a:t>
            </a:r>
            <a:r>
              <a:rPr lang="en-US" sz="2000" dirty="0" err="1"/>
              <a:t>când</a:t>
            </a:r>
            <a:r>
              <a:rPr lang="en-US" sz="2000" dirty="0"/>
              <a:t> se </a:t>
            </a:r>
            <a:r>
              <a:rPr lang="en-US" sz="2000" dirty="0" err="1"/>
              <a:t>folosesc</a:t>
            </a:r>
            <a:r>
              <a:rPr lang="en-US" sz="2000" dirty="0"/>
              <a:t> </a:t>
            </a:r>
            <a:r>
              <a:rPr lang="en-US" sz="2000" dirty="0" err="1"/>
              <a:t>alte</a:t>
            </a:r>
            <a:r>
              <a:rPr lang="en-US" sz="2000" dirty="0"/>
              <a:t> </a:t>
            </a:r>
            <a:r>
              <a:rPr lang="en-US" sz="2000" dirty="0" err="1"/>
              <a:t>protocoale</a:t>
            </a:r>
            <a:r>
              <a:rPr lang="en-US" sz="2000" dirty="0"/>
              <a:t> </a:t>
            </a:r>
            <a:r>
              <a:rPr lang="en-US" sz="2000" dirty="0" err="1"/>
              <a:t>sau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comunicaţii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reţea</a:t>
            </a:r>
            <a:r>
              <a:rPr lang="en-US" sz="2000" dirty="0"/>
              <a:t> </a:t>
            </a:r>
            <a:r>
              <a:rPr lang="en-US" sz="2000" dirty="0" err="1"/>
              <a:t>generice</a:t>
            </a:r>
            <a:r>
              <a:rPr lang="en-US" sz="2000" dirty="0"/>
              <a:t>), Java </a:t>
            </a:r>
            <a:r>
              <a:rPr lang="en-US" sz="2000" dirty="0" err="1"/>
              <a:t>oferă</a:t>
            </a:r>
            <a:r>
              <a:rPr lang="en-US" sz="2000" dirty="0"/>
              <a:t> </a:t>
            </a:r>
            <a:r>
              <a:rPr lang="en-US" sz="2000" dirty="0" err="1"/>
              <a:t>clasele</a:t>
            </a:r>
            <a:r>
              <a:rPr lang="en-US" sz="2000" dirty="0"/>
              <a:t> </a:t>
            </a:r>
            <a:r>
              <a:rPr lang="en-US" sz="2000" b="1" dirty="0"/>
              <a:t>Socket</a:t>
            </a:r>
            <a:r>
              <a:rPr lang="en-US" sz="2000" dirty="0"/>
              <a:t> </a:t>
            </a:r>
            <a:r>
              <a:rPr lang="en-US" sz="2000" dirty="0" err="1"/>
              <a:t>şi</a:t>
            </a:r>
            <a:r>
              <a:rPr lang="en-US" sz="2000" dirty="0"/>
              <a:t> </a:t>
            </a:r>
            <a:r>
              <a:rPr lang="en-US" sz="2000" b="1" dirty="0" err="1"/>
              <a:t>ServerSocket</a:t>
            </a:r>
            <a:r>
              <a:rPr lang="en-US" sz="2000" dirty="0"/>
              <a:t> </a:t>
            </a:r>
            <a:r>
              <a:rPr lang="en-US" sz="2000" dirty="0" err="1"/>
              <a:t>drept</a:t>
            </a:r>
            <a:r>
              <a:rPr lang="en-US" sz="2000" dirty="0"/>
              <a:t> o </a:t>
            </a:r>
            <a:r>
              <a:rPr lang="en-US" sz="2000" dirty="0" err="1"/>
              <a:t>metodă</a:t>
            </a:r>
            <a:r>
              <a:rPr lang="en-US" sz="2000" dirty="0"/>
              <a:t> </a:t>
            </a:r>
            <a:r>
              <a:rPr lang="en-US" sz="2000" dirty="0" err="1"/>
              <a:t>proprie</a:t>
            </a:r>
            <a:r>
              <a:rPr lang="en-US" sz="2000" dirty="0"/>
              <a:t>, </a:t>
            </a:r>
            <a:r>
              <a:rPr lang="en-US" sz="2000" dirty="0" err="1"/>
              <a:t>echivalentă</a:t>
            </a:r>
            <a:r>
              <a:rPr lang="en-US" sz="2000" dirty="0"/>
              <a:t> </a:t>
            </a:r>
            <a:r>
              <a:rPr lang="en-US" sz="2000" dirty="0" err="1"/>
              <a:t>tehnicilor</a:t>
            </a:r>
            <a:r>
              <a:rPr lang="en-US" sz="2000" dirty="0"/>
              <a:t> de </a:t>
            </a:r>
            <a:r>
              <a:rPr lang="en-US" sz="2000" dirty="0" err="1"/>
              <a:t>programare</a:t>
            </a:r>
            <a:r>
              <a:rPr lang="en-US" sz="2000" dirty="0"/>
              <a:t> cu </a:t>
            </a:r>
            <a:r>
              <a:rPr lang="en-US" sz="2000" dirty="0" err="1"/>
              <a:t>socluri</a:t>
            </a:r>
            <a:r>
              <a:rPr lang="en-US" sz="2000" dirty="0"/>
              <a:t> TCP standard (sockets).</a:t>
            </a:r>
            <a:endParaRPr lang="ro-RO" sz="2000" dirty="0"/>
          </a:p>
          <a:p>
            <a:r>
              <a:rPr lang="en-US" sz="2000" dirty="0"/>
              <a:t/>
            </a:r>
            <a:br>
              <a:rPr lang="en-US" sz="2000" dirty="0"/>
            </a:br>
            <a:r>
              <a:rPr lang="ro-RO" sz="2000" dirty="0"/>
              <a:t>Clasa </a:t>
            </a:r>
            <a:r>
              <a:rPr lang="ro-RO" sz="2000" b="1" dirty="0" err="1"/>
              <a:t>Socket</a:t>
            </a:r>
            <a:r>
              <a:rPr lang="ro-RO" sz="2000" dirty="0"/>
              <a:t> oferă o </a:t>
            </a:r>
            <a:r>
              <a:rPr lang="ro-RO" sz="2000" dirty="0" err="1"/>
              <a:t>interfaţă</a:t>
            </a:r>
            <a:r>
              <a:rPr lang="ro-RO" sz="2000" dirty="0"/>
              <a:t> soclu client asemănătoare soclurilor UNIX. Crearea unei noi </a:t>
            </a:r>
            <a:r>
              <a:rPr lang="ro-RO" sz="2000" dirty="0" err="1"/>
              <a:t>instanţe</a:t>
            </a:r>
            <a:r>
              <a:rPr lang="ro-RO" sz="2000" dirty="0"/>
              <a:t> a clasei </a:t>
            </a:r>
            <a:r>
              <a:rPr lang="ro-RO" sz="2000" b="1" dirty="0" err="1"/>
              <a:t>Socket</a:t>
            </a:r>
            <a:r>
              <a:rPr lang="ro-RO" sz="2000" dirty="0"/>
              <a:t>, prin care se deschide o conexiune, se face astfel (</a:t>
            </a:r>
            <a:r>
              <a:rPr lang="ro-RO" sz="2000" dirty="0" err="1"/>
              <a:t>numeGazda</a:t>
            </a:r>
            <a:r>
              <a:rPr lang="ro-RO" sz="2000" dirty="0"/>
              <a:t> este numele </a:t>
            </a:r>
            <a:r>
              <a:rPr lang="ro-RO" sz="2000" dirty="0" err="1"/>
              <a:t>maşinii</a:t>
            </a:r>
            <a:r>
              <a:rPr lang="ro-RO" sz="2000" dirty="0"/>
              <a:t> gazdă, iar </a:t>
            </a:r>
            <a:r>
              <a:rPr lang="ro-RO" sz="2000" dirty="0" err="1"/>
              <a:t>numarPort</a:t>
            </a:r>
            <a:r>
              <a:rPr lang="ro-RO" sz="2000" dirty="0"/>
              <a:t> este numărul portului):</a:t>
            </a:r>
          </a:p>
          <a:p>
            <a:r>
              <a:rPr lang="en-US" sz="2000" dirty="0"/>
              <a:t>Socket </a:t>
            </a:r>
            <a:r>
              <a:rPr lang="en-US" sz="2000" dirty="0" err="1"/>
              <a:t>conexiune</a:t>
            </a:r>
            <a:r>
              <a:rPr lang="en-US" sz="2000" dirty="0"/>
              <a:t> = new Socket(</a:t>
            </a:r>
            <a:r>
              <a:rPr lang="en-US" sz="2000" dirty="0" err="1"/>
              <a:t>numeGazda</a:t>
            </a:r>
            <a:r>
              <a:rPr lang="en-US" sz="2000" dirty="0"/>
              <a:t>, </a:t>
            </a:r>
            <a:r>
              <a:rPr lang="en-US" sz="2000" dirty="0" err="1"/>
              <a:t>numarPort</a:t>
            </a:r>
            <a:r>
              <a:rPr lang="en-US" sz="2000" dirty="0"/>
              <a:t>);</a:t>
            </a:r>
            <a:endParaRPr lang="ro-RO" sz="2000" dirty="0"/>
          </a:p>
          <a:p>
            <a:r>
              <a:rPr lang="en-US" sz="2000" dirty="0"/>
              <a:t/>
            </a:r>
            <a:br>
              <a:rPr lang="en-US" sz="2000" dirty="0"/>
            </a:br>
            <a:endParaRPr lang="ro-RO" sz="2000" dirty="0"/>
          </a:p>
        </p:txBody>
      </p:sp>
    </p:spTree>
    <p:extLst>
      <p:ext uri="{BB962C8B-B14F-4D97-AF65-F5344CB8AC3E}">
        <p14:creationId xmlns:p14="http://schemas.microsoft.com/office/powerpoint/2010/main" val="3579178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Socluri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O </a:t>
            </a:r>
            <a:r>
              <a:rPr lang="en-US" dirty="0" err="1"/>
              <a:t>dată</a:t>
            </a:r>
            <a:r>
              <a:rPr lang="en-US" dirty="0"/>
              <a:t> </a:t>
            </a:r>
            <a:r>
              <a:rPr lang="en-US" dirty="0" err="1"/>
              <a:t>soclul</a:t>
            </a:r>
            <a:r>
              <a:rPr lang="en-US" dirty="0"/>
              <a:t> </a:t>
            </a:r>
            <a:r>
              <a:rPr lang="en-US" dirty="0" err="1"/>
              <a:t>deschis</a:t>
            </a:r>
            <a:r>
              <a:rPr lang="en-US" dirty="0"/>
              <a:t>, </a:t>
            </a:r>
            <a:r>
              <a:rPr lang="en-US" dirty="0" err="1"/>
              <a:t>puteţi</a:t>
            </a:r>
            <a:r>
              <a:rPr lang="en-US" dirty="0"/>
              <a:t> </a:t>
            </a:r>
            <a:r>
              <a:rPr lang="en-US" dirty="0" err="1"/>
              <a:t>folosi</a:t>
            </a:r>
            <a:r>
              <a:rPr lang="en-US" dirty="0"/>
              <a:t> </a:t>
            </a:r>
            <a:r>
              <a:rPr lang="en-US" dirty="0" err="1"/>
              <a:t>fluxuri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de </a:t>
            </a:r>
            <a:r>
              <a:rPr lang="en-US" dirty="0" err="1"/>
              <a:t>ieşire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citi</a:t>
            </a:r>
            <a:r>
              <a:rPr lang="en-US" dirty="0"/>
              <a:t> din </a:t>
            </a:r>
            <a:r>
              <a:rPr lang="en-US" dirty="0" err="1"/>
              <a:t>acesta</a:t>
            </a:r>
            <a:r>
              <a:rPr lang="en-US" dirty="0"/>
              <a:t>:</a:t>
            </a:r>
            <a:endParaRPr lang="ro-RO" dirty="0"/>
          </a:p>
          <a:p>
            <a:r>
              <a:rPr lang="en-US" dirty="0" err="1"/>
              <a:t>BufferedInputStream</a:t>
            </a:r>
            <a:r>
              <a:rPr lang="en-US" dirty="0"/>
              <a:t> </a:t>
            </a:r>
            <a:r>
              <a:rPr lang="en-US" dirty="0" err="1"/>
              <a:t>bis</a:t>
            </a:r>
            <a:r>
              <a:rPr lang="en-US" dirty="0"/>
              <a:t> </a:t>
            </a:r>
            <a:r>
              <a:rPr lang="en-US" dirty="0" smtClean="0"/>
              <a:t>=  </a:t>
            </a:r>
            <a:r>
              <a:rPr lang="en-US" dirty="0"/>
              <a:t>new </a:t>
            </a:r>
            <a:r>
              <a:rPr lang="en-US" dirty="0" err="1"/>
              <a:t>BufferedInputStream</a:t>
            </a:r>
            <a:r>
              <a:rPr lang="en-US" dirty="0"/>
              <a:t>(</a:t>
            </a:r>
            <a:r>
              <a:rPr lang="en-US" dirty="0" err="1"/>
              <a:t>conexiune.getInputStream</a:t>
            </a:r>
            <a:r>
              <a:rPr lang="en-US" dirty="0"/>
              <a:t>());</a:t>
            </a:r>
            <a:endParaRPr lang="ro-RO" dirty="0"/>
          </a:p>
          <a:p>
            <a:r>
              <a:rPr lang="en-US" dirty="0" err="1"/>
              <a:t>DataInputStream</a:t>
            </a:r>
            <a:r>
              <a:rPr lang="en-US" dirty="0"/>
              <a:t> </a:t>
            </a:r>
            <a:r>
              <a:rPr lang="en-US" dirty="0" err="1"/>
              <a:t>intrare</a:t>
            </a:r>
            <a:r>
              <a:rPr lang="en-US" dirty="0"/>
              <a:t> = new </a:t>
            </a:r>
            <a:r>
              <a:rPr lang="en-US" dirty="0" err="1"/>
              <a:t>DataInputStream</a:t>
            </a:r>
            <a:r>
              <a:rPr lang="en-US" dirty="0"/>
              <a:t>(</a:t>
            </a:r>
            <a:r>
              <a:rPr lang="en-US" dirty="0" err="1"/>
              <a:t>bis</a:t>
            </a:r>
            <a:r>
              <a:rPr lang="en-US" dirty="0"/>
              <a:t>);</a:t>
            </a:r>
            <a:endParaRPr lang="ro-RO" dirty="0"/>
          </a:p>
          <a:p>
            <a:r>
              <a:rPr lang="en-US" dirty="0" err="1"/>
              <a:t>BufferedOutputStream</a:t>
            </a:r>
            <a:r>
              <a:rPr lang="en-US" dirty="0"/>
              <a:t> </a:t>
            </a:r>
            <a:r>
              <a:rPr lang="en-US" dirty="0" err="1"/>
              <a:t>bos</a:t>
            </a:r>
            <a:r>
              <a:rPr lang="en-US" dirty="0"/>
              <a:t> </a:t>
            </a:r>
            <a:r>
              <a:rPr lang="en-US" dirty="0" smtClean="0"/>
              <a:t>=  </a:t>
            </a:r>
            <a:r>
              <a:rPr lang="en-US" dirty="0"/>
              <a:t>new </a:t>
            </a:r>
            <a:r>
              <a:rPr lang="en-US" dirty="0" err="1"/>
              <a:t>BufferedOutputStream</a:t>
            </a:r>
            <a:r>
              <a:rPr lang="en-US" dirty="0"/>
              <a:t>(</a:t>
            </a:r>
            <a:r>
              <a:rPr lang="en-US" dirty="0" err="1"/>
              <a:t>conexiune.getOutputStream</a:t>
            </a:r>
            <a:r>
              <a:rPr lang="en-US" dirty="0"/>
              <a:t>() ) ;</a:t>
            </a:r>
            <a:endParaRPr lang="ro-RO" dirty="0"/>
          </a:p>
          <a:p>
            <a:r>
              <a:rPr lang="en-US" dirty="0" err="1"/>
              <a:t>DataOutputStream</a:t>
            </a:r>
            <a:r>
              <a:rPr lang="en-US" dirty="0"/>
              <a:t> </a:t>
            </a:r>
            <a:r>
              <a:rPr lang="en-US" dirty="0" err="1"/>
              <a:t>iesire</a:t>
            </a:r>
            <a:r>
              <a:rPr lang="en-US" dirty="0"/>
              <a:t> = new </a:t>
            </a:r>
            <a:r>
              <a:rPr lang="en-US" dirty="0" err="1"/>
              <a:t>DataOutputStream</a:t>
            </a:r>
            <a:r>
              <a:rPr lang="en-US" dirty="0"/>
              <a:t>(</a:t>
            </a:r>
            <a:r>
              <a:rPr lang="en-US" dirty="0" err="1"/>
              <a:t>bos</a:t>
            </a:r>
            <a:r>
              <a:rPr lang="en-US" dirty="0"/>
              <a:t>);</a:t>
            </a:r>
            <a:endParaRPr lang="ro-RO" dirty="0"/>
          </a:p>
          <a:p>
            <a:r>
              <a:rPr lang="ro-RO" dirty="0"/>
              <a:t>După ce </a:t>
            </a:r>
            <a:r>
              <a:rPr lang="ro-RO" dirty="0" err="1"/>
              <a:t>aţi</a:t>
            </a:r>
            <a:r>
              <a:rPr lang="ro-RO" dirty="0"/>
              <a:t> terminat de lucrat cu un soclu, nu </a:t>
            </a:r>
            <a:r>
              <a:rPr lang="ro-RO" dirty="0" err="1"/>
              <a:t>uitaţi</a:t>
            </a:r>
            <a:r>
              <a:rPr lang="ro-RO" dirty="0"/>
              <a:t> să îl </a:t>
            </a:r>
            <a:r>
              <a:rPr lang="ro-RO" dirty="0" err="1"/>
              <a:t>închideţi</a:t>
            </a:r>
            <a:r>
              <a:rPr lang="ro-RO" dirty="0"/>
              <a:t>. (Acest lucru va închide, de asemenea, fluxurile de intrare sau de </a:t>
            </a:r>
            <a:r>
              <a:rPr lang="ro-RO" dirty="0" err="1"/>
              <a:t>ieşire</a:t>
            </a:r>
            <a:r>
              <a:rPr lang="ro-RO" dirty="0"/>
              <a:t> pe care le-</a:t>
            </a:r>
            <a:r>
              <a:rPr lang="ro-RO" dirty="0" err="1"/>
              <a:t>aţi</a:t>
            </a:r>
            <a:r>
              <a:rPr lang="ro-RO" dirty="0"/>
              <a:t> atribuit soclului.) </a:t>
            </a:r>
          </a:p>
          <a:p>
            <a:r>
              <a:rPr lang="en-US" dirty="0" err="1"/>
              <a:t>conexiune.close</a:t>
            </a:r>
            <a:r>
              <a:rPr lang="en-US" dirty="0"/>
              <a:t>() ;</a:t>
            </a:r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6716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Socluri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o-RO" dirty="0"/>
              <a:t>Soclurile server </a:t>
            </a:r>
            <a:r>
              <a:rPr lang="ro-RO" dirty="0" err="1"/>
              <a:t>funcţionează</a:t>
            </a:r>
            <a:r>
              <a:rPr lang="ro-RO" dirty="0"/>
              <a:t> asemănător, cu </a:t>
            </a:r>
            <a:r>
              <a:rPr lang="ro-RO" dirty="0" err="1"/>
              <a:t>excepţia</a:t>
            </a:r>
            <a:r>
              <a:rPr lang="ro-RO" dirty="0"/>
              <a:t> metodei </a:t>
            </a:r>
            <a:r>
              <a:rPr lang="ro-RO" b="1" dirty="0"/>
              <a:t>accept</a:t>
            </a:r>
            <a:r>
              <a:rPr lang="ro-RO" dirty="0"/>
              <a:t>(). Un soclu server ascultă pe un port TCP pentru a intercepta o cerere de conexiune din partea unui client; </a:t>
            </a:r>
            <a:r>
              <a:rPr lang="ro-RO" dirty="0" err="1"/>
              <a:t>atund</a:t>
            </a:r>
            <a:r>
              <a:rPr lang="ro-RO" dirty="0"/>
              <a:t> când clientul se conectează la un port, metoda </a:t>
            </a:r>
            <a:r>
              <a:rPr lang="ro-RO" b="1" dirty="0"/>
              <a:t>accept</a:t>
            </a:r>
            <a:r>
              <a:rPr lang="ro-RO" dirty="0"/>
              <a:t>() acceptă conexiunea de la acesta. Prin folosirea soclurilor client </a:t>
            </a:r>
            <a:r>
              <a:rPr lang="ro-RO" dirty="0" err="1"/>
              <a:t>şi</a:t>
            </a:r>
            <a:r>
              <a:rPr lang="ro-RO" dirty="0"/>
              <a:t> server </a:t>
            </a:r>
            <a:r>
              <a:rPr lang="ro-RO" dirty="0" err="1"/>
              <a:t>puteţi</a:t>
            </a:r>
            <a:r>
              <a:rPr lang="ro-RO" dirty="0"/>
              <a:t> crea </a:t>
            </a:r>
            <a:r>
              <a:rPr lang="ro-RO" dirty="0" err="1"/>
              <a:t>aplicaţii</a:t>
            </a:r>
            <a:r>
              <a:rPr lang="ro-RO" dirty="0"/>
              <a:t> care comunică prin </a:t>
            </a:r>
            <a:r>
              <a:rPr lang="ro-RO" dirty="0" err="1"/>
              <a:t>reţea</a:t>
            </a:r>
            <a:r>
              <a:rPr lang="ro-RO" dirty="0"/>
              <a:t>.</a:t>
            </a:r>
          </a:p>
          <a:p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crea</a:t>
            </a:r>
            <a:r>
              <a:rPr lang="en-US" dirty="0"/>
              <a:t> un </a:t>
            </a:r>
            <a:r>
              <a:rPr lang="en-US" dirty="0" err="1"/>
              <a:t>soclu</a:t>
            </a:r>
            <a:r>
              <a:rPr lang="en-US" dirty="0"/>
              <a:t> server </a:t>
            </a:r>
            <a:r>
              <a:rPr lang="en-US" dirty="0" err="1"/>
              <a:t>ataşat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port, se </a:t>
            </a:r>
            <a:r>
              <a:rPr lang="en-US" dirty="0" err="1"/>
              <a:t>instanţiază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b="1" dirty="0" err="1"/>
              <a:t>ServerSocket</a:t>
            </a:r>
            <a:r>
              <a:rPr lang="en-US" dirty="0"/>
              <a:t>, </a:t>
            </a:r>
            <a:r>
              <a:rPr lang="en-US" dirty="0" err="1"/>
              <a:t>specificând</a:t>
            </a:r>
            <a:r>
              <a:rPr lang="en-US" dirty="0"/>
              <a:t> </a:t>
            </a:r>
            <a:r>
              <a:rPr lang="en-US" dirty="0" err="1"/>
              <a:t>numărul</a:t>
            </a:r>
            <a:r>
              <a:rPr lang="en-US" dirty="0"/>
              <a:t> </a:t>
            </a:r>
            <a:r>
              <a:rPr lang="en-US" dirty="0" err="1"/>
              <a:t>portului</a:t>
            </a:r>
            <a:r>
              <a:rPr lang="en-US" dirty="0"/>
              <a:t>:</a:t>
            </a:r>
            <a:endParaRPr lang="ro-RO" dirty="0"/>
          </a:p>
          <a:p>
            <a:r>
              <a:rPr lang="en-US" dirty="0" err="1"/>
              <a:t>ServerSocket</a:t>
            </a:r>
            <a:r>
              <a:rPr lang="en-US" dirty="0"/>
              <a:t> </a:t>
            </a:r>
            <a:r>
              <a:rPr lang="en-US" dirty="0" err="1"/>
              <a:t>sConexiune</a:t>
            </a:r>
            <a:r>
              <a:rPr lang="en-US" dirty="0"/>
              <a:t> = new </a:t>
            </a:r>
            <a:r>
              <a:rPr lang="en-US" dirty="0" err="1"/>
              <a:t>ServerSocket</a:t>
            </a:r>
            <a:r>
              <a:rPr lang="en-US" dirty="0"/>
              <a:t>(8888);</a:t>
            </a:r>
            <a:endParaRPr lang="ro-RO" dirty="0"/>
          </a:p>
          <a:p>
            <a:r>
              <a:rPr lang="en-US" dirty="0" err="1"/>
              <a:t>Folosiţi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 accept() </a:t>
            </a:r>
            <a:r>
              <a:rPr lang="en-US" dirty="0" err="1"/>
              <a:t>pentru</a:t>
            </a:r>
            <a:r>
              <a:rPr lang="en-US" dirty="0"/>
              <a:t> a „</a:t>
            </a:r>
            <a:r>
              <a:rPr lang="en-US" dirty="0" err="1"/>
              <a:t>asculta</a:t>
            </a:r>
            <a:r>
              <a:rPr lang="en-US" dirty="0"/>
              <a:t>” </a:t>
            </a:r>
            <a:r>
              <a:rPr lang="en-US" dirty="0" err="1"/>
              <a:t>portul</a:t>
            </a:r>
            <a:r>
              <a:rPr lang="en-US" dirty="0"/>
              <a:t> </a:t>
            </a:r>
            <a:r>
              <a:rPr lang="en-US" dirty="0" err="1"/>
              <a:t>respectiv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accepta</a:t>
            </a:r>
            <a:r>
              <a:rPr lang="en-US" dirty="0"/>
              <a:t> </a:t>
            </a:r>
            <a:r>
              <a:rPr lang="en-US" dirty="0" err="1"/>
              <a:t>eventualele</a:t>
            </a:r>
            <a:r>
              <a:rPr lang="en-US" dirty="0"/>
              <a:t> </a:t>
            </a:r>
            <a:r>
              <a:rPr lang="en-US" dirty="0" err="1"/>
              <a:t>conexiuni</a:t>
            </a:r>
            <a:r>
              <a:rPr lang="en-US" dirty="0"/>
              <a:t> ale </a:t>
            </a:r>
            <a:r>
              <a:rPr lang="en-US" dirty="0" err="1"/>
              <a:t>clienţilor</a:t>
            </a:r>
            <a:r>
              <a:rPr lang="en-US" dirty="0"/>
              <a:t>:</a:t>
            </a:r>
            <a:endParaRPr lang="ro-RO" dirty="0"/>
          </a:p>
          <a:p>
            <a:r>
              <a:rPr lang="en-US" dirty="0" err="1"/>
              <a:t>sConexiune.accept</a:t>
            </a:r>
            <a:r>
              <a:rPr lang="en-US" dirty="0"/>
              <a:t>();</a:t>
            </a:r>
            <a:endParaRPr lang="ro-RO" dirty="0"/>
          </a:p>
          <a:p>
            <a:r>
              <a:rPr lang="en-US" dirty="0"/>
              <a:t>O </a:t>
            </a:r>
            <a:r>
              <a:rPr lang="en-US" dirty="0" err="1"/>
              <a:t>dată</a:t>
            </a:r>
            <a:r>
              <a:rPr lang="en-US" dirty="0"/>
              <a:t> </a:t>
            </a:r>
            <a:r>
              <a:rPr lang="en-US" dirty="0" err="1"/>
              <a:t>conexiunea</a:t>
            </a:r>
            <a:r>
              <a:rPr lang="en-US" dirty="0"/>
              <a:t> </a:t>
            </a:r>
            <a:r>
              <a:rPr lang="en-US" dirty="0" err="1"/>
              <a:t>efectuată</a:t>
            </a:r>
            <a:r>
              <a:rPr lang="en-US" dirty="0"/>
              <a:t>, </a:t>
            </a:r>
            <a:r>
              <a:rPr lang="en-US" dirty="0" err="1"/>
              <a:t>puteţi</a:t>
            </a:r>
            <a:r>
              <a:rPr lang="en-US" dirty="0"/>
              <a:t> </a:t>
            </a:r>
            <a:r>
              <a:rPr lang="en-US" dirty="0" err="1"/>
              <a:t>folosi</a:t>
            </a:r>
            <a:r>
              <a:rPr lang="en-US" dirty="0"/>
              <a:t> </a:t>
            </a:r>
            <a:r>
              <a:rPr lang="en-US" dirty="0" err="1"/>
              <a:t>fluxuri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de </a:t>
            </a:r>
            <a:r>
              <a:rPr lang="en-US" dirty="0" err="1"/>
              <a:t>ieşire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citi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scrie</a:t>
            </a:r>
            <a:r>
              <a:rPr lang="en-US" dirty="0"/>
              <a:t> de la, </a:t>
            </a:r>
            <a:r>
              <a:rPr lang="en-US" dirty="0" err="1"/>
              <a:t>către</a:t>
            </a:r>
            <a:r>
              <a:rPr lang="en-US" dirty="0"/>
              <a:t> un client.</a:t>
            </a:r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20159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 smtClean="0"/>
              <a:t>Exemplu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222" y="2556932"/>
            <a:ext cx="10964562" cy="3318936"/>
          </a:xfrm>
        </p:spPr>
        <p:txBody>
          <a:bodyPr>
            <a:noAutofit/>
          </a:bodyPr>
          <a:lstStyle/>
          <a:p>
            <a:r>
              <a:rPr lang="en-US" sz="1800" dirty="0" err="1"/>
              <a:t>Pentru</a:t>
            </a:r>
            <a:r>
              <a:rPr lang="en-US" sz="1800" dirty="0"/>
              <a:t> a </a:t>
            </a:r>
            <a:r>
              <a:rPr lang="en-US" sz="1800" dirty="0" err="1"/>
              <a:t>prezenta</a:t>
            </a:r>
            <a:r>
              <a:rPr lang="en-US" sz="1800" dirty="0"/>
              <a:t> </a:t>
            </a:r>
            <a:r>
              <a:rPr lang="en-US" sz="1800" dirty="0" err="1"/>
              <a:t>comunicaţia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reţea</a:t>
            </a:r>
            <a:r>
              <a:rPr lang="en-US" sz="1800" dirty="0"/>
              <a:t> </a:t>
            </a:r>
            <a:r>
              <a:rPr lang="en-US" sz="1800" dirty="0" err="1"/>
              <a:t>prin</a:t>
            </a:r>
            <a:r>
              <a:rPr lang="en-US" sz="1800" dirty="0"/>
              <a:t> Java,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prezentat</a:t>
            </a:r>
            <a:r>
              <a:rPr lang="en-US" sz="1800" dirty="0"/>
              <a:t> </a:t>
            </a:r>
            <a:r>
              <a:rPr lang="en-US" sz="1800" dirty="0" err="1"/>
              <a:t>aici</a:t>
            </a:r>
            <a:r>
              <a:rPr lang="en-US" sz="1800" dirty="0"/>
              <a:t> un program “Banal”, care </a:t>
            </a:r>
            <a:r>
              <a:rPr lang="en-US" sz="1800" dirty="0" err="1"/>
              <a:t>foloseşte</a:t>
            </a:r>
            <a:r>
              <a:rPr lang="en-US" sz="1800" dirty="0"/>
              <a:t> </a:t>
            </a:r>
            <a:r>
              <a:rPr lang="en-US" sz="1800" dirty="0" err="1"/>
              <a:t>clasele</a:t>
            </a:r>
            <a:r>
              <a:rPr lang="en-US" sz="1800" dirty="0"/>
              <a:t> Socket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implementarea</a:t>
            </a:r>
            <a:r>
              <a:rPr lang="en-US" sz="1800" dirty="0"/>
              <a:t> </a:t>
            </a:r>
            <a:r>
              <a:rPr lang="en-US" sz="1800" dirty="0" err="1"/>
              <a:t>unei</a:t>
            </a:r>
            <a:r>
              <a:rPr lang="en-US" sz="1800" dirty="0"/>
              <a:t> </a:t>
            </a:r>
            <a:r>
              <a:rPr lang="en-US" sz="1800" dirty="0" err="1"/>
              <a:t>aplicaţii</a:t>
            </a:r>
            <a:r>
              <a:rPr lang="en-US" sz="1800" dirty="0"/>
              <a:t> client – server de </a:t>
            </a:r>
            <a:r>
              <a:rPr lang="en-US" sz="1800" dirty="0" err="1"/>
              <a:t>reţea</a:t>
            </a:r>
            <a:r>
              <a:rPr lang="en-US" sz="1800" dirty="0"/>
              <a:t>. </a:t>
            </a:r>
            <a:endParaRPr lang="ro-RO" sz="1800" dirty="0"/>
          </a:p>
          <a:p>
            <a:r>
              <a:rPr lang="en-US" sz="1800" dirty="0" err="1"/>
              <a:t>Exemplul</a:t>
            </a:r>
            <a:r>
              <a:rPr lang="en-US" sz="1800" dirty="0"/>
              <a:t> </a:t>
            </a:r>
            <a:r>
              <a:rPr lang="en-US" sz="1800" dirty="0" err="1"/>
              <a:t>func</a:t>
            </a:r>
            <a:r>
              <a:rPr lang="ro-RO" sz="1800" dirty="0" err="1"/>
              <a:t>ţionează</a:t>
            </a:r>
            <a:r>
              <a:rPr lang="ro-RO" sz="1800" dirty="0"/>
              <a:t> în felul următor: programul server </a:t>
            </a:r>
            <a:r>
              <a:rPr lang="ro-RO" sz="1800" dirty="0" err="1"/>
              <a:t>aşteaptă</a:t>
            </a:r>
            <a:r>
              <a:rPr lang="ro-RO" sz="1800" dirty="0"/>
              <a:t> conectarea unui client. La conectarea unui client, serverul pune o întrebare </a:t>
            </a:r>
            <a:r>
              <a:rPr lang="ro-RO" sz="1800" dirty="0" err="1"/>
              <a:t>şi</a:t>
            </a:r>
            <a:r>
              <a:rPr lang="ro-RO" sz="1800" dirty="0"/>
              <a:t> </a:t>
            </a:r>
            <a:r>
              <a:rPr lang="ro-RO" sz="1800" dirty="0" err="1"/>
              <a:t>aşteaptă</a:t>
            </a:r>
            <a:r>
              <a:rPr lang="ro-RO" sz="1800" dirty="0"/>
              <a:t> un răspuns. La celălalt capăt clientul </a:t>
            </a:r>
            <a:r>
              <a:rPr lang="ro-RO" sz="1800" dirty="0" err="1"/>
              <a:t>recepţionează</a:t>
            </a:r>
            <a:r>
              <a:rPr lang="ro-RO" sz="1800" dirty="0"/>
              <a:t> întrebarea, o </a:t>
            </a:r>
            <a:r>
              <a:rPr lang="ro-RO" sz="1800" dirty="0" err="1"/>
              <a:t>afişează</a:t>
            </a:r>
            <a:r>
              <a:rPr lang="ro-RO" sz="1800" dirty="0"/>
              <a:t> către utilizator </a:t>
            </a:r>
            <a:r>
              <a:rPr lang="ro-RO" sz="1800" dirty="0" err="1"/>
              <a:t>şi</a:t>
            </a:r>
            <a:r>
              <a:rPr lang="ro-RO" sz="1800" dirty="0"/>
              <a:t> </a:t>
            </a:r>
            <a:r>
              <a:rPr lang="ro-RO" sz="1800" dirty="0" err="1"/>
              <a:t>aşteaptă</a:t>
            </a:r>
            <a:r>
              <a:rPr lang="ro-RO" sz="1800" dirty="0"/>
              <a:t> un răspuns de la acesta. Utilizatorul introduce răspunsul, care este trimis înapoi către server. Serverul verifică dacă răspunsul este corect </a:t>
            </a:r>
            <a:r>
              <a:rPr lang="ro-RO" sz="1800" dirty="0" err="1"/>
              <a:t>şi</a:t>
            </a:r>
            <a:r>
              <a:rPr lang="ro-RO" sz="1800" dirty="0"/>
              <a:t> </a:t>
            </a:r>
            <a:r>
              <a:rPr lang="ro-RO" sz="1800" dirty="0" err="1"/>
              <a:t>anunţă</a:t>
            </a:r>
            <a:r>
              <a:rPr lang="ro-RO" sz="1800" dirty="0"/>
              <a:t> rezultatul. După aceasta, serverul întreabă clientul dacă </a:t>
            </a:r>
            <a:r>
              <a:rPr lang="ro-RO" sz="1800" dirty="0" err="1"/>
              <a:t>doreşte</a:t>
            </a:r>
            <a:r>
              <a:rPr lang="ro-RO" sz="1800" dirty="0"/>
              <a:t> să i se pună altă întrebare; dacă răspunsul este afirmativ, procesul se repetă.</a:t>
            </a:r>
          </a:p>
          <a:p>
            <a:r>
              <a:rPr lang="ro-RO" sz="1800" dirty="0" err="1"/>
              <a:t>Aplicaţia</a:t>
            </a:r>
            <a:r>
              <a:rPr lang="ro-RO" sz="1800" dirty="0"/>
              <a:t> are nevoie de 2 </a:t>
            </a:r>
            <a:r>
              <a:rPr lang="ro-RO" sz="1800" dirty="0" err="1"/>
              <a:t>părţi</a:t>
            </a:r>
            <a:r>
              <a:rPr lang="ro-RO" sz="1800" dirty="0"/>
              <a:t>: pe partea de server este necesar un program care să monitorizeze un anumit port al calculatorului gazdă, acolo unde urmează să se conecteze clientul. La detectarea unui client, serverul alege o întrebare </a:t>
            </a:r>
            <a:r>
              <a:rPr lang="ro-RO" sz="1800" dirty="0" err="1"/>
              <a:t>şi</a:t>
            </a:r>
            <a:r>
              <a:rPr lang="ro-RO" sz="1800" dirty="0"/>
              <a:t> o trimite clientului pe portul respectiv. După aceasta, serverul intră într-o stare de </a:t>
            </a:r>
            <a:r>
              <a:rPr lang="ro-RO" sz="1800" dirty="0" err="1"/>
              <a:t>aşteptare</a:t>
            </a:r>
            <a:r>
              <a:rPr lang="ro-RO" sz="1800" dirty="0"/>
              <a:t> până ce </a:t>
            </a:r>
            <a:r>
              <a:rPr lang="ro-RO" sz="1800" dirty="0" err="1"/>
              <a:t>recepţionează</a:t>
            </a:r>
            <a:r>
              <a:rPr lang="ro-RO" sz="1800" dirty="0"/>
              <a:t> răspunsul de la client. După primirea răspunsului, serverul verifică corectitudinea acestuia </a:t>
            </a:r>
            <a:r>
              <a:rPr lang="ro-RO" sz="1800" dirty="0" err="1"/>
              <a:t>şi</a:t>
            </a:r>
            <a:r>
              <a:rPr lang="ro-RO" sz="1800" dirty="0"/>
              <a:t> </a:t>
            </a:r>
            <a:r>
              <a:rPr lang="ro-RO" sz="1800" dirty="0" err="1"/>
              <a:t>anunţă</a:t>
            </a:r>
            <a:r>
              <a:rPr lang="ro-RO" sz="1800" dirty="0"/>
              <a:t> clientul rezultatul </a:t>
            </a:r>
            <a:r>
              <a:rPr lang="ro-RO" sz="1800" dirty="0" err="1"/>
              <a:t>obţinut</a:t>
            </a:r>
            <a:r>
              <a:rPr lang="ro-RO" sz="1800" dirty="0"/>
              <a:t>. Apoi clientul este întrebat dacă </a:t>
            </a:r>
            <a:r>
              <a:rPr lang="ro-RO" sz="1800" dirty="0" err="1"/>
              <a:t>doreşte</a:t>
            </a:r>
            <a:r>
              <a:rPr lang="ro-RO" sz="1800" dirty="0"/>
              <a:t> o nouă întrebare, </a:t>
            </a:r>
            <a:r>
              <a:rPr lang="ro-RO" sz="1800" dirty="0" err="1"/>
              <a:t>ş.a.m.d</a:t>
            </a:r>
            <a:r>
              <a:rPr lang="ro-RO" sz="1800" dirty="0"/>
              <a:t>.</a:t>
            </a:r>
            <a:endParaRPr lang="ro-RO" sz="1800" dirty="0"/>
          </a:p>
        </p:txBody>
      </p:sp>
    </p:spTree>
    <p:extLst>
      <p:ext uri="{BB962C8B-B14F-4D97-AF65-F5344CB8AC3E}">
        <p14:creationId xmlns:p14="http://schemas.microsoft.com/office/powerpoint/2010/main" val="2952827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 smtClean="0"/>
              <a:t>Exemplu</a:t>
            </a:r>
            <a:r>
              <a:rPr lang="en-US" dirty="0" smtClean="0"/>
              <a:t>. 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o-RO" dirty="0"/>
              <a:t>Pe scurt serverul realizează următoarele </a:t>
            </a:r>
            <a:r>
              <a:rPr lang="ro-RO" dirty="0" err="1"/>
              <a:t>acţiuni</a:t>
            </a:r>
            <a:r>
              <a:rPr lang="ro-RO" dirty="0"/>
              <a:t>:</a:t>
            </a:r>
          </a:p>
          <a:p>
            <a:pPr lvl="1"/>
            <a:r>
              <a:rPr lang="ro-RO" dirty="0" err="1"/>
              <a:t>Aşteaptă</a:t>
            </a:r>
            <a:r>
              <a:rPr lang="ro-RO" dirty="0"/>
              <a:t> conectarea unui client</a:t>
            </a:r>
          </a:p>
          <a:p>
            <a:pPr lvl="1"/>
            <a:r>
              <a:rPr lang="ro-RO" dirty="0"/>
              <a:t>Acceptă conectarea unui client</a:t>
            </a:r>
          </a:p>
          <a:p>
            <a:pPr lvl="1"/>
            <a:r>
              <a:rPr lang="ro-RO" dirty="0"/>
              <a:t>Transmite clientului o întrebare </a:t>
            </a:r>
            <a:r>
              <a:rPr lang="ro-RO" dirty="0" err="1"/>
              <a:t>aleatoare</a:t>
            </a:r>
            <a:endParaRPr lang="ro-RO" dirty="0"/>
          </a:p>
          <a:p>
            <a:pPr lvl="1"/>
            <a:r>
              <a:rPr lang="ro-RO" dirty="0" err="1"/>
              <a:t>Aşteaptă</a:t>
            </a:r>
            <a:r>
              <a:rPr lang="ro-RO" dirty="0"/>
              <a:t> răspunsul de la client</a:t>
            </a:r>
          </a:p>
          <a:p>
            <a:pPr lvl="1"/>
            <a:r>
              <a:rPr lang="ro-RO" dirty="0"/>
              <a:t>Verifică răspunsul </a:t>
            </a:r>
            <a:r>
              <a:rPr lang="ro-RO" dirty="0" err="1"/>
              <a:t>şi</a:t>
            </a:r>
            <a:r>
              <a:rPr lang="ro-RO" dirty="0"/>
              <a:t> </a:t>
            </a:r>
            <a:r>
              <a:rPr lang="ro-RO" dirty="0" err="1"/>
              <a:t>anunţă</a:t>
            </a:r>
            <a:r>
              <a:rPr lang="ro-RO" dirty="0"/>
              <a:t> clientul rezultatul</a:t>
            </a:r>
          </a:p>
          <a:p>
            <a:pPr lvl="1"/>
            <a:r>
              <a:rPr lang="ro-RO" dirty="0"/>
              <a:t>Întreabă clientul dacă </a:t>
            </a:r>
            <a:r>
              <a:rPr lang="ro-RO" dirty="0" err="1"/>
              <a:t>doreşte</a:t>
            </a:r>
            <a:r>
              <a:rPr lang="ro-RO" dirty="0"/>
              <a:t> o altă întrebare</a:t>
            </a:r>
          </a:p>
          <a:p>
            <a:pPr lvl="1"/>
            <a:r>
              <a:rPr lang="ro-RO" dirty="0" err="1"/>
              <a:t>Aşteaptă</a:t>
            </a:r>
            <a:r>
              <a:rPr lang="ro-RO" dirty="0"/>
              <a:t> un răspuns (y/n) de la client</a:t>
            </a:r>
          </a:p>
          <a:p>
            <a:pPr lvl="1"/>
            <a:r>
              <a:rPr lang="ro-RO" dirty="0"/>
              <a:t>Dacă este cazul revine la pasul 3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007133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Exemplu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4908" y="2425127"/>
            <a:ext cx="10882183" cy="3318936"/>
          </a:xfrm>
        </p:spPr>
        <p:txBody>
          <a:bodyPr>
            <a:noAutofit/>
          </a:bodyPr>
          <a:lstStyle/>
          <a:p>
            <a:r>
              <a:rPr lang="ro-RO" sz="1600" dirty="0"/>
              <a:t>Pe partea de client este o </a:t>
            </a:r>
            <a:r>
              <a:rPr lang="ro-RO" sz="1600" dirty="0" err="1"/>
              <a:t>aplicaţie</a:t>
            </a:r>
            <a:r>
              <a:rPr lang="ro-RO" sz="1600" dirty="0"/>
              <a:t> care rulează în linia de comandă. Clientul se conectează la server </a:t>
            </a:r>
            <a:r>
              <a:rPr lang="ro-RO" sz="1600" dirty="0" err="1"/>
              <a:t>şi</a:t>
            </a:r>
            <a:r>
              <a:rPr lang="ro-RO" sz="1600" dirty="0"/>
              <a:t> </a:t>
            </a:r>
            <a:r>
              <a:rPr lang="ro-RO" sz="1600" dirty="0" err="1"/>
              <a:t>aşteaptă</a:t>
            </a:r>
            <a:r>
              <a:rPr lang="ro-RO" sz="1600" dirty="0"/>
              <a:t> o întrebare. Atunci când </a:t>
            </a:r>
            <a:r>
              <a:rPr lang="ro-RO" sz="1600" dirty="0" err="1"/>
              <a:t>primeşte</a:t>
            </a:r>
            <a:r>
              <a:rPr lang="ro-RO" sz="1600" dirty="0"/>
              <a:t> o întrebare de la server, clientul o </a:t>
            </a:r>
            <a:r>
              <a:rPr lang="ro-RO" sz="1600" dirty="0" err="1"/>
              <a:t>afişează</a:t>
            </a:r>
            <a:r>
              <a:rPr lang="ro-RO" sz="1600" dirty="0"/>
              <a:t> utilizatorului </a:t>
            </a:r>
            <a:r>
              <a:rPr lang="ro-RO" sz="1600" dirty="0" err="1"/>
              <a:t>şi</a:t>
            </a:r>
            <a:r>
              <a:rPr lang="ro-RO" sz="1600" dirty="0"/>
              <a:t> </a:t>
            </a:r>
            <a:r>
              <a:rPr lang="ro-RO" sz="1600" dirty="0" err="1"/>
              <a:t>aşteaptă</a:t>
            </a:r>
            <a:r>
              <a:rPr lang="ro-RO" sz="1600" dirty="0"/>
              <a:t> introducerea unui răspuns. Acest răspuns este trimis înapoi către server, după care se </a:t>
            </a:r>
            <a:r>
              <a:rPr lang="ro-RO" sz="1600" dirty="0" err="1"/>
              <a:t>aşteaptă</a:t>
            </a:r>
            <a:r>
              <a:rPr lang="ro-RO" sz="1600" dirty="0"/>
              <a:t> răspunsul acestuia. Clientul </a:t>
            </a:r>
            <a:r>
              <a:rPr lang="ro-RO" sz="1600" dirty="0" err="1"/>
              <a:t>afişează</a:t>
            </a:r>
            <a:r>
              <a:rPr lang="ro-RO" sz="1600" dirty="0"/>
              <a:t> răspunsul de la server </a:t>
            </a:r>
            <a:r>
              <a:rPr lang="ro-RO" sz="1600" dirty="0" err="1"/>
              <a:t>şi</a:t>
            </a:r>
            <a:r>
              <a:rPr lang="ro-RO" sz="1600" dirty="0"/>
              <a:t> permite utilizatorului să opteze pentru continuarea programului (dacă mai </a:t>
            </a:r>
            <a:r>
              <a:rPr lang="ro-RO" sz="1600" dirty="0" err="1"/>
              <a:t>doreşte</a:t>
            </a:r>
            <a:r>
              <a:rPr lang="ro-RO" sz="1600" dirty="0"/>
              <a:t> o nouă întrebare). Clientul trimite apoi răspunsul utilizatorului </a:t>
            </a:r>
            <a:r>
              <a:rPr lang="ro-RO" sz="1600" dirty="0" err="1"/>
              <a:t>şi</a:t>
            </a:r>
            <a:r>
              <a:rPr lang="ro-RO" sz="1600" dirty="0"/>
              <a:t> </a:t>
            </a:r>
            <a:r>
              <a:rPr lang="ro-RO" sz="1600" dirty="0" err="1"/>
              <a:t>îşi</a:t>
            </a:r>
            <a:r>
              <a:rPr lang="ro-RO" sz="1600" dirty="0"/>
              <a:t> termină </a:t>
            </a:r>
            <a:r>
              <a:rPr lang="ro-RO" sz="1600" dirty="0" err="1"/>
              <a:t>execuţia</a:t>
            </a:r>
            <a:r>
              <a:rPr lang="ro-RO" sz="1600" dirty="0"/>
              <a:t>, în cazul acesta nu </a:t>
            </a:r>
            <a:r>
              <a:rPr lang="ro-RO" sz="1600" dirty="0" err="1"/>
              <a:t>doreşte</a:t>
            </a:r>
            <a:r>
              <a:rPr lang="ro-RO" sz="1600" dirty="0"/>
              <a:t> continuarea </a:t>
            </a:r>
            <a:r>
              <a:rPr lang="ro-RO" sz="1600" dirty="0" err="1"/>
              <a:t>conversaţiei</a:t>
            </a:r>
            <a:r>
              <a:rPr lang="ro-RO" sz="1600" dirty="0"/>
              <a:t>. Principalele </a:t>
            </a:r>
            <a:r>
              <a:rPr lang="ro-RO" sz="1600" dirty="0" err="1"/>
              <a:t>activităţi</a:t>
            </a:r>
            <a:r>
              <a:rPr lang="ro-RO" sz="1600" dirty="0"/>
              <a:t> ale clientului sunt următoarele:</a:t>
            </a:r>
          </a:p>
          <a:p>
            <a:pPr lvl="1"/>
            <a:r>
              <a:rPr lang="ro-RO" sz="1400" dirty="0"/>
              <a:t>Se conectează la server</a:t>
            </a:r>
          </a:p>
          <a:p>
            <a:pPr lvl="1"/>
            <a:r>
              <a:rPr lang="ro-RO" sz="1400" dirty="0" err="1"/>
              <a:t>Aşteaptă</a:t>
            </a:r>
            <a:r>
              <a:rPr lang="ro-RO" sz="1400" dirty="0"/>
              <a:t> trimiterea unei întrebări</a:t>
            </a:r>
          </a:p>
          <a:p>
            <a:pPr lvl="1"/>
            <a:r>
              <a:rPr lang="ro-RO" sz="1400" dirty="0" err="1"/>
              <a:t>Afişează</a:t>
            </a:r>
            <a:r>
              <a:rPr lang="ro-RO" sz="1400" dirty="0"/>
              <a:t> întrebarea </a:t>
            </a:r>
            <a:r>
              <a:rPr lang="ro-RO" sz="1400" dirty="0" err="1"/>
              <a:t>şi</a:t>
            </a:r>
            <a:r>
              <a:rPr lang="ro-RO" sz="1400" dirty="0"/>
              <a:t> </a:t>
            </a:r>
            <a:r>
              <a:rPr lang="ro-RO" sz="1400" dirty="0" err="1"/>
              <a:t>primeşte</a:t>
            </a:r>
            <a:r>
              <a:rPr lang="ro-RO" sz="1400" dirty="0"/>
              <a:t> răspunsul introdus de utilizator</a:t>
            </a:r>
          </a:p>
          <a:p>
            <a:pPr lvl="1"/>
            <a:r>
              <a:rPr lang="ro-RO" sz="1400" dirty="0"/>
              <a:t>Trimite răspunsul către server</a:t>
            </a:r>
          </a:p>
          <a:p>
            <a:pPr lvl="1"/>
            <a:r>
              <a:rPr lang="ro-RO" sz="1400" dirty="0" err="1"/>
              <a:t>Aşteaptă</a:t>
            </a:r>
            <a:r>
              <a:rPr lang="ro-RO" sz="1400" dirty="0"/>
              <a:t> un răspuns de la server</a:t>
            </a:r>
          </a:p>
          <a:p>
            <a:pPr lvl="1"/>
            <a:r>
              <a:rPr lang="ro-RO" sz="1400" dirty="0" err="1"/>
              <a:t>Afişează</a:t>
            </a:r>
            <a:r>
              <a:rPr lang="ro-RO" sz="1400" dirty="0"/>
              <a:t> răspunsul </a:t>
            </a:r>
            <a:r>
              <a:rPr lang="ro-RO" sz="1400" dirty="0" err="1"/>
              <a:t>şi</a:t>
            </a:r>
            <a:r>
              <a:rPr lang="ro-RO" sz="1400" dirty="0"/>
              <a:t> îl întreabă pe utilizator dacă </a:t>
            </a:r>
            <a:r>
              <a:rPr lang="ro-RO" sz="1400" dirty="0" err="1"/>
              <a:t>doreşt</a:t>
            </a:r>
            <a:r>
              <a:rPr lang="ro-RO" sz="1400" dirty="0"/>
              <a:t> o nouă întrebare</a:t>
            </a:r>
          </a:p>
          <a:p>
            <a:pPr lvl="1"/>
            <a:r>
              <a:rPr lang="ro-RO" sz="1400" dirty="0"/>
              <a:t>Trimite serverului răspunsul utilizatorului</a:t>
            </a:r>
          </a:p>
          <a:p>
            <a:pPr lvl="1"/>
            <a:r>
              <a:rPr lang="ro-RO" sz="1400" dirty="0"/>
              <a:t>Dacă este cazul, revine la pasul 2.  </a:t>
            </a:r>
          </a:p>
          <a:p>
            <a:endParaRPr lang="ro-RO" sz="1600" dirty="0"/>
          </a:p>
        </p:txBody>
      </p:sp>
    </p:spTree>
    <p:extLst>
      <p:ext uri="{BB962C8B-B14F-4D97-AF65-F5344CB8AC3E}">
        <p14:creationId xmlns:p14="http://schemas.microsoft.com/office/powerpoint/2010/main" val="27845166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</TotalTime>
  <Words>1473</Words>
  <Application>Microsoft Office PowerPoint</Application>
  <PresentationFormat>Widescreen</PresentationFormat>
  <Paragraphs>131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Garamond</vt:lpstr>
      <vt:lpstr>Organic</vt:lpstr>
      <vt:lpstr>Comunicarea prin Internet</vt:lpstr>
      <vt:lpstr>Comunicaţia prin reţea în Java</vt:lpstr>
      <vt:lpstr>Deschiderea de conexiuni Web</vt:lpstr>
      <vt:lpstr>Deschiderea unui flux în reţea</vt:lpstr>
      <vt:lpstr>Exemplu</vt:lpstr>
      <vt:lpstr>Exemplu</vt:lpstr>
      <vt:lpstr>PowerPoint Presentation</vt:lpstr>
      <vt:lpstr>Socluri</vt:lpstr>
      <vt:lpstr>Socluri</vt:lpstr>
      <vt:lpstr>Socluri</vt:lpstr>
      <vt:lpstr>Exemplu</vt:lpstr>
      <vt:lpstr>Exemplu. </vt:lpstr>
      <vt:lpstr>Exemplu</vt:lpstr>
    </vt:vector>
  </TitlesOfParts>
  <Company>UPT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Comunicarea prin Internet</dc:title>
  <dc:creator>Manuela Panoiu</dc:creator>
  <cp:lastModifiedBy>Manuela Panoiu</cp:lastModifiedBy>
  <cp:revision>3</cp:revision>
  <dcterms:created xsi:type="dcterms:W3CDTF">2020-11-28T07:51:41Z</dcterms:created>
  <dcterms:modified xsi:type="dcterms:W3CDTF">2020-11-28T08:06:10Z</dcterms:modified>
</cp:coreProperties>
</file>