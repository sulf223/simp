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57" r:id="rId23"/>
    <p:sldId id="258" r:id="rId24"/>
    <p:sldId id="259" r:id="rId25"/>
    <p:sldId id="260" r:id="rId26"/>
    <p:sldId id="262" r:id="rId27"/>
    <p:sldId id="278" r:id="rId28"/>
    <p:sldId id="279" r:id="rId29"/>
    <p:sldId id="280" r:id="rId30"/>
    <p:sldId id="282" r:id="rId31"/>
    <p:sldId id="283" r:id="rId32"/>
    <p:sldId id="284" r:id="rId33"/>
    <p:sldId id="285" r:id="rId34"/>
    <p:sldId id="286" r:id="rId35"/>
    <p:sldId id="289" r:id="rId36"/>
    <p:sldId id="291" r:id="rId37"/>
    <p:sldId id="292" r:id="rId38"/>
    <p:sldId id="298" r:id="rId39"/>
    <p:sldId id="299" r:id="rId40"/>
    <p:sldId id="300" r:id="rId41"/>
    <p:sldId id="293" r:id="rId42"/>
    <p:sldId id="294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296" r:id="rId60"/>
    <p:sldId id="317" r:id="rId61"/>
    <p:sldId id="318" r:id="rId62"/>
    <p:sldId id="319" r:id="rId63"/>
    <p:sldId id="320" r:id="rId64"/>
    <p:sldId id="290" r:id="rId6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2B5B0-FA8F-4F80-9BDE-724C5E51AF66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842A5-4336-40E6-A989-1AE1338B9E2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4270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Java este un limbaj de programare orientat pe obiect, dezvoltat de </a:t>
            </a:r>
            <a:r>
              <a:rPr lang="ro-RO" b="1" dirty="0"/>
              <a:t>Sun Microsystems</a:t>
            </a:r>
            <a:r>
              <a:rPr lang="ro-RO" dirty="0"/>
              <a:t> și lansat în 1995. Este unul dintre cele mai populare limbaje de programare datorită portabilității, ușurinței de utilizare și capabilităților sale puternice.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42A5-4336-40E6-A989-1AE1338B9E24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3807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dirty="0"/>
              <a:t>Java este un limbaj de programare orientat pe obiect, dezvoltat de </a:t>
            </a:r>
            <a:r>
              <a:rPr lang="ro-RO" b="1" dirty="0"/>
              <a:t>Sun Microsystems</a:t>
            </a:r>
            <a:r>
              <a:rPr lang="ro-RO" dirty="0"/>
              <a:t> și lansat în 1995. Este unul dintre cele mai populare limbaje de programare datorită portabilității, ușurinței de utilizare și capabilităților sale puternice.</a:t>
            </a:r>
          </a:p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42A5-4336-40E6-A989-1AE1338B9E24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9315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41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254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451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983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42A5-4336-40E6-A989-1AE1338B9E24}" type="slidenum">
              <a:rPr lang="ro-RO" smtClean="0"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8910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54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93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ro-RO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05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baseline="0" dirty="0"/>
              <a:t>Package </a:t>
            </a:r>
          </a:p>
          <a:p>
            <a:pPr marL="228600" indent="-228600">
              <a:buAutoNum type="arabicPeriod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C5C7E9-EBA2-4DFB-B793-7B90C02CADB7}" type="slidenum">
              <a:rPr lang="en-CA" smtClean="0"/>
              <a:t>59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990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23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9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63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071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27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0248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0266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129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390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985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4398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108076"/>
            <a:ext cx="5350933" cy="5368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3734" y="1108076"/>
            <a:ext cx="5350933" cy="5368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271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B3D68A-4495-41B3-8EA5-5CEC55589B9A}" type="datetimeFigureOut">
              <a:rPr lang="ro-RO" smtClean="0"/>
              <a:t>13.10.2025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ADB759-286A-4CE9-82AF-4E213575848A}" type="slidenum">
              <a:rPr lang="ro-RO" smtClean="0"/>
              <a:t>‹#›</a:t>
            </a:fld>
            <a:endParaRPr lang="ro-R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74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homepage.mac.com/aberfield/dmj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www.eclipse.org/downloads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Java_version_history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java.sun.com/j2se/1.4.2/install-windows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Programare</a:t>
            </a:r>
            <a:r>
              <a:rPr lang="en-US" dirty="0"/>
              <a:t> Java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2487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940D-F018-FE72-3DB1-D66284F2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ro-RO" dirty="0"/>
              <a:t>î</a:t>
            </a:r>
            <a:r>
              <a:rPr lang="en-GB" dirty="0" err="1"/>
              <a:t>nveti</a:t>
            </a:r>
            <a:r>
              <a:rPr lang="en-GB" dirty="0"/>
              <a:t>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A3DF9-881E-1241-1086-160DCB5C9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1. </a:t>
            </a:r>
            <a:r>
              <a:rPr lang="en-GB" b="1" dirty="0" err="1"/>
              <a:t>Limbaj</a:t>
            </a:r>
            <a:r>
              <a:rPr lang="en-GB" b="1" dirty="0"/>
              <a:t> </a:t>
            </a:r>
            <a:r>
              <a:rPr lang="en-GB" b="1" dirty="0" err="1"/>
              <a:t>versatil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stabil</a:t>
            </a:r>
            <a:endParaRPr lang="en-GB" b="1" dirty="0"/>
          </a:p>
          <a:p>
            <a:r>
              <a:rPr lang="en-GB" dirty="0"/>
              <a:t>Java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folosit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aproape</a:t>
            </a:r>
            <a:r>
              <a:rPr lang="en-GB" dirty="0"/>
              <a:t>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domeniile</a:t>
            </a:r>
            <a:r>
              <a:rPr lang="en-GB" dirty="0"/>
              <a:t> IT: </a:t>
            </a:r>
            <a:r>
              <a:rPr lang="en-GB" dirty="0" err="1"/>
              <a:t>aplicații</a:t>
            </a:r>
            <a:r>
              <a:rPr lang="en-GB" dirty="0"/>
              <a:t> desktop, web, mobile (Android), </a:t>
            </a:r>
            <a:r>
              <a:rPr lang="en-GB" dirty="0" err="1"/>
              <a:t>servere</a:t>
            </a:r>
            <a:r>
              <a:rPr lang="en-GB" dirty="0"/>
              <a:t>, IoT, cloud, big data, </a:t>
            </a:r>
            <a:r>
              <a:rPr lang="en-GB" dirty="0" err="1"/>
              <a:t>inteligență</a:t>
            </a:r>
            <a:r>
              <a:rPr lang="en-GB" dirty="0"/>
              <a:t> </a:t>
            </a:r>
            <a:r>
              <a:rPr lang="en-GB" dirty="0" err="1"/>
              <a:t>artificială</a:t>
            </a:r>
            <a:r>
              <a:rPr lang="en-GB" dirty="0"/>
              <a:t> etc.</a:t>
            </a:r>
          </a:p>
          <a:p>
            <a:r>
              <a:rPr lang="en-GB" dirty="0"/>
              <a:t>Are </a:t>
            </a:r>
            <a:r>
              <a:rPr lang="en-GB" dirty="0" err="1"/>
              <a:t>peste</a:t>
            </a:r>
            <a:r>
              <a:rPr lang="en-GB" dirty="0"/>
              <a:t> 25 de ani de </a:t>
            </a:r>
            <a:r>
              <a:rPr lang="en-GB" dirty="0" err="1"/>
              <a:t>existență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continuă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fie </a:t>
            </a:r>
            <a:r>
              <a:rPr lang="en-GB" dirty="0" err="1"/>
              <a:t>actualizat</a:t>
            </a:r>
            <a:r>
              <a:rPr lang="en-GB" dirty="0"/>
              <a:t> constant</a:t>
            </a:r>
          </a:p>
          <a:p>
            <a:r>
              <a:rPr lang="en-GB" b="1" dirty="0"/>
              <a:t>2. </a:t>
            </a:r>
            <a:r>
              <a:rPr lang="en-GB" b="1" dirty="0" err="1"/>
              <a:t>Bază</a:t>
            </a:r>
            <a:r>
              <a:rPr lang="en-GB" b="1" dirty="0"/>
              <a:t> </a:t>
            </a:r>
            <a:r>
              <a:rPr lang="en-GB" b="1" dirty="0" err="1"/>
              <a:t>solidă</a:t>
            </a:r>
            <a:r>
              <a:rPr lang="en-GB" b="1" dirty="0"/>
              <a:t> </a:t>
            </a:r>
            <a:r>
              <a:rPr lang="en-GB" b="1" dirty="0" err="1"/>
              <a:t>pentru</a:t>
            </a:r>
            <a:r>
              <a:rPr lang="en-GB" b="1" dirty="0"/>
              <a:t> </a:t>
            </a:r>
            <a:r>
              <a:rPr lang="en-GB" b="1" dirty="0" err="1"/>
              <a:t>gândirea</a:t>
            </a:r>
            <a:r>
              <a:rPr lang="en-GB" b="1" dirty="0"/>
              <a:t> </a:t>
            </a:r>
            <a:r>
              <a:rPr lang="en-GB" b="1" dirty="0" err="1"/>
              <a:t>orientată</a:t>
            </a:r>
            <a:r>
              <a:rPr lang="en-GB" b="1" dirty="0"/>
              <a:t> pe </a:t>
            </a:r>
            <a:r>
              <a:rPr lang="en-GB" b="1" dirty="0" err="1"/>
              <a:t>obiecte</a:t>
            </a:r>
            <a:endParaRPr lang="en-GB" b="1" dirty="0"/>
          </a:p>
          <a:p>
            <a:r>
              <a:rPr lang="en-GB" dirty="0"/>
              <a:t>Java </a:t>
            </a:r>
            <a:r>
              <a:rPr lang="en-GB" dirty="0" err="1"/>
              <a:t>oferă</a:t>
            </a:r>
            <a:r>
              <a:rPr lang="en-GB" dirty="0"/>
              <a:t> o </a:t>
            </a:r>
            <a:r>
              <a:rPr lang="en-GB" dirty="0" err="1"/>
              <a:t>înțelegere</a:t>
            </a:r>
            <a:r>
              <a:rPr lang="en-GB" dirty="0"/>
              <a:t> </a:t>
            </a:r>
            <a:r>
              <a:rPr lang="en-GB" dirty="0" err="1"/>
              <a:t>profundă</a:t>
            </a:r>
            <a:r>
              <a:rPr lang="en-GB" dirty="0"/>
              <a:t> a </a:t>
            </a:r>
            <a:r>
              <a:rPr lang="en-GB" b="1" dirty="0" err="1"/>
              <a:t>programării</a:t>
            </a:r>
            <a:r>
              <a:rPr lang="en-GB" b="1" dirty="0"/>
              <a:t> orientate pe </a:t>
            </a:r>
            <a:r>
              <a:rPr lang="en-GB" b="1" dirty="0" err="1"/>
              <a:t>obiecte</a:t>
            </a:r>
            <a:r>
              <a:rPr lang="en-GB" b="1" dirty="0"/>
              <a:t> (OOP)</a:t>
            </a:r>
            <a:r>
              <a:rPr lang="en-GB" dirty="0"/>
              <a:t> — </a:t>
            </a:r>
            <a:r>
              <a:rPr lang="en-GB" dirty="0" err="1"/>
              <a:t>clasă</a:t>
            </a:r>
            <a:r>
              <a:rPr lang="en-GB" dirty="0"/>
              <a:t>, </a:t>
            </a:r>
            <a:r>
              <a:rPr lang="en-GB" dirty="0" err="1"/>
              <a:t>moștenire</a:t>
            </a:r>
            <a:r>
              <a:rPr lang="en-GB" dirty="0"/>
              <a:t>, </a:t>
            </a:r>
            <a:r>
              <a:rPr lang="en-GB" dirty="0" err="1"/>
              <a:t>polimorfism</a:t>
            </a:r>
            <a:r>
              <a:rPr lang="en-GB" dirty="0"/>
              <a:t>, </a:t>
            </a:r>
            <a:r>
              <a:rPr lang="en-GB" dirty="0" err="1"/>
              <a:t>abstractizare</a:t>
            </a:r>
            <a:r>
              <a:rPr lang="en-GB" dirty="0"/>
              <a:t>.</a:t>
            </a:r>
          </a:p>
          <a:p>
            <a:r>
              <a:rPr lang="en-GB" dirty="0" err="1"/>
              <a:t>După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stăpânești</a:t>
            </a:r>
            <a:r>
              <a:rPr lang="en-GB" dirty="0"/>
              <a:t> Java, </a:t>
            </a:r>
            <a:r>
              <a:rPr lang="en-GB" dirty="0" err="1"/>
              <a:t>poți</a:t>
            </a:r>
            <a:r>
              <a:rPr lang="en-GB" dirty="0"/>
              <a:t> </a:t>
            </a:r>
            <a:r>
              <a:rPr lang="en-GB" dirty="0" err="1"/>
              <a:t>trece</a:t>
            </a:r>
            <a:r>
              <a:rPr lang="en-GB" dirty="0"/>
              <a:t> </a:t>
            </a:r>
            <a:r>
              <a:rPr lang="en-GB" dirty="0" err="1"/>
              <a:t>ușor</a:t>
            </a:r>
            <a:r>
              <a:rPr lang="en-GB" dirty="0"/>
              <a:t> la </a:t>
            </a:r>
            <a:r>
              <a:rPr lang="en-GB" dirty="0" err="1"/>
              <a:t>alte</a:t>
            </a:r>
            <a:r>
              <a:rPr lang="en-GB" dirty="0"/>
              <a:t> </a:t>
            </a:r>
            <a:r>
              <a:rPr lang="en-GB" dirty="0" err="1"/>
              <a:t>limbaje</a:t>
            </a:r>
            <a:r>
              <a:rPr lang="en-GB" dirty="0"/>
              <a:t> OOP (C#, Python, C++)</a:t>
            </a:r>
          </a:p>
          <a:p>
            <a:r>
              <a:rPr lang="en-GB" b="1" dirty="0"/>
              <a:t>3. Cerere mare pe </a:t>
            </a:r>
            <a:r>
              <a:rPr lang="en-GB" b="1" dirty="0" err="1"/>
              <a:t>piața</a:t>
            </a:r>
            <a:r>
              <a:rPr lang="en-GB" b="1" dirty="0"/>
              <a:t> </a:t>
            </a:r>
            <a:r>
              <a:rPr lang="en-GB" b="1" dirty="0" err="1"/>
              <a:t>muncii</a:t>
            </a:r>
            <a:endParaRPr lang="en-GB" b="1" dirty="0"/>
          </a:p>
          <a:p>
            <a:r>
              <a:rPr lang="en-GB" dirty="0" err="1"/>
              <a:t>Mii</a:t>
            </a:r>
            <a:r>
              <a:rPr lang="en-GB" dirty="0"/>
              <a:t> de </a:t>
            </a:r>
            <a:r>
              <a:rPr lang="en-GB" dirty="0" err="1"/>
              <a:t>companii</a:t>
            </a:r>
            <a:r>
              <a:rPr lang="en-GB" dirty="0"/>
              <a:t> </a:t>
            </a:r>
            <a:r>
              <a:rPr lang="en-GB" dirty="0" err="1"/>
              <a:t>folosesc</a:t>
            </a:r>
            <a:r>
              <a:rPr lang="en-GB" dirty="0"/>
              <a:t> Java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aplicații</a:t>
            </a:r>
            <a:r>
              <a:rPr lang="en-GB" dirty="0"/>
              <a:t> enterprise (</a:t>
            </a:r>
            <a:r>
              <a:rPr lang="en-GB" dirty="0" err="1"/>
              <a:t>bănci</a:t>
            </a:r>
            <a:r>
              <a:rPr lang="en-GB" dirty="0"/>
              <a:t>, telecom, </a:t>
            </a:r>
            <a:r>
              <a:rPr lang="en-GB" dirty="0" err="1"/>
              <a:t>guvern</a:t>
            </a:r>
            <a:r>
              <a:rPr lang="en-GB" dirty="0"/>
              <a:t>, </a:t>
            </a:r>
            <a:r>
              <a:rPr lang="en-GB" dirty="0" err="1"/>
              <a:t>asigurări</a:t>
            </a:r>
            <a:r>
              <a:rPr lang="en-GB" dirty="0"/>
              <a:t>).</a:t>
            </a:r>
          </a:p>
          <a:p>
            <a:r>
              <a:rPr lang="en-GB" dirty="0"/>
              <a:t>Este </a:t>
            </a:r>
            <a:r>
              <a:rPr lang="en-GB" dirty="0" err="1"/>
              <a:t>unul</a:t>
            </a:r>
            <a:r>
              <a:rPr lang="en-GB" dirty="0"/>
              <a:t> </a:t>
            </a:r>
            <a:r>
              <a:rPr lang="en-GB" dirty="0" err="1"/>
              <a:t>dintre</a:t>
            </a:r>
            <a:r>
              <a:rPr lang="en-GB" dirty="0"/>
              <a:t> </a:t>
            </a:r>
            <a:r>
              <a:rPr lang="en-GB" b="1" dirty="0" err="1"/>
              <a:t>cele</a:t>
            </a:r>
            <a:r>
              <a:rPr lang="en-GB" b="1" dirty="0"/>
              <a:t> </a:t>
            </a:r>
            <a:r>
              <a:rPr lang="en-GB" b="1" dirty="0" err="1"/>
              <a:t>mai</a:t>
            </a:r>
            <a:r>
              <a:rPr lang="en-GB" b="1" dirty="0"/>
              <a:t> </a:t>
            </a:r>
            <a:r>
              <a:rPr lang="en-GB" b="1" dirty="0" err="1"/>
              <a:t>căutate</a:t>
            </a:r>
            <a:r>
              <a:rPr lang="en-GB" b="1" dirty="0"/>
              <a:t> </a:t>
            </a:r>
            <a:r>
              <a:rPr lang="en-GB" b="1" dirty="0" err="1"/>
              <a:t>limbaje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anunțurile</a:t>
            </a:r>
            <a:r>
              <a:rPr lang="en-GB" dirty="0"/>
              <a:t> de </a:t>
            </a:r>
            <a:r>
              <a:rPr lang="en-GB" dirty="0" err="1"/>
              <a:t>joburi</a:t>
            </a:r>
            <a:r>
              <a:rPr lang="en-GB" dirty="0"/>
              <a:t> IT, </a:t>
            </a:r>
            <a:r>
              <a:rPr lang="en-GB" dirty="0" err="1"/>
              <a:t>mai</a:t>
            </a:r>
            <a:r>
              <a:rPr lang="en-GB" dirty="0"/>
              <a:t> ales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roluri</a:t>
            </a:r>
            <a:r>
              <a:rPr lang="en-GB" dirty="0"/>
              <a:t> de back-end developer </a:t>
            </a:r>
            <a:r>
              <a:rPr lang="en-GB" dirty="0" err="1"/>
              <a:t>sau</a:t>
            </a:r>
            <a:r>
              <a:rPr lang="en-GB" dirty="0"/>
              <a:t> Android developer.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976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7B40-50C0-E57B-F47D-3E9548CE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ro-RO" dirty="0"/>
              <a:t>î</a:t>
            </a:r>
            <a:r>
              <a:rPr lang="en-GB" dirty="0" err="1"/>
              <a:t>nveti</a:t>
            </a:r>
            <a:r>
              <a:rPr lang="en-GB" dirty="0"/>
              <a:t>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C48A-1A29-0CFA-DC20-786975337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1" dirty="0"/>
              <a:t>4. </a:t>
            </a:r>
            <a:r>
              <a:rPr lang="en-GB" b="1" dirty="0" err="1"/>
              <a:t>Folosit</a:t>
            </a:r>
            <a:r>
              <a:rPr lang="en-GB" b="1" dirty="0"/>
              <a:t> pe </a:t>
            </a:r>
            <a:r>
              <a:rPr lang="en-GB" b="1" dirty="0" err="1"/>
              <a:t>scară</a:t>
            </a:r>
            <a:r>
              <a:rPr lang="en-GB" b="1" dirty="0"/>
              <a:t> </a:t>
            </a:r>
            <a:r>
              <a:rPr lang="en-GB" b="1" dirty="0" err="1"/>
              <a:t>largă</a:t>
            </a:r>
            <a:r>
              <a:rPr lang="en-GB" b="1" dirty="0"/>
              <a:t> </a:t>
            </a:r>
            <a:r>
              <a:rPr lang="en-GB" b="1" dirty="0" err="1"/>
              <a:t>în</a:t>
            </a:r>
            <a:r>
              <a:rPr lang="en-GB" b="1" dirty="0"/>
              <a:t> </a:t>
            </a:r>
            <a:r>
              <a:rPr lang="en-GB" b="1" dirty="0" err="1"/>
              <a:t>infrastructura</a:t>
            </a:r>
            <a:r>
              <a:rPr lang="en-GB" b="1" dirty="0"/>
              <a:t> </a:t>
            </a:r>
            <a:r>
              <a:rPr lang="en-GB" b="1" dirty="0" err="1"/>
              <a:t>modernă</a:t>
            </a:r>
            <a:endParaRPr lang="en-GB" b="1" dirty="0"/>
          </a:p>
          <a:p>
            <a:r>
              <a:rPr lang="en-GB" dirty="0"/>
              <a:t>Java </a:t>
            </a:r>
            <a:r>
              <a:rPr lang="en-GB" dirty="0" err="1"/>
              <a:t>alimentează</a:t>
            </a:r>
            <a:r>
              <a:rPr lang="en-GB" dirty="0"/>
              <a:t> </a:t>
            </a:r>
            <a:r>
              <a:rPr lang="en-GB" b="1" dirty="0" err="1"/>
              <a:t>servere</a:t>
            </a:r>
            <a:r>
              <a:rPr lang="en-GB" b="1" dirty="0"/>
              <a:t> </a:t>
            </a:r>
            <a:r>
              <a:rPr lang="en-GB" b="1" dirty="0" err="1"/>
              <a:t>mari</a:t>
            </a:r>
            <a:r>
              <a:rPr lang="en-GB" b="1" dirty="0"/>
              <a:t>, </a:t>
            </a:r>
            <a:r>
              <a:rPr lang="en-GB" b="1" dirty="0" err="1"/>
              <a:t>aplicații</a:t>
            </a:r>
            <a:r>
              <a:rPr lang="en-GB" b="1" dirty="0"/>
              <a:t> web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b="1" dirty="0" err="1"/>
              <a:t>sisteme</a:t>
            </a:r>
            <a:r>
              <a:rPr lang="en-GB" b="1" dirty="0"/>
              <a:t> </a:t>
            </a:r>
            <a:r>
              <a:rPr lang="en-GB" b="1" dirty="0" err="1"/>
              <a:t>distribuite</a:t>
            </a:r>
            <a:r>
              <a:rPr lang="en-GB" dirty="0"/>
              <a:t>.</a:t>
            </a:r>
          </a:p>
          <a:p>
            <a:r>
              <a:rPr lang="en-GB" dirty="0"/>
              <a:t>Este </a:t>
            </a:r>
            <a:r>
              <a:rPr lang="en-GB" dirty="0" err="1"/>
              <a:t>extrem</a:t>
            </a:r>
            <a:r>
              <a:rPr lang="en-GB" dirty="0"/>
              <a:t> de important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b="1" dirty="0"/>
              <a:t>cloud computing</a:t>
            </a:r>
            <a:r>
              <a:rPr lang="en-GB" dirty="0"/>
              <a:t> (Google Cloud </a:t>
            </a:r>
            <a:r>
              <a:rPr lang="en-GB" dirty="0" err="1"/>
              <a:t>oferă</a:t>
            </a:r>
            <a:r>
              <a:rPr lang="en-GB" dirty="0"/>
              <a:t> </a:t>
            </a:r>
            <a:r>
              <a:rPr lang="en-GB" dirty="0" err="1"/>
              <a:t>suport</a:t>
            </a:r>
            <a:r>
              <a:rPr lang="en-GB" dirty="0"/>
              <a:t> direct </a:t>
            </a:r>
            <a:r>
              <a:rPr lang="en-GB" dirty="0" err="1"/>
              <a:t>pentru</a:t>
            </a:r>
            <a:r>
              <a:rPr lang="en-GB" dirty="0"/>
              <a:t> Java).</a:t>
            </a:r>
          </a:p>
          <a:p>
            <a:r>
              <a:rPr lang="en-GB" b="1" dirty="0"/>
              <a:t>5. </a:t>
            </a:r>
            <a:r>
              <a:rPr lang="en-GB" b="1" dirty="0" err="1"/>
              <a:t>Limbajul</a:t>
            </a:r>
            <a:r>
              <a:rPr lang="en-GB" b="1" dirty="0"/>
              <a:t> de </a:t>
            </a:r>
            <a:r>
              <a:rPr lang="en-GB" b="1" dirty="0" err="1"/>
              <a:t>bază</a:t>
            </a:r>
            <a:r>
              <a:rPr lang="en-GB" b="1" dirty="0"/>
              <a:t> </a:t>
            </a:r>
            <a:r>
              <a:rPr lang="en-GB" b="1" dirty="0" err="1"/>
              <a:t>pentru</a:t>
            </a:r>
            <a:r>
              <a:rPr lang="en-GB" b="1" dirty="0"/>
              <a:t> Android</a:t>
            </a:r>
          </a:p>
          <a:p>
            <a:r>
              <a:rPr lang="en-GB" dirty="0"/>
              <a:t>Orice </a:t>
            </a:r>
            <a:r>
              <a:rPr lang="en-GB" dirty="0" err="1"/>
              <a:t>dezvoltator</a:t>
            </a:r>
            <a:r>
              <a:rPr lang="en-GB" dirty="0"/>
              <a:t> care </a:t>
            </a:r>
            <a:r>
              <a:rPr lang="en-GB" dirty="0" err="1"/>
              <a:t>vrea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creeze</a:t>
            </a:r>
            <a:r>
              <a:rPr lang="en-GB" dirty="0"/>
              <a:t> </a:t>
            </a:r>
            <a:r>
              <a:rPr lang="en-GB" dirty="0" err="1"/>
              <a:t>aplicații</a:t>
            </a:r>
            <a:r>
              <a:rPr lang="en-GB" dirty="0"/>
              <a:t> mobile </a:t>
            </a:r>
            <a:r>
              <a:rPr lang="en-GB" dirty="0" err="1"/>
              <a:t>pentru</a:t>
            </a:r>
            <a:r>
              <a:rPr lang="en-GB" dirty="0"/>
              <a:t> Android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înțeleagă</a:t>
            </a:r>
            <a:r>
              <a:rPr lang="en-GB" dirty="0"/>
              <a:t> Java</a:t>
            </a:r>
          </a:p>
          <a:p>
            <a:r>
              <a:rPr lang="en-GB" dirty="0"/>
              <a:t>Framework-urile Android sunt </a:t>
            </a:r>
            <a:r>
              <a:rPr lang="en-GB" dirty="0" err="1"/>
              <a:t>scrise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Java, </a:t>
            </a:r>
            <a:r>
              <a:rPr lang="en-GB" dirty="0" err="1"/>
              <a:t>iar</a:t>
            </a:r>
            <a:r>
              <a:rPr lang="en-GB" dirty="0"/>
              <a:t> </a:t>
            </a:r>
            <a:r>
              <a:rPr lang="en-GB" dirty="0" err="1"/>
              <a:t>multe</a:t>
            </a:r>
            <a:r>
              <a:rPr lang="en-GB" dirty="0"/>
              <a:t> </a:t>
            </a:r>
            <a:r>
              <a:rPr lang="en-GB" dirty="0" err="1"/>
              <a:t>exemple</a:t>
            </a:r>
            <a:r>
              <a:rPr lang="en-GB" dirty="0"/>
              <a:t>/</a:t>
            </a:r>
            <a:r>
              <a:rPr lang="en-GB" dirty="0" err="1"/>
              <a:t>documentații</a:t>
            </a:r>
            <a:r>
              <a:rPr lang="en-GB" dirty="0"/>
              <a:t> </a:t>
            </a:r>
            <a:r>
              <a:rPr lang="en-GB" dirty="0" err="1"/>
              <a:t>oficiale</a:t>
            </a:r>
            <a:r>
              <a:rPr lang="en-GB" dirty="0"/>
              <a:t> sunt </a:t>
            </a:r>
            <a:r>
              <a:rPr lang="en-GB" dirty="0" err="1"/>
              <a:t>în</a:t>
            </a:r>
            <a:r>
              <a:rPr lang="en-GB" dirty="0"/>
              <a:t> Java.</a:t>
            </a:r>
          </a:p>
          <a:p>
            <a:r>
              <a:rPr lang="en-GB" b="1" dirty="0"/>
              <a:t>6. </a:t>
            </a:r>
            <a:r>
              <a:rPr lang="en-GB" b="1" dirty="0" err="1"/>
              <a:t>Siguranță</a:t>
            </a:r>
            <a:r>
              <a:rPr lang="en-GB" b="1" dirty="0"/>
              <a:t>, </a:t>
            </a:r>
            <a:r>
              <a:rPr lang="en-GB" b="1" dirty="0" err="1"/>
              <a:t>portabilitate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performanță</a:t>
            </a:r>
            <a:endParaRPr lang="en-GB" b="1" dirty="0"/>
          </a:p>
          <a:p>
            <a:r>
              <a:rPr lang="en-GB" dirty="0" err="1"/>
              <a:t>Rulează</a:t>
            </a:r>
            <a:r>
              <a:rPr lang="en-GB" dirty="0"/>
              <a:t> pe </a:t>
            </a:r>
            <a:r>
              <a:rPr lang="en-GB" dirty="0" err="1"/>
              <a:t>orice</a:t>
            </a:r>
            <a:r>
              <a:rPr lang="en-GB" dirty="0"/>
              <a:t> </a:t>
            </a:r>
            <a:r>
              <a:rPr lang="en-GB" dirty="0" err="1"/>
              <a:t>platformă</a:t>
            </a:r>
            <a:r>
              <a:rPr lang="en-GB" dirty="0"/>
              <a:t> </a:t>
            </a:r>
            <a:r>
              <a:rPr lang="en-GB" dirty="0" err="1"/>
              <a:t>prin</a:t>
            </a:r>
            <a:r>
              <a:rPr lang="en-GB" dirty="0"/>
              <a:t> </a:t>
            </a:r>
            <a:r>
              <a:rPr lang="en-GB" b="1" dirty="0"/>
              <a:t>Java Virtual Machine (JVM)</a:t>
            </a:r>
            <a:r>
              <a:rPr lang="en-GB" dirty="0"/>
              <a:t> — </a:t>
            </a:r>
            <a:r>
              <a:rPr lang="en-GB" i="1" dirty="0"/>
              <a:t>“Write once, run anywhere”</a:t>
            </a:r>
            <a:r>
              <a:rPr lang="en-GB" dirty="0"/>
              <a:t>.</a:t>
            </a:r>
          </a:p>
          <a:p>
            <a:r>
              <a:rPr lang="en-GB" dirty="0"/>
              <a:t>Include </a:t>
            </a:r>
            <a:r>
              <a:rPr lang="en-GB" dirty="0" err="1"/>
              <a:t>mecanisme</a:t>
            </a:r>
            <a:r>
              <a:rPr lang="en-GB" dirty="0"/>
              <a:t> de </a:t>
            </a:r>
            <a:r>
              <a:rPr lang="en-GB" dirty="0" err="1"/>
              <a:t>securitate</a:t>
            </a:r>
            <a:r>
              <a:rPr lang="en-GB" dirty="0"/>
              <a:t> </a:t>
            </a:r>
            <a:r>
              <a:rPr lang="en-GB" dirty="0" err="1"/>
              <a:t>robuste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management automat al </a:t>
            </a:r>
            <a:r>
              <a:rPr lang="en-GB" dirty="0" err="1"/>
              <a:t>memoriei</a:t>
            </a:r>
            <a:r>
              <a:rPr lang="en-GB" dirty="0"/>
              <a:t> (garbage collector).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502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934E-2318-FC1B-6EC9-2165E7B1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ro-RO" dirty="0"/>
              <a:t>î</a:t>
            </a:r>
            <a:r>
              <a:rPr lang="en-GB" dirty="0" err="1"/>
              <a:t>nveti</a:t>
            </a:r>
            <a:r>
              <a:rPr lang="en-GB" dirty="0"/>
              <a:t>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FEF3-41EF-106E-3EC3-08D6A1D1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7. </a:t>
            </a:r>
            <a:r>
              <a:rPr lang="en-GB" b="1" dirty="0" err="1"/>
              <a:t>Bază</a:t>
            </a:r>
            <a:r>
              <a:rPr lang="en-GB" b="1" dirty="0"/>
              <a:t> </a:t>
            </a:r>
            <a:r>
              <a:rPr lang="en-GB" b="1" dirty="0" err="1"/>
              <a:t>excelentă</a:t>
            </a:r>
            <a:r>
              <a:rPr lang="en-GB" b="1" dirty="0"/>
              <a:t> </a:t>
            </a:r>
            <a:r>
              <a:rPr lang="en-GB" b="1" dirty="0" err="1"/>
              <a:t>pentru</a:t>
            </a:r>
            <a:r>
              <a:rPr lang="en-GB" b="1" dirty="0"/>
              <a:t> AI, Data Science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automatizări</a:t>
            </a:r>
            <a:endParaRPr lang="en-GB" b="1" dirty="0"/>
          </a:p>
          <a:p>
            <a:r>
              <a:rPr lang="en-GB" dirty="0"/>
              <a:t>Framework-</a:t>
            </a:r>
            <a:r>
              <a:rPr lang="en-GB" dirty="0" err="1"/>
              <a:t>uri</a:t>
            </a:r>
            <a:r>
              <a:rPr lang="en-GB" dirty="0"/>
              <a:t> ca </a:t>
            </a:r>
            <a:r>
              <a:rPr lang="en-GB" b="1" dirty="0"/>
              <a:t>Deeplearning4j</a:t>
            </a:r>
            <a:r>
              <a:rPr lang="ro-RO" b="1" dirty="0"/>
              <a:t> </a:t>
            </a:r>
            <a:r>
              <a:rPr lang="en-GB" dirty="0"/>
              <a:t>permit </a:t>
            </a:r>
            <a:r>
              <a:rPr lang="en-GB" dirty="0" err="1"/>
              <a:t>aplicarea</a:t>
            </a:r>
            <a:r>
              <a:rPr lang="en-GB" dirty="0"/>
              <a:t> de </a:t>
            </a:r>
            <a:r>
              <a:rPr lang="en-GB" dirty="0" err="1"/>
              <a:t>concepte</a:t>
            </a:r>
            <a:r>
              <a:rPr lang="en-GB" dirty="0"/>
              <a:t> de </a:t>
            </a:r>
            <a:r>
              <a:rPr lang="en-GB" b="1" dirty="0" err="1"/>
              <a:t>inteligență</a:t>
            </a:r>
            <a:r>
              <a:rPr lang="en-GB" b="1" dirty="0"/>
              <a:t> </a:t>
            </a:r>
            <a:r>
              <a:rPr lang="en-GB" b="1" dirty="0" err="1"/>
              <a:t>artificială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machine learning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Java.</a:t>
            </a:r>
          </a:p>
          <a:p>
            <a:r>
              <a:rPr lang="en-GB" dirty="0"/>
              <a:t>Este </a:t>
            </a:r>
            <a:r>
              <a:rPr lang="en-GB" dirty="0" err="1"/>
              <a:t>potrivit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dezvoltarea</a:t>
            </a:r>
            <a:r>
              <a:rPr lang="en-GB" dirty="0"/>
              <a:t> de </a:t>
            </a:r>
            <a:r>
              <a:rPr lang="en-GB" b="1" dirty="0" err="1"/>
              <a:t>instrumente</a:t>
            </a:r>
            <a:r>
              <a:rPr lang="en-GB" b="1" dirty="0"/>
              <a:t> </a:t>
            </a:r>
            <a:r>
              <a:rPr lang="en-GB" b="1" dirty="0" err="1"/>
              <a:t>industriale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aplicații</a:t>
            </a:r>
            <a:r>
              <a:rPr lang="en-GB" b="1" dirty="0"/>
              <a:t> </a:t>
            </a:r>
            <a:r>
              <a:rPr lang="ro-RO" b="1" dirty="0"/>
              <a:t>ca si cele din </a:t>
            </a:r>
            <a:r>
              <a:rPr lang="en-GB" b="1" dirty="0"/>
              <a:t>MATLAB</a:t>
            </a:r>
            <a:r>
              <a:rPr lang="en-GB" dirty="0"/>
              <a:t>.</a:t>
            </a:r>
          </a:p>
          <a:p>
            <a:r>
              <a:rPr lang="en-GB" b="1" dirty="0"/>
              <a:t>8. </a:t>
            </a:r>
            <a:r>
              <a:rPr lang="en-GB" b="1" dirty="0" err="1"/>
              <a:t>Comunitate</a:t>
            </a:r>
            <a:r>
              <a:rPr lang="en-GB" b="1" dirty="0"/>
              <a:t> </a:t>
            </a:r>
            <a:r>
              <a:rPr lang="en-GB" b="1" dirty="0" err="1"/>
              <a:t>uriașă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resurse</a:t>
            </a:r>
            <a:r>
              <a:rPr lang="en-GB" b="1" dirty="0"/>
              <a:t> </a:t>
            </a:r>
            <a:r>
              <a:rPr lang="en-GB" b="1" dirty="0" err="1"/>
              <a:t>educaționale</a:t>
            </a:r>
            <a:endParaRPr lang="en-GB" b="1" dirty="0"/>
          </a:p>
          <a:p>
            <a:r>
              <a:rPr lang="en-GB" dirty="0" err="1"/>
              <a:t>Mii</a:t>
            </a:r>
            <a:r>
              <a:rPr lang="en-GB" dirty="0"/>
              <a:t> de </a:t>
            </a:r>
            <a:r>
              <a:rPr lang="en-GB" dirty="0" err="1"/>
              <a:t>tutoriale</a:t>
            </a:r>
            <a:r>
              <a:rPr lang="en-GB" dirty="0"/>
              <a:t>, </a:t>
            </a:r>
            <a:r>
              <a:rPr lang="en-GB" dirty="0" err="1"/>
              <a:t>forumuri</a:t>
            </a:r>
            <a:r>
              <a:rPr lang="en-GB" dirty="0"/>
              <a:t> (Stack Overflow), </a:t>
            </a:r>
            <a:r>
              <a:rPr lang="en-GB" dirty="0" err="1"/>
              <a:t>biblioteci</a:t>
            </a:r>
            <a:r>
              <a:rPr lang="en-GB" dirty="0"/>
              <a:t> open-source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proiecte</a:t>
            </a:r>
            <a:r>
              <a:rPr lang="en-GB" dirty="0"/>
              <a:t> </a:t>
            </a:r>
            <a:r>
              <a:rPr lang="en-GB" dirty="0" err="1"/>
              <a:t>exemplu</a:t>
            </a:r>
            <a:r>
              <a:rPr lang="en-GB" dirty="0"/>
              <a:t>.</a:t>
            </a:r>
          </a:p>
          <a:p>
            <a:r>
              <a:rPr lang="en-GB" dirty="0"/>
              <a:t>Ușor de </a:t>
            </a:r>
            <a:r>
              <a:rPr lang="en-GB" dirty="0" err="1"/>
              <a:t>găsit</a:t>
            </a:r>
            <a:r>
              <a:rPr lang="en-GB" dirty="0"/>
              <a:t> </a:t>
            </a:r>
            <a:r>
              <a:rPr lang="en-GB" dirty="0" err="1"/>
              <a:t>ajutor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</a:t>
            </a:r>
            <a:r>
              <a:rPr lang="en-GB" dirty="0" err="1"/>
              <a:t>problemă</a:t>
            </a:r>
            <a:r>
              <a:rPr lang="en-GB" dirty="0"/>
              <a:t> de </a:t>
            </a:r>
            <a:r>
              <a:rPr lang="en-GB" dirty="0" err="1"/>
              <a:t>programare</a:t>
            </a:r>
            <a:r>
              <a:rPr lang="en-GB" dirty="0"/>
              <a:t>.</a:t>
            </a:r>
          </a:p>
          <a:p>
            <a:r>
              <a:rPr lang="en-GB" b="1" dirty="0"/>
              <a:t>9. </a:t>
            </a:r>
            <a:r>
              <a:rPr lang="en-GB" b="1" dirty="0" err="1"/>
              <a:t>Învață</a:t>
            </a:r>
            <a:r>
              <a:rPr lang="en-GB" b="1" dirty="0"/>
              <a:t> </a:t>
            </a:r>
            <a:r>
              <a:rPr lang="en-GB" b="1" dirty="0" err="1"/>
              <a:t>concepte</a:t>
            </a:r>
            <a:r>
              <a:rPr lang="en-GB" b="1" dirty="0"/>
              <a:t>, nu </a:t>
            </a:r>
            <a:r>
              <a:rPr lang="en-GB" b="1" dirty="0" err="1"/>
              <a:t>doar</a:t>
            </a:r>
            <a:r>
              <a:rPr lang="en-GB" b="1" dirty="0"/>
              <a:t> </a:t>
            </a:r>
            <a:r>
              <a:rPr lang="en-GB" b="1" dirty="0" err="1"/>
              <a:t>sintaxă</a:t>
            </a:r>
            <a:endParaRPr lang="en-GB" b="1" dirty="0"/>
          </a:p>
          <a:p>
            <a:r>
              <a:rPr lang="en-GB" dirty="0"/>
              <a:t>Java </a:t>
            </a:r>
            <a:r>
              <a:rPr lang="en-GB" dirty="0" err="1"/>
              <a:t>îi</a:t>
            </a:r>
            <a:r>
              <a:rPr lang="en-GB" dirty="0"/>
              <a:t> </a:t>
            </a:r>
            <a:r>
              <a:rPr lang="en-GB" dirty="0" err="1"/>
              <a:t>disciplinează</a:t>
            </a:r>
            <a:r>
              <a:rPr lang="en-GB" dirty="0"/>
              <a:t> pe </a:t>
            </a:r>
            <a:r>
              <a:rPr lang="en-GB" dirty="0" err="1"/>
              <a:t>studenți</a:t>
            </a:r>
            <a:r>
              <a:rPr lang="en-GB" dirty="0"/>
              <a:t>: </a:t>
            </a:r>
            <a:r>
              <a:rPr lang="en-GB" dirty="0" err="1"/>
              <a:t>îi</a:t>
            </a:r>
            <a:r>
              <a:rPr lang="en-GB" dirty="0"/>
              <a:t> </a:t>
            </a:r>
            <a:r>
              <a:rPr lang="en-GB" dirty="0" err="1"/>
              <a:t>învață</a:t>
            </a:r>
            <a:r>
              <a:rPr lang="en-GB" dirty="0"/>
              <a:t> </a:t>
            </a:r>
            <a:r>
              <a:rPr lang="en-GB" dirty="0" err="1"/>
              <a:t>despre</a:t>
            </a:r>
            <a:r>
              <a:rPr lang="en-GB" dirty="0"/>
              <a:t> </a:t>
            </a:r>
            <a:r>
              <a:rPr lang="en-GB" b="1" dirty="0" err="1"/>
              <a:t>tipuri</a:t>
            </a:r>
            <a:r>
              <a:rPr lang="en-GB" b="1" dirty="0"/>
              <a:t>, </a:t>
            </a:r>
            <a:r>
              <a:rPr lang="en-GB" b="1" dirty="0" err="1"/>
              <a:t>excepții</a:t>
            </a:r>
            <a:r>
              <a:rPr lang="en-GB" b="1" dirty="0"/>
              <a:t>, </a:t>
            </a:r>
            <a:r>
              <a:rPr lang="en-GB" b="1" dirty="0" err="1"/>
              <a:t>clase</a:t>
            </a:r>
            <a:r>
              <a:rPr lang="en-GB" b="1" dirty="0"/>
              <a:t>, </a:t>
            </a:r>
            <a:r>
              <a:rPr lang="en-GB" b="1" dirty="0" err="1"/>
              <a:t>interfețe</a:t>
            </a:r>
            <a:r>
              <a:rPr lang="en-GB" b="1" dirty="0"/>
              <a:t>, </a:t>
            </a:r>
            <a:r>
              <a:rPr lang="en-GB" b="1" dirty="0" err="1"/>
              <a:t>threaduri</a:t>
            </a:r>
            <a:r>
              <a:rPr lang="en-GB" dirty="0"/>
              <a:t>, </a:t>
            </a:r>
            <a:r>
              <a:rPr lang="en-GB" dirty="0" err="1"/>
              <a:t>deci</a:t>
            </a:r>
            <a:r>
              <a:rPr lang="en-GB" dirty="0"/>
              <a:t> le </a:t>
            </a:r>
            <a:r>
              <a:rPr lang="en-GB" dirty="0" err="1"/>
              <a:t>formează</a:t>
            </a:r>
            <a:r>
              <a:rPr lang="en-GB" dirty="0"/>
              <a:t> o </a:t>
            </a:r>
            <a:r>
              <a:rPr lang="en-GB" dirty="0" err="1"/>
              <a:t>bază</a:t>
            </a:r>
            <a:r>
              <a:rPr lang="en-GB" dirty="0"/>
              <a:t> </a:t>
            </a:r>
            <a:r>
              <a:rPr lang="en-GB" dirty="0" err="1"/>
              <a:t>logică</a:t>
            </a:r>
            <a:r>
              <a:rPr lang="en-GB" dirty="0"/>
              <a:t> </a:t>
            </a:r>
            <a:r>
              <a:rPr lang="en-GB" dirty="0" err="1"/>
              <a:t>solidă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alt </a:t>
            </a:r>
            <a:r>
              <a:rPr lang="en-GB" dirty="0" err="1"/>
              <a:t>limbaj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8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4E17-BD11-FABF-2A4F-D6630673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 ce merită să înveți programare chiar și în era 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50C5-B2F0-67C5-052F-2A7BE943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AI nu </a:t>
            </a:r>
            <a:r>
              <a:rPr lang="en-GB" b="1" dirty="0" err="1"/>
              <a:t>înțelege</a:t>
            </a:r>
            <a:r>
              <a:rPr lang="en-GB" b="1" dirty="0"/>
              <a:t> </a:t>
            </a:r>
            <a:r>
              <a:rPr lang="en-GB" b="1" dirty="0" err="1"/>
              <a:t>problemele</a:t>
            </a:r>
            <a:r>
              <a:rPr lang="en-GB" b="1" dirty="0"/>
              <a:t>, </a:t>
            </a:r>
            <a:r>
              <a:rPr lang="en-GB" b="1" dirty="0" err="1"/>
              <a:t>doar</a:t>
            </a:r>
            <a:r>
              <a:rPr lang="en-GB" b="1" dirty="0"/>
              <a:t> </a:t>
            </a:r>
            <a:r>
              <a:rPr lang="en-GB" b="1" dirty="0" err="1"/>
              <a:t>generează</a:t>
            </a:r>
            <a:r>
              <a:rPr lang="en-GB" b="1" dirty="0"/>
              <a:t> </a:t>
            </a:r>
            <a:r>
              <a:rPr lang="en-GB" b="1" dirty="0" err="1"/>
              <a:t>soluții</a:t>
            </a:r>
            <a:r>
              <a:rPr lang="en-GB" b="1" dirty="0"/>
              <a:t> </a:t>
            </a:r>
            <a:r>
              <a:rPr lang="en-GB" b="1" dirty="0" err="1"/>
              <a:t>probabile</a:t>
            </a:r>
            <a:endParaRPr lang="en-GB" b="1" dirty="0"/>
          </a:p>
          <a:p>
            <a:r>
              <a:rPr lang="en-GB" dirty="0"/>
              <a:t>AI produce cod,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b="1" dirty="0"/>
              <a:t>nu </a:t>
            </a:r>
            <a:r>
              <a:rPr lang="en-GB" b="1" dirty="0" err="1"/>
              <a:t>știe</a:t>
            </a:r>
            <a:r>
              <a:rPr lang="en-GB" b="1" dirty="0"/>
              <a:t> </a:t>
            </a:r>
            <a:r>
              <a:rPr lang="en-GB" b="1" dirty="0" err="1"/>
              <a:t>dacă</a:t>
            </a:r>
            <a:r>
              <a:rPr lang="en-GB" b="1" dirty="0"/>
              <a:t> </a:t>
            </a:r>
            <a:r>
              <a:rPr lang="en-GB" b="1" dirty="0" err="1"/>
              <a:t>problema</a:t>
            </a:r>
            <a:r>
              <a:rPr lang="en-GB" b="1" dirty="0"/>
              <a:t> </a:t>
            </a:r>
            <a:r>
              <a:rPr lang="en-GB" b="1" dirty="0" err="1"/>
              <a:t>este</a:t>
            </a:r>
            <a:r>
              <a:rPr lang="en-GB" b="1" dirty="0"/>
              <a:t> bine </a:t>
            </a:r>
            <a:r>
              <a:rPr lang="en-GB" b="1" dirty="0" err="1"/>
              <a:t>formulată</a:t>
            </a:r>
            <a:r>
              <a:rPr lang="en-GB" dirty="0"/>
              <a:t>.</a:t>
            </a:r>
          </a:p>
          <a:p>
            <a:r>
              <a:rPr lang="en-GB" dirty="0"/>
              <a:t>Un program bun </a:t>
            </a:r>
            <a:r>
              <a:rPr lang="en-GB" dirty="0" err="1"/>
              <a:t>începe</a:t>
            </a:r>
            <a:r>
              <a:rPr lang="en-GB" dirty="0"/>
              <a:t> cu </a:t>
            </a:r>
            <a:r>
              <a:rPr lang="en-GB" b="1" dirty="0" err="1"/>
              <a:t>gândirea</a:t>
            </a:r>
            <a:r>
              <a:rPr lang="en-GB" b="1" dirty="0"/>
              <a:t> </a:t>
            </a:r>
            <a:r>
              <a:rPr lang="en-GB" b="1" dirty="0" err="1"/>
              <a:t>logică</a:t>
            </a:r>
            <a:r>
              <a:rPr lang="en-GB" b="1" dirty="0"/>
              <a:t>, </a:t>
            </a:r>
            <a:r>
              <a:rPr lang="en-GB" b="1" dirty="0" err="1"/>
              <a:t>analiza</a:t>
            </a:r>
            <a:r>
              <a:rPr lang="en-GB" b="1" dirty="0"/>
              <a:t> </a:t>
            </a:r>
            <a:r>
              <a:rPr lang="en-GB" b="1" dirty="0" err="1"/>
              <a:t>cerinței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definirea</a:t>
            </a:r>
            <a:r>
              <a:rPr lang="en-GB" b="1" dirty="0"/>
              <a:t> </a:t>
            </a:r>
            <a:r>
              <a:rPr lang="en-GB" b="1" dirty="0" err="1"/>
              <a:t>structurii</a:t>
            </a:r>
            <a:r>
              <a:rPr lang="en-GB" dirty="0"/>
              <a:t> — </a:t>
            </a:r>
            <a:r>
              <a:rPr lang="en-GB" dirty="0" err="1"/>
              <a:t>lucruri</a:t>
            </a:r>
            <a:r>
              <a:rPr lang="en-GB" dirty="0"/>
              <a:t> care </a:t>
            </a:r>
            <a:r>
              <a:rPr lang="en-GB" dirty="0" err="1"/>
              <a:t>țin</a:t>
            </a:r>
            <a:r>
              <a:rPr lang="en-GB" dirty="0"/>
              <a:t> de om, nu de AI.</a:t>
            </a:r>
          </a:p>
          <a:p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bazele</a:t>
            </a:r>
            <a:r>
              <a:rPr lang="en-GB" dirty="0"/>
              <a:t> </a:t>
            </a:r>
            <a:r>
              <a:rPr lang="en-GB" dirty="0" err="1"/>
              <a:t>programării</a:t>
            </a:r>
            <a:r>
              <a:rPr lang="en-GB" dirty="0"/>
              <a:t>, nu </a:t>
            </a:r>
            <a:r>
              <a:rPr lang="en-GB" dirty="0" err="1"/>
              <a:t>poți</a:t>
            </a:r>
            <a:r>
              <a:rPr lang="en-GB" dirty="0"/>
              <a:t> </a:t>
            </a:r>
            <a:r>
              <a:rPr lang="en-GB" dirty="0" err="1"/>
              <a:t>evalua</a:t>
            </a:r>
            <a:r>
              <a:rPr lang="en-GB" dirty="0"/>
              <a:t>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soluția</a:t>
            </a:r>
            <a:r>
              <a:rPr lang="en-GB" dirty="0"/>
              <a:t> </a:t>
            </a:r>
            <a:r>
              <a:rPr lang="en-GB" dirty="0" err="1"/>
              <a:t>generată</a:t>
            </a:r>
            <a:r>
              <a:rPr lang="en-GB" dirty="0"/>
              <a:t> e </a:t>
            </a:r>
            <a:r>
              <a:rPr lang="en-GB" dirty="0" err="1"/>
              <a:t>corectă</a:t>
            </a:r>
            <a:r>
              <a:rPr lang="en-GB" dirty="0"/>
              <a:t>, </a:t>
            </a:r>
            <a:r>
              <a:rPr lang="en-GB" dirty="0" err="1"/>
              <a:t>eficientă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sigură</a:t>
            </a:r>
            <a:r>
              <a:rPr lang="en-GB" dirty="0"/>
              <a:t>.</a:t>
            </a:r>
          </a:p>
          <a:p>
            <a:r>
              <a:rPr lang="en-GB" b="1" dirty="0"/>
              <a:t>AI </a:t>
            </a:r>
            <a:r>
              <a:rPr lang="en-GB" b="1" dirty="0" err="1"/>
              <a:t>completează</a:t>
            </a:r>
            <a:r>
              <a:rPr lang="en-GB" b="1" dirty="0"/>
              <a:t> </a:t>
            </a:r>
            <a:r>
              <a:rPr lang="en-GB" b="1" dirty="0" err="1"/>
              <a:t>gândirea</a:t>
            </a:r>
            <a:r>
              <a:rPr lang="en-GB" b="1" dirty="0"/>
              <a:t> </a:t>
            </a:r>
            <a:r>
              <a:rPr lang="en-GB" b="1" dirty="0" err="1"/>
              <a:t>umană</a:t>
            </a:r>
            <a:r>
              <a:rPr lang="en-GB" b="1" dirty="0"/>
              <a:t>, nu o </a:t>
            </a:r>
            <a:r>
              <a:rPr lang="en-GB" b="1" dirty="0" err="1"/>
              <a:t>înlocuiește</a:t>
            </a:r>
            <a:endParaRPr lang="en-GB" b="1" dirty="0"/>
          </a:p>
          <a:p>
            <a:r>
              <a:rPr lang="en-GB" dirty="0"/>
              <a:t>AI </a:t>
            </a:r>
            <a:r>
              <a:rPr lang="en-GB" dirty="0" err="1"/>
              <a:t>este</a:t>
            </a:r>
            <a:r>
              <a:rPr lang="en-GB" dirty="0"/>
              <a:t> un </a:t>
            </a:r>
            <a:r>
              <a:rPr lang="en-GB" i="1" dirty="0" err="1"/>
              <a:t>asistent</a:t>
            </a:r>
            <a:r>
              <a:rPr lang="en-GB" i="1" dirty="0"/>
              <a:t> </a:t>
            </a:r>
            <a:r>
              <a:rPr lang="en-GB" i="1" dirty="0" err="1"/>
              <a:t>inteligent</a:t>
            </a:r>
            <a:r>
              <a:rPr lang="en-GB" dirty="0"/>
              <a:t>, nu un </a:t>
            </a:r>
            <a:r>
              <a:rPr lang="en-GB" dirty="0" err="1"/>
              <a:t>inginer</a:t>
            </a:r>
            <a:r>
              <a:rPr lang="en-GB" dirty="0"/>
              <a:t> software.</a:t>
            </a:r>
          </a:p>
          <a:p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accelera</a:t>
            </a:r>
            <a:r>
              <a:rPr lang="en-GB" dirty="0"/>
              <a:t> </a:t>
            </a:r>
            <a:r>
              <a:rPr lang="en-GB" dirty="0" err="1"/>
              <a:t>munca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</a:t>
            </a:r>
            <a:r>
              <a:rPr lang="en-GB" b="1" dirty="0"/>
              <a:t>nu are </a:t>
            </a:r>
            <a:r>
              <a:rPr lang="en-GB" b="1" dirty="0" err="1"/>
              <a:t>creativitate</a:t>
            </a:r>
            <a:r>
              <a:rPr lang="en-GB" b="1" dirty="0"/>
              <a:t>, </a:t>
            </a:r>
            <a:r>
              <a:rPr lang="en-GB" b="1" dirty="0" err="1"/>
              <a:t>intuiție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judecată</a:t>
            </a:r>
            <a:r>
              <a:rPr lang="en-GB" b="1" dirty="0"/>
              <a:t> </a:t>
            </a:r>
            <a:r>
              <a:rPr lang="en-GB" b="1" dirty="0" err="1"/>
              <a:t>contextuală</a:t>
            </a:r>
            <a:r>
              <a:rPr lang="en-GB" dirty="0"/>
              <a:t>.</a:t>
            </a:r>
          </a:p>
          <a:p>
            <a:r>
              <a:rPr lang="en-GB" dirty="0" err="1"/>
              <a:t>Inginerii</a:t>
            </a:r>
            <a:r>
              <a:rPr lang="en-GB" dirty="0"/>
              <a:t> </a:t>
            </a:r>
            <a:r>
              <a:rPr lang="en-GB" dirty="0" err="1"/>
              <a:t>buni</a:t>
            </a:r>
            <a:r>
              <a:rPr lang="en-GB" dirty="0"/>
              <a:t> </a:t>
            </a:r>
            <a:r>
              <a:rPr lang="en-GB" dirty="0" err="1"/>
              <a:t>vor</a:t>
            </a:r>
            <a:r>
              <a:rPr lang="en-GB" dirty="0"/>
              <a:t> fi </a:t>
            </a:r>
            <a:r>
              <a:rPr lang="en-GB" dirty="0" err="1"/>
              <a:t>cei</a:t>
            </a:r>
            <a:r>
              <a:rPr lang="en-GB" dirty="0"/>
              <a:t> care </a:t>
            </a:r>
            <a:r>
              <a:rPr lang="en-GB" dirty="0" err="1"/>
              <a:t>știu</a:t>
            </a:r>
            <a:r>
              <a:rPr lang="en-GB" dirty="0"/>
              <a:t> </a:t>
            </a:r>
            <a:r>
              <a:rPr lang="en-GB" b="1" dirty="0"/>
              <a:t>cum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folosească</a:t>
            </a:r>
            <a:r>
              <a:rPr lang="en-GB" b="1" dirty="0"/>
              <a:t> AI </a:t>
            </a:r>
            <a:r>
              <a:rPr lang="en-GB" b="1" dirty="0" err="1"/>
              <a:t>eficient</a:t>
            </a:r>
            <a:r>
              <a:rPr lang="en-GB" dirty="0"/>
              <a:t>, nu </a:t>
            </a:r>
            <a:r>
              <a:rPr lang="en-GB" dirty="0" err="1"/>
              <a:t>cei</a:t>
            </a:r>
            <a:r>
              <a:rPr lang="en-GB" dirty="0"/>
              <a:t> care o </a:t>
            </a:r>
            <a:r>
              <a:rPr lang="en-GB" dirty="0" err="1"/>
              <a:t>lasă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decidă</a:t>
            </a:r>
            <a:r>
              <a:rPr lang="en-GB" dirty="0"/>
              <a:t> </a:t>
            </a:r>
            <a:r>
              <a:rPr lang="en-GB" dirty="0" err="1"/>
              <a:t>totul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5675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E5655-B4E8-6248-F4CD-50E7A810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4FAF-5495-F76A-95A6-96E73DF1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 ce merită să înveți programare chiar și în era 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2DB3-6E70-66B2-C5D8-AED4128B9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1549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AI face </a:t>
            </a:r>
            <a:r>
              <a:rPr lang="en-GB" b="1" dirty="0" err="1"/>
              <a:t>greșeli</a:t>
            </a:r>
            <a:r>
              <a:rPr lang="en-GB" b="1" dirty="0"/>
              <a:t> </a:t>
            </a:r>
            <a:r>
              <a:rPr lang="en-GB" b="1" dirty="0" err="1"/>
              <a:t>subtile</a:t>
            </a:r>
            <a:r>
              <a:rPr lang="en-GB" b="1" dirty="0"/>
              <a:t> pe care </a:t>
            </a:r>
            <a:r>
              <a:rPr lang="en-GB" b="1" dirty="0" err="1"/>
              <a:t>doar</a:t>
            </a:r>
            <a:r>
              <a:rPr lang="en-GB" b="1" dirty="0"/>
              <a:t> un </a:t>
            </a:r>
            <a:r>
              <a:rPr lang="en-GB" b="1" dirty="0" err="1"/>
              <a:t>programator</a:t>
            </a:r>
            <a:r>
              <a:rPr lang="en-GB" b="1" dirty="0"/>
              <a:t> le </a:t>
            </a:r>
            <a:r>
              <a:rPr lang="en-GB" b="1" dirty="0" err="1"/>
              <a:t>poate</a:t>
            </a:r>
            <a:r>
              <a:rPr lang="en-GB" b="1" dirty="0"/>
              <a:t> </a:t>
            </a:r>
            <a:r>
              <a:rPr lang="en-GB" b="1" dirty="0" err="1"/>
              <a:t>depista</a:t>
            </a:r>
            <a:endParaRPr lang="en-GB" b="1" dirty="0"/>
          </a:p>
          <a:p>
            <a:r>
              <a:rPr lang="en-GB" dirty="0" err="1"/>
              <a:t>Codul</a:t>
            </a:r>
            <a:r>
              <a:rPr lang="en-GB" dirty="0"/>
              <a:t> </a:t>
            </a:r>
            <a:r>
              <a:rPr lang="en-GB" dirty="0" err="1"/>
              <a:t>generat</a:t>
            </a:r>
            <a:r>
              <a:rPr lang="en-GB" dirty="0"/>
              <a:t> </a:t>
            </a:r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conține</a:t>
            </a:r>
            <a:r>
              <a:rPr lang="en-GB" dirty="0"/>
              <a:t> </a:t>
            </a:r>
            <a:r>
              <a:rPr lang="en-GB" dirty="0" err="1"/>
              <a:t>erori</a:t>
            </a:r>
            <a:r>
              <a:rPr lang="en-GB" dirty="0"/>
              <a:t> </a:t>
            </a:r>
            <a:r>
              <a:rPr lang="en-GB" dirty="0" err="1"/>
              <a:t>logice</a:t>
            </a:r>
            <a:r>
              <a:rPr lang="en-GB" dirty="0"/>
              <a:t>, </a:t>
            </a:r>
            <a:r>
              <a:rPr lang="en-GB" dirty="0" err="1"/>
              <a:t>vulnerabilități</a:t>
            </a:r>
            <a:r>
              <a:rPr lang="en-GB" dirty="0"/>
              <a:t> de </a:t>
            </a:r>
            <a:r>
              <a:rPr lang="en-GB" dirty="0" err="1"/>
              <a:t>securitate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 </a:t>
            </a:r>
            <a:r>
              <a:rPr lang="en-GB" dirty="0" err="1"/>
              <a:t>inconsistențe</a:t>
            </a:r>
            <a:r>
              <a:rPr lang="en-GB" dirty="0"/>
              <a:t>.</a:t>
            </a:r>
          </a:p>
          <a:p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cunoștințe</a:t>
            </a:r>
            <a:r>
              <a:rPr lang="en-GB" dirty="0"/>
              <a:t> </a:t>
            </a:r>
            <a:r>
              <a:rPr lang="en-GB" dirty="0" err="1"/>
              <a:t>proprii</a:t>
            </a:r>
            <a:r>
              <a:rPr lang="en-GB" dirty="0"/>
              <a:t>, nu </a:t>
            </a:r>
            <a:r>
              <a:rPr lang="en-GB" dirty="0" err="1"/>
              <a:t>poți</a:t>
            </a:r>
            <a:r>
              <a:rPr lang="en-GB" dirty="0"/>
              <a:t> </a:t>
            </a:r>
            <a:r>
              <a:rPr lang="en-GB" dirty="0" err="1"/>
              <a:t>verifica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corecta</a:t>
            </a:r>
            <a:r>
              <a:rPr lang="en-GB" dirty="0"/>
              <a:t> </a:t>
            </a:r>
            <a:r>
              <a:rPr lang="en-GB" dirty="0" err="1"/>
              <a:t>rezultatul</a:t>
            </a:r>
            <a:r>
              <a:rPr lang="en-GB" dirty="0"/>
              <a:t>.</a:t>
            </a:r>
          </a:p>
          <a:p>
            <a:r>
              <a:rPr lang="en-GB" dirty="0"/>
              <a:t>Studenții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știe</a:t>
            </a:r>
            <a:r>
              <a:rPr lang="en-GB" dirty="0"/>
              <a:t> </a:t>
            </a:r>
            <a:r>
              <a:rPr lang="en-GB" b="1" dirty="0"/>
              <a:t>cum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depaneze</a:t>
            </a:r>
            <a:r>
              <a:rPr lang="en-GB" b="1" dirty="0"/>
              <a:t>,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testeze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optimizeze</a:t>
            </a:r>
            <a:r>
              <a:rPr lang="en-GB" dirty="0"/>
              <a:t> </a:t>
            </a:r>
            <a:r>
              <a:rPr lang="en-GB" dirty="0" err="1"/>
              <a:t>codul</a:t>
            </a:r>
            <a:r>
              <a:rPr lang="en-GB" dirty="0"/>
              <a:t>.</a:t>
            </a:r>
          </a:p>
          <a:p>
            <a:r>
              <a:rPr lang="en-GB" b="1" dirty="0"/>
              <a:t>AI are </a:t>
            </a:r>
            <a:r>
              <a:rPr lang="en-GB" b="1" dirty="0" err="1"/>
              <a:t>nevoie</a:t>
            </a:r>
            <a:r>
              <a:rPr lang="en-GB" b="1" dirty="0"/>
              <a:t> de </a:t>
            </a:r>
            <a:r>
              <a:rPr lang="en-GB" b="1" dirty="0" err="1"/>
              <a:t>oameni</a:t>
            </a:r>
            <a:r>
              <a:rPr lang="en-GB" b="1" dirty="0"/>
              <a:t> care </a:t>
            </a:r>
            <a:r>
              <a:rPr lang="en-GB" b="1" dirty="0" err="1"/>
              <a:t>știu</a:t>
            </a:r>
            <a:r>
              <a:rPr lang="en-GB" b="1" dirty="0"/>
              <a:t> </a:t>
            </a:r>
            <a:r>
              <a:rPr lang="en-GB" b="1" dirty="0" err="1"/>
              <a:t>să</a:t>
            </a:r>
            <a:r>
              <a:rPr lang="en-GB" b="1" dirty="0"/>
              <a:t> o </a:t>
            </a:r>
            <a:r>
              <a:rPr lang="en-GB" b="1" dirty="0" err="1"/>
              <a:t>antreneze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să</a:t>
            </a:r>
            <a:r>
              <a:rPr lang="en-GB" b="1" dirty="0"/>
              <a:t> o </a:t>
            </a:r>
            <a:r>
              <a:rPr lang="en-GB" b="1" dirty="0" err="1"/>
              <a:t>îmbunătățească</a:t>
            </a:r>
            <a:endParaRPr lang="en-GB" b="1" dirty="0"/>
          </a:p>
          <a:p>
            <a:r>
              <a:rPr lang="en-GB" dirty="0" err="1"/>
              <a:t>Fiecare</a:t>
            </a:r>
            <a:r>
              <a:rPr lang="en-GB" dirty="0"/>
              <a:t> </a:t>
            </a:r>
            <a:r>
              <a:rPr lang="en-GB" dirty="0" err="1"/>
              <a:t>sistem</a:t>
            </a:r>
            <a:r>
              <a:rPr lang="en-GB" dirty="0"/>
              <a:t> AI </a:t>
            </a:r>
            <a:r>
              <a:rPr lang="en-GB" dirty="0" err="1"/>
              <a:t>este</a:t>
            </a:r>
            <a:r>
              <a:rPr lang="en-GB" dirty="0"/>
              <a:t> </a:t>
            </a:r>
            <a:r>
              <a:rPr lang="en-GB" dirty="0" err="1"/>
              <a:t>creat</a:t>
            </a:r>
            <a:r>
              <a:rPr lang="en-GB" dirty="0"/>
              <a:t>, </a:t>
            </a:r>
            <a:r>
              <a:rPr lang="en-GB" dirty="0" err="1"/>
              <a:t>antrenat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evaluat</a:t>
            </a:r>
            <a:r>
              <a:rPr lang="en-GB" dirty="0"/>
              <a:t> de </a:t>
            </a:r>
            <a:r>
              <a:rPr lang="en-GB" b="1" dirty="0" err="1"/>
              <a:t>programatori</a:t>
            </a:r>
            <a:r>
              <a:rPr lang="en-GB" b="1" dirty="0"/>
              <a:t> </a:t>
            </a:r>
            <a:r>
              <a:rPr lang="en-GB" b="1" dirty="0" err="1"/>
              <a:t>umani</a:t>
            </a:r>
            <a:r>
              <a:rPr lang="en-GB" dirty="0"/>
              <a:t>.</a:t>
            </a:r>
          </a:p>
          <a:p>
            <a:r>
              <a:rPr lang="en-GB" dirty="0"/>
              <a:t>Cei care </a:t>
            </a:r>
            <a:r>
              <a:rPr lang="en-GB" dirty="0" err="1"/>
              <a:t>știu</a:t>
            </a:r>
            <a:r>
              <a:rPr lang="en-GB" dirty="0"/>
              <a:t> </a:t>
            </a:r>
            <a:r>
              <a:rPr lang="en-GB" dirty="0" err="1"/>
              <a:t>programare</a:t>
            </a:r>
            <a:r>
              <a:rPr lang="en-GB" dirty="0"/>
              <a:t> pot </a:t>
            </a:r>
            <a:r>
              <a:rPr lang="en-GB" dirty="0" err="1"/>
              <a:t>contribui</a:t>
            </a:r>
            <a:r>
              <a:rPr lang="en-GB" dirty="0"/>
              <a:t> la </a:t>
            </a:r>
            <a:r>
              <a:rPr lang="en-GB" dirty="0" err="1"/>
              <a:t>dezvoltarea</a:t>
            </a:r>
            <a:r>
              <a:rPr lang="en-GB" dirty="0"/>
              <a:t> </a:t>
            </a:r>
            <a:r>
              <a:rPr lang="en-GB" dirty="0" err="1"/>
              <a:t>modelelor</a:t>
            </a:r>
            <a:r>
              <a:rPr lang="en-GB" dirty="0"/>
              <a:t> AI — </a:t>
            </a:r>
            <a:r>
              <a:rPr lang="en-GB" dirty="0" err="1"/>
              <a:t>ceilalți</a:t>
            </a:r>
            <a:r>
              <a:rPr lang="en-GB" dirty="0"/>
              <a:t> </a:t>
            </a:r>
            <a:r>
              <a:rPr lang="en-GB" dirty="0" err="1"/>
              <a:t>doar</a:t>
            </a:r>
            <a:r>
              <a:rPr lang="en-GB" dirty="0"/>
              <a:t> le </a:t>
            </a:r>
            <a:r>
              <a:rPr lang="en-GB" dirty="0" err="1"/>
              <a:t>folosesc</a:t>
            </a:r>
            <a:r>
              <a:rPr lang="en-GB" dirty="0"/>
              <a:t>.</a:t>
            </a:r>
          </a:p>
          <a:p>
            <a:r>
              <a:rPr lang="en-GB" dirty="0" err="1"/>
              <a:t>În</a:t>
            </a:r>
            <a:r>
              <a:rPr lang="en-GB" dirty="0"/>
              <a:t> loc </a:t>
            </a:r>
            <a:r>
              <a:rPr lang="en-GB" dirty="0" err="1"/>
              <a:t>să</a:t>
            </a:r>
            <a:r>
              <a:rPr lang="en-GB" dirty="0"/>
              <a:t> fie </a:t>
            </a:r>
            <a:r>
              <a:rPr lang="en-GB" dirty="0" err="1"/>
              <a:t>înlocuiți</a:t>
            </a:r>
            <a:r>
              <a:rPr lang="en-GB" dirty="0"/>
              <a:t>, </a:t>
            </a:r>
            <a:r>
              <a:rPr lang="en-GB" b="1" dirty="0" err="1"/>
              <a:t>programatorii</a:t>
            </a:r>
            <a:r>
              <a:rPr lang="en-GB" b="1" dirty="0"/>
              <a:t> sunt </a:t>
            </a:r>
            <a:r>
              <a:rPr lang="en-GB" b="1" dirty="0" err="1"/>
              <a:t>cei</a:t>
            </a:r>
            <a:r>
              <a:rPr lang="en-GB" b="1" dirty="0"/>
              <a:t> care „</a:t>
            </a:r>
            <a:r>
              <a:rPr lang="en-GB" b="1" dirty="0" err="1"/>
              <a:t>învață</a:t>
            </a:r>
            <a:r>
              <a:rPr lang="en-GB" b="1" dirty="0"/>
              <a:t>” AI-ul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funcționeze</a:t>
            </a:r>
            <a:r>
              <a:rPr lang="en-GB" dirty="0"/>
              <a:t>.</a:t>
            </a:r>
          </a:p>
          <a:p>
            <a:r>
              <a:rPr lang="en-GB" b="1" dirty="0" err="1"/>
              <a:t>Companiile</a:t>
            </a:r>
            <a:r>
              <a:rPr lang="en-GB" b="1" dirty="0"/>
              <a:t> nu </a:t>
            </a:r>
            <a:r>
              <a:rPr lang="en-GB" b="1" dirty="0" err="1"/>
              <a:t>angajează</a:t>
            </a:r>
            <a:r>
              <a:rPr lang="en-GB" b="1" dirty="0"/>
              <a:t> </a:t>
            </a:r>
            <a:r>
              <a:rPr lang="en-GB" b="1" dirty="0" err="1"/>
              <a:t>oameni</a:t>
            </a:r>
            <a:r>
              <a:rPr lang="en-GB" b="1" dirty="0"/>
              <a:t> care </a:t>
            </a:r>
            <a:r>
              <a:rPr lang="en-GB" b="1" dirty="0" err="1"/>
              <a:t>doar</a:t>
            </a:r>
            <a:r>
              <a:rPr lang="en-GB" b="1" dirty="0"/>
              <a:t> </a:t>
            </a:r>
            <a:r>
              <a:rPr lang="en-GB" b="1" dirty="0" err="1"/>
              <a:t>știu</a:t>
            </a:r>
            <a:r>
              <a:rPr lang="en-GB" b="1" dirty="0"/>
              <a:t>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ceară</a:t>
            </a:r>
            <a:r>
              <a:rPr lang="en-GB" b="1" dirty="0"/>
              <a:t> cod de la AI</a:t>
            </a:r>
          </a:p>
          <a:p>
            <a:r>
              <a:rPr lang="en-GB" dirty="0" err="1"/>
              <a:t>Angajatorii</a:t>
            </a:r>
            <a:r>
              <a:rPr lang="en-GB" dirty="0"/>
              <a:t> </a:t>
            </a:r>
            <a:r>
              <a:rPr lang="en-GB" dirty="0" err="1"/>
              <a:t>caută</a:t>
            </a:r>
            <a:r>
              <a:rPr lang="en-GB" dirty="0"/>
              <a:t> </a:t>
            </a:r>
            <a:r>
              <a:rPr lang="en-GB" dirty="0" err="1"/>
              <a:t>oameni</a:t>
            </a:r>
            <a:r>
              <a:rPr lang="en-GB" dirty="0"/>
              <a:t> </a:t>
            </a:r>
            <a:r>
              <a:rPr lang="en-GB" dirty="0" err="1"/>
              <a:t>capabili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b="1" dirty="0" err="1"/>
              <a:t>înțeleagă</a:t>
            </a:r>
            <a:r>
              <a:rPr lang="en-GB" b="1" dirty="0"/>
              <a:t> </a:t>
            </a:r>
            <a:r>
              <a:rPr lang="en-GB" b="1" dirty="0" err="1"/>
              <a:t>cerințele</a:t>
            </a:r>
            <a:r>
              <a:rPr lang="en-GB" b="1" dirty="0"/>
              <a:t>,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proiecteze</a:t>
            </a:r>
            <a:r>
              <a:rPr lang="en-GB" b="1" dirty="0"/>
              <a:t> </a:t>
            </a:r>
            <a:r>
              <a:rPr lang="en-GB" b="1" dirty="0" err="1"/>
              <a:t>soluții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să</a:t>
            </a:r>
            <a:r>
              <a:rPr lang="en-GB" b="1" dirty="0"/>
              <a:t> </a:t>
            </a:r>
            <a:r>
              <a:rPr lang="en-GB" b="1" dirty="0" err="1"/>
              <a:t>integreze</a:t>
            </a:r>
            <a:r>
              <a:rPr lang="en-GB" b="1" dirty="0"/>
              <a:t> </a:t>
            </a:r>
            <a:r>
              <a:rPr lang="en-GB" b="1" dirty="0" err="1"/>
              <a:t>codul</a:t>
            </a:r>
            <a:r>
              <a:rPr lang="en-GB" dirty="0"/>
              <a:t>.</a:t>
            </a:r>
          </a:p>
          <a:p>
            <a:r>
              <a:rPr lang="en-GB" dirty="0"/>
              <a:t>AI </a:t>
            </a:r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scrie</a:t>
            </a:r>
            <a:r>
              <a:rPr lang="en-GB" dirty="0"/>
              <a:t> o </a:t>
            </a:r>
            <a:r>
              <a:rPr lang="en-GB" dirty="0" err="1"/>
              <a:t>funcție</a:t>
            </a:r>
            <a:r>
              <a:rPr lang="en-GB" dirty="0"/>
              <a:t>, </a:t>
            </a:r>
            <a:r>
              <a:rPr lang="en-GB" dirty="0" err="1"/>
              <a:t>dar</a:t>
            </a:r>
            <a:r>
              <a:rPr lang="en-GB" dirty="0"/>
              <a:t> nu </a:t>
            </a:r>
            <a:r>
              <a:rPr lang="en-GB" dirty="0" err="1"/>
              <a:t>poate</a:t>
            </a:r>
            <a:r>
              <a:rPr lang="en-GB" dirty="0"/>
              <a:t> </a:t>
            </a:r>
            <a:r>
              <a:rPr lang="en-GB" dirty="0" err="1"/>
              <a:t>construi</a:t>
            </a:r>
            <a:r>
              <a:rPr lang="en-GB" dirty="0"/>
              <a:t> o </a:t>
            </a:r>
            <a:r>
              <a:rPr lang="en-GB" dirty="0" err="1"/>
              <a:t>aplicație</a:t>
            </a:r>
            <a:r>
              <a:rPr lang="en-GB" dirty="0"/>
              <a:t> </a:t>
            </a:r>
            <a:r>
              <a:rPr lang="en-GB" dirty="0" err="1"/>
              <a:t>completă</a:t>
            </a:r>
            <a:r>
              <a:rPr lang="en-GB" dirty="0"/>
              <a:t>, </a:t>
            </a:r>
            <a:r>
              <a:rPr lang="en-GB" dirty="0" err="1"/>
              <a:t>testată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documentată</a:t>
            </a:r>
            <a:r>
              <a:rPr lang="en-GB" dirty="0"/>
              <a:t>.</a:t>
            </a:r>
          </a:p>
          <a:p>
            <a:r>
              <a:rPr lang="en-GB" dirty="0"/>
              <a:t>Cei care </a:t>
            </a:r>
            <a:r>
              <a:rPr lang="en-GB" dirty="0" err="1"/>
              <a:t>știu</a:t>
            </a:r>
            <a:r>
              <a:rPr lang="en-GB" dirty="0"/>
              <a:t> </a:t>
            </a:r>
            <a:r>
              <a:rPr lang="en-GB" dirty="0" err="1"/>
              <a:t>programare</a:t>
            </a:r>
            <a:r>
              <a:rPr lang="en-GB" dirty="0"/>
              <a:t> </a:t>
            </a:r>
            <a:r>
              <a:rPr lang="en-GB" dirty="0" err="1"/>
              <a:t>vor</a:t>
            </a:r>
            <a:r>
              <a:rPr lang="en-GB" dirty="0"/>
              <a:t> fi </a:t>
            </a:r>
            <a:r>
              <a:rPr lang="en-GB" b="1" dirty="0"/>
              <a:t>de 10 </a:t>
            </a:r>
            <a:r>
              <a:rPr lang="en-GB" b="1" dirty="0" err="1"/>
              <a:t>ori</a:t>
            </a:r>
            <a:r>
              <a:rPr lang="en-GB" b="1" dirty="0"/>
              <a:t> </a:t>
            </a:r>
            <a:r>
              <a:rPr lang="en-GB" b="1" dirty="0" err="1"/>
              <a:t>mai</a:t>
            </a:r>
            <a:r>
              <a:rPr lang="en-GB" b="1" dirty="0"/>
              <a:t> </a:t>
            </a:r>
            <a:r>
              <a:rPr lang="en-GB" b="1" dirty="0" err="1"/>
              <a:t>rapizi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că</a:t>
            </a:r>
            <a:r>
              <a:rPr lang="en-GB" dirty="0"/>
              <a:t> </a:t>
            </a:r>
            <a:r>
              <a:rPr lang="en-GB" dirty="0" err="1"/>
              <a:t>știu</a:t>
            </a:r>
            <a:r>
              <a:rPr lang="en-GB" dirty="0"/>
              <a:t> cum </a:t>
            </a:r>
            <a:r>
              <a:rPr lang="en-GB" dirty="0" err="1"/>
              <a:t>să</a:t>
            </a:r>
            <a:r>
              <a:rPr lang="en-GB" dirty="0"/>
              <a:t> combine AI cu </a:t>
            </a:r>
            <a:r>
              <a:rPr lang="en-GB" dirty="0" err="1"/>
              <a:t>expertiza</a:t>
            </a:r>
            <a:r>
              <a:rPr lang="en-GB" dirty="0"/>
              <a:t> lor.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849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43109-87D9-D2DB-8DFE-0FDC0910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A400-B66C-8792-C22A-DC323D1E8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 ce merită să înveți programare chiar și în era 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5BD8D-5013-7BC2-A31F-DDEC931EA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1549"/>
          </a:xfrm>
        </p:spPr>
        <p:txBody>
          <a:bodyPr>
            <a:normAutofit/>
          </a:bodyPr>
          <a:lstStyle/>
          <a:p>
            <a:r>
              <a:rPr lang="en-GB" b="1" dirty="0" err="1"/>
              <a:t>Înțelegerea</a:t>
            </a:r>
            <a:r>
              <a:rPr lang="en-GB" b="1" dirty="0"/>
              <a:t> </a:t>
            </a:r>
            <a:r>
              <a:rPr lang="en-GB" b="1" dirty="0" err="1"/>
              <a:t>codului</a:t>
            </a:r>
            <a:r>
              <a:rPr lang="en-GB" b="1" dirty="0"/>
              <a:t> = control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responsabilitate</a:t>
            </a:r>
            <a:endParaRPr lang="en-GB" b="1" dirty="0"/>
          </a:p>
          <a:p>
            <a:r>
              <a:rPr lang="en-GB" dirty="0" err="1"/>
              <a:t>Dacă</a:t>
            </a:r>
            <a:r>
              <a:rPr lang="en-GB" dirty="0"/>
              <a:t> nu </a:t>
            </a:r>
            <a:r>
              <a:rPr lang="en-GB" dirty="0" err="1"/>
              <a:t>înțelegi</a:t>
            </a:r>
            <a:r>
              <a:rPr lang="en-GB" dirty="0"/>
              <a:t> </a:t>
            </a:r>
            <a:r>
              <a:rPr lang="en-GB" dirty="0" err="1"/>
              <a:t>codul</a:t>
            </a:r>
            <a:r>
              <a:rPr lang="en-GB" dirty="0"/>
              <a:t>, </a:t>
            </a:r>
            <a:r>
              <a:rPr lang="en-GB" b="1" dirty="0"/>
              <a:t>nu </a:t>
            </a:r>
            <a:r>
              <a:rPr lang="en-GB" b="1" dirty="0" err="1"/>
              <a:t>știi</a:t>
            </a:r>
            <a:r>
              <a:rPr lang="en-GB" b="1" dirty="0"/>
              <a:t> </a:t>
            </a:r>
            <a:r>
              <a:rPr lang="en-GB" b="1" dirty="0" err="1"/>
              <a:t>ce</a:t>
            </a:r>
            <a:r>
              <a:rPr lang="en-GB" b="1" dirty="0"/>
              <a:t> </a:t>
            </a:r>
            <a:r>
              <a:rPr lang="en-GB" b="1" dirty="0" err="1"/>
              <a:t>rulezi</a:t>
            </a:r>
            <a:r>
              <a:rPr lang="en-GB" dirty="0"/>
              <a:t> – </a:t>
            </a:r>
            <a:r>
              <a:rPr lang="en-GB" dirty="0" err="1"/>
              <a:t>ceea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e </a:t>
            </a:r>
            <a:r>
              <a:rPr lang="en-GB" dirty="0" err="1"/>
              <a:t>riscant</a:t>
            </a:r>
            <a:r>
              <a:rPr lang="en-GB" dirty="0"/>
              <a:t>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medii</a:t>
            </a:r>
            <a:r>
              <a:rPr lang="en-GB" dirty="0"/>
              <a:t> </a:t>
            </a:r>
            <a:r>
              <a:rPr lang="en-GB" dirty="0" err="1"/>
              <a:t>critice</a:t>
            </a:r>
            <a:r>
              <a:rPr lang="en-GB" dirty="0"/>
              <a:t> (</a:t>
            </a:r>
            <a:r>
              <a:rPr lang="en-GB" dirty="0" err="1"/>
              <a:t>bănci</a:t>
            </a:r>
            <a:r>
              <a:rPr lang="en-GB" dirty="0"/>
              <a:t>, </a:t>
            </a:r>
            <a:r>
              <a:rPr lang="en-GB" dirty="0" err="1"/>
              <a:t>medicină</a:t>
            </a:r>
            <a:r>
              <a:rPr lang="en-GB" dirty="0"/>
              <a:t>, </a:t>
            </a:r>
            <a:r>
              <a:rPr lang="en-GB" dirty="0" err="1"/>
              <a:t>industrie</a:t>
            </a:r>
            <a:r>
              <a:rPr lang="en-GB" dirty="0"/>
              <a:t>).</a:t>
            </a:r>
          </a:p>
          <a:p>
            <a:r>
              <a:rPr lang="en-GB" dirty="0"/>
              <a:t>Un </a:t>
            </a:r>
            <a:r>
              <a:rPr lang="en-GB" dirty="0" err="1"/>
              <a:t>inginer</a:t>
            </a:r>
            <a:r>
              <a:rPr lang="en-GB" dirty="0"/>
              <a:t> </a:t>
            </a:r>
            <a:r>
              <a:rPr lang="en-GB" dirty="0" err="1"/>
              <a:t>adevărat</a:t>
            </a:r>
            <a:r>
              <a:rPr lang="en-GB" dirty="0"/>
              <a:t> </a:t>
            </a:r>
            <a:r>
              <a:rPr lang="en-GB" dirty="0" err="1"/>
              <a:t>trebuie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poată</a:t>
            </a:r>
            <a:r>
              <a:rPr lang="en-GB" dirty="0"/>
              <a:t> </a:t>
            </a:r>
            <a:r>
              <a:rPr lang="en-GB" dirty="0" err="1"/>
              <a:t>explica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justifica</a:t>
            </a:r>
            <a:r>
              <a:rPr lang="en-GB" dirty="0"/>
              <a:t> </a:t>
            </a:r>
            <a:r>
              <a:rPr lang="en-GB" dirty="0" err="1"/>
              <a:t>soluția</a:t>
            </a:r>
            <a:r>
              <a:rPr lang="en-GB" dirty="0"/>
              <a:t> </a:t>
            </a:r>
            <a:r>
              <a:rPr lang="en-GB" dirty="0" err="1"/>
              <a:t>tehnică</a:t>
            </a:r>
            <a:r>
              <a:rPr lang="en-GB" dirty="0"/>
              <a:t>, nu </a:t>
            </a:r>
            <a:r>
              <a:rPr lang="en-GB" dirty="0" err="1"/>
              <a:t>doar</a:t>
            </a:r>
            <a:r>
              <a:rPr lang="en-GB" dirty="0"/>
              <a:t> </a:t>
            </a:r>
            <a:r>
              <a:rPr lang="en-GB" dirty="0" err="1"/>
              <a:t>să</a:t>
            </a:r>
            <a:r>
              <a:rPr lang="en-GB" dirty="0"/>
              <a:t> o </a:t>
            </a:r>
            <a:r>
              <a:rPr lang="en-GB" dirty="0" err="1"/>
              <a:t>copieze</a:t>
            </a:r>
            <a:r>
              <a:rPr lang="en-GB" dirty="0"/>
              <a:t> de la AI.</a:t>
            </a:r>
          </a:p>
          <a:p>
            <a:r>
              <a:rPr lang="en-GB" b="1" dirty="0" err="1"/>
              <a:t>Programarea</a:t>
            </a:r>
            <a:r>
              <a:rPr lang="en-GB" b="1" dirty="0"/>
              <a:t> </a:t>
            </a:r>
            <a:r>
              <a:rPr lang="en-GB" b="1" dirty="0" err="1"/>
              <a:t>dezvoltă</a:t>
            </a:r>
            <a:r>
              <a:rPr lang="en-GB" b="1" dirty="0"/>
              <a:t> </a:t>
            </a:r>
            <a:r>
              <a:rPr lang="en-GB" b="1" dirty="0" err="1"/>
              <a:t>gândirea</a:t>
            </a:r>
            <a:r>
              <a:rPr lang="en-GB" b="1" dirty="0"/>
              <a:t> </a:t>
            </a:r>
            <a:r>
              <a:rPr lang="en-GB" b="1" dirty="0" err="1"/>
              <a:t>analitică</a:t>
            </a:r>
            <a:r>
              <a:rPr lang="en-GB" b="1" dirty="0"/>
              <a:t>, nu </a:t>
            </a:r>
            <a:r>
              <a:rPr lang="en-GB" b="1" dirty="0" err="1"/>
              <a:t>doar</a:t>
            </a:r>
            <a:r>
              <a:rPr lang="en-GB" b="1" dirty="0"/>
              <a:t> </a:t>
            </a:r>
            <a:r>
              <a:rPr lang="en-GB" b="1" dirty="0" err="1"/>
              <a:t>competențe</a:t>
            </a:r>
            <a:r>
              <a:rPr lang="en-GB" b="1" dirty="0"/>
              <a:t> </a:t>
            </a:r>
            <a:r>
              <a:rPr lang="en-GB" b="1" dirty="0" err="1"/>
              <a:t>tehnice</a:t>
            </a:r>
            <a:endParaRPr lang="en-GB" b="1" dirty="0"/>
          </a:p>
          <a:p>
            <a:r>
              <a:rPr lang="en-GB" dirty="0" err="1"/>
              <a:t>Chiar</a:t>
            </a:r>
            <a:r>
              <a:rPr lang="en-GB" dirty="0"/>
              <a:t> </a:t>
            </a:r>
            <a:r>
              <a:rPr lang="en-GB" dirty="0" err="1"/>
              <a:t>dacă</a:t>
            </a:r>
            <a:r>
              <a:rPr lang="en-GB" dirty="0"/>
              <a:t> </a:t>
            </a:r>
            <a:r>
              <a:rPr lang="en-GB" dirty="0" err="1"/>
              <a:t>într</a:t>
            </a:r>
            <a:r>
              <a:rPr lang="en-GB" dirty="0"/>
              <a:t>-o zi AI </a:t>
            </a:r>
            <a:r>
              <a:rPr lang="en-GB" dirty="0" err="1"/>
              <a:t>va</a:t>
            </a:r>
            <a:r>
              <a:rPr lang="en-GB" dirty="0"/>
              <a:t> </a:t>
            </a:r>
            <a:r>
              <a:rPr lang="en-GB" dirty="0" err="1"/>
              <a:t>programa</a:t>
            </a:r>
            <a:r>
              <a:rPr lang="en-GB" dirty="0"/>
              <a:t> perfect, </a:t>
            </a:r>
            <a:r>
              <a:rPr lang="en-GB" b="1" dirty="0" err="1"/>
              <a:t>abilitățile</a:t>
            </a:r>
            <a:r>
              <a:rPr lang="en-GB" b="1" dirty="0"/>
              <a:t> de </a:t>
            </a:r>
            <a:r>
              <a:rPr lang="en-GB" b="1" dirty="0" err="1"/>
              <a:t>gândire</a:t>
            </a:r>
            <a:r>
              <a:rPr lang="en-GB" b="1" dirty="0"/>
              <a:t> </a:t>
            </a:r>
            <a:r>
              <a:rPr lang="en-GB" b="1" dirty="0" err="1"/>
              <a:t>algoritmică</a:t>
            </a:r>
            <a:r>
              <a:rPr lang="en-GB" b="1" dirty="0"/>
              <a:t>, </a:t>
            </a:r>
            <a:r>
              <a:rPr lang="en-GB" b="1" dirty="0" err="1"/>
              <a:t>logică</a:t>
            </a:r>
            <a:r>
              <a:rPr lang="en-GB" b="1" dirty="0"/>
              <a:t> </a:t>
            </a:r>
            <a:r>
              <a:rPr lang="en-GB" b="1" dirty="0" err="1"/>
              <a:t>și</a:t>
            </a:r>
            <a:r>
              <a:rPr lang="en-GB" b="1" dirty="0"/>
              <a:t> </a:t>
            </a:r>
            <a:r>
              <a:rPr lang="en-GB" b="1" dirty="0" err="1"/>
              <a:t>abstractă</a:t>
            </a:r>
            <a:r>
              <a:rPr lang="en-GB" dirty="0"/>
              <a:t> </a:t>
            </a:r>
            <a:r>
              <a:rPr lang="en-GB" dirty="0" err="1"/>
              <a:t>rămân</a:t>
            </a:r>
            <a:r>
              <a:rPr lang="en-GB" dirty="0"/>
              <a:t> utile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orice</a:t>
            </a:r>
            <a:r>
              <a:rPr lang="en-GB" dirty="0"/>
              <a:t> </a:t>
            </a:r>
            <a:r>
              <a:rPr lang="en-GB" dirty="0" err="1"/>
              <a:t>carieră</a:t>
            </a:r>
            <a:r>
              <a:rPr lang="en-GB" dirty="0"/>
              <a:t> </a:t>
            </a:r>
            <a:r>
              <a:rPr lang="en-GB" dirty="0" err="1"/>
              <a:t>tehnologică</a:t>
            </a:r>
            <a:r>
              <a:rPr lang="en-GB" dirty="0"/>
              <a:t>.</a:t>
            </a:r>
          </a:p>
          <a:p>
            <a:r>
              <a:rPr lang="en-GB" dirty="0" err="1"/>
              <a:t>Programarea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învață</a:t>
            </a:r>
            <a:r>
              <a:rPr lang="en-GB" dirty="0"/>
              <a:t> cum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structurezi</a:t>
            </a:r>
            <a:r>
              <a:rPr lang="en-GB" dirty="0"/>
              <a:t> </a:t>
            </a:r>
            <a:r>
              <a:rPr lang="en-GB" dirty="0" err="1"/>
              <a:t>probleme</a:t>
            </a:r>
            <a:r>
              <a:rPr lang="en-GB" dirty="0"/>
              <a:t>, cum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testezi</a:t>
            </a:r>
            <a:r>
              <a:rPr lang="en-GB" dirty="0"/>
              <a:t> </a:t>
            </a:r>
            <a:r>
              <a:rPr lang="en-GB" dirty="0" err="1"/>
              <a:t>ipoteze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cum </a:t>
            </a:r>
            <a:r>
              <a:rPr lang="en-GB" dirty="0" err="1"/>
              <a:t>să</a:t>
            </a:r>
            <a:r>
              <a:rPr lang="en-GB" dirty="0"/>
              <a:t> </a:t>
            </a:r>
            <a:r>
              <a:rPr lang="en-GB" dirty="0" err="1"/>
              <a:t>gândești</a:t>
            </a:r>
            <a:r>
              <a:rPr lang="en-GB" dirty="0"/>
              <a:t> </a:t>
            </a:r>
            <a:r>
              <a:rPr lang="en-GB" dirty="0" err="1"/>
              <a:t>sistematic</a:t>
            </a:r>
            <a:r>
              <a:rPr lang="en-GB" dirty="0"/>
              <a:t> — exact </a:t>
            </a:r>
            <a:r>
              <a:rPr lang="en-GB" dirty="0" err="1"/>
              <a:t>competențele</a:t>
            </a:r>
            <a:r>
              <a:rPr lang="en-GB" dirty="0"/>
              <a:t> pe care AI nu le are.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260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/>
              <a:t>Java Vs. Java Script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Java 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Un limbaj de programare complet dezvoltat de Sun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Poate fi folosit pentru a dezvolta software bazat pe web sau independent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Sunt disponibile multe biblioteci de coduri pre-create</a:t>
            </a:r>
            <a:r>
              <a:rPr lang="en-US" dirty="0"/>
              <a:t> </a:t>
            </a:r>
            <a:r>
              <a:rPr lang="ro-RO" dirty="0" err="1"/>
              <a:t>ș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gata</a:t>
            </a:r>
            <a:r>
              <a:rPr lang="en-US" dirty="0"/>
              <a:t> </a:t>
            </a:r>
            <a:r>
              <a:rPr lang="en-US" dirty="0" err="1"/>
              <a:t>compilate</a:t>
            </a:r>
            <a:endParaRPr lang="ro-RO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ro-RO" dirty="0"/>
              <a:t>Pentru programe mai complexe și mai puternice</a:t>
            </a:r>
          </a:p>
          <a:p>
            <a:endParaRPr lang="ro-RO" dirty="0"/>
          </a:p>
          <a:p>
            <a:r>
              <a:rPr lang="ro-RO" dirty="0"/>
              <a:t>Java</a:t>
            </a:r>
            <a:r>
              <a:rPr lang="en-US" dirty="0"/>
              <a:t> </a:t>
            </a:r>
            <a:r>
              <a:rPr lang="ro-RO" dirty="0"/>
              <a:t>Script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sz="1600" dirty="0"/>
              <a:t>O limb</a:t>
            </a:r>
            <a:r>
              <a:rPr lang="en-US" sz="1600" dirty="0" err="1"/>
              <a:t>aj</a:t>
            </a:r>
            <a:r>
              <a:rPr lang="en-US" sz="1600" dirty="0"/>
              <a:t> </a:t>
            </a:r>
            <a:r>
              <a:rPr lang="en-US" sz="1600" dirty="0" err="1"/>
              <a:t>mai</a:t>
            </a:r>
            <a:r>
              <a:rPr lang="en-US" sz="1600" dirty="0"/>
              <a:t> mic</a:t>
            </a:r>
            <a:r>
              <a:rPr lang="ro-RO" sz="1600" dirty="0"/>
              <a:t>, utilizat în principal pentru aplicații bazate pe web (rulează printr-un browser web precum Internet Explorer, </a:t>
            </a:r>
            <a:r>
              <a:rPr lang="ro-RO" sz="1600" dirty="0" err="1"/>
              <a:t>Firefox</a:t>
            </a:r>
            <a:r>
              <a:rPr lang="ro-RO" sz="1600" dirty="0"/>
              <a:t>, Safari, </a:t>
            </a:r>
            <a:r>
              <a:rPr lang="ro-RO" sz="1600" dirty="0" err="1"/>
              <a:t>Chrome</a:t>
            </a:r>
            <a:r>
              <a:rPr lang="ro-RO" sz="16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o-RO" sz="1600" dirty="0"/>
              <a:t>Bun pentru programarea efectelor speciale simple pentru pagina. web, de exemplu, </a:t>
            </a:r>
            <a:r>
              <a:rPr lang="ro-RO" sz="1600" dirty="0" err="1"/>
              <a:t>roll</a:t>
            </a:r>
            <a:r>
              <a:rPr lang="ro-RO" sz="1600" dirty="0"/>
              <a:t>-over-uri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349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/>
              <a:t>Java: </a:t>
            </a:r>
            <a:r>
              <a:rPr lang="en-US" altLang="ro-RO" dirty="0" err="1"/>
              <a:t>Istoric</a:t>
            </a:r>
            <a:endParaRPr lang="en-US" altLang="ro-RO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ro-RO" dirty="0" err="1"/>
              <a:t>Computerele</a:t>
            </a:r>
            <a:r>
              <a:rPr lang="en-US" altLang="ro-RO" dirty="0"/>
              <a:t> </a:t>
            </a:r>
            <a:r>
              <a:rPr lang="ro-RO" altLang="ro-RO" dirty="0"/>
              <a:t>în trecut</a:t>
            </a:r>
            <a:endParaRPr lang="en-US" altLang="ro-RO" dirty="0"/>
          </a:p>
        </p:txBody>
      </p:sp>
      <p:pic>
        <p:nvPicPr>
          <p:cNvPr id="4100" name="Picture 4" descr="eni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2" t="22212" r="3625" b="2348"/>
          <a:stretch>
            <a:fillRect/>
          </a:stretch>
        </p:blipFill>
        <p:spPr bwMode="auto">
          <a:xfrm>
            <a:off x="3731226" y="1845734"/>
            <a:ext cx="6195369" cy="4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59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o-RO" dirty="0"/>
              <a:t>Java: </a:t>
            </a:r>
            <a:r>
              <a:rPr lang="en-US" altLang="ro-RO" dirty="0" err="1"/>
              <a:t>Istoric</a:t>
            </a:r>
            <a:r>
              <a:rPr lang="en-US" altLang="ro-RO" dirty="0"/>
              <a:t> (2)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168400"/>
            <a:ext cx="10128250" cy="5384800"/>
          </a:xfrm>
        </p:spPr>
        <p:txBody>
          <a:bodyPr/>
          <a:lstStyle/>
          <a:p>
            <a:r>
              <a:rPr lang="en-US" altLang="ro-RO" dirty="0" err="1"/>
              <a:t>Invenția</a:t>
            </a:r>
            <a:r>
              <a:rPr lang="en-US" altLang="ro-RO" dirty="0"/>
              <a:t> </a:t>
            </a:r>
            <a:r>
              <a:rPr lang="en-US" altLang="ro-RO" dirty="0" err="1"/>
              <a:t>microprocesorului</a:t>
            </a:r>
            <a:r>
              <a:rPr lang="en-US" altLang="ro-RO" dirty="0"/>
              <a:t> a </a:t>
            </a:r>
            <a:r>
              <a:rPr lang="en-US" altLang="ro-RO" dirty="0" err="1"/>
              <a:t>revoluționat</a:t>
            </a:r>
            <a:r>
              <a:rPr lang="en-US" altLang="ro-RO" dirty="0"/>
              <a:t> </a:t>
            </a:r>
            <a:r>
              <a:rPr lang="en-US" altLang="ro-RO" dirty="0" err="1"/>
              <a:t>computerele</a:t>
            </a:r>
            <a:endParaRPr lang="en-US" altLang="ro-RO" dirty="0"/>
          </a:p>
        </p:txBody>
      </p:sp>
      <p:pic>
        <p:nvPicPr>
          <p:cNvPr id="5124" name="Picture 4" descr="40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0" t="7596" r="10919" b="5342"/>
          <a:stretch>
            <a:fillRect/>
          </a:stretch>
        </p:blipFill>
        <p:spPr bwMode="auto">
          <a:xfrm>
            <a:off x="2489200" y="1929607"/>
            <a:ext cx="266382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 descr="pet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72226" y="1909865"/>
            <a:ext cx="3439039" cy="4001986"/>
          </a:xfrm>
          <a:noFill/>
        </p:spPr>
      </p:pic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2489200" y="4373949"/>
            <a:ext cx="2628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o-RO" sz="1800" dirty="0"/>
              <a:t>Intel microprocessor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375400" y="5905501"/>
            <a:ext cx="3543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o-RO" sz="1800"/>
              <a:t>Commodore Pet microcomputer</a:t>
            </a:r>
          </a:p>
        </p:txBody>
      </p:sp>
    </p:spTree>
    <p:extLst>
      <p:ext uri="{BB962C8B-B14F-4D97-AF65-F5344CB8AC3E}">
        <p14:creationId xmlns:p14="http://schemas.microsoft.com/office/powerpoint/2010/main" val="4185624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/>
              <a:t>Java: </a:t>
            </a:r>
            <a:r>
              <a:rPr lang="en-US" altLang="ro-RO" dirty="0" err="1"/>
              <a:t>Istoric</a:t>
            </a:r>
            <a:r>
              <a:rPr lang="en-US" altLang="ro-RO" dirty="0"/>
              <a:t> (3)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476250" algn="l"/>
              </a:tabLst>
            </a:pPr>
            <a:r>
              <a:rPr lang="en-US" altLang="ro-RO" dirty="0"/>
              <a:t>S-a </a:t>
            </a:r>
            <a:r>
              <a:rPr lang="en-US" altLang="ro-RO" dirty="0" err="1"/>
              <a:t>crezut</a:t>
            </a:r>
            <a:r>
              <a:rPr lang="en-US" altLang="ro-RO" dirty="0"/>
              <a:t> </a:t>
            </a:r>
            <a:r>
              <a:rPr lang="en-US" altLang="ro-RO" dirty="0" err="1"/>
              <a:t>că</a:t>
            </a:r>
            <a:r>
              <a:rPr lang="en-US" altLang="ro-RO" dirty="0"/>
              <a:t> </a:t>
            </a:r>
            <a:r>
              <a:rPr lang="en-US" altLang="ro-RO" dirty="0" err="1"/>
              <a:t>următorul</a:t>
            </a:r>
            <a:r>
              <a:rPr lang="en-US" altLang="ro-RO" dirty="0"/>
              <a:t> pas logic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microprocesoare</a:t>
            </a:r>
            <a:r>
              <a:rPr lang="en-US" altLang="ro-RO" dirty="0"/>
              <a:t> a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le </a:t>
            </a:r>
            <a:r>
              <a:rPr lang="en-US" altLang="ro-RO" dirty="0" err="1"/>
              <a:t>facă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ruleze</a:t>
            </a:r>
            <a:r>
              <a:rPr lang="ro-RO" altLang="ro-RO" dirty="0"/>
              <a:t> pe</a:t>
            </a:r>
            <a:r>
              <a:rPr lang="en-US" altLang="ro-RO" dirty="0"/>
              <a:t> </a:t>
            </a:r>
            <a:r>
              <a:rPr lang="en-US" altLang="ro-RO" dirty="0" err="1"/>
              <a:t>electronice</a:t>
            </a:r>
            <a:r>
              <a:rPr lang="en-US" altLang="ro-RO" dirty="0"/>
              <a:t> </a:t>
            </a:r>
            <a:r>
              <a:rPr lang="en-US" altLang="ro-RO" dirty="0" err="1"/>
              <a:t>inteligente</a:t>
            </a:r>
            <a:r>
              <a:rPr lang="en-US" altLang="ro-RO" dirty="0"/>
              <a:t> de </a:t>
            </a:r>
            <a:r>
              <a:rPr lang="ro-RO" altLang="ro-RO" dirty="0"/>
              <a:t>larg </a:t>
            </a:r>
            <a:r>
              <a:rPr lang="en-US" altLang="ro-RO" dirty="0" err="1"/>
              <a:t>consum</a:t>
            </a:r>
            <a:endParaRPr lang="en-US" altLang="ro-RO" dirty="0"/>
          </a:p>
        </p:txBody>
      </p:sp>
      <p:pic>
        <p:nvPicPr>
          <p:cNvPr id="6148" name="Picture 4" descr="Nokia Smart Ho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" r="870" b="-1721"/>
          <a:stretch>
            <a:fillRect/>
          </a:stretch>
        </p:blipFill>
        <p:spPr bwMode="auto">
          <a:xfrm>
            <a:off x="2178050" y="2586787"/>
            <a:ext cx="4922966" cy="422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57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/>
              <a:t>Java </a:t>
            </a:r>
            <a:r>
              <a:rPr lang="en-US" altLang="ro-RO" dirty="0" err="1"/>
              <a:t>Istoric</a:t>
            </a:r>
            <a:r>
              <a:rPr lang="en-US" altLang="ro-RO" dirty="0"/>
              <a:t> (4)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tabLst>
                <a:tab pos="476250" algn="l"/>
              </a:tabLst>
            </a:pPr>
            <a:r>
              <a:rPr lang="en-US" altLang="ro-RO" dirty="0"/>
              <a:t>Sun Microsystems a </a:t>
            </a:r>
            <a:r>
              <a:rPr lang="en-US" altLang="ro-RO" dirty="0" err="1"/>
              <a:t>finanțat</a:t>
            </a:r>
            <a:r>
              <a:rPr lang="en-US" altLang="ro-RO" dirty="0"/>
              <a:t> un </a:t>
            </a:r>
            <a:r>
              <a:rPr lang="en-US" altLang="ro-RO" dirty="0" err="1"/>
              <a:t>proiect</a:t>
            </a:r>
            <a:r>
              <a:rPr lang="en-US" altLang="ro-RO" dirty="0"/>
              <a:t> intern de </a:t>
            </a:r>
            <a:r>
              <a:rPr lang="en-US" altLang="ro-RO" dirty="0" err="1"/>
              <a:t>cercetare</a:t>
            </a:r>
            <a:r>
              <a:rPr lang="en-US" altLang="ro-RO" dirty="0"/>
              <a:t> „</a:t>
            </a:r>
            <a:r>
              <a:rPr lang="ro-RO" altLang="ro-RO" dirty="0"/>
              <a:t>Green</a:t>
            </a:r>
            <a:r>
              <a:rPr lang="en-US" altLang="ro-RO" dirty="0"/>
              <a:t>” </a:t>
            </a:r>
            <a:r>
              <a:rPr lang="en-US" altLang="ro-RO" dirty="0" err="1"/>
              <a:t>pentru</a:t>
            </a:r>
            <a:r>
              <a:rPr lang="en-US" altLang="ro-RO" dirty="0"/>
              <a:t> a </a:t>
            </a:r>
            <a:r>
              <a:rPr lang="en-US" altLang="ro-RO" dirty="0" err="1"/>
              <a:t>investiga</a:t>
            </a:r>
            <a:r>
              <a:rPr lang="en-US" altLang="ro-RO" dirty="0"/>
              <a:t> </a:t>
            </a:r>
            <a:r>
              <a:rPr lang="en-US" altLang="ro-RO" dirty="0" err="1"/>
              <a:t>această</a:t>
            </a:r>
            <a:r>
              <a:rPr lang="en-US" altLang="ro-RO" dirty="0"/>
              <a:t> </a:t>
            </a:r>
            <a:r>
              <a:rPr lang="en-US" altLang="ro-RO" dirty="0" err="1"/>
              <a:t>oportunitate</a:t>
            </a:r>
            <a:r>
              <a:rPr lang="en-US" altLang="ro-RO" dirty="0"/>
              <a:t>.</a:t>
            </a:r>
          </a:p>
          <a:p>
            <a:pPr marL="0" indent="0">
              <a:tabLst>
                <a:tab pos="476250" algn="l"/>
              </a:tabLst>
            </a:pPr>
            <a:r>
              <a:rPr lang="en-US" altLang="ro-RO" dirty="0" err="1"/>
              <a:t>Rezultat</a:t>
            </a:r>
            <a:r>
              <a:rPr lang="en-US" altLang="ro-RO" dirty="0"/>
              <a:t>: Un </a:t>
            </a:r>
            <a:r>
              <a:rPr lang="en-US" altLang="ro-RO" dirty="0" err="1"/>
              <a:t>limbaj</a:t>
            </a:r>
            <a:r>
              <a:rPr lang="en-US" altLang="ro-RO" dirty="0"/>
              <a:t> de </a:t>
            </a:r>
            <a:r>
              <a:rPr lang="en-US" altLang="ro-RO" dirty="0" err="1"/>
              <a:t>programare</a:t>
            </a:r>
            <a:r>
              <a:rPr lang="en-US" altLang="ro-RO" dirty="0"/>
              <a:t> </a:t>
            </a:r>
            <a:r>
              <a:rPr lang="en-US" altLang="ro-RO" dirty="0" err="1"/>
              <a:t>numit</a:t>
            </a:r>
            <a:r>
              <a:rPr lang="en-US" altLang="ro-RO" dirty="0"/>
              <a:t> „Oak”</a:t>
            </a:r>
          </a:p>
        </p:txBody>
      </p:sp>
      <p:grpSp>
        <p:nvGrpSpPr>
          <p:cNvPr id="7173" name="Group 5"/>
          <p:cNvGrpSpPr>
            <a:grpSpLocks/>
          </p:cNvGrpSpPr>
          <p:nvPr/>
        </p:nvGrpSpPr>
        <p:grpSpPr bwMode="auto">
          <a:xfrm>
            <a:off x="6637166" y="2465560"/>
            <a:ext cx="5410200" cy="3373437"/>
            <a:chOff x="1008" y="1488"/>
            <a:chExt cx="3408" cy="2125"/>
          </a:xfrm>
        </p:grpSpPr>
        <p:pic>
          <p:nvPicPr>
            <p:cNvPr id="7175" name="Picture 6" descr="james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" y="1488"/>
              <a:ext cx="2208" cy="1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6" name="Text Box 7"/>
            <p:cNvSpPr txBox="1">
              <a:spLocks noChangeArrowheads="1"/>
            </p:cNvSpPr>
            <p:nvPr/>
          </p:nvSpPr>
          <p:spPr bwMode="auto">
            <a:xfrm>
              <a:off x="1008" y="3264"/>
              <a:ext cx="340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 sz="1800" b="1" dirty="0">
                  <a:solidFill>
                    <a:schemeClr val="accent2"/>
                  </a:solidFill>
                </a:rPr>
                <a:t>James Gosling was a graduate of the U of C Computer Science program.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140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o-RO" dirty="0"/>
              <a:t>Java </a:t>
            </a:r>
            <a:r>
              <a:rPr lang="en-US" altLang="ro-RO" dirty="0" err="1"/>
              <a:t>Istoric</a:t>
            </a:r>
            <a:r>
              <a:rPr lang="en-US" altLang="ro-RO" dirty="0"/>
              <a:t> (5)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8214" y="1341439"/>
            <a:ext cx="7773987" cy="5140325"/>
          </a:xfrm>
        </p:spPr>
        <p:txBody>
          <a:bodyPr/>
          <a:lstStyle/>
          <a:p>
            <a:pPr marL="630238" lvl="1" indent="-249238">
              <a:tabLst>
                <a:tab pos="630238" algn="l"/>
              </a:tabLst>
            </a:pPr>
            <a:r>
              <a:rPr lang="en-US" altLang="ro-RO" dirty="0" err="1"/>
              <a:t>Problemă</a:t>
            </a:r>
            <a:r>
              <a:rPr lang="en-US" altLang="ro-RO" dirty="0"/>
              <a:t>: </a:t>
            </a:r>
            <a:r>
              <a:rPr lang="en-US" altLang="ro-RO" dirty="0" err="1"/>
              <a:t>exista</a:t>
            </a:r>
            <a:r>
              <a:rPr lang="en-US" altLang="ro-RO" dirty="0"/>
              <a:t> </a:t>
            </a:r>
            <a:r>
              <a:rPr lang="en-US" altLang="ro-RO" dirty="0" err="1"/>
              <a:t>deja</a:t>
            </a:r>
            <a:r>
              <a:rPr lang="en-US" altLang="ro-RO" dirty="0"/>
              <a:t> un </a:t>
            </a:r>
            <a:r>
              <a:rPr lang="en-US" altLang="ro-RO" dirty="0" err="1"/>
              <a:t>limbaj</a:t>
            </a:r>
            <a:r>
              <a:rPr lang="en-US" altLang="ro-RO" dirty="0"/>
              <a:t> de </a:t>
            </a:r>
            <a:r>
              <a:rPr lang="en-US" altLang="ro-RO" dirty="0" err="1"/>
              <a:t>programare</a:t>
            </a:r>
            <a:r>
              <a:rPr lang="en-US" altLang="ro-RO" dirty="0"/>
              <a:t> </a:t>
            </a:r>
            <a:r>
              <a:rPr lang="en-US" altLang="ro-RO" dirty="0" err="1"/>
              <a:t>numit</a:t>
            </a:r>
            <a:r>
              <a:rPr lang="en-US" altLang="ro-RO" dirty="0"/>
              <a:t> Oak.</a:t>
            </a:r>
          </a:p>
          <a:p>
            <a:pPr marL="630238" lvl="1" indent="-249238">
              <a:tabLst>
                <a:tab pos="630238" algn="l"/>
              </a:tabLst>
            </a:pPr>
            <a:r>
              <a:rPr lang="en-US" altLang="ro-RO" dirty="0" err="1"/>
              <a:t>Echipa</a:t>
            </a:r>
            <a:r>
              <a:rPr lang="en-US" altLang="ro-RO" dirty="0"/>
              <a:t> „</a:t>
            </a:r>
            <a:r>
              <a:rPr lang="ro-RO" altLang="ro-RO" dirty="0"/>
              <a:t>Green</a:t>
            </a:r>
            <a:r>
              <a:rPr lang="en-US" altLang="ro-RO" dirty="0"/>
              <a:t>” s-a </a:t>
            </a:r>
            <a:r>
              <a:rPr lang="en-US" altLang="ro-RO" dirty="0" err="1"/>
              <a:t>întâlnit</a:t>
            </a:r>
            <a:r>
              <a:rPr lang="en-US" altLang="ro-RO" dirty="0"/>
              <a:t> la o </a:t>
            </a:r>
            <a:r>
              <a:rPr lang="en-US" altLang="ro-RO" dirty="0" err="1"/>
              <a:t>cafenea</a:t>
            </a:r>
            <a:r>
              <a:rPr lang="en-US" altLang="ro-RO" dirty="0"/>
              <a:t> </a:t>
            </a:r>
            <a:r>
              <a:rPr lang="en-US" altLang="ro-RO" dirty="0" err="1"/>
              <a:t>locală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a </a:t>
            </a:r>
            <a:r>
              <a:rPr lang="en-US" altLang="ro-RO" dirty="0" err="1"/>
              <a:t>găsi</a:t>
            </a:r>
            <a:r>
              <a:rPr lang="en-US" altLang="ro-RO" dirty="0"/>
              <a:t> un alt </a:t>
            </a:r>
            <a:r>
              <a:rPr lang="en-US" altLang="ro-RO" dirty="0" err="1"/>
              <a:t>nume</a:t>
            </a:r>
            <a:r>
              <a:rPr lang="en-US" altLang="ro-RO" dirty="0"/>
              <a:t> ...Java!</a:t>
            </a:r>
          </a:p>
        </p:txBody>
      </p:sp>
      <p:pic>
        <p:nvPicPr>
          <p:cNvPr id="160772" name="Picture 4" descr="coffee-shop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03551" y="2768600"/>
            <a:ext cx="4092575" cy="3170238"/>
          </a:xfrm>
          <a:noFill/>
        </p:spPr>
      </p:pic>
      <p:pic>
        <p:nvPicPr>
          <p:cNvPr id="160773" name="Picture 5" descr="Java Technolog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1" r="12137" b="2611"/>
          <a:stretch>
            <a:fillRect/>
          </a:stretch>
        </p:blipFill>
        <p:spPr bwMode="auto">
          <a:xfrm>
            <a:off x="8955088" y="2692400"/>
            <a:ext cx="1027112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28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47582" y="879863"/>
            <a:ext cx="10888133" cy="522287"/>
          </a:xfrm>
        </p:spPr>
        <p:txBody>
          <a:bodyPr>
            <a:normAutofit fontScale="90000"/>
          </a:bodyPr>
          <a:lstStyle/>
          <a:p>
            <a:r>
              <a:rPr lang="en-US" altLang="ro-RO" dirty="0"/>
              <a:t>Java: </a:t>
            </a:r>
            <a:r>
              <a:rPr lang="ro-RO" altLang="ro-RO" dirty="0"/>
              <a:t>Istoric </a:t>
            </a:r>
            <a:r>
              <a:rPr lang="en-US" altLang="ro-RO" dirty="0"/>
              <a:t>(6)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89222" y="2113092"/>
            <a:ext cx="6833286" cy="5368925"/>
          </a:xfrm>
        </p:spPr>
        <p:txBody>
          <a:bodyPr/>
          <a:lstStyle/>
          <a:p>
            <a:pPr marL="114300" indent="-114300">
              <a:tabLst>
                <a:tab pos="476250" algn="l"/>
              </a:tabLst>
            </a:pPr>
            <a:r>
              <a:rPr lang="en-US" altLang="ro-RO" dirty="0" err="1"/>
              <a:t>Conceptul</a:t>
            </a:r>
            <a:r>
              <a:rPr lang="en-US" altLang="ro-RO" dirty="0"/>
              <a:t> de </a:t>
            </a:r>
            <a:r>
              <a:rPr lang="en-US" altLang="ro-RO" dirty="0" err="1"/>
              <a:t>dispozitive</a:t>
            </a:r>
            <a:r>
              <a:rPr lang="en-US" altLang="ro-RO" dirty="0"/>
              <a:t> </a:t>
            </a:r>
            <a:r>
              <a:rPr lang="en-US" altLang="ro-RO" dirty="0" err="1"/>
              <a:t>inteligente</a:t>
            </a:r>
            <a:r>
              <a:rPr lang="en-US" altLang="ro-RO" dirty="0"/>
              <a:t> nu a </a:t>
            </a:r>
            <a:r>
              <a:rPr lang="en-US" altLang="ro-RO" dirty="0" err="1"/>
              <a:t>prins</a:t>
            </a:r>
            <a:r>
              <a:rPr lang="en-US" altLang="ro-RO" dirty="0"/>
              <a:t>.</a:t>
            </a:r>
          </a:p>
          <a:p>
            <a:pPr marL="114300" indent="-114300">
              <a:tabLst>
                <a:tab pos="476250" algn="l"/>
              </a:tabLst>
            </a:pPr>
            <a:r>
              <a:rPr lang="en-US" altLang="ro-RO" dirty="0" err="1"/>
              <a:t>Proiectul</a:t>
            </a:r>
            <a:r>
              <a:rPr lang="en-US" altLang="ro-RO" dirty="0"/>
              <a:t> Green </a:t>
            </a:r>
            <a:r>
              <a:rPr lang="en-US" altLang="ro-RO" dirty="0" err="1"/>
              <a:t>și</a:t>
            </a:r>
            <a:r>
              <a:rPr lang="en-US" altLang="ro-RO" dirty="0"/>
              <a:t> </a:t>
            </a:r>
            <a:r>
              <a:rPr lang="en-US" altLang="ro-RO" dirty="0" err="1"/>
              <a:t>lucrul</a:t>
            </a:r>
            <a:r>
              <a:rPr lang="en-US" altLang="ro-RO" dirty="0"/>
              <a:t> la </a:t>
            </a:r>
            <a:r>
              <a:rPr lang="en-US" altLang="ro-RO" dirty="0" err="1"/>
              <a:t>limbajul</a:t>
            </a:r>
            <a:r>
              <a:rPr lang="en-US" altLang="ro-RO" dirty="0"/>
              <a:t> Java au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aproape</a:t>
            </a:r>
            <a:r>
              <a:rPr lang="en-US" altLang="ro-RO" dirty="0"/>
              <a:t> </a:t>
            </a:r>
            <a:r>
              <a:rPr lang="en-US" altLang="ro-RO" dirty="0" err="1"/>
              <a:t>anulate</a:t>
            </a:r>
            <a:r>
              <a:rPr lang="en-US" altLang="ro-RO" dirty="0"/>
              <a:t>.</a:t>
            </a:r>
          </a:p>
        </p:txBody>
      </p:sp>
      <p:pic>
        <p:nvPicPr>
          <p:cNvPr id="9220" name="Picture 4" descr="57-33618358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75932" y="2349414"/>
            <a:ext cx="2273300" cy="1422400"/>
          </a:xfrm>
          <a:noFill/>
        </p:spPr>
      </p:pic>
    </p:spTree>
    <p:extLst>
      <p:ext uri="{BB962C8B-B14F-4D97-AF65-F5344CB8AC3E}">
        <p14:creationId xmlns:p14="http://schemas.microsoft.com/office/powerpoint/2010/main" val="106575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/>
              <a:t>Java: </a:t>
            </a:r>
            <a:r>
              <a:rPr lang="en-CA" altLang="ro-RO" dirty="0" err="1"/>
              <a:t>Istoric</a:t>
            </a:r>
            <a:r>
              <a:rPr lang="en-CA" altLang="ro-RO" dirty="0"/>
              <a:t> (7)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14300" indent="-114300">
              <a:tabLst>
                <a:tab pos="476250" algn="l"/>
              </a:tabLst>
            </a:pPr>
            <a:r>
              <a:rPr lang="en-CA" altLang="ro-RO" dirty="0" err="1"/>
              <a:t>Popularitatea</a:t>
            </a:r>
            <a:r>
              <a:rPr lang="en-CA" altLang="ro-RO" dirty="0"/>
              <a:t> </a:t>
            </a:r>
            <a:r>
              <a:rPr lang="en-CA" altLang="ro-RO" dirty="0" err="1"/>
              <a:t>internetului</a:t>
            </a:r>
            <a:r>
              <a:rPr lang="en-CA" altLang="ro-RO" dirty="0"/>
              <a:t> a </a:t>
            </a:r>
            <a:r>
              <a:rPr lang="en-CA" altLang="ro-RO" dirty="0" err="1"/>
              <a:t>dus</a:t>
            </a:r>
            <a:r>
              <a:rPr lang="en-CA" altLang="ro-RO" dirty="0"/>
              <a:t> la re-</a:t>
            </a:r>
            <a:r>
              <a:rPr lang="en-CA" altLang="ro-RO" dirty="0" err="1"/>
              <a:t>concentrarea</a:t>
            </a:r>
            <a:r>
              <a:rPr lang="en-CA" altLang="ro-RO" dirty="0"/>
              <a:t> </a:t>
            </a:r>
            <a:r>
              <a:rPr lang="ro-RO" altLang="ro-RO" dirty="0"/>
              <a:t>utilizării </a:t>
            </a:r>
            <a:r>
              <a:rPr lang="en-CA" altLang="ro-RO" dirty="0"/>
              <a:t>Java de </a:t>
            </a:r>
            <a:r>
              <a:rPr lang="en-CA" altLang="ro-RO" dirty="0" err="1"/>
              <a:t>către</a:t>
            </a:r>
            <a:r>
              <a:rPr lang="en-CA" altLang="ro-RO" dirty="0"/>
              <a:t> Sun </a:t>
            </a:r>
            <a:r>
              <a:rPr lang="en-CA" altLang="ro-RO" dirty="0" err="1"/>
              <a:t>pe</a:t>
            </a:r>
            <a:r>
              <a:rPr lang="en-CA" altLang="ro-RO" dirty="0"/>
              <a:t> </a:t>
            </a:r>
            <a:r>
              <a:rPr lang="en-CA" altLang="ro-RO" dirty="0" err="1"/>
              <a:t>computere</a:t>
            </a:r>
            <a:r>
              <a:rPr lang="en-CA" altLang="ro-RO" dirty="0"/>
              <a:t>.</a:t>
            </a:r>
          </a:p>
          <a:p>
            <a:pPr marL="114300" indent="-114300">
              <a:tabLst>
                <a:tab pos="476250" algn="l"/>
              </a:tabLst>
            </a:pPr>
            <a:r>
              <a:rPr lang="en-CA" altLang="ro-RO" dirty="0" err="1"/>
              <a:t>Înainte</a:t>
            </a:r>
            <a:r>
              <a:rPr lang="en-CA" altLang="ro-RO" dirty="0"/>
              <a:t> de </a:t>
            </a:r>
            <a:r>
              <a:rPr lang="en-CA" altLang="ro-RO" dirty="0" err="1"/>
              <a:t>apariția</a:t>
            </a:r>
            <a:r>
              <a:rPr lang="en-CA" altLang="ro-RO" dirty="0"/>
              <a:t> Java, </a:t>
            </a:r>
            <a:r>
              <a:rPr lang="en-CA" altLang="ro-RO" dirty="0" err="1"/>
              <a:t>paginile</a:t>
            </a:r>
            <a:r>
              <a:rPr lang="en-CA" altLang="ro-RO" dirty="0"/>
              <a:t> web </a:t>
            </a:r>
            <a:r>
              <a:rPr lang="en-CA" altLang="ro-RO" dirty="0" err="1"/>
              <a:t>permiteau</a:t>
            </a:r>
            <a:r>
              <a:rPr lang="en-CA" altLang="ro-RO" dirty="0"/>
              <a:t> </a:t>
            </a:r>
            <a:r>
              <a:rPr lang="en-CA" altLang="ro-RO" dirty="0" err="1"/>
              <a:t>să</a:t>
            </a:r>
            <a:r>
              <a:rPr lang="en-CA" altLang="ro-RO" dirty="0"/>
              <a:t> </a:t>
            </a:r>
            <a:r>
              <a:rPr lang="en-CA" altLang="ro-RO" dirty="0" err="1"/>
              <a:t>descărcați</a:t>
            </a:r>
            <a:r>
              <a:rPr lang="en-CA" altLang="ro-RO" dirty="0"/>
              <a:t> </a:t>
            </a:r>
            <a:r>
              <a:rPr lang="en-CA" altLang="ro-RO" dirty="0" err="1"/>
              <a:t>doar</a:t>
            </a:r>
            <a:r>
              <a:rPr lang="en-CA" altLang="ro-RO" dirty="0"/>
              <a:t> text </a:t>
            </a:r>
            <a:r>
              <a:rPr lang="en-CA" altLang="ro-RO" dirty="0" err="1"/>
              <a:t>și</a:t>
            </a:r>
            <a:r>
              <a:rPr lang="en-CA" altLang="ro-RO" dirty="0"/>
              <a:t> </a:t>
            </a:r>
            <a:r>
              <a:rPr lang="en-CA" altLang="ro-RO" dirty="0" err="1"/>
              <a:t>imagini</a:t>
            </a:r>
            <a:r>
              <a:rPr lang="en-CA" altLang="ro-RO" dirty="0"/>
              <a:t>.</a:t>
            </a:r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  <a:p>
            <a:pPr marL="114300" indent="-114300">
              <a:tabLst>
                <a:tab pos="476250" algn="l"/>
              </a:tabLst>
            </a:pPr>
            <a:endParaRPr lang="en-CA" altLang="ro-RO" dirty="0"/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9202738" y="2571750"/>
            <a:ext cx="5180012" cy="215444"/>
            <a:chOff x="0" y="0"/>
            <a:chExt cx="3263" cy="215444"/>
          </a:xfrm>
        </p:grpSpPr>
        <p:sp>
          <p:nvSpPr>
            <p:cNvPr id="10260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0261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2301875" y="2783799"/>
            <a:ext cx="268319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nl-NL" altLang="ro-RO" sz="1600" b="1" dirty="0"/>
              <a:t>Computerul</a:t>
            </a:r>
            <a:r>
              <a:rPr lang="ro-RO" altLang="ro-RO" sz="1600" b="1" dirty="0"/>
              <a:t> de</a:t>
            </a:r>
            <a:r>
              <a:rPr lang="nl-NL" altLang="ro-RO" sz="1600" b="1" dirty="0"/>
              <a:t> acasă rulează un browser web</a:t>
            </a:r>
            <a:endParaRPr lang="en-CA" altLang="ro-RO" sz="1600" b="1" dirty="0"/>
          </a:p>
        </p:txBody>
      </p:sp>
      <p:pic>
        <p:nvPicPr>
          <p:cNvPr id="10246" name="Picture 8" descr="moni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3191312"/>
            <a:ext cx="218122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0"/>
          <a:stretch>
            <a:fillRect/>
          </a:stretch>
        </p:blipFill>
        <p:spPr bwMode="auto">
          <a:xfrm>
            <a:off x="8458200" y="3496111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8" name="Group 10"/>
          <p:cNvGrpSpPr>
            <a:grpSpLocks/>
          </p:cNvGrpSpPr>
          <p:nvPr/>
        </p:nvGrpSpPr>
        <p:grpSpPr bwMode="auto">
          <a:xfrm>
            <a:off x="2057400" y="3419911"/>
            <a:ext cx="3352800" cy="2171700"/>
            <a:chOff x="528" y="2688"/>
            <a:chExt cx="2112" cy="1368"/>
          </a:xfrm>
        </p:grpSpPr>
        <p:pic>
          <p:nvPicPr>
            <p:cNvPr id="10258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55" b="6831"/>
            <a:stretch>
              <a:fillRect/>
            </a:stretch>
          </p:blipFill>
          <p:spPr bwMode="auto">
            <a:xfrm>
              <a:off x="528" y="2688"/>
              <a:ext cx="2112" cy="1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10259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0"/>
              <a:ext cx="912" cy="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953000" y="3724711"/>
            <a:ext cx="2819400" cy="381000"/>
            <a:chOff x="2160" y="2880"/>
            <a:chExt cx="1776" cy="240"/>
          </a:xfrm>
        </p:grpSpPr>
        <p:sp>
          <p:nvSpPr>
            <p:cNvPr id="10256" name="Line 14"/>
            <p:cNvSpPr>
              <a:spLocks noChangeShapeType="1"/>
            </p:cNvSpPr>
            <p:nvPr/>
          </p:nvSpPr>
          <p:spPr bwMode="auto">
            <a:xfrm>
              <a:off x="2256" y="3120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0257" name="Text Box 15"/>
            <p:cNvSpPr txBox="1">
              <a:spLocks noChangeArrowheads="1"/>
            </p:cNvSpPr>
            <p:nvPr/>
          </p:nvSpPr>
          <p:spPr bwMode="auto">
            <a:xfrm>
              <a:off x="2160" y="2880"/>
              <a:ext cx="177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o-RO" altLang="ro-RO" sz="1600" dirty="0"/>
                <a:t>Utilizatorul face click pe un </a:t>
              </a:r>
              <a:r>
                <a:rPr lang="en-CA" altLang="ro-RO" sz="1600" dirty="0"/>
                <a:t>link 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124200" y="3648511"/>
            <a:ext cx="5029200" cy="1219200"/>
            <a:chOff x="1008" y="2832"/>
            <a:chExt cx="3168" cy="768"/>
          </a:xfrm>
        </p:grpSpPr>
        <p:pic>
          <p:nvPicPr>
            <p:cNvPr id="10252" name="Picture 1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0"/>
            <a:stretch>
              <a:fillRect/>
            </a:stretch>
          </p:blipFill>
          <p:spPr bwMode="auto">
            <a:xfrm>
              <a:off x="1008" y="2832"/>
              <a:ext cx="960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253" name="Group 18"/>
            <p:cNvGrpSpPr>
              <a:grpSpLocks/>
            </p:cNvGrpSpPr>
            <p:nvPr/>
          </p:nvGrpSpPr>
          <p:grpSpPr bwMode="auto">
            <a:xfrm>
              <a:off x="2160" y="3216"/>
              <a:ext cx="2016" cy="155"/>
              <a:chOff x="2160" y="3216"/>
              <a:chExt cx="2016" cy="155"/>
            </a:xfrm>
          </p:grpSpPr>
          <p:sp>
            <p:nvSpPr>
              <p:cNvPr id="10254" name="Line 19"/>
              <p:cNvSpPr>
                <a:spLocks noChangeShapeType="1"/>
              </p:cNvSpPr>
              <p:nvPr/>
            </p:nvSpPr>
            <p:spPr bwMode="auto">
              <a:xfrm flipH="1">
                <a:off x="2256" y="3216"/>
                <a:ext cx="16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0255" name="Text Box 20"/>
              <p:cNvSpPr txBox="1">
                <a:spLocks noChangeArrowheads="1"/>
              </p:cNvSpPr>
              <p:nvPr/>
            </p:nvSpPr>
            <p:spPr bwMode="auto">
              <a:xfrm>
                <a:off x="2160" y="3216"/>
                <a:ext cx="2016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CA" altLang="ro-RO" sz="1600" dirty="0" err="1"/>
                  <a:t>Imaginile</a:t>
                </a:r>
                <a:r>
                  <a:rPr lang="en-CA" altLang="ro-RO" sz="1600" dirty="0"/>
                  <a:t> </a:t>
                </a:r>
                <a:r>
                  <a:rPr lang="en-CA" altLang="ro-RO" sz="1600" dirty="0" err="1"/>
                  <a:t>și</a:t>
                </a:r>
                <a:r>
                  <a:rPr lang="en-CA" altLang="ro-RO" sz="1600" dirty="0"/>
                  <a:t> </a:t>
                </a:r>
                <a:r>
                  <a:rPr lang="en-CA" altLang="ro-RO" sz="1600" dirty="0" err="1"/>
                  <a:t>textul</a:t>
                </a:r>
                <a:r>
                  <a:rPr lang="en-CA" altLang="ro-RO" sz="1600" dirty="0"/>
                  <a:t> </a:t>
                </a:r>
                <a:r>
                  <a:rPr lang="en-CA" altLang="ro-RO" sz="1600" dirty="0" err="1"/>
                  <a:t>sunt</a:t>
                </a:r>
                <a:r>
                  <a:rPr lang="en-CA" altLang="ro-RO" sz="1600" dirty="0"/>
                  <a:t> </a:t>
                </a:r>
                <a:r>
                  <a:rPr lang="en-CA" altLang="ro-RO" sz="1600" dirty="0" err="1"/>
                  <a:t>descărcate</a:t>
                </a:r>
                <a:endParaRPr lang="en-CA" altLang="ro-RO" sz="1600" dirty="0"/>
              </a:p>
            </p:txBody>
          </p:sp>
        </p:grpSp>
      </p:grpSp>
      <p:sp>
        <p:nvSpPr>
          <p:cNvPr id="10251" name="Text Box 21"/>
          <p:cNvSpPr txBox="1">
            <a:spLocks noChangeArrowheads="1"/>
          </p:cNvSpPr>
          <p:nvPr/>
        </p:nvSpPr>
        <p:spPr bwMode="auto">
          <a:xfrm>
            <a:off x="7967664" y="2797611"/>
            <a:ext cx="236757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0" tIns="0" rIns="0" bIns="0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it-IT" altLang="ro-RO" sz="1600" b="1" dirty="0"/>
              <a:t>Server care conține </a:t>
            </a:r>
            <a:r>
              <a:rPr lang="ro-RO" altLang="ro-RO" sz="1600" b="1" dirty="0"/>
              <a:t>o</a:t>
            </a:r>
            <a:endParaRPr lang="it-IT" altLang="ro-RO" sz="1600" b="1" dirty="0"/>
          </a:p>
          <a:p>
            <a:r>
              <a:rPr lang="it-IT" altLang="ro-RO" sz="1600" b="1" dirty="0"/>
              <a:t>pagină web</a:t>
            </a:r>
            <a:endParaRPr lang="en-CA" altLang="ro-RO" sz="1600" b="1" dirty="0"/>
          </a:p>
        </p:txBody>
      </p:sp>
    </p:spTree>
    <p:extLst>
      <p:ext uri="{BB962C8B-B14F-4D97-AF65-F5344CB8AC3E}">
        <p14:creationId xmlns:p14="http://schemas.microsoft.com/office/powerpoint/2010/main" val="21105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578101" y="3294769"/>
            <a:ext cx="7715250" cy="2827337"/>
            <a:chOff x="664" y="2067"/>
            <a:chExt cx="4860" cy="1781"/>
          </a:xfrm>
        </p:grpSpPr>
        <p:grpSp>
          <p:nvGrpSpPr>
            <p:cNvPr id="11281" name="Group 3"/>
            <p:cNvGrpSpPr>
              <a:grpSpLocks/>
            </p:cNvGrpSpPr>
            <p:nvPr/>
          </p:nvGrpSpPr>
          <p:grpSpPr bwMode="auto">
            <a:xfrm>
              <a:off x="664" y="2067"/>
              <a:ext cx="4860" cy="1781"/>
              <a:chOff x="664" y="2067"/>
              <a:chExt cx="4860" cy="1781"/>
            </a:xfrm>
          </p:grpSpPr>
          <p:grpSp>
            <p:nvGrpSpPr>
              <p:cNvPr id="11283" name="Group 4"/>
              <p:cNvGrpSpPr>
                <a:grpSpLocks/>
              </p:cNvGrpSpPr>
              <p:nvPr/>
            </p:nvGrpSpPr>
            <p:grpSpPr bwMode="auto">
              <a:xfrm>
                <a:off x="664" y="2096"/>
                <a:ext cx="2112" cy="1752"/>
                <a:chOff x="664" y="2096"/>
                <a:chExt cx="2112" cy="1752"/>
              </a:xfrm>
            </p:grpSpPr>
            <p:sp>
              <p:nvSpPr>
                <p:cNvPr id="1128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664" y="2096"/>
                  <a:ext cx="1779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nl-NL" altLang="ro-RO" sz="1600" b="1" dirty="0"/>
                    <a:t>Computerul</a:t>
                  </a:r>
                  <a:r>
                    <a:rPr lang="ro-RO" altLang="ro-RO" sz="1600" b="1" dirty="0"/>
                    <a:t> de</a:t>
                  </a:r>
                  <a:r>
                    <a:rPr lang="nl-NL" altLang="ro-RO" sz="1600" b="1" dirty="0"/>
                    <a:t> acasă rulează un browser web</a:t>
                  </a:r>
                  <a:endParaRPr lang="en-CA" altLang="ro-RO" sz="1600" b="1" dirty="0"/>
                </a:p>
              </p:txBody>
            </p:sp>
            <p:grpSp>
              <p:nvGrpSpPr>
                <p:cNvPr id="11288" name="Group 6"/>
                <p:cNvGrpSpPr>
                  <a:grpSpLocks/>
                </p:cNvGrpSpPr>
                <p:nvPr/>
              </p:nvGrpSpPr>
              <p:grpSpPr bwMode="auto">
                <a:xfrm>
                  <a:off x="664" y="2480"/>
                  <a:ext cx="2112" cy="1368"/>
                  <a:chOff x="528" y="2688"/>
                  <a:chExt cx="2112" cy="1368"/>
                </a:xfrm>
              </p:grpSpPr>
              <p:pic>
                <p:nvPicPr>
                  <p:cNvPr id="11289" name="Picture 7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4555" b="6831"/>
                  <a:stretch>
                    <a:fillRect/>
                  </a:stretch>
                </p:blipFill>
                <p:spPr bwMode="auto">
                  <a:xfrm>
                    <a:off x="528" y="2688"/>
                    <a:ext cx="2112" cy="13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</p:pic>
              <p:pic>
                <p:nvPicPr>
                  <p:cNvPr id="11290" name="Picture 8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248" y="2880"/>
                    <a:ext cx="912" cy="6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grpSp>
            <p:nvGrpSpPr>
              <p:cNvPr id="11284" name="Group 9"/>
              <p:cNvGrpSpPr>
                <a:grpSpLocks/>
              </p:cNvGrpSpPr>
              <p:nvPr/>
            </p:nvGrpSpPr>
            <p:grpSpPr bwMode="auto">
              <a:xfrm>
                <a:off x="4024" y="2067"/>
                <a:ext cx="1500" cy="1643"/>
                <a:chOff x="4024" y="2067"/>
                <a:chExt cx="1500" cy="1643"/>
              </a:xfrm>
            </p:grpSpPr>
            <p:pic>
              <p:nvPicPr>
                <p:cNvPr id="11285" name="Picture 10" descr="monitor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24" y="2336"/>
                  <a:ext cx="1374" cy="137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128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105" y="2067"/>
                  <a:ext cx="1419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it-IT" altLang="ro-RO" sz="1600" b="1" dirty="0"/>
                    <a:t>Server care conține </a:t>
                  </a:r>
                  <a:r>
                    <a:rPr lang="ro-RO" altLang="ro-RO" sz="1600" b="1" dirty="0"/>
                    <a:t>o</a:t>
                  </a:r>
                  <a:endParaRPr lang="it-IT" altLang="ro-RO" sz="1600" b="1" dirty="0"/>
                </a:p>
                <a:p>
                  <a:r>
                    <a:rPr lang="it-IT" altLang="ro-RO" sz="1600" b="1" dirty="0"/>
                    <a:t>pagină web</a:t>
                  </a:r>
                  <a:endParaRPr lang="en-CA" altLang="ro-RO" sz="1600" b="1" dirty="0"/>
                </a:p>
              </p:txBody>
            </p:sp>
          </p:grpSp>
        </p:grpSp>
        <p:pic>
          <p:nvPicPr>
            <p:cNvPr id="11282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43"/>
            <a:stretch>
              <a:fillRect/>
            </a:stretch>
          </p:blipFill>
          <p:spPr bwMode="auto">
            <a:xfrm>
              <a:off x="4504" y="2528"/>
              <a:ext cx="816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267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/>
              <a:t>Java: </a:t>
            </a:r>
            <a:r>
              <a:rPr lang="en-CA" altLang="ro-RO" dirty="0" err="1"/>
              <a:t>Istoric</a:t>
            </a:r>
            <a:r>
              <a:rPr lang="en-CA" altLang="ro-RO" dirty="0"/>
              <a:t> (8)</a:t>
            </a:r>
            <a:endParaRPr lang="en-US" altLang="ro-RO" dirty="0"/>
          </a:p>
        </p:txBody>
      </p:sp>
      <p:sp>
        <p:nvSpPr>
          <p:cNvPr id="164878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901701" y="2001521"/>
            <a:ext cx="10058400" cy="4023360"/>
          </a:xfrm>
        </p:spPr>
        <p:txBody>
          <a:bodyPr/>
          <a:lstStyle/>
          <a:p>
            <a:r>
              <a:rPr lang="en-US" altLang="ro-RO" dirty="0" err="1"/>
              <a:t>Browserele</a:t>
            </a:r>
            <a:r>
              <a:rPr lang="en-US" altLang="ro-RO" dirty="0"/>
              <a:t> web </a:t>
            </a:r>
            <a:r>
              <a:rPr lang="ro-RO" altLang="ro-RO" dirty="0"/>
              <a:t>ce au </a:t>
            </a:r>
            <a:r>
              <a:rPr lang="en-US" altLang="ro-RO" dirty="0" err="1"/>
              <a:t>activat</a:t>
            </a:r>
            <a:r>
              <a:rPr lang="en-US" altLang="ro-RO" dirty="0"/>
              <a:t> Java au </a:t>
            </a:r>
            <a:r>
              <a:rPr lang="en-US" altLang="ro-RO" dirty="0" err="1"/>
              <a:t>permis</a:t>
            </a:r>
            <a:r>
              <a:rPr lang="en-US" altLang="ro-RO" dirty="0"/>
              <a:t> </a:t>
            </a:r>
            <a:r>
              <a:rPr lang="en-US" altLang="ro-RO" dirty="0" err="1"/>
              <a:t>descărcarea</a:t>
            </a:r>
            <a:r>
              <a:rPr lang="en-US" altLang="ro-RO" dirty="0"/>
              <a:t> de </a:t>
            </a:r>
            <a:r>
              <a:rPr lang="en-US" altLang="ro-RO" dirty="0" err="1"/>
              <a:t>programe</a:t>
            </a:r>
            <a:r>
              <a:rPr lang="en-US" altLang="ro-RO" dirty="0"/>
              <a:t> (Applets).</a:t>
            </a:r>
            <a:endParaRPr lang="en-CA" altLang="ro-RO" dirty="0"/>
          </a:p>
          <a:p>
            <a:endParaRPr lang="en-US" altLang="ro-RO" dirty="0"/>
          </a:p>
        </p:txBody>
      </p:sp>
      <p:grpSp>
        <p:nvGrpSpPr>
          <p:cNvPr id="11269" name="Group 15"/>
          <p:cNvGrpSpPr>
            <a:grpSpLocks/>
          </p:cNvGrpSpPr>
          <p:nvPr/>
        </p:nvGrpSpPr>
        <p:grpSpPr bwMode="auto">
          <a:xfrm>
            <a:off x="9418638" y="2787650"/>
            <a:ext cx="5180012" cy="215444"/>
            <a:chOff x="0" y="0"/>
            <a:chExt cx="3263" cy="215444"/>
          </a:xfrm>
        </p:grpSpPr>
        <p:sp>
          <p:nvSpPr>
            <p:cNvPr id="1127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1280" name="Rectangle 17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5321300" y="4318000"/>
            <a:ext cx="2895600" cy="304800"/>
            <a:chOff x="2256" y="2496"/>
            <a:chExt cx="1824" cy="192"/>
          </a:xfrm>
        </p:grpSpPr>
        <p:sp>
          <p:nvSpPr>
            <p:cNvPr id="11277" name="Line 19"/>
            <p:cNvSpPr>
              <a:spLocks noChangeShapeType="1"/>
            </p:cNvSpPr>
            <p:nvPr/>
          </p:nvSpPr>
          <p:spPr bwMode="auto">
            <a:xfrm>
              <a:off x="2256" y="268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1278" name="Text Box 20"/>
            <p:cNvSpPr txBox="1">
              <a:spLocks noChangeArrowheads="1"/>
            </p:cNvSpPr>
            <p:nvPr/>
          </p:nvSpPr>
          <p:spPr bwMode="auto">
            <a:xfrm>
              <a:off x="2256" y="2496"/>
              <a:ext cx="182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ro-RO" altLang="ro-RO" sz="1600" dirty="0"/>
                <a:t>Utilizatorul face click pe un </a:t>
              </a:r>
              <a:r>
                <a:rPr lang="en-CA" altLang="ro-RO" sz="1600" dirty="0"/>
                <a:t>link </a:t>
              </a:r>
            </a:p>
          </p:txBody>
        </p:sp>
      </p:grpSp>
      <p:grpSp>
        <p:nvGrpSpPr>
          <p:cNvPr id="9" name="Group 21"/>
          <p:cNvGrpSpPr>
            <a:grpSpLocks/>
          </p:cNvGrpSpPr>
          <p:nvPr/>
        </p:nvGrpSpPr>
        <p:grpSpPr bwMode="auto">
          <a:xfrm>
            <a:off x="3644900" y="4241801"/>
            <a:ext cx="4572000" cy="1103313"/>
            <a:chOff x="1200" y="2448"/>
            <a:chExt cx="2880" cy="695"/>
          </a:xfrm>
        </p:grpSpPr>
        <p:grpSp>
          <p:nvGrpSpPr>
            <p:cNvPr id="11273" name="Group 22"/>
            <p:cNvGrpSpPr>
              <a:grpSpLocks/>
            </p:cNvGrpSpPr>
            <p:nvPr/>
          </p:nvGrpSpPr>
          <p:grpSpPr bwMode="auto">
            <a:xfrm>
              <a:off x="2256" y="2784"/>
              <a:ext cx="1824" cy="202"/>
              <a:chOff x="2256" y="2784"/>
              <a:chExt cx="1824" cy="202"/>
            </a:xfrm>
          </p:grpSpPr>
          <p:sp>
            <p:nvSpPr>
              <p:cNvPr id="11275" name="Line 23"/>
              <p:cNvSpPr>
                <a:spLocks noChangeShapeType="1"/>
              </p:cNvSpPr>
              <p:nvPr/>
            </p:nvSpPr>
            <p:spPr bwMode="auto">
              <a:xfrm flipH="1">
                <a:off x="2256" y="2784"/>
                <a:ext cx="16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1276" name="Text Box 24"/>
              <p:cNvSpPr txBox="1">
                <a:spLocks noChangeArrowheads="1"/>
              </p:cNvSpPr>
              <p:nvPr/>
            </p:nvSpPr>
            <p:spPr bwMode="auto">
              <a:xfrm>
                <a:off x="2256" y="2832"/>
                <a:ext cx="182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CA" altLang="ro-RO" sz="1600"/>
                  <a:t>Java Applet downloaded</a:t>
                </a:r>
              </a:p>
            </p:txBody>
          </p:sp>
        </p:grpSp>
        <p:pic>
          <p:nvPicPr>
            <p:cNvPr id="11274" name="Picture 2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1" b="4167"/>
            <a:stretch>
              <a:fillRect/>
            </a:stretch>
          </p:blipFill>
          <p:spPr bwMode="auto">
            <a:xfrm>
              <a:off x="1200" y="2448"/>
              <a:ext cx="960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175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ro-RO"/>
              <a:t>Java: Write Once, Run Anywhere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108076"/>
            <a:ext cx="4008438" cy="5368925"/>
          </a:xfrm>
        </p:spPr>
        <p:txBody>
          <a:bodyPr/>
          <a:lstStyle/>
          <a:p>
            <a:pPr>
              <a:tabLst>
                <a:tab pos="476250" algn="l"/>
              </a:tabLst>
            </a:pPr>
            <a:r>
              <a:rPr lang="en-CA" altLang="ro-RO" dirty="0" err="1"/>
              <a:t>Consecința</a:t>
            </a:r>
            <a:r>
              <a:rPr lang="en-CA" altLang="ro-RO" dirty="0"/>
              <a:t> </a:t>
            </a:r>
            <a:r>
              <a:rPr lang="en-CA" altLang="ro-RO" dirty="0" err="1"/>
              <a:t>istoricului</a:t>
            </a:r>
            <a:r>
              <a:rPr lang="en-CA" altLang="ro-RO" dirty="0"/>
              <a:t> Java: </a:t>
            </a:r>
            <a:r>
              <a:rPr lang="en-CA" altLang="ro-RO" dirty="0" err="1"/>
              <a:t>independența</a:t>
            </a:r>
            <a:r>
              <a:rPr lang="en-CA" altLang="ro-RO" dirty="0"/>
              <a:t> </a:t>
            </a:r>
            <a:r>
              <a:rPr lang="en-CA" altLang="ro-RO" dirty="0" err="1"/>
              <a:t>platformei</a:t>
            </a: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9202738" y="2571750"/>
            <a:ext cx="5180012" cy="215444"/>
            <a:chOff x="0" y="0"/>
            <a:chExt cx="3263" cy="215444"/>
          </a:xfrm>
        </p:grpSpPr>
        <p:sp>
          <p:nvSpPr>
            <p:cNvPr id="12308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2309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pic>
        <p:nvPicPr>
          <p:cNvPr id="12293" name="Picture 7" descr="computergu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90800"/>
            <a:ext cx="114300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8" descr="pe02032_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00601"/>
            <a:ext cx="990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9" descr="sblade100-1s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2667000"/>
            <a:ext cx="7794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Text Box 10"/>
          <p:cNvSpPr txBox="1">
            <a:spLocks noChangeArrowheads="1"/>
          </p:cNvSpPr>
          <p:nvPr/>
        </p:nvSpPr>
        <p:spPr bwMode="auto">
          <a:xfrm>
            <a:off x="2362201" y="3505201"/>
            <a:ext cx="2157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 sz="1600"/>
              <a:t>Mac user running Safari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2362201" y="5486400"/>
            <a:ext cx="31434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Windows user running Internet Explorer</a:t>
            </a:r>
          </a:p>
        </p:txBody>
      </p:sp>
      <p:sp>
        <p:nvSpPr>
          <p:cNvPr id="12298" name="Text Box 12"/>
          <p:cNvSpPr txBox="1">
            <a:spLocks noChangeArrowheads="1"/>
          </p:cNvSpPr>
          <p:nvPr/>
        </p:nvSpPr>
        <p:spPr bwMode="auto">
          <a:xfrm>
            <a:off x="7896225" y="3644900"/>
            <a:ext cx="25631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Web page stored on Unix server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429000" y="2819400"/>
            <a:ext cx="4800600" cy="1219200"/>
            <a:chOff x="1200" y="1776"/>
            <a:chExt cx="3024" cy="768"/>
          </a:xfrm>
        </p:grpSpPr>
        <p:sp>
          <p:nvSpPr>
            <p:cNvPr id="12306" name="Line 14"/>
            <p:cNvSpPr>
              <a:spLocks noChangeShapeType="1"/>
            </p:cNvSpPr>
            <p:nvPr/>
          </p:nvSpPr>
          <p:spPr bwMode="auto">
            <a:xfrm>
              <a:off x="1200" y="1872"/>
              <a:ext cx="302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2307" name="Text Box 15"/>
            <p:cNvSpPr txBox="1">
              <a:spLocks noChangeArrowheads="1"/>
            </p:cNvSpPr>
            <p:nvPr/>
          </p:nvSpPr>
          <p:spPr bwMode="auto">
            <a:xfrm>
              <a:off x="1488" y="1776"/>
              <a:ext cx="107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Click on link to Applet</a:t>
              </a: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352801" y="3124200"/>
            <a:ext cx="4886325" cy="1282700"/>
            <a:chOff x="1152" y="1968"/>
            <a:chExt cx="3078" cy="808"/>
          </a:xfrm>
        </p:grpSpPr>
        <p:sp>
          <p:nvSpPr>
            <p:cNvPr id="12304" name="Line 17"/>
            <p:cNvSpPr>
              <a:spLocks noChangeShapeType="1"/>
            </p:cNvSpPr>
            <p:nvPr/>
          </p:nvSpPr>
          <p:spPr bwMode="auto">
            <a:xfrm flipH="1" flipV="1">
              <a:off x="1152" y="1968"/>
              <a:ext cx="302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2305" name="Text Box 18"/>
            <p:cNvSpPr txBox="1">
              <a:spLocks noChangeArrowheads="1"/>
            </p:cNvSpPr>
            <p:nvPr/>
          </p:nvSpPr>
          <p:spPr bwMode="auto">
            <a:xfrm>
              <a:off x="2976" y="2640"/>
              <a:ext cx="125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Byte code is downloaded</a:t>
              </a:r>
            </a:p>
          </p:txBody>
        </p:sp>
      </p:grpSp>
      <p:sp>
        <p:nvSpPr>
          <p:cNvPr id="165907" name="Rectangle 19"/>
          <p:cNvSpPr>
            <a:spLocks noChangeArrowheads="1"/>
          </p:cNvSpPr>
          <p:nvPr/>
        </p:nvSpPr>
        <p:spPr bwMode="auto">
          <a:xfrm>
            <a:off x="2362200" y="3733800"/>
            <a:ext cx="3200400" cy="838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0" bIns="0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Virtual machine translates byte code to </a:t>
            </a:r>
          </a:p>
          <a:p>
            <a:pPr eaLnBrk="1" hangingPunct="1">
              <a:spcBef>
                <a:spcPct val="50000"/>
              </a:spcBef>
            </a:pPr>
            <a:r>
              <a:rPr lang="en-CA" altLang="ro-RO"/>
              <a:t>native Mac code and the Applet is run</a:t>
            </a:r>
          </a:p>
        </p:txBody>
      </p:sp>
      <p:sp>
        <p:nvSpPr>
          <p:cNvPr id="12302" name="Text Box 20"/>
          <p:cNvSpPr txBox="1">
            <a:spLocks noChangeArrowheads="1"/>
          </p:cNvSpPr>
          <p:nvPr/>
        </p:nvSpPr>
        <p:spPr bwMode="auto">
          <a:xfrm>
            <a:off x="8256589" y="5661026"/>
            <a:ext cx="1366837" cy="74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00" tIns="46800" rIns="936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CA" altLang="ro-RO"/>
              <a:t>Byte code (part of web page)</a:t>
            </a:r>
            <a:endParaRPr lang="en-US" altLang="ro-RO"/>
          </a:p>
        </p:txBody>
      </p:sp>
      <p:pic>
        <p:nvPicPr>
          <p:cNvPr id="12303" name="Picture 21" descr="que-chan2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28025" y="3933825"/>
            <a:ext cx="2160588" cy="1677988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090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07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altLang="ro-RO"/>
              <a:t>Java: Write Once, Run Anywhere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108076"/>
            <a:ext cx="4008438" cy="5368925"/>
          </a:xfrm>
        </p:spPr>
        <p:txBody>
          <a:bodyPr/>
          <a:lstStyle/>
          <a:p>
            <a:pPr>
              <a:tabLst>
                <a:tab pos="476250" algn="l"/>
              </a:tabLst>
            </a:pPr>
            <a:r>
              <a:rPr lang="en-CA" altLang="ro-RO" dirty="0"/>
              <a:t>Consequence of Java’s </a:t>
            </a:r>
            <a:r>
              <a:rPr lang="en-CA" altLang="ro-RO" dirty="0" err="1"/>
              <a:t>Istoric</a:t>
            </a:r>
            <a:r>
              <a:rPr lang="en-CA" altLang="ro-RO" dirty="0"/>
              <a:t>: platform-independent</a:t>
            </a:r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  <a:p>
            <a:pPr>
              <a:tabLst>
                <a:tab pos="476250" algn="l"/>
              </a:tabLst>
            </a:pPr>
            <a:endParaRPr lang="en-CA" altLang="ro-RO" dirty="0"/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9202738" y="2571750"/>
            <a:ext cx="5180012" cy="215444"/>
            <a:chOff x="0" y="0"/>
            <a:chExt cx="3263" cy="215444"/>
          </a:xfrm>
        </p:grpSpPr>
        <p:sp>
          <p:nvSpPr>
            <p:cNvPr id="1333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3332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32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</p:grpSp>
      <p:pic>
        <p:nvPicPr>
          <p:cNvPr id="13317" name="Picture 7" descr="computergu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590800"/>
            <a:ext cx="1143000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8" descr="pe02032_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00601"/>
            <a:ext cx="9906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9" descr="sblade100-1s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1" y="2667000"/>
            <a:ext cx="7794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2362201" y="3505201"/>
            <a:ext cx="2157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 sz="1600"/>
              <a:t>Mac user running Safari</a:t>
            </a: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2362201" y="5486400"/>
            <a:ext cx="31434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Windows user running Internet Explorer</a:t>
            </a:r>
          </a:p>
        </p:txBody>
      </p:sp>
      <p:sp>
        <p:nvSpPr>
          <p:cNvPr id="13322" name="Text Box 12"/>
          <p:cNvSpPr txBox="1">
            <a:spLocks noChangeArrowheads="1"/>
          </p:cNvSpPr>
          <p:nvPr/>
        </p:nvSpPr>
        <p:spPr bwMode="auto">
          <a:xfrm>
            <a:off x="7896225" y="3644900"/>
            <a:ext cx="256313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Web page stored on Unix server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276600" y="4038600"/>
            <a:ext cx="4953000" cy="838200"/>
            <a:chOff x="1104" y="2544"/>
            <a:chExt cx="3120" cy="528"/>
          </a:xfrm>
        </p:grpSpPr>
        <p:sp>
          <p:nvSpPr>
            <p:cNvPr id="13329" name="Line 14"/>
            <p:cNvSpPr>
              <a:spLocks noChangeShapeType="1"/>
            </p:cNvSpPr>
            <p:nvPr/>
          </p:nvSpPr>
          <p:spPr bwMode="auto">
            <a:xfrm flipV="1">
              <a:off x="1248" y="2544"/>
              <a:ext cx="29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3330" name="Text Box 15"/>
            <p:cNvSpPr txBox="1">
              <a:spLocks noChangeArrowheads="1"/>
            </p:cNvSpPr>
            <p:nvPr/>
          </p:nvSpPr>
          <p:spPr bwMode="auto">
            <a:xfrm>
              <a:off x="1104" y="2784"/>
              <a:ext cx="107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Click on link to Applet</a:t>
              </a: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505201" y="4267200"/>
            <a:ext cx="4810125" cy="838200"/>
            <a:chOff x="1248" y="2688"/>
            <a:chExt cx="3030" cy="528"/>
          </a:xfrm>
        </p:grpSpPr>
        <p:sp>
          <p:nvSpPr>
            <p:cNvPr id="13327" name="Line 17"/>
            <p:cNvSpPr>
              <a:spLocks noChangeShapeType="1"/>
            </p:cNvSpPr>
            <p:nvPr/>
          </p:nvSpPr>
          <p:spPr bwMode="auto">
            <a:xfrm flipH="1">
              <a:off x="1248" y="2688"/>
              <a:ext cx="302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ro-RO"/>
            </a:p>
          </p:txBody>
        </p:sp>
        <p:sp>
          <p:nvSpPr>
            <p:cNvPr id="13328" name="Text Box 18"/>
            <p:cNvSpPr txBox="1">
              <a:spLocks noChangeArrowheads="1"/>
            </p:cNvSpPr>
            <p:nvPr/>
          </p:nvSpPr>
          <p:spPr bwMode="auto">
            <a:xfrm>
              <a:off x="3024" y="2928"/>
              <a:ext cx="125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CA" altLang="ro-RO"/>
                <a:t>Byte code is downloaded</a:t>
              </a:r>
            </a:p>
          </p:txBody>
        </p:sp>
      </p:grpSp>
      <p:sp>
        <p:nvSpPr>
          <p:cNvPr id="166931" name="Rectangle 19"/>
          <p:cNvSpPr>
            <a:spLocks noChangeArrowheads="1"/>
          </p:cNvSpPr>
          <p:nvPr/>
        </p:nvSpPr>
        <p:spPr bwMode="auto">
          <a:xfrm>
            <a:off x="2362200" y="5715000"/>
            <a:ext cx="3505200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0" bIns="0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CA" altLang="ro-RO"/>
              <a:t>Virtual machine translates byte code to </a:t>
            </a:r>
          </a:p>
          <a:p>
            <a:pPr eaLnBrk="1" hangingPunct="1">
              <a:spcBef>
                <a:spcPct val="50000"/>
              </a:spcBef>
            </a:pPr>
            <a:r>
              <a:rPr lang="en-CA" altLang="ro-RO"/>
              <a:t>native Windows code and the Applet is run</a:t>
            </a:r>
          </a:p>
        </p:txBody>
      </p:sp>
      <p:pic>
        <p:nvPicPr>
          <p:cNvPr id="13326" name="Picture 20" descr="que-chan2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28026" y="3933826"/>
            <a:ext cx="2155825" cy="1674813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517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3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/>
              <a:t>Java: Write Once, Run Anywhere (2)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ro-RO" dirty="0"/>
              <a:t>Dar Java </a:t>
            </a:r>
            <a:r>
              <a:rPr lang="en-CA" altLang="ro-RO" dirty="0" err="1"/>
              <a:t>poate</a:t>
            </a:r>
            <a:r>
              <a:rPr lang="en-CA" altLang="ro-RO" dirty="0"/>
              <a:t> </a:t>
            </a:r>
            <a:r>
              <a:rPr lang="en-CA" altLang="ro-RO" dirty="0" err="1"/>
              <a:t>crea</a:t>
            </a:r>
            <a:r>
              <a:rPr lang="en-CA" altLang="ro-RO" dirty="0"/>
              <a:t>, de </a:t>
            </a:r>
            <a:r>
              <a:rPr lang="en-CA" altLang="ro-RO" dirty="0" err="1"/>
              <a:t>asemenea</a:t>
            </a:r>
            <a:r>
              <a:rPr lang="en-CA" altLang="ro-RO" dirty="0"/>
              <a:t>, </a:t>
            </a:r>
            <a:r>
              <a:rPr lang="en-CA" altLang="ro-RO" dirty="0" err="1"/>
              <a:t>programe</a:t>
            </a:r>
            <a:r>
              <a:rPr lang="en-CA" altLang="ro-RO" dirty="0"/>
              <a:t> standard (</a:t>
            </a:r>
            <a:r>
              <a:rPr lang="en-CA" altLang="ro-RO" dirty="0" err="1"/>
              <a:t>bazate</a:t>
            </a:r>
            <a:r>
              <a:rPr lang="en-CA" altLang="ro-RO" dirty="0"/>
              <a:t> </a:t>
            </a:r>
            <a:r>
              <a:rPr lang="en-CA" altLang="ro-RO" dirty="0" err="1"/>
              <a:t>pe</a:t>
            </a:r>
            <a:r>
              <a:rPr lang="en-CA" altLang="ro-RO" dirty="0"/>
              <a:t> web)</a:t>
            </a:r>
          </a:p>
        </p:txBody>
      </p: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1968501" y="2359131"/>
            <a:ext cx="3413125" cy="3509963"/>
            <a:chOff x="416" y="1026"/>
            <a:chExt cx="2150" cy="2211"/>
          </a:xfrm>
        </p:grpSpPr>
        <p:pic>
          <p:nvPicPr>
            <p:cNvPr id="14340" name="Picture 4" descr="image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" y="1026"/>
              <a:ext cx="2138" cy="1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416" y="2933"/>
              <a:ext cx="2070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CA" altLang="ro-RO" sz="1600"/>
                <a:t>Dungeon Master (Java version) </a:t>
              </a:r>
            </a:p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CA" altLang="ro-RO">
                  <a:hlinkClick r:id="rId3"/>
                </a:rPr>
                <a:t>http://homepage.mac.com/aberfield/dmj/</a:t>
              </a:r>
              <a:endParaRPr lang="en-CA" altLang="ro-RO"/>
            </a:p>
          </p:txBody>
        </p:sp>
      </p:grp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1532467" y="5955585"/>
            <a:ext cx="65669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o-RO" dirty="0"/>
              <a:t>Examples of mobile Java games: http://www.mobilegamesarena.net</a:t>
            </a:r>
          </a:p>
        </p:txBody>
      </p:sp>
      <p:grpSp>
        <p:nvGrpSpPr>
          <p:cNvPr id="14350" name="Group 14"/>
          <p:cNvGrpSpPr>
            <a:grpSpLocks/>
          </p:cNvGrpSpPr>
          <p:nvPr/>
        </p:nvGrpSpPr>
        <p:grpSpPr bwMode="auto">
          <a:xfrm>
            <a:off x="6576484" y="2421466"/>
            <a:ext cx="2251075" cy="3313113"/>
            <a:chOff x="3148" y="1041"/>
            <a:chExt cx="1418" cy="2087"/>
          </a:xfrm>
        </p:grpSpPr>
        <p:pic>
          <p:nvPicPr>
            <p:cNvPr id="14346" name="Picture 10" descr="Kung Fu Panda 2: The Official Mobile Gam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8" y="1041"/>
              <a:ext cx="1418" cy="1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348" name="Rectangle 5"/>
            <p:cNvSpPr>
              <a:spLocks noChangeArrowheads="1"/>
            </p:cNvSpPr>
            <p:nvPr/>
          </p:nvSpPr>
          <p:spPr bwMode="auto">
            <a:xfrm>
              <a:off x="3160" y="2973"/>
              <a:ext cx="123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CA" altLang="ro-RO"/>
                <a:t>Kung Fu Panda 2: THQ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29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/>
              <a:t>Java: Write Once, Run Anywhere (3)</a:t>
            </a:r>
            <a:endParaRPr lang="en-US" altLang="ro-RO" dirty="0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7067" y="1737360"/>
            <a:ext cx="11954933" cy="4023360"/>
          </a:xfrm>
        </p:spPr>
        <p:txBody>
          <a:bodyPr/>
          <a:lstStyle/>
          <a:p>
            <a:r>
              <a:rPr lang="en-US" altLang="ro-RO" dirty="0"/>
              <a:t>Java a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folosit</a:t>
            </a:r>
            <a:r>
              <a:rPr lang="en-US" altLang="ro-RO" dirty="0"/>
              <a:t> de </a:t>
            </a:r>
            <a:r>
              <a:rPr lang="en-US" altLang="ro-RO" dirty="0" err="1"/>
              <a:t>companii</a:t>
            </a:r>
            <a:r>
              <a:rPr lang="en-US" altLang="ro-RO" dirty="0"/>
              <a:t> </a:t>
            </a:r>
            <a:r>
              <a:rPr lang="en-US" altLang="ro-RO" dirty="0" err="1"/>
              <a:t>mari</a:t>
            </a:r>
            <a:r>
              <a:rPr lang="en-US" altLang="ro-RO" dirty="0"/>
              <a:t> </a:t>
            </a:r>
            <a:r>
              <a:rPr lang="en-US" altLang="ro-RO" dirty="0" err="1"/>
              <a:t>și</a:t>
            </a:r>
            <a:r>
              <a:rPr lang="en-US" altLang="ro-RO" dirty="0"/>
              <a:t> de </a:t>
            </a:r>
            <a:r>
              <a:rPr lang="en-US" altLang="ro-RO" dirty="0" err="1"/>
              <a:t>renume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a </a:t>
            </a:r>
            <a:r>
              <a:rPr lang="en-US" altLang="ro-RO" dirty="0" err="1"/>
              <a:t>crea</a:t>
            </a:r>
            <a:r>
              <a:rPr lang="en-US" altLang="ro-RO" dirty="0"/>
              <a:t> </a:t>
            </a:r>
            <a:r>
              <a:rPr lang="en-US" altLang="ro-RO" dirty="0" err="1"/>
              <a:t>aplicații</a:t>
            </a:r>
            <a:r>
              <a:rPr lang="en-US" altLang="ro-RO" dirty="0"/>
              <a:t> </a:t>
            </a:r>
            <a:r>
              <a:rPr lang="en-US" altLang="ro-RO" dirty="0" err="1"/>
              <a:t>serioase</a:t>
            </a:r>
            <a:r>
              <a:rPr lang="en-US" altLang="ro-RO" dirty="0"/>
              <a:t> de sine </a:t>
            </a:r>
            <a:r>
              <a:rPr lang="en-US" altLang="ro-RO" dirty="0" err="1"/>
              <a:t>stătătoare</a:t>
            </a:r>
            <a:r>
              <a:rPr lang="en-US" altLang="ro-RO" dirty="0"/>
              <a:t>.</a:t>
            </a:r>
          </a:p>
          <a:p>
            <a:r>
              <a:rPr lang="en-US" altLang="ro-RO" dirty="0" err="1"/>
              <a:t>Exemple</a:t>
            </a:r>
            <a:r>
              <a:rPr lang="en-US" altLang="ro-RO" dirty="0"/>
              <a:t>:</a:t>
            </a:r>
          </a:p>
          <a:p>
            <a:pPr lvl="1"/>
            <a:r>
              <a:rPr lang="en-US" altLang="ro-RO" dirty="0"/>
              <a:t>Eclipse</a:t>
            </a:r>
            <a:r>
              <a:rPr lang="en-US" altLang="ro-RO" baseline="30000" dirty="0"/>
              <a:t>1</a:t>
            </a:r>
            <a:r>
              <a:rPr lang="en-US" altLang="ro-RO" dirty="0"/>
              <a:t>: A </a:t>
            </a:r>
            <a:r>
              <a:rPr lang="en-US" altLang="ro-RO" dirty="0" err="1"/>
              <a:t>început</a:t>
            </a:r>
            <a:r>
              <a:rPr lang="en-US" altLang="ro-RO" dirty="0"/>
              <a:t> ca un </a:t>
            </a:r>
            <a:r>
              <a:rPr lang="en-US" altLang="ro-RO" dirty="0" err="1"/>
              <a:t>mediu</a:t>
            </a:r>
            <a:r>
              <a:rPr lang="en-US" altLang="ro-RO" dirty="0"/>
              <a:t> de </a:t>
            </a:r>
            <a:r>
              <a:rPr lang="en-US" altLang="ro-RO" dirty="0" err="1"/>
              <a:t>programare</a:t>
            </a:r>
            <a:r>
              <a:rPr lang="en-US" altLang="ro-RO" dirty="0"/>
              <a:t> </a:t>
            </a:r>
            <a:r>
              <a:rPr lang="en-US" altLang="ro-RO" dirty="0" err="1"/>
              <a:t>creat</a:t>
            </a:r>
            <a:r>
              <a:rPr lang="en-US" altLang="ro-RO" dirty="0"/>
              <a:t> de IBM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dezvoltarea</a:t>
            </a:r>
            <a:r>
              <a:rPr lang="en-US" altLang="ro-RO" dirty="0"/>
              <a:t> </a:t>
            </a:r>
            <a:r>
              <a:rPr lang="en-US" altLang="ro-RO" dirty="0" err="1"/>
              <a:t>programelor</a:t>
            </a:r>
            <a:r>
              <a:rPr lang="en-US" altLang="ro-RO" dirty="0"/>
              <a:t> Java. </a:t>
            </a:r>
            <a:r>
              <a:rPr lang="en-US" altLang="ro-RO" dirty="0" err="1"/>
              <a:t>Programul</a:t>
            </a:r>
            <a:r>
              <a:rPr lang="en-US" altLang="ro-RO" dirty="0"/>
              <a:t> Eclipse a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scris</a:t>
            </a:r>
            <a:r>
              <a:rPr lang="en-US" altLang="ro-RO" dirty="0"/>
              <a:t> </a:t>
            </a:r>
            <a:r>
              <a:rPr lang="en-US" altLang="ro-RO" dirty="0" err="1"/>
              <a:t>în</a:t>
            </a:r>
            <a:r>
              <a:rPr lang="en-US" altLang="ro-RO" dirty="0"/>
              <a:t> Java.</a:t>
            </a:r>
          </a:p>
        </p:txBody>
      </p:sp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330201" y="6004560"/>
            <a:ext cx="524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o-RO" dirty="0"/>
              <a:t>1 For more information: </a:t>
            </a:r>
            <a:r>
              <a:rPr lang="en-US" altLang="ro-RO" dirty="0">
                <a:hlinkClick r:id="rId2"/>
              </a:rPr>
              <a:t>http://www.eclipse.org/downloads/</a:t>
            </a:r>
            <a:endParaRPr lang="en-US" altLang="ro-RO" dirty="0"/>
          </a:p>
        </p:txBody>
      </p:sp>
      <p:pic>
        <p:nvPicPr>
          <p:cNvPr id="168965" name="Picture 5" descr="strutsex3DesignerFi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2840673"/>
            <a:ext cx="4029075" cy="331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62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  <p:bldP spid="16896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5582" y="1061654"/>
            <a:ext cx="9632685" cy="3492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defRPr/>
            </a:pPr>
            <a:r>
              <a:rPr lang="it-IT" dirty="0"/>
              <a:t>Programe compilate cu diferite sisteme de operare</a:t>
            </a:r>
            <a:endParaRPr lang="en-CA" dirty="0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3432176" y="1412875"/>
            <a:ext cx="6596063" cy="2376488"/>
            <a:chOff x="1908175" y="1412875"/>
            <a:chExt cx="6595744" cy="2376489"/>
          </a:xfrm>
        </p:grpSpPr>
        <p:grpSp>
          <p:nvGrpSpPr>
            <p:cNvPr id="16404" name="Group 28"/>
            <p:cNvGrpSpPr>
              <a:grpSpLocks/>
            </p:cNvGrpSpPr>
            <p:nvPr/>
          </p:nvGrpSpPr>
          <p:grpSpPr bwMode="auto">
            <a:xfrm>
              <a:off x="1908175" y="1916113"/>
              <a:ext cx="6595744" cy="1873251"/>
              <a:chOff x="1908175" y="1916113"/>
              <a:chExt cx="6595744" cy="1873251"/>
            </a:xfrm>
          </p:grpSpPr>
          <p:sp>
            <p:nvSpPr>
              <p:cNvPr id="16406" name="AutoShape 6"/>
              <p:cNvSpPr>
                <a:spLocks noChangeArrowheads="1"/>
              </p:cNvSpPr>
              <p:nvPr/>
            </p:nvSpPr>
            <p:spPr bwMode="auto">
              <a:xfrm>
                <a:off x="3416300" y="2204039"/>
                <a:ext cx="335377" cy="1043399"/>
              </a:xfrm>
              <a:prstGeom prst="irregularSeal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3600" tIns="46800" rIns="93600" bIns="46800" anchor="ctr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ro-RO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16407" name="Text Box 7"/>
              <p:cNvSpPr txBox="1">
                <a:spLocks noChangeArrowheads="1"/>
              </p:cNvSpPr>
              <p:nvPr/>
            </p:nvSpPr>
            <p:spPr bwMode="auto">
              <a:xfrm>
                <a:off x="3348038" y="1916113"/>
                <a:ext cx="1203325" cy="487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360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CA" altLang="ro-RO" sz="1800">
                    <a:latin typeface="Times New Roman" panose="02020603050405020304" pitchFamily="18" charset="0"/>
                  </a:rPr>
                  <a:t>Windows compiler</a:t>
                </a:r>
              </a:p>
            </p:txBody>
          </p:sp>
          <p:sp>
            <p:nvSpPr>
              <p:cNvPr id="16408" name="Rectangle 8"/>
              <p:cNvSpPr>
                <a:spLocks noChangeArrowheads="1"/>
              </p:cNvSpPr>
              <p:nvPr/>
            </p:nvSpPr>
            <p:spPr bwMode="auto">
              <a:xfrm>
                <a:off x="5795962" y="2492376"/>
                <a:ext cx="2707957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46800" rIns="93600" bIns="46800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  <a:spcBef>
                    <a:spcPct val="70000"/>
                  </a:spcBef>
                </a:pPr>
                <a:r>
                  <a:rPr lang="en-US" altLang="ro-RO" sz="1800">
                    <a:latin typeface="Times New Roman" panose="02020603050405020304" pitchFamily="18" charset="0"/>
                  </a:rPr>
                  <a:t>Executable (Windows)</a:t>
                </a:r>
                <a:endParaRPr lang="en-CA" altLang="ro-RO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09" name="Line 9"/>
              <p:cNvSpPr>
                <a:spLocks noChangeShapeType="1"/>
              </p:cNvSpPr>
              <p:nvPr/>
            </p:nvSpPr>
            <p:spPr bwMode="auto">
              <a:xfrm flipV="1">
                <a:off x="1908175" y="2708276"/>
                <a:ext cx="1584325" cy="10810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6410" name="Line 10"/>
              <p:cNvSpPr>
                <a:spLocks noChangeShapeType="1"/>
              </p:cNvSpPr>
              <p:nvPr/>
            </p:nvSpPr>
            <p:spPr bwMode="auto">
              <a:xfrm>
                <a:off x="4140200" y="2708276"/>
                <a:ext cx="165576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</p:grpSp>
        <p:pic>
          <p:nvPicPr>
            <p:cNvPr id="16405" name="Picture 11" descr="sblade100-1s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5963" y="1412875"/>
              <a:ext cx="885825" cy="1039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359151" y="3789363"/>
            <a:ext cx="5895975" cy="2832100"/>
            <a:chOff x="1156" y="2387"/>
            <a:chExt cx="3714" cy="1784"/>
          </a:xfrm>
        </p:grpSpPr>
        <p:sp>
          <p:nvSpPr>
            <p:cNvPr id="16398" name="AutoShape 14"/>
            <p:cNvSpPr>
              <a:spLocks noChangeArrowheads="1"/>
            </p:cNvSpPr>
            <p:nvPr/>
          </p:nvSpPr>
          <p:spPr bwMode="auto">
            <a:xfrm>
              <a:off x="2293" y="3514"/>
              <a:ext cx="211" cy="657"/>
            </a:xfrm>
            <a:prstGeom prst="irregularSeal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CA" altLang="ro-RO" sz="1800">
                <a:latin typeface="Calibri" panose="020F0502020204030204" pitchFamily="34" charset="0"/>
              </a:endParaRPr>
            </a:p>
          </p:txBody>
        </p:sp>
        <p:sp>
          <p:nvSpPr>
            <p:cNvPr id="16399" name="Text Box 15"/>
            <p:cNvSpPr txBox="1">
              <a:spLocks noChangeArrowheads="1"/>
            </p:cNvSpPr>
            <p:nvPr/>
          </p:nvSpPr>
          <p:spPr bwMode="auto">
            <a:xfrm>
              <a:off x="2200" y="3339"/>
              <a:ext cx="85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</a:pPr>
              <a:r>
                <a:rPr lang="en-CA" altLang="ro-RO" sz="1800">
                  <a:latin typeface="Times New Roman" panose="02020603050405020304" pitchFamily="18" charset="0"/>
                </a:rPr>
                <a:t>UNIX compiler</a:t>
              </a:r>
            </a:p>
          </p:txBody>
        </p:sp>
        <p:sp>
          <p:nvSpPr>
            <p:cNvPr id="16400" name="Rectangle 16"/>
            <p:cNvSpPr>
              <a:spLocks noChangeArrowheads="1"/>
            </p:cNvSpPr>
            <p:nvPr/>
          </p:nvSpPr>
          <p:spPr bwMode="auto">
            <a:xfrm>
              <a:off x="3696" y="3748"/>
              <a:ext cx="117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70000"/>
                </a:spcBef>
              </a:pPr>
              <a:r>
                <a:rPr lang="en-US" altLang="ro-RO" sz="1800">
                  <a:latin typeface="Times New Roman" panose="02020603050405020304" pitchFamily="18" charset="0"/>
                </a:rPr>
                <a:t>Executable (UNIX)</a:t>
              </a:r>
              <a:endParaRPr lang="en-CA" altLang="ro-RO" sz="1800">
                <a:latin typeface="Times New Roman" panose="02020603050405020304" pitchFamily="18" charset="0"/>
              </a:endParaRPr>
            </a:p>
          </p:txBody>
        </p:sp>
        <p:sp>
          <p:nvSpPr>
            <p:cNvPr id="16401" name="Line 17"/>
            <p:cNvSpPr>
              <a:spLocks noChangeShapeType="1"/>
            </p:cNvSpPr>
            <p:nvPr/>
          </p:nvSpPr>
          <p:spPr bwMode="auto">
            <a:xfrm>
              <a:off x="1156" y="2387"/>
              <a:ext cx="1134" cy="14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  <p:sp>
          <p:nvSpPr>
            <p:cNvPr id="16402" name="Line 18"/>
            <p:cNvSpPr>
              <a:spLocks noChangeShapeType="1"/>
            </p:cNvSpPr>
            <p:nvPr/>
          </p:nvSpPr>
          <p:spPr bwMode="auto">
            <a:xfrm>
              <a:off x="2789" y="3884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  <p:pic>
          <p:nvPicPr>
            <p:cNvPr id="16403" name="Picture 19" descr="A4000T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2" t="4849" r="7458" b="5455"/>
            <a:stretch>
              <a:fillRect/>
            </a:stretch>
          </p:blipFill>
          <p:spPr bwMode="auto">
            <a:xfrm>
              <a:off x="3696" y="3113"/>
              <a:ext cx="754" cy="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359151" y="3284539"/>
            <a:ext cx="5649913" cy="1512887"/>
            <a:chOff x="1156" y="2069"/>
            <a:chExt cx="3559" cy="953"/>
          </a:xfrm>
        </p:grpSpPr>
        <p:grpSp>
          <p:nvGrpSpPr>
            <p:cNvPr id="16391" name="Group 30"/>
            <p:cNvGrpSpPr>
              <a:grpSpLocks/>
            </p:cNvGrpSpPr>
            <p:nvPr/>
          </p:nvGrpSpPr>
          <p:grpSpPr bwMode="auto">
            <a:xfrm>
              <a:off x="1156" y="2206"/>
              <a:ext cx="3559" cy="816"/>
              <a:chOff x="1835150" y="3500438"/>
              <a:chExt cx="5649913" cy="1294811"/>
            </a:xfrm>
          </p:grpSpPr>
          <p:sp>
            <p:nvSpPr>
              <p:cNvPr id="16393" name="AutoShape 22"/>
              <p:cNvSpPr>
                <a:spLocks noChangeArrowheads="1"/>
              </p:cNvSpPr>
              <p:nvPr/>
            </p:nvSpPr>
            <p:spPr bwMode="auto">
              <a:xfrm>
                <a:off x="3511550" y="3751851"/>
                <a:ext cx="335393" cy="1043398"/>
              </a:xfrm>
              <a:prstGeom prst="irregularSeal1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3600" tIns="46800" rIns="93600" bIns="46800" anchor="ctr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CA" altLang="ro-RO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16394" name="Text Box 23"/>
              <p:cNvSpPr txBox="1">
                <a:spLocks noChangeArrowheads="1"/>
              </p:cNvSpPr>
              <p:nvPr/>
            </p:nvSpPr>
            <p:spPr bwMode="auto">
              <a:xfrm>
                <a:off x="3348038" y="3500438"/>
                <a:ext cx="1203325" cy="487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360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CA" altLang="ro-RO" sz="1800">
                    <a:latin typeface="Times New Roman" panose="02020603050405020304" pitchFamily="18" charset="0"/>
                  </a:rPr>
                  <a:t>Mac OS compiler</a:t>
                </a:r>
              </a:p>
            </p:txBody>
          </p:sp>
          <p:sp>
            <p:nvSpPr>
              <p:cNvPr id="16395" name="Rectangle 24"/>
              <p:cNvSpPr>
                <a:spLocks noChangeArrowheads="1"/>
              </p:cNvSpPr>
              <p:nvPr/>
            </p:nvSpPr>
            <p:spPr bwMode="auto">
              <a:xfrm>
                <a:off x="5795963" y="4076700"/>
                <a:ext cx="1689100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46800" rIns="93600" bIns="46800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  <a:spcBef>
                    <a:spcPct val="70000"/>
                  </a:spcBef>
                </a:pPr>
                <a:r>
                  <a:rPr lang="en-CA" altLang="ro-RO" sz="1800">
                    <a:latin typeface="Times New Roman" panose="02020603050405020304" pitchFamily="18" charset="0"/>
                  </a:rPr>
                  <a:t>Executable (Mac)</a:t>
                </a:r>
              </a:p>
            </p:txBody>
          </p:sp>
          <p:sp>
            <p:nvSpPr>
              <p:cNvPr id="16396" name="Line 25"/>
              <p:cNvSpPr>
                <a:spLocks noChangeShapeType="1"/>
              </p:cNvSpPr>
              <p:nvPr/>
            </p:nvSpPr>
            <p:spPr bwMode="auto">
              <a:xfrm>
                <a:off x="1835150" y="3789363"/>
                <a:ext cx="1800225" cy="360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  <p:sp>
            <p:nvSpPr>
              <p:cNvPr id="16397" name="Line 26"/>
              <p:cNvSpPr>
                <a:spLocks noChangeShapeType="1"/>
              </p:cNvSpPr>
              <p:nvPr/>
            </p:nvSpPr>
            <p:spPr bwMode="auto">
              <a:xfrm>
                <a:off x="4284663" y="4292600"/>
                <a:ext cx="14938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/>
              <a:p>
                <a:endParaRPr lang="ro-RO"/>
              </a:p>
            </p:txBody>
          </p:sp>
        </p:grpSp>
        <p:pic>
          <p:nvPicPr>
            <p:cNvPr id="16392" name="Picture 2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55" b="6831"/>
            <a:stretch>
              <a:fillRect/>
            </a:stretch>
          </p:blipFill>
          <p:spPr bwMode="auto">
            <a:xfrm>
              <a:off x="3651" y="2069"/>
              <a:ext cx="721" cy="4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</p:grpSp>
      <p:sp>
        <p:nvSpPr>
          <p:cNvPr id="226307" name="Rectangle 3"/>
          <p:cNvSpPr>
            <a:spLocks noChangeArrowheads="1"/>
          </p:cNvSpPr>
          <p:nvPr/>
        </p:nvSpPr>
        <p:spPr bwMode="auto">
          <a:xfrm>
            <a:off x="2125663" y="3063876"/>
            <a:ext cx="1344612" cy="1630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3600" tIns="46800" rIns="93600" bIns="46800" anchor="ctr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70000"/>
              </a:spcBef>
            </a:pPr>
            <a:r>
              <a:rPr lang="en-CA" altLang="ro-RO" sz="1800">
                <a:latin typeface="Times New Roman" panose="02020603050405020304" pitchFamily="18" charset="0"/>
              </a:rPr>
              <a:t>Computer program</a:t>
            </a:r>
          </a:p>
        </p:txBody>
      </p:sp>
    </p:spTree>
    <p:extLst>
      <p:ext uri="{BB962C8B-B14F-4D97-AF65-F5344CB8AC3E}">
        <p14:creationId xmlns:p14="http://schemas.microsoft.com/office/powerpoint/2010/main" val="134753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Scurt istoric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sz="2800" dirty="0"/>
              <a:t>scopul declarat de a dezvolta un software performant pentru aparatele electronice de larg consum</a:t>
            </a:r>
            <a:r>
              <a:rPr lang="en-US" sz="2800" dirty="0"/>
              <a:t>: </a:t>
            </a:r>
            <a:r>
              <a:rPr lang="ro-RO" sz="2800" dirty="0"/>
              <a:t>mici, portabile, distribuite </a:t>
            </a:r>
            <a:r>
              <a:rPr lang="ro-RO" sz="2800" dirty="0" err="1"/>
              <a:t>şi</a:t>
            </a:r>
            <a:r>
              <a:rPr lang="ro-RO" sz="2800" dirty="0"/>
              <a:t> lucrând în timp real. </a:t>
            </a:r>
            <a:endParaRPr lang="en-US" sz="2800" dirty="0"/>
          </a:p>
          <a:p>
            <a:r>
              <a:rPr lang="ro-RO" sz="2800" dirty="0"/>
              <a:t>Limbajul luat </a:t>
            </a:r>
            <a:r>
              <a:rPr lang="ro-RO" sz="2800" dirty="0" err="1"/>
              <a:t>iniţial</a:t>
            </a:r>
            <a:r>
              <a:rPr lang="ro-RO" sz="2800" dirty="0"/>
              <a:t> în considerare a fost C++. </a:t>
            </a:r>
            <a:endParaRPr lang="en-US" sz="2800" dirty="0"/>
          </a:p>
          <a:p>
            <a:r>
              <a:rPr lang="ro-RO" sz="2800" dirty="0"/>
              <a:t>firma Sun a pornit proiectarea unui nou limbaj de programare asemănător cu C++ dar mult mai flexibil, mai simplu </a:t>
            </a:r>
            <a:r>
              <a:rPr lang="ro-RO" sz="2800" dirty="0" err="1"/>
              <a:t>şi</a:t>
            </a:r>
            <a:r>
              <a:rPr lang="ro-RO" sz="2800" dirty="0"/>
              <a:t> mai portabil</a:t>
            </a:r>
          </a:p>
        </p:txBody>
      </p:sp>
    </p:spTree>
    <p:extLst>
      <p:ext uri="{BB962C8B-B14F-4D97-AF65-F5344CB8AC3E}">
        <p14:creationId xmlns:p14="http://schemas.microsoft.com/office/powerpoint/2010/main" val="2039799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442" y="0"/>
            <a:ext cx="10058400" cy="1450757"/>
          </a:xfrm>
        </p:spPr>
        <p:txBody>
          <a:bodyPr/>
          <a:lstStyle/>
          <a:p>
            <a:r>
              <a:rPr lang="en-US" dirty="0" err="1"/>
              <a:t>Istoricul</a:t>
            </a:r>
            <a:r>
              <a:rPr lang="en-US" dirty="0"/>
              <a:t> </a:t>
            </a:r>
            <a:r>
              <a:rPr lang="en-US" dirty="0" err="1"/>
              <a:t>limbajului</a:t>
            </a:r>
            <a:r>
              <a:rPr lang="en-US" dirty="0"/>
              <a:t> Java</a:t>
            </a:r>
            <a:r>
              <a:rPr lang="ro-RO" dirty="0"/>
              <a:t> și a versiunilor acestuia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036" y="1763355"/>
            <a:ext cx="11541211" cy="4023360"/>
          </a:xfrm>
        </p:spPr>
        <p:txBody>
          <a:bodyPr>
            <a:noAutofit/>
          </a:bodyPr>
          <a:lstStyle/>
          <a:p>
            <a:r>
              <a:rPr lang="en-US" sz="1800" dirty="0"/>
              <a:t>1991 – firma Sun </a:t>
            </a:r>
            <a:r>
              <a:rPr lang="ro-RO" sz="1800" dirty="0"/>
              <a:t>î</a:t>
            </a:r>
            <a:r>
              <a:rPr lang="en-US" sz="1800" dirty="0" err="1"/>
              <a:t>ncepe</a:t>
            </a:r>
            <a:r>
              <a:rPr lang="en-US" sz="1800" dirty="0"/>
              <a:t> </a:t>
            </a:r>
            <a:r>
              <a:rPr lang="en-US" sz="1800" dirty="0" err="1"/>
              <a:t>dezvoltarea</a:t>
            </a:r>
            <a:r>
              <a:rPr lang="en-US" sz="1800" dirty="0"/>
              <a:t> </a:t>
            </a:r>
            <a:r>
              <a:rPr lang="en-US" sz="1800" dirty="0" err="1"/>
              <a:t>unui</a:t>
            </a:r>
            <a:r>
              <a:rPr lang="en-US" sz="1800" dirty="0"/>
              <a:t> </a:t>
            </a:r>
            <a:r>
              <a:rPr lang="en-US" sz="1800" dirty="0" err="1"/>
              <a:t>proiect</a:t>
            </a:r>
            <a:r>
              <a:rPr lang="en-US" sz="1800" dirty="0"/>
              <a:t> </a:t>
            </a:r>
            <a:r>
              <a:rPr lang="ro-RO" sz="1800" dirty="0"/>
              <a:t>software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aparatur</a:t>
            </a:r>
            <a:r>
              <a:rPr lang="ro-RO" sz="1800" dirty="0"/>
              <a:t>ă</a:t>
            </a:r>
            <a:r>
              <a:rPr lang="en-US" sz="1800" dirty="0"/>
              <a:t> electronic</a:t>
            </a:r>
            <a:r>
              <a:rPr lang="ro-RO" sz="1800" dirty="0"/>
              <a:t>ă </a:t>
            </a:r>
            <a:r>
              <a:rPr lang="en-US" sz="1800" dirty="0" err="1"/>
              <a:t>inteligent</a:t>
            </a:r>
            <a:r>
              <a:rPr lang="ro-RO" sz="1800" dirty="0"/>
              <a:t>ă care să poată fi conectată în rețea</a:t>
            </a:r>
          </a:p>
          <a:p>
            <a:r>
              <a:rPr lang="ro-RO" sz="1800" dirty="0"/>
              <a:t>1992 – începe dezvoltarea unui nou limbaj de programare care inițial s-a numit OAK</a:t>
            </a:r>
          </a:p>
          <a:p>
            <a:r>
              <a:rPr lang="ro-RO" sz="1800" dirty="0"/>
              <a:t>1993 – primul browser www care s-a numit </a:t>
            </a:r>
            <a:r>
              <a:rPr lang="ro-RO" sz="1800" dirty="0" err="1"/>
              <a:t>Mosaic</a:t>
            </a:r>
            <a:r>
              <a:rPr lang="ro-RO" sz="1800" dirty="0"/>
              <a:t>; de asemenea a fost disponibil și un web browser, numit </a:t>
            </a:r>
            <a:r>
              <a:rPr lang="ro-RO" sz="1800" dirty="0" err="1"/>
              <a:t>webrunner</a:t>
            </a:r>
            <a:r>
              <a:rPr lang="ro-RO" sz="1800" dirty="0"/>
              <a:t> capabil să ruleze programe scrise în OAK; </a:t>
            </a:r>
          </a:p>
          <a:p>
            <a:r>
              <a:rPr lang="ro-RO" sz="1800" dirty="0"/>
              <a:t>1994 – OAK a devenit Java si </a:t>
            </a:r>
            <a:r>
              <a:rPr lang="ro-RO" sz="1800" dirty="0" err="1"/>
              <a:t>webrunner</a:t>
            </a:r>
            <a:r>
              <a:rPr lang="ro-RO" sz="1800" dirty="0"/>
              <a:t> a devenit </a:t>
            </a:r>
            <a:r>
              <a:rPr lang="ro-RO" sz="1800" dirty="0" err="1"/>
              <a:t>HotJava</a:t>
            </a:r>
            <a:endParaRPr lang="ro-RO" sz="1800" dirty="0"/>
          </a:p>
          <a:p>
            <a:r>
              <a:rPr lang="ro-RO" sz="1800" dirty="0"/>
              <a:t>1995 – </a:t>
            </a:r>
            <a:r>
              <a:rPr lang="ro-RO" sz="1800" dirty="0" err="1"/>
              <a:t>Netscape</a:t>
            </a:r>
            <a:r>
              <a:rPr lang="ro-RO" sz="1800" dirty="0"/>
              <a:t> </a:t>
            </a:r>
            <a:r>
              <a:rPr lang="ro-RO" sz="1800" dirty="0" err="1"/>
              <a:t>integreaza</a:t>
            </a:r>
            <a:r>
              <a:rPr lang="ro-RO" sz="1800" dirty="0"/>
              <a:t> Java în </a:t>
            </a:r>
            <a:r>
              <a:rPr lang="ro-RO" sz="1800" dirty="0" err="1"/>
              <a:t>Netscape</a:t>
            </a:r>
            <a:r>
              <a:rPr lang="ro-RO" sz="1800" dirty="0"/>
              <a:t> Navigator 2.0</a:t>
            </a:r>
          </a:p>
          <a:p>
            <a:r>
              <a:rPr lang="ro-RO" sz="1800" dirty="0"/>
              <a:t>1996 – apare Java 1.0</a:t>
            </a:r>
          </a:p>
          <a:p>
            <a:r>
              <a:rPr lang="ro-RO" sz="1800" dirty="0"/>
              <a:t>1997 – Java 1.1, </a:t>
            </a:r>
            <a:r>
              <a:rPr lang="ro-RO" sz="1800" dirty="0" err="1"/>
              <a:t>HotJava</a:t>
            </a:r>
            <a:r>
              <a:rPr lang="ro-RO" sz="1800" dirty="0"/>
              <a:t> 1.0 și </a:t>
            </a:r>
            <a:r>
              <a:rPr lang="ro-RO" sz="1800" dirty="0" err="1"/>
              <a:t>JavaOS</a:t>
            </a:r>
            <a:r>
              <a:rPr lang="ro-RO" sz="1800" dirty="0"/>
              <a:t> 1.0</a:t>
            </a:r>
          </a:p>
          <a:p>
            <a:r>
              <a:rPr lang="ro-RO" sz="1800" dirty="0"/>
              <a:t>1998 – Java Foundation </a:t>
            </a:r>
            <a:r>
              <a:rPr lang="ro-RO" sz="1800" dirty="0" err="1"/>
              <a:t>Classes</a:t>
            </a:r>
            <a:r>
              <a:rPr lang="ro-RO" sz="1800" dirty="0"/>
              <a:t> , JVC ce include Swing 1.0</a:t>
            </a:r>
          </a:p>
          <a:p>
            <a:r>
              <a:rPr lang="ro-RO" sz="1800" dirty="0"/>
              <a:t>După 1999 – apar noi versiuni de Java</a:t>
            </a:r>
          </a:p>
          <a:p>
            <a:r>
              <a:rPr lang="ro-RO" sz="1800" dirty="0"/>
              <a:t>Acum sunt versiuni JDK 1.8.x</a:t>
            </a:r>
          </a:p>
          <a:p>
            <a:endParaRPr lang="ro-RO" sz="1800" dirty="0"/>
          </a:p>
          <a:p>
            <a:endParaRPr lang="ro-RO" sz="1800" dirty="0"/>
          </a:p>
        </p:txBody>
      </p:sp>
    </p:spTree>
    <p:extLst>
      <p:ext uri="{BB962C8B-B14F-4D97-AF65-F5344CB8AC3E}">
        <p14:creationId xmlns:p14="http://schemas.microsoft.com/office/powerpoint/2010/main" val="1717421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Caracteristici ale limbajului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/>
              <a:t>limbaj </a:t>
            </a:r>
            <a:r>
              <a:rPr lang="ro-RO" b="1" i="1" dirty="0">
                <a:solidFill>
                  <a:srgbClr val="FF0000"/>
                </a:solidFill>
              </a:rPr>
              <a:t>simplu</a:t>
            </a:r>
            <a:r>
              <a:rPr lang="ro-RO" dirty="0"/>
              <a:t> de folosit chiar </a:t>
            </a:r>
            <a:r>
              <a:rPr lang="ro-RO" dirty="0" err="1"/>
              <a:t>şi</a:t>
            </a:r>
            <a:r>
              <a:rPr lang="ro-RO" dirty="0"/>
              <a:t> de către programatorii </a:t>
            </a:r>
            <a:r>
              <a:rPr lang="ro-RO" dirty="0" err="1"/>
              <a:t>neprofesionişti</a:t>
            </a:r>
            <a:r>
              <a:rPr lang="ro-RO" dirty="0"/>
              <a:t>. </a:t>
            </a:r>
          </a:p>
          <a:p>
            <a:r>
              <a:rPr lang="ro-RO" dirty="0"/>
              <a:t>Limbajul Java este independent de arhitectura calculatorului pe care lucrează </a:t>
            </a:r>
            <a:r>
              <a:rPr lang="ro-RO" dirty="0" err="1"/>
              <a:t>şi</a:t>
            </a:r>
            <a:r>
              <a:rPr lang="ro-RO" dirty="0"/>
              <a:t> foarte </a:t>
            </a:r>
            <a:r>
              <a:rPr lang="ro-RO" b="1" i="1" dirty="0">
                <a:solidFill>
                  <a:srgbClr val="FF0000"/>
                </a:solidFill>
              </a:rPr>
              <a:t>portabil</a:t>
            </a:r>
            <a:r>
              <a:rPr lang="ro-RO" dirty="0"/>
              <a:t>. Sloganul limbajului este ”</a:t>
            </a:r>
            <a:r>
              <a:rPr lang="ro-RO" dirty="0" err="1"/>
              <a:t>Write</a:t>
            </a:r>
            <a:r>
              <a:rPr lang="ro-RO" dirty="0"/>
              <a:t> </a:t>
            </a:r>
            <a:r>
              <a:rPr lang="ro-RO" dirty="0" err="1"/>
              <a:t>once</a:t>
            </a:r>
            <a:r>
              <a:rPr lang="ro-RO" dirty="0"/>
              <a:t> </a:t>
            </a:r>
            <a:r>
              <a:rPr lang="ro-RO" dirty="0" err="1"/>
              <a:t>run</a:t>
            </a:r>
            <a:r>
              <a:rPr lang="ro-RO" dirty="0"/>
              <a:t> </a:t>
            </a:r>
            <a:r>
              <a:rPr lang="ro-RO" dirty="0" err="1"/>
              <a:t>anywhare</a:t>
            </a:r>
            <a:r>
              <a:rPr lang="ro-RO" dirty="0"/>
              <a:t>” , adică pe orice calc unde e instalat Java</a:t>
            </a:r>
          </a:p>
          <a:p>
            <a:r>
              <a:rPr lang="ro-RO" dirty="0" err="1"/>
              <a:t>Execuţia</a:t>
            </a:r>
            <a:r>
              <a:rPr lang="ro-RO" dirty="0"/>
              <a:t> </a:t>
            </a:r>
            <a:r>
              <a:rPr lang="ro-RO" dirty="0" err="1"/>
              <a:t>aplicaţiilor</a:t>
            </a:r>
            <a:r>
              <a:rPr lang="ro-RO" dirty="0"/>
              <a:t> Java este </a:t>
            </a:r>
            <a:r>
              <a:rPr lang="ro-RO" b="1" i="1" dirty="0">
                <a:solidFill>
                  <a:srgbClr val="FF0000"/>
                </a:solidFill>
              </a:rPr>
              <a:t>interpretată</a:t>
            </a:r>
            <a:r>
              <a:rPr lang="ro-RO" dirty="0"/>
              <a:t>.</a:t>
            </a:r>
          </a:p>
          <a:p>
            <a:r>
              <a:rPr lang="ro-RO" dirty="0"/>
              <a:t>Limbajul Java este  în totalitate </a:t>
            </a:r>
            <a:r>
              <a:rPr lang="ro-RO" b="1" i="1" dirty="0">
                <a:solidFill>
                  <a:srgbClr val="FF0000"/>
                </a:solidFill>
              </a:rPr>
              <a:t>orientat obiect</a:t>
            </a:r>
            <a:r>
              <a:rPr lang="ro-RO" dirty="0"/>
              <a:t>. Elimină complet stilul de programare procedural, se </a:t>
            </a:r>
            <a:r>
              <a:rPr lang="ro-RO" dirty="0" err="1"/>
              <a:t>basează</a:t>
            </a:r>
            <a:r>
              <a:rPr lang="ro-RO" dirty="0"/>
              <a:t> pe </a:t>
            </a:r>
            <a:r>
              <a:rPr lang="ro-RO" sz="2100" b="1" i="1" dirty="0">
                <a:solidFill>
                  <a:srgbClr val="FF0000"/>
                </a:solidFill>
              </a:rPr>
              <a:t>moștenire, încapsulare, polimorfism</a:t>
            </a:r>
          </a:p>
          <a:p>
            <a:r>
              <a:rPr lang="ro-RO" dirty="0"/>
              <a:t>Java este </a:t>
            </a:r>
            <a:r>
              <a:rPr lang="ro-RO" b="1" i="1" dirty="0">
                <a:solidFill>
                  <a:srgbClr val="FF0000"/>
                </a:solidFill>
              </a:rPr>
              <a:t>distribuit</a:t>
            </a:r>
            <a:r>
              <a:rPr lang="ro-RO" dirty="0"/>
              <a:t>, având implementate biblioteci pentru lucrul în </a:t>
            </a:r>
            <a:r>
              <a:rPr lang="ro-RO" dirty="0" err="1"/>
              <a:t>reţea</a:t>
            </a:r>
            <a:r>
              <a:rPr lang="ro-RO" dirty="0"/>
              <a:t> care ne oferă TCP/IP, URL </a:t>
            </a:r>
            <a:r>
              <a:rPr lang="ro-RO" dirty="0" err="1"/>
              <a:t>şi</a:t>
            </a:r>
            <a:r>
              <a:rPr lang="ro-RO" dirty="0"/>
              <a:t> încărcarea resurselor din </a:t>
            </a:r>
            <a:r>
              <a:rPr lang="ro-RO" dirty="0" err="1"/>
              <a:t>reţea</a:t>
            </a:r>
            <a:r>
              <a:rPr lang="ro-RO" dirty="0"/>
              <a:t>.</a:t>
            </a:r>
          </a:p>
          <a:p>
            <a:r>
              <a:rPr lang="ro-RO" dirty="0"/>
              <a:t>Java este </a:t>
            </a:r>
            <a:r>
              <a:rPr lang="ro-RO" b="1" i="1" dirty="0">
                <a:solidFill>
                  <a:srgbClr val="FF0000"/>
                </a:solidFill>
              </a:rPr>
              <a:t>robust</a:t>
            </a:r>
            <a:r>
              <a:rPr lang="ro-RO" dirty="0"/>
              <a:t>. Elimină sursele de erori, odată ce a trecut de compilare, nu se mai întâmplă ca un program să se blocheze</a:t>
            </a:r>
          </a:p>
          <a:p>
            <a:r>
              <a:rPr lang="ro-RO" dirty="0"/>
              <a:t>Java este un limbaj cu </a:t>
            </a:r>
            <a:r>
              <a:rPr lang="ro-RO" b="1" i="1" dirty="0">
                <a:solidFill>
                  <a:srgbClr val="FF0000"/>
                </a:solidFill>
              </a:rPr>
              <a:t>securitate ridicată</a:t>
            </a:r>
            <a:r>
              <a:rPr lang="ro-RO" dirty="0"/>
              <a:t>, fiind unul dintre cele mai sigure limbaje de programare</a:t>
            </a:r>
          </a:p>
          <a:p>
            <a:r>
              <a:rPr lang="ro-RO" dirty="0"/>
              <a:t>lucrează cu </a:t>
            </a:r>
            <a:r>
              <a:rPr lang="ro-RO" b="1" i="1" dirty="0">
                <a:solidFill>
                  <a:srgbClr val="FF0000"/>
                </a:solidFill>
              </a:rPr>
              <a:t>mai multe fire de execuție</a:t>
            </a:r>
          </a:p>
          <a:p>
            <a:r>
              <a:rPr lang="ro-RO" dirty="0"/>
              <a:t>Java este </a:t>
            </a:r>
            <a:r>
              <a:rPr lang="ro-RO" b="1" i="1" dirty="0">
                <a:solidFill>
                  <a:srgbClr val="FF0000"/>
                </a:solidFill>
              </a:rPr>
              <a:t>dinamic</a:t>
            </a:r>
            <a:r>
              <a:rPr lang="ro-RO" dirty="0"/>
              <a:t>.</a:t>
            </a:r>
            <a:endParaRPr lang="ro-RO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095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/>
              <a:t>Reprezentarea </a:t>
            </a:r>
            <a:r>
              <a:rPr lang="ro-RO" b="1" dirty="0" err="1"/>
              <a:t>informaţiilor</a:t>
            </a:r>
            <a:r>
              <a:rPr lang="ro-RO" b="1" dirty="0"/>
              <a:t> cu obiecte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739" y="1829258"/>
            <a:ext cx="10058400" cy="4023360"/>
          </a:xfrm>
        </p:spPr>
        <p:txBody>
          <a:bodyPr/>
          <a:lstStyle/>
          <a:p>
            <a:r>
              <a:rPr lang="ro-RO" b="1" dirty="0"/>
              <a:t>Obiecte</a:t>
            </a:r>
          </a:p>
          <a:p>
            <a:r>
              <a:rPr lang="ro-RO" dirty="0" err="1"/>
              <a:t>Informaţiile</a:t>
            </a:r>
            <a:r>
              <a:rPr lang="ro-RO" dirty="0"/>
              <a:t> pe care le reprezentăm în memoria calculatorului pot fi uneori complexe</a:t>
            </a:r>
          </a:p>
          <a:p>
            <a:r>
              <a:rPr lang="ro-RO" dirty="0"/>
              <a:t>Un obiect este caracterizat prin </a:t>
            </a:r>
            <a:r>
              <a:rPr lang="ro-RO" b="1" i="1" dirty="0">
                <a:solidFill>
                  <a:srgbClr val="FF0000"/>
                </a:solidFill>
              </a:rPr>
              <a:t>date</a:t>
            </a:r>
            <a:r>
              <a:rPr lang="ro-RO" dirty="0"/>
              <a:t> și </a:t>
            </a:r>
            <a:r>
              <a:rPr lang="ro-RO" b="1" i="1" dirty="0">
                <a:solidFill>
                  <a:srgbClr val="FF0000"/>
                </a:solidFill>
              </a:rPr>
              <a:t>comportament</a:t>
            </a:r>
          </a:p>
          <a:p>
            <a:r>
              <a:rPr lang="ro-RO" dirty="0">
                <a:solidFill>
                  <a:schemeClr val="tx1"/>
                </a:solidFill>
              </a:rPr>
              <a:t>Ex de o</a:t>
            </a:r>
            <a:r>
              <a:rPr lang="en-US" dirty="0" err="1">
                <a:solidFill>
                  <a:schemeClr val="tx1"/>
                </a:solidFill>
              </a:rPr>
              <a:t>biect</a:t>
            </a:r>
            <a:r>
              <a:rPr lang="en-US" dirty="0">
                <a:solidFill>
                  <a:schemeClr val="tx1"/>
                </a:solidFill>
              </a:rPr>
              <a:t>: o minge</a:t>
            </a:r>
          </a:p>
          <a:p>
            <a:r>
              <a:rPr lang="fr-FR" dirty="0" err="1"/>
              <a:t>Din</a:t>
            </a:r>
            <a:r>
              <a:rPr lang="fr-FR" dirty="0"/>
              <a:t> </a:t>
            </a:r>
            <a:r>
              <a:rPr lang="fr-FR" dirty="0" err="1"/>
              <a:t>punctul</a:t>
            </a:r>
            <a:r>
              <a:rPr lang="fr-FR" dirty="0"/>
              <a:t> de </a:t>
            </a:r>
            <a:r>
              <a:rPr lang="fr-FR" dirty="0" err="1"/>
              <a:t>vedere</a:t>
            </a:r>
            <a:r>
              <a:rPr lang="fr-FR" dirty="0"/>
              <a:t> al </a:t>
            </a:r>
            <a:r>
              <a:rPr lang="fr-FR" dirty="0" err="1"/>
              <a:t>programării</a:t>
            </a:r>
            <a:r>
              <a:rPr lang="fr-FR" dirty="0"/>
              <a:t>, un </a:t>
            </a:r>
            <a:r>
              <a:rPr lang="fr-FR" b="1" i="1" dirty="0" err="1">
                <a:solidFill>
                  <a:srgbClr val="FF0000"/>
                </a:solidFill>
              </a:rPr>
              <a:t>obiect</a:t>
            </a:r>
            <a:r>
              <a:rPr lang="fr-FR" dirty="0"/>
              <a:t> este o </a:t>
            </a:r>
            <a:r>
              <a:rPr lang="fr-FR" dirty="0" err="1"/>
              <a:t>reprezentare</a:t>
            </a:r>
            <a:r>
              <a:rPr lang="fr-FR" dirty="0"/>
              <a:t> </a:t>
            </a:r>
            <a:r>
              <a:rPr lang="fr-FR" dirty="0" err="1"/>
              <a:t>în</a:t>
            </a:r>
            <a:r>
              <a:rPr lang="fr-FR" dirty="0"/>
              <a:t> </a:t>
            </a:r>
            <a:r>
              <a:rPr lang="fr-FR" dirty="0" err="1"/>
              <a:t>memoria</a:t>
            </a:r>
            <a:r>
              <a:rPr lang="fr-FR" dirty="0"/>
              <a:t> </a:t>
            </a:r>
            <a:r>
              <a:rPr lang="fr-FR" dirty="0" err="1"/>
              <a:t>calculatorului</a:t>
            </a:r>
            <a:r>
              <a:rPr lang="fr-FR" dirty="0"/>
              <a:t> a </a:t>
            </a:r>
            <a:r>
              <a:rPr lang="fr-FR" b="1" i="1" dirty="0" err="1">
                <a:solidFill>
                  <a:srgbClr val="FF0000"/>
                </a:solidFill>
              </a:rPr>
              <a:t>proprietăţilor</a:t>
            </a:r>
            <a:r>
              <a:rPr lang="fr-FR" dirty="0"/>
              <a:t> </a:t>
            </a:r>
            <a:r>
              <a:rPr lang="fr-FR" dirty="0" err="1"/>
              <a:t>şi</a:t>
            </a:r>
            <a:r>
              <a:rPr lang="fr-FR" dirty="0"/>
              <a:t> </a:t>
            </a:r>
            <a:r>
              <a:rPr lang="fr-FR" b="1" i="1" dirty="0" err="1">
                <a:solidFill>
                  <a:srgbClr val="FF0000"/>
                </a:solidFill>
              </a:rPr>
              <a:t>comportamentului</a:t>
            </a:r>
            <a:r>
              <a:rPr lang="fr-FR" b="1" i="1" dirty="0">
                <a:solidFill>
                  <a:srgbClr val="FF0000"/>
                </a:solidFill>
              </a:rPr>
              <a:t>.</a:t>
            </a:r>
          </a:p>
          <a:p>
            <a:r>
              <a:rPr lang="ro-RO" b="1" dirty="0"/>
              <a:t>Încapsularea </a:t>
            </a:r>
            <a:r>
              <a:rPr lang="ro-RO" b="1" dirty="0" err="1"/>
              <a:t>informaţiilor</a:t>
            </a:r>
            <a:r>
              <a:rPr lang="ro-RO" b="1" dirty="0"/>
              <a:t> în interiorul obiectelor</a:t>
            </a:r>
            <a:endParaRPr lang="en-US" b="1" dirty="0"/>
          </a:p>
          <a:p>
            <a:r>
              <a:rPr lang="fr-FR" b="1" i="1" dirty="0" err="1"/>
              <a:t>procesul</a:t>
            </a:r>
            <a:r>
              <a:rPr lang="fr-FR" b="1" i="1" dirty="0"/>
              <a:t> de </a:t>
            </a:r>
            <a:r>
              <a:rPr lang="fr-FR" b="1" i="1" dirty="0" err="1">
                <a:solidFill>
                  <a:srgbClr val="FF0000"/>
                </a:solidFill>
              </a:rPr>
              <a:t>încapsulare</a:t>
            </a:r>
            <a:r>
              <a:rPr lang="fr-FR" b="1" dirty="0"/>
              <a:t> este </a:t>
            </a:r>
            <a:r>
              <a:rPr lang="fr-FR" b="1" dirty="0" err="1"/>
              <a:t>procesul</a:t>
            </a:r>
            <a:r>
              <a:rPr lang="fr-FR" b="1" dirty="0"/>
              <a:t> de </a:t>
            </a:r>
            <a:r>
              <a:rPr lang="fr-FR" b="1" dirty="0" err="1"/>
              <a:t>ascundere</a:t>
            </a:r>
            <a:r>
              <a:rPr lang="fr-FR" b="1" dirty="0"/>
              <a:t> a </a:t>
            </a:r>
            <a:r>
              <a:rPr lang="fr-FR" b="1" dirty="0" err="1"/>
              <a:t>detaliilor</a:t>
            </a:r>
            <a:r>
              <a:rPr lang="fr-FR" b="1" dirty="0"/>
              <a:t> </a:t>
            </a:r>
            <a:r>
              <a:rPr lang="fr-FR" b="1" dirty="0" err="1"/>
              <a:t>neimportante</a:t>
            </a:r>
            <a:r>
              <a:rPr lang="fr-FR" b="1" dirty="0"/>
              <a:t> </a:t>
            </a:r>
            <a:r>
              <a:rPr lang="fr-FR" b="1" dirty="0" err="1"/>
              <a:t>sau</a:t>
            </a:r>
            <a:r>
              <a:rPr lang="fr-FR" b="1" dirty="0"/>
              <a:t> </a:t>
            </a:r>
          </a:p>
          <a:p>
            <a:r>
              <a:rPr lang="fr-FR" b="1" dirty="0" err="1"/>
              <a:t>sensibile</a:t>
            </a:r>
            <a:r>
              <a:rPr lang="fr-FR" b="1" dirty="0"/>
              <a:t> de </a:t>
            </a:r>
            <a:r>
              <a:rPr lang="fr-FR" b="1" dirty="0" err="1"/>
              <a:t>construcţie</a:t>
            </a:r>
            <a:r>
              <a:rPr lang="fr-FR" b="1" dirty="0"/>
              <a:t> a </a:t>
            </a:r>
            <a:r>
              <a:rPr lang="fr-FR" b="1" dirty="0" err="1"/>
              <a:t>obiectului</a:t>
            </a:r>
            <a:r>
              <a:rPr lang="fr-FR" b="1" dirty="0"/>
              <a:t>.</a:t>
            </a:r>
            <a:endParaRPr lang="ro-RO" dirty="0"/>
          </a:p>
          <a:p>
            <a:endParaRPr lang="ro-RO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290" y="3911952"/>
            <a:ext cx="3076190" cy="2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42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/>
              <a:t>Clase de </a:t>
            </a:r>
            <a:r>
              <a:rPr lang="fr-FR" sz="4000" b="1" dirty="0" err="1"/>
              <a:t>obiecte</a:t>
            </a:r>
            <a:endParaRPr lang="ro-RO" sz="40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8933" y="2521578"/>
            <a:ext cx="6182363" cy="35082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597778"/>
            <a:ext cx="5706533" cy="298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12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1185010"/>
          </a:xfrm>
        </p:spPr>
        <p:txBody>
          <a:bodyPr>
            <a:normAutofit/>
          </a:bodyPr>
          <a:lstStyle/>
          <a:p>
            <a:r>
              <a:rPr lang="en-US" altLang="ro-RO" sz="4000" dirty="0"/>
              <a:t>O </a:t>
            </a:r>
            <a:r>
              <a:rPr lang="en-US" altLang="ro-RO" sz="4000" dirty="0" err="1"/>
              <a:t>vedere</a:t>
            </a:r>
            <a:r>
              <a:rPr lang="en-US" altLang="ro-RO" sz="4000" dirty="0"/>
              <a:t> la </a:t>
            </a:r>
            <a:r>
              <a:rPr lang="en-US" altLang="ro-RO" sz="4000" dirty="0" err="1"/>
              <a:t>nivel</a:t>
            </a:r>
            <a:r>
              <a:rPr lang="en-US" altLang="ro-RO" sz="4000" dirty="0"/>
              <a:t> </a:t>
            </a:r>
            <a:r>
              <a:rPr lang="en-US" altLang="ro-RO" sz="4000" dirty="0" err="1"/>
              <a:t>înalt</a:t>
            </a:r>
            <a:r>
              <a:rPr lang="en-US" altLang="ro-RO" sz="4000" dirty="0"/>
              <a:t> a </a:t>
            </a:r>
            <a:r>
              <a:rPr lang="en-US" altLang="ro-RO" sz="4000" dirty="0" err="1"/>
              <a:t>traducerii</a:t>
            </a:r>
            <a:r>
              <a:rPr lang="en-US" altLang="ro-RO" sz="4000" dirty="0"/>
              <a:t> / </a:t>
            </a:r>
            <a:r>
              <a:rPr lang="en-US" altLang="ro-RO" sz="4000" dirty="0" err="1"/>
              <a:t>executării</a:t>
            </a:r>
            <a:r>
              <a:rPr lang="en-US" altLang="ro-RO" sz="4000" dirty="0"/>
              <a:t> </a:t>
            </a:r>
            <a:r>
              <a:rPr lang="en-US" altLang="ro-RO" sz="4000" dirty="0" err="1"/>
              <a:t>programelor</a:t>
            </a:r>
            <a:r>
              <a:rPr lang="en-US" altLang="ro-RO" sz="4000" dirty="0"/>
              <a:t> Java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3683000" y="2438400"/>
            <a:ext cx="3263900" cy="1843088"/>
            <a:chOff x="1360" y="1536"/>
            <a:chExt cx="2056" cy="1161"/>
          </a:xfrm>
        </p:grpSpPr>
        <p:sp>
          <p:nvSpPr>
            <p:cNvPr id="17419" name="AutoShape 4"/>
            <p:cNvSpPr>
              <a:spLocks noChangeArrowheads="1"/>
            </p:cNvSpPr>
            <p:nvPr/>
          </p:nvSpPr>
          <p:spPr bwMode="auto">
            <a:xfrm>
              <a:off x="2117" y="1977"/>
              <a:ext cx="1152" cy="720"/>
            </a:xfrm>
            <a:prstGeom prst="irregularSeal1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7420" name="Text Box 5"/>
            <p:cNvSpPr txBox="1">
              <a:spLocks noChangeArrowheads="1"/>
            </p:cNvSpPr>
            <p:nvPr/>
          </p:nvSpPr>
          <p:spPr bwMode="auto">
            <a:xfrm>
              <a:off x="2144" y="1536"/>
              <a:ext cx="127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2000"/>
                <a:t>Java compiler (javac)</a:t>
              </a:r>
            </a:p>
          </p:txBody>
        </p:sp>
        <p:sp>
          <p:nvSpPr>
            <p:cNvPr id="17421" name="Line 6"/>
            <p:cNvSpPr>
              <a:spLocks noChangeShapeType="1"/>
            </p:cNvSpPr>
            <p:nvPr/>
          </p:nvSpPr>
          <p:spPr bwMode="auto">
            <a:xfrm>
              <a:off x="1360" y="2280"/>
              <a:ext cx="7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1905000" y="2362200"/>
            <a:ext cx="1968500" cy="2001838"/>
            <a:chOff x="240" y="1488"/>
            <a:chExt cx="1240" cy="1261"/>
          </a:xfrm>
        </p:grpSpPr>
        <p:sp>
          <p:nvSpPr>
            <p:cNvPr id="17417" name="Rectangle 3"/>
            <p:cNvSpPr>
              <a:spLocks noChangeArrowheads="1"/>
            </p:cNvSpPr>
            <p:nvPr/>
          </p:nvSpPr>
          <p:spPr bwMode="auto">
            <a:xfrm>
              <a:off x="243" y="1722"/>
              <a:ext cx="1103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70000"/>
                </a:spcBef>
              </a:pPr>
              <a:r>
                <a:rPr lang="en-CA" altLang="ro-RO" sz="2000" b="1">
                  <a:latin typeface="Times New Roman" panose="02020603050405020304" pitchFamily="18" charset="0"/>
                </a:rPr>
                <a:t>Java program</a:t>
              </a:r>
            </a:p>
          </p:txBody>
        </p:sp>
        <p:sp>
          <p:nvSpPr>
            <p:cNvPr id="17418" name="Text Box 9"/>
            <p:cNvSpPr txBox="1">
              <a:spLocks noChangeArrowheads="1"/>
            </p:cNvSpPr>
            <p:nvPr/>
          </p:nvSpPr>
          <p:spPr bwMode="auto">
            <a:xfrm>
              <a:off x="240" y="1488"/>
              <a:ext cx="1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1800"/>
                <a:t>Filename.java</a:t>
              </a:r>
            </a:p>
          </p:txBody>
        </p:sp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6756400" y="2374900"/>
            <a:ext cx="3340100" cy="2027238"/>
            <a:chOff x="3296" y="1496"/>
            <a:chExt cx="2104" cy="1277"/>
          </a:xfrm>
        </p:grpSpPr>
        <p:sp>
          <p:nvSpPr>
            <p:cNvPr id="17414" name="Line 11"/>
            <p:cNvSpPr>
              <a:spLocks noChangeShapeType="1"/>
            </p:cNvSpPr>
            <p:nvPr/>
          </p:nvSpPr>
          <p:spPr bwMode="auto">
            <a:xfrm>
              <a:off x="3296" y="2264"/>
              <a:ext cx="8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415" name="Rectangle 3"/>
            <p:cNvSpPr>
              <a:spLocks noChangeArrowheads="1"/>
            </p:cNvSpPr>
            <p:nvPr/>
          </p:nvSpPr>
          <p:spPr bwMode="auto">
            <a:xfrm>
              <a:off x="4163" y="1746"/>
              <a:ext cx="1103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70000"/>
                </a:spcBef>
              </a:pPr>
              <a:r>
                <a:rPr lang="en-US" altLang="ro-RO" sz="1800" b="1"/>
                <a:t>Java bytecode (generic binary)</a:t>
              </a:r>
              <a:endParaRPr lang="en-CA" altLang="ro-RO" sz="1800" b="1"/>
            </a:p>
          </p:txBody>
        </p:sp>
        <p:sp>
          <p:nvSpPr>
            <p:cNvPr id="17416" name="Text Box 13"/>
            <p:cNvSpPr txBox="1">
              <a:spLocks noChangeArrowheads="1"/>
            </p:cNvSpPr>
            <p:nvPr/>
          </p:nvSpPr>
          <p:spPr bwMode="auto">
            <a:xfrm>
              <a:off x="4160" y="1496"/>
              <a:ext cx="1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1800"/>
                <a:t>Filename.class</a:t>
              </a:r>
            </a:p>
          </p:txBody>
        </p:sp>
      </p:grp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740929" y="1709407"/>
            <a:ext cx="2743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o-RO" sz="2000" b="1" dirty="0"/>
              <a:t>Etapa1: Compilation</a:t>
            </a:r>
          </a:p>
        </p:txBody>
      </p:sp>
    </p:spTree>
    <p:extLst>
      <p:ext uri="{BB962C8B-B14F-4D97-AF65-F5344CB8AC3E}">
        <p14:creationId xmlns:p14="http://schemas.microsoft.com/office/powerpoint/2010/main" val="254601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1108809"/>
          </a:xfrm>
        </p:spPr>
        <p:txBody>
          <a:bodyPr>
            <a:normAutofit fontScale="90000"/>
          </a:bodyPr>
          <a:lstStyle/>
          <a:p>
            <a:r>
              <a:rPr lang="en-US" altLang="ro-RO" sz="4000" dirty="0"/>
              <a:t>O </a:t>
            </a:r>
            <a:r>
              <a:rPr lang="en-US" altLang="ro-RO" sz="4000" dirty="0" err="1"/>
              <a:t>vedere</a:t>
            </a:r>
            <a:r>
              <a:rPr lang="en-US" altLang="ro-RO" sz="4000" dirty="0"/>
              <a:t> la </a:t>
            </a:r>
            <a:r>
              <a:rPr lang="en-US" altLang="ro-RO" sz="4000" dirty="0" err="1"/>
              <a:t>nivel</a:t>
            </a:r>
            <a:r>
              <a:rPr lang="en-US" altLang="ro-RO" sz="4000" dirty="0"/>
              <a:t> </a:t>
            </a:r>
            <a:r>
              <a:rPr lang="en-US" altLang="ro-RO" sz="4000" dirty="0" err="1"/>
              <a:t>înalt</a:t>
            </a:r>
            <a:r>
              <a:rPr lang="en-US" altLang="ro-RO" sz="4000" dirty="0"/>
              <a:t> a </a:t>
            </a:r>
            <a:r>
              <a:rPr lang="en-US" altLang="ro-RO" sz="4000" dirty="0" err="1"/>
              <a:t>traducerii</a:t>
            </a:r>
            <a:r>
              <a:rPr lang="en-US" altLang="ro-RO" sz="4000" dirty="0"/>
              <a:t> / </a:t>
            </a:r>
            <a:r>
              <a:rPr lang="en-US" altLang="ro-RO" sz="4000" dirty="0" err="1"/>
              <a:t>executării</a:t>
            </a:r>
            <a:r>
              <a:rPr lang="en-US" altLang="ro-RO" sz="4000" dirty="0"/>
              <a:t> </a:t>
            </a:r>
            <a:r>
              <a:rPr lang="en-US" altLang="ro-RO" sz="4000" dirty="0" err="1"/>
              <a:t>programelor</a:t>
            </a:r>
            <a:r>
              <a:rPr lang="en-US" altLang="ro-RO" sz="4000" dirty="0"/>
              <a:t> Java (2)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683000" y="3805648"/>
            <a:ext cx="3263900" cy="1843088"/>
            <a:chOff x="1360" y="1536"/>
            <a:chExt cx="2056" cy="1161"/>
          </a:xfrm>
        </p:grpSpPr>
        <p:sp>
          <p:nvSpPr>
            <p:cNvPr id="18449" name="AutoShape 4"/>
            <p:cNvSpPr>
              <a:spLocks noChangeArrowheads="1"/>
            </p:cNvSpPr>
            <p:nvPr/>
          </p:nvSpPr>
          <p:spPr bwMode="auto">
            <a:xfrm>
              <a:off x="2117" y="1977"/>
              <a:ext cx="1152" cy="720"/>
            </a:xfrm>
            <a:prstGeom prst="irregularSeal1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ro-RO" altLang="ro-RO"/>
            </a:p>
          </p:txBody>
        </p:sp>
        <p:sp>
          <p:nvSpPr>
            <p:cNvPr id="18450" name="Text Box 5"/>
            <p:cNvSpPr txBox="1">
              <a:spLocks noChangeArrowheads="1"/>
            </p:cNvSpPr>
            <p:nvPr/>
          </p:nvSpPr>
          <p:spPr bwMode="auto">
            <a:xfrm>
              <a:off x="2144" y="1536"/>
              <a:ext cx="127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2000"/>
                <a:t>Java interpreter (java)</a:t>
              </a:r>
            </a:p>
          </p:txBody>
        </p:sp>
        <p:sp>
          <p:nvSpPr>
            <p:cNvPr id="18451" name="Line 6"/>
            <p:cNvSpPr>
              <a:spLocks noChangeShapeType="1"/>
            </p:cNvSpPr>
            <p:nvPr/>
          </p:nvSpPr>
          <p:spPr bwMode="auto">
            <a:xfrm>
              <a:off x="1360" y="2280"/>
              <a:ext cx="7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18436" name="Group 7"/>
          <p:cNvGrpSpPr>
            <a:grpSpLocks/>
          </p:cNvGrpSpPr>
          <p:nvPr/>
        </p:nvGrpSpPr>
        <p:grpSpPr bwMode="auto">
          <a:xfrm>
            <a:off x="1905000" y="3729448"/>
            <a:ext cx="1968500" cy="2001838"/>
            <a:chOff x="240" y="1488"/>
            <a:chExt cx="1240" cy="1261"/>
          </a:xfrm>
        </p:grpSpPr>
        <p:sp>
          <p:nvSpPr>
            <p:cNvPr id="18447" name="Rectangle 3"/>
            <p:cNvSpPr>
              <a:spLocks noChangeArrowheads="1"/>
            </p:cNvSpPr>
            <p:nvPr/>
          </p:nvSpPr>
          <p:spPr bwMode="auto">
            <a:xfrm>
              <a:off x="243" y="1722"/>
              <a:ext cx="1103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70000"/>
                </a:spcBef>
              </a:pPr>
              <a:r>
                <a:rPr lang="en-US" altLang="ro-RO" sz="1800" b="1" dirty="0"/>
                <a:t>Java bytecode (generic binary)</a:t>
              </a:r>
              <a:endParaRPr lang="en-CA" altLang="ro-RO" sz="1800" b="1" dirty="0"/>
            </a:p>
          </p:txBody>
        </p:sp>
        <p:sp>
          <p:nvSpPr>
            <p:cNvPr id="18448" name="Text Box 9"/>
            <p:cNvSpPr txBox="1">
              <a:spLocks noChangeArrowheads="1"/>
            </p:cNvSpPr>
            <p:nvPr/>
          </p:nvSpPr>
          <p:spPr bwMode="auto">
            <a:xfrm>
              <a:off x="240" y="1488"/>
              <a:ext cx="1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ro-RO" sz="1800"/>
                <a:t>Filename.class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324600" y="2891248"/>
            <a:ext cx="4343400" cy="2876550"/>
            <a:chOff x="3024" y="960"/>
            <a:chExt cx="2736" cy="1812"/>
          </a:xfrm>
        </p:grpSpPr>
        <p:grpSp>
          <p:nvGrpSpPr>
            <p:cNvPr id="18438" name="Group 11"/>
            <p:cNvGrpSpPr>
              <a:grpSpLocks/>
            </p:cNvGrpSpPr>
            <p:nvPr/>
          </p:nvGrpSpPr>
          <p:grpSpPr bwMode="auto">
            <a:xfrm>
              <a:off x="3064" y="960"/>
              <a:ext cx="2696" cy="1216"/>
              <a:chOff x="3064" y="960"/>
              <a:chExt cx="2696" cy="1216"/>
            </a:xfrm>
          </p:grpSpPr>
          <p:sp>
            <p:nvSpPr>
              <p:cNvPr id="18445" name="Line 12"/>
              <p:cNvSpPr>
                <a:spLocks noChangeShapeType="1"/>
              </p:cNvSpPr>
              <p:nvPr/>
            </p:nvSpPr>
            <p:spPr bwMode="auto">
              <a:xfrm flipV="1">
                <a:off x="3064" y="1208"/>
                <a:ext cx="1192" cy="9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446" name="Text Box 13"/>
              <p:cNvSpPr txBox="1">
                <a:spLocks noChangeArrowheads="1"/>
              </p:cNvSpPr>
              <p:nvPr/>
            </p:nvSpPr>
            <p:spPr bwMode="auto">
              <a:xfrm>
                <a:off x="4248" y="960"/>
                <a:ext cx="151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ro-RO" sz="1800"/>
                  <a:t>Machine language instruction (UNIX)</a:t>
                </a:r>
              </a:p>
            </p:txBody>
          </p:sp>
        </p:grpSp>
        <p:grpSp>
          <p:nvGrpSpPr>
            <p:cNvPr id="18439" name="Group 14"/>
            <p:cNvGrpSpPr>
              <a:grpSpLocks/>
            </p:cNvGrpSpPr>
            <p:nvPr/>
          </p:nvGrpSpPr>
          <p:grpSpPr bwMode="auto">
            <a:xfrm>
              <a:off x="3120" y="1608"/>
              <a:ext cx="2640" cy="728"/>
              <a:chOff x="3120" y="1608"/>
              <a:chExt cx="2640" cy="728"/>
            </a:xfrm>
          </p:grpSpPr>
          <p:sp>
            <p:nvSpPr>
              <p:cNvPr id="18443" name="Line 15"/>
              <p:cNvSpPr>
                <a:spLocks noChangeShapeType="1"/>
              </p:cNvSpPr>
              <p:nvPr/>
            </p:nvSpPr>
            <p:spPr bwMode="auto">
              <a:xfrm flipV="1">
                <a:off x="3120" y="1856"/>
                <a:ext cx="1136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444" name="Text Box 16"/>
              <p:cNvSpPr txBox="1">
                <a:spLocks noChangeArrowheads="1"/>
              </p:cNvSpPr>
              <p:nvPr/>
            </p:nvSpPr>
            <p:spPr bwMode="auto">
              <a:xfrm>
                <a:off x="4248" y="1608"/>
                <a:ext cx="151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ro-RO" sz="1800"/>
                  <a:t>Machine language instruction (Windows)</a:t>
                </a:r>
              </a:p>
            </p:txBody>
          </p:sp>
        </p:grpSp>
        <p:grpSp>
          <p:nvGrpSpPr>
            <p:cNvPr id="18440" name="Group 17"/>
            <p:cNvGrpSpPr>
              <a:grpSpLocks/>
            </p:cNvGrpSpPr>
            <p:nvPr/>
          </p:nvGrpSpPr>
          <p:grpSpPr bwMode="auto">
            <a:xfrm>
              <a:off x="3024" y="2368"/>
              <a:ext cx="2736" cy="404"/>
              <a:chOff x="3024" y="2368"/>
              <a:chExt cx="2736" cy="404"/>
            </a:xfrm>
          </p:grpSpPr>
          <p:sp>
            <p:nvSpPr>
              <p:cNvPr id="18441" name="Line 18"/>
              <p:cNvSpPr>
                <a:spLocks noChangeShapeType="1"/>
              </p:cNvSpPr>
              <p:nvPr/>
            </p:nvSpPr>
            <p:spPr bwMode="auto">
              <a:xfrm>
                <a:off x="3024" y="2416"/>
                <a:ext cx="1232" cy="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8442" name="Text Box 19"/>
              <p:cNvSpPr txBox="1">
                <a:spLocks noChangeArrowheads="1"/>
              </p:cNvSpPr>
              <p:nvPr/>
            </p:nvSpPr>
            <p:spPr bwMode="auto">
              <a:xfrm>
                <a:off x="4248" y="2368"/>
                <a:ext cx="151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ro-RO" sz="1800"/>
                  <a:t>Machine language instruction (Apple)</a:t>
                </a:r>
              </a:p>
            </p:txBody>
          </p:sp>
        </p:grpSp>
      </p:grp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1727200" y="2345706"/>
            <a:ext cx="6273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o-RO" sz="2000" b="1" dirty="0" err="1"/>
              <a:t>Etapa</a:t>
            </a:r>
            <a:r>
              <a:rPr lang="en-US" altLang="ro-RO" sz="2000" b="1" dirty="0"/>
              <a:t> 2: </a:t>
            </a:r>
            <a:r>
              <a:rPr lang="en-US" altLang="ro-RO" sz="2000" b="1" dirty="0" err="1"/>
              <a:t>Interpretarea</a:t>
            </a:r>
            <a:r>
              <a:rPr lang="en-US" altLang="ro-RO" sz="2000" b="1" dirty="0"/>
              <a:t> </a:t>
            </a:r>
            <a:r>
              <a:rPr lang="en-US" altLang="ro-RO" sz="2000" b="1" dirty="0" err="1"/>
              <a:t>și</a:t>
            </a:r>
            <a:r>
              <a:rPr lang="en-US" altLang="ro-RO" sz="2000" b="1" dirty="0"/>
              <a:t> </a:t>
            </a:r>
            <a:r>
              <a:rPr lang="en-US" altLang="ro-RO" sz="2000" b="1" dirty="0" err="1"/>
              <a:t>executarea</a:t>
            </a:r>
            <a:r>
              <a:rPr lang="en-US" altLang="ro-RO" sz="2000" b="1" dirty="0"/>
              <a:t> byte code</a:t>
            </a:r>
          </a:p>
        </p:txBody>
      </p:sp>
    </p:spTree>
    <p:extLst>
      <p:ext uri="{BB962C8B-B14F-4D97-AF65-F5344CB8AC3E}">
        <p14:creationId xmlns:p14="http://schemas.microsoft.com/office/powerpoint/2010/main" val="278138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/>
              <a:t>Ce </a:t>
            </a:r>
            <a:r>
              <a:rPr lang="en-US" altLang="ro-RO" dirty="0" err="1"/>
              <a:t>versiune</a:t>
            </a:r>
            <a:r>
              <a:rPr lang="en-US" altLang="ro-RO" dirty="0"/>
              <a:t> Java?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tabLst>
                <a:tab pos="622300" algn="l"/>
              </a:tabLst>
            </a:pPr>
            <a:r>
              <a:rPr lang="en-US" altLang="ro-RO" sz="2800" dirty="0"/>
              <a:t>Java </a:t>
            </a:r>
            <a:r>
              <a:rPr lang="ro-RO" altLang="ro-RO" sz="2800" dirty="0" err="1"/>
              <a:t>version</a:t>
            </a:r>
            <a:r>
              <a:rPr lang="en-US" altLang="ro-RO" sz="2800" dirty="0"/>
              <a:t>+ JDK (Java Development Kit), Standard Edition include:  </a:t>
            </a:r>
          </a:p>
          <a:p>
            <a:pPr marL="622300" lvl="1" indent="-241300">
              <a:tabLst>
                <a:tab pos="622300" algn="l"/>
              </a:tabLst>
            </a:pPr>
            <a:r>
              <a:rPr lang="en-US" altLang="ro-RO" sz="2400" dirty="0"/>
              <a:t>J</a:t>
            </a:r>
            <a:r>
              <a:rPr lang="en-US" altLang="ro-RO" sz="2400" i="1" u="sng" dirty="0"/>
              <a:t>D</a:t>
            </a:r>
            <a:r>
              <a:rPr lang="en-US" altLang="ro-RO" sz="2400" dirty="0"/>
              <a:t>K (Java development kit) – </a:t>
            </a:r>
            <a:r>
              <a:rPr lang="en-US" altLang="ro-RO" sz="2400" dirty="0" err="1"/>
              <a:t>pentru</a:t>
            </a:r>
            <a:r>
              <a:rPr lang="en-US" altLang="ro-RO" sz="2400" dirty="0"/>
              <a:t> </a:t>
            </a:r>
            <a:r>
              <a:rPr lang="en-US" altLang="ro-RO" sz="2400" i="1" dirty="0" err="1"/>
              <a:t>dezvoltare</a:t>
            </a:r>
            <a:r>
              <a:rPr lang="en-US" altLang="ro-RO" sz="2400" i="1" dirty="0"/>
              <a:t> </a:t>
            </a:r>
            <a:r>
              <a:rPr lang="en-US" altLang="ro-RO" sz="2400" i="1" dirty="0" err="1"/>
              <a:t>programe</a:t>
            </a:r>
            <a:r>
              <a:rPr lang="en-US" altLang="ro-RO" sz="2400" i="1" dirty="0"/>
              <a:t> </a:t>
            </a:r>
            <a:r>
              <a:rPr lang="en-US" altLang="ro-RO" sz="2400" dirty="0"/>
              <a:t>Java.</a:t>
            </a:r>
          </a:p>
          <a:p>
            <a:pPr marL="622300" lvl="1" indent="-241300">
              <a:tabLst>
                <a:tab pos="622300" algn="l"/>
              </a:tabLst>
            </a:pPr>
            <a:r>
              <a:rPr lang="en-US" altLang="ro-RO" sz="2400" dirty="0"/>
              <a:t>J</a:t>
            </a:r>
            <a:r>
              <a:rPr lang="en-US" altLang="ro-RO" sz="2400" i="1" u="sng" dirty="0"/>
              <a:t>R</a:t>
            </a:r>
            <a:r>
              <a:rPr lang="en-US" altLang="ro-RO" sz="2400" dirty="0"/>
              <a:t>E (Java Runtime environment) – </a:t>
            </a:r>
            <a:r>
              <a:rPr lang="en-US" altLang="ro-RO" sz="2400" dirty="0" err="1"/>
              <a:t>doar</a:t>
            </a:r>
            <a:r>
              <a:rPr lang="en-US" altLang="ro-RO" sz="2400" dirty="0"/>
              <a:t> </a:t>
            </a:r>
            <a:r>
              <a:rPr lang="en-US" altLang="ro-RO" sz="2400" dirty="0" err="1"/>
              <a:t>pentru</a:t>
            </a:r>
            <a:r>
              <a:rPr lang="en-US" altLang="ro-RO" sz="2400" dirty="0"/>
              <a:t> </a:t>
            </a:r>
            <a:r>
              <a:rPr lang="en-US" altLang="ro-RO" sz="2400" dirty="0" err="1"/>
              <a:t>execu</a:t>
            </a:r>
            <a:r>
              <a:rPr lang="ro-RO" altLang="ro-RO" sz="2400" dirty="0"/>
              <a:t>ție </a:t>
            </a:r>
            <a:r>
              <a:rPr lang="en-US" altLang="ro-RO" sz="2400" i="1" dirty="0"/>
              <a:t>running</a:t>
            </a:r>
            <a:r>
              <a:rPr lang="en-US" altLang="ro-RO" sz="2400" dirty="0"/>
              <a:t> p</a:t>
            </a:r>
            <a:r>
              <a:rPr lang="ro-RO" altLang="ro-RO" sz="2400" dirty="0" err="1"/>
              <a:t>rograme</a:t>
            </a:r>
            <a:r>
              <a:rPr lang="en-US" altLang="ro-RO" sz="2400" dirty="0"/>
              <a:t> Java.</a:t>
            </a:r>
          </a:p>
          <a:p>
            <a:pPr marL="892175" lvl="2" indent="-90488">
              <a:tabLst>
                <a:tab pos="622300" algn="l"/>
              </a:tabLst>
            </a:pPr>
            <a:r>
              <a:rPr lang="en-US" altLang="ro-RO" sz="1800" dirty="0"/>
              <a:t>Java Plug-in – </a:t>
            </a:r>
            <a:r>
              <a:rPr lang="ro-RO" altLang="ro-RO" sz="1800" dirty="0"/>
              <a:t>o versiune specială a </a:t>
            </a:r>
            <a:r>
              <a:rPr lang="en-US" altLang="ro-RO" sz="1800" dirty="0"/>
              <a:t>JRE </a:t>
            </a:r>
            <a:r>
              <a:rPr lang="en-US" altLang="ro-RO" sz="1800" dirty="0" err="1"/>
              <a:t>conceput</a:t>
            </a:r>
            <a:r>
              <a:rPr lang="ro-RO" altLang="ro-RO" sz="1800" dirty="0"/>
              <a:t>ă</a:t>
            </a:r>
            <a:r>
              <a:rPr lang="en-US" altLang="ro-RO" sz="1800" dirty="0"/>
              <a:t> </a:t>
            </a:r>
            <a:r>
              <a:rPr lang="en-US" altLang="ro-RO" sz="1800" dirty="0" err="1"/>
              <a:t>pentru</a:t>
            </a:r>
            <a:r>
              <a:rPr lang="en-US" altLang="ro-RO" sz="1800" dirty="0"/>
              <a:t> a </a:t>
            </a:r>
            <a:r>
              <a:rPr lang="en-US" altLang="ro-RO" sz="1800" dirty="0" err="1"/>
              <a:t>rula</a:t>
            </a:r>
            <a:r>
              <a:rPr lang="en-US" altLang="ro-RO" sz="1800" dirty="0"/>
              <a:t> </a:t>
            </a:r>
            <a:r>
              <a:rPr lang="en-US" altLang="ro-RO" sz="1800" dirty="0" err="1"/>
              <a:t>prin</a:t>
            </a:r>
            <a:r>
              <a:rPr lang="en-US" altLang="ro-RO" sz="1800" dirty="0"/>
              <a:t> </a:t>
            </a:r>
            <a:r>
              <a:rPr lang="en-US" altLang="ro-RO" sz="1800" dirty="0" err="1"/>
              <a:t>intermediul</a:t>
            </a:r>
            <a:r>
              <a:rPr lang="en-US" altLang="ro-RO" sz="1800" dirty="0"/>
              <a:t> </a:t>
            </a:r>
            <a:r>
              <a:rPr lang="en-US" altLang="ro-RO" sz="1800" dirty="0" err="1"/>
              <a:t>browserelor</a:t>
            </a:r>
            <a:r>
              <a:rPr lang="en-US" altLang="ro-RO" sz="1800" dirty="0"/>
              <a:t> web.</a:t>
            </a:r>
            <a:endParaRPr lang="ro-RO" altLang="ro-RO" sz="1800" dirty="0"/>
          </a:p>
          <a:p>
            <a:pPr marL="892175" lvl="2" indent="-90488">
              <a:tabLst>
                <a:tab pos="622300" algn="l"/>
              </a:tabLst>
            </a:pPr>
            <a:endParaRPr lang="ro-RO" altLang="ro-RO" sz="1800" dirty="0"/>
          </a:p>
          <a:p>
            <a:pPr marL="892175" lvl="2" indent="-90488">
              <a:tabLst>
                <a:tab pos="622300" algn="l"/>
              </a:tabLst>
            </a:pPr>
            <a:endParaRPr lang="ro-RO" altLang="ro-RO" sz="1800" dirty="0"/>
          </a:p>
          <a:p>
            <a:pPr marL="892175" lvl="2" indent="-90488">
              <a:tabLst>
                <a:tab pos="622300" algn="l"/>
              </a:tabLst>
            </a:pPr>
            <a:r>
              <a:rPr lang="ro-RO" altLang="ro-RO" sz="1800" dirty="0"/>
              <a:t>Istoric versiuni Java:</a:t>
            </a:r>
          </a:p>
          <a:p>
            <a:pPr marL="892175" lvl="2" indent="-90488">
              <a:tabLst>
                <a:tab pos="622300" algn="l"/>
              </a:tabLst>
            </a:pPr>
            <a:r>
              <a:rPr lang="ro-RO" sz="1800" dirty="0">
                <a:hlinkClick r:id="rId2"/>
              </a:rPr>
              <a:t>Java </a:t>
            </a:r>
            <a:r>
              <a:rPr lang="ro-RO" sz="1800" dirty="0" err="1">
                <a:hlinkClick r:id="rId2"/>
              </a:rPr>
              <a:t>version</a:t>
            </a:r>
            <a:r>
              <a:rPr lang="ro-RO" sz="1800" dirty="0">
                <a:hlinkClick r:id="rId2"/>
              </a:rPr>
              <a:t> </a:t>
            </a:r>
            <a:r>
              <a:rPr lang="ro-RO" sz="1800" dirty="0" err="1">
                <a:hlinkClick r:id="rId2"/>
              </a:rPr>
              <a:t>history</a:t>
            </a:r>
            <a:r>
              <a:rPr lang="ro-RO" sz="1800" dirty="0">
                <a:hlinkClick r:id="rId2"/>
              </a:rPr>
              <a:t> - </a:t>
            </a:r>
            <a:r>
              <a:rPr lang="ro-RO" sz="1800" dirty="0" err="1">
                <a:hlinkClick r:id="rId2"/>
              </a:rPr>
              <a:t>Wikipedia</a:t>
            </a:r>
            <a:endParaRPr lang="en-US" altLang="ro-RO" sz="1800" dirty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899966" y="3857414"/>
            <a:ext cx="4897438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00" tIns="46800" rIns="936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ro-RO" sz="1600" dirty="0"/>
              <a:t>http://java.sun.com/javase/downloads/index.jsp</a:t>
            </a:r>
          </a:p>
        </p:txBody>
      </p:sp>
    </p:spTree>
    <p:extLst>
      <p:ext uri="{BB962C8B-B14F-4D97-AF65-F5344CB8AC3E}">
        <p14:creationId xmlns:p14="http://schemas.microsoft.com/office/powerpoint/2010/main" val="3733755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ro-RO" dirty="0" err="1"/>
              <a:t>Cel</a:t>
            </a:r>
            <a:r>
              <a:rPr lang="en-CA" altLang="ro-RO" dirty="0"/>
              <a:t> </a:t>
            </a:r>
            <a:r>
              <a:rPr lang="en-CA" altLang="ro-RO" dirty="0" err="1"/>
              <a:t>mai</a:t>
            </a:r>
            <a:r>
              <a:rPr lang="en-CA" altLang="ro-RO" dirty="0"/>
              <a:t> mic program Java </a:t>
            </a:r>
            <a:r>
              <a:rPr lang="en-CA" altLang="ro-RO" dirty="0" err="1"/>
              <a:t>compilabil</a:t>
            </a:r>
            <a:r>
              <a:rPr lang="en-CA" altLang="ro-RO" dirty="0"/>
              <a:t> </a:t>
            </a:r>
            <a:r>
              <a:rPr lang="en-CA" altLang="ro-RO" dirty="0" err="1"/>
              <a:t>și</a:t>
            </a:r>
            <a:r>
              <a:rPr lang="en-CA" altLang="ro-RO" dirty="0"/>
              <a:t> </a:t>
            </a:r>
            <a:r>
              <a:rPr lang="en-CA" altLang="ro-RO" dirty="0" err="1"/>
              <a:t>executabil</a:t>
            </a:r>
            <a:endParaRPr lang="en-CA" altLang="ro-RO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altLang="ro-RO" dirty="0" err="1"/>
              <a:t>Numele</a:t>
            </a:r>
            <a:r>
              <a:rPr lang="en-CA" altLang="ro-RO" dirty="0"/>
              <a:t> </a:t>
            </a:r>
            <a:r>
              <a:rPr lang="en-CA" altLang="ro-RO" dirty="0" err="1"/>
              <a:t>exemplului</a:t>
            </a:r>
            <a:r>
              <a:rPr lang="en-CA" altLang="ro-RO" dirty="0"/>
              <a:t> </a:t>
            </a:r>
            <a:r>
              <a:rPr lang="en-CA" altLang="ro-RO" dirty="0" err="1"/>
              <a:t>este</a:t>
            </a:r>
            <a:r>
              <a:rPr lang="en-CA" altLang="ro-RO" dirty="0"/>
              <a:t> :</a:t>
            </a:r>
            <a:r>
              <a:rPr lang="en-CA" altLang="ro-RO" dirty="0">
                <a:latin typeface="Arial" panose="020B0604020202020204" pitchFamily="34" charset="0"/>
              </a:rPr>
              <a:t> </a:t>
            </a:r>
            <a:r>
              <a:rPr lang="en-CA" altLang="ro-RO" dirty="0">
                <a:solidFill>
                  <a:srgbClr val="FF0000"/>
                </a:solidFill>
                <a:latin typeface="Arial" panose="020B0604020202020204" pitchFamily="34" charset="0"/>
              </a:rPr>
              <a:t>Smallest.java</a:t>
            </a:r>
            <a:r>
              <a:rPr lang="en-CA" altLang="ro-RO" dirty="0">
                <a:latin typeface="Arial" panose="020B0604020202020204" pitchFamily="34" charset="0"/>
              </a:rPr>
              <a:t> (</a:t>
            </a:r>
            <a:r>
              <a:rPr lang="en-CA" altLang="ro-RO" i="1" dirty="0" err="1">
                <a:latin typeface="Arial" panose="020B0604020202020204" pitchFamily="34" charset="0"/>
              </a:rPr>
              <a:t>Notă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importantă</a:t>
            </a:r>
            <a:r>
              <a:rPr lang="en-CA" altLang="ro-RO" i="1" dirty="0">
                <a:latin typeface="Arial" panose="020B0604020202020204" pitchFamily="34" charset="0"/>
              </a:rPr>
              <a:t>: </a:t>
            </a:r>
            <a:r>
              <a:rPr lang="en-CA" altLang="ro-RO" i="1" dirty="0" err="1">
                <a:latin typeface="Arial" panose="020B0604020202020204" pitchFamily="34" charset="0"/>
              </a:rPr>
              <a:t>numele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fișierului</a:t>
            </a:r>
            <a:r>
              <a:rPr lang="en-CA" altLang="ro-RO" i="1" dirty="0">
                <a:latin typeface="Arial" panose="020B0604020202020204" pitchFamily="34" charset="0"/>
              </a:rPr>
              <a:t> se </a:t>
            </a:r>
            <a:r>
              <a:rPr lang="en-CA" altLang="ro-RO" i="1" dirty="0" err="1">
                <a:latin typeface="Arial" panose="020B0604020202020204" pitchFamily="34" charset="0"/>
              </a:rPr>
              <a:t>potrivește</a:t>
            </a:r>
            <a:r>
              <a:rPr lang="en-CA" altLang="ro-RO" i="1" dirty="0">
                <a:latin typeface="Arial" panose="020B0604020202020204" pitchFamily="34" charset="0"/>
              </a:rPr>
              <a:t> cu </a:t>
            </a:r>
            <a:r>
              <a:rPr lang="en-CA" altLang="ro-RO" i="1" dirty="0" err="1">
                <a:latin typeface="Arial" panose="020B0604020202020204" pitchFamily="34" charset="0"/>
              </a:rPr>
              <a:t>cuvântul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după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cuvântul</a:t>
            </a:r>
            <a:r>
              <a:rPr lang="en-CA" altLang="ro-RO" i="1" dirty="0">
                <a:latin typeface="Arial" panose="020B0604020202020204" pitchFamily="34" charset="0"/>
              </a:rPr>
              <a:t> </a:t>
            </a:r>
            <a:r>
              <a:rPr lang="en-CA" altLang="ro-RO" i="1" dirty="0" err="1">
                <a:latin typeface="Arial" panose="020B0604020202020204" pitchFamily="34" charset="0"/>
              </a:rPr>
              <a:t>cheie</a:t>
            </a:r>
            <a:r>
              <a:rPr lang="en-CA" altLang="ro-RO" i="1" dirty="0">
                <a:latin typeface="Arial" panose="020B0604020202020204" pitchFamily="34" charset="0"/>
              </a:rPr>
              <a:t> „</a:t>
            </a:r>
            <a:r>
              <a:rPr lang="ro-RO" altLang="ro-RO" i="1" dirty="0" err="1">
                <a:latin typeface="Arial" panose="020B0604020202020204" pitchFamily="34" charset="0"/>
              </a:rPr>
              <a:t>class</a:t>
            </a:r>
            <a:r>
              <a:rPr lang="en-CA" altLang="ro-RO" i="1" dirty="0">
                <a:latin typeface="Arial" panose="020B0604020202020204" pitchFamily="34" charset="0"/>
              </a:rPr>
              <a:t>”</a:t>
            </a:r>
            <a:r>
              <a:rPr lang="en-CA" altLang="ro-RO" dirty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CA" altLang="ro-RO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public class </a:t>
            </a:r>
            <a:r>
              <a:rPr lang="en-CA" altLang="ro-RO" i="1" dirty="0">
                <a:solidFill>
                  <a:srgbClr val="FF0000"/>
                </a:solidFill>
                <a:latin typeface="Arial" panose="020B0604020202020204" pitchFamily="34" charset="0"/>
              </a:rPr>
              <a:t>Smallest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{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    public static void main (String[] </a:t>
            </a:r>
            <a:r>
              <a:rPr lang="en-CA" altLang="ro-RO" dirty="0" err="1">
                <a:latin typeface="Arial" panose="020B0604020202020204" pitchFamily="34" charset="0"/>
              </a:rPr>
              <a:t>args</a:t>
            </a:r>
            <a:r>
              <a:rPr lang="en-CA" altLang="ro-RO" dirty="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    {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    }</a:t>
            </a:r>
          </a:p>
          <a:p>
            <a:pPr marL="0" indent="0">
              <a:buNone/>
            </a:pPr>
            <a:r>
              <a:rPr lang="en-CA" altLang="ro-RO" dirty="0">
                <a:latin typeface="Arial" panose="020B0604020202020204" pitchFamily="34" charset="0"/>
              </a:rPr>
              <a:t>}</a:t>
            </a:r>
          </a:p>
          <a:p>
            <a:pPr marL="0" indent="0"/>
            <a:endParaRPr lang="en-CA" altLang="ro-RO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080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altLang="ro-RO" dirty="0"/>
              <a:t>Crearea, compilarea și rularea programelor Java</a:t>
            </a:r>
            <a:endParaRPr lang="en-CA" altLang="ro-RO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71814" y="2852738"/>
            <a:ext cx="2535237" cy="1231899"/>
            <a:chOff x="975" y="1797"/>
            <a:chExt cx="1597" cy="776"/>
          </a:xfrm>
        </p:grpSpPr>
        <p:sp>
          <p:nvSpPr>
            <p:cNvPr id="21529" name="AutoShape 4"/>
            <p:cNvSpPr>
              <a:spLocks noChangeArrowheads="1"/>
            </p:cNvSpPr>
            <p:nvPr/>
          </p:nvSpPr>
          <p:spPr bwMode="auto">
            <a:xfrm>
              <a:off x="1655" y="2063"/>
              <a:ext cx="862" cy="510"/>
            </a:xfrm>
            <a:prstGeom prst="irregularSeal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70000"/>
                </a:spcBef>
              </a:pPr>
              <a:r>
                <a:rPr lang="en-CA" altLang="ro-RO" sz="1800">
                  <a:latin typeface="Times New Roman" panose="02020603050405020304" pitchFamily="18" charset="0"/>
                </a:rPr>
                <a:t>javac</a:t>
              </a:r>
            </a:p>
          </p:txBody>
        </p:sp>
        <p:sp>
          <p:nvSpPr>
            <p:cNvPr id="21530" name="Text Box 5"/>
            <p:cNvSpPr txBox="1">
              <a:spLocks noChangeArrowheads="1"/>
            </p:cNvSpPr>
            <p:nvPr/>
          </p:nvSpPr>
          <p:spPr bwMode="auto">
            <a:xfrm>
              <a:off x="1565" y="1933"/>
              <a:ext cx="100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800">
                  <a:latin typeface="Times New Roman" panose="02020603050405020304" pitchFamily="18" charset="0"/>
                </a:rPr>
                <a:t>Java compiler</a:t>
              </a:r>
            </a:p>
          </p:txBody>
        </p:sp>
        <p:sp>
          <p:nvSpPr>
            <p:cNvPr id="21531" name="Line 6"/>
            <p:cNvSpPr>
              <a:spLocks noChangeShapeType="1"/>
            </p:cNvSpPr>
            <p:nvPr/>
          </p:nvSpPr>
          <p:spPr bwMode="auto">
            <a:xfrm>
              <a:off x="975" y="1797"/>
              <a:ext cx="68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029201" y="3789364"/>
            <a:ext cx="2595563" cy="1074737"/>
            <a:chOff x="2208" y="2387"/>
            <a:chExt cx="1635" cy="677"/>
          </a:xfrm>
        </p:grpSpPr>
        <p:sp>
          <p:nvSpPr>
            <p:cNvPr id="21525" name="Line 8"/>
            <p:cNvSpPr>
              <a:spLocks noChangeShapeType="1"/>
            </p:cNvSpPr>
            <p:nvPr/>
          </p:nvSpPr>
          <p:spPr bwMode="auto">
            <a:xfrm>
              <a:off x="2208" y="2400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  <p:grpSp>
          <p:nvGrpSpPr>
            <p:cNvPr id="21526" name="Group 9"/>
            <p:cNvGrpSpPr>
              <a:grpSpLocks/>
            </p:cNvGrpSpPr>
            <p:nvPr/>
          </p:nvGrpSpPr>
          <p:grpSpPr bwMode="auto">
            <a:xfrm>
              <a:off x="2777" y="2387"/>
              <a:ext cx="1066" cy="677"/>
              <a:chOff x="2777" y="2387"/>
              <a:chExt cx="1066" cy="677"/>
            </a:xfrm>
          </p:grpSpPr>
          <p:sp>
            <p:nvSpPr>
              <p:cNvPr id="21527" name="Text Box 10"/>
              <p:cNvSpPr txBox="1">
                <a:spLocks noChangeArrowheads="1"/>
              </p:cNvSpPr>
              <p:nvPr/>
            </p:nvSpPr>
            <p:spPr bwMode="auto">
              <a:xfrm>
                <a:off x="2789" y="2387"/>
                <a:ext cx="1054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CA" altLang="ro-RO" sz="1800"/>
                  <a:t>Java byte code</a:t>
                </a:r>
              </a:p>
            </p:txBody>
          </p:sp>
          <p:sp>
            <p:nvSpPr>
              <p:cNvPr id="21528" name="Rectangle 11"/>
              <p:cNvSpPr>
                <a:spLocks noChangeArrowheads="1"/>
              </p:cNvSpPr>
              <p:nvPr/>
            </p:nvSpPr>
            <p:spPr bwMode="auto">
              <a:xfrm>
                <a:off x="2777" y="2556"/>
                <a:ext cx="958" cy="5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3600" tIns="46800" rIns="93600" bIns="46800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75000"/>
                  </a:lnSpc>
                  <a:spcBef>
                    <a:spcPct val="75000"/>
                  </a:spcBef>
                </a:pPr>
                <a:r>
                  <a:rPr lang="en-CA" altLang="ro-RO" sz="1800" i="1" dirty="0" err="1">
                    <a:latin typeface="Times New Roman" panose="02020603050405020304" pitchFamily="18" charset="0"/>
                  </a:rPr>
                  <a:t>filename.class</a:t>
                </a:r>
                <a:r>
                  <a:rPr lang="en-CA" altLang="ro-RO" sz="1800" i="1" dirty="0">
                    <a:latin typeface="Times New Roman" panose="02020603050405020304" pitchFamily="18" charset="0"/>
                  </a:rPr>
                  <a:t> </a:t>
                </a:r>
              </a:p>
              <a:p>
                <a:pPr algn="ctr">
                  <a:lnSpc>
                    <a:spcPct val="75000"/>
                  </a:lnSpc>
                  <a:spcBef>
                    <a:spcPct val="75000"/>
                  </a:spcBef>
                </a:pPr>
                <a:r>
                  <a:rPr lang="en-CA" altLang="ro-RO" sz="1800" i="1" dirty="0">
                    <a:latin typeface="Times New Roman" panose="02020603050405020304" pitchFamily="18" charset="0"/>
                  </a:rPr>
                  <a:t>(</a:t>
                </a:r>
                <a:r>
                  <a:rPr lang="ro-RO" altLang="ro-RO" sz="1800" i="1" dirty="0">
                    <a:latin typeface="Times New Roman" panose="02020603050405020304" pitchFamily="18" charset="0"/>
                  </a:rPr>
                  <a:t>Windows sau </a:t>
                </a:r>
                <a:r>
                  <a:rPr lang="en-CA" altLang="ro-RO" sz="1800" i="1" dirty="0">
                    <a:latin typeface="Times New Roman" panose="02020603050405020304" pitchFamily="18" charset="0"/>
                  </a:rPr>
                  <a:t>UNIX file)</a:t>
                </a:r>
              </a:p>
            </p:txBody>
          </p:sp>
        </p:grp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992313" y="3789363"/>
            <a:ext cx="3149600" cy="1473200"/>
            <a:chOff x="295" y="2387"/>
            <a:chExt cx="1984" cy="928"/>
          </a:xfrm>
        </p:grpSpPr>
        <p:sp>
          <p:nvSpPr>
            <p:cNvPr id="21523" name="Text Box 13"/>
            <p:cNvSpPr txBox="1">
              <a:spLocks noChangeArrowheads="1"/>
            </p:cNvSpPr>
            <p:nvPr/>
          </p:nvSpPr>
          <p:spPr bwMode="auto">
            <a:xfrm>
              <a:off x="295" y="2795"/>
              <a:ext cx="1984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CA" altLang="ro-RO" sz="1600" b="1" dirty="0" err="1">
                  <a:solidFill>
                    <a:schemeClr val="accent2"/>
                  </a:solidFill>
                </a:rPr>
                <a:t>Pentru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compila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programul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la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linia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de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comandă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tastați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„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javac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filename.java "</a:t>
              </a:r>
            </a:p>
          </p:txBody>
        </p:sp>
        <p:sp>
          <p:nvSpPr>
            <p:cNvPr id="21524" name="Line 14"/>
            <p:cNvSpPr>
              <a:spLocks noChangeShapeType="1"/>
            </p:cNvSpPr>
            <p:nvPr/>
          </p:nvSpPr>
          <p:spPr bwMode="auto">
            <a:xfrm flipH="1">
              <a:off x="748" y="2387"/>
              <a:ext cx="1010" cy="45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4729163" y="5262563"/>
            <a:ext cx="3671888" cy="1038225"/>
            <a:chOff x="2064" y="3702"/>
            <a:chExt cx="2313" cy="658"/>
          </a:xfrm>
        </p:grpSpPr>
        <p:sp>
          <p:nvSpPr>
            <p:cNvPr id="21521" name="Text Box 16"/>
            <p:cNvSpPr txBox="1">
              <a:spLocks noChangeArrowheads="1"/>
            </p:cNvSpPr>
            <p:nvPr/>
          </p:nvSpPr>
          <p:spPr bwMode="auto">
            <a:xfrm>
              <a:off x="2064" y="3840"/>
              <a:ext cx="1783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CA" altLang="ro-RO" sz="1600" b="1" dirty="0" err="1">
                  <a:solidFill>
                    <a:schemeClr val="accent2"/>
                  </a:solidFill>
                </a:rPr>
                <a:t>Pentru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rula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interpret</a:t>
              </a:r>
              <a:r>
                <a:rPr lang="ro-RO" altLang="ro-RO" sz="1600" b="1" dirty="0">
                  <a:solidFill>
                    <a:schemeClr val="accent2"/>
                  </a:solidFill>
                </a:rPr>
                <a:t>at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, la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linia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de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comandă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</a:t>
              </a:r>
              <a:r>
                <a:rPr lang="en-CA" altLang="ro-RO" sz="1600" b="1" dirty="0" err="1">
                  <a:solidFill>
                    <a:schemeClr val="accent2"/>
                  </a:solidFill>
                </a:rPr>
                <a:t>tastați</a:t>
              </a:r>
              <a:r>
                <a:rPr lang="en-CA" altLang="ro-RO" sz="1600" b="1" dirty="0">
                  <a:solidFill>
                    <a:schemeClr val="accent2"/>
                  </a:solidFill>
                </a:rPr>
                <a:t> „java filename”</a:t>
              </a:r>
            </a:p>
          </p:txBody>
        </p:sp>
        <p:sp>
          <p:nvSpPr>
            <p:cNvPr id="21522" name="Line 17"/>
            <p:cNvSpPr>
              <a:spLocks noChangeShapeType="1"/>
            </p:cNvSpPr>
            <p:nvPr/>
          </p:nvSpPr>
          <p:spPr bwMode="auto">
            <a:xfrm flipH="1">
              <a:off x="3696" y="3702"/>
              <a:ext cx="681" cy="2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6956769" y="4753250"/>
            <a:ext cx="3343275" cy="1447800"/>
            <a:chOff x="3334" y="3067"/>
            <a:chExt cx="2106" cy="912"/>
          </a:xfrm>
        </p:grpSpPr>
        <p:sp>
          <p:nvSpPr>
            <p:cNvPr id="21518" name="AutoShape 19"/>
            <p:cNvSpPr>
              <a:spLocks noChangeArrowheads="1"/>
            </p:cNvSpPr>
            <p:nvPr/>
          </p:nvSpPr>
          <p:spPr bwMode="auto">
            <a:xfrm>
              <a:off x="4332" y="3469"/>
              <a:ext cx="722" cy="510"/>
            </a:xfrm>
            <a:prstGeom prst="irregularSeal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70000"/>
                </a:spcBef>
              </a:pPr>
              <a:r>
                <a:rPr lang="en-CA" altLang="ro-RO" sz="1800" dirty="0">
                  <a:latin typeface="Times New Roman" panose="02020603050405020304" pitchFamily="18" charset="0"/>
                </a:rPr>
                <a:t>java</a:t>
              </a:r>
            </a:p>
          </p:txBody>
        </p:sp>
        <p:sp>
          <p:nvSpPr>
            <p:cNvPr id="21519" name="Text Box 20"/>
            <p:cNvSpPr txBox="1">
              <a:spLocks noChangeArrowheads="1"/>
            </p:cNvSpPr>
            <p:nvPr/>
          </p:nvSpPr>
          <p:spPr bwMode="auto">
            <a:xfrm>
              <a:off x="4332" y="3339"/>
              <a:ext cx="1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800"/>
                <a:t>Java Interpreter</a:t>
              </a:r>
            </a:p>
          </p:txBody>
        </p:sp>
        <p:sp>
          <p:nvSpPr>
            <p:cNvPr id="21520" name="Line 21"/>
            <p:cNvSpPr>
              <a:spLocks noChangeShapeType="1"/>
            </p:cNvSpPr>
            <p:nvPr/>
          </p:nvSpPr>
          <p:spPr bwMode="auto">
            <a:xfrm>
              <a:off x="3334" y="3067"/>
              <a:ext cx="1043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3478213" y="1628775"/>
            <a:ext cx="5497512" cy="831850"/>
            <a:chOff x="1231" y="1026"/>
            <a:chExt cx="3463" cy="524"/>
          </a:xfrm>
        </p:grpSpPr>
        <p:sp>
          <p:nvSpPr>
            <p:cNvPr id="21516" name="Text Box 23"/>
            <p:cNvSpPr txBox="1">
              <a:spLocks noChangeArrowheads="1"/>
            </p:cNvSpPr>
            <p:nvPr/>
          </p:nvSpPr>
          <p:spPr bwMode="auto">
            <a:xfrm>
              <a:off x="1970" y="1026"/>
              <a:ext cx="272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b="1" dirty="0">
                  <a:solidFill>
                    <a:schemeClr val="accent2"/>
                  </a:solidFill>
                </a:rPr>
                <a:t>Creat cu un editor de texte</a:t>
              </a:r>
              <a:endParaRPr lang="en-CA" altLang="ro-RO" sz="1600" b="1" dirty="0">
                <a:solidFill>
                  <a:schemeClr val="accent2"/>
                </a:solidFill>
              </a:endParaRPr>
            </a:p>
          </p:txBody>
        </p:sp>
        <p:cxnSp>
          <p:nvCxnSpPr>
            <p:cNvPr id="21517" name="AutoShape 24"/>
            <p:cNvCxnSpPr>
              <a:cxnSpLocks noChangeShapeType="1"/>
              <a:stCxn id="21516" idx="1"/>
              <a:endCxn id="21514" idx="3"/>
            </p:cNvCxnSpPr>
            <p:nvPr/>
          </p:nvCxnSpPr>
          <p:spPr bwMode="auto">
            <a:xfrm flipH="1">
              <a:off x="1231" y="1134"/>
              <a:ext cx="739" cy="416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1752601" y="1773238"/>
            <a:ext cx="1725613" cy="1090612"/>
            <a:chOff x="144" y="1117"/>
            <a:chExt cx="1087" cy="687"/>
          </a:xfrm>
        </p:grpSpPr>
        <p:sp>
          <p:nvSpPr>
            <p:cNvPr id="21514" name="Rectangle 26"/>
            <p:cNvSpPr>
              <a:spLocks noChangeArrowheads="1"/>
            </p:cNvSpPr>
            <p:nvPr/>
          </p:nvSpPr>
          <p:spPr bwMode="auto">
            <a:xfrm>
              <a:off x="144" y="1296"/>
              <a:ext cx="1087" cy="5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75000"/>
                </a:lnSpc>
                <a:spcBef>
                  <a:spcPct val="75000"/>
                </a:spcBef>
              </a:pPr>
              <a:r>
                <a:rPr lang="en-CA" altLang="ro-RO" sz="1800" i="1" dirty="0">
                  <a:latin typeface="Times New Roman" panose="02020603050405020304" pitchFamily="18" charset="0"/>
                </a:rPr>
                <a:t>filename.java </a:t>
              </a:r>
            </a:p>
            <a:p>
              <a:pPr algn="ctr">
                <a:lnSpc>
                  <a:spcPct val="75000"/>
                </a:lnSpc>
                <a:spcBef>
                  <a:spcPct val="75000"/>
                </a:spcBef>
              </a:pPr>
              <a:r>
                <a:rPr lang="en-CA" altLang="ro-RO" sz="1800" i="1" dirty="0">
                  <a:latin typeface="Times New Roman" panose="02020603050405020304" pitchFamily="18" charset="0"/>
                </a:rPr>
                <a:t>(</a:t>
              </a:r>
              <a:r>
                <a:rPr lang="ro-RO" altLang="ro-RO" sz="1800" i="1" dirty="0">
                  <a:latin typeface="Times New Roman" panose="02020603050405020304" pitchFamily="18" charset="0"/>
                </a:rPr>
                <a:t>Windows sau </a:t>
              </a:r>
              <a:r>
                <a:rPr lang="en-CA" altLang="ro-RO" sz="1800" i="1" dirty="0">
                  <a:latin typeface="Times New Roman" panose="02020603050405020304" pitchFamily="18" charset="0"/>
                </a:rPr>
                <a:t>Unix file)</a:t>
              </a:r>
            </a:p>
          </p:txBody>
        </p:sp>
        <p:sp>
          <p:nvSpPr>
            <p:cNvPr id="21515" name="Text Box 27"/>
            <p:cNvSpPr txBox="1">
              <a:spLocks noChangeArrowheads="1"/>
            </p:cNvSpPr>
            <p:nvPr/>
          </p:nvSpPr>
          <p:spPr bwMode="auto">
            <a:xfrm>
              <a:off x="158" y="1117"/>
              <a:ext cx="95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800"/>
                <a:t>Java program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961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/>
              <a:t>Compi</a:t>
            </a:r>
            <a:r>
              <a:rPr lang="ro-RO" altLang="ro-RO" dirty="0" err="1"/>
              <a:t>larea</a:t>
            </a:r>
            <a:endParaRPr lang="en-US" altLang="ro-RO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08213" y="1773238"/>
            <a:ext cx="3816350" cy="2201862"/>
            <a:chOff x="476" y="890"/>
            <a:chExt cx="2404" cy="1387"/>
          </a:xfrm>
        </p:grpSpPr>
        <p:sp>
          <p:nvSpPr>
            <p:cNvPr id="22543" name="Text Box 4"/>
            <p:cNvSpPr txBox="1">
              <a:spLocks noChangeArrowheads="1"/>
            </p:cNvSpPr>
            <p:nvPr/>
          </p:nvSpPr>
          <p:spPr bwMode="auto">
            <a:xfrm>
              <a:off x="476" y="1163"/>
              <a:ext cx="2404" cy="111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CA" altLang="ro-RO" sz="1600"/>
                <a:t>public class </a:t>
              </a:r>
              <a:r>
                <a:rPr lang="en-CA" altLang="ro-RO" sz="1600" i="1"/>
                <a:t>Smallest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{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    public static void main (String[] args)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    {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    }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CA" altLang="ro-RO" sz="1600"/>
                <a:t>}</a:t>
              </a:r>
              <a:endParaRPr lang="en-US" altLang="ro-RO" sz="1600"/>
            </a:p>
          </p:txBody>
        </p:sp>
        <p:sp>
          <p:nvSpPr>
            <p:cNvPr id="22544" name="Text Box 5"/>
            <p:cNvSpPr txBox="1">
              <a:spLocks noChangeArrowheads="1"/>
            </p:cNvSpPr>
            <p:nvPr/>
          </p:nvSpPr>
          <p:spPr bwMode="auto">
            <a:xfrm>
              <a:off x="476" y="890"/>
              <a:ext cx="99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800"/>
                <a:t>Smallest.java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6024564" y="4005262"/>
            <a:ext cx="1900237" cy="1073149"/>
            <a:chOff x="2835" y="2523"/>
            <a:chExt cx="1197" cy="676"/>
          </a:xfrm>
        </p:grpSpPr>
        <p:sp>
          <p:nvSpPr>
            <p:cNvPr id="22541" name="AutoShape 7"/>
            <p:cNvSpPr>
              <a:spLocks noChangeArrowheads="1"/>
            </p:cNvSpPr>
            <p:nvPr/>
          </p:nvSpPr>
          <p:spPr bwMode="auto">
            <a:xfrm>
              <a:off x="3008" y="2717"/>
              <a:ext cx="1024" cy="482"/>
            </a:xfrm>
            <a:prstGeom prst="irregularSeal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b="1"/>
                <a:t>javac</a:t>
              </a:r>
            </a:p>
          </p:txBody>
        </p:sp>
        <p:sp>
          <p:nvSpPr>
            <p:cNvPr id="22542" name="Line 8"/>
            <p:cNvSpPr>
              <a:spLocks noChangeShapeType="1"/>
            </p:cNvSpPr>
            <p:nvPr/>
          </p:nvSpPr>
          <p:spPr bwMode="auto">
            <a:xfrm>
              <a:off x="2835" y="2523"/>
              <a:ext cx="453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7319963" y="4868863"/>
            <a:ext cx="3097212" cy="1536700"/>
            <a:chOff x="3651" y="3067"/>
            <a:chExt cx="1951" cy="968"/>
          </a:xfrm>
        </p:grpSpPr>
        <p:grpSp>
          <p:nvGrpSpPr>
            <p:cNvPr id="22537" name="Group 10"/>
            <p:cNvGrpSpPr>
              <a:grpSpLocks/>
            </p:cNvGrpSpPr>
            <p:nvPr/>
          </p:nvGrpSpPr>
          <p:grpSpPr bwMode="auto">
            <a:xfrm>
              <a:off x="4105" y="3067"/>
              <a:ext cx="1497" cy="968"/>
              <a:chOff x="4150" y="2750"/>
              <a:chExt cx="1497" cy="968"/>
            </a:xfrm>
          </p:grpSpPr>
          <p:sp>
            <p:nvSpPr>
              <p:cNvPr id="22539" name="Text Box 11"/>
              <p:cNvSpPr txBox="1">
                <a:spLocks noChangeArrowheads="1"/>
              </p:cNvSpPr>
              <p:nvPr/>
            </p:nvSpPr>
            <p:spPr bwMode="auto">
              <a:xfrm>
                <a:off x="4150" y="2976"/>
                <a:ext cx="1497" cy="74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360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60000"/>
                  </a:spcBef>
                </a:pPr>
                <a:r>
                  <a:rPr lang="en-US" altLang="ro-RO" sz="1600" dirty="0"/>
                  <a:t>(Java byte code)</a:t>
                </a:r>
              </a:p>
              <a:p>
                <a:pPr>
                  <a:lnSpc>
                    <a:spcPct val="80000"/>
                  </a:lnSpc>
                  <a:spcBef>
                    <a:spcPct val="60000"/>
                  </a:spcBef>
                </a:pPr>
                <a:r>
                  <a:rPr lang="en-US" altLang="ro-RO" sz="1600" dirty="0">
                    <a:latin typeface="Courier New" panose="02070309020205020404" pitchFamily="49" charset="0"/>
                  </a:rPr>
                  <a:t>10000100000001000 00100100000001001</a:t>
                </a:r>
              </a:p>
              <a:p>
                <a:pPr>
                  <a:lnSpc>
                    <a:spcPct val="80000"/>
                  </a:lnSpc>
                  <a:spcBef>
                    <a:spcPct val="60000"/>
                  </a:spcBef>
                </a:pPr>
                <a:r>
                  <a:rPr lang="en-US" altLang="ro-RO" sz="1600" dirty="0"/>
                  <a:t>      :                :</a:t>
                </a:r>
              </a:p>
            </p:txBody>
          </p:sp>
          <p:sp>
            <p:nvSpPr>
              <p:cNvPr id="22540" name="Text Box 12"/>
              <p:cNvSpPr txBox="1">
                <a:spLocks noChangeArrowheads="1"/>
              </p:cNvSpPr>
              <p:nvPr/>
            </p:nvSpPr>
            <p:spPr bwMode="auto">
              <a:xfrm>
                <a:off x="4150" y="2750"/>
                <a:ext cx="998" cy="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46800" rIns="93600" bIns="46800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ro-RO" sz="1800" dirty="0" err="1"/>
                  <a:t>Smallest.class</a:t>
                </a:r>
                <a:endParaRPr lang="en-US" altLang="ro-RO" sz="1800" dirty="0"/>
              </a:p>
            </p:txBody>
          </p:sp>
        </p:grp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>
              <a:off x="3651" y="3113"/>
              <a:ext cx="453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7031039" y="2276476"/>
            <a:ext cx="3025775" cy="2103438"/>
            <a:chOff x="3469" y="1434"/>
            <a:chExt cx="1906" cy="1325"/>
          </a:xfrm>
        </p:grpSpPr>
        <p:sp>
          <p:nvSpPr>
            <p:cNvPr id="22535" name="Text Box 15"/>
            <p:cNvSpPr txBox="1">
              <a:spLocks noChangeArrowheads="1"/>
            </p:cNvSpPr>
            <p:nvPr/>
          </p:nvSpPr>
          <p:spPr bwMode="auto">
            <a:xfrm>
              <a:off x="4332" y="1434"/>
              <a:ext cx="104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ro-RO" altLang="ro-RO" sz="1600" b="1" dirty="0" err="1">
                  <a:solidFill>
                    <a:schemeClr val="accent2"/>
                  </a:solidFill>
                </a:rPr>
                <a:t>tastati</a:t>
              </a:r>
              <a:r>
                <a:rPr lang="en-US" altLang="ro-RO" sz="1600" b="1" dirty="0">
                  <a:solidFill>
                    <a:schemeClr val="accent2"/>
                  </a:solidFill>
                </a:rPr>
                <a:t>“</a:t>
              </a:r>
              <a:r>
                <a:rPr lang="en-US" altLang="ro-RO" sz="1600" b="1" dirty="0" err="1">
                  <a:solidFill>
                    <a:schemeClr val="accent2"/>
                  </a:solidFill>
                </a:rPr>
                <a:t>javac</a:t>
              </a:r>
              <a:r>
                <a:rPr lang="en-US" altLang="ro-RO" sz="1600" b="1" dirty="0">
                  <a:solidFill>
                    <a:schemeClr val="accent2"/>
                  </a:solidFill>
                </a:rPr>
                <a:t> Smallest.java”</a:t>
              </a:r>
            </a:p>
          </p:txBody>
        </p:sp>
        <p:cxnSp>
          <p:nvCxnSpPr>
            <p:cNvPr id="22536" name="AutoShape 16"/>
            <p:cNvCxnSpPr>
              <a:cxnSpLocks noChangeShapeType="1"/>
              <a:stCxn id="22535" idx="1"/>
              <a:endCxn id="22541" idx="0"/>
            </p:cNvCxnSpPr>
            <p:nvPr/>
          </p:nvCxnSpPr>
          <p:spPr bwMode="auto">
            <a:xfrm flipH="1">
              <a:off x="3469" y="1619"/>
              <a:ext cx="863" cy="1140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6881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/>
              <a:t>Rularea</a:t>
            </a:r>
            <a:r>
              <a:rPr lang="en-US" altLang="ro-RO" dirty="0"/>
              <a:t> </a:t>
            </a:r>
            <a:r>
              <a:rPr lang="en-US" altLang="ro-RO" dirty="0" err="1"/>
              <a:t>programului</a:t>
            </a:r>
            <a:endParaRPr lang="en-US" altLang="ro-RO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79650" y="1628775"/>
            <a:ext cx="2376488" cy="1536700"/>
            <a:chOff x="4150" y="2750"/>
            <a:chExt cx="1497" cy="968"/>
          </a:xfrm>
        </p:grpSpPr>
        <p:sp>
          <p:nvSpPr>
            <p:cNvPr id="23562" name="Text Box 4"/>
            <p:cNvSpPr txBox="1">
              <a:spLocks noChangeArrowheads="1"/>
            </p:cNvSpPr>
            <p:nvPr/>
          </p:nvSpPr>
          <p:spPr bwMode="auto">
            <a:xfrm>
              <a:off x="4150" y="2976"/>
              <a:ext cx="1497" cy="74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360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US" altLang="ro-RO" sz="1600"/>
                <a:t>(Java byte code)</a:t>
              </a:r>
            </a:p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US" altLang="ro-RO" sz="1600">
                  <a:latin typeface="Courier New" panose="02070309020205020404" pitchFamily="49" charset="0"/>
                </a:rPr>
                <a:t>10000100000001000 00100100000001001</a:t>
              </a:r>
            </a:p>
            <a:p>
              <a:pPr>
                <a:lnSpc>
                  <a:spcPct val="80000"/>
                </a:lnSpc>
                <a:spcBef>
                  <a:spcPct val="60000"/>
                </a:spcBef>
              </a:pPr>
              <a:r>
                <a:rPr lang="en-US" altLang="ro-RO" sz="1600"/>
                <a:t>      :                :</a:t>
              </a:r>
            </a:p>
          </p:txBody>
        </p:sp>
        <p:sp>
          <p:nvSpPr>
            <p:cNvPr id="23563" name="Text Box 5"/>
            <p:cNvSpPr txBox="1">
              <a:spLocks noChangeArrowheads="1"/>
            </p:cNvSpPr>
            <p:nvPr/>
          </p:nvSpPr>
          <p:spPr bwMode="auto">
            <a:xfrm>
              <a:off x="4150" y="2750"/>
              <a:ext cx="99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4680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800"/>
                <a:t>Smallest.class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656138" y="3213101"/>
            <a:ext cx="1758950" cy="1074738"/>
            <a:chOff x="1973" y="2024"/>
            <a:chExt cx="1108" cy="677"/>
          </a:xfrm>
        </p:grpSpPr>
        <p:sp>
          <p:nvSpPr>
            <p:cNvPr id="23560" name="AutoShape 7"/>
            <p:cNvSpPr>
              <a:spLocks noChangeArrowheads="1"/>
            </p:cNvSpPr>
            <p:nvPr/>
          </p:nvSpPr>
          <p:spPr bwMode="auto">
            <a:xfrm>
              <a:off x="2223" y="2219"/>
              <a:ext cx="858" cy="482"/>
            </a:xfrm>
            <a:prstGeom prst="irregularSeal2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3600" tIns="46800" rIns="93600" bIns="46800" anchor="ctr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ro-RO" sz="1600" b="1"/>
                <a:t>java</a:t>
              </a:r>
            </a:p>
          </p:txBody>
        </p:sp>
        <p:sp>
          <p:nvSpPr>
            <p:cNvPr id="23561" name="Line 8"/>
            <p:cNvSpPr>
              <a:spLocks noChangeShapeType="1"/>
            </p:cNvSpPr>
            <p:nvPr/>
          </p:nvSpPr>
          <p:spPr bwMode="auto">
            <a:xfrm>
              <a:off x="1973" y="2024"/>
              <a:ext cx="453" cy="31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3600" tIns="46800" rIns="93600" bIns="46800">
              <a:spAutoFit/>
            </a:bodyPr>
            <a:lstStyle/>
            <a:p>
              <a:endParaRPr lang="ro-RO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495551" y="4076701"/>
            <a:ext cx="2809875" cy="1585913"/>
            <a:chOff x="612" y="2499"/>
            <a:chExt cx="1770" cy="999"/>
          </a:xfrm>
        </p:grpSpPr>
        <p:sp>
          <p:nvSpPr>
            <p:cNvPr id="23558" name="Text Box 10"/>
            <p:cNvSpPr txBox="1">
              <a:spLocks noChangeArrowheads="1"/>
            </p:cNvSpPr>
            <p:nvPr/>
          </p:nvSpPr>
          <p:spPr bwMode="auto">
            <a:xfrm>
              <a:off x="612" y="3158"/>
              <a:ext cx="1452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3600" tIns="0" rIns="93600" bIns="4680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ro-RO" sz="1600" b="1" dirty="0" err="1">
                  <a:solidFill>
                    <a:schemeClr val="accent2"/>
                  </a:solidFill>
                </a:rPr>
                <a:t>Tastati</a:t>
              </a:r>
              <a:r>
                <a:rPr lang="en-US" altLang="ro-RO" sz="1600" b="1" dirty="0">
                  <a:solidFill>
                    <a:schemeClr val="accent2"/>
                  </a:solidFill>
                </a:rPr>
                <a:t> “java Smallest”</a:t>
              </a:r>
            </a:p>
          </p:txBody>
        </p:sp>
        <p:cxnSp>
          <p:nvCxnSpPr>
            <p:cNvPr id="23559" name="AutoShape 11"/>
            <p:cNvCxnSpPr>
              <a:cxnSpLocks noChangeShapeType="1"/>
              <a:stCxn id="23558" idx="0"/>
            </p:cNvCxnSpPr>
            <p:nvPr/>
          </p:nvCxnSpPr>
          <p:spPr bwMode="auto">
            <a:xfrm flipV="1">
              <a:off x="1338" y="2499"/>
              <a:ext cx="1044" cy="659"/>
            </a:xfrm>
            <a:prstGeom prst="straightConnector1">
              <a:avLst/>
            </a:prstGeom>
            <a:noFill/>
            <a:ln w="19050">
              <a:solidFill>
                <a:schemeClr val="accent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567" name="Text Box 4"/>
          <p:cNvSpPr txBox="1">
            <a:spLocks noChangeArrowheads="1"/>
          </p:cNvSpPr>
          <p:nvPr/>
        </p:nvSpPr>
        <p:spPr bwMode="auto">
          <a:xfrm>
            <a:off x="4692650" y="5035551"/>
            <a:ext cx="4192588" cy="11779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3600" tIns="46800" rIns="93600" bIns="4680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ro-RO" sz="1600" dirty="0"/>
              <a:t>(Cod specific </a:t>
            </a:r>
            <a:r>
              <a:rPr lang="en-US" altLang="ro-RO" sz="1600" dirty="0" err="1"/>
              <a:t>unei</a:t>
            </a:r>
            <a:r>
              <a:rPr lang="en-US" altLang="ro-RO" sz="1600" dirty="0"/>
              <a:t> </a:t>
            </a:r>
            <a:r>
              <a:rPr lang="en-US" altLang="ro-RO" sz="1600" dirty="0" err="1"/>
              <a:t>anumite</a:t>
            </a:r>
            <a:r>
              <a:rPr lang="en-US" altLang="ro-RO" sz="1600" dirty="0"/>
              <a:t> </a:t>
            </a:r>
            <a:r>
              <a:rPr lang="en-US" altLang="ro-RO" sz="1600" dirty="0" err="1"/>
              <a:t>platforme</a:t>
            </a:r>
            <a:r>
              <a:rPr lang="en-US" altLang="ro-RO" sz="1600" dirty="0"/>
              <a:t> /SO</a:t>
            </a:r>
          </a:p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ro-RO" sz="1600" dirty="0">
                <a:latin typeface="Courier New" panose="02070309020205020404" pitchFamily="49" charset="0"/>
              </a:rPr>
              <a:t>10100111000001000 00100111001111001</a:t>
            </a:r>
          </a:p>
          <a:p>
            <a:pPr>
              <a:lnSpc>
                <a:spcPct val="80000"/>
              </a:lnSpc>
              <a:spcBef>
                <a:spcPct val="60000"/>
              </a:spcBef>
            </a:pPr>
            <a:r>
              <a:rPr lang="en-US" altLang="ro-RO" sz="1600" dirty="0"/>
              <a:t>      :                :</a:t>
            </a:r>
          </a:p>
        </p:txBody>
      </p:sp>
      <p:pic>
        <p:nvPicPr>
          <p:cNvPr id="23570" name="Picture 18" descr="MP90034136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238" y="3905251"/>
            <a:ext cx="677863" cy="94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27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7272" name="Rectangle 26727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274" name="Rectangle 26727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altLang="ro-RO" sz="3600">
                <a:solidFill>
                  <a:srgbClr val="FFFFFF"/>
                </a:solidFill>
              </a:rPr>
              <a:t>Rularea compilatorului Java</a:t>
            </a:r>
          </a:p>
        </p:txBody>
      </p:sp>
      <p:sp>
        <p:nvSpPr>
          <p:cNvPr id="267276" name="Rectangle 26727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n-US" altLang="ro-RO" dirty="0" err="1"/>
              <a:t>După</a:t>
            </a:r>
            <a:r>
              <a:rPr lang="en-US" altLang="ro-RO" dirty="0"/>
              <a:t> </a:t>
            </a:r>
            <a:r>
              <a:rPr lang="en-US" altLang="ro-RO" dirty="0" err="1"/>
              <a:t>instalarea</a:t>
            </a:r>
            <a:r>
              <a:rPr lang="en-US" altLang="ro-RO" dirty="0"/>
              <a:t> Java, </a:t>
            </a:r>
            <a:r>
              <a:rPr lang="en-US" altLang="ro-RO" dirty="0" err="1"/>
              <a:t>va</a:t>
            </a:r>
            <a:r>
              <a:rPr lang="en-US" altLang="ro-RO" dirty="0"/>
              <a:t> </a:t>
            </a:r>
            <a:r>
              <a:rPr lang="en-US" altLang="ro-RO" dirty="0" err="1"/>
              <a:t>trebui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indicați</a:t>
            </a:r>
            <a:r>
              <a:rPr lang="en-US" altLang="ro-RO" dirty="0"/>
              <a:t> </a:t>
            </a:r>
            <a:r>
              <a:rPr lang="en-US" altLang="ro-RO" dirty="0" err="1"/>
              <a:t>sistemului</a:t>
            </a:r>
            <a:r>
              <a:rPr lang="en-US" altLang="ro-RO" dirty="0"/>
              <a:t> de </a:t>
            </a:r>
            <a:r>
              <a:rPr lang="en-US" altLang="ro-RO" dirty="0" err="1"/>
              <a:t>operare</a:t>
            </a:r>
            <a:r>
              <a:rPr lang="en-US" altLang="ro-RO" dirty="0"/>
              <a:t> </a:t>
            </a:r>
            <a:r>
              <a:rPr lang="en-US" altLang="ro-RO" dirty="0" err="1"/>
              <a:t>unde</a:t>
            </a:r>
            <a:r>
              <a:rPr lang="en-US" altLang="ro-RO" dirty="0"/>
              <a:t> a </a:t>
            </a:r>
            <a:r>
              <a:rPr lang="en-US" altLang="ro-RO" dirty="0" err="1"/>
              <a:t>fost</a:t>
            </a:r>
            <a:r>
              <a:rPr lang="en-US" altLang="ro-RO" dirty="0"/>
              <a:t> </a:t>
            </a:r>
            <a:r>
              <a:rPr lang="en-US" altLang="ro-RO" dirty="0" err="1"/>
              <a:t>instalat</a:t>
            </a:r>
            <a:r>
              <a:rPr lang="en-US" altLang="ro-RO" dirty="0"/>
              <a:t> </a:t>
            </a:r>
            <a:r>
              <a:rPr lang="en-US" altLang="ro-RO" dirty="0" err="1"/>
              <a:t>compilatorul</a:t>
            </a:r>
            <a:r>
              <a:rPr lang="en-US" altLang="ro-RO" dirty="0"/>
              <a:t> Java („</a:t>
            </a:r>
            <a:r>
              <a:rPr lang="en-US" altLang="ro-RO" dirty="0" err="1"/>
              <a:t>seth</a:t>
            </a:r>
            <a:r>
              <a:rPr lang="en-US" altLang="ro-RO" dirty="0"/>
              <a:t> path”).</a:t>
            </a:r>
          </a:p>
          <a:p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detalii</a:t>
            </a:r>
            <a:r>
              <a:rPr lang="en-US" altLang="ro-RO" dirty="0"/>
              <a:t> </a:t>
            </a:r>
            <a:r>
              <a:rPr lang="en-US" altLang="ro-RO" dirty="0" err="1"/>
              <a:t>despre</a:t>
            </a:r>
            <a:r>
              <a:rPr lang="en-US" altLang="ro-RO" dirty="0"/>
              <a:t> cum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setați</a:t>
            </a:r>
            <a:r>
              <a:rPr lang="en-US" altLang="ro-RO" dirty="0"/>
              <a:t> </a:t>
            </a:r>
            <a:r>
              <a:rPr lang="en-US" altLang="ro-RO" dirty="0" err="1"/>
              <a:t>variabila</a:t>
            </a:r>
            <a:r>
              <a:rPr lang="en-US" altLang="ro-RO" dirty="0"/>
              <a:t> de </a:t>
            </a:r>
            <a:r>
              <a:rPr lang="en-US" altLang="ro-RO" dirty="0" err="1"/>
              <a:t>cale</a:t>
            </a:r>
            <a:r>
              <a:rPr lang="en-US" altLang="ro-RO" dirty="0"/>
              <a:t> </a:t>
            </a:r>
            <a:r>
              <a:rPr lang="en-US" altLang="ro-RO" dirty="0" err="1"/>
              <a:t>pentru</a:t>
            </a:r>
            <a:r>
              <a:rPr lang="en-US" altLang="ro-RO" dirty="0"/>
              <a:t> </a:t>
            </a:r>
            <a:r>
              <a:rPr lang="en-US" altLang="ro-RO" dirty="0" err="1"/>
              <a:t>sistemul</a:t>
            </a:r>
            <a:r>
              <a:rPr lang="en-US" altLang="ro-RO" dirty="0"/>
              <a:t> de </a:t>
            </a:r>
            <a:r>
              <a:rPr lang="en-US" altLang="ro-RO" dirty="0" err="1"/>
              <a:t>operare</a:t>
            </a:r>
            <a:r>
              <a:rPr lang="en-US" altLang="ro-RO" dirty="0"/>
              <a:t>, </a:t>
            </a:r>
            <a:r>
              <a:rPr lang="en-US" altLang="ro-RO" dirty="0" err="1"/>
              <a:t>încercați</a:t>
            </a:r>
            <a:r>
              <a:rPr lang="en-US" altLang="ro-RO" dirty="0"/>
              <a:t> site-</a:t>
            </a:r>
            <a:r>
              <a:rPr lang="en-US" altLang="ro-RO" dirty="0" err="1"/>
              <a:t>ul</a:t>
            </a:r>
            <a:r>
              <a:rPr lang="en-US" altLang="ro-RO" dirty="0"/>
              <a:t> web Sun </a:t>
            </a:r>
            <a:r>
              <a:rPr lang="en-US" altLang="ro-RO" dirty="0" err="1"/>
              <a:t>sau</a:t>
            </a:r>
            <a:r>
              <a:rPr lang="en-US" altLang="ro-RO" dirty="0"/>
              <a:t> Java.</a:t>
            </a:r>
          </a:p>
          <a:p>
            <a:r>
              <a:rPr lang="en-US" altLang="ro-RO" dirty="0" err="1"/>
              <a:t>Exemplu</a:t>
            </a:r>
            <a:r>
              <a:rPr lang="en-US" altLang="ro-RO" dirty="0"/>
              <a:t> </a:t>
            </a:r>
            <a:r>
              <a:rPr lang="en-US" altLang="ro-RO" dirty="0" err="1"/>
              <a:t>despre</a:t>
            </a:r>
            <a:r>
              <a:rPr lang="en-US" altLang="ro-RO" dirty="0"/>
              <a:t> cum </a:t>
            </a:r>
            <a:r>
              <a:rPr lang="en-US" altLang="ro-RO" dirty="0" err="1"/>
              <a:t>să</a:t>
            </a:r>
            <a:r>
              <a:rPr lang="en-US" altLang="ro-RO" dirty="0"/>
              <a:t> </a:t>
            </a:r>
            <a:r>
              <a:rPr lang="en-US" altLang="ro-RO" dirty="0" err="1"/>
              <a:t>setați</a:t>
            </a:r>
            <a:r>
              <a:rPr lang="en-US" altLang="ro-RO" dirty="0"/>
              <a:t> </a:t>
            </a:r>
            <a:r>
              <a:rPr lang="en-US" altLang="ro-RO" dirty="0" err="1"/>
              <a:t>calea</a:t>
            </a:r>
            <a:r>
              <a:rPr lang="en-US" altLang="ro-RO" dirty="0"/>
              <a:t> </a:t>
            </a:r>
            <a:r>
              <a:rPr lang="en-US" altLang="ro-RO" dirty="0" err="1"/>
              <a:t>în</a:t>
            </a:r>
            <a:r>
              <a:rPr lang="en-US" altLang="ro-RO" dirty="0"/>
              <a:t> Windows:</a:t>
            </a:r>
          </a:p>
          <a:p>
            <a:r>
              <a:rPr lang="en-US" altLang="ro-RO" dirty="0">
                <a:hlinkClick r:id="rId2"/>
              </a:rPr>
              <a:t>http://java.sun.com/j2se/1.4.2/install-windows.html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425040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 err="1"/>
              <a:t>Observa</a:t>
            </a:r>
            <a:r>
              <a:rPr lang="ro-RO" altLang="ro-RO" dirty="0"/>
              <a:t>ții</a:t>
            </a:r>
            <a:endParaRPr lang="en-US" altLang="ro-RO" dirty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ro-RO" dirty="0" err="1"/>
              <a:t>Fiecare</a:t>
            </a:r>
            <a:r>
              <a:rPr lang="en-US" altLang="ro-RO" dirty="0"/>
              <a:t> </a:t>
            </a:r>
            <a:r>
              <a:rPr lang="en-US" altLang="ro-RO" dirty="0" err="1"/>
              <a:t>instrucțiune</a:t>
            </a:r>
            <a:r>
              <a:rPr lang="en-US" altLang="ro-RO" dirty="0"/>
              <a:t> Java </a:t>
            </a:r>
            <a:r>
              <a:rPr lang="en-US" altLang="ro-RO" dirty="0" err="1"/>
              <a:t>trebuie</a:t>
            </a:r>
            <a:r>
              <a:rPr lang="en-US" altLang="ro-RO" dirty="0"/>
              <a:t> </a:t>
            </a:r>
            <a:r>
              <a:rPr lang="en-US" altLang="ro-RO" dirty="0" err="1"/>
              <a:t>să</a:t>
            </a:r>
            <a:r>
              <a:rPr lang="en-US" altLang="ro-RO" dirty="0"/>
              <a:t> fie </a:t>
            </a:r>
            <a:r>
              <a:rPr lang="en-US" altLang="ro-RO" dirty="0" err="1"/>
              <a:t>urmată</a:t>
            </a:r>
            <a:r>
              <a:rPr lang="en-US" altLang="ro-RO" dirty="0"/>
              <a:t> de un </a:t>
            </a:r>
            <a:r>
              <a:rPr lang="en-US" altLang="ro-RO" dirty="0" err="1"/>
              <a:t>punct</a:t>
            </a:r>
            <a:r>
              <a:rPr lang="en-US" altLang="ro-RO" dirty="0"/>
              <a:t> </a:t>
            </a:r>
            <a:r>
              <a:rPr lang="en-US" altLang="ro-RO" dirty="0" err="1"/>
              <a:t>și</a:t>
            </a:r>
            <a:r>
              <a:rPr lang="en-US" altLang="ro-RO" dirty="0"/>
              <a:t> </a:t>
            </a:r>
            <a:r>
              <a:rPr lang="en-US" altLang="ro-RO" dirty="0" err="1"/>
              <a:t>virgulă</a:t>
            </a:r>
            <a:r>
              <a:rPr lang="en-US" altLang="ro-RO" dirty="0"/>
              <a:t>!</a:t>
            </a: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2304191" y="2744576"/>
            <a:ext cx="27432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o-RO" altLang="ro-RO" sz="2000" b="1" dirty="0"/>
              <a:t>Format general</a:t>
            </a:r>
            <a:endParaRPr lang="en-US" altLang="ro-RO" sz="2000" b="1" dirty="0"/>
          </a:p>
          <a:p>
            <a:pPr>
              <a:spcBef>
                <a:spcPct val="50000"/>
              </a:spcBef>
            </a:pPr>
            <a:r>
              <a:rPr lang="en-US" altLang="ro-RO" sz="2000" dirty="0"/>
              <a:t>Instruction1;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Instruction2;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Instruction3;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   :        :</a:t>
            </a: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5543149" y="2672607"/>
            <a:ext cx="41402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ro-RO" sz="2000" b="1" dirty="0"/>
              <a:t>Example</a:t>
            </a:r>
          </a:p>
          <a:p>
            <a:pPr>
              <a:spcBef>
                <a:spcPct val="50000"/>
              </a:spcBef>
            </a:pPr>
            <a:r>
              <a:rPr lang="en-US" altLang="ro-RO" sz="2000" dirty="0" err="1"/>
              <a:t>int</a:t>
            </a:r>
            <a:r>
              <a:rPr lang="en-US" altLang="ro-RO" sz="2000" dirty="0"/>
              <a:t> </a:t>
            </a:r>
            <a:r>
              <a:rPr lang="en-US" altLang="ro-RO" sz="2000" dirty="0" err="1"/>
              <a:t>num</a:t>
            </a:r>
            <a:r>
              <a:rPr lang="en-US" altLang="ro-RO" sz="2000" dirty="0"/>
              <a:t> = 0;</a:t>
            </a:r>
          </a:p>
          <a:p>
            <a:pPr>
              <a:spcBef>
                <a:spcPct val="50000"/>
              </a:spcBef>
            </a:pPr>
            <a:r>
              <a:rPr lang="en-US" altLang="ro-RO" sz="2000" dirty="0" err="1"/>
              <a:t>System.out.println</a:t>
            </a:r>
            <a:r>
              <a:rPr lang="en-US" altLang="ro-RO" sz="2000" dirty="0"/>
              <a:t>(</a:t>
            </a:r>
            <a:r>
              <a:rPr lang="en-US" altLang="ro-RO" sz="2000" dirty="0" err="1"/>
              <a:t>num</a:t>
            </a:r>
            <a:r>
              <a:rPr lang="en-US" altLang="ro-RO" sz="2000" dirty="0"/>
              <a:t>);</a:t>
            </a:r>
          </a:p>
          <a:p>
            <a:pPr>
              <a:spcBef>
                <a:spcPct val="50000"/>
              </a:spcBef>
            </a:pPr>
            <a:r>
              <a:rPr lang="en-US" altLang="ro-RO" sz="2000" dirty="0"/>
              <a:t>   :        :</a:t>
            </a:r>
          </a:p>
        </p:txBody>
      </p:sp>
    </p:spTree>
    <p:extLst>
      <p:ext uri="{BB962C8B-B14F-4D97-AF65-F5344CB8AC3E}">
        <p14:creationId xmlns:p14="http://schemas.microsoft.com/office/powerpoint/2010/main" val="1178518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</a:t>
            </a:r>
            <a:r>
              <a:rPr lang="ro-RO" dirty="0"/>
              <a:t>e</a:t>
            </a:r>
            <a:r>
              <a:rPr lang="en-CA" dirty="0" err="1"/>
              <a:t>mpl</a:t>
            </a:r>
            <a:r>
              <a:rPr lang="ro-RO" dirty="0"/>
              <a:t>u</a:t>
            </a:r>
            <a:r>
              <a:rPr lang="en-CA" dirty="0"/>
              <a:t>: Hello World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248" y="3562792"/>
            <a:ext cx="8229600" cy="2279208"/>
          </a:xfrm>
        </p:spPr>
        <p:txBody>
          <a:bodyPr/>
          <a:lstStyle/>
          <a:p>
            <a:r>
              <a:rPr lang="en-CA" dirty="0" err="1"/>
              <a:t>Totul</a:t>
            </a:r>
            <a:r>
              <a:rPr lang="en-CA" dirty="0"/>
              <a:t> </a:t>
            </a:r>
            <a:r>
              <a:rPr lang="en-CA" dirty="0" err="1"/>
              <a:t>este</a:t>
            </a:r>
            <a:r>
              <a:rPr lang="en-CA" dirty="0"/>
              <a:t> </a:t>
            </a:r>
            <a:r>
              <a:rPr lang="en-CA" dirty="0" err="1"/>
              <a:t>într</a:t>
            </a:r>
            <a:r>
              <a:rPr lang="en-CA" dirty="0"/>
              <a:t>-o </a:t>
            </a:r>
            <a:r>
              <a:rPr lang="en-CA" dirty="0" err="1"/>
              <a:t>clasă</a:t>
            </a:r>
            <a:endParaRPr lang="en-CA" dirty="0"/>
          </a:p>
          <a:p>
            <a:r>
              <a:rPr lang="en-CA" dirty="0"/>
              <a:t>Un </a:t>
            </a:r>
            <a:r>
              <a:rPr lang="en-CA" dirty="0" err="1"/>
              <a:t>fișier</a:t>
            </a:r>
            <a:r>
              <a:rPr lang="en-CA" dirty="0"/>
              <a:t>, o </a:t>
            </a:r>
            <a:r>
              <a:rPr lang="en-CA" dirty="0" err="1"/>
              <a:t>clasă</a:t>
            </a:r>
            <a:r>
              <a:rPr lang="en-CA" dirty="0"/>
              <a:t> </a:t>
            </a:r>
            <a:r>
              <a:rPr lang="en-CA" dirty="0" err="1"/>
              <a:t>publică</a:t>
            </a:r>
            <a:endParaRPr lang="en-CA" dirty="0"/>
          </a:p>
          <a:p>
            <a:r>
              <a:rPr lang="en-CA" dirty="0" err="1"/>
              <a:t>În</a:t>
            </a:r>
            <a:r>
              <a:rPr lang="en-CA" dirty="0"/>
              <a:t> </a:t>
            </a:r>
            <a:r>
              <a:rPr lang="en-CA" dirty="0" err="1"/>
              <a:t>clasa</a:t>
            </a:r>
            <a:r>
              <a:rPr lang="en-CA" dirty="0"/>
              <a:t> </a:t>
            </a:r>
            <a:r>
              <a:rPr lang="en-CA" dirty="0" err="1"/>
              <a:t>publică</a:t>
            </a:r>
            <a:r>
              <a:rPr lang="en-CA" dirty="0"/>
              <a:t> </a:t>
            </a:r>
            <a:r>
              <a:rPr lang="ro-RO" dirty="0"/>
              <a:t>executabilă</a:t>
            </a:r>
            <a:r>
              <a:rPr lang="en-CA" dirty="0"/>
              <a:t>:</a:t>
            </a:r>
          </a:p>
          <a:p>
            <a:pPr lvl="1"/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 void main(String [] </a:t>
            </a:r>
            <a:r>
              <a:rPr lang="en-CA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35" b="38249"/>
          <a:stretch/>
        </p:blipFill>
        <p:spPr bwMode="auto">
          <a:xfrm>
            <a:off x="4848425" y="1872827"/>
            <a:ext cx="5401734" cy="1811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72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Tipuri primitive de date</a:t>
            </a:r>
            <a:endParaRPr lang="en-CA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b</a:t>
            </a:r>
            <a:r>
              <a:rPr lang="en-CA" dirty="0" err="1"/>
              <a:t>oolean</a:t>
            </a:r>
            <a:endParaRPr lang="ro-RO" dirty="0"/>
          </a:p>
          <a:p>
            <a:r>
              <a:rPr lang="ro-RO" dirty="0"/>
              <a:t>c</a:t>
            </a:r>
            <a:r>
              <a:rPr lang="en-CA" dirty="0" err="1"/>
              <a:t>har</a:t>
            </a:r>
            <a:endParaRPr lang="ro-RO" dirty="0"/>
          </a:p>
          <a:p>
            <a:r>
              <a:rPr lang="ro-RO" dirty="0"/>
              <a:t>b</a:t>
            </a:r>
            <a:r>
              <a:rPr lang="en-CA" dirty="0" err="1"/>
              <a:t>yte</a:t>
            </a:r>
            <a:endParaRPr lang="ro-RO" dirty="0"/>
          </a:p>
          <a:p>
            <a:r>
              <a:rPr lang="ro-RO" dirty="0"/>
              <a:t>s</a:t>
            </a:r>
            <a:r>
              <a:rPr lang="en-CA" dirty="0" err="1"/>
              <a:t>hort</a:t>
            </a:r>
            <a:endParaRPr lang="ro-RO" dirty="0"/>
          </a:p>
          <a:p>
            <a:r>
              <a:rPr lang="ro-RO" dirty="0"/>
              <a:t>i</a:t>
            </a:r>
            <a:r>
              <a:rPr lang="en-CA" dirty="0" err="1"/>
              <a:t>nt</a:t>
            </a:r>
            <a:endParaRPr lang="ro-RO" dirty="0"/>
          </a:p>
          <a:p>
            <a:r>
              <a:rPr lang="ro-RO" dirty="0"/>
              <a:t>l</a:t>
            </a:r>
            <a:r>
              <a:rPr lang="en-CA" dirty="0" err="1"/>
              <a:t>ong</a:t>
            </a:r>
            <a:endParaRPr lang="ro-RO" dirty="0"/>
          </a:p>
          <a:p>
            <a:r>
              <a:rPr lang="ro-RO" dirty="0"/>
              <a:t>f</a:t>
            </a:r>
            <a:r>
              <a:rPr lang="en-CA" dirty="0" err="1"/>
              <a:t>loat</a:t>
            </a:r>
            <a:endParaRPr lang="ro-RO" dirty="0"/>
          </a:p>
          <a:p>
            <a:r>
              <a:rPr lang="ro-RO" dirty="0"/>
              <a:t>d</a:t>
            </a:r>
            <a:r>
              <a:rPr lang="en-CA" dirty="0" err="1"/>
              <a:t>ouble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37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2855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b="1" dirty="0"/>
              <a:t>Reali speciali </a:t>
            </a:r>
            <a:r>
              <a:rPr lang="ro-RO" b="1" dirty="0" err="1"/>
              <a:t>definiţi</a:t>
            </a:r>
            <a:r>
              <a:rPr lang="ro-RO" b="1" dirty="0"/>
              <a:t> de IEEE</a:t>
            </a:r>
          </a:p>
          <a:p>
            <a:r>
              <a:rPr lang="ro-RO" dirty="0" err="1"/>
              <a:t>NaN</a:t>
            </a:r>
            <a:r>
              <a:rPr lang="ro-RO" dirty="0"/>
              <a:t> </a:t>
            </a:r>
          </a:p>
          <a:p>
            <a:r>
              <a:rPr lang="ro-RO" dirty="0"/>
              <a:t>POSITIVE_INFINITY, NEGATIVE_INFINITY, </a:t>
            </a:r>
            <a:r>
              <a:rPr lang="ro-RO" dirty="0" err="1"/>
              <a:t>NaN</a:t>
            </a:r>
            <a:r>
              <a:rPr lang="ro-RO" dirty="0"/>
              <a:t>.</a:t>
            </a:r>
          </a:p>
          <a:p>
            <a:r>
              <a:rPr lang="ro-RO" dirty="0"/>
              <a:t>MIN_VALUE </a:t>
            </a:r>
            <a:r>
              <a:rPr lang="ro-RO" dirty="0" err="1"/>
              <a:t>şi</a:t>
            </a:r>
            <a:r>
              <a:rPr lang="ro-RO" dirty="0"/>
              <a:t> MAX_VALUE.</a:t>
            </a:r>
          </a:p>
        </p:txBody>
      </p:sp>
    </p:spTree>
    <p:extLst>
      <p:ext uri="{BB962C8B-B14F-4D97-AF65-F5344CB8AC3E}">
        <p14:creationId xmlns:p14="http://schemas.microsoft.com/office/powerpoint/2010/main" val="38789681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b="1">
                <a:solidFill>
                  <a:srgbClr val="FFFFFF"/>
                </a:solidFill>
              </a:rPr>
              <a:t>Tipuri referinţă</a:t>
            </a:r>
            <a:br>
              <a:rPr lang="ro-RO" sz="3600" b="1">
                <a:solidFill>
                  <a:srgbClr val="FFFFFF"/>
                </a:solidFill>
              </a:rPr>
            </a:br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sz="1700" dirty="0"/>
              <a:t> </a:t>
            </a:r>
            <a:r>
              <a:rPr lang="ro-RO" sz="1800" dirty="0"/>
              <a:t>Sunt folosite pentru a referi un obiect din interiorul unui alt obiect. </a:t>
            </a:r>
          </a:p>
          <a:p>
            <a:r>
              <a:rPr lang="ro-RO" sz="1800" dirty="0"/>
              <a:t>Valoare implicită este definită de către limbajul Java prin cuvântul rezervat </a:t>
            </a:r>
            <a:r>
              <a:rPr lang="ro-RO" sz="1800" b="1" dirty="0">
                <a:solidFill>
                  <a:srgbClr val="FF0000"/>
                </a:solidFill>
              </a:rPr>
              <a:t>null</a:t>
            </a:r>
            <a:r>
              <a:rPr lang="ro-RO" sz="1800" dirty="0"/>
              <a:t>.</a:t>
            </a:r>
          </a:p>
          <a:p>
            <a:r>
              <a:rPr lang="ro-RO" sz="1800" dirty="0"/>
              <a:t>Rezervarea obiectului trebuie făcută explicit în program printr-o expresie de alocare care foloseşte cuvântul rezervat </a:t>
            </a:r>
            <a:r>
              <a:rPr lang="ro-RO" sz="1800" dirty="0">
                <a:solidFill>
                  <a:srgbClr val="FF0000"/>
                </a:solidFill>
              </a:rPr>
              <a:t>new.</a:t>
            </a:r>
            <a:r>
              <a:rPr lang="ro-RO" sz="1800" dirty="0"/>
              <a:t> </a:t>
            </a:r>
          </a:p>
          <a:p>
            <a:r>
              <a:rPr lang="pt-BR" sz="1800" b="1" dirty="0"/>
              <a:t>Tipul referinţă către o clasă</a:t>
            </a:r>
            <a:endParaRPr lang="ro-RO" sz="1800" b="1" dirty="0"/>
          </a:p>
          <a:p>
            <a:r>
              <a:rPr lang="ro-RO" sz="1800" dirty="0"/>
              <a:t>trimite către o instanţă a unei clase de obiecte.</a:t>
            </a:r>
          </a:p>
          <a:p>
            <a:r>
              <a:rPr lang="ro-RO" sz="1800" dirty="0"/>
              <a:t>Exemple</a:t>
            </a:r>
          </a:p>
          <a:p>
            <a:r>
              <a:rPr lang="ro-RO" sz="1800" dirty="0">
                <a:solidFill>
                  <a:srgbClr val="FF0000"/>
                </a:solidFill>
              </a:rPr>
              <a:t>Minge m1;</a:t>
            </a:r>
          </a:p>
          <a:p>
            <a:r>
              <a:rPr lang="ro-RO" sz="1800" dirty="0">
                <a:solidFill>
                  <a:srgbClr val="FF0000"/>
                </a:solidFill>
              </a:rPr>
              <a:t>Student s1;</a:t>
            </a:r>
          </a:p>
          <a:p>
            <a:r>
              <a:rPr lang="ro-RO" sz="1800" dirty="0">
                <a:solidFill>
                  <a:srgbClr val="FF0000"/>
                </a:solidFill>
              </a:rPr>
              <a:t>String sir;</a:t>
            </a:r>
          </a:p>
          <a:p>
            <a:r>
              <a:rPr lang="ro-RO" sz="1800" b="1" dirty="0"/>
              <a:t>Tipul referinţă către o interfaţă</a:t>
            </a:r>
          </a:p>
          <a:p>
            <a:r>
              <a:rPr lang="ro-RO" sz="1800" dirty="0"/>
              <a:t>Tipul </a:t>
            </a:r>
            <a:r>
              <a:rPr lang="ro-RO" sz="1800" i="1" dirty="0"/>
              <a:t>referinţă către o interfaţă</a:t>
            </a:r>
            <a:r>
              <a:rPr lang="ro-RO" sz="1800" dirty="0"/>
              <a:t> permite păstrarea unor referinţe către obiecte care respectă o anumită interfaţă.</a:t>
            </a:r>
          </a:p>
        </p:txBody>
      </p:sp>
    </p:spTree>
    <p:extLst>
      <p:ext uri="{BB962C8B-B14F-4D97-AF65-F5344CB8AC3E}">
        <p14:creationId xmlns:p14="http://schemas.microsoft.com/office/powerpoint/2010/main" val="2335555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b="1">
                <a:solidFill>
                  <a:srgbClr val="FFFFFF"/>
                </a:solidFill>
              </a:rPr>
              <a:t>Tipul referinţă către un tablou</a:t>
            </a:r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b="1" dirty="0"/>
              <a:t>Tipul </a:t>
            </a:r>
            <a:r>
              <a:rPr lang="ro-RO" b="1" dirty="0" err="1"/>
              <a:t>referinţă</a:t>
            </a:r>
            <a:r>
              <a:rPr lang="ro-RO" b="1" dirty="0"/>
              <a:t> către un tablou este un tip </a:t>
            </a:r>
            <a:r>
              <a:rPr lang="ro-RO" b="1" dirty="0" err="1"/>
              <a:t>referinţă</a:t>
            </a:r>
            <a:r>
              <a:rPr lang="ro-RO" b="1" dirty="0"/>
              <a:t> care poate păstra o trimitere către </a:t>
            </a:r>
            <a:r>
              <a:rPr lang="ro-RO" b="1" dirty="0" err="1"/>
              <a:t>locaţia</a:t>
            </a:r>
            <a:r>
              <a:rPr lang="ro-RO" b="1" dirty="0"/>
              <a:t> din memorie a unui tablou de elemente.</a:t>
            </a:r>
          </a:p>
          <a:p>
            <a:r>
              <a:rPr lang="ro-RO" b="1" dirty="0"/>
              <a:t>Tablourile sunt de asemenea o clasa</a:t>
            </a:r>
            <a:endParaRPr lang="en-CA" dirty="0"/>
          </a:p>
          <a:p>
            <a:pPr marL="457200" lvl="1" indent="0">
              <a:buNone/>
            </a:pPr>
            <a:r>
              <a:rPr lang="en-CA">
                <a:latin typeface="Courier New" panose="02070309020205020404" pitchFamily="49" charset="0"/>
                <a:cs typeface="Courier New" panose="02070309020205020404" pitchFamily="49" charset="0"/>
              </a:rPr>
              <a:t>long [] a = new  long[5];</a:t>
            </a:r>
          </a:p>
          <a:p>
            <a:pPr lvl="1"/>
            <a:r>
              <a:rPr lang="en-CA" dirty="0" err="1"/>
              <a:t>Puteți</a:t>
            </a:r>
            <a:r>
              <a:rPr lang="en-CA" dirty="0"/>
              <a:t> </a:t>
            </a:r>
            <a:r>
              <a:rPr lang="en-CA" dirty="0" err="1"/>
              <a:t>obține</a:t>
            </a:r>
            <a:r>
              <a:rPr lang="en-CA" dirty="0"/>
              <a:t> </a:t>
            </a:r>
            <a:r>
              <a:rPr lang="en-CA" dirty="0" err="1"/>
              <a:t>lungimea</a:t>
            </a:r>
            <a:r>
              <a:rPr lang="en-CA" dirty="0"/>
              <a:t> </a:t>
            </a:r>
            <a:r>
              <a:rPr lang="ro-RO" dirty="0"/>
              <a:t>cu ajutorul </a:t>
            </a:r>
            <a:r>
              <a:rPr lang="en-CA" dirty="0" err="1"/>
              <a:t>câmpul</a:t>
            </a:r>
            <a:r>
              <a:rPr lang="ro-RO" dirty="0"/>
              <a:t>ui</a:t>
            </a:r>
            <a:r>
              <a:rPr lang="en-CA" dirty="0"/>
              <a:t> de </a:t>
            </a:r>
            <a:r>
              <a:rPr lang="en-CA" dirty="0" err="1"/>
              <a:t>lungime</a:t>
            </a:r>
            <a:r>
              <a:rPr lang="en-CA" dirty="0"/>
              <a:t> al </a:t>
            </a:r>
            <a:r>
              <a:rPr lang="en-CA" dirty="0" err="1"/>
              <a:t>obiectului</a:t>
            </a:r>
            <a:r>
              <a:rPr lang="en-CA" dirty="0"/>
              <a:t> </a:t>
            </a:r>
            <a:r>
              <a:rPr lang="en-CA" dirty="0" err="1"/>
              <a:t>matrice</a:t>
            </a:r>
            <a:r>
              <a:rPr lang="en-CA" dirty="0"/>
              <a:t> a, ca </a:t>
            </a:r>
            <a:r>
              <a:rPr lang="en-CA" dirty="0" err="1"/>
              <a:t>acesta</a:t>
            </a:r>
            <a:r>
              <a:rPr lang="en-CA" dirty="0"/>
              <a:t> : </a:t>
            </a:r>
            <a:r>
              <a:rPr lang="en-CA" b="1" err="1">
                <a:latin typeface="Courier New" panose="02070309020205020404" pitchFamily="49" charset="0"/>
                <a:cs typeface="Courier New" panose="02070309020205020404" pitchFamily="49" charset="0"/>
              </a:rPr>
              <a:t>a.length</a:t>
            </a:r>
            <a:endParaRPr lang="en-CA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b="1" dirty="0"/>
              <a:t>Clasa </a:t>
            </a:r>
            <a:r>
              <a:rPr lang="ro-RO" b="1" dirty="0" err="1"/>
              <a:t>String</a:t>
            </a:r>
            <a:r>
              <a:rPr lang="ro-RO" b="1" dirty="0"/>
              <a:t> </a:t>
            </a:r>
            <a:r>
              <a:rPr lang="pt-BR" b="1" dirty="0"/>
              <a:t>este foarte frecvent utilizată pentru a reprezenta șiruri de caractere, de exemplu</a:t>
            </a:r>
            <a:endParaRPr lang="ro-RO" b="1" dirty="0"/>
          </a:p>
          <a:p>
            <a:r>
              <a:rPr lang="en-CA">
                <a:latin typeface="Courier New" panose="02070309020205020404" pitchFamily="49" charset="0"/>
                <a:cs typeface="Courier New" panose="02070309020205020404" pitchFamily="49" charset="0"/>
              </a:rPr>
              <a:t>String s1 = “Hello ”, s2 = “World!”;</a:t>
            </a:r>
          </a:p>
          <a:p>
            <a:pPr marL="457200" lvl="1" indent="0">
              <a:buNone/>
            </a:pPr>
            <a:r>
              <a:rPr lang="en-CA">
                <a:latin typeface="Courier New" panose="02070309020205020404" pitchFamily="49" charset="0"/>
                <a:cs typeface="Courier New" panose="02070309020205020404" pitchFamily="49" charset="0"/>
              </a:rPr>
              <a:t>String s3 = s1 + s2;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91213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CA" sz="3600">
                <a:solidFill>
                  <a:srgbClr val="FFFFFF"/>
                </a:solidFill>
              </a:rPr>
              <a:t>Operator</a:t>
            </a:r>
            <a:r>
              <a:rPr lang="ro-RO" sz="3600">
                <a:solidFill>
                  <a:srgbClr val="FFFFFF"/>
                </a:solidFill>
              </a:rPr>
              <a:t>i</a:t>
            </a:r>
            <a:r>
              <a:rPr lang="en-CA" sz="3600">
                <a:solidFill>
                  <a:srgbClr val="FFFFFF"/>
                </a:solidFill>
              </a:rPr>
              <a:t> (</a:t>
            </a:r>
            <a:r>
              <a:rPr lang="ro-RO" sz="3600">
                <a:solidFill>
                  <a:srgbClr val="FFFFFF"/>
                </a:solidFill>
              </a:rPr>
              <a:t>la fel ca în </a:t>
            </a:r>
            <a:r>
              <a:rPr lang="en-CA" sz="3600">
                <a:solidFill>
                  <a:srgbClr val="FFFFFF"/>
                </a:solidFill>
              </a:rPr>
              <a:t>C/C++)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n-CA" dirty="0"/>
              <a:t>++,-- Auto increment/decrement</a:t>
            </a:r>
          </a:p>
          <a:p>
            <a:r>
              <a:rPr lang="en-CA" dirty="0"/>
              <a:t>+,- plus/minus</a:t>
            </a:r>
            <a:r>
              <a:rPr lang="ro-RO" dirty="0"/>
              <a:t> ca operatori unari</a:t>
            </a:r>
            <a:endParaRPr lang="en-CA" dirty="0"/>
          </a:p>
          <a:p>
            <a:r>
              <a:rPr lang="en-CA" dirty="0"/>
              <a:t>*,/ </a:t>
            </a:r>
            <a:r>
              <a:rPr lang="ro-RO" dirty="0"/>
              <a:t>Înmulțire/împărțire</a:t>
            </a:r>
            <a:endParaRPr lang="en-CA" dirty="0"/>
          </a:p>
          <a:p>
            <a:r>
              <a:rPr lang="en-CA" dirty="0"/>
              <a:t>% </a:t>
            </a:r>
            <a:r>
              <a:rPr lang="ro-RO" dirty="0"/>
              <a:t>rest</a:t>
            </a:r>
            <a:endParaRPr lang="en-CA" dirty="0"/>
          </a:p>
          <a:p>
            <a:r>
              <a:rPr lang="en-CA" dirty="0"/>
              <a:t>+,- </a:t>
            </a:r>
            <a:r>
              <a:rPr lang="ro-RO" dirty="0"/>
              <a:t>Adunare/Scădere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41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057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Declararea variabilelor </a:t>
            </a:r>
            <a:endParaRPr lang="en-CA" sz="36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o-RO" b="1">
                <a:latin typeface="Courier New" panose="02070309020205020404" pitchFamily="49" charset="0"/>
                <a:cs typeface="Courier New" panose="02070309020205020404" pitchFamily="49" charset="0"/>
              </a:rPr>
              <a:t>Sintaxa: </a:t>
            </a:r>
          </a:p>
          <a:p>
            <a:pPr marL="0" indent="0">
              <a:buNone/>
            </a:pPr>
            <a:r>
              <a:rPr lang="ro-RO" altLang="ro-RO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Tip </a:t>
            </a:r>
            <a:r>
              <a:rPr lang="ro-RO" altLang="ro-RO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NumeVariabilă</a:t>
            </a:r>
            <a:r>
              <a:rPr lang="ro-RO" altLang="ro-RO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[, </a:t>
            </a:r>
            <a:r>
              <a:rPr lang="ro-RO" altLang="ro-RO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NumeVariabilă</a:t>
            </a:r>
            <a:r>
              <a:rPr lang="ro-RO" altLang="ro-RO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]; </a:t>
            </a:r>
            <a:endParaRPr lang="ro-RO" altLang="ro-RO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o-RO" b="1">
                <a:latin typeface="Courier New" panose="02070309020205020404" pitchFamily="49" charset="0"/>
                <a:cs typeface="Courier New" panose="02070309020205020404" pitchFamily="49" charset="0"/>
              </a:rPr>
              <a:t>Exemple:</a:t>
            </a:r>
          </a:p>
          <a:p>
            <a:pPr marL="0" indent="0">
              <a:buNone/>
            </a:pPr>
            <a:r>
              <a:rPr lang="en-CA" b="1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 n = 1;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CA" b="1" err="1">
                <a:latin typeface="Courier New" panose="02070309020205020404" pitchFamily="49" charset="0"/>
                <a:cs typeface="Courier New" panose="02070309020205020404" pitchFamily="49" charset="0"/>
              </a:rPr>
              <a:t>ch</a:t>
            </a: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 = ‘A’;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String s = “Hello”;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Long L = new Long(100000);</a:t>
            </a:r>
          </a:p>
          <a:p>
            <a:pPr marL="0" indent="0">
              <a:buNone/>
            </a:pPr>
            <a:r>
              <a:rPr lang="en-CA" b="1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 done = false;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final double pi = 3.14159265358979323846;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Employee </a:t>
            </a:r>
            <a:r>
              <a:rPr lang="en-CA" b="1" err="1">
                <a:latin typeface="Courier New" panose="02070309020205020404" pitchFamily="49" charset="0"/>
                <a:cs typeface="Courier New" panose="02070309020205020404" pitchFamily="49" charset="0"/>
              </a:rPr>
              <a:t>joe</a:t>
            </a: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 = new Employee();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char [] a = new char[3];</a:t>
            </a:r>
          </a:p>
          <a:p>
            <a:pPr marL="0" indent="0">
              <a:buNone/>
            </a:pPr>
            <a:r>
              <a:rPr lang="en-CA" b="1">
                <a:latin typeface="Courier New" panose="02070309020205020404" pitchFamily="49" charset="0"/>
                <a:cs typeface="Courier New" panose="02070309020205020404" pitchFamily="49" charset="0"/>
              </a:rPr>
              <a:t>Vector v = new Vector();</a:t>
            </a:r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42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85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Clasa de memorare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b="1" dirty="0"/>
              <a:t>Variabile locale</a:t>
            </a:r>
          </a:p>
          <a:p>
            <a:r>
              <a:rPr lang="ro-RO" dirty="0"/>
              <a:t>Variabilele locale sunt declarate, rezervate în memorie </a:t>
            </a:r>
            <a:r>
              <a:rPr lang="ro-RO" dirty="0" err="1"/>
              <a:t>şi</a:t>
            </a:r>
            <a:r>
              <a:rPr lang="ro-RO" dirty="0"/>
              <a:t> utilizate doar în interiorul unor blocuri de </a:t>
            </a:r>
            <a:r>
              <a:rPr lang="ro-RO" dirty="0" err="1"/>
              <a:t>instrucţiuni</a:t>
            </a:r>
            <a:r>
              <a:rPr lang="ro-RO" dirty="0"/>
              <a:t>, fiind distruse automat la </a:t>
            </a:r>
            <a:r>
              <a:rPr lang="ro-RO" dirty="0" err="1"/>
              <a:t>ieşirea</a:t>
            </a:r>
            <a:r>
              <a:rPr lang="ro-RO" dirty="0"/>
              <a:t> din aceste blocuri.</a:t>
            </a:r>
          </a:p>
          <a:p>
            <a:r>
              <a:rPr lang="ro-RO" b="1" dirty="0"/>
              <a:t>Variabile statice</a:t>
            </a:r>
          </a:p>
          <a:p>
            <a:r>
              <a:rPr lang="ro-RO" dirty="0"/>
              <a:t>Se declară cu </a:t>
            </a:r>
            <a:r>
              <a:rPr lang="ro-RO" b="1" dirty="0"/>
              <a:t>static</a:t>
            </a:r>
          </a:p>
          <a:p>
            <a:r>
              <a:rPr lang="ro-RO" dirty="0"/>
              <a:t>se mai numesc uneori </a:t>
            </a:r>
            <a:r>
              <a:rPr lang="ro-RO" dirty="0" err="1"/>
              <a:t>şi</a:t>
            </a:r>
            <a:r>
              <a:rPr lang="ro-RO" dirty="0"/>
              <a:t> </a:t>
            </a:r>
            <a:r>
              <a:rPr lang="ro-RO" i="1" dirty="0"/>
              <a:t>variabile de clasă</a:t>
            </a:r>
            <a:r>
              <a:rPr lang="ro-RO" b="1" dirty="0"/>
              <a:t>.</a:t>
            </a:r>
          </a:p>
          <a:p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2006863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Variabile dinamice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Aceste variabile pot fi alocate la cerere, dinamic, în orice moment al </a:t>
            </a:r>
            <a:r>
              <a:rPr lang="ro-RO" dirty="0" err="1"/>
              <a:t>execuţiei</a:t>
            </a:r>
            <a:r>
              <a:rPr lang="ro-RO" dirty="0"/>
              <a:t> programului. Ele vor fi distruse doar atunci când nu mai sunt referite de nicăieri.</a:t>
            </a:r>
          </a:p>
          <a:p>
            <a:r>
              <a:rPr lang="ro-RO" dirty="0"/>
              <a:t>Se utilizează o expresie de alocare care </a:t>
            </a:r>
            <a:r>
              <a:rPr lang="ro-RO" dirty="0" err="1"/>
              <a:t>foloseşte</a:t>
            </a:r>
            <a:r>
              <a:rPr lang="ro-RO" dirty="0"/>
              <a:t> cuvântul rezervat </a:t>
            </a:r>
            <a:r>
              <a:rPr lang="ro-RO" b="1" dirty="0" err="1"/>
              <a:t>new</a:t>
            </a:r>
            <a:endParaRPr lang="ro-RO" b="1" dirty="0"/>
          </a:p>
          <a:p>
            <a:r>
              <a:rPr lang="ro-RO" b="1" dirty="0"/>
              <a:t>Minge </a:t>
            </a:r>
            <a:r>
              <a:rPr lang="ro-RO" b="1" dirty="0" err="1"/>
              <a:t>mingeaMea</a:t>
            </a:r>
            <a:r>
              <a:rPr lang="ro-RO" b="1" dirty="0"/>
              <a:t> = </a:t>
            </a:r>
            <a:r>
              <a:rPr lang="ro-RO" b="1" dirty="0" err="1"/>
              <a:t>new</a:t>
            </a:r>
            <a:r>
              <a:rPr lang="ro-RO" b="1" dirty="0"/>
              <a:t> Minge( );</a:t>
            </a:r>
          </a:p>
          <a:p>
            <a:r>
              <a:rPr lang="ro-RO" b="1" dirty="0"/>
              <a:t>Minge echipament[] = </a:t>
            </a:r>
            <a:r>
              <a:rPr lang="ro-RO" b="1" dirty="0" err="1"/>
              <a:t>new</a:t>
            </a:r>
            <a:r>
              <a:rPr lang="ro-RO" b="1" dirty="0"/>
              <a:t> Minge[5];</a:t>
            </a:r>
          </a:p>
          <a:p>
            <a:r>
              <a:rPr lang="ro-RO" b="1" dirty="0" err="1"/>
              <a:t>int</a:t>
            </a:r>
            <a:r>
              <a:rPr lang="ro-RO" b="1" dirty="0"/>
              <a:t> numere[] = </a:t>
            </a:r>
            <a:r>
              <a:rPr lang="ro-RO" b="1" dirty="0" err="1"/>
              <a:t>new</a:t>
            </a:r>
            <a:r>
              <a:rPr lang="ro-RO" b="1" dirty="0"/>
              <a:t> </a:t>
            </a:r>
            <a:r>
              <a:rPr lang="ro-RO" b="1" dirty="0" err="1"/>
              <a:t>int</a:t>
            </a:r>
            <a:r>
              <a:rPr lang="ro-RO" b="1" dirty="0"/>
              <a:t>[10]; </a:t>
            </a:r>
          </a:p>
          <a:p>
            <a:r>
              <a:rPr lang="ro-RO" b="1" dirty="0"/>
              <a:t> </a:t>
            </a:r>
          </a:p>
          <a:p>
            <a:endParaRPr lang="ro-RO" b="1" dirty="0"/>
          </a:p>
        </p:txBody>
      </p:sp>
    </p:spTree>
    <p:extLst>
      <p:ext uri="{BB962C8B-B14F-4D97-AF65-F5344CB8AC3E}">
        <p14:creationId xmlns:p14="http://schemas.microsoft.com/office/powerpoint/2010/main" val="28058240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Tablouri de variabile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  Declaraţia variabilelor de tip tablou</a:t>
            </a:r>
          </a:p>
          <a:p>
            <a:r>
              <a:rPr lang="ro-RO" dirty="0"/>
              <a:t>Tablouri cu 1 dimesiune</a:t>
            </a:r>
          </a:p>
          <a:p>
            <a:r>
              <a:rPr lang="ro-RO" dirty="0">
                <a:solidFill>
                  <a:srgbClr val="0070C0"/>
                </a:solidFill>
              </a:rPr>
              <a:t>int[ ] numere;</a:t>
            </a:r>
          </a:p>
          <a:p>
            <a:r>
              <a:rPr lang="ro-RO" dirty="0">
                <a:solidFill>
                  <a:srgbClr val="0070C0"/>
                </a:solidFill>
              </a:rPr>
              <a:t>int numere[ ];</a:t>
            </a:r>
          </a:p>
          <a:p>
            <a:r>
              <a:rPr lang="ro-RO" dirty="0"/>
              <a:t>Tablouri cu 2 dimensiuni (matrice)</a:t>
            </a:r>
          </a:p>
          <a:p>
            <a:r>
              <a:rPr lang="ro-RO" dirty="0">
                <a:solidFill>
                  <a:srgbClr val="FF0000"/>
                </a:solidFill>
              </a:rPr>
              <a:t>float   [ ][ ] matrice;</a:t>
            </a:r>
          </a:p>
          <a:p>
            <a:r>
              <a:rPr lang="ro-RO" dirty="0">
                <a:solidFill>
                  <a:srgbClr val="FF0000"/>
                </a:solidFill>
              </a:rPr>
              <a:t>float[ ] matrice[];</a:t>
            </a:r>
          </a:p>
          <a:p>
            <a:r>
              <a:rPr lang="ro-RO" dirty="0">
                <a:solidFill>
                  <a:srgbClr val="FF0000"/>
                </a:solidFill>
              </a:rPr>
              <a:t>float matrice[][];</a:t>
            </a:r>
          </a:p>
          <a:p>
            <a:r>
              <a:rPr lang="ro-RO" dirty="0"/>
              <a:t>Alocarea spaţiului pentru elementele tabloului trebuie făcută explicit.</a:t>
            </a:r>
          </a:p>
          <a:p>
            <a:r>
              <a:rPr lang="ro-RO" dirty="0"/>
              <a:t>Pentru tablourile cu mai multe dimensiuni, rezervarea spaţiului se poate face cu următoarea sintaxă:</a:t>
            </a:r>
          </a:p>
          <a:p>
            <a:r>
              <a:rPr lang="ro-RO" dirty="0">
                <a:solidFill>
                  <a:srgbClr val="FF0000"/>
                </a:solidFill>
              </a:rPr>
              <a:t>byte [][]octeti = new byte[23][5];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461517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dirty="0">
                <a:solidFill>
                  <a:srgbClr val="FFFFFF"/>
                </a:solidFill>
              </a:rPr>
              <a:t>Iniţializarea tablourilor.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char []caractere = { ’a’, ’b ’, ’c ’, ’d ’ };</a:t>
            </a:r>
          </a:p>
          <a:p>
            <a:r>
              <a:rPr lang="ro-RO" dirty="0">
                <a:solidFill>
                  <a:srgbClr val="FF0000"/>
                </a:solidFill>
              </a:rPr>
              <a:t>int [][]numere = {</a:t>
            </a:r>
          </a:p>
          <a:p>
            <a:r>
              <a:rPr lang="ro-RO" dirty="0">
                <a:solidFill>
                  <a:srgbClr val="FF0000"/>
                </a:solidFill>
              </a:rPr>
              <a:t>{ 1, 3, 4, 5 },</a:t>
            </a:r>
          </a:p>
          <a:p>
            <a:r>
              <a:rPr lang="ro-RO" dirty="0">
                <a:solidFill>
                  <a:srgbClr val="FF0000"/>
                </a:solidFill>
              </a:rPr>
              <a:t>{ 2, 4, 5 },</a:t>
            </a:r>
          </a:p>
          <a:p>
            <a:r>
              <a:rPr lang="ro-RO" dirty="0">
                <a:solidFill>
                  <a:srgbClr val="FF0000"/>
                </a:solidFill>
              </a:rPr>
              <a:t>{ 1, 2, 3, 4, 5 }</a:t>
            </a:r>
          </a:p>
          <a:p>
            <a:r>
              <a:rPr lang="ro-RO" dirty="0">
                <a:solidFill>
                  <a:srgbClr val="FF0000"/>
                </a:solidFill>
              </a:rPr>
              <a:t>};</a:t>
            </a:r>
          </a:p>
          <a:p>
            <a:r>
              <a:rPr lang="ro-RO" dirty="0">
                <a:solidFill>
                  <a:srgbClr val="0070C0"/>
                </a:solidFill>
              </a:rPr>
              <a:t>double [][][]reali = {</a:t>
            </a:r>
          </a:p>
          <a:p>
            <a:r>
              <a:rPr lang="ro-RO" dirty="0">
                <a:solidFill>
                  <a:srgbClr val="0070C0"/>
                </a:solidFill>
              </a:rPr>
              <a:t>{ { 0.0, -1.0 }, { 4.5 } },</a:t>
            </a:r>
          </a:p>
          <a:p>
            <a:r>
              <a:rPr lang="ro-RO" dirty="0">
                <a:solidFill>
                  <a:srgbClr val="0070C0"/>
                </a:solidFill>
              </a:rPr>
              <a:t>{ { 2.5, 3.0 } }</a:t>
            </a:r>
          </a:p>
          <a:p>
            <a:r>
              <a:rPr lang="ro-RO" dirty="0">
                <a:solidFill>
                  <a:srgbClr val="0070C0"/>
                </a:solidFill>
              </a:rPr>
              <a:t>};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500597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Lungimea tablourilor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float</a:t>
            </a:r>
            <a:r>
              <a:rPr lang="ro-RO" dirty="0"/>
              <a:t> []tablou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[25];</a:t>
            </a:r>
          </a:p>
          <a:p>
            <a:r>
              <a:rPr lang="ro-RO" dirty="0" err="1"/>
              <a:t>int</a:t>
            </a:r>
            <a:r>
              <a:rPr lang="ro-RO" dirty="0"/>
              <a:t> dimensiune = </a:t>
            </a:r>
            <a:r>
              <a:rPr lang="ro-RO" dirty="0" err="1"/>
              <a:t>tablou.length</a:t>
            </a:r>
            <a:r>
              <a:rPr lang="ro-RO" dirty="0"/>
              <a:t>;      // dimensiune </a:t>
            </a:r>
            <a:r>
              <a:rPr lang="ro-RO" dirty="0" err="1"/>
              <a:t>primeşte</a:t>
            </a:r>
            <a:r>
              <a:rPr lang="ro-RO" dirty="0"/>
              <a:t> valoarea 25</a:t>
            </a:r>
          </a:p>
          <a:p>
            <a:r>
              <a:rPr lang="ro-RO" dirty="0"/>
              <a:t>sau</a:t>
            </a:r>
          </a:p>
          <a:p>
            <a:r>
              <a:rPr lang="ro-RO" dirty="0" err="1"/>
              <a:t>float</a:t>
            </a:r>
            <a:r>
              <a:rPr lang="ro-RO" dirty="0"/>
              <a:t> [][]</a:t>
            </a:r>
            <a:r>
              <a:rPr lang="ro-RO" dirty="0" err="1"/>
              <a:t>multiTablou</a:t>
            </a:r>
            <a:r>
              <a:rPr lang="ro-RO" dirty="0"/>
              <a:t>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[3][4];</a:t>
            </a:r>
          </a:p>
          <a:p>
            <a:r>
              <a:rPr lang="ro-RO" dirty="0" err="1"/>
              <a:t>int</a:t>
            </a:r>
            <a:r>
              <a:rPr lang="ro-RO" dirty="0"/>
              <a:t> dimensiune1 = </a:t>
            </a:r>
            <a:r>
              <a:rPr lang="ro-RO" dirty="0" err="1"/>
              <a:t>multiTablou</a:t>
            </a:r>
            <a:r>
              <a:rPr lang="ro-RO" dirty="0"/>
              <a:t>[2].</a:t>
            </a:r>
            <a:r>
              <a:rPr lang="ro-RO" dirty="0" err="1"/>
              <a:t>length</a:t>
            </a:r>
            <a:r>
              <a:rPr lang="ro-RO" dirty="0"/>
              <a:t>;     // dimensiune1 </a:t>
            </a:r>
            <a:r>
              <a:rPr lang="ro-RO" dirty="0" err="1"/>
              <a:t>primeşte</a:t>
            </a:r>
            <a:r>
              <a:rPr lang="ro-RO" dirty="0"/>
              <a:t> valoarea 4</a:t>
            </a:r>
          </a:p>
          <a:p>
            <a:r>
              <a:rPr lang="ro-RO" dirty="0" err="1"/>
              <a:t>int</a:t>
            </a:r>
            <a:r>
              <a:rPr lang="ro-RO" dirty="0"/>
              <a:t> dimensiune2 = </a:t>
            </a:r>
            <a:r>
              <a:rPr lang="ro-RO" dirty="0" err="1"/>
              <a:t>multiTablou.length</a:t>
            </a:r>
            <a:r>
              <a:rPr lang="ro-RO" dirty="0"/>
              <a:t>;         // dimensiune2 </a:t>
            </a:r>
            <a:r>
              <a:rPr lang="ro-RO" dirty="0" err="1"/>
              <a:t>primeşte</a:t>
            </a:r>
            <a:r>
              <a:rPr lang="ro-RO" dirty="0"/>
              <a:t> valoarea 3 </a:t>
            </a:r>
          </a:p>
          <a:p>
            <a:endParaRPr lang="ro-RO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E88AD92-F14C-5A31-CFC6-AAE348F6F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830436"/>
              </p:ext>
            </p:extLst>
          </p:nvPr>
        </p:nvGraphicFramePr>
        <p:xfrm>
          <a:off x="6757850" y="4673357"/>
          <a:ext cx="20987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692">
                  <a:extLst>
                    <a:ext uri="{9D8B030D-6E8A-4147-A177-3AD203B41FA5}">
                      <a16:colId xmlns:a16="http://schemas.microsoft.com/office/drawing/2014/main" val="4166319879"/>
                    </a:ext>
                  </a:extLst>
                </a:gridCol>
                <a:gridCol w="524692">
                  <a:extLst>
                    <a:ext uri="{9D8B030D-6E8A-4147-A177-3AD203B41FA5}">
                      <a16:colId xmlns:a16="http://schemas.microsoft.com/office/drawing/2014/main" val="1600370748"/>
                    </a:ext>
                  </a:extLst>
                </a:gridCol>
                <a:gridCol w="524692">
                  <a:extLst>
                    <a:ext uri="{9D8B030D-6E8A-4147-A177-3AD203B41FA5}">
                      <a16:colId xmlns:a16="http://schemas.microsoft.com/office/drawing/2014/main" val="211720491"/>
                    </a:ext>
                  </a:extLst>
                </a:gridCol>
                <a:gridCol w="524692">
                  <a:extLst>
                    <a:ext uri="{9D8B030D-6E8A-4147-A177-3AD203B41FA5}">
                      <a16:colId xmlns:a16="http://schemas.microsoft.com/office/drawing/2014/main" val="2469174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23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58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20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057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Referirea elementelor din tablou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>
                <a:solidFill>
                  <a:srgbClr val="FF0000"/>
                </a:solidFill>
              </a:rPr>
              <a:t>int</a:t>
            </a:r>
            <a:r>
              <a:rPr lang="ro-RO" dirty="0">
                <a:solidFill>
                  <a:srgbClr val="FF0000"/>
                </a:solidFill>
              </a:rPr>
              <a:t> []tablou = </a:t>
            </a:r>
            <a:r>
              <a:rPr lang="ro-RO" dirty="0" err="1">
                <a:solidFill>
                  <a:srgbClr val="FF0000"/>
                </a:solidFill>
              </a:rPr>
              <a:t>new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 err="1">
                <a:solidFill>
                  <a:srgbClr val="FF0000"/>
                </a:solidFill>
              </a:rPr>
              <a:t>int</a:t>
            </a:r>
            <a:r>
              <a:rPr lang="ro-RO" dirty="0">
                <a:solidFill>
                  <a:srgbClr val="FF0000"/>
                </a:solidFill>
              </a:rPr>
              <a:t>[10];</a:t>
            </a:r>
          </a:p>
          <a:p>
            <a:r>
              <a:rPr lang="ro-RO" dirty="0">
                <a:solidFill>
                  <a:srgbClr val="FF0000"/>
                </a:solidFill>
              </a:rPr>
              <a:t>tablou[3] = 1;</a:t>
            </a:r>
          </a:p>
          <a:p>
            <a:r>
              <a:rPr lang="ro-RO" dirty="0">
                <a:solidFill>
                  <a:srgbClr val="FF0000"/>
                </a:solidFill>
              </a:rPr>
              <a:t>// al patrulea element </a:t>
            </a:r>
            <a:r>
              <a:rPr lang="ro-RO" dirty="0" err="1">
                <a:solidFill>
                  <a:srgbClr val="FF0000"/>
                </a:solidFill>
              </a:rPr>
              <a:t>primeşte</a:t>
            </a:r>
            <a:r>
              <a:rPr lang="ro-RO" dirty="0">
                <a:solidFill>
                  <a:srgbClr val="FF0000"/>
                </a:solidFill>
              </a:rPr>
              <a:t> valoarea 1</a:t>
            </a:r>
          </a:p>
          <a:p>
            <a:r>
              <a:rPr lang="ro-RO" dirty="0" err="1">
                <a:solidFill>
                  <a:srgbClr val="00B0F0"/>
                </a:solidFill>
              </a:rPr>
              <a:t>float</a:t>
            </a:r>
            <a:r>
              <a:rPr lang="ro-RO" dirty="0">
                <a:solidFill>
                  <a:srgbClr val="00B0F0"/>
                </a:solidFill>
              </a:rPr>
              <a:t> [][]reali = </a:t>
            </a:r>
            <a:r>
              <a:rPr lang="ro-RO" dirty="0" err="1">
                <a:solidFill>
                  <a:srgbClr val="00B0F0"/>
                </a:solidFill>
              </a:rPr>
              <a:t>new</a:t>
            </a:r>
            <a:r>
              <a:rPr lang="ro-RO" dirty="0">
                <a:solidFill>
                  <a:srgbClr val="00B0F0"/>
                </a:solidFill>
              </a:rPr>
              <a:t> </a:t>
            </a:r>
            <a:r>
              <a:rPr lang="ro-RO" dirty="0" err="1">
                <a:solidFill>
                  <a:srgbClr val="00B0F0"/>
                </a:solidFill>
              </a:rPr>
              <a:t>float</a:t>
            </a:r>
            <a:r>
              <a:rPr lang="ro-RO" dirty="0">
                <a:solidFill>
                  <a:srgbClr val="00B0F0"/>
                </a:solidFill>
              </a:rPr>
              <a:t>[3][4];</a:t>
            </a:r>
          </a:p>
          <a:p>
            <a:r>
              <a:rPr lang="ro-RO" dirty="0">
                <a:solidFill>
                  <a:srgbClr val="00B0F0"/>
                </a:solidFill>
              </a:rPr>
              <a:t>reali[2][3] = 1.0f;</a:t>
            </a:r>
          </a:p>
          <a:p>
            <a:r>
              <a:rPr lang="ro-RO" dirty="0">
                <a:solidFill>
                  <a:srgbClr val="00B0F0"/>
                </a:solidFill>
              </a:rPr>
              <a:t>// al patrulea element din al treilea tablou</a:t>
            </a:r>
          </a:p>
          <a:p>
            <a:r>
              <a:rPr lang="ro-RO" dirty="0">
                <a:solidFill>
                  <a:srgbClr val="00B0F0"/>
                </a:solidFill>
              </a:rPr>
              <a:t>// </a:t>
            </a:r>
            <a:r>
              <a:rPr lang="ro-RO" dirty="0" err="1">
                <a:solidFill>
                  <a:srgbClr val="00B0F0"/>
                </a:solidFill>
              </a:rPr>
              <a:t>primeşte</a:t>
            </a:r>
            <a:r>
              <a:rPr lang="ro-RO" dirty="0">
                <a:solidFill>
                  <a:srgbClr val="00B0F0"/>
                </a:solidFill>
              </a:rPr>
              <a:t> valoarea 1</a:t>
            </a:r>
          </a:p>
          <a:p>
            <a:r>
              <a:rPr lang="en-US" dirty="0"/>
              <a:t>char [][]</a:t>
            </a:r>
            <a:r>
              <a:rPr lang="en-US" dirty="0" err="1"/>
              <a:t>caractere</a:t>
            </a:r>
            <a:r>
              <a:rPr lang="en-US" dirty="0"/>
              <a:t> = new char [5][];</a:t>
            </a:r>
            <a:endParaRPr lang="ro-RO" dirty="0"/>
          </a:p>
        </p:txBody>
      </p:sp>
      <p:pic>
        <p:nvPicPr>
          <p:cNvPr id="17410" name="Picture 2" descr="cap51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644" y="4755325"/>
            <a:ext cx="4995604" cy="756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409E4E1-B050-68D7-F126-934B30F34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458864"/>
              </p:ext>
            </p:extLst>
          </p:nvPr>
        </p:nvGraphicFramePr>
        <p:xfrm>
          <a:off x="5921827" y="3158066"/>
          <a:ext cx="20987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692">
                  <a:extLst>
                    <a:ext uri="{9D8B030D-6E8A-4147-A177-3AD203B41FA5}">
                      <a16:colId xmlns:a16="http://schemas.microsoft.com/office/drawing/2014/main" val="4166319879"/>
                    </a:ext>
                  </a:extLst>
                </a:gridCol>
                <a:gridCol w="524692">
                  <a:extLst>
                    <a:ext uri="{9D8B030D-6E8A-4147-A177-3AD203B41FA5}">
                      <a16:colId xmlns:a16="http://schemas.microsoft.com/office/drawing/2014/main" val="1600370748"/>
                    </a:ext>
                  </a:extLst>
                </a:gridCol>
                <a:gridCol w="524692">
                  <a:extLst>
                    <a:ext uri="{9D8B030D-6E8A-4147-A177-3AD203B41FA5}">
                      <a16:colId xmlns:a16="http://schemas.microsoft.com/office/drawing/2014/main" val="211720491"/>
                    </a:ext>
                  </a:extLst>
                </a:gridCol>
                <a:gridCol w="524692">
                  <a:extLst>
                    <a:ext uri="{9D8B030D-6E8A-4147-A177-3AD203B41FA5}">
                      <a16:colId xmlns:a16="http://schemas.microsoft.com/office/drawing/2014/main" val="2469174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23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58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1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20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54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671" y="1844059"/>
            <a:ext cx="10058400" cy="4023360"/>
          </a:xfrm>
        </p:spPr>
        <p:txBody>
          <a:bodyPr/>
          <a:lstStyle/>
          <a:p>
            <a:r>
              <a:rPr lang="ro-RO" dirty="0"/>
              <a:t>Variabila </a:t>
            </a:r>
            <a:r>
              <a:rPr lang="ro-RO" dirty="0" err="1"/>
              <a:t>referinţă</a:t>
            </a:r>
            <a:r>
              <a:rPr lang="ro-RO" dirty="0"/>
              <a:t> numită caractere </a:t>
            </a:r>
            <a:r>
              <a:rPr lang="ro-RO" dirty="0" err="1"/>
              <a:t>conţine</a:t>
            </a:r>
            <a:r>
              <a:rPr lang="ro-RO" dirty="0"/>
              <a:t> deocamdată un tablou de 5 </a:t>
            </a:r>
            <a:r>
              <a:rPr lang="ro-RO" dirty="0" err="1"/>
              <a:t>referinţe</a:t>
            </a:r>
            <a:r>
              <a:rPr lang="ro-RO" dirty="0"/>
              <a:t> la tablouri de caractere. Cele cinci </a:t>
            </a:r>
            <a:r>
              <a:rPr lang="ro-RO" dirty="0" err="1"/>
              <a:t>referinţe</a:t>
            </a:r>
            <a:r>
              <a:rPr lang="ro-RO" dirty="0"/>
              <a:t> sunt </a:t>
            </a:r>
            <a:r>
              <a:rPr lang="ro-RO" dirty="0" err="1"/>
              <a:t>iniţializate</a:t>
            </a:r>
            <a:r>
              <a:rPr lang="ro-RO" dirty="0"/>
              <a:t> cu </a:t>
            </a:r>
            <a:r>
              <a:rPr lang="ro-RO" dirty="0" err="1"/>
              <a:t>null</a:t>
            </a:r>
            <a:r>
              <a:rPr lang="ro-RO" dirty="0"/>
              <a:t>. </a:t>
            </a:r>
            <a:endParaRPr lang="en-US" dirty="0"/>
          </a:p>
          <a:p>
            <a:r>
              <a:rPr lang="ro-RO" dirty="0"/>
              <a:t>Putem </a:t>
            </a:r>
            <a:r>
              <a:rPr lang="ro-RO" dirty="0" err="1"/>
              <a:t>iniţializa</a:t>
            </a:r>
            <a:r>
              <a:rPr lang="ro-RO" dirty="0"/>
              <a:t> aceste tablouri prin atribuiri de expresii de alocare:</a:t>
            </a:r>
          </a:p>
          <a:p>
            <a:r>
              <a:rPr lang="ro-RO" dirty="0"/>
              <a:t>caractere[0]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char</a:t>
            </a:r>
            <a:r>
              <a:rPr lang="ro-RO" dirty="0"/>
              <a:t> [3];</a:t>
            </a:r>
          </a:p>
          <a:p>
            <a:r>
              <a:rPr lang="ro-RO" dirty="0"/>
              <a:t>caractere[4]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char</a:t>
            </a:r>
            <a:r>
              <a:rPr lang="ro-RO" dirty="0"/>
              <a:t> [5];</a:t>
            </a:r>
          </a:p>
          <a:p>
            <a:endParaRPr lang="ro-RO" dirty="0"/>
          </a:p>
          <a:p>
            <a:r>
              <a:rPr lang="ro-RO" dirty="0"/>
              <a:t>La fel, putem scrie:</a:t>
            </a:r>
          </a:p>
          <a:p>
            <a:r>
              <a:rPr lang="ro-RO" dirty="0" err="1"/>
              <a:t>char</a:t>
            </a:r>
            <a:r>
              <a:rPr lang="ro-RO" dirty="0"/>
              <a:t> []</a:t>
            </a:r>
            <a:r>
              <a:rPr lang="ro-RO" dirty="0" err="1"/>
              <a:t>tablouDeCaractere</a:t>
            </a:r>
            <a:r>
              <a:rPr lang="ro-RO" dirty="0"/>
              <a:t> = caractere[0];</a:t>
            </a:r>
          </a:p>
          <a:p>
            <a:endParaRPr lang="ro-RO" dirty="0"/>
          </a:p>
          <a:p>
            <a:endParaRPr lang="ro-RO" dirty="0"/>
          </a:p>
        </p:txBody>
      </p:sp>
      <p:pic>
        <p:nvPicPr>
          <p:cNvPr id="18434" name="Picture 2" descr="cap51_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870" y="2871531"/>
            <a:ext cx="4404363" cy="193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 descr="cap51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65" y="5013941"/>
            <a:ext cx="4154775" cy="121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38719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b="1">
                <a:solidFill>
                  <a:srgbClr val="FFFFFF"/>
                </a:solidFill>
              </a:rPr>
              <a:t>Alocarea şi eliberarea tablourilor</a:t>
            </a:r>
            <a:br>
              <a:rPr lang="ro-RO" sz="3600" b="1">
                <a:solidFill>
                  <a:srgbClr val="FFFFFF"/>
                </a:solidFill>
              </a:rPr>
            </a:br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 exemplu:</a:t>
            </a:r>
          </a:p>
          <a:p>
            <a:r>
              <a:rPr lang="ro-RO" dirty="0" err="1"/>
              <a:t>float</a:t>
            </a:r>
            <a:r>
              <a:rPr lang="ro-RO" dirty="0"/>
              <a:t> []reali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[10];</a:t>
            </a:r>
          </a:p>
          <a:p>
            <a:endParaRPr lang="ro-RO" dirty="0"/>
          </a:p>
          <a:p>
            <a:r>
              <a:rPr lang="ro-RO" dirty="0"/>
              <a:t>reali = </a:t>
            </a:r>
            <a:r>
              <a:rPr lang="ro-RO" dirty="0" err="1"/>
              <a:t>null</a:t>
            </a:r>
            <a:r>
              <a:rPr lang="ro-RO" dirty="0"/>
              <a:t>; // eliberarea tabloului</a:t>
            </a:r>
          </a:p>
          <a:p>
            <a:r>
              <a:rPr lang="ro-RO" dirty="0"/>
              <a:t>sau</a:t>
            </a:r>
          </a:p>
          <a:p>
            <a:r>
              <a:rPr lang="ro-RO" dirty="0"/>
              <a:t>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[15]; // eliberarea în alt fel</a:t>
            </a:r>
          </a:p>
          <a:p>
            <a:r>
              <a:rPr lang="ro-RO" dirty="0"/>
              <a:t>sau</a:t>
            </a:r>
          </a:p>
          <a:p>
            <a:endParaRPr lang="ro-RO" dirty="0"/>
          </a:p>
          <a:p>
            <a:r>
              <a:rPr lang="ro-RO" dirty="0" err="1"/>
              <a:t>float</a:t>
            </a:r>
            <a:r>
              <a:rPr lang="ro-RO" dirty="0"/>
              <a:t> []reali = </a:t>
            </a:r>
            <a:r>
              <a:rPr lang="ro-RO" dirty="0" err="1"/>
              <a:t>new</a:t>
            </a:r>
            <a:r>
              <a:rPr lang="ro-RO" dirty="0"/>
              <a:t> </a:t>
            </a:r>
            <a:r>
              <a:rPr lang="ro-RO" dirty="0" err="1"/>
              <a:t>float</a:t>
            </a:r>
            <a:r>
              <a:rPr lang="ro-RO" dirty="0"/>
              <a:t>[10];</a:t>
            </a:r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33690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b="1">
                <a:solidFill>
                  <a:srgbClr val="FFFFFF"/>
                </a:solidFill>
              </a:rPr>
              <a:t>Conversii</a:t>
            </a:r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b="1" dirty="0"/>
              <a:t>Conversii de extindere a valorii</a:t>
            </a:r>
            <a:endParaRPr lang="ro-RO" dirty="0"/>
          </a:p>
          <a:p>
            <a:r>
              <a:rPr lang="ro-RO" dirty="0"/>
              <a:t>În aceste conversii valoarea se reprezintă într-o zonă mai mare fără să se piardă nici un fel de </a:t>
            </a:r>
            <a:r>
              <a:rPr lang="ro-RO" dirty="0" err="1"/>
              <a:t>informaţii</a:t>
            </a:r>
            <a:r>
              <a:rPr lang="ro-RO" dirty="0"/>
              <a:t>. Iată conversiile de extindere pe tipuri primitive: </a:t>
            </a:r>
          </a:p>
          <a:p>
            <a:r>
              <a:rPr lang="ro-RO" dirty="0"/>
              <a:t>•	byte la </a:t>
            </a:r>
            <a:r>
              <a:rPr lang="ro-RO" dirty="0" err="1"/>
              <a:t>short</a:t>
            </a:r>
            <a:r>
              <a:rPr lang="ro-RO" dirty="0"/>
              <a:t>,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short</a:t>
            </a:r>
            <a:r>
              <a:rPr lang="ro-RO" dirty="0"/>
              <a:t> la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char</a:t>
            </a:r>
            <a:r>
              <a:rPr lang="ro-RO" dirty="0"/>
              <a:t> la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int</a:t>
            </a:r>
            <a:r>
              <a:rPr lang="ro-RO" dirty="0"/>
              <a:t> la </a:t>
            </a:r>
            <a:r>
              <a:rPr lang="ro-RO" dirty="0" err="1"/>
              <a:t>long</a:t>
            </a:r>
            <a:r>
              <a:rPr lang="ro-RO" dirty="0"/>
              <a:t>,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long</a:t>
            </a:r>
            <a:r>
              <a:rPr lang="ro-RO" dirty="0"/>
              <a:t> la </a:t>
            </a:r>
            <a:r>
              <a:rPr lang="ro-RO" dirty="0" err="1"/>
              <a:t>float</a:t>
            </a:r>
            <a:r>
              <a:rPr lang="ro-RO" dirty="0"/>
              <a:t> sau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float</a:t>
            </a:r>
            <a:r>
              <a:rPr lang="ro-RO" dirty="0"/>
              <a:t> la </a:t>
            </a:r>
            <a:r>
              <a:rPr lang="ro-RO" dirty="0" err="1"/>
              <a:t>double</a:t>
            </a:r>
            <a:r>
              <a:rPr lang="ro-RO" dirty="0"/>
              <a:t>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060783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b="1">
                <a:solidFill>
                  <a:srgbClr val="FFFFFF"/>
                </a:solidFill>
              </a:rPr>
              <a:t>Conversii de trunchiere a valorii</a:t>
            </a:r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 err="1"/>
              <a:t>Convenţiile</a:t>
            </a:r>
            <a:r>
              <a:rPr lang="ro-RO" dirty="0"/>
              <a:t> de trunchiere a valorii pot produce pierderi de </a:t>
            </a:r>
            <a:r>
              <a:rPr lang="ro-RO" dirty="0" err="1"/>
              <a:t>informaţie</a:t>
            </a:r>
            <a:r>
              <a:rPr lang="ro-RO" dirty="0"/>
              <a:t> pentru că ele convertesc tipuri mai bogate în </a:t>
            </a:r>
            <a:r>
              <a:rPr lang="ro-RO" dirty="0" err="1"/>
              <a:t>informaţii</a:t>
            </a:r>
            <a:r>
              <a:rPr lang="ro-RO" dirty="0"/>
              <a:t> către tipuri mai sărace. Conversiile de trunchiere pe tipurile elementare sunt următoarele: </a:t>
            </a:r>
          </a:p>
          <a:p>
            <a:r>
              <a:rPr lang="ro-RO" dirty="0"/>
              <a:t>•	byte la </a:t>
            </a:r>
            <a:r>
              <a:rPr lang="ro-RO" dirty="0" err="1"/>
              <a:t>char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short</a:t>
            </a:r>
            <a:r>
              <a:rPr lang="ro-RO" dirty="0"/>
              <a:t> la byte sau </a:t>
            </a:r>
            <a:r>
              <a:rPr lang="ro-RO" dirty="0" err="1"/>
              <a:t>char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char</a:t>
            </a:r>
            <a:r>
              <a:rPr lang="ro-RO" dirty="0"/>
              <a:t> la byte sau </a:t>
            </a:r>
            <a:r>
              <a:rPr lang="ro-RO" dirty="0" err="1"/>
              <a:t>short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int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 sau </a:t>
            </a:r>
            <a:r>
              <a:rPr lang="ro-RO" dirty="0" err="1"/>
              <a:t>char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long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 </a:t>
            </a:r>
            <a:r>
              <a:rPr lang="ro-RO" dirty="0" err="1"/>
              <a:t>char</a:t>
            </a:r>
            <a:r>
              <a:rPr lang="ro-RO" dirty="0"/>
              <a:t>, sau </a:t>
            </a:r>
            <a:r>
              <a:rPr lang="ro-RO" dirty="0" err="1"/>
              <a:t>int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float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, </a:t>
            </a:r>
            <a:r>
              <a:rPr lang="ro-RO" dirty="0" err="1"/>
              <a:t>char</a:t>
            </a:r>
            <a:r>
              <a:rPr lang="ro-RO" dirty="0"/>
              <a:t>, </a:t>
            </a:r>
            <a:r>
              <a:rPr lang="ro-RO" dirty="0" err="1"/>
              <a:t>int</a:t>
            </a:r>
            <a:r>
              <a:rPr lang="ro-RO" dirty="0"/>
              <a:t> sau </a:t>
            </a:r>
            <a:r>
              <a:rPr lang="ro-RO" dirty="0" err="1"/>
              <a:t>long</a:t>
            </a:r>
            <a:r>
              <a:rPr lang="ro-RO" dirty="0"/>
              <a:t> </a:t>
            </a:r>
          </a:p>
          <a:p>
            <a:r>
              <a:rPr lang="ro-RO" dirty="0"/>
              <a:t>•	</a:t>
            </a:r>
            <a:r>
              <a:rPr lang="ro-RO" dirty="0" err="1"/>
              <a:t>double</a:t>
            </a:r>
            <a:r>
              <a:rPr lang="ro-RO" dirty="0"/>
              <a:t> la byte, </a:t>
            </a:r>
            <a:r>
              <a:rPr lang="ro-RO" dirty="0" err="1"/>
              <a:t>short</a:t>
            </a:r>
            <a:r>
              <a:rPr lang="ro-RO" dirty="0"/>
              <a:t>, </a:t>
            </a:r>
            <a:r>
              <a:rPr lang="ro-RO" dirty="0" err="1"/>
              <a:t>char</a:t>
            </a:r>
            <a:r>
              <a:rPr lang="ro-RO" dirty="0"/>
              <a:t>, </a:t>
            </a:r>
            <a:r>
              <a:rPr lang="ro-RO" dirty="0" err="1"/>
              <a:t>int</a:t>
            </a:r>
            <a:r>
              <a:rPr lang="ro-RO" dirty="0"/>
              <a:t>, </a:t>
            </a:r>
            <a:r>
              <a:rPr lang="ro-RO" dirty="0" err="1"/>
              <a:t>long</a:t>
            </a:r>
            <a:r>
              <a:rPr lang="ro-RO" dirty="0"/>
              <a:t> sau </a:t>
            </a:r>
            <a:r>
              <a:rPr lang="ro-RO" dirty="0" err="1"/>
              <a:t>float</a:t>
            </a:r>
            <a:r>
              <a:rPr lang="ro-RO" dirty="0"/>
              <a:t>.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532132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Conversii pe tipuri referinţă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sz="1700"/>
              <a:t>Limbajul Java </a:t>
            </a:r>
            <a:r>
              <a:rPr lang="ro-RO" sz="1700" err="1"/>
              <a:t>defineşte</a:t>
            </a:r>
            <a:r>
              <a:rPr lang="ro-RO" sz="1700"/>
              <a:t> extrem de strict conversiile posibile în cazul tipurilor </a:t>
            </a:r>
            <a:r>
              <a:rPr lang="ro-RO" sz="1700" err="1"/>
              <a:t>referinţă</a:t>
            </a:r>
            <a:r>
              <a:rPr lang="ro-RO" sz="1700"/>
              <a:t> pentru a salva programatorul de eventualele necazuri care pot apare în timpul </a:t>
            </a:r>
            <a:r>
              <a:rPr lang="ro-RO" sz="1700" err="1"/>
              <a:t>execuţiei</a:t>
            </a:r>
            <a:r>
              <a:rPr lang="ro-RO" sz="1700"/>
              <a:t>. Iată conversiile posibile: </a:t>
            </a:r>
          </a:p>
          <a:p>
            <a:r>
              <a:rPr lang="ro-RO" sz="1700"/>
              <a:t>•	O </a:t>
            </a:r>
            <a:r>
              <a:rPr lang="ro-RO" sz="1700" err="1"/>
              <a:t>referinţă</a:t>
            </a:r>
            <a:r>
              <a:rPr lang="ro-RO" sz="1700"/>
              <a:t> către un obiect </a:t>
            </a:r>
            <a:r>
              <a:rPr lang="ro-RO" sz="1700" err="1"/>
              <a:t>aparţinând</a:t>
            </a:r>
            <a:r>
              <a:rPr lang="ro-RO" sz="1700"/>
              <a:t> unei clase C poate fi convertit la o </a:t>
            </a:r>
            <a:r>
              <a:rPr lang="ro-RO" sz="1700" err="1"/>
              <a:t>referinţă</a:t>
            </a:r>
            <a:r>
              <a:rPr lang="ro-RO" sz="1700"/>
              <a:t> către un obiect </a:t>
            </a:r>
            <a:r>
              <a:rPr lang="ro-RO" sz="1700" err="1"/>
              <a:t>aparţinând</a:t>
            </a:r>
            <a:r>
              <a:rPr lang="ro-RO" sz="1700"/>
              <a:t> clasei S doar în cazul în care C este chiar S sau C este derivată direct sau indirect din S. </a:t>
            </a:r>
          </a:p>
          <a:p>
            <a:r>
              <a:rPr lang="ro-RO" sz="1700"/>
              <a:t>•	O </a:t>
            </a:r>
            <a:r>
              <a:rPr lang="ro-RO" sz="1700" err="1"/>
              <a:t>referinţă</a:t>
            </a:r>
            <a:r>
              <a:rPr lang="ro-RO" sz="1700"/>
              <a:t> către un obiect </a:t>
            </a:r>
            <a:r>
              <a:rPr lang="ro-RO" sz="1700" err="1"/>
              <a:t>aparţinând</a:t>
            </a:r>
            <a:r>
              <a:rPr lang="ro-RO" sz="1700"/>
              <a:t> unei clase C poate fi convertit către o </a:t>
            </a:r>
            <a:r>
              <a:rPr lang="ro-RO" sz="1700" err="1"/>
              <a:t>referinţă</a:t>
            </a:r>
            <a:r>
              <a:rPr lang="ro-RO" sz="1700"/>
              <a:t> de </a:t>
            </a:r>
            <a:r>
              <a:rPr lang="ro-RO" sz="1700" err="1"/>
              <a:t>interfaţă</a:t>
            </a:r>
            <a:r>
              <a:rPr lang="ro-RO" sz="1700"/>
              <a:t> I numai dacă clasa C implementează </a:t>
            </a:r>
            <a:r>
              <a:rPr lang="ro-RO" sz="1700" err="1"/>
              <a:t>interfaţa</a:t>
            </a:r>
            <a:r>
              <a:rPr lang="ro-RO" sz="1700"/>
              <a:t> I. </a:t>
            </a:r>
          </a:p>
          <a:p>
            <a:r>
              <a:rPr lang="ro-RO" sz="1700"/>
              <a:t>•	O </a:t>
            </a:r>
            <a:r>
              <a:rPr lang="ro-RO" sz="1700" err="1"/>
              <a:t>referinţă</a:t>
            </a:r>
            <a:r>
              <a:rPr lang="ro-RO" sz="1700"/>
              <a:t> către un tablou poate fi convertită la o </a:t>
            </a:r>
            <a:r>
              <a:rPr lang="ro-RO" sz="1700" err="1"/>
              <a:t>referinţă</a:t>
            </a:r>
            <a:r>
              <a:rPr lang="ro-RO" sz="1700"/>
              <a:t> către o clasă numai dacă clasa respectivă este clasa </a:t>
            </a:r>
            <a:r>
              <a:rPr lang="ro-RO" sz="1700" err="1"/>
              <a:t>Object</a:t>
            </a:r>
            <a:r>
              <a:rPr lang="ro-RO" sz="1700"/>
              <a:t>. </a:t>
            </a:r>
          </a:p>
          <a:p>
            <a:r>
              <a:rPr lang="ro-RO" sz="1700"/>
              <a:t>•	O </a:t>
            </a:r>
            <a:r>
              <a:rPr lang="ro-RO" sz="1700" err="1"/>
              <a:t>referinţă</a:t>
            </a:r>
            <a:r>
              <a:rPr lang="ro-RO" sz="1700"/>
              <a:t> către un tablou de elemente ale cărui elemente sunt de tipul T1 poate fi convertită la o </a:t>
            </a:r>
            <a:r>
              <a:rPr lang="ro-RO" sz="1700" err="1"/>
              <a:t>referinţă</a:t>
            </a:r>
            <a:r>
              <a:rPr lang="ro-RO" sz="1700"/>
              <a:t> către un tablou de elemente de tip T2 numai dacă T1 </a:t>
            </a:r>
            <a:r>
              <a:rPr lang="ro-RO" sz="1700" err="1"/>
              <a:t>şi</a:t>
            </a:r>
            <a:r>
              <a:rPr lang="ro-RO" sz="1700"/>
              <a:t> T2 reprezintă </a:t>
            </a:r>
            <a:r>
              <a:rPr lang="ro-RO" sz="1700" err="1"/>
              <a:t>acelaşi</a:t>
            </a:r>
            <a:r>
              <a:rPr lang="ro-RO" sz="1700"/>
              <a:t> tip primitiv sau T2 este un tip </a:t>
            </a:r>
            <a:r>
              <a:rPr lang="ro-RO" sz="1700" err="1"/>
              <a:t>referinţă</a:t>
            </a:r>
            <a:r>
              <a:rPr lang="ro-RO" sz="1700"/>
              <a:t> </a:t>
            </a:r>
            <a:r>
              <a:rPr lang="ro-RO" sz="1700" err="1"/>
              <a:t>şi</a:t>
            </a:r>
            <a:r>
              <a:rPr lang="ro-RO" sz="1700"/>
              <a:t> T1 poate fi convertit către T2. </a:t>
            </a:r>
          </a:p>
          <a:p>
            <a:endParaRPr lang="ro-RO" sz="1700"/>
          </a:p>
        </p:txBody>
      </p:sp>
    </p:spTree>
    <p:extLst>
      <p:ext uri="{BB962C8B-B14F-4D97-AF65-F5344CB8AC3E}">
        <p14:creationId xmlns:p14="http://schemas.microsoft.com/office/powerpoint/2010/main" val="26197486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o-RO" dirty="0"/>
              <a:t>Conversii la </a:t>
            </a:r>
            <a:r>
              <a:rPr lang="ro-RO" dirty="0" err="1"/>
              <a:t>operaţia</a:t>
            </a:r>
            <a:r>
              <a:rPr lang="ro-RO" dirty="0"/>
              <a:t> de atribuire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85830"/>
              </p:ext>
            </p:extLst>
          </p:nvPr>
        </p:nvGraphicFramePr>
        <p:xfrm>
          <a:off x="1570029" y="2098515"/>
          <a:ext cx="9112272" cy="3786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5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8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88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88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03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2900">
                          <a:effectLst/>
                        </a:rPr>
                        <a:t> </a:t>
                      </a:r>
                      <a:endParaRPr lang="ro-RO" sz="2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boolean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err="1">
                          <a:effectLst/>
                        </a:rPr>
                        <a:t>char</a:t>
                      </a:r>
                      <a:r>
                        <a:rPr lang="ro-RO" sz="1800">
                          <a:effectLst/>
                        </a:rPr>
                        <a:t>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byte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short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int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long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float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double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boolean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 err="1">
                          <a:effectLst/>
                        </a:rPr>
                        <a:t>char</a:t>
                      </a:r>
                      <a:r>
                        <a:rPr lang="ro-RO" sz="1800">
                          <a:effectLst/>
                        </a:rPr>
                        <a:t>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byte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 err="1">
                          <a:effectLst/>
                        </a:rPr>
                        <a:t>short</a:t>
                      </a:r>
                      <a:r>
                        <a:rPr lang="ro-RO" sz="1800">
                          <a:effectLst/>
                        </a:rPr>
                        <a:t>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 err="1">
                          <a:effectLst/>
                        </a:rPr>
                        <a:t>int</a:t>
                      </a:r>
                      <a:r>
                        <a:rPr lang="ro-RO" sz="1800">
                          <a:effectLst/>
                        </a:rPr>
                        <a:t>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long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float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969"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double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Nu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>
                          <a:effectLst/>
                        </a:rPr>
                        <a:t>Da </a:t>
                      </a:r>
                      <a:endParaRPr lang="ro-RO" sz="18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3845" marR="43845" marT="43845" marB="4384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4203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o-RO" b="1"/>
              <a:t>Conversiile posibile la atribuirea unei valori de tipul T la o variabilă de tipul S. </a:t>
            </a:r>
            <a:endParaRPr lang="ro-RO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875588"/>
              </p:ext>
            </p:extLst>
          </p:nvPr>
        </p:nvGraphicFramePr>
        <p:xfrm>
          <a:off x="1096963" y="2411251"/>
          <a:ext cx="10058402" cy="3160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4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3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400">
                          <a:effectLst/>
                        </a:rPr>
                        <a:t> </a:t>
                      </a:r>
                      <a:endParaRPr lang="ro-RO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clasă care nu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clasă care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interfaţă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= B[] este un tablou cu elemente de tipul B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38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clasă care nu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subclasă a lui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o subclasă a lui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trebuie să fie Object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38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clasă care este finală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aceeaşi clasă ca şi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aceeaşi clasă ca şi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38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interfaţă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implementeze interfaţa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implementeze interfaţa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o subinterfaţă a lui S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259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= A[] este un tablou cu elemente de tipul A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A sau B sunt </a:t>
                      </a:r>
                      <a:r>
                        <a:rPr lang="ro-RO" sz="1400" err="1">
                          <a:effectLst/>
                        </a:rPr>
                        <a:t>acelaşi</a:t>
                      </a:r>
                      <a:r>
                        <a:rPr lang="ro-RO" sz="1400">
                          <a:effectLst/>
                        </a:rPr>
                        <a:t> tip primitiv sau A este un tip </a:t>
                      </a:r>
                      <a:r>
                        <a:rPr lang="ro-RO" sz="1400" err="1">
                          <a:effectLst/>
                        </a:rPr>
                        <a:t>referinţă</a:t>
                      </a:r>
                      <a:r>
                        <a:rPr lang="ro-RO" sz="1400">
                          <a:effectLst/>
                        </a:rPr>
                        <a:t> </a:t>
                      </a:r>
                      <a:r>
                        <a:rPr lang="ro-RO" sz="1400" err="1">
                          <a:effectLst/>
                        </a:rPr>
                        <a:t>şi</a:t>
                      </a:r>
                      <a:r>
                        <a:rPr lang="ro-RO" sz="1400">
                          <a:effectLst/>
                        </a:rPr>
                        <a:t> B poate fi atribuit lui A </a:t>
                      </a:r>
                      <a:endParaRPr lang="ro-RO" sz="11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46755" marR="46755" marT="46755" marB="4675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4816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Conversii explicite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i="1" dirty="0"/>
              <a:t>Conversiile de tip cast, </a:t>
            </a:r>
            <a:r>
              <a:rPr lang="ro-RO" dirty="0"/>
              <a:t>sau</a:t>
            </a:r>
            <a:r>
              <a:rPr lang="ro-RO" i="1" dirty="0"/>
              <a:t> </a:t>
            </a:r>
            <a:r>
              <a:rPr lang="ro-RO" i="1" dirty="0" err="1"/>
              <a:t>casturile</a:t>
            </a:r>
            <a:r>
              <a:rPr lang="ro-RO" i="1" dirty="0"/>
              <a:t>,</a:t>
            </a:r>
            <a:r>
              <a:rPr lang="ro-RO" dirty="0"/>
              <a:t> sunt apelate de către programator în mod explicit. Sintaxa pentru </a:t>
            </a:r>
            <a:r>
              <a:rPr lang="ro-RO" dirty="0" err="1"/>
              <a:t>construcţia</a:t>
            </a:r>
            <a:r>
              <a:rPr lang="ro-RO" dirty="0"/>
              <a:t> unui cast este scrierea tipului către care dorim să convertim în paranteze în </a:t>
            </a:r>
            <a:r>
              <a:rPr lang="ro-RO" dirty="0" err="1"/>
              <a:t>faţa</a:t>
            </a:r>
            <a:r>
              <a:rPr lang="ro-RO" dirty="0"/>
              <a:t> valorii pe care dorim să o convertim. Forma generală este:</a:t>
            </a:r>
          </a:p>
          <a:p>
            <a:r>
              <a:rPr lang="ro-RO" dirty="0"/>
              <a:t>( </a:t>
            </a:r>
            <a:r>
              <a:rPr lang="ro-RO" i="1" dirty="0"/>
              <a:t>Tip</a:t>
            </a:r>
            <a:r>
              <a:rPr lang="ro-RO" dirty="0"/>
              <a:t> ) </a:t>
            </a:r>
            <a:r>
              <a:rPr lang="ro-RO" i="1" dirty="0"/>
              <a:t>Valoare</a:t>
            </a:r>
            <a:endParaRPr lang="en-US" i="1" dirty="0"/>
          </a:p>
          <a:p>
            <a:r>
              <a:rPr lang="en-US" i="1" dirty="0"/>
              <a:t>char x;</a:t>
            </a:r>
          </a:p>
          <a:p>
            <a:r>
              <a:rPr lang="en-US" i="1" dirty="0"/>
              <a:t>int y;</a:t>
            </a:r>
          </a:p>
          <a:p>
            <a:r>
              <a:rPr lang="en-US" i="1" dirty="0"/>
              <a:t>x=(char) y</a:t>
            </a:r>
          </a:p>
          <a:p>
            <a:r>
              <a:rPr lang="en-US" i="1" dirty="0" err="1"/>
              <a:t>Exemplu</a:t>
            </a:r>
            <a:r>
              <a:rPr lang="en-US" i="1" dirty="0"/>
              <a:t>:   int x=10,y=4;</a:t>
            </a:r>
          </a:p>
          <a:p>
            <a:r>
              <a:rPr lang="en-US" i="1" dirty="0"/>
              <a:t>                    float m=x/y;  // </a:t>
            </a:r>
            <a:r>
              <a:rPr lang="en-US" i="1" dirty="0" err="1"/>
              <a:t>rezultat</a:t>
            </a:r>
            <a:r>
              <a:rPr lang="en-US" i="1" dirty="0"/>
              <a:t> 2.0</a:t>
            </a:r>
          </a:p>
          <a:p>
            <a:r>
              <a:rPr lang="en-US" i="1" dirty="0"/>
              <a:t>                    float m1=(float)x/y; // </a:t>
            </a:r>
            <a:r>
              <a:rPr lang="en-US" i="1" dirty="0" err="1"/>
              <a:t>rezultat</a:t>
            </a:r>
            <a:r>
              <a:rPr lang="en-US" i="1" dirty="0"/>
              <a:t> 2,5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135279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ro-RO" sz="3600">
                <a:solidFill>
                  <a:srgbClr val="FFFFFF"/>
                </a:solidFill>
              </a:rPr>
              <a:t>Cazurile posibile la convertirea unei referinţe de tip T într-o referinţă de tip 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1807057"/>
              </p:ext>
            </p:extLst>
          </p:nvPr>
        </p:nvGraphicFramePr>
        <p:xfrm>
          <a:off x="4741863" y="1214534"/>
          <a:ext cx="6797679" cy="450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2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19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o-RO" sz="1400">
                          <a:effectLst/>
                        </a:rPr>
                        <a:t> </a:t>
                      </a:r>
                      <a:endParaRPr lang="ro-RO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clasă care nu este finală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clasă care este finală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este o interfaţă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= B[] este un tablou cu elemente de tipul B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575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clasă care nu este finală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subclasă a lui S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o subclasă a lui S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Totdeauna corectă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trebuie să fie Object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575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clasă care este finală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trebuie să fie subclasă a lui T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aceeaşi clasă ca şi S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trebuie să implementeze interfaţa T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575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este o interfaţă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Totdeauna corectă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implementeze </a:t>
                      </a:r>
                      <a:r>
                        <a:rPr lang="ro-RO" sz="1400" err="1">
                          <a:effectLst/>
                        </a:rPr>
                        <a:t>interfaţa</a:t>
                      </a:r>
                      <a:r>
                        <a:rPr lang="ro-RO" sz="1400">
                          <a:effectLst/>
                        </a:rPr>
                        <a:t> S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Totdeauna corectă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5447"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S = A[] este un tablou cu elemente de tipul A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T trebuie să fie Object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eroare la compilare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>
                          <a:effectLst/>
                        </a:rPr>
                        <a:t>A sau B sunt </a:t>
                      </a:r>
                      <a:r>
                        <a:rPr lang="ro-RO" sz="1400" err="1">
                          <a:effectLst/>
                        </a:rPr>
                        <a:t>acelaşi</a:t>
                      </a:r>
                      <a:r>
                        <a:rPr lang="ro-RO" sz="1400">
                          <a:effectLst/>
                        </a:rPr>
                        <a:t> tip primitiv sau A este un tip </a:t>
                      </a:r>
                      <a:r>
                        <a:rPr lang="ro-RO" sz="1400" err="1">
                          <a:effectLst/>
                        </a:rPr>
                        <a:t>referinţă</a:t>
                      </a:r>
                      <a:r>
                        <a:rPr lang="ro-RO" sz="1400">
                          <a:effectLst/>
                        </a:rPr>
                        <a:t> </a:t>
                      </a:r>
                      <a:r>
                        <a:rPr lang="ro-RO" sz="1400" err="1">
                          <a:effectLst/>
                        </a:rPr>
                        <a:t>şi</a:t>
                      </a:r>
                      <a:r>
                        <a:rPr lang="ro-RO" sz="1400">
                          <a:effectLst/>
                        </a:rPr>
                        <a:t> B poate fi convertit cu un cast la A </a:t>
                      </a:r>
                      <a:endParaRPr lang="ro-RO" sz="1300">
                        <a:effectLst/>
                        <a:latin typeface="Times New Roman" panose="020206030504050203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14305" marR="14305" marT="14305" marB="1430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4330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sz="3600" b="1">
                <a:solidFill>
                  <a:srgbClr val="FFFFFF"/>
                </a:solidFill>
              </a:rPr>
              <a:t>Conversii de promovare aritmetică</a:t>
            </a:r>
            <a:endParaRPr lang="ro-RO" sz="36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1.	Dacă un operand este </a:t>
            </a:r>
            <a:r>
              <a:rPr lang="ro-RO" dirty="0" err="1"/>
              <a:t>double</a:t>
            </a:r>
            <a:r>
              <a:rPr lang="ro-RO" dirty="0"/>
              <a:t>, celălalt este convertit la </a:t>
            </a:r>
            <a:r>
              <a:rPr lang="ro-RO" dirty="0" err="1"/>
              <a:t>double</a:t>
            </a:r>
            <a:r>
              <a:rPr lang="ro-RO" dirty="0"/>
              <a:t>. </a:t>
            </a:r>
          </a:p>
          <a:p>
            <a:r>
              <a:rPr lang="ro-RO" dirty="0"/>
              <a:t>2.	Altfel, dacă un operand este de tip </a:t>
            </a:r>
            <a:r>
              <a:rPr lang="ro-RO" dirty="0" err="1"/>
              <a:t>float</a:t>
            </a:r>
            <a:r>
              <a:rPr lang="ro-RO" dirty="0"/>
              <a:t>, celălalt operand este convertit la </a:t>
            </a:r>
            <a:r>
              <a:rPr lang="ro-RO" dirty="0" err="1"/>
              <a:t>float</a:t>
            </a:r>
            <a:r>
              <a:rPr lang="ro-RO" dirty="0"/>
              <a:t>. </a:t>
            </a:r>
          </a:p>
          <a:p>
            <a:r>
              <a:rPr lang="ro-RO" dirty="0"/>
              <a:t>3.	Altfel, dacă un operand este de tip </a:t>
            </a:r>
            <a:r>
              <a:rPr lang="ro-RO" dirty="0" err="1"/>
              <a:t>long</a:t>
            </a:r>
            <a:r>
              <a:rPr lang="ro-RO" dirty="0"/>
              <a:t>, celălalt este convertit la </a:t>
            </a:r>
            <a:r>
              <a:rPr lang="ro-RO" dirty="0" err="1"/>
              <a:t>long</a:t>
            </a:r>
            <a:r>
              <a:rPr lang="ro-RO" dirty="0"/>
              <a:t> </a:t>
            </a:r>
          </a:p>
          <a:p>
            <a:r>
              <a:rPr lang="ro-RO" dirty="0"/>
              <a:t>4.	Altfel, amândoi operanzii sunt </a:t>
            </a:r>
            <a:r>
              <a:rPr lang="ro-RO" dirty="0" err="1"/>
              <a:t>convertiţi</a:t>
            </a:r>
            <a:r>
              <a:rPr lang="ro-RO" dirty="0"/>
              <a:t> la int.</a:t>
            </a:r>
          </a:p>
          <a:p>
            <a:r>
              <a:rPr lang="en-US" dirty="0"/>
              <a:t>float f;</a:t>
            </a:r>
          </a:p>
          <a:p>
            <a:r>
              <a:rPr lang="en-US" dirty="0"/>
              <a:t>double </a:t>
            </a:r>
            <a:r>
              <a:rPr lang="en-US" dirty="0" err="1"/>
              <a:t>i</a:t>
            </a:r>
            <a:r>
              <a:rPr lang="en-US" dirty="0"/>
              <a:t> = f + 3;</a:t>
            </a:r>
          </a:p>
          <a:p>
            <a:r>
              <a:rPr lang="ro-RO" dirty="0"/>
              <a:t>După efectuarea </a:t>
            </a:r>
            <a:r>
              <a:rPr lang="ro-RO" dirty="0" err="1"/>
              <a:t>operaţiei</a:t>
            </a:r>
            <a:r>
              <a:rPr lang="ro-RO" dirty="0"/>
              <a:t>, valoarea </a:t>
            </a:r>
            <a:r>
              <a:rPr lang="ro-RO" dirty="0" err="1"/>
              <a:t>obţinută</a:t>
            </a:r>
            <a:r>
              <a:rPr lang="ro-RO" dirty="0"/>
              <a:t> va fi convertită implicit la </a:t>
            </a:r>
            <a:r>
              <a:rPr lang="ro-RO" dirty="0" err="1"/>
              <a:t>double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73981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CA" sz="3600" dirty="0" err="1">
                <a:solidFill>
                  <a:srgbClr val="FFFFFF"/>
                </a:solidFill>
              </a:rPr>
              <a:t>Declar</a:t>
            </a:r>
            <a:r>
              <a:rPr lang="ro-RO" sz="3600" dirty="0">
                <a:solidFill>
                  <a:srgbClr val="FFFFFF"/>
                </a:solidFill>
              </a:rPr>
              <a:t>area unei </a:t>
            </a:r>
            <a:r>
              <a:rPr lang="en-CA" sz="3600" dirty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n-CA" dirty="0"/>
              <a:t>package</a:t>
            </a:r>
          </a:p>
          <a:p>
            <a:r>
              <a:rPr lang="en-CA" dirty="0"/>
              <a:t>Class name</a:t>
            </a:r>
          </a:p>
          <a:p>
            <a:r>
              <a:rPr lang="en-CA" dirty="0"/>
              <a:t>Constructor</a:t>
            </a:r>
          </a:p>
          <a:p>
            <a:r>
              <a:rPr lang="en-CA" dirty="0"/>
              <a:t>Fields</a:t>
            </a:r>
          </a:p>
          <a:p>
            <a:r>
              <a:rPr lang="en-CA" dirty="0"/>
              <a:t>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59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0440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41C57-7408-9622-B26D-FB2A039FB43E}"/>
              </a:ext>
            </a:extLst>
          </p:cNvPr>
          <p:cNvSpPr txBox="1"/>
          <p:nvPr/>
        </p:nvSpPr>
        <p:spPr>
          <a:xfrm>
            <a:off x="492370" y="605896"/>
            <a:ext cx="3084844" cy="564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sz="3600" b="0" i="0" u="none" strike="noStrike" cap="none" spc="-5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Declararea unei class</a:t>
            </a:r>
            <a:endParaRPr lang="en-US" sz="3600" spc="-5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z="1700" b="1"/>
              <a:t>Pasul 1: Stabilirea conceptului reprezentat de clasa de obiecte</a:t>
            </a:r>
          </a:p>
          <a:p>
            <a:r>
              <a:rPr lang="en-US" sz="1700" b="1"/>
              <a:t>Pasul 2: Stabilirea numelui clasei de obiecte</a:t>
            </a:r>
          </a:p>
          <a:p>
            <a:r>
              <a:rPr lang="en-US" sz="1700" b="1"/>
              <a:t>Pasul 3: Stabilirea superclasei</a:t>
            </a:r>
          </a:p>
          <a:p>
            <a:r>
              <a:rPr lang="en-US" sz="1700" b="1"/>
              <a:t>Pasul 4: Stabilirea interfeţelor pe care le respectă clasa</a:t>
            </a:r>
          </a:p>
          <a:p>
            <a:r>
              <a:rPr lang="en-US" sz="1700" b="1"/>
              <a:t>Pasul 5: Stabilirea modificatorilor clasei</a:t>
            </a:r>
          </a:p>
          <a:p>
            <a:pPr lvl="1"/>
            <a:r>
              <a:rPr lang="en-US" sz="1700" b="1"/>
              <a:t>Abstract</a:t>
            </a:r>
            <a:r>
              <a:rPr lang="en-US" sz="1700"/>
              <a:t>, </a:t>
            </a:r>
            <a:r>
              <a:rPr lang="en-US" sz="1700" b="1"/>
              <a:t>final</a:t>
            </a:r>
            <a:r>
              <a:rPr lang="en-US" sz="1700"/>
              <a:t> şi </a:t>
            </a:r>
            <a:r>
              <a:rPr lang="en-US" sz="1700" b="1"/>
              <a:t>public</a:t>
            </a:r>
            <a:r>
              <a:rPr lang="en-US" sz="1700"/>
              <a:t>.</a:t>
            </a:r>
          </a:p>
          <a:p>
            <a:r>
              <a:rPr lang="en-US" sz="1700" b="1"/>
              <a:t>Pasul 6: Scrierea corpului declaraţiei</a:t>
            </a:r>
          </a:p>
          <a:p>
            <a:r>
              <a:rPr lang="en-US" sz="1700" b="1"/>
              <a:t>Forma generală a unei declaraţii de clasă</a:t>
            </a:r>
          </a:p>
          <a:p>
            <a:r>
              <a:rPr lang="en-US" sz="1700"/>
              <a:t>Sintaxa exactă de declarare a unei clase arată în felul următor:</a:t>
            </a:r>
          </a:p>
          <a:p>
            <a:r>
              <a:rPr lang="en-US" sz="1700"/>
              <a:t>{ </a:t>
            </a:r>
            <a:r>
              <a:rPr lang="en-US" sz="1700" b="1"/>
              <a:t>abstract </a:t>
            </a:r>
            <a:r>
              <a:rPr lang="en-US" sz="1700"/>
              <a:t>| </a:t>
            </a:r>
            <a:r>
              <a:rPr lang="en-US" sz="1700" b="1"/>
              <a:t>final </a:t>
            </a:r>
            <a:r>
              <a:rPr lang="en-US" sz="1700"/>
              <a:t>| </a:t>
            </a:r>
            <a:r>
              <a:rPr lang="en-US" sz="1700" b="1"/>
              <a:t>public </a:t>
            </a:r>
            <a:r>
              <a:rPr lang="en-US" sz="1700"/>
              <a:t>} </a:t>
            </a:r>
            <a:r>
              <a:rPr lang="en-US" sz="1700" b="1"/>
              <a:t>class</a:t>
            </a:r>
            <a:r>
              <a:rPr lang="en-US" sz="1700"/>
              <a:t> </a:t>
            </a:r>
            <a:r>
              <a:rPr lang="en-US" sz="1700" i="1"/>
              <a:t>NumeClasă</a:t>
            </a:r>
            <a:endParaRPr lang="en-US" sz="1700"/>
          </a:p>
          <a:p>
            <a:r>
              <a:rPr lang="en-US" sz="1700"/>
              <a:t>[ </a:t>
            </a:r>
            <a:r>
              <a:rPr lang="en-US" sz="1700" b="1"/>
              <a:t>extends</a:t>
            </a:r>
            <a:r>
              <a:rPr lang="en-US" sz="1700"/>
              <a:t> </a:t>
            </a:r>
            <a:r>
              <a:rPr lang="en-US" sz="1700" i="1"/>
              <a:t>NumeSuperclasă </a:t>
            </a:r>
            <a:r>
              <a:rPr lang="en-US" sz="1700"/>
              <a:t>]</a:t>
            </a:r>
          </a:p>
          <a:p>
            <a:r>
              <a:rPr lang="en-US" sz="1700"/>
              <a:t>[ </a:t>
            </a:r>
            <a:r>
              <a:rPr lang="en-US" sz="1700" b="1"/>
              <a:t>implements</a:t>
            </a:r>
            <a:r>
              <a:rPr lang="en-US" sz="1700"/>
              <a:t> </a:t>
            </a:r>
            <a:r>
              <a:rPr lang="en-US" sz="1700" i="1"/>
              <a:t>NumeInterfaţă </a:t>
            </a:r>
            <a:r>
              <a:rPr lang="en-US" sz="1700"/>
              <a:t>[ , </a:t>
            </a:r>
            <a:r>
              <a:rPr lang="en-US" sz="1700" i="1"/>
              <a:t>NumeInterfaţă </a:t>
            </a:r>
            <a:r>
              <a:rPr lang="en-US" sz="1700"/>
              <a:t>] ]</a:t>
            </a:r>
          </a:p>
          <a:p>
            <a:r>
              <a:rPr lang="en-US" sz="1700"/>
              <a:t>{ [ </a:t>
            </a:r>
            <a:r>
              <a:rPr lang="en-US" sz="1700" i="1"/>
              <a:t>CâmpClasă </a:t>
            </a:r>
            <a:r>
              <a:rPr lang="en-US" sz="1700"/>
              <a:t>] } 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5036316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 b="1" dirty="0" err="1">
                <a:solidFill>
                  <a:srgbClr val="FFFFFF"/>
                </a:solidFill>
              </a:rPr>
              <a:t>Variabilele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unei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clase</a:t>
            </a:r>
            <a:br>
              <a:rPr lang="ro-RO" sz="3600" b="1" dirty="0">
                <a:solidFill>
                  <a:srgbClr val="FFFFFF"/>
                </a:solidFill>
              </a:rPr>
            </a:br>
            <a:endParaRPr lang="ro-RO" sz="36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n-US" sz="1700" b="1" err="1"/>
              <a:t>Modificatori</a:t>
            </a:r>
            <a:endParaRPr lang="ro-RO" sz="1700" b="1"/>
          </a:p>
          <a:p>
            <a:r>
              <a:rPr lang="en-US" sz="1700" i="1" err="1"/>
              <a:t>Modificatorii</a:t>
            </a:r>
            <a:r>
              <a:rPr lang="en-US" sz="1700"/>
              <a:t> </a:t>
            </a:r>
            <a:r>
              <a:rPr lang="en-US" sz="1700" err="1"/>
              <a:t>sunt</a:t>
            </a:r>
            <a:r>
              <a:rPr lang="en-US" sz="1700"/>
              <a:t> </a:t>
            </a:r>
            <a:r>
              <a:rPr lang="en-US" sz="1700" err="1"/>
              <a:t>cuvinte</a:t>
            </a:r>
            <a:r>
              <a:rPr lang="en-US" sz="1700"/>
              <a:t> </a:t>
            </a:r>
            <a:r>
              <a:rPr lang="en-US" sz="1700" err="1"/>
              <a:t>rezervate</a:t>
            </a:r>
            <a:r>
              <a:rPr lang="en-US" sz="1700"/>
              <a:t> Java care </a:t>
            </a:r>
            <a:r>
              <a:rPr lang="en-US" sz="1700" err="1"/>
              <a:t>precizează</a:t>
            </a:r>
            <a:r>
              <a:rPr lang="en-US" sz="1700"/>
              <a:t> </a:t>
            </a:r>
            <a:r>
              <a:rPr lang="en-US" sz="1700" err="1"/>
              <a:t>sensul</a:t>
            </a:r>
            <a:r>
              <a:rPr lang="en-US" sz="1700"/>
              <a:t> </a:t>
            </a:r>
            <a:r>
              <a:rPr lang="en-US" sz="1700" err="1"/>
              <a:t>unei</a:t>
            </a:r>
            <a:r>
              <a:rPr lang="en-US" sz="1700"/>
              <a:t> </a:t>
            </a:r>
            <a:r>
              <a:rPr lang="en-US" sz="1700" err="1"/>
              <a:t>declaraţii</a:t>
            </a:r>
            <a:r>
              <a:rPr lang="en-US" sz="1700"/>
              <a:t>. </a:t>
            </a:r>
            <a:r>
              <a:rPr lang="en-US" sz="1700" err="1"/>
              <a:t>Iată</a:t>
            </a:r>
            <a:r>
              <a:rPr lang="en-US" sz="1700"/>
              <a:t> </a:t>
            </a:r>
            <a:r>
              <a:rPr lang="en-US" sz="1700" err="1"/>
              <a:t>lista</a:t>
            </a:r>
            <a:r>
              <a:rPr lang="en-US" sz="1700"/>
              <a:t> </a:t>
            </a:r>
            <a:r>
              <a:rPr lang="en-US" sz="1700" err="1"/>
              <a:t>acestora</a:t>
            </a:r>
            <a:r>
              <a:rPr lang="en-US" sz="1700"/>
              <a:t>:</a:t>
            </a:r>
            <a:endParaRPr lang="ro-RO" sz="1700"/>
          </a:p>
          <a:p>
            <a:r>
              <a:rPr lang="en-US" sz="1700" b="1"/>
              <a:t>static</a:t>
            </a:r>
            <a:endParaRPr lang="ro-RO" sz="1700"/>
          </a:p>
          <a:p>
            <a:r>
              <a:rPr lang="en-US" sz="1700" b="1"/>
              <a:t>final</a:t>
            </a:r>
            <a:endParaRPr lang="ro-RO" sz="1700"/>
          </a:p>
          <a:p>
            <a:r>
              <a:rPr lang="en-US" sz="1700" b="1"/>
              <a:t>transient</a:t>
            </a:r>
            <a:endParaRPr lang="ro-RO" sz="1700"/>
          </a:p>
          <a:p>
            <a:r>
              <a:rPr lang="en-US" sz="1700" b="1"/>
              <a:t>volatile</a:t>
            </a:r>
            <a:endParaRPr lang="ro-RO" sz="1700"/>
          </a:p>
          <a:p>
            <a:r>
              <a:rPr lang="ro-RO" sz="1700"/>
              <a:t> </a:t>
            </a:r>
            <a:r>
              <a:rPr lang="ro-RO" sz="1700" err="1"/>
              <a:t>Protecţie</a:t>
            </a:r>
            <a:endParaRPr lang="ro-RO" sz="1700"/>
          </a:p>
          <a:p>
            <a:r>
              <a:rPr lang="ro-RO" sz="1700"/>
              <a:t>În Java există patru grade de </a:t>
            </a:r>
            <a:r>
              <a:rPr lang="ro-RO" sz="1700" err="1"/>
              <a:t>protecţie</a:t>
            </a:r>
            <a:r>
              <a:rPr lang="ro-RO" sz="1700"/>
              <a:t> pentru o variabilă </a:t>
            </a:r>
            <a:r>
              <a:rPr lang="ro-RO" sz="1700" err="1"/>
              <a:t>aparţinând</a:t>
            </a:r>
            <a:r>
              <a:rPr lang="ro-RO" sz="1700"/>
              <a:t> unei clase: </a:t>
            </a:r>
          </a:p>
          <a:p>
            <a:r>
              <a:rPr lang="ro-RO" sz="1700"/>
              <a:t>•	privată </a:t>
            </a:r>
          </a:p>
          <a:p>
            <a:r>
              <a:rPr lang="ro-RO" sz="1700"/>
              <a:t>•	protejată </a:t>
            </a:r>
          </a:p>
          <a:p>
            <a:r>
              <a:rPr lang="ro-RO" sz="1700"/>
              <a:t>•	publică </a:t>
            </a:r>
          </a:p>
          <a:p>
            <a:r>
              <a:rPr lang="ro-RO" sz="1700"/>
              <a:t>•	prietenoasă </a:t>
            </a:r>
          </a:p>
          <a:p>
            <a:endParaRPr lang="ro-RO" sz="1700"/>
          </a:p>
        </p:txBody>
      </p:sp>
    </p:spTree>
    <p:extLst>
      <p:ext uri="{BB962C8B-B14F-4D97-AF65-F5344CB8AC3E}">
        <p14:creationId xmlns:p14="http://schemas.microsoft.com/office/powerpoint/2010/main" val="8942840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 b="1" dirty="0" err="1">
                <a:solidFill>
                  <a:srgbClr val="FFFFFF"/>
                </a:solidFill>
              </a:rPr>
              <a:t>Variabilele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unei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clase</a:t>
            </a:r>
            <a:endParaRPr lang="ro-RO" sz="36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dirty="0"/>
              <a:t>Accesarea unei variabile</a:t>
            </a:r>
          </a:p>
          <a:p>
            <a:r>
              <a:rPr lang="ro-RO" dirty="0"/>
              <a:t>Accesarea unei variabile declarate în interiorul unei clasei se face folosindu-ne de o expresie de forma:</a:t>
            </a:r>
          </a:p>
          <a:p>
            <a:r>
              <a:rPr lang="ro-RO" dirty="0" err="1"/>
              <a:t>ReferinţăInstanţă.NumeVariabilă</a:t>
            </a:r>
            <a:endParaRPr lang="ro-RO" dirty="0"/>
          </a:p>
          <a:p>
            <a:r>
              <a:rPr lang="ro-RO" dirty="0" err="1"/>
              <a:t>Referinţa</a:t>
            </a:r>
            <a:r>
              <a:rPr lang="ro-RO" dirty="0"/>
              <a:t> către o </a:t>
            </a:r>
            <a:r>
              <a:rPr lang="ro-RO" dirty="0" err="1"/>
              <a:t>instanţă</a:t>
            </a:r>
            <a:r>
              <a:rPr lang="ro-RO" dirty="0"/>
              <a:t> trebuie să fie </a:t>
            </a:r>
            <a:r>
              <a:rPr lang="ro-RO" dirty="0" err="1"/>
              <a:t>referinţă</a:t>
            </a:r>
            <a:r>
              <a:rPr lang="ro-RO" dirty="0"/>
              <a:t> către clasa care </a:t>
            </a:r>
            <a:r>
              <a:rPr lang="ro-RO" dirty="0" err="1"/>
              <a:t>conţine</a:t>
            </a:r>
            <a:r>
              <a:rPr lang="ro-RO" dirty="0"/>
              <a:t> variabila. </a:t>
            </a:r>
            <a:r>
              <a:rPr lang="ro-RO" dirty="0" err="1"/>
              <a:t>Referinţa</a:t>
            </a:r>
            <a:r>
              <a:rPr lang="ro-RO" dirty="0"/>
              <a:t> poate fi valoarea unei expresii mai complicate, ca de exemplu un element dintr-un tablou de </a:t>
            </a:r>
            <a:r>
              <a:rPr lang="ro-RO" dirty="0" err="1"/>
              <a:t>referinţe</a:t>
            </a:r>
            <a:r>
              <a:rPr lang="ro-RO" dirty="0"/>
              <a:t>.</a:t>
            </a:r>
          </a:p>
          <a:p>
            <a:r>
              <a:rPr lang="ro-RO" dirty="0"/>
              <a:t>În cazul în care avem o variabilă statică, aceasta poate fi accesată </a:t>
            </a:r>
            <a:r>
              <a:rPr lang="ro-RO" dirty="0" err="1"/>
              <a:t>şi</a:t>
            </a:r>
            <a:r>
              <a:rPr lang="ro-RO" dirty="0"/>
              <a:t> fără să </a:t>
            </a:r>
            <a:r>
              <a:rPr lang="ro-RO" dirty="0" err="1"/>
              <a:t>deţinem</a:t>
            </a:r>
            <a:r>
              <a:rPr lang="ro-RO" dirty="0"/>
              <a:t> o </a:t>
            </a:r>
            <a:r>
              <a:rPr lang="ro-RO" dirty="0" err="1"/>
              <a:t>referinţă</a:t>
            </a:r>
            <a:r>
              <a:rPr lang="ro-RO" dirty="0"/>
              <a:t> către o </a:t>
            </a:r>
            <a:r>
              <a:rPr lang="ro-RO" dirty="0" err="1"/>
              <a:t>instanţă</a:t>
            </a:r>
            <a:r>
              <a:rPr lang="ro-RO" dirty="0"/>
              <a:t> a clasei. Sintaxa este, în acest caz:</a:t>
            </a:r>
          </a:p>
          <a:p>
            <a:r>
              <a:rPr lang="ro-RO" dirty="0" err="1"/>
              <a:t>NumeClasă.NumeVariabilă</a:t>
            </a:r>
            <a:r>
              <a:rPr lang="ro-RO" dirty="0"/>
              <a:t>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01591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US" sz="3600" b="1" dirty="0" err="1">
                <a:solidFill>
                  <a:srgbClr val="FFFFFF"/>
                </a:solidFill>
              </a:rPr>
              <a:t>Variabilele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unei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dirty="0" err="1">
                <a:solidFill>
                  <a:srgbClr val="FFFFFF"/>
                </a:solidFill>
              </a:rPr>
              <a:t>clase</a:t>
            </a:r>
            <a:endParaRPr lang="ro-RO" sz="36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ro-RO" sz="1700"/>
              <a:t>Vizibilitate</a:t>
            </a:r>
          </a:p>
          <a:p>
            <a:r>
              <a:rPr lang="ro-RO" sz="1700"/>
              <a:t>O variabilă poate fi ascunsă de </a:t>
            </a:r>
            <a:r>
              <a:rPr lang="ro-RO" sz="1700" err="1"/>
              <a:t>declaraţia</a:t>
            </a:r>
            <a:r>
              <a:rPr lang="ro-RO" sz="1700"/>
              <a:t> unei alte variabile cu </a:t>
            </a:r>
            <a:r>
              <a:rPr lang="ro-RO" sz="1700" err="1"/>
              <a:t>acelaşi</a:t>
            </a:r>
            <a:r>
              <a:rPr lang="ro-RO" sz="1700"/>
              <a:t> nume. De exemplu, dacă într-o clasă avem declarată o variabilă cu numele unu </a:t>
            </a:r>
            <a:r>
              <a:rPr lang="ro-RO" sz="1700" err="1"/>
              <a:t>şi</a:t>
            </a:r>
            <a:r>
              <a:rPr lang="ro-RO" sz="1700"/>
              <a:t> într-o subclasă a acesteia avem declarată o variabilă cu </a:t>
            </a:r>
            <a:r>
              <a:rPr lang="ro-RO" sz="1700" err="1"/>
              <a:t>acelaşi</a:t>
            </a:r>
            <a:r>
              <a:rPr lang="ro-RO" sz="1700"/>
              <a:t> nume, atunci variabila din superclasă este ascunsă de cea din clasă. </a:t>
            </a:r>
            <a:r>
              <a:rPr lang="ro-RO" sz="1700" err="1"/>
              <a:t>Totuşi</a:t>
            </a:r>
            <a:r>
              <a:rPr lang="ro-RO" sz="1700"/>
              <a:t>, variabila din superclasă există încă </a:t>
            </a:r>
            <a:r>
              <a:rPr lang="ro-RO" sz="1700" err="1"/>
              <a:t>şi</a:t>
            </a:r>
            <a:r>
              <a:rPr lang="ro-RO" sz="1700"/>
              <a:t> poate fi accesată în mod explicit. Expresia de referire este, în acest caz: </a:t>
            </a:r>
          </a:p>
          <a:p>
            <a:r>
              <a:rPr lang="ro-RO" sz="1700" err="1"/>
              <a:t>NumeSuperClasă.NumeVariabilă</a:t>
            </a:r>
            <a:endParaRPr lang="ro-RO" sz="1700"/>
          </a:p>
          <a:p>
            <a:r>
              <a:rPr lang="ro-RO" sz="1700"/>
              <a:t>sau</a:t>
            </a:r>
          </a:p>
          <a:p>
            <a:r>
              <a:rPr lang="ro-RO" sz="1700" err="1"/>
              <a:t>super.NumeVariabilă</a:t>
            </a:r>
            <a:endParaRPr lang="ro-RO" sz="1700"/>
          </a:p>
          <a:p>
            <a:r>
              <a:rPr lang="ro-RO" sz="1700"/>
              <a:t>în cazul în care superclasa este imediată.</a:t>
            </a:r>
          </a:p>
          <a:p>
            <a:r>
              <a:rPr lang="ro-RO" sz="1700"/>
              <a:t>La fel, o variabilă a unei clase poate fi ascunsă de o </a:t>
            </a:r>
            <a:r>
              <a:rPr lang="ro-RO" sz="1700" err="1"/>
              <a:t>declaraţie</a:t>
            </a:r>
            <a:r>
              <a:rPr lang="ro-RO" sz="1700"/>
              <a:t> de variabilă dintr-un bloc de </a:t>
            </a:r>
            <a:r>
              <a:rPr lang="ro-RO" sz="1700" err="1"/>
              <a:t>instrucţiuni</a:t>
            </a:r>
            <a:r>
              <a:rPr lang="ro-RO" sz="1700"/>
              <a:t>. Orice </a:t>
            </a:r>
            <a:r>
              <a:rPr lang="ro-RO" sz="1700" err="1"/>
              <a:t>referinţă</a:t>
            </a:r>
            <a:r>
              <a:rPr lang="ro-RO" sz="1700"/>
              <a:t> la ea va trebui făcută în mod explicit. Expresia de referire este, în acest caz:</a:t>
            </a:r>
          </a:p>
          <a:p>
            <a:r>
              <a:rPr lang="ro-RO" sz="1700" err="1"/>
              <a:t>this.NumeVariabilă</a:t>
            </a:r>
            <a:r>
              <a:rPr lang="ro-RO" sz="1700"/>
              <a:t> </a:t>
            </a:r>
          </a:p>
          <a:p>
            <a:endParaRPr lang="ro-RO" sz="1700"/>
          </a:p>
        </p:txBody>
      </p:sp>
    </p:spTree>
    <p:extLst>
      <p:ext uri="{BB962C8B-B14F-4D97-AF65-F5344CB8AC3E}">
        <p14:creationId xmlns:p14="http://schemas.microsoft.com/office/powerpoint/2010/main" val="36273185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32" name="Rectangle 2663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34" name="Rectangle 2663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ro-RO" altLang="ro-RO" sz="3600">
                <a:solidFill>
                  <a:srgbClr val="FFFFFF"/>
                </a:solidFill>
              </a:rPr>
              <a:t>Ieșirea unui program Java</a:t>
            </a:r>
            <a:endParaRPr lang="en-CA" altLang="ro-RO" sz="3600">
              <a:solidFill>
                <a:srgbClr val="FFFFFF"/>
              </a:solidFill>
            </a:endParaRPr>
          </a:p>
        </p:txBody>
      </p:sp>
      <p:sp>
        <p:nvSpPr>
          <p:cNvPr id="26636" name="Rectangle 2663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marL="0" indent="0">
              <a:tabLst>
                <a:tab pos="406400" algn="l"/>
              </a:tabLst>
            </a:pPr>
            <a:r>
              <a:rPr lang="en-CA" altLang="ro-RO" sz="1400" b="1"/>
              <a:t>Format:</a:t>
            </a:r>
          </a:p>
          <a:p>
            <a:pPr marL="406400" lvl="1" indent="0">
              <a:buNone/>
              <a:tabLst>
                <a:tab pos="406400" algn="l"/>
              </a:tabLst>
            </a:pPr>
            <a:r>
              <a:rPr lang="en-CA" altLang="ro-RO" sz="1400" err="1">
                <a:latin typeface="Arial" panose="020B0604020202020204" pitchFamily="34" charset="0"/>
              </a:rPr>
              <a:t>System.out.print</a:t>
            </a:r>
            <a:r>
              <a:rPr lang="en-CA" altLang="ro-RO" sz="1400">
                <a:latin typeface="Arial" panose="020B0604020202020204" pitchFamily="34" charset="0"/>
              </a:rPr>
              <a:t>(&lt;</a:t>
            </a:r>
            <a:r>
              <a:rPr lang="en-CA" altLang="ro-RO" sz="1400" i="1">
                <a:latin typeface="Arial" panose="020B0604020202020204" pitchFamily="34" charset="0"/>
              </a:rPr>
              <a:t>string or variable name one</a:t>
            </a:r>
            <a:r>
              <a:rPr lang="en-CA" altLang="ro-RO" sz="1400">
                <a:latin typeface="Arial" panose="020B0604020202020204" pitchFamily="34" charset="0"/>
              </a:rPr>
              <a:t>&gt; + &lt;</a:t>
            </a:r>
            <a:r>
              <a:rPr lang="en-CA" altLang="ro-RO" sz="1400" i="1">
                <a:latin typeface="Arial" panose="020B0604020202020204" pitchFamily="34" charset="0"/>
              </a:rPr>
              <a:t>string or variable name two</a:t>
            </a:r>
            <a:r>
              <a:rPr lang="en-CA" altLang="ro-RO" sz="1400">
                <a:latin typeface="Arial" panose="020B0604020202020204" pitchFamily="34" charset="0"/>
              </a:rPr>
              <a:t>&gt;..);</a:t>
            </a:r>
          </a:p>
          <a:p>
            <a:pPr marL="406400" lvl="1" indent="0">
              <a:buNone/>
              <a:tabLst>
                <a:tab pos="406400" algn="l"/>
              </a:tabLst>
            </a:pPr>
            <a:r>
              <a:rPr lang="ro-RO" altLang="ro-RO" sz="1400">
                <a:latin typeface="Arial" panose="020B0604020202020204" pitchFamily="34" charset="0"/>
              </a:rPr>
              <a:t>SAU</a:t>
            </a:r>
            <a:endParaRPr lang="en-CA" altLang="ro-RO" sz="1400">
              <a:latin typeface="Arial" panose="020B0604020202020204" pitchFamily="34" charset="0"/>
            </a:endParaRPr>
          </a:p>
          <a:p>
            <a:pPr marL="406400" lvl="1" indent="0">
              <a:buNone/>
              <a:tabLst>
                <a:tab pos="406400" algn="l"/>
              </a:tabLst>
            </a:pPr>
            <a:r>
              <a:rPr lang="en-CA" altLang="ro-RO" sz="1400" err="1">
                <a:latin typeface="Arial" panose="020B0604020202020204" pitchFamily="34" charset="0"/>
              </a:rPr>
              <a:t>System.out.println</a:t>
            </a:r>
            <a:r>
              <a:rPr lang="en-CA" altLang="ro-RO" sz="1400">
                <a:latin typeface="Arial" panose="020B0604020202020204" pitchFamily="34" charset="0"/>
              </a:rPr>
              <a:t>(&lt;</a:t>
            </a:r>
            <a:r>
              <a:rPr lang="en-CA" altLang="ro-RO" sz="1400" i="1">
                <a:latin typeface="Arial" panose="020B0604020202020204" pitchFamily="34" charset="0"/>
              </a:rPr>
              <a:t>string or variable name one</a:t>
            </a:r>
            <a:r>
              <a:rPr lang="en-CA" altLang="ro-RO" sz="1400">
                <a:latin typeface="Arial" panose="020B0604020202020204" pitchFamily="34" charset="0"/>
              </a:rPr>
              <a:t>&gt; + &lt;</a:t>
            </a:r>
            <a:r>
              <a:rPr lang="en-CA" altLang="ro-RO" sz="1400" i="1">
                <a:latin typeface="Arial" panose="020B0604020202020204" pitchFamily="34" charset="0"/>
              </a:rPr>
              <a:t>string or variable name two</a:t>
            </a:r>
            <a:r>
              <a:rPr lang="en-CA" altLang="ro-RO" sz="1400">
                <a:latin typeface="Arial" panose="020B0604020202020204" pitchFamily="34" charset="0"/>
              </a:rPr>
              <a:t>&gt;..);</a:t>
            </a:r>
          </a:p>
          <a:p>
            <a:pPr marL="406400" lvl="1" indent="0">
              <a:buNone/>
              <a:tabLst>
                <a:tab pos="406400" algn="l"/>
              </a:tabLst>
            </a:pPr>
            <a:endParaRPr lang="en-CA" altLang="ro-RO" sz="1400">
              <a:latin typeface="Arial" panose="020B0604020202020204" pitchFamily="34" charset="0"/>
            </a:endParaRPr>
          </a:p>
          <a:p>
            <a:pPr marL="0" indent="0">
              <a:tabLst>
                <a:tab pos="406400" algn="l"/>
              </a:tabLst>
            </a:pPr>
            <a:r>
              <a:rPr lang="en-CA" altLang="ro-RO" sz="1400" b="1"/>
              <a:t>Example </a:t>
            </a:r>
            <a:endParaRPr lang="en-CA" altLang="ro-RO" sz="1400">
              <a:latin typeface="Arial" panose="020B0604020202020204" pitchFamily="34" charset="0"/>
            </a:endParaRPr>
          </a:p>
          <a:p>
            <a:pPr marL="0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public class OutputExample1</a:t>
            </a:r>
          </a:p>
          <a:p>
            <a:pPr marL="0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{</a:t>
            </a:r>
          </a:p>
          <a:p>
            <a:pPr marL="0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      public static void main (String [] </a:t>
            </a:r>
            <a:r>
              <a:rPr lang="en-CA" altLang="ro-RO" sz="1400" err="1">
                <a:latin typeface="Arial" panose="020B0604020202020204" pitchFamily="34" charset="0"/>
              </a:rPr>
              <a:t>args</a:t>
            </a:r>
            <a:r>
              <a:rPr lang="en-CA" altLang="ro-RO" sz="1400"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      {</a:t>
            </a:r>
          </a:p>
          <a:p>
            <a:pPr marL="0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           </a:t>
            </a:r>
            <a:r>
              <a:rPr lang="en-CA" altLang="ro-RO" sz="1400" err="1">
                <a:latin typeface="Arial" panose="020B0604020202020204" pitchFamily="34" charset="0"/>
              </a:rPr>
              <a:t>int</a:t>
            </a:r>
            <a:r>
              <a:rPr lang="en-CA" altLang="ro-RO" sz="1400">
                <a:latin typeface="Arial" panose="020B0604020202020204" pitchFamily="34" charset="0"/>
              </a:rPr>
              <a:t> </a:t>
            </a:r>
            <a:r>
              <a:rPr lang="en-CA" altLang="ro-RO" sz="1400" err="1">
                <a:latin typeface="Arial" panose="020B0604020202020204" pitchFamily="34" charset="0"/>
              </a:rPr>
              <a:t>num</a:t>
            </a:r>
            <a:r>
              <a:rPr lang="en-CA" altLang="ro-RO" sz="1400">
                <a:latin typeface="Arial" panose="020B0604020202020204" pitchFamily="34" charset="0"/>
              </a:rPr>
              <a:t> = 123;   </a:t>
            </a:r>
          </a:p>
          <a:p>
            <a:pPr marL="406400" lvl="1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     </a:t>
            </a:r>
            <a:r>
              <a:rPr lang="en-CA" altLang="ro-RO" sz="1400" err="1">
                <a:latin typeface="Arial" panose="020B0604020202020204" pitchFamily="34" charset="0"/>
              </a:rPr>
              <a:t>System.out.println</a:t>
            </a:r>
            <a:r>
              <a:rPr lang="en-CA" altLang="ro-RO" sz="1400">
                <a:latin typeface="Arial" panose="020B0604020202020204" pitchFamily="34" charset="0"/>
              </a:rPr>
              <a:t>(„</a:t>
            </a:r>
            <a:r>
              <a:rPr lang="ro-RO" altLang="ro-RO" sz="1400">
                <a:latin typeface="Arial" panose="020B0604020202020204" pitchFamily="34" charset="0"/>
              </a:rPr>
              <a:t>Primul program</a:t>
            </a:r>
            <a:r>
              <a:rPr lang="en-CA" altLang="ro-RO" sz="1400">
                <a:latin typeface="Arial" panose="020B0604020202020204" pitchFamily="34" charset="0"/>
              </a:rPr>
              <a:t>!");</a:t>
            </a:r>
          </a:p>
          <a:p>
            <a:pPr marL="406400" lvl="1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     </a:t>
            </a:r>
            <a:r>
              <a:rPr lang="en-CA" altLang="ro-RO" sz="1400" err="1">
                <a:latin typeface="Arial" panose="020B0604020202020204" pitchFamily="34" charset="0"/>
              </a:rPr>
              <a:t>System.out.print</a:t>
            </a:r>
            <a:r>
              <a:rPr lang="en-CA" altLang="ro-RO" sz="1400">
                <a:latin typeface="Arial" panose="020B0604020202020204" pitchFamily="34" charset="0"/>
              </a:rPr>
              <a:t>(</a:t>
            </a:r>
            <a:r>
              <a:rPr lang="en-CA" altLang="ro-RO" sz="1400" err="1">
                <a:latin typeface="Arial" panose="020B0604020202020204" pitchFamily="34" charset="0"/>
              </a:rPr>
              <a:t>num</a:t>
            </a:r>
            <a:r>
              <a:rPr lang="en-CA" altLang="ro-RO" sz="1400">
                <a:latin typeface="Arial" panose="020B0604020202020204" pitchFamily="34" charset="0"/>
              </a:rPr>
              <a:t>);    </a:t>
            </a:r>
          </a:p>
          <a:p>
            <a:pPr marL="406400" lvl="1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     </a:t>
            </a:r>
            <a:r>
              <a:rPr lang="en-CA" altLang="ro-RO" sz="1400" err="1">
                <a:latin typeface="Arial" panose="020B0604020202020204" pitchFamily="34" charset="0"/>
              </a:rPr>
              <a:t>System.out.println</a:t>
            </a:r>
            <a:r>
              <a:rPr lang="en-CA" altLang="ro-RO" sz="1400">
                <a:latin typeface="Arial" panose="020B0604020202020204" pitchFamily="34" charset="0"/>
              </a:rPr>
              <a:t>("</a:t>
            </a:r>
            <a:r>
              <a:rPr lang="en-CA" altLang="ro-RO" sz="1400" err="1">
                <a:latin typeface="Arial" panose="020B0604020202020204" pitchFamily="34" charset="0"/>
              </a:rPr>
              <a:t>num</a:t>
            </a:r>
            <a:r>
              <a:rPr lang="en-CA" altLang="ro-RO" sz="1400">
                <a:latin typeface="Arial" panose="020B0604020202020204" pitchFamily="34" charset="0"/>
              </a:rPr>
              <a:t>="+</a:t>
            </a:r>
            <a:r>
              <a:rPr lang="en-CA" altLang="ro-RO" sz="1400" err="1">
                <a:latin typeface="Arial" panose="020B0604020202020204" pitchFamily="34" charset="0"/>
              </a:rPr>
              <a:t>num</a:t>
            </a:r>
            <a:r>
              <a:rPr lang="en-CA" altLang="ro-RO" sz="1400">
                <a:latin typeface="Arial" panose="020B0604020202020204" pitchFamily="34" charset="0"/>
              </a:rPr>
              <a:t>);</a:t>
            </a:r>
          </a:p>
          <a:p>
            <a:pPr marL="406400" lvl="1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}</a:t>
            </a:r>
          </a:p>
          <a:p>
            <a:pPr marL="0" indent="0">
              <a:buNone/>
              <a:tabLst>
                <a:tab pos="406400" algn="l"/>
              </a:tabLst>
            </a:pPr>
            <a:r>
              <a:rPr lang="en-CA" altLang="ro-RO" sz="1400">
                <a:latin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03980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14688</TotalTime>
  <Words>4856</Words>
  <Application>Microsoft Office PowerPoint</Application>
  <PresentationFormat>Widescreen</PresentationFormat>
  <Paragraphs>655</Paragraphs>
  <Slides>64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Arial</vt:lpstr>
      <vt:lpstr>Calibri</vt:lpstr>
      <vt:lpstr>Calibri Light</vt:lpstr>
      <vt:lpstr>Courier New</vt:lpstr>
      <vt:lpstr>Times New Roman</vt:lpstr>
      <vt:lpstr>Retrospect</vt:lpstr>
      <vt:lpstr>Programare Java</vt:lpstr>
      <vt:lpstr>De ce sa înveti Java</vt:lpstr>
      <vt:lpstr>De ce sa înveti Java</vt:lpstr>
      <vt:lpstr>De ce sa înveti Java</vt:lpstr>
      <vt:lpstr>De ce merită să înveți programare chiar și în era AI</vt:lpstr>
      <vt:lpstr>De ce merită să înveți programare chiar și în era AI</vt:lpstr>
      <vt:lpstr>De ce merită să înveți programare chiar și în era AI</vt:lpstr>
      <vt:lpstr>Java Vs. Java Script</vt:lpstr>
      <vt:lpstr>Java: Istoric</vt:lpstr>
      <vt:lpstr>Java: Istoric (2)</vt:lpstr>
      <vt:lpstr>Java: Istoric (3)</vt:lpstr>
      <vt:lpstr>Java Istoric (4)</vt:lpstr>
      <vt:lpstr>Java Istoric (5)</vt:lpstr>
      <vt:lpstr>Java: Istoric (6)</vt:lpstr>
      <vt:lpstr>Java: Istoric (7)</vt:lpstr>
      <vt:lpstr>Java: Istoric (8)</vt:lpstr>
      <vt:lpstr>Java: Write Once, Run Anywhere</vt:lpstr>
      <vt:lpstr>Java: Write Once, Run Anywhere</vt:lpstr>
      <vt:lpstr>Java: Write Once, Run Anywhere (2)</vt:lpstr>
      <vt:lpstr>Java: Write Once, Run Anywhere (3)</vt:lpstr>
      <vt:lpstr>Programe compilate cu diferite sisteme de operare</vt:lpstr>
      <vt:lpstr>Scurt istoric</vt:lpstr>
      <vt:lpstr>Istoricul limbajului Java și a versiunilor acestuia</vt:lpstr>
      <vt:lpstr>Caracteristici ale limbajului</vt:lpstr>
      <vt:lpstr>Reprezentarea informaţiilor cu obiecte</vt:lpstr>
      <vt:lpstr>Clase de obiecte</vt:lpstr>
      <vt:lpstr>O vedere la nivel înalt a traducerii / executării programelor Java</vt:lpstr>
      <vt:lpstr>O vedere la nivel înalt a traducerii / executării programelor Java (2)</vt:lpstr>
      <vt:lpstr>Ce versiune Java?</vt:lpstr>
      <vt:lpstr>Cel mai mic program Java compilabil și executabil</vt:lpstr>
      <vt:lpstr>Crearea, compilarea și rularea programelor Java</vt:lpstr>
      <vt:lpstr>Compilarea</vt:lpstr>
      <vt:lpstr>Rularea programului</vt:lpstr>
      <vt:lpstr>Rularea compilatorului Java</vt:lpstr>
      <vt:lpstr>Observații</vt:lpstr>
      <vt:lpstr>Exemplu: Hello World Program</vt:lpstr>
      <vt:lpstr>Tipuri primitive de date</vt:lpstr>
      <vt:lpstr>PowerPoint Presentation</vt:lpstr>
      <vt:lpstr>Tipuri referinţă </vt:lpstr>
      <vt:lpstr>Tipul referinţă către un tablou</vt:lpstr>
      <vt:lpstr>Operatori (la fel ca în C/C++) </vt:lpstr>
      <vt:lpstr>Declararea variabilelor </vt:lpstr>
      <vt:lpstr>Clasa de memorare</vt:lpstr>
      <vt:lpstr>Variabile dinamice</vt:lpstr>
      <vt:lpstr>Tablouri de variabile</vt:lpstr>
      <vt:lpstr>Iniţializarea tablourilor.</vt:lpstr>
      <vt:lpstr>Lungimea tablourilor</vt:lpstr>
      <vt:lpstr>Referirea elementelor din tablou</vt:lpstr>
      <vt:lpstr>PowerPoint Presentation</vt:lpstr>
      <vt:lpstr>Alocarea şi eliberarea tablourilor </vt:lpstr>
      <vt:lpstr>Conversii</vt:lpstr>
      <vt:lpstr>Conversii de trunchiere a valorii</vt:lpstr>
      <vt:lpstr>Conversii pe tipuri referinţă</vt:lpstr>
      <vt:lpstr>Conversii la operaţia de atribuire</vt:lpstr>
      <vt:lpstr>Conversiile posibile la atribuirea unei valori de tipul T la o variabilă de tipul S. </vt:lpstr>
      <vt:lpstr>Conversii explicite</vt:lpstr>
      <vt:lpstr>Cazurile posibile la convertirea unei referinţe de tip T într-o referinţă de tip S</vt:lpstr>
      <vt:lpstr>Conversii de promovare aritmetică</vt:lpstr>
      <vt:lpstr>Declararea unei class</vt:lpstr>
      <vt:lpstr>PowerPoint Presentation</vt:lpstr>
      <vt:lpstr>Variabilele unei clase </vt:lpstr>
      <vt:lpstr>Variabilele unei clase</vt:lpstr>
      <vt:lpstr>Variabilele unei clase</vt:lpstr>
      <vt:lpstr>Ieșirea unui program Java</vt:lpstr>
    </vt:vector>
  </TitlesOfParts>
  <Company>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Programare Java</dc:title>
  <dc:creator>Manuela Panoiu</dc:creator>
  <cp:lastModifiedBy>Manuela Panoiu</cp:lastModifiedBy>
  <cp:revision>45</cp:revision>
  <dcterms:created xsi:type="dcterms:W3CDTF">2020-09-23T04:54:53Z</dcterms:created>
  <dcterms:modified xsi:type="dcterms:W3CDTF">2025-10-13T06:23:47Z</dcterms:modified>
</cp:coreProperties>
</file>