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82" r:id="rId4"/>
    <p:sldId id="283" r:id="rId5"/>
    <p:sldId id="258" r:id="rId6"/>
    <p:sldId id="259" r:id="rId7"/>
    <p:sldId id="260" r:id="rId8"/>
    <p:sldId id="261" r:id="rId9"/>
    <p:sldId id="262" r:id="rId10"/>
    <p:sldId id="263" r:id="rId11"/>
    <p:sldId id="284" r:id="rId12"/>
    <p:sldId id="285" r:id="rId13"/>
    <p:sldId id="264" r:id="rId14"/>
    <p:sldId id="265" r:id="rId15"/>
    <p:sldId id="266" r:id="rId16"/>
    <p:sldId id="267" r:id="rId17"/>
    <p:sldId id="268" r:id="rId18"/>
    <p:sldId id="269" r:id="rId19"/>
    <p:sldId id="286" r:id="rId20"/>
    <p:sldId id="270" r:id="rId21"/>
    <p:sldId id="287" r:id="rId22"/>
    <p:sldId id="271" r:id="rId23"/>
    <p:sldId id="272" r:id="rId24"/>
    <p:sldId id="273" r:id="rId25"/>
    <p:sldId id="288" r:id="rId26"/>
    <p:sldId id="280" r:id="rId27"/>
    <p:sldId id="281" r:id="rId28"/>
    <p:sldId id="289" r:id="rId29"/>
    <p:sldId id="274" r:id="rId30"/>
    <p:sldId id="290" r:id="rId31"/>
    <p:sldId id="275" r:id="rId32"/>
    <p:sldId id="276" r:id="rId33"/>
    <p:sldId id="277" r:id="rId34"/>
    <p:sldId id="278" r:id="rId35"/>
    <p:sldId id="279" r:id="rId36"/>
    <p:sldId id="291" r:id="rId37"/>
    <p:sldId id="292" r:id="rId38"/>
    <p:sldId id="293" r:id="rId39"/>
    <p:sldId id="294" r:id="rId40"/>
    <p:sldId id="295" r:id="rId41"/>
  </p:sldIdLst>
  <p:sldSz cx="12192000" cy="6858000"/>
  <p:notesSz cx="6858000" cy="9144000"/>
  <p:defaultText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75" d="100"/>
          <a:sy n="75" d="100"/>
        </p:scale>
        <p:origin x="27"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99EB319-3514-4311-9A94-091B95A7B563}" type="datetimeFigureOut">
              <a:rPr lang="ro-RO" smtClean="0"/>
              <a:t>10.11.2025</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9B291709-C391-4FAD-A5DC-325BFE54767C}" type="slidenum">
              <a:rPr lang="ro-RO" smtClean="0"/>
              <a:t>‹#›</a:t>
            </a:fld>
            <a:endParaRPr lang="ro-RO"/>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2677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9EB319-3514-4311-9A94-091B95A7B563}" type="datetimeFigureOut">
              <a:rPr lang="ro-RO" smtClean="0"/>
              <a:t>10.11.2025</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9B291709-C391-4FAD-A5DC-325BFE54767C}" type="slidenum">
              <a:rPr lang="ro-RO" smtClean="0"/>
              <a:t>‹#›</a:t>
            </a:fld>
            <a:endParaRPr lang="ro-RO"/>
          </a:p>
        </p:txBody>
      </p:sp>
    </p:spTree>
    <p:extLst>
      <p:ext uri="{BB962C8B-B14F-4D97-AF65-F5344CB8AC3E}">
        <p14:creationId xmlns:p14="http://schemas.microsoft.com/office/powerpoint/2010/main" val="161544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9EB319-3514-4311-9A94-091B95A7B563}" type="datetimeFigureOut">
              <a:rPr lang="ro-RO" smtClean="0"/>
              <a:t>10.11.2025</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9B291709-C391-4FAD-A5DC-325BFE54767C}" type="slidenum">
              <a:rPr lang="ro-RO" smtClean="0"/>
              <a:t>‹#›</a:t>
            </a:fld>
            <a:endParaRPr lang="ro-RO"/>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08968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9EB319-3514-4311-9A94-091B95A7B563}" type="datetimeFigureOut">
              <a:rPr lang="ro-RO" smtClean="0"/>
              <a:t>10.11.2025</a:t>
            </a:fld>
            <a:endParaRPr lang="ro-RO"/>
          </a:p>
        </p:txBody>
      </p:sp>
      <p:sp>
        <p:nvSpPr>
          <p:cNvPr id="6" name="Footer Placeholder 5"/>
          <p:cNvSpPr>
            <a:spLocks noGrp="1"/>
          </p:cNvSpPr>
          <p:nvPr>
            <p:ph type="ftr" sz="quarter" idx="11"/>
          </p:nvPr>
        </p:nvSpPr>
        <p:spPr/>
        <p:txBody>
          <a:bodyPr/>
          <a:lstStyle/>
          <a:p>
            <a:endParaRPr lang="ro-RO"/>
          </a:p>
        </p:txBody>
      </p:sp>
      <p:sp>
        <p:nvSpPr>
          <p:cNvPr id="7" name="Slide Number Placeholder 6"/>
          <p:cNvSpPr>
            <a:spLocks noGrp="1"/>
          </p:cNvSpPr>
          <p:nvPr>
            <p:ph type="sldNum" sz="quarter" idx="12"/>
          </p:nvPr>
        </p:nvSpPr>
        <p:spPr/>
        <p:txBody>
          <a:bodyPr/>
          <a:lstStyle/>
          <a:p>
            <a:fld id="{9B291709-C391-4FAD-A5DC-325BFE54767C}" type="slidenum">
              <a:rPr lang="ro-RO" smtClean="0"/>
              <a:t>‹#›</a:t>
            </a:fld>
            <a:endParaRPr lang="ro-RO"/>
          </a:p>
        </p:txBody>
      </p:sp>
    </p:spTree>
    <p:extLst>
      <p:ext uri="{BB962C8B-B14F-4D97-AF65-F5344CB8AC3E}">
        <p14:creationId xmlns:p14="http://schemas.microsoft.com/office/powerpoint/2010/main" val="2792278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9EB319-3514-4311-9A94-091B95A7B563}" type="datetimeFigureOut">
              <a:rPr lang="ro-RO" smtClean="0"/>
              <a:t>10.11.2025</a:t>
            </a:fld>
            <a:endParaRPr lang="ro-RO"/>
          </a:p>
        </p:txBody>
      </p:sp>
      <p:sp>
        <p:nvSpPr>
          <p:cNvPr id="8" name="Footer Placeholder 7"/>
          <p:cNvSpPr>
            <a:spLocks noGrp="1"/>
          </p:cNvSpPr>
          <p:nvPr>
            <p:ph type="ftr" sz="quarter" idx="11"/>
          </p:nvPr>
        </p:nvSpPr>
        <p:spPr/>
        <p:txBody>
          <a:bodyPr/>
          <a:lstStyle/>
          <a:p>
            <a:endParaRPr lang="ro-RO"/>
          </a:p>
        </p:txBody>
      </p:sp>
      <p:sp>
        <p:nvSpPr>
          <p:cNvPr id="9" name="Slide Number Placeholder 8"/>
          <p:cNvSpPr>
            <a:spLocks noGrp="1"/>
          </p:cNvSpPr>
          <p:nvPr>
            <p:ph type="sldNum" sz="quarter" idx="12"/>
          </p:nvPr>
        </p:nvSpPr>
        <p:spPr/>
        <p:txBody>
          <a:bodyPr/>
          <a:lstStyle/>
          <a:p>
            <a:fld id="{9B291709-C391-4FAD-A5DC-325BFE54767C}" type="slidenum">
              <a:rPr lang="ro-RO" smtClean="0"/>
              <a:t>‹#›</a:t>
            </a:fld>
            <a:endParaRPr lang="ro-RO"/>
          </a:p>
        </p:txBody>
      </p:sp>
    </p:spTree>
    <p:extLst>
      <p:ext uri="{BB962C8B-B14F-4D97-AF65-F5344CB8AC3E}">
        <p14:creationId xmlns:p14="http://schemas.microsoft.com/office/powerpoint/2010/main" val="2172614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9EB319-3514-4311-9A94-091B95A7B563}" type="datetimeFigureOut">
              <a:rPr lang="ro-RO" smtClean="0"/>
              <a:t>10.11.2025</a:t>
            </a:fld>
            <a:endParaRPr lang="ro-RO"/>
          </a:p>
        </p:txBody>
      </p:sp>
      <p:sp>
        <p:nvSpPr>
          <p:cNvPr id="4" name="Footer Placeholder 3"/>
          <p:cNvSpPr>
            <a:spLocks noGrp="1"/>
          </p:cNvSpPr>
          <p:nvPr>
            <p:ph type="ftr" sz="quarter" idx="11"/>
          </p:nvPr>
        </p:nvSpPr>
        <p:spPr/>
        <p:txBody>
          <a:bodyPr/>
          <a:lstStyle/>
          <a:p>
            <a:endParaRPr lang="ro-RO"/>
          </a:p>
        </p:txBody>
      </p:sp>
      <p:sp>
        <p:nvSpPr>
          <p:cNvPr id="5" name="Slide Number Placeholder 4"/>
          <p:cNvSpPr>
            <a:spLocks noGrp="1"/>
          </p:cNvSpPr>
          <p:nvPr>
            <p:ph type="sldNum" sz="quarter" idx="12"/>
          </p:nvPr>
        </p:nvSpPr>
        <p:spPr/>
        <p:txBody>
          <a:bodyPr/>
          <a:lstStyle/>
          <a:p>
            <a:fld id="{9B291709-C391-4FAD-A5DC-325BFE54767C}" type="slidenum">
              <a:rPr lang="ro-RO" smtClean="0"/>
              <a:t>‹#›</a:t>
            </a:fld>
            <a:endParaRPr lang="ro-RO"/>
          </a:p>
        </p:txBody>
      </p:sp>
    </p:spTree>
    <p:extLst>
      <p:ext uri="{BB962C8B-B14F-4D97-AF65-F5344CB8AC3E}">
        <p14:creationId xmlns:p14="http://schemas.microsoft.com/office/powerpoint/2010/main" val="2432416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7" name="Date Placeholder 6"/>
          <p:cNvSpPr>
            <a:spLocks noGrp="1"/>
          </p:cNvSpPr>
          <p:nvPr>
            <p:ph type="dt" sz="half" idx="10"/>
          </p:nvPr>
        </p:nvSpPr>
        <p:spPr/>
        <p:txBody>
          <a:bodyPr/>
          <a:lstStyle/>
          <a:p>
            <a:fld id="{099EB319-3514-4311-9A94-091B95A7B563}" type="datetimeFigureOut">
              <a:rPr lang="ro-RO" smtClean="0"/>
              <a:t>10.11.2025</a:t>
            </a:fld>
            <a:endParaRPr lang="ro-RO"/>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ro-RO"/>
          </a:p>
        </p:txBody>
      </p:sp>
      <p:sp>
        <p:nvSpPr>
          <p:cNvPr id="9" name="Slide Number Placeholder 8"/>
          <p:cNvSpPr>
            <a:spLocks noGrp="1"/>
          </p:cNvSpPr>
          <p:nvPr>
            <p:ph type="sldNum" sz="quarter" idx="12"/>
          </p:nvPr>
        </p:nvSpPr>
        <p:spPr/>
        <p:txBody>
          <a:bodyPr/>
          <a:lstStyle/>
          <a:p>
            <a:fld id="{9B291709-C391-4FAD-A5DC-325BFE54767C}" type="slidenum">
              <a:rPr lang="ro-RO" smtClean="0"/>
              <a:t>‹#›</a:t>
            </a:fld>
            <a:endParaRPr lang="ro-RO"/>
          </a:p>
        </p:txBody>
      </p:sp>
    </p:spTree>
    <p:extLst>
      <p:ext uri="{BB962C8B-B14F-4D97-AF65-F5344CB8AC3E}">
        <p14:creationId xmlns:p14="http://schemas.microsoft.com/office/powerpoint/2010/main" val="962967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99EB319-3514-4311-9A94-091B95A7B563}" type="datetimeFigureOut">
              <a:rPr lang="ro-RO" smtClean="0"/>
              <a:t>10.11.2025</a:t>
            </a:fld>
            <a:endParaRPr lang="ro-RO"/>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ro-RO"/>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B291709-C391-4FAD-A5DC-325BFE54767C}" type="slidenum">
              <a:rPr lang="ro-RO" smtClean="0"/>
              <a:t>‹#›</a:t>
            </a:fld>
            <a:endParaRPr lang="ro-RO"/>
          </a:p>
        </p:txBody>
      </p:sp>
    </p:spTree>
    <p:extLst>
      <p:ext uri="{BB962C8B-B14F-4D97-AF65-F5344CB8AC3E}">
        <p14:creationId xmlns:p14="http://schemas.microsoft.com/office/powerpoint/2010/main" val="853864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9EB319-3514-4311-9A94-091B95A7B563}" type="datetimeFigureOut">
              <a:rPr lang="ro-RO" smtClean="0"/>
              <a:t>10.11.2025</a:t>
            </a:fld>
            <a:endParaRPr lang="ro-RO"/>
          </a:p>
        </p:txBody>
      </p:sp>
      <p:sp>
        <p:nvSpPr>
          <p:cNvPr id="6" name="Footer Placeholder 5"/>
          <p:cNvSpPr>
            <a:spLocks noGrp="1"/>
          </p:cNvSpPr>
          <p:nvPr>
            <p:ph type="ftr" sz="quarter" idx="11"/>
          </p:nvPr>
        </p:nvSpPr>
        <p:spPr/>
        <p:txBody>
          <a:bodyPr/>
          <a:lstStyle/>
          <a:p>
            <a:endParaRPr lang="ro-RO"/>
          </a:p>
        </p:txBody>
      </p:sp>
      <p:sp>
        <p:nvSpPr>
          <p:cNvPr id="7" name="Slide Number Placeholder 6"/>
          <p:cNvSpPr>
            <a:spLocks noGrp="1"/>
          </p:cNvSpPr>
          <p:nvPr>
            <p:ph type="sldNum" sz="quarter" idx="12"/>
          </p:nvPr>
        </p:nvSpPr>
        <p:spPr/>
        <p:txBody>
          <a:bodyPr/>
          <a:lstStyle/>
          <a:p>
            <a:fld id="{9B291709-C391-4FAD-A5DC-325BFE54767C}" type="slidenum">
              <a:rPr lang="ro-RO" smtClean="0"/>
              <a:t>‹#›</a:t>
            </a:fld>
            <a:endParaRPr lang="ro-RO"/>
          </a:p>
        </p:txBody>
      </p:sp>
    </p:spTree>
    <p:extLst>
      <p:ext uri="{BB962C8B-B14F-4D97-AF65-F5344CB8AC3E}">
        <p14:creationId xmlns:p14="http://schemas.microsoft.com/office/powerpoint/2010/main" val="2201824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9EB319-3514-4311-9A94-091B95A7B563}" type="datetimeFigureOut">
              <a:rPr lang="ro-RO" smtClean="0"/>
              <a:t>10.11.2025</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9B291709-C391-4FAD-A5DC-325BFE54767C}" type="slidenum">
              <a:rPr lang="ro-RO" smtClean="0"/>
              <a:t>‹#›</a:t>
            </a:fld>
            <a:endParaRPr lang="ro-RO"/>
          </a:p>
        </p:txBody>
      </p:sp>
    </p:spTree>
    <p:extLst>
      <p:ext uri="{BB962C8B-B14F-4D97-AF65-F5344CB8AC3E}">
        <p14:creationId xmlns:p14="http://schemas.microsoft.com/office/powerpoint/2010/main" val="3808569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9EB319-3514-4311-9A94-091B95A7B563}" type="datetimeFigureOut">
              <a:rPr lang="ro-RO" smtClean="0"/>
              <a:t>10.11.2025</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9B291709-C391-4FAD-A5DC-325BFE54767C}" type="slidenum">
              <a:rPr lang="ro-RO" smtClean="0"/>
              <a:t>‹#›</a:t>
            </a:fld>
            <a:endParaRPr lang="ro-RO"/>
          </a:p>
        </p:txBody>
      </p:sp>
    </p:spTree>
    <p:extLst>
      <p:ext uri="{BB962C8B-B14F-4D97-AF65-F5344CB8AC3E}">
        <p14:creationId xmlns:p14="http://schemas.microsoft.com/office/powerpoint/2010/main" val="553398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99EB319-3514-4311-9A94-091B95A7B563}" type="datetimeFigureOut">
              <a:rPr lang="ro-RO" smtClean="0"/>
              <a:t>10.11.2025</a:t>
            </a:fld>
            <a:endParaRPr lang="ro-RO"/>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ro-RO"/>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B291709-C391-4FAD-A5DC-325BFE54767C}" type="slidenum">
              <a:rPr lang="ro-RO" smtClean="0"/>
              <a:t>‹#›</a:t>
            </a:fld>
            <a:endParaRPr lang="ro-RO"/>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03563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Fire de </a:t>
            </a:r>
            <a:r>
              <a:rPr lang="en-US" dirty="0" err="1"/>
              <a:t>execu</a:t>
            </a:r>
            <a:r>
              <a:rPr lang="ro-RO" dirty="0"/>
              <a:t>ție</a:t>
            </a:r>
          </a:p>
        </p:txBody>
      </p:sp>
      <p:sp>
        <p:nvSpPr>
          <p:cNvPr id="3" name="Subtitle 2"/>
          <p:cNvSpPr>
            <a:spLocks noGrp="1"/>
          </p:cNvSpPr>
          <p:nvPr>
            <p:ph type="subTitle" idx="1"/>
          </p:nvPr>
        </p:nvSpPr>
        <p:spPr/>
        <p:txBody>
          <a:bodyPr/>
          <a:lstStyle/>
          <a:p>
            <a:endParaRPr lang="ro-RO"/>
          </a:p>
        </p:txBody>
      </p:sp>
    </p:spTree>
    <p:extLst>
      <p:ext uri="{BB962C8B-B14F-4D97-AF65-F5344CB8AC3E}">
        <p14:creationId xmlns:p14="http://schemas.microsoft.com/office/powerpoint/2010/main" val="3224487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a:t>Fire de </a:t>
            </a:r>
            <a:r>
              <a:rPr lang="ro-RO" dirty="0" err="1"/>
              <a:t>execuţie</a:t>
            </a:r>
            <a:r>
              <a:rPr lang="ro-RO" dirty="0"/>
              <a:t> </a:t>
            </a:r>
            <a:r>
              <a:rPr lang="ro-RO" dirty="0" err="1"/>
              <a:t>şi</a:t>
            </a:r>
            <a:r>
              <a:rPr lang="ro-RO" dirty="0"/>
              <a:t> sincronizare</a:t>
            </a:r>
          </a:p>
        </p:txBody>
      </p:sp>
      <p:sp>
        <p:nvSpPr>
          <p:cNvPr id="3" name="Content Placeholder 2"/>
          <p:cNvSpPr>
            <a:spLocks noGrp="1"/>
          </p:cNvSpPr>
          <p:nvPr>
            <p:ph idx="1"/>
          </p:nvPr>
        </p:nvSpPr>
        <p:spPr>
          <a:xfrm>
            <a:off x="144751" y="1872948"/>
            <a:ext cx="7366392" cy="4023360"/>
          </a:xfrm>
        </p:spPr>
        <p:txBody>
          <a:bodyPr>
            <a:noAutofit/>
          </a:bodyPr>
          <a:lstStyle/>
          <a:p>
            <a:r>
              <a:rPr lang="en-US" sz="2400" dirty="0"/>
              <a:t>O </a:t>
            </a:r>
            <a:r>
              <a:rPr lang="en-US" sz="2400" dirty="0" err="1"/>
              <a:t>aplicaţie</a:t>
            </a:r>
            <a:r>
              <a:rPr lang="en-US" sz="2400" dirty="0"/>
              <a:t> Java </a:t>
            </a:r>
            <a:r>
              <a:rPr lang="en-US" sz="2400" dirty="0" err="1"/>
              <a:t>rulează</a:t>
            </a:r>
            <a:r>
              <a:rPr lang="en-US" sz="2400" dirty="0"/>
              <a:t> </a:t>
            </a:r>
            <a:r>
              <a:rPr lang="en-US" sz="2400" dirty="0" err="1"/>
              <a:t>în</a:t>
            </a:r>
            <a:r>
              <a:rPr lang="en-US" sz="2400" dirty="0"/>
              <a:t> </a:t>
            </a:r>
            <a:r>
              <a:rPr lang="en-US" sz="2400" dirty="0" err="1"/>
              <a:t>interiorul</a:t>
            </a:r>
            <a:r>
              <a:rPr lang="en-US" sz="2400" dirty="0"/>
              <a:t> </a:t>
            </a:r>
            <a:r>
              <a:rPr lang="en-US" sz="2400" dirty="0" err="1"/>
              <a:t>unui</a:t>
            </a:r>
            <a:r>
              <a:rPr lang="en-US" sz="2400" dirty="0"/>
              <a:t> </a:t>
            </a:r>
            <a:r>
              <a:rPr lang="en-US" sz="2400" dirty="0" err="1"/>
              <a:t>proces</a:t>
            </a:r>
            <a:r>
              <a:rPr lang="en-US" sz="2400" dirty="0"/>
              <a:t> al </a:t>
            </a:r>
            <a:r>
              <a:rPr lang="en-US" sz="2400" dirty="0" err="1"/>
              <a:t>sistemului</a:t>
            </a:r>
            <a:r>
              <a:rPr lang="en-US" sz="2400" dirty="0"/>
              <a:t> de </a:t>
            </a:r>
            <a:r>
              <a:rPr lang="en-US" sz="2400" dirty="0" err="1"/>
              <a:t>operare</a:t>
            </a:r>
            <a:r>
              <a:rPr lang="en-US" sz="2400" dirty="0"/>
              <a:t>. </a:t>
            </a:r>
          </a:p>
          <a:p>
            <a:r>
              <a:rPr lang="en-US" sz="2400" dirty="0" err="1"/>
              <a:t>Acest</a:t>
            </a:r>
            <a:r>
              <a:rPr lang="en-US" sz="2400" dirty="0"/>
              <a:t> </a:t>
            </a:r>
            <a:r>
              <a:rPr lang="en-US" sz="2400" b="1" i="1" dirty="0" err="1"/>
              <a:t>proces</a:t>
            </a:r>
            <a:r>
              <a:rPr lang="en-US" sz="2400" dirty="0"/>
              <a:t> </a:t>
            </a:r>
            <a:r>
              <a:rPr lang="en-US" sz="2400" dirty="0" err="1"/>
              <a:t>constă</a:t>
            </a:r>
            <a:r>
              <a:rPr lang="en-US" sz="2400" dirty="0"/>
              <a:t> din </a:t>
            </a:r>
            <a:r>
              <a:rPr lang="en-US" sz="2400" dirty="0" err="1"/>
              <a:t>segmente</a:t>
            </a:r>
            <a:r>
              <a:rPr lang="en-US" sz="2400" dirty="0"/>
              <a:t> de cod </a:t>
            </a:r>
            <a:r>
              <a:rPr lang="en-US" sz="2400" dirty="0" err="1"/>
              <a:t>şi</a:t>
            </a:r>
            <a:r>
              <a:rPr lang="en-US" sz="2400" dirty="0"/>
              <a:t> </a:t>
            </a:r>
            <a:r>
              <a:rPr lang="en-US" sz="2400" dirty="0" err="1"/>
              <a:t>segmente</a:t>
            </a:r>
            <a:r>
              <a:rPr lang="en-US" sz="2400" dirty="0"/>
              <a:t> de date </a:t>
            </a:r>
            <a:r>
              <a:rPr lang="en-US" sz="2400" dirty="0" err="1"/>
              <a:t>mapate</a:t>
            </a:r>
            <a:r>
              <a:rPr lang="en-US" sz="2400" dirty="0"/>
              <a:t> </a:t>
            </a:r>
            <a:r>
              <a:rPr lang="en-US" sz="2400" dirty="0" err="1"/>
              <a:t>într</a:t>
            </a:r>
            <a:r>
              <a:rPr lang="en-US" sz="2400" dirty="0"/>
              <a:t>-un </a:t>
            </a:r>
            <a:r>
              <a:rPr lang="en-US" sz="2400" dirty="0" err="1"/>
              <a:t>spaţiu</a:t>
            </a:r>
            <a:r>
              <a:rPr lang="en-US" sz="2400" dirty="0"/>
              <a:t> virtual de </a:t>
            </a:r>
            <a:r>
              <a:rPr lang="en-US" sz="2400" dirty="0" err="1"/>
              <a:t>adresare</a:t>
            </a:r>
            <a:r>
              <a:rPr lang="en-US" sz="2400" dirty="0"/>
              <a:t>.</a:t>
            </a:r>
          </a:p>
          <a:p>
            <a:r>
              <a:rPr lang="en-US" sz="2400" dirty="0"/>
              <a:t> </a:t>
            </a:r>
            <a:r>
              <a:rPr lang="en-US" sz="2400" dirty="0" err="1"/>
              <a:t>Fiecare</a:t>
            </a:r>
            <a:r>
              <a:rPr lang="en-US" sz="2400" dirty="0"/>
              <a:t> </a:t>
            </a:r>
            <a:r>
              <a:rPr lang="en-US" sz="2400" dirty="0" err="1"/>
              <a:t>proces</a:t>
            </a:r>
            <a:r>
              <a:rPr lang="en-US" sz="2400" dirty="0"/>
              <a:t> </a:t>
            </a:r>
            <a:r>
              <a:rPr lang="en-US" sz="2400" dirty="0" err="1"/>
              <a:t>deţine</a:t>
            </a:r>
            <a:r>
              <a:rPr lang="en-US" sz="2400" dirty="0"/>
              <a:t> un </a:t>
            </a:r>
            <a:r>
              <a:rPr lang="en-US" sz="2400" dirty="0" err="1"/>
              <a:t>număr</a:t>
            </a:r>
            <a:r>
              <a:rPr lang="en-US" sz="2400" dirty="0"/>
              <a:t> de </a:t>
            </a:r>
            <a:r>
              <a:rPr lang="en-US" sz="2400" dirty="0" err="1"/>
              <a:t>resurse</a:t>
            </a:r>
            <a:r>
              <a:rPr lang="en-US" sz="2400" dirty="0"/>
              <a:t> </a:t>
            </a:r>
            <a:r>
              <a:rPr lang="en-US" sz="2400" dirty="0" err="1"/>
              <a:t>alocate</a:t>
            </a:r>
            <a:r>
              <a:rPr lang="en-US" sz="2400" dirty="0"/>
              <a:t> de </a:t>
            </a:r>
            <a:r>
              <a:rPr lang="en-US" sz="2400" dirty="0" err="1"/>
              <a:t>către</a:t>
            </a:r>
            <a:r>
              <a:rPr lang="en-US" sz="2400" dirty="0"/>
              <a:t> </a:t>
            </a:r>
            <a:r>
              <a:rPr lang="en-US" sz="2400" dirty="0" err="1"/>
              <a:t>sistemul</a:t>
            </a:r>
            <a:r>
              <a:rPr lang="en-US" sz="2400" dirty="0"/>
              <a:t> de </a:t>
            </a:r>
            <a:r>
              <a:rPr lang="en-US" sz="2400" dirty="0" err="1"/>
              <a:t>operare</a:t>
            </a:r>
            <a:r>
              <a:rPr lang="en-US" sz="2400" dirty="0"/>
              <a:t>, cum </a:t>
            </a:r>
            <a:r>
              <a:rPr lang="en-US" sz="2400" dirty="0" err="1"/>
              <a:t>ar</a:t>
            </a:r>
            <a:r>
              <a:rPr lang="en-US" sz="2400" dirty="0"/>
              <a:t> fi </a:t>
            </a:r>
            <a:r>
              <a:rPr lang="en-US" sz="2400" dirty="0" err="1"/>
              <a:t>fişiere</a:t>
            </a:r>
            <a:r>
              <a:rPr lang="en-US" sz="2400" dirty="0"/>
              <a:t> </a:t>
            </a:r>
            <a:r>
              <a:rPr lang="en-US" sz="2400" dirty="0" err="1"/>
              <a:t>deschise</a:t>
            </a:r>
            <a:r>
              <a:rPr lang="en-US" sz="2400" dirty="0"/>
              <a:t>, </a:t>
            </a:r>
            <a:r>
              <a:rPr lang="en-US" sz="2400" dirty="0" err="1"/>
              <a:t>regiuni</a:t>
            </a:r>
            <a:r>
              <a:rPr lang="en-US" sz="2400" dirty="0"/>
              <a:t> de </a:t>
            </a:r>
            <a:r>
              <a:rPr lang="en-US" sz="2400" dirty="0" err="1"/>
              <a:t>memorie</a:t>
            </a:r>
            <a:r>
              <a:rPr lang="en-US" sz="2400" dirty="0"/>
              <a:t> </a:t>
            </a:r>
            <a:r>
              <a:rPr lang="en-US" sz="2400" dirty="0" err="1"/>
              <a:t>alocate</a:t>
            </a:r>
            <a:r>
              <a:rPr lang="en-US" sz="2400" dirty="0"/>
              <a:t> </a:t>
            </a:r>
            <a:r>
              <a:rPr lang="en-US" sz="2400" dirty="0" err="1"/>
              <a:t>dinamic</a:t>
            </a:r>
            <a:r>
              <a:rPr lang="en-US" sz="2400" dirty="0"/>
              <a:t>, </a:t>
            </a:r>
            <a:r>
              <a:rPr lang="en-US" sz="2400" dirty="0" err="1"/>
              <a:t>sau</a:t>
            </a:r>
            <a:r>
              <a:rPr lang="en-US" sz="2400" dirty="0"/>
              <a:t> fire de </a:t>
            </a:r>
            <a:r>
              <a:rPr lang="en-US" sz="2400" dirty="0" err="1"/>
              <a:t>execuţie</a:t>
            </a:r>
            <a:r>
              <a:rPr lang="en-US" sz="2400" dirty="0"/>
              <a:t>. </a:t>
            </a:r>
          </a:p>
          <a:p>
            <a:r>
              <a:rPr lang="en-US" sz="2400" dirty="0" err="1"/>
              <a:t>Toate</a:t>
            </a:r>
            <a:r>
              <a:rPr lang="en-US" sz="2400" dirty="0"/>
              <a:t> </a:t>
            </a:r>
            <a:r>
              <a:rPr lang="en-US" sz="2400" dirty="0" err="1"/>
              <a:t>aceste</a:t>
            </a:r>
            <a:r>
              <a:rPr lang="en-US" sz="2400" dirty="0"/>
              <a:t> </a:t>
            </a:r>
            <a:r>
              <a:rPr lang="en-US" sz="2400" dirty="0" err="1"/>
              <a:t>resurse</a:t>
            </a:r>
            <a:r>
              <a:rPr lang="en-US" sz="2400" dirty="0"/>
              <a:t> </a:t>
            </a:r>
            <a:r>
              <a:rPr lang="en-US" sz="2400" dirty="0" err="1"/>
              <a:t>deţinute</a:t>
            </a:r>
            <a:r>
              <a:rPr lang="en-US" sz="2400" dirty="0"/>
              <a:t> de </a:t>
            </a:r>
            <a:r>
              <a:rPr lang="en-US" sz="2400" dirty="0" err="1"/>
              <a:t>către</a:t>
            </a:r>
            <a:r>
              <a:rPr lang="en-US" sz="2400" dirty="0"/>
              <a:t> un </a:t>
            </a:r>
            <a:r>
              <a:rPr lang="en-US" sz="2400" dirty="0" err="1"/>
              <a:t>proces</a:t>
            </a:r>
            <a:r>
              <a:rPr lang="en-US" sz="2400" dirty="0"/>
              <a:t> sunt </a:t>
            </a:r>
            <a:r>
              <a:rPr lang="en-US" sz="2400" dirty="0" err="1"/>
              <a:t>eliberate</a:t>
            </a:r>
            <a:r>
              <a:rPr lang="en-US" sz="2400" dirty="0"/>
              <a:t> la </a:t>
            </a:r>
            <a:r>
              <a:rPr lang="en-US" sz="2400" dirty="0" err="1"/>
              <a:t>terminarea</a:t>
            </a:r>
            <a:r>
              <a:rPr lang="en-US" sz="2400" dirty="0"/>
              <a:t> </a:t>
            </a:r>
            <a:r>
              <a:rPr lang="en-US" sz="2400" dirty="0" err="1"/>
              <a:t>procesului</a:t>
            </a:r>
            <a:r>
              <a:rPr lang="en-US" sz="2400" dirty="0"/>
              <a:t> de </a:t>
            </a:r>
            <a:r>
              <a:rPr lang="en-US" sz="2400" dirty="0" err="1"/>
              <a:t>către</a:t>
            </a:r>
            <a:r>
              <a:rPr lang="en-US" sz="2400" dirty="0"/>
              <a:t> </a:t>
            </a:r>
            <a:r>
              <a:rPr lang="en-US" sz="2400" dirty="0" err="1"/>
              <a:t>sistemul</a:t>
            </a:r>
            <a:r>
              <a:rPr lang="en-US" sz="2400" dirty="0"/>
              <a:t> de </a:t>
            </a:r>
            <a:r>
              <a:rPr lang="en-US" sz="2400" dirty="0" err="1"/>
              <a:t>operare</a:t>
            </a:r>
            <a:r>
              <a:rPr lang="en-US" sz="2400" dirty="0"/>
              <a:t>.</a:t>
            </a:r>
            <a:endParaRPr lang="ro-RO" sz="2400" dirty="0"/>
          </a:p>
          <a:p>
            <a:endParaRPr lang="ro-RO" sz="2400" dirty="0"/>
          </a:p>
        </p:txBody>
      </p:sp>
      <p:sp>
        <p:nvSpPr>
          <p:cNvPr id="5" name="TextBox 4">
            <a:extLst>
              <a:ext uri="{FF2B5EF4-FFF2-40B4-BE49-F238E27FC236}">
                <a16:creationId xmlns:a16="http://schemas.microsoft.com/office/drawing/2014/main" id="{855A9CC0-FC9F-A6AB-F5B7-7C8701B83528}"/>
              </a:ext>
            </a:extLst>
          </p:cNvPr>
          <p:cNvSpPr txBox="1"/>
          <p:nvPr/>
        </p:nvSpPr>
        <p:spPr>
          <a:xfrm>
            <a:off x="7788727" y="2204080"/>
            <a:ext cx="3964290" cy="2554545"/>
          </a:xfrm>
          <a:prstGeom prst="rect">
            <a:avLst/>
          </a:prstGeom>
          <a:noFill/>
        </p:spPr>
        <p:txBody>
          <a:bodyPr wrap="square">
            <a:spAutoFit/>
          </a:bodyPr>
          <a:lstStyle/>
          <a:p>
            <a:r>
              <a:rPr lang="en-GB" sz="2000" dirty="0" err="1">
                <a:solidFill>
                  <a:srgbClr val="FF0000"/>
                </a:solidFill>
              </a:rPr>
              <a:t>Proces</a:t>
            </a:r>
            <a:endParaRPr lang="en-GB" sz="2000" dirty="0">
              <a:solidFill>
                <a:srgbClr val="FF0000"/>
              </a:solidFill>
            </a:endParaRPr>
          </a:p>
          <a:p>
            <a:r>
              <a:rPr lang="en-GB" sz="2000" dirty="0">
                <a:solidFill>
                  <a:srgbClr val="FF0000"/>
                </a:solidFill>
              </a:rPr>
              <a:t> ├── Cod</a:t>
            </a:r>
          </a:p>
          <a:p>
            <a:r>
              <a:rPr lang="en-GB" sz="2000" dirty="0">
                <a:solidFill>
                  <a:srgbClr val="FF0000"/>
                </a:solidFill>
              </a:rPr>
              <a:t> ├── Date</a:t>
            </a:r>
          </a:p>
          <a:p>
            <a:r>
              <a:rPr lang="en-GB" sz="2000" dirty="0">
                <a:solidFill>
                  <a:srgbClr val="FF0000"/>
                </a:solidFill>
              </a:rPr>
              <a:t> ├── </a:t>
            </a:r>
            <a:r>
              <a:rPr lang="en-GB" sz="2000" dirty="0" err="1">
                <a:solidFill>
                  <a:srgbClr val="FF0000"/>
                </a:solidFill>
              </a:rPr>
              <a:t>Spațiu</a:t>
            </a:r>
            <a:r>
              <a:rPr lang="en-GB" sz="2000" dirty="0">
                <a:solidFill>
                  <a:srgbClr val="FF0000"/>
                </a:solidFill>
              </a:rPr>
              <a:t> de </a:t>
            </a:r>
            <a:r>
              <a:rPr lang="en-GB" sz="2000" dirty="0" err="1">
                <a:solidFill>
                  <a:srgbClr val="FF0000"/>
                </a:solidFill>
              </a:rPr>
              <a:t>memorie</a:t>
            </a:r>
            <a:r>
              <a:rPr lang="en-GB" sz="2000" dirty="0">
                <a:solidFill>
                  <a:srgbClr val="FF0000"/>
                </a:solidFill>
              </a:rPr>
              <a:t> </a:t>
            </a:r>
            <a:r>
              <a:rPr lang="en-GB" sz="2000" dirty="0" err="1">
                <a:solidFill>
                  <a:srgbClr val="FF0000"/>
                </a:solidFill>
              </a:rPr>
              <a:t>comun</a:t>
            </a:r>
            <a:endParaRPr lang="en-GB" sz="2000" dirty="0">
              <a:solidFill>
                <a:srgbClr val="FF0000"/>
              </a:solidFill>
            </a:endParaRPr>
          </a:p>
          <a:p>
            <a:r>
              <a:rPr lang="en-GB" sz="2000" dirty="0">
                <a:solidFill>
                  <a:srgbClr val="FF0000"/>
                </a:solidFill>
              </a:rPr>
              <a:t> └── Fire de </a:t>
            </a:r>
            <a:r>
              <a:rPr lang="en-GB" sz="2000" dirty="0" err="1">
                <a:solidFill>
                  <a:srgbClr val="FF0000"/>
                </a:solidFill>
              </a:rPr>
              <a:t>execuție</a:t>
            </a:r>
            <a:endParaRPr lang="en-GB" sz="2000" dirty="0">
              <a:solidFill>
                <a:srgbClr val="FF0000"/>
              </a:solidFill>
            </a:endParaRPr>
          </a:p>
          <a:p>
            <a:r>
              <a:rPr lang="en-GB" sz="2000" dirty="0">
                <a:solidFill>
                  <a:srgbClr val="FF0000"/>
                </a:solidFill>
              </a:rPr>
              <a:t>       ├── </a:t>
            </a:r>
            <a:r>
              <a:rPr lang="en-GB" sz="2000" dirty="0" err="1">
                <a:solidFill>
                  <a:srgbClr val="FF0000"/>
                </a:solidFill>
              </a:rPr>
              <a:t>Registru</a:t>
            </a:r>
            <a:r>
              <a:rPr lang="en-GB" sz="2000" dirty="0">
                <a:solidFill>
                  <a:srgbClr val="FF0000"/>
                </a:solidFill>
              </a:rPr>
              <a:t> CPU</a:t>
            </a:r>
          </a:p>
          <a:p>
            <a:r>
              <a:rPr lang="en-GB" sz="2000" dirty="0">
                <a:solidFill>
                  <a:srgbClr val="FF0000"/>
                </a:solidFill>
              </a:rPr>
              <a:t>       ├── </a:t>
            </a:r>
            <a:r>
              <a:rPr lang="en-GB" sz="2000" dirty="0" err="1">
                <a:solidFill>
                  <a:srgbClr val="FF0000"/>
                </a:solidFill>
              </a:rPr>
              <a:t>Stivă</a:t>
            </a:r>
            <a:endParaRPr lang="en-GB" sz="2000" dirty="0">
              <a:solidFill>
                <a:srgbClr val="FF0000"/>
              </a:solidFill>
            </a:endParaRPr>
          </a:p>
          <a:p>
            <a:r>
              <a:rPr lang="en-GB" sz="2000" dirty="0">
                <a:solidFill>
                  <a:srgbClr val="FF0000"/>
                </a:solidFill>
              </a:rPr>
              <a:t>       └── </a:t>
            </a:r>
            <a:r>
              <a:rPr lang="en-GB" sz="2000" dirty="0" err="1">
                <a:solidFill>
                  <a:srgbClr val="FF0000"/>
                </a:solidFill>
              </a:rPr>
              <a:t>Secvență</a:t>
            </a:r>
            <a:r>
              <a:rPr lang="en-GB" sz="2000" dirty="0">
                <a:solidFill>
                  <a:srgbClr val="FF0000"/>
                </a:solidFill>
              </a:rPr>
              <a:t> de </a:t>
            </a:r>
            <a:r>
              <a:rPr lang="en-GB" sz="2000" dirty="0" err="1">
                <a:solidFill>
                  <a:srgbClr val="FF0000"/>
                </a:solidFill>
              </a:rPr>
              <a:t>instrucțiuni</a:t>
            </a:r>
            <a:endParaRPr lang="en-GB" sz="2000" dirty="0">
              <a:solidFill>
                <a:srgbClr val="FF0000"/>
              </a:solidFill>
            </a:endParaRPr>
          </a:p>
        </p:txBody>
      </p:sp>
    </p:spTree>
    <p:extLst>
      <p:ext uri="{BB962C8B-B14F-4D97-AF65-F5344CB8AC3E}">
        <p14:creationId xmlns:p14="http://schemas.microsoft.com/office/powerpoint/2010/main" val="1344920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BAB204E-07F3-4438-2E28-41C10C3010E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EDA438FE-1D3A-1613-0BBB-0C4E5DEFE1A2}"/>
              </a:ext>
            </a:extLst>
          </p:cNvPr>
          <p:cNvSpPr>
            <a:spLocks noGrp="1"/>
          </p:cNvSpPr>
          <p:nvPr>
            <p:ph type="title"/>
          </p:nvPr>
        </p:nvSpPr>
        <p:spPr>
          <a:xfrm>
            <a:off x="492370" y="605896"/>
            <a:ext cx="3084844" cy="5646208"/>
          </a:xfrm>
        </p:spPr>
        <p:txBody>
          <a:bodyPr anchor="ctr">
            <a:normAutofit/>
          </a:bodyPr>
          <a:lstStyle/>
          <a:p>
            <a:r>
              <a:rPr lang="ro-RO" sz="3600">
                <a:solidFill>
                  <a:srgbClr val="FFFFFF"/>
                </a:solidFill>
              </a:rPr>
              <a:t>Fire de execuţie şi sincronizare</a:t>
            </a: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 name="Content Placeholder 2">
            <a:extLst>
              <a:ext uri="{FF2B5EF4-FFF2-40B4-BE49-F238E27FC236}">
                <a16:creationId xmlns:a16="http://schemas.microsoft.com/office/drawing/2014/main" id="{2DD7BD9F-3E02-61C2-FE28-44E1BC22D06A}"/>
              </a:ext>
            </a:extLst>
          </p:cNvPr>
          <p:cNvSpPr>
            <a:spLocks noGrp="1"/>
          </p:cNvSpPr>
          <p:nvPr>
            <p:ph idx="1"/>
          </p:nvPr>
        </p:nvSpPr>
        <p:spPr>
          <a:xfrm>
            <a:off x="4742016" y="605896"/>
            <a:ext cx="6413663" cy="5646208"/>
          </a:xfrm>
        </p:spPr>
        <p:txBody>
          <a:bodyPr anchor="ctr">
            <a:normAutofit/>
          </a:bodyPr>
          <a:lstStyle/>
          <a:p>
            <a:pPr>
              <a:buFont typeface="Wingdings" panose="05000000000000000000" pitchFamily="2" charset="2"/>
              <a:buChar char="Ø"/>
            </a:pPr>
            <a:r>
              <a:rPr lang="en-US" dirty="0"/>
              <a:t>Un </a:t>
            </a:r>
            <a:r>
              <a:rPr lang="en-US" i="1" dirty="0"/>
              <a:t>fir de </a:t>
            </a:r>
            <a:r>
              <a:rPr lang="en-US" i="1" dirty="0" err="1"/>
              <a:t>execuţie</a:t>
            </a:r>
            <a:r>
              <a:rPr lang="en-US" dirty="0"/>
              <a:t> </a:t>
            </a:r>
            <a:r>
              <a:rPr lang="en-US" dirty="0" err="1"/>
              <a:t>este</a:t>
            </a:r>
            <a:r>
              <a:rPr lang="en-US" dirty="0"/>
              <a:t> </a:t>
            </a:r>
            <a:r>
              <a:rPr lang="en-US" dirty="0" err="1"/>
              <a:t>unitatea</a:t>
            </a:r>
            <a:r>
              <a:rPr lang="en-US" dirty="0"/>
              <a:t> de </a:t>
            </a:r>
            <a:r>
              <a:rPr lang="en-US" dirty="0" err="1"/>
              <a:t>execuţie</a:t>
            </a:r>
            <a:r>
              <a:rPr lang="en-US" dirty="0"/>
              <a:t> a </a:t>
            </a:r>
            <a:r>
              <a:rPr lang="en-US" dirty="0" err="1"/>
              <a:t>unui</a:t>
            </a:r>
            <a:r>
              <a:rPr lang="en-US" dirty="0"/>
              <a:t> </a:t>
            </a:r>
            <a:r>
              <a:rPr lang="en-US" dirty="0" err="1"/>
              <a:t>proces</a:t>
            </a:r>
            <a:r>
              <a:rPr lang="en-US" dirty="0"/>
              <a:t>. </a:t>
            </a:r>
          </a:p>
          <a:p>
            <a:pPr>
              <a:buFont typeface="Wingdings" panose="05000000000000000000" pitchFamily="2" charset="2"/>
              <a:buChar char="Ø"/>
            </a:pPr>
            <a:r>
              <a:rPr lang="pt-BR" dirty="0"/>
              <a:t>Un proces este o instanță a unui program aflat în execuție.</a:t>
            </a:r>
          </a:p>
          <a:p>
            <a:pPr>
              <a:buFont typeface="Wingdings" panose="05000000000000000000" pitchFamily="2" charset="2"/>
              <a:buChar char="Ø"/>
            </a:pPr>
            <a:r>
              <a:rPr lang="fr-FR" dirty="0"/>
              <a:t>Un proces poate conține unul sau mai multe fire de execuție.</a:t>
            </a:r>
            <a:endParaRPr lang="en-US" dirty="0"/>
          </a:p>
          <a:p>
            <a:pPr>
              <a:buFont typeface="Wingdings" panose="05000000000000000000" pitchFamily="2" charset="2"/>
              <a:buChar char="Ø"/>
            </a:pPr>
            <a:r>
              <a:rPr lang="en-US" dirty="0" err="1"/>
              <a:t>Fiecare</a:t>
            </a:r>
            <a:r>
              <a:rPr lang="en-US" dirty="0"/>
              <a:t> fir de </a:t>
            </a:r>
            <a:r>
              <a:rPr lang="en-US" dirty="0" err="1"/>
              <a:t>execuţie</a:t>
            </a:r>
            <a:r>
              <a:rPr lang="en-US" dirty="0"/>
              <a:t> are </a:t>
            </a:r>
            <a:r>
              <a:rPr lang="en-US" dirty="0" err="1"/>
              <a:t>asociate</a:t>
            </a:r>
            <a:r>
              <a:rPr lang="en-US" dirty="0"/>
              <a:t> o </a:t>
            </a:r>
            <a:r>
              <a:rPr lang="en-US" dirty="0" err="1"/>
              <a:t>secvenţă</a:t>
            </a:r>
            <a:r>
              <a:rPr lang="en-US" dirty="0"/>
              <a:t> de </a:t>
            </a:r>
            <a:r>
              <a:rPr lang="en-US" dirty="0" err="1"/>
              <a:t>instrucţiuni</a:t>
            </a:r>
            <a:r>
              <a:rPr lang="en-US" dirty="0"/>
              <a:t>, un set de </a:t>
            </a:r>
            <a:r>
              <a:rPr lang="en-US" dirty="0" err="1"/>
              <a:t>regiştri</a:t>
            </a:r>
            <a:r>
              <a:rPr lang="en-US" dirty="0"/>
              <a:t> CPU </a:t>
            </a:r>
            <a:r>
              <a:rPr lang="en-US" dirty="0" err="1"/>
              <a:t>şi</a:t>
            </a:r>
            <a:r>
              <a:rPr lang="en-US" dirty="0"/>
              <a:t> o </a:t>
            </a:r>
            <a:r>
              <a:rPr lang="en-US" dirty="0" err="1"/>
              <a:t>stivă</a:t>
            </a:r>
            <a:r>
              <a:rPr lang="en-US" dirty="0"/>
              <a:t>. </a:t>
            </a:r>
          </a:p>
          <a:p>
            <a:pPr>
              <a:buFont typeface="Wingdings" panose="05000000000000000000" pitchFamily="2" charset="2"/>
              <a:buChar char="Ø"/>
            </a:pPr>
            <a:r>
              <a:rPr lang="en-GB" dirty="0" err="1"/>
              <a:t>Fiecare</a:t>
            </a:r>
            <a:r>
              <a:rPr lang="en-GB" dirty="0"/>
              <a:t> fir </a:t>
            </a:r>
            <a:r>
              <a:rPr lang="en-GB" dirty="0" err="1"/>
              <a:t>execută</a:t>
            </a:r>
            <a:r>
              <a:rPr lang="en-GB" dirty="0"/>
              <a:t> o </a:t>
            </a:r>
            <a:r>
              <a:rPr lang="en-GB" dirty="0" err="1"/>
              <a:t>secvență</a:t>
            </a:r>
            <a:r>
              <a:rPr lang="en-GB" dirty="0"/>
              <a:t> </a:t>
            </a:r>
            <a:r>
              <a:rPr lang="en-GB" dirty="0" err="1"/>
              <a:t>proprie</a:t>
            </a:r>
            <a:r>
              <a:rPr lang="en-GB" dirty="0"/>
              <a:t> de </a:t>
            </a:r>
            <a:r>
              <a:rPr lang="en-GB" dirty="0" err="1"/>
              <a:t>instrucțiuni</a:t>
            </a:r>
            <a:r>
              <a:rPr lang="en-GB" dirty="0"/>
              <a:t>, </a:t>
            </a:r>
            <a:r>
              <a:rPr lang="en-GB" dirty="0" err="1"/>
              <a:t>dar</a:t>
            </a:r>
            <a:r>
              <a:rPr lang="en-GB" dirty="0"/>
              <a:t> </a:t>
            </a:r>
            <a:r>
              <a:rPr lang="en-GB" dirty="0" err="1"/>
              <a:t>partajează</a:t>
            </a:r>
            <a:r>
              <a:rPr lang="en-GB" dirty="0"/>
              <a:t> memoria </a:t>
            </a:r>
            <a:r>
              <a:rPr lang="en-GB" dirty="0" err="1"/>
              <a:t>procesului</a:t>
            </a:r>
            <a:r>
              <a:rPr lang="en-GB" dirty="0"/>
              <a:t>.</a:t>
            </a:r>
            <a:endParaRPr lang="en-US" dirty="0"/>
          </a:p>
          <a:p>
            <a:pPr>
              <a:buFont typeface="Wingdings" panose="05000000000000000000" pitchFamily="2" charset="2"/>
              <a:buChar char="Ø"/>
            </a:pPr>
            <a:r>
              <a:rPr lang="en-US" dirty="0" err="1"/>
              <a:t>Atenţie</a:t>
            </a:r>
            <a:r>
              <a:rPr lang="en-US" dirty="0"/>
              <a:t>, un </a:t>
            </a:r>
            <a:r>
              <a:rPr lang="en-US" dirty="0" err="1"/>
              <a:t>proces</a:t>
            </a:r>
            <a:r>
              <a:rPr lang="en-US" dirty="0"/>
              <a:t> nu </a:t>
            </a:r>
            <a:r>
              <a:rPr lang="en-US" dirty="0" err="1"/>
              <a:t>execută</a:t>
            </a:r>
            <a:r>
              <a:rPr lang="en-US" dirty="0"/>
              <a:t> </a:t>
            </a:r>
            <a:r>
              <a:rPr lang="en-US" dirty="0" err="1"/>
              <a:t>nici</a:t>
            </a:r>
            <a:r>
              <a:rPr lang="en-US" dirty="0"/>
              <a:t> un </a:t>
            </a:r>
            <a:r>
              <a:rPr lang="en-US" dirty="0" err="1"/>
              <a:t>fel</a:t>
            </a:r>
            <a:r>
              <a:rPr lang="en-US" dirty="0"/>
              <a:t> de </a:t>
            </a:r>
            <a:r>
              <a:rPr lang="en-US" dirty="0" err="1"/>
              <a:t>instrucţiuni</a:t>
            </a:r>
            <a:r>
              <a:rPr lang="en-US" dirty="0"/>
              <a:t>. </a:t>
            </a:r>
          </a:p>
          <a:p>
            <a:pPr>
              <a:buFont typeface="Wingdings" panose="05000000000000000000" pitchFamily="2" charset="2"/>
              <a:buChar char="Ø"/>
            </a:pPr>
            <a:r>
              <a:rPr lang="en-US" dirty="0"/>
              <a:t>El </a:t>
            </a:r>
            <a:r>
              <a:rPr lang="en-US" dirty="0" err="1"/>
              <a:t>este</a:t>
            </a:r>
            <a:r>
              <a:rPr lang="en-US" dirty="0"/>
              <a:t> de </a:t>
            </a:r>
            <a:r>
              <a:rPr lang="en-US" dirty="0" err="1"/>
              <a:t>fapt</a:t>
            </a:r>
            <a:r>
              <a:rPr lang="en-US" dirty="0"/>
              <a:t> un </a:t>
            </a:r>
            <a:r>
              <a:rPr lang="en-US" dirty="0" err="1"/>
              <a:t>spaţiu</a:t>
            </a:r>
            <a:r>
              <a:rPr lang="en-US" dirty="0"/>
              <a:t> de </a:t>
            </a:r>
            <a:r>
              <a:rPr lang="en-US" dirty="0" err="1"/>
              <a:t>adresare</a:t>
            </a:r>
            <a:r>
              <a:rPr lang="en-US" dirty="0"/>
              <a:t> </a:t>
            </a:r>
            <a:r>
              <a:rPr lang="en-US" dirty="0" err="1"/>
              <a:t>comun</a:t>
            </a:r>
            <a:r>
              <a:rPr lang="en-US" dirty="0"/>
              <a:t> </a:t>
            </a:r>
            <a:r>
              <a:rPr lang="en-US" dirty="0" err="1"/>
              <a:t>pentru</a:t>
            </a:r>
            <a:r>
              <a:rPr lang="en-US" dirty="0"/>
              <a:t> </a:t>
            </a:r>
            <a:r>
              <a:rPr lang="en-US" dirty="0" err="1"/>
              <a:t>unul</a:t>
            </a:r>
            <a:r>
              <a:rPr lang="en-US" dirty="0"/>
              <a:t> </a:t>
            </a:r>
            <a:r>
              <a:rPr lang="en-US" dirty="0" err="1"/>
              <a:t>sau</a:t>
            </a:r>
            <a:r>
              <a:rPr lang="en-US" dirty="0"/>
              <a:t> </a:t>
            </a:r>
            <a:r>
              <a:rPr lang="en-US" dirty="0" err="1"/>
              <a:t>mai</a:t>
            </a:r>
            <a:r>
              <a:rPr lang="en-US" dirty="0"/>
              <a:t> </a:t>
            </a:r>
            <a:r>
              <a:rPr lang="en-US" dirty="0" err="1"/>
              <a:t>multe</a:t>
            </a:r>
            <a:r>
              <a:rPr lang="en-US" dirty="0"/>
              <a:t> fire de </a:t>
            </a:r>
            <a:r>
              <a:rPr lang="en-US" dirty="0" err="1"/>
              <a:t>execuţie</a:t>
            </a:r>
            <a:r>
              <a:rPr lang="en-US" dirty="0"/>
              <a:t>. </a:t>
            </a:r>
          </a:p>
          <a:p>
            <a:pPr>
              <a:buFont typeface="Wingdings" panose="05000000000000000000" pitchFamily="2" charset="2"/>
              <a:buChar char="Ø"/>
            </a:pPr>
            <a:r>
              <a:rPr lang="en-US" dirty="0" err="1"/>
              <a:t>Execuţia</a:t>
            </a:r>
            <a:r>
              <a:rPr lang="en-US" dirty="0"/>
              <a:t> </a:t>
            </a:r>
            <a:r>
              <a:rPr lang="en-US" dirty="0" err="1"/>
              <a:t>instrucţiunilor</a:t>
            </a:r>
            <a:r>
              <a:rPr lang="en-US" dirty="0"/>
              <a:t> cade </a:t>
            </a:r>
            <a:r>
              <a:rPr lang="en-US" dirty="0" err="1"/>
              <a:t>în</a:t>
            </a:r>
            <a:r>
              <a:rPr lang="en-US" dirty="0"/>
              <a:t> </a:t>
            </a:r>
            <a:r>
              <a:rPr lang="en-US" dirty="0" err="1"/>
              <a:t>responsabilitatea</a:t>
            </a:r>
            <a:r>
              <a:rPr lang="en-US" dirty="0"/>
              <a:t> </a:t>
            </a:r>
            <a:r>
              <a:rPr lang="en-US" dirty="0" err="1"/>
              <a:t>firelor</a:t>
            </a:r>
            <a:r>
              <a:rPr lang="en-US" dirty="0"/>
              <a:t> de </a:t>
            </a:r>
            <a:r>
              <a:rPr lang="en-US" dirty="0" err="1"/>
              <a:t>execuţie</a:t>
            </a:r>
            <a:r>
              <a:rPr lang="en-US" dirty="0"/>
              <a:t>. </a:t>
            </a:r>
          </a:p>
          <a:p>
            <a:pPr>
              <a:buFont typeface="Wingdings" panose="05000000000000000000" pitchFamily="2" charset="2"/>
              <a:buChar char="Ø"/>
            </a:pPr>
            <a:r>
              <a:rPr lang="en-GB" dirty="0" err="1"/>
              <a:t>Sistemul</a:t>
            </a:r>
            <a:r>
              <a:rPr lang="en-GB" dirty="0"/>
              <a:t> de </a:t>
            </a:r>
            <a:r>
              <a:rPr lang="en-GB" dirty="0" err="1"/>
              <a:t>operare</a:t>
            </a:r>
            <a:r>
              <a:rPr lang="en-GB" dirty="0"/>
              <a:t> </a:t>
            </a:r>
            <a:r>
              <a:rPr lang="en-GB" dirty="0" err="1"/>
              <a:t>gestionează</a:t>
            </a:r>
            <a:r>
              <a:rPr lang="en-GB" dirty="0"/>
              <a:t> </a:t>
            </a:r>
            <a:r>
              <a:rPr lang="en-GB" dirty="0" err="1"/>
              <a:t>planificarea</a:t>
            </a:r>
            <a:r>
              <a:rPr lang="en-GB" dirty="0"/>
              <a:t> </a:t>
            </a:r>
            <a:r>
              <a:rPr lang="en-GB" dirty="0" err="1"/>
              <a:t>firelor</a:t>
            </a:r>
            <a:r>
              <a:rPr lang="en-GB" dirty="0"/>
              <a:t>.</a:t>
            </a:r>
            <a:endParaRPr lang="ro-RO" dirty="0"/>
          </a:p>
        </p:txBody>
      </p:sp>
    </p:spTree>
    <p:extLst>
      <p:ext uri="{BB962C8B-B14F-4D97-AF65-F5344CB8AC3E}">
        <p14:creationId xmlns:p14="http://schemas.microsoft.com/office/powerpoint/2010/main" val="8615706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9FEDAD-9C24-B609-75F3-3650352E3E6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38C61951-C2AE-285F-4503-355E7209046D}"/>
              </a:ext>
            </a:extLst>
          </p:cNvPr>
          <p:cNvSpPr>
            <a:spLocks noGrp="1"/>
          </p:cNvSpPr>
          <p:nvPr>
            <p:ph type="title"/>
          </p:nvPr>
        </p:nvSpPr>
        <p:spPr>
          <a:xfrm>
            <a:off x="492370" y="605896"/>
            <a:ext cx="3084844" cy="5646208"/>
          </a:xfrm>
        </p:spPr>
        <p:txBody>
          <a:bodyPr anchor="ctr">
            <a:normAutofit/>
          </a:bodyPr>
          <a:lstStyle/>
          <a:p>
            <a:r>
              <a:rPr lang="ro-RO" sz="3600">
                <a:solidFill>
                  <a:srgbClr val="FFFFFF"/>
                </a:solidFill>
              </a:rPr>
              <a:t>Fire de execuţie şi sincronizare</a:t>
            </a: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 name="Content Placeholder 2">
            <a:extLst>
              <a:ext uri="{FF2B5EF4-FFF2-40B4-BE49-F238E27FC236}">
                <a16:creationId xmlns:a16="http://schemas.microsoft.com/office/drawing/2014/main" id="{A00EED1B-0161-1C01-60D3-192F00A9AD6F}"/>
              </a:ext>
            </a:extLst>
          </p:cNvPr>
          <p:cNvSpPr>
            <a:spLocks noGrp="1"/>
          </p:cNvSpPr>
          <p:nvPr>
            <p:ph idx="1"/>
          </p:nvPr>
        </p:nvSpPr>
        <p:spPr>
          <a:xfrm>
            <a:off x="4742016" y="605896"/>
            <a:ext cx="6413663" cy="5646208"/>
          </a:xfrm>
        </p:spPr>
        <p:txBody>
          <a:bodyPr anchor="ctr">
            <a:normAutofit/>
          </a:bodyPr>
          <a:lstStyle/>
          <a:p>
            <a:r>
              <a:rPr lang="en-US" dirty="0" err="1"/>
              <a:t>Mediul</a:t>
            </a:r>
            <a:r>
              <a:rPr lang="en-US" dirty="0"/>
              <a:t> de </a:t>
            </a:r>
            <a:r>
              <a:rPr lang="en-US" dirty="0" err="1"/>
              <a:t>execuţie</a:t>
            </a:r>
            <a:r>
              <a:rPr lang="en-US" dirty="0"/>
              <a:t> Java </a:t>
            </a:r>
            <a:r>
              <a:rPr lang="en-US" dirty="0" err="1"/>
              <a:t>execută</a:t>
            </a:r>
            <a:r>
              <a:rPr lang="en-US" dirty="0"/>
              <a:t> </a:t>
            </a:r>
            <a:r>
              <a:rPr lang="en-US" dirty="0" err="1"/>
              <a:t>propriul</a:t>
            </a:r>
            <a:r>
              <a:rPr lang="en-US" dirty="0"/>
              <a:t> </a:t>
            </a:r>
            <a:r>
              <a:rPr lang="en-US" dirty="0" err="1"/>
              <a:t>său</a:t>
            </a:r>
            <a:r>
              <a:rPr lang="en-US" dirty="0"/>
              <a:t> control </a:t>
            </a:r>
            <a:r>
              <a:rPr lang="en-US" dirty="0" err="1"/>
              <a:t>asupra</a:t>
            </a:r>
            <a:r>
              <a:rPr lang="en-US" dirty="0"/>
              <a:t> </a:t>
            </a:r>
            <a:r>
              <a:rPr lang="en-US" dirty="0" err="1"/>
              <a:t>firelor</a:t>
            </a:r>
            <a:r>
              <a:rPr lang="en-US" dirty="0"/>
              <a:t> de </a:t>
            </a:r>
            <a:r>
              <a:rPr lang="en-US" dirty="0" err="1"/>
              <a:t>execuţie</a:t>
            </a:r>
            <a:r>
              <a:rPr lang="en-US" dirty="0"/>
              <a:t>.</a:t>
            </a:r>
          </a:p>
          <a:p>
            <a:r>
              <a:rPr lang="en-US" dirty="0"/>
              <a:t> </a:t>
            </a:r>
            <a:r>
              <a:rPr lang="en-US" dirty="0" err="1"/>
              <a:t>Algoritmul</a:t>
            </a:r>
            <a:r>
              <a:rPr lang="en-US" dirty="0"/>
              <a:t> </a:t>
            </a:r>
            <a:r>
              <a:rPr lang="en-US" dirty="0" err="1"/>
              <a:t>pentru</a:t>
            </a:r>
            <a:r>
              <a:rPr lang="en-US" dirty="0"/>
              <a:t> </a:t>
            </a:r>
            <a:r>
              <a:rPr lang="en-US" dirty="0" err="1"/>
              <a:t>planificarea</a:t>
            </a:r>
            <a:r>
              <a:rPr lang="en-US" dirty="0"/>
              <a:t> </a:t>
            </a:r>
            <a:r>
              <a:rPr lang="en-US" dirty="0" err="1"/>
              <a:t>firelor</a:t>
            </a:r>
            <a:r>
              <a:rPr lang="en-US" dirty="0"/>
              <a:t> de </a:t>
            </a:r>
            <a:r>
              <a:rPr lang="en-US" dirty="0" err="1"/>
              <a:t>execuţie</a:t>
            </a:r>
            <a:r>
              <a:rPr lang="en-US" dirty="0"/>
              <a:t>, </a:t>
            </a:r>
            <a:r>
              <a:rPr lang="en-US" dirty="0" err="1"/>
              <a:t>priorităţile</a:t>
            </a:r>
            <a:r>
              <a:rPr lang="en-US" dirty="0"/>
              <a:t> </a:t>
            </a:r>
            <a:r>
              <a:rPr lang="en-US" dirty="0" err="1"/>
              <a:t>şi</a:t>
            </a:r>
            <a:r>
              <a:rPr lang="en-US" dirty="0"/>
              <a:t> </a:t>
            </a:r>
            <a:r>
              <a:rPr lang="en-US" dirty="0" err="1"/>
              <a:t>stările</a:t>
            </a:r>
            <a:r>
              <a:rPr lang="en-US" dirty="0"/>
              <a:t> </a:t>
            </a:r>
            <a:r>
              <a:rPr lang="en-US" dirty="0" err="1"/>
              <a:t>în</a:t>
            </a:r>
            <a:r>
              <a:rPr lang="en-US" dirty="0"/>
              <a:t> care se pot </a:t>
            </a:r>
            <a:r>
              <a:rPr lang="en-US" dirty="0" err="1"/>
              <a:t>afla</a:t>
            </a:r>
            <a:r>
              <a:rPr lang="en-US" dirty="0"/>
              <a:t> </a:t>
            </a:r>
            <a:r>
              <a:rPr lang="en-US" dirty="0" err="1"/>
              <a:t>acestea</a:t>
            </a:r>
            <a:r>
              <a:rPr lang="en-US" dirty="0"/>
              <a:t> sunt </a:t>
            </a:r>
            <a:r>
              <a:rPr lang="en-US" dirty="0" err="1"/>
              <a:t>specifice</a:t>
            </a:r>
            <a:r>
              <a:rPr lang="en-US" dirty="0"/>
              <a:t> </a:t>
            </a:r>
            <a:r>
              <a:rPr lang="en-US" dirty="0" err="1"/>
              <a:t>aplicaţiilor</a:t>
            </a:r>
            <a:r>
              <a:rPr lang="en-US" dirty="0"/>
              <a:t> Java </a:t>
            </a:r>
            <a:r>
              <a:rPr lang="en-US" dirty="0" err="1"/>
              <a:t>şi</a:t>
            </a:r>
            <a:r>
              <a:rPr lang="en-US" dirty="0"/>
              <a:t> </a:t>
            </a:r>
            <a:r>
              <a:rPr lang="en-US" dirty="0" err="1"/>
              <a:t>implementate</a:t>
            </a:r>
            <a:r>
              <a:rPr lang="en-US" dirty="0"/>
              <a:t> identic pe </a:t>
            </a:r>
            <a:r>
              <a:rPr lang="en-US" dirty="0" err="1"/>
              <a:t>toate</a:t>
            </a:r>
            <a:r>
              <a:rPr lang="en-US" dirty="0"/>
              <a:t> </a:t>
            </a:r>
            <a:r>
              <a:rPr lang="en-US" dirty="0" err="1"/>
              <a:t>platformele</a:t>
            </a:r>
            <a:r>
              <a:rPr lang="en-US" dirty="0"/>
              <a:t> pe care a </a:t>
            </a:r>
            <a:r>
              <a:rPr lang="en-US" dirty="0" err="1"/>
              <a:t>fost</a:t>
            </a:r>
            <a:r>
              <a:rPr lang="en-US" dirty="0"/>
              <a:t> </a:t>
            </a:r>
            <a:r>
              <a:rPr lang="en-US" dirty="0" err="1"/>
              <a:t>portat</a:t>
            </a:r>
            <a:r>
              <a:rPr lang="en-US" dirty="0"/>
              <a:t> </a:t>
            </a:r>
            <a:r>
              <a:rPr lang="en-US" dirty="0" err="1"/>
              <a:t>mediul</a:t>
            </a:r>
            <a:r>
              <a:rPr lang="en-US" dirty="0"/>
              <a:t> de </a:t>
            </a:r>
            <a:r>
              <a:rPr lang="en-US" dirty="0" err="1"/>
              <a:t>execuţie</a:t>
            </a:r>
            <a:r>
              <a:rPr lang="en-US" dirty="0"/>
              <a:t> Java. </a:t>
            </a:r>
          </a:p>
          <a:p>
            <a:r>
              <a:rPr lang="en-US" dirty="0" err="1"/>
              <a:t>Totuşi</a:t>
            </a:r>
            <a:r>
              <a:rPr lang="en-US" dirty="0"/>
              <a:t>, </a:t>
            </a:r>
            <a:r>
              <a:rPr lang="en-US" dirty="0" err="1"/>
              <a:t>acest</a:t>
            </a:r>
            <a:r>
              <a:rPr lang="en-US" dirty="0"/>
              <a:t> </a:t>
            </a:r>
            <a:r>
              <a:rPr lang="en-US" dirty="0" err="1"/>
              <a:t>mediu</a:t>
            </a:r>
            <a:r>
              <a:rPr lang="en-US" dirty="0"/>
              <a:t> </a:t>
            </a:r>
            <a:r>
              <a:rPr lang="en-US" dirty="0" err="1"/>
              <a:t>ştie</a:t>
            </a:r>
            <a:r>
              <a:rPr lang="en-US" dirty="0"/>
              <a:t> </a:t>
            </a:r>
            <a:r>
              <a:rPr lang="en-US" dirty="0" err="1"/>
              <a:t>să</a:t>
            </a:r>
            <a:r>
              <a:rPr lang="en-US" dirty="0"/>
              <a:t> </a:t>
            </a:r>
            <a:r>
              <a:rPr lang="en-US" dirty="0" err="1"/>
              <a:t>profite</a:t>
            </a:r>
            <a:r>
              <a:rPr lang="en-US" dirty="0"/>
              <a:t> de </a:t>
            </a:r>
            <a:r>
              <a:rPr lang="en-US" dirty="0" err="1"/>
              <a:t>resursele</a:t>
            </a:r>
            <a:r>
              <a:rPr lang="en-US" dirty="0"/>
              <a:t> </a:t>
            </a:r>
            <a:r>
              <a:rPr lang="en-US" dirty="0" err="1"/>
              <a:t>sistemului</a:t>
            </a:r>
            <a:r>
              <a:rPr lang="en-US" dirty="0"/>
              <a:t> pe care </a:t>
            </a:r>
            <a:r>
              <a:rPr lang="en-US" dirty="0" err="1"/>
              <a:t>lucrează</a:t>
            </a:r>
            <a:r>
              <a:rPr lang="en-US" dirty="0"/>
              <a:t>. </a:t>
            </a:r>
          </a:p>
          <a:p>
            <a:r>
              <a:rPr lang="en-US" dirty="0" err="1"/>
              <a:t>Dacă</a:t>
            </a:r>
            <a:r>
              <a:rPr lang="en-US" dirty="0"/>
              <a:t> </a:t>
            </a:r>
            <a:r>
              <a:rPr lang="en-US" dirty="0" err="1"/>
              <a:t>sistemul</a:t>
            </a:r>
            <a:r>
              <a:rPr lang="en-US" dirty="0"/>
              <a:t> </a:t>
            </a:r>
            <a:r>
              <a:rPr lang="en-US" dirty="0" err="1"/>
              <a:t>gazdă</a:t>
            </a:r>
            <a:r>
              <a:rPr lang="en-US" dirty="0"/>
              <a:t> </a:t>
            </a:r>
            <a:r>
              <a:rPr lang="en-US" dirty="0" err="1"/>
              <a:t>lucrează</a:t>
            </a:r>
            <a:r>
              <a:rPr lang="en-US" dirty="0"/>
              <a:t> cu </a:t>
            </a:r>
            <a:r>
              <a:rPr lang="en-US" dirty="0" err="1"/>
              <a:t>mai</a:t>
            </a:r>
            <a:r>
              <a:rPr lang="en-US" dirty="0"/>
              <a:t> </a:t>
            </a:r>
            <a:r>
              <a:rPr lang="en-US" dirty="0" err="1"/>
              <a:t>multe</a:t>
            </a:r>
            <a:r>
              <a:rPr lang="en-US" dirty="0"/>
              <a:t> </a:t>
            </a:r>
            <a:r>
              <a:rPr lang="en-US" dirty="0" err="1"/>
              <a:t>procesoare</a:t>
            </a:r>
            <a:r>
              <a:rPr lang="en-US" dirty="0"/>
              <a:t>, Java </a:t>
            </a:r>
            <a:r>
              <a:rPr lang="en-US" dirty="0" err="1"/>
              <a:t>va</a:t>
            </a:r>
            <a:r>
              <a:rPr lang="en-US" dirty="0"/>
              <a:t> </a:t>
            </a:r>
            <a:r>
              <a:rPr lang="en-US" dirty="0" err="1"/>
              <a:t>folosi</a:t>
            </a:r>
            <a:r>
              <a:rPr lang="en-US" dirty="0"/>
              <a:t> </a:t>
            </a:r>
            <a:r>
              <a:rPr lang="en-US" dirty="0" err="1"/>
              <a:t>toate</a:t>
            </a:r>
            <a:r>
              <a:rPr lang="en-US" dirty="0"/>
              <a:t> </a:t>
            </a:r>
            <a:r>
              <a:rPr lang="en-US" dirty="0" err="1"/>
              <a:t>aceste</a:t>
            </a:r>
            <a:r>
              <a:rPr lang="en-US" dirty="0"/>
              <a:t> </a:t>
            </a:r>
            <a:r>
              <a:rPr lang="en-US" dirty="0" err="1"/>
              <a:t>procesoare</a:t>
            </a:r>
            <a:r>
              <a:rPr lang="en-US" dirty="0"/>
              <a:t> </a:t>
            </a:r>
            <a:r>
              <a:rPr lang="en-US" dirty="0" err="1"/>
              <a:t>pentru</a:t>
            </a:r>
            <a:r>
              <a:rPr lang="en-US" dirty="0"/>
              <a:t> a-</a:t>
            </a:r>
            <a:r>
              <a:rPr lang="en-US" dirty="0" err="1"/>
              <a:t>şi</a:t>
            </a:r>
            <a:r>
              <a:rPr lang="en-US" dirty="0"/>
              <a:t> </a:t>
            </a:r>
            <a:r>
              <a:rPr lang="en-US" dirty="0" err="1"/>
              <a:t>planifica</a:t>
            </a:r>
            <a:r>
              <a:rPr lang="en-US" dirty="0"/>
              <a:t> </a:t>
            </a:r>
            <a:r>
              <a:rPr lang="en-US" dirty="0" err="1"/>
              <a:t>firele</a:t>
            </a:r>
            <a:r>
              <a:rPr lang="en-US" dirty="0"/>
              <a:t> de </a:t>
            </a:r>
            <a:r>
              <a:rPr lang="en-US" dirty="0" err="1"/>
              <a:t>execuţie</a:t>
            </a:r>
            <a:r>
              <a:rPr lang="en-US" dirty="0"/>
              <a:t>. </a:t>
            </a:r>
            <a:endParaRPr lang="ro-RO" dirty="0"/>
          </a:p>
          <a:p>
            <a:endParaRPr lang="ro-RO" dirty="0"/>
          </a:p>
        </p:txBody>
      </p:sp>
    </p:spTree>
    <p:extLst>
      <p:ext uri="{BB962C8B-B14F-4D97-AF65-F5344CB8AC3E}">
        <p14:creationId xmlns:p14="http://schemas.microsoft.com/office/powerpoint/2010/main" val="3616026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492370" y="605896"/>
            <a:ext cx="3084844" cy="5646208"/>
          </a:xfrm>
        </p:spPr>
        <p:txBody>
          <a:bodyPr anchor="ctr">
            <a:normAutofit/>
          </a:bodyPr>
          <a:lstStyle/>
          <a:p>
            <a:r>
              <a:rPr lang="ro-RO" sz="3600">
                <a:solidFill>
                  <a:srgbClr val="FFFFFF"/>
                </a:solidFill>
              </a:rPr>
              <a:t>Fire de execuţie şi sincronizare</a:t>
            </a: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 name="Content Placeholder 2"/>
          <p:cNvSpPr>
            <a:spLocks noGrp="1"/>
          </p:cNvSpPr>
          <p:nvPr>
            <p:ph idx="1"/>
          </p:nvPr>
        </p:nvSpPr>
        <p:spPr>
          <a:xfrm>
            <a:off x="4742016" y="605896"/>
            <a:ext cx="7020493" cy="5646208"/>
          </a:xfrm>
        </p:spPr>
        <p:txBody>
          <a:bodyPr anchor="ctr">
            <a:normAutofit lnSpcReduction="10000"/>
          </a:bodyPr>
          <a:lstStyle/>
          <a:p>
            <a:r>
              <a:rPr lang="pt-BR" dirty="0"/>
              <a:t>🧩 </a:t>
            </a:r>
            <a:r>
              <a:rPr lang="pt-BR" b="1" i="1" dirty="0"/>
              <a:t>Fire de execuție pe multiprocesoare</a:t>
            </a:r>
            <a:endParaRPr lang="en-US" b="1" dirty="0"/>
          </a:p>
          <a:p>
            <a:r>
              <a:rPr lang="en-US" dirty="0" err="1"/>
              <a:t>În</a:t>
            </a:r>
            <a:r>
              <a:rPr lang="en-US" dirty="0"/>
              <a:t> </a:t>
            </a:r>
            <a:r>
              <a:rPr lang="en-US" dirty="0" err="1"/>
              <a:t>cazul</a:t>
            </a:r>
            <a:r>
              <a:rPr lang="en-US" dirty="0"/>
              <a:t> </a:t>
            </a:r>
            <a:r>
              <a:rPr lang="en-US" dirty="0" err="1"/>
              <a:t>maşinilor</a:t>
            </a:r>
            <a:r>
              <a:rPr lang="en-US" dirty="0"/>
              <a:t> </a:t>
            </a:r>
            <a:r>
              <a:rPr lang="en-US" dirty="0" err="1"/>
              <a:t>multiprocesor</a:t>
            </a:r>
            <a:r>
              <a:rPr lang="en-US" dirty="0"/>
              <a:t>, </a:t>
            </a:r>
            <a:r>
              <a:rPr lang="en-US" dirty="0" err="1"/>
              <a:t>mediul</a:t>
            </a:r>
            <a:r>
              <a:rPr lang="en-US" dirty="0"/>
              <a:t> de </a:t>
            </a:r>
            <a:r>
              <a:rPr lang="en-US" dirty="0" err="1"/>
              <a:t>execuţie</a:t>
            </a:r>
            <a:r>
              <a:rPr lang="en-US" dirty="0"/>
              <a:t> Java </a:t>
            </a:r>
            <a:r>
              <a:rPr lang="en-US" dirty="0" err="1"/>
              <a:t>şi</a:t>
            </a:r>
            <a:r>
              <a:rPr lang="en-US" dirty="0"/>
              <a:t> </a:t>
            </a:r>
            <a:r>
              <a:rPr lang="en-US" dirty="0" err="1"/>
              <a:t>sistemul</a:t>
            </a:r>
            <a:r>
              <a:rPr lang="en-US" dirty="0"/>
              <a:t> de </a:t>
            </a:r>
            <a:r>
              <a:rPr lang="en-US" dirty="0" err="1"/>
              <a:t>operare</a:t>
            </a:r>
            <a:r>
              <a:rPr lang="en-US" dirty="0"/>
              <a:t> sunt </a:t>
            </a:r>
            <a:r>
              <a:rPr lang="en-US" dirty="0" err="1"/>
              <a:t>responsabile</a:t>
            </a:r>
            <a:r>
              <a:rPr lang="en-US" dirty="0"/>
              <a:t> cu </a:t>
            </a:r>
            <a:r>
              <a:rPr lang="en-US" dirty="0" err="1"/>
              <a:t>repartizarea</a:t>
            </a:r>
            <a:r>
              <a:rPr lang="en-US" dirty="0"/>
              <a:t> </a:t>
            </a:r>
            <a:r>
              <a:rPr lang="en-US" dirty="0" err="1"/>
              <a:t>firelor</a:t>
            </a:r>
            <a:r>
              <a:rPr lang="en-US" dirty="0"/>
              <a:t> de </a:t>
            </a:r>
            <a:r>
              <a:rPr lang="en-US" dirty="0" err="1"/>
              <a:t>execuţie</a:t>
            </a:r>
            <a:r>
              <a:rPr lang="en-US" dirty="0"/>
              <a:t> pe un </a:t>
            </a:r>
            <a:r>
              <a:rPr lang="en-US" dirty="0" err="1"/>
              <a:t>procesor</a:t>
            </a:r>
            <a:r>
              <a:rPr lang="en-US" dirty="0"/>
              <a:t> </a:t>
            </a:r>
            <a:r>
              <a:rPr lang="en-US" dirty="0" err="1"/>
              <a:t>sau</a:t>
            </a:r>
            <a:r>
              <a:rPr lang="en-US" dirty="0"/>
              <a:t> </a:t>
            </a:r>
            <a:r>
              <a:rPr lang="en-US" dirty="0" err="1"/>
              <a:t>altul</a:t>
            </a:r>
            <a:r>
              <a:rPr lang="en-US" dirty="0"/>
              <a:t>. </a:t>
            </a:r>
          </a:p>
          <a:p>
            <a:r>
              <a:rPr lang="en-US" dirty="0" err="1"/>
              <a:t>Pentru</a:t>
            </a:r>
            <a:r>
              <a:rPr lang="en-US" dirty="0"/>
              <a:t> </a:t>
            </a:r>
            <a:r>
              <a:rPr lang="en-US" dirty="0" err="1"/>
              <a:t>programator</a:t>
            </a:r>
            <a:r>
              <a:rPr lang="en-US" dirty="0"/>
              <a:t>, </a:t>
            </a:r>
            <a:r>
              <a:rPr lang="en-US" dirty="0" err="1"/>
              <a:t>acest</a:t>
            </a:r>
            <a:r>
              <a:rPr lang="en-US" dirty="0"/>
              <a:t> </a:t>
            </a:r>
            <a:r>
              <a:rPr lang="en-US" dirty="0" err="1"/>
              <a:t>mecanism</a:t>
            </a:r>
            <a:r>
              <a:rPr lang="en-US" dirty="0"/>
              <a:t> </a:t>
            </a:r>
            <a:r>
              <a:rPr lang="en-US" dirty="0" err="1"/>
              <a:t>este</a:t>
            </a:r>
            <a:r>
              <a:rPr lang="en-US" dirty="0"/>
              <a:t> </a:t>
            </a:r>
            <a:r>
              <a:rPr lang="en-US" dirty="0" err="1"/>
              <a:t>complet</a:t>
            </a:r>
            <a:r>
              <a:rPr lang="en-US" dirty="0"/>
              <a:t> transparent, </a:t>
            </a:r>
            <a:r>
              <a:rPr lang="en-US" dirty="0" err="1"/>
              <a:t>neexistând</a:t>
            </a:r>
            <a:r>
              <a:rPr lang="en-US" dirty="0"/>
              <a:t> </a:t>
            </a:r>
            <a:r>
              <a:rPr lang="en-US" dirty="0" err="1"/>
              <a:t>nici</a:t>
            </a:r>
            <a:r>
              <a:rPr lang="en-US" dirty="0"/>
              <a:t> o </a:t>
            </a:r>
            <a:r>
              <a:rPr lang="en-US" dirty="0" err="1"/>
              <a:t>diferenţă</a:t>
            </a:r>
            <a:r>
              <a:rPr lang="en-US" dirty="0"/>
              <a:t> </a:t>
            </a:r>
            <a:r>
              <a:rPr lang="en-US" dirty="0" err="1"/>
              <a:t>între</a:t>
            </a:r>
            <a:r>
              <a:rPr lang="en-US" dirty="0"/>
              <a:t> </a:t>
            </a:r>
            <a:r>
              <a:rPr lang="en-US" dirty="0" err="1"/>
              <a:t>scrierea</a:t>
            </a:r>
            <a:r>
              <a:rPr lang="en-US" dirty="0"/>
              <a:t> </a:t>
            </a:r>
            <a:r>
              <a:rPr lang="en-US" dirty="0" err="1"/>
              <a:t>unei</a:t>
            </a:r>
            <a:r>
              <a:rPr lang="en-US" dirty="0"/>
              <a:t> </a:t>
            </a:r>
            <a:r>
              <a:rPr lang="en-US" dirty="0" err="1"/>
              <a:t>aplicaţii</a:t>
            </a:r>
            <a:r>
              <a:rPr lang="en-US" dirty="0"/>
              <a:t> cu </a:t>
            </a:r>
            <a:r>
              <a:rPr lang="en-US" dirty="0" err="1"/>
              <a:t>mai</a:t>
            </a:r>
            <a:r>
              <a:rPr lang="en-US" dirty="0"/>
              <a:t> </a:t>
            </a:r>
            <a:r>
              <a:rPr lang="en-US" dirty="0" err="1"/>
              <a:t>multe</a:t>
            </a:r>
            <a:r>
              <a:rPr lang="en-US" dirty="0"/>
              <a:t> fire </a:t>
            </a:r>
            <a:r>
              <a:rPr lang="en-US" dirty="0" err="1"/>
              <a:t>pentru</a:t>
            </a:r>
            <a:r>
              <a:rPr lang="en-US" dirty="0"/>
              <a:t> o </a:t>
            </a:r>
            <a:r>
              <a:rPr lang="en-US" dirty="0" err="1"/>
              <a:t>maşină</a:t>
            </a:r>
            <a:r>
              <a:rPr lang="en-US" dirty="0"/>
              <a:t> cu un </a:t>
            </a:r>
            <a:r>
              <a:rPr lang="en-US" dirty="0" err="1"/>
              <a:t>singur</a:t>
            </a:r>
            <a:r>
              <a:rPr lang="en-US" dirty="0"/>
              <a:t> </a:t>
            </a:r>
            <a:r>
              <a:rPr lang="en-US" dirty="0" err="1"/>
              <a:t>procesor</a:t>
            </a:r>
            <a:r>
              <a:rPr lang="en-US" dirty="0"/>
              <a:t> </a:t>
            </a:r>
            <a:r>
              <a:rPr lang="en-US" dirty="0" err="1"/>
              <a:t>sau</a:t>
            </a:r>
            <a:r>
              <a:rPr lang="en-US" dirty="0"/>
              <a:t> cu </a:t>
            </a:r>
            <a:r>
              <a:rPr lang="en-US" dirty="0" err="1"/>
              <a:t>mai</a:t>
            </a:r>
            <a:r>
              <a:rPr lang="en-US" dirty="0"/>
              <a:t> </a:t>
            </a:r>
            <a:r>
              <a:rPr lang="en-US" dirty="0" err="1"/>
              <a:t>multe</a:t>
            </a:r>
            <a:r>
              <a:rPr lang="en-US" dirty="0"/>
              <a:t>. </a:t>
            </a:r>
          </a:p>
          <a:p>
            <a:r>
              <a:rPr lang="en-US" dirty="0" err="1"/>
              <a:t>Există</a:t>
            </a:r>
            <a:r>
              <a:rPr lang="en-US" dirty="0"/>
              <a:t> </a:t>
            </a:r>
            <a:r>
              <a:rPr lang="en-US" dirty="0" err="1"/>
              <a:t>însă</a:t>
            </a:r>
            <a:r>
              <a:rPr lang="en-US" dirty="0"/>
              <a:t> </a:t>
            </a:r>
            <a:r>
              <a:rPr lang="en-US" dirty="0" err="1"/>
              <a:t>diferenţe</a:t>
            </a:r>
            <a:r>
              <a:rPr lang="en-US" dirty="0"/>
              <a:t> </a:t>
            </a:r>
            <a:r>
              <a:rPr lang="en-US" dirty="0" err="1"/>
              <a:t>în</a:t>
            </a:r>
            <a:r>
              <a:rPr lang="en-US" dirty="0"/>
              <a:t> </a:t>
            </a:r>
            <a:r>
              <a:rPr lang="en-US" dirty="0" err="1"/>
              <a:t>cazul</a:t>
            </a:r>
            <a:r>
              <a:rPr lang="en-US" dirty="0"/>
              <a:t> </a:t>
            </a:r>
            <a:r>
              <a:rPr lang="en-US" dirty="0" err="1"/>
              <a:t>scrierii</a:t>
            </a:r>
            <a:r>
              <a:rPr lang="en-US" dirty="0"/>
              <a:t> </a:t>
            </a:r>
            <a:r>
              <a:rPr lang="en-US" dirty="0" err="1"/>
              <a:t>aplicaţiilor</a:t>
            </a:r>
            <a:r>
              <a:rPr lang="en-US" dirty="0"/>
              <a:t> pe </a:t>
            </a:r>
            <a:r>
              <a:rPr lang="en-US" dirty="0" err="1"/>
              <a:t>mai</a:t>
            </a:r>
            <a:r>
              <a:rPr lang="en-US" dirty="0"/>
              <a:t> </a:t>
            </a:r>
            <a:r>
              <a:rPr lang="en-US" dirty="0" err="1"/>
              <a:t>multe</a:t>
            </a:r>
            <a:r>
              <a:rPr lang="en-US" dirty="0"/>
              <a:t> fire de </a:t>
            </a:r>
            <a:r>
              <a:rPr lang="en-US" dirty="0" err="1"/>
              <a:t>execuţie</a:t>
            </a:r>
            <a:r>
              <a:rPr lang="en-US" dirty="0"/>
              <a:t> </a:t>
            </a:r>
            <a:r>
              <a:rPr lang="en-US" dirty="0" err="1"/>
              <a:t>faţă</a:t>
            </a:r>
            <a:r>
              <a:rPr lang="en-US" dirty="0"/>
              <a:t> de </a:t>
            </a:r>
            <a:r>
              <a:rPr lang="en-US" dirty="0" err="1"/>
              <a:t>acelea</a:t>
            </a:r>
            <a:r>
              <a:rPr lang="en-US" dirty="0"/>
              <a:t> cu un </a:t>
            </a:r>
            <a:r>
              <a:rPr lang="en-US" dirty="0" err="1"/>
              <a:t>singur</a:t>
            </a:r>
            <a:r>
              <a:rPr lang="en-US" dirty="0"/>
              <a:t> fir de </a:t>
            </a:r>
            <a:r>
              <a:rPr lang="en-US" dirty="0" err="1"/>
              <a:t>execuţie</a:t>
            </a:r>
            <a:r>
              <a:rPr lang="en-US" dirty="0"/>
              <a:t>, </a:t>
            </a:r>
            <a:r>
              <a:rPr lang="en-US" dirty="0" err="1"/>
              <a:t>diferenţe</a:t>
            </a:r>
            <a:r>
              <a:rPr lang="en-US" dirty="0"/>
              <a:t> care </a:t>
            </a:r>
            <a:r>
              <a:rPr lang="en-US" dirty="0" err="1"/>
              <a:t>provin</a:t>
            </a:r>
            <a:r>
              <a:rPr lang="en-US" dirty="0"/>
              <a:t> </a:t>
            </a:r>
            <a:r>
              <a:rPr lang="en-US" dirty="0" err="1"/>
              <a:t>în</a:t>
            </a:r>
            <a:r>
              <a:rPr lang="en-US" dirty="0"/>
              <a:t> principal din </a:t>
            </a:r>
            <a:r>
              <a:rPr lang="en-US" dirty="0" err="1"/>
              <a:t>cauza</a:t>
            </a:r>
            <a:r>
              <a:rPr lang="en-US" dirty="0"/>
              <a:t> </a:t>
            </a:r>
            <a:r>
              <a:rPr lang="en-US" dirty="0" err="1"/>
              <a:t>necesităţii</a:t>
            </a:r>
            <a:r>
              <a:rPr lang="en-US" dirty="0"/>
              <a:t> de </a:t>
            </a:r>
            <a:r>
              <a:rPr lang="en-US" dirty="0" err="1"/>
              <a:t>sincronizare</a:t>
            </a:r>
            <a:r>
              <a:rPr lang="en-US" dirty="0"/>
              <a:t> </a:t>
            </a:r>
            <a:r>
              <a:rPr lang="en-US" dirty="0" err="1"/>
              <a:t>între</a:t>
            </a:r>
            <a:r>
              <a:rPr lang="en-US" dirty="0"/>
              <a:t> </a:t>
            </a:r>
            <a:r>
              <a:rPr lang="en-US" dirty="0" err="1"/>
              <a:t>firele</a:t>
            </a:r>
            <a:r>
              <a:rPr lang="en-US" dirty="0"/>
              <a:t> de </a:t>
            </a:r>
            <a:r>
              <a:rPr lang="en-US" dirty="0" err="1"/>
              <a:t>execuţie</a:t>
            </a:r>
            <a:r>
              <a:rPr lang="en-US" dirty="0"/>
              <a:t> </a:t>
            </a:r>
            <a:r>
              <a:rPr lang="en-US" dirty="0" err="1"/>
              <a:t>aparţinând</a:t>
            </a:r>
            <a:r>
              <a:rPr lang="en-US" dirty="0"/>
              <a:t> </a:t>
            </a:r>
            <a:r>
              <a:rPr lang="en-US" dirty="0" err="1"/>
              <a:t>aceluiaşi</a:t>
            </a:r>
            <a:r>
              <a:rPr lang="en-US" dirty="0"/>
              <a:t> </a:t>
            </a:r>
            <a:r>
              <a:rPr lang="en-US" dirty="0" err="1"/>
              <a:t>proces</a:t>
            </a:r>
            <a:r>
              <a:rPr lang="en-US" dirty="0"/>
              <a:t>.</a:t>
            </a:r>
            <a:endParaRPr lang="ro-RO" dirty="0"/>
          </a:p>
          <a:p>
            <a:r>
              <a:rPr lang="en-US" dirty="0" err="1"/>
              <a:t>Sincronizarea</a:t>
            </a:r>
            <a:r>
              <a:rPr lang="en-US" dirty="0"/>
              <a:t> </a:t>
            </a:r>
            <a:r>
              <a:rPr lang="en-US" dirty="0" err="1"/>
              <a:t>firelor</a:t>
            </a:r>
            <a:r>
              <a:rPr lang="en-US" dirty="0"/>
              <a:t> de </a:t>
            </a:r>
            <a:r>
              <a:rPr lang="en-US" dirty="0" err="1"/>
              <a:t>execuţie</a:t>
            </a:r>
            <a:r>
              <a:rPr lang="en-US" dirty="0"/>
              <a:t> </a:t>
            </a:r>
            <a:r>
              <a:rPr lang="en-US" dirty="0" err="1"/>
              <a:t>înseamnă</a:t>
            </a:r>
            <a:r>
              <a:rPr lang="en-US" dirty="0"/>
              <a:t> </a:t>
            </a:r>
            <a:r>
              <a:rPr lang="en-US" dirty="0" err="1"/>
              <a:t>că</a:t>
            </a:r>
            <a:r>
              <a:rPr lang="en-US" dirty="0"/>
              <a:t> </a:t>
            </a:r>
            <a:r>
              <a:rPr lang="en-US" dirty="0" err="1"/>
              <a:t>acestea</a:t>
            </a:r>
            <a:r>
              <a:rPr lang="en-US" dirty="0"/>
              <a:t> se </a:t>
            </a:r>
            <a:r>
              <a:rPr lang="en-US" dirty="0" err="1"/>
              <a:t>aşteaptă</a:t>
            </a:r>
            <a:r>
              <a:rPr lang="en-US" dirty="0"/>
              <a:t> </a:t>
            </a:r>
            <a:r>
              <a:rPr lang="en-US" dirty="0" err="1"/>
              <a:t>unul</a:t>
            </a:r>
            <a:r>
              <a:rPr lang="en-US" dirty="0"/>
              <a:t> pe </a:t>
            </a:r>
            <a:r>
              <a:rPr lang="en-US" dirty="0" err="1"/>
              <a:t>celălalt</a:t>
            </a:r>
            <a:r>
              <a:rPr lang="en-US" dirty="0"/>
              <a:t> </a:t>
            </a:r>
            <a:r>
              <a:rPr lang="en-US" dirty="0" err="1"/>
              <a:t>pentru</a:t>
            </a:r>
            <a:r>
              <a:rPr lang="en-US" dirty="0"/>
              <a:t> </a:t>
            </a:r>
            <a:r>
              <a:rPr lang="en-US" dirty="0" err="1"/>
              <a:t>completarea</a:t>
            </a:r>
            <a:r>
              <a:rPr lang="en-US" dirty="0"/>
              <a:t> </a:t>
            </a:r>
            <a:r>
              <a:rPr lang="en-US" dirty="0" err="1"/>
              <a:t>anumitor</a:t>
            </a:r>
            <a:r>
              <a:rPr lang="en-US" dirty="0"/>
              <a:t> </a:t>
            </a:r>
            <a:r>
              <a:rPr lang="en-US" dirty="0" err="1"/>
              <a:t>operaţii</a:t>
            </a:r>
            <a:r>
              <a:rPr lang="en-US" dirty="0"/>
              <a:t> care nu se pot </a:t>
            </a:r>
            <a:r>
              <a:rPr lang="en-US" dirty="0" err="1"/>
              <a:t>executa</a:t>
            </a:r>
            <a:r>
              <a:rPr lang="en-US" dirty="0"/>
              <a:t> </a:t>
            </a:r>
            <a:r>
              <a:rPr lang="en-US" dirty="0" err="1"/>
              <a:t>în</a:t>
            </a:r>
            <a:r>
              <a:rPr lang="en-US" dirty="0"/>
              <a:t> </a:t>
            </a:r>
            <a:r>
              <a:rPr lang="en-US" dirty="0" err="1"/>
              <a:t>paralel</a:t>
            </a:r>
            <a:r>
              <a:rPr lang="en-US" dirty="0"/>
              <a:t> </a:t>
            </a:r>
            <a:r>
              <a:rPr lang="en-US" dirty="0" err="1"/>
              <a:t>sau</a:t>
            </a:r>
            <a:r>
              <a:rPr lang="en-US" dirty="0"/>
              <a:t> care </a:t>
            </a:r>
            <a:r>
              <a:rPr lang="en-US" dirty="0" err="1"/>
              <a:t>trebuie</a:t>
            </a:r>
            <a:r>
              <a:rPr lang="en-US" dirty="0"/>
              <a:t> </a:t>
            </a:r>
            <a:r>
              <a:rPr lang="en-US" dirty="0" err="1"/>
              <a:t>executate</a:t>
            </a:r>
            <a:r>
              <a:rPr lang="en-US" dirty="0"/>
              <a:t> </a:t>
            </a:r>
            <a:r>
              <a:rPr lang="en-US" dirty="0" err="1"/>
              <a:t>într</a:t>
            </a:r>
            <a:r>
              <a:rPr lang="en-US" dirty="0"/>
              <a:t>-o </a:t>
            </a:r>
            <a:r>
              <a:rPr lang="en-US" dirty="0" err="1"/>
              <a:t>anumită</a:t>
            </a:r>
            <a:r>
              <a:rPr lang="en-US" dirty="0"/>
              <a:t> </a:t>
            </a:r>
            <a:r>
              <a:rPr lang="en-US" dirty="0" err="1"/>
              <a:t>ordine</a:t>
            </a:r>
            <a:r>
              <a:rPr lang="en-US" dirty="0"/>
              <a:t>. </a:t>
            </a:r>
          </a:p>
          <a:p>
            <a:r>
              <a:rPr lang="en-US" dirty="0"/>
              <a:t>Java </a:t>
            </a:r>
            <a:r>
              <a:rPr lang="en-US" dirty="0" err="1"/>
              <a:t>oferă</a:t>
            </a:r>
            <a:r>
              <a:rPr lang="en-US" dirty="0"/>
              <a:t> </a:t>
            </a:r>
            <a:r>
              <a:rPr lang="en-US" dirty="0" err="1"/>
              <a:t>şi</a:t>
            </a:r>
            <a:r>
              <a:rPr lang="en-US" dirty="0"/>
              <a:t> </a:t>
            </a:r>
            <a:r>
              <a:rPr lang="en-US" dirty="0" err="1"/>
              <a:t>în</a:t>
            </a:r>
            <a:r>
              <a:rPr lang="en-US" dirty="0"/>
              <a:t> </a:t>
            </a:r>
            <a:r>
              <a:rPr lang="en-US" dirty="0" err="1"/>
              <a:t>acest</a:t>
            </a:r>
            <a:r>
              <a:rPr lang="en-US" dirty="0"/>
              <a:t> </a:t>
            </a:r>
            <a:r>
              <a:rPr lang="en-US" dirty="0" err="1"/>
              <a:t>caz</a:t>
            </a:r>
            <a:r>
              <a:rPr lang="en-US" dirty="0"/>
              <a:t> </a:t>
            </a:r>
            <a:r>
              <a:rPr lang="en-US" dirty="0" err="1"/>
              <a:t>mecanismele</a:t>
            </a:r>
            <a:r>
              <a:rPr lang="en-US" dirty="0"/>
              <a:t> sale </a:t>
            </a:r>
            <a:r>
              <a:rPr lang="en-US" dirty="0" err="1"/>
              <a:t>proprii</a:t>
            </a:r>
            <a:r>
              <a:rPr lang="en-US" dirty="0"/>
              <a:t> de </a:t>
            </a:r>
            <a:r>
              <a:rPr lang="en-US" dirty="0" err="1"/>
              <a:t>sincronizare</a:t>
            </a:r>
            <a:r>
              <a:rPr lang="en-US" dirty="0"/>
              <a:t>, </a:t>
            </a:r>
            <a:r>
              <a:rPr lang="en-US" dirty="0" err="1"/>
              <a:t>extrem</a:t>
            </a:r>
            <a:r>
              <a:rPr lang="en-US" dirty="0"/>
              <a:t> de </a:t>
            </a:r>
            <a:r>
              <a:rPr lang="en-US" dirty="0" err="1"/>
              <a:t>uşor</a:t>
            </a:r>
            <a:r>
              <a:rPr lang="en-US" dirty="0"/>
              <a:t> de </a:t>
            </a:r>
            <a:r>
              <a:rPr lang="en-US" dirty="0" err="1"/>
              <a:t>utilizat</a:t>
            </a:r>
            <a:r>
              <a:rPr lang="en-US" dirty="0"/>
              <a:t> </a:t>
            </a:r>
            <a:r>
              <a:rPr lang="en-US" dirty="0" err="1"/>
              <a:t>şi</a:t>
            </a:r>
            <a:r>
              <a:rPr lang="en-US" dirty="0"/>
              <a:t> </a:t>
            </a:r>
            <a:r>
              <a:rPr lang="en-US" dirty="0" err="1"/>
              <a:t>înglobate</a:t>
            </a:r>
            <a:r>
              <a:rPr lang="en-US" dirty="0"/>
              <a:t> </a:t>
            </a:r>
            <a:r>
              <a:rPr lang="en-US" dirty="0" err="1"/>
              <a:t>în</a:t>
            </a:r>
            <a:r>
              <a:rPr lang="en-US" dirty="0"/>
              <a:t> </a:t>
            </a:r>
            <a:r>
              <a:rPr lang="en-US" dirty="0" err="1"/>
              <a:t>chiar</a:t>
            </a:r>
            <a:r>
              <a:rPr lang="en-US" dirty="0"/>
              <a:t> </a:t>
            </a:r>
            <a:r>
              <a:rPr lang="en-US" dirty="0" err="1"/>
              <a:t>sintaxa</a:t>
            </a:r>
            <a:r>
              <a:rPr lang="en-US" dirty="0"/>
              <a:t> de </a:t>
            </a:r>
            <a:r>
              <a:rPr lang="en-US" dirty="0" err="1"/>
              <a:t>bază</a:t>
            </a:r>
            <a:r>
              <a:rPr lang="en-US" dirty="0"/>
              <a:t> a </a:t>
            </a:r>
            <a:r>
              <a:rPr lang="en-US" dirty="0" err="1"/>
              <a:t>limbajului</a:t>
            </a:r>
            <a:r>
              <a:rPr lang="en-US" dirty="0"/>
              <a:t>.</a:t>
            </a:r>
            <a:endParaRPr lang="ro-RO" dirty="0"/>
          </a:p>
          <a:p>
            <a:endParaRPr lang="ro-RO" dirty="0"/>
          </a:p>
        </p:txBody>
      </p:sp>
    </p:spTree>
    <p:extLst>
      <p:ext uri="{BB962C8B-B14F-4D97-AF65-F5344CB8AC3E}">
        <p14:creationId xmlns:p14="http://schemas.microsoft.com/office/powerpoint/2010/main" val="28806938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492370" y="605896"/>
            <a:ext cx="3084844" cy="5646208"/>
          </a:xfrm>
        </p:spPr>
        <p:txBody>
          <a:bodyPr anchor="ctr">
            <a:normAutofit/>
          </a:bodyPr>
          <a:lstStyle/>
          <a:p>
            <a:r>
              <a:rPr lang="ro-RO" sz="3600">
                <a:solidFill>
                  <a:srgbClr val="FFFFFF"/>
                </a:solidFill>
              </a:rPr>
              <a:t>Fire de execuţie şi sincronizare</a:t>
            </a: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 name="Content Placeholder 2"/>
          <p:cNvSpPr>
            <a:spLocks noGrp="1"/>
          </p:cNvSpPr>
          <p:nvPr>
            <p:ph idx="1"/>
          </p:nvPr>
        </p:nvSpPr>
        <p:spPr>
          <a:xfrm>
            <a:off x="4742016" y="605896"/>
            <a:ext cx="6413663" cy="6120486"/>
          </a:xfrm>
        </p:spPr>
        <p:txBody>
          <a:bodyPr anchor="ctr">
            <a:normAutofit fontScale="92500" lnSpcReduction="10000"/>
          </a:bodyPr>
          <a:lstStyle/>
          <a:p>
            <a:r>
              <a:rPr lang="en-GB" sz="1800" b="1" dirty="0"/>
              <a:t>🚀 </a:t>
            </a:r>
            <a:r>
              <a:rPr lang="en-GB" sz="1800" b="1" i="1" dirty="0" err="1"/>
              <a:t>Firul</a:t>
            </a:r>
            <a:r>
              <a:rPr lang="en-GB" sz="1800" b="1" i="1" dirty="0"/>
              <a:t> principal </a:t>
            </a:r>
            <a:r>
              <a:rPr lang="en-GB" sz="1800" b="1" i="1" dirty="0" err="1"/>
              <a:t>și</a:t>
            </a:r>
            <a:r>
              <a:rPr lang="en-GB" sz="1800" b="1" i="1" dirty="0"/>
              <a:t> </a:t>
            </a:r>
            <a:r>
              <a:rPr lang="en-GB" sz="1800" b="1" i="1" dirty="0" err="1"/>
              <a:t>crearea</a:t>
            </a:r>
            <a:r>
              <a:rPr lang="en-GB" sz="1800" b="1" i="1" dirty="0"/>
              <a:t> </a:t>
            </a:r>
            <a:r>
              <a:rPr lang="en-GB" sz="1800" b="1" i="1" dirty="0" err="1"/>
              <a:t>altor</a:t>
            </a:r>
            <a:r>
              <a:rPr lang="en-GB" sz="1800" b="1" i="1" dirty="0"/>
              <a:t> fire</a:t>
            </a:r>
            <a:endParaRPr lang="en-US" sz="1900" b="1" dirty="0"/>
          </a:p>
          <a:p>
            <a:r>
              <a:rPr lang="en-US" sz="1900" dirty="0"/>
              <a:t>La </a:t>
            </a:r>
            <a:r>
              <a:rPr lang="en-US" sz="1900" dirty="0" err="1"/>
              <a:t>lansarea</a:t>
            </a:r>
            <a:r>
              <a:rPr lang="en-US" sz="1900" dirty="0"/>
              <a:t> </a:t>
            </a:r>
            <a:r>
              <a:rPr lang="en-US" sz="1900" dirty="0" err="1"/>
              <a:t>în</a:t>
            </a:r>
            <a:r>
              <a:rPr lang="en-US" sz="1900" dirty="0"/>
              <a:t> </a:t>
            </a:r>
            <a:r>
              <a:rPr lang="en-US" sz="1900" dirty="0" err="1"/>
              <a:t>execuţie</a:t>
            </a:r>
            <a:r>
              <a:rPr lang="en-US" sz="1900" dirty="0"/>
              <a:t> a </a:t>
            </a:r>
            <a:r>
              <a:rPr lang="en-US" sz="1900" dirty="0" err="1"/>
              <a:t>unei</a:t>
            </a:r>
            <a:r>
              <a:rPr lang="en-US" sz="1900" dirty="0"/>
              <a:t> </a:t>
            </a:r>
            <a:r>
              <a:rPr lang="en-US" sz="1900" dirty="0" err="1"/>
              <a:t>aplicaţii</a:t>
            </a:r>
            <a:r>
              <a:rPr lang="en-US" sz="1900" dirty="0"/>
              <a:t> Java </a:t>
            </a:r>
            <a:r>
              <a:rPr lang="en-US" sz="1900" dirty="0" err="1"/>
              <a:t>este</a:t>
            </a:r>
            <a:r>
              <a:rPr lang="en-US" sz="1900" dirty="0"/>
              <a:t> </a:t>
            </a:r>
            <a:r>
              <a:rPr lang="en-US" sz="1900" dirty="0" err="1"/>
              <a:t>creat</a:t>
            </a:r>
            <a:r>
              <a:rPr lang="en-US" sz="1900" dirty="0"/>
              <a:t> automat </a:t>
            </a:r>
            <a:r>
              <a:rPr lang="en-US" sz="1900" dirty="0" err="1"/>
              <a:t>şi</a:t>
            </a:r>
            <a:r>
              <a:rPr lang="en-US" sz="1900" dirty="0"/>
              <a:t> un prim fir de </a:t>
            </a:r>
            <a:r>
              <a:rPr lang="en-US" sz="1900" dirty="0" err="1"/>
              <a:t>execuţie</a:t>
            </a:r>
            <a:r>
              <a:rPr lang="en-US" sz="1900" dirty="0"/>
              <a:t>, </a:t>
            </a:r>
            <a:r>
              <a:rPr lang="en-US" sz="1900" dirty="0" err="1"/>
              <a:t>numit</a:t>
            </a:r>
            <a:r>
              <a:rPr lang="en-US" sz="1900" dirty="0"/>
              <a:t> </a:t>
            </a:r>
            <a:r>
              <a:rPr lang="en-US" sz="1900" dirty="0" err="1"/>
              <a:t>firul</a:t>
            </a:r>
            <a:r>
              <a:rPr lang="en-US" sz="1900" dirty="0"/>
              <a:t> principal. </a:t>
            </a:r>
            <a:r>
              <a:rPr lang="en-US" sz="1900" dirty="0" err="1"/>
              <a:t>Acesta</a:t>
            </a:r>
            <a:r>
              <a:rPr lang="en-US" sz="1900" dirty="0"/>
              <a:t> </a:t>
            </a:r>
            <a:r>
              <a:rPr lang="en-US" sz="1900" dirty="0" err="1"/>
              <a:t>poate</a:t>
            </a:r>
            <a:r>
              <a:rPr lang="en-US" sz="1900" dirty="0"/>
              <a:t> ulterior </a:t>
            </a:r>
            <a:r>
              <a:rPr lang="en-US" sz="1900" dirty="0" err="1"/>
              <a:t>să</a:t>
            </a:r>
            <a:r>
              <a:rPr lang="en-US" sz="1900" dirty="0"/>
              <a:t> </a:t>
            </a:r>
            <a:r>
              <a:rPr lang="en-US" sz="1900" dirty="0" err="1"/>
              <a:t>creeze</a:t>
            </a:r>
            <a:r>
              <a:rPr lang="en-US" sz="1900" dirty="0"/>
              <a:t> </a:t>
            </a:r>
            <a:r>
              <a:rPr lang="en-US" sz="1900" dirty="0" err="1"/>
              <a:t>alte</a:t>
            </a:r>
            <a:r>
              <a:rPr lang="en-US" sz="1900" dirty="0"/>
              <a:t> fire de </a:t>
            </a:r>
            <a:r>
              <a:rPr lang="en-US" sz="1900" dirty="0" err="1"/>
              <a:t>execuţie</a:t>
            </a:r>
            <a:r>
              <a:rPr lang="en-US" sz="1900" dirty="0"/>
              <a:t> care la </a:t>
            </a:r>
            <a:r>
              <a:rPr lang="en-US" sz="1900" dirty="0" err="1"/>
              <a:t>rândul</a:t>
            </a:r>
            <a:r>
              <a:rPr lang="en-US" sz="1900" dirty="0"/>
              <a:t> lor pot </a:t>
            </a:r>
            <a:r>
              <a:rPr lang="en-US" sz="1900" dirty="0" err="1"/>
              <a:t>crea</a:t>
            </a:r>
            <a:r>
              <a:rPr lang="en-US" sz="1900" dirty="0"/>
              <a:t> </a:t>
            </a:r>
            <a:r>
              <a:rPr lang="en-US" sz="1900" dirty="0" err="1"/>
              <a:t>alte</a:t>
            </a:r>
            <a:r>
              <a:rPr lang="en-US" sz="1900" dirty="0"/>
              <a:t> fire, </a:t>
            </a:r>
            <a:r>
              <a:rPr lang="en-US" sz="1900" dirty="0" err="1"/>
              <a:t>şi</a:t>
            </a:r>
            <a:r>
              <a:rPr lang="en-US" sz="1900" dirty="0"/>
              <a:t> </a:t>
            </a:r>
            <a:r>
              <a:rPr lang="en-US" sz="1900" dirty="0" err="1"/>
              <a:t>aşa</a:t>
            </a:r>
            <a:r>
              <a:rPr lang="en-US" sz="1900" dirty="0"/>
              <a:t> </a:t>
            </a:r>
            <a:r>
              <a:rPr lang="en-US" sz="1900" dirty="0" err="1"/>
              <a:t>mai</a:t>
            </a:r>
            <a:r>
              <a:rPr lang="en-US" sz="1900" dirty="0"/>
              <a:t> </a:t>
            </a:r>
            <a:r>
              <a:rPr lang="en-US" sz="1900" dirty="0" err="1"/>
              <a:t>departe</a:t>
            </a:r>
            <a:r>
              <a:rPr lang="en-US" sz="1900" dirty="0"/>
              <a:t>. </a:t>
            </a:r>
          </a:p>
          <a:p>
            <a:r>
              <a:rPr lang="en-US" sz="1900" dirty="0" err="1"/>
              <a:t>Firele</a:t>
            </a:r>
            <a:r>
              <a:rPr lang="en-US" sz="1900" dirty="0"/>
              <a:t> de </a:t>
            </a:r>
            <a:r>
              <a:rPr lang="en-US" sz="1900" dirty="0" err="1"/>
              <a:t>execuţie</a:t>
            </a:r>
            <a:r>
              <a:rPr lang="en-US" sz="1900" dirty="0"/>
              <a:t> </a:t>
            </a:r>
            <a:r>
              <a:rPr lang="en-US" sz="1900" dirty="0" err="1"/>
              <a:t>dintr</a:t>
            </a:r>
            <a:r>
              <a:rPr lang="en-US" sz="1900" dirty="0"/>
              <a:t>-o </a:t>
            </a:r>
            <a:r>
              <a:rPr lang="en-US" sz="1900" dirty="0" err="1"/>
              <a:t>aplicaţie</a:t>
            </a:r>
            <a:r>
              <a:rPr lang="en-US" sz="1900" dirty="0"/>
              <a:t> Java pot fi </a:t>
            </a:r>
            <a:r>
              <a:rPr lang="en-US" sz="1900" dirty="0" err="1"/>
              <a:t>grupate</a:t>
            </a:r>
            <a:r>
              <a:rPr lang="en-US" sz="1900" dirty="0"/>
              <a:t> </a:t>
            </a:r>
            <a:r>
              <a:rPr lang="en-US" sz="1900" dirty="0" err="1"/>
              <a:t>în</a:t>
            </a:r>
            <a:r>
              <a:rPr lang="en-US" sz="1900" dirty="0"/>
              <a:t> </a:t>
            </a:r>
            <a:r>
              <a:rPr lang="en-US" sz="1900" dirty="0" err="1"/>
              <a:t>grupuri</a:t>
            </a:r>
            <a:r>
              <a:rPr lang="en-US" sz="1900" dirty="0"/>
              <a:t> </a:t>
            </a:r>
            <a:r>
              <a:rPr lang="en-US" sz="1900" dirty="0" err="1"/>
              <a:t>pentru</a:t>
            </a:r>
            <a:r>
              <a:rPr lang="en-US" sz="1900" dirty="0"/>
              <a:t> a fi manipulate </a:t>
            </a:r>
            <a:r>
              <a:rPr lang="en-US" sz="1900" dirty="0" err="1"/>
              <a:t>în</a:t>
            </a:r>
            <a:r>
              <a:rPr lang="en-US" sz="1900" dirty="0"/>
              <a:t> </a:t>
            </a:r>
            <a:r>
              <a:rPr lang="en-US" sz="1900" dirty="0" err="1"/>
              <a:t>comun</a:t>
            </a:r>
            <a:r>
              <a:rPr lang="en-US" sz="1900" dirty="0"/>
              <a:t>.</a:t>
            </a:r>
            <a:endParaRPr lang="ro-RO" sz="1900" dirty="0"/>
          </a:p>
          <a:p>
            <a:r>
              <a:rPr lang="en-US" sz="1900" dirty="0" err="1"/>
              <a:t>În</a:t>
            </a:r>
            <a:r>
              <a:rPr lang="en-US" sz="1900" dirty="0"/>
              <a:t> </a:t>
            </a:r>
            <a:r>
              <a:rPr lang="en-US" sz="1900" dirty="0" err="1"/>
              <a:t>afară</a:t>
            </a:r>
            <a:r>
              <a:rPr lang="en-US" sz="1900" dirty="0"/>
              <a:t> de </a:t>
            </a:r>
            <a:r>
              <a:rPr lang="en-US" sz="1900" dirty="0" err="1"/>
              <a:t>firele</a:t>
            </a:r>
            <a:r>
              <a:rPr lang="en-US" sz="1900" dirty="0"/>
              <a:t> </a:t>
            </a:r>
            <a:r>
              <a:rPr lang="en-US" sz="1900" dirty="0" err="1"/>
              <a:t>normale</a:t>
            </a:r>
            <a:r>
              <a:rPr lang="en-US" sz="1900" dirty="0"/>
              <a:t> de </a:t>
            </a:r>
            <a:r>
              <a:rPr lang="en-US" sz="1900" dirty="0" err="1"/>
              <a:t>execuţie</a:t>
            </a:r>
            <a:r>
              <a:rPr lang="en-US" sz="1900" dirty="0"/>
              <a:t>, Java </a:t>
            </a:r>
            <a:r>
              <a:rPr lang="en-US" sz="1900" dirty="0" err="1"/>
              <a:t>oferă</a:t>
            </a:r>
            <a:r>
              <a:rPr lang="en-US" sz="1900" dirty="0"/>
              <a:t> </a:t>
            </a:r>
            <a:r>
              <a:rPr lang="en-US" sz="1900" dirty="0" err="1"/>
              <a:t>şi</a:t>
            </a:r>
            <a:r>
              <a:rPr lang="en-US" sz="1900" dirty="0"/>
              <a:t> fire de </a:t>
            </a:r>
            <a:r>
              <a:rPr lang="en-US" sz="1900" dirty="0" err="1"/>
              <a:t>execuţie</a:t>
            </a:r>
            <a:r>
              <a:rPr lang="en-US" sz="1900" dirty="0"/>
              <a:t> cu </a:t>
            </a:r>
            <a:r>
              <a:rPr lang="en-US" sz="1900" dirty="0" err="1"/>
              <a:t>prioritate</a:t>
            </a:r>
            <a:r>
              <a:rPr lang="en-US" sz="1900" dirty="0"/>
              <a:t> </a:t>
            </a:r>
            <a:r>
              <a:rPr lang="en-US" sz="1900" dirty="0" err="1"/>
              <a:t>mică</a:t>
            </a:r>
            <a:r>
              <a:rPr lang="en-US" sz="1900" dirty="0"/>
              <a:t> care </a:t>
            </a:r>
            <a:r>
              <a:rPr lang="en-US" sz="1900" dirty="0" err="1"/>
              <a:t>lucrează</a:t>
            </a:r>
            <a:r>
              <a:rPr lang="en-US" sz="1900" dirty="0"/>
              <a:t> </a:t>
            </a:r>
            <a:r>
              <a:rPr lang="en-US" sz="1900" dirty="0" err="1"/>
              <a:t>în</a:t>
            </a:r>
            <a:r>
              <a:rPr lang="en-US" sz="1900" dirty="0"/>
              <a:t> </a:t>
            </a:r>
            <a:r>
              <a:rPr lang="en-US" sz="1900" dirty="0" err="1"/>
              <a:t>fundalul</a:t>
            </a:r>
            <a:r>
              <a:rPr lang="en-US" sz="1900" dirty="0"/>
              <a:t> </a:t>
            </a:r>
            <a:r>
              <a:rPr lang="en-US" sz="1900" dirty="0" err="1"/>
              <a:t>aplicaţiei</a:t>
            </a:r>
            <a:r>
              <a:rPr lang="en-US" sz="1900" dirty="0"/>
              <a:t> </a:t>
            </a:r>
            <a:r>
              <a:rPr lang="en-US" sz="1900" dirty="0" err="1"/>
              <a:t>atunci</a:t>
            </a:r>
            <a:r>
              <a:rPr lang="en-US" sz="1900" dirty="0"/>
              <a:t> </a:t>
            </a:r>
            <a:r>
              <a:rPr lang="en-US" sz="1900" dirty="0" err="1"/>
              <a:t>când</a:t>
            </a:r>
            <a:r>
              <a:rPr lang="en-US" sz="1900" dirty="0"/>
              <a:t> </a:t>
            </a:r>
            <a:r>
              <a:rPr lang="en-US" sz="1900" dirty="0" err="1"/>
              <a:t>nici</a:t>
            </a:r>
            <a:r>
              <a:rPr lang="en-US" sz="1900" dirty="0"/>
              <a:t> un alt fir de </a:t>
            </a:r>
            <a:r>
              <a:rPr lang="en-US" sz="1900" dirty="0" err="1"/>
              <a:t>execuţie</a:t>
            </a:r>
            <a:r>
              <a:rPr lang="en-US" sz="1900" dirty="0"/>
              <a:t> nu </a:t>
            </a:r>
            <a:r>
              <a:rPr lang="en-US" sz="1900" dirty="0" err="1"/>
              <a:t>poate</a:t>
            </a:r>
            <a:r>
              <a:rPr lang="en-US" sz="1900" dirty="0"/>
              <a:t> fi </a:t>
            </a:r>
            <a:r>
              <a:rPr lang="en-US" sz="1900" dirty="0" err="1"/>
              <a:t>rulat</a:t>
            </a:r>
            <a:r>
              <a:rPr lang="en-US" sz="1900" dirty="0"/>
              <a:t>. </a:t>
            </a:r>
          </a:p>
          <a:p>
            <a:r>
              <a:rPr lang="en-US" sz="1900" dirty="0" err="1"/>
              <a:t>Aceste</a:t>
            </a:r>
            <a:r>
              <a:rPr lang="en-US" sz="1900" dirty="0"/>
              <a:t> fire de fundal se </a:t>
            </a:r>
            <a:r>
              <a:rPr lang="en-US" sz="1900" dirty="0" err="1"/>
              <a:t>numesc</a:t>
            </a:r>
            <a:r>
              <a:rPr lang="en-US" sz="1900" dirty="0"/>
              <a:t> </a:t>
            </a:r>
            <a:r>
              <a:rPr lang="en-US" sz="1900" i="1" dirty="0" err="1"/>
              <a:t>demoni</a:t>
            </a:r>
            <a:r>
              <a:rPr lang="en-US" sz="1900" dirty="0"/>
              <a:t> </a:t>
            </a:r>
            <a:r>
              <a:rPr lang="en-US" sz="1900" dirty="0" err="1"/>
              <a:t>şi</a:t>
            </a:r>
            <a:r>
              <a:rPr lang="en-US" sz="1900" dirty="0"/>
              <a:t> </a:t>
            </a:r>
            <a:r>
              <a:rPr lang="en-US" sz="1900" dirty="0" err="1"/>
              <a:t>execută</a:t>
            </a:r>
            <a:r>
              <a:rPr lang="en-US" sz="1900" dirty="0"/>
              <a:t> </a:t>
            </a:r>
            <a:r>
              <a:rPr lang="en-US" sz="1900" dirty="0" err="1"/>
              <a:t>operaţii</a:t>
            </a:r>
            <a:r>
              <a:rPr lang="en-US" sz="1900" dirty="0"/>
              <a:t> </a:t>
            </a:r>
            <a:r>
              <a:rPr lang="en-US" sz="1900" dirty="0" err="1"/>
              <a:t>costisitoare</a:t>
            </a:r>
            <a:r>
              <a:rPr lang="en-US" sz="1900" dirty="0"/>
              <a:t> </a:t>
            </a:r>
            <a:r>
              <a:rPr lang="en-US" sz="1900" dirty="0" err="1"/>
              <a:t>în</a:t>
            </a:r>
            <a:r>
              <a:rPr lang="en-US" sz="1900" dirty="0"/>
              <a:t> </a:t>
            </a:r>
            <a:r>
              <a:rPr lang="en-US" sz="1900" dirty="0" err="1"/>
              <a:t>timp</a:t>
            </a:r>
            <a:r>
              <a:rPr lang="en-US" sz="1900" dirty="0"/>
              <a:t> </a:t>
            </a:r>
            <a:r>
              <a:rPr lang="en-US" sz="1900" dirty="0" err="1"/>
              <a:t>şi</a:t>
            </a:r>
            <a:r>
              <a:rPr lang="en-US" sz="1900" dirty="0"/>
              <a:t> </a:t>
            </a:r>
            <a:r>
              <a:rPr lang="en-US" sz="1900" dirty="0" err="1"/>
              <a:t>independente</a:t>
            </a:r>
            <a:r>
              <a:rPr lang="en-US" sz="1900" dirty="0"/>
              <a:t> de </a:t>
            </a:r>
            <a:r>
              <a:rPr lang="en-US" sz="1900" dirty="0" err="1"/>
              <a:t>celelalte</a:t>
            </a:r>
            <a:r>
              <a:rPr lang="en-US" sz="1900" dirty="0"/>
              <a:t> fire de </a:t>
            </a:r>
            <a:r>
              <a:rPr lang="en-US" sz="1900" dirty="0" err="1"/>
              <a:t>execuţie</a:t>
            </a:r>
            <a:r>
              <a:rPr lang="en-US" sz="1900" dirty="0"/>
              <a:t>. De </a:t>
            </a:r>
            <a:r>
              <a:rPr lang="en-US" sz="1900" dirty="0" err="1"/>
              <a:t>exemplu</a:t>
            </a:r>
            <a:r>
              <a:rPr lang="en-US" sz="1900" dirty="0"/>
              <a:t>, </a:t>
            </a:r>
            <a:r>
              <a:rPr lang="en-US" sz="1900" dirty="0" err="1"/>
              <a:t>în</a:t>
            </a:r>
            <a:r>
              <a:rPr lang="en-US" sz="1900" dirty="0"/>
              <a:t> Java </a:t>
            </a:r>
            <a:r>
              <a:rPr lang="en-US" sz="1900" dirty="0" err="1"/>
              <a:t>colectorul</a:t>
            </a:r>
            <a:r>
              <a:rPr lang="en-US" sz="1900" dirty="0"/>
              <a:t> de </a:t>
            </a:r>
            <a:r>
              <a:rPr lang="en-US" sz="1900" dirty="0" err="1"/>
              <a:t>gunoaie</a:t>
            </a:r>
            <a:r>
              <a:rPr lang="en-US" sz="1900" dirty="0"/>
              <a:t> </a:t>
            </a:r>
            <a:r>
              <a:rPr lang="en-US" sz="1900" dirty="0" err="1"/>
              <a:t>lucrează</a:t>
            </a:r>
            <a:r>
              <a:rPr lang="en-US" sz="1900" dirty="0"/>
              <a:t> pe un fir de </a:t>
            </a:r>
            <a:r>
              <a:rPr lang="en-US" sz="1900" dirty="0" err="1"/>
              <a:t>execuţie</a:t>
            </a:r>
            <a:r>
              <a:rPr lang="en-US" sz="1900" dirty="0"/>
              <a:t> </a:t>
            </a:r>
            <a:r>
              <a:rPr lang="en-US" sz="1900" dirty="0" err="1"/>
              <a:t>separat</a:t>
            </a:r>
            <a:r>
              <a:rPr lang="en-US" sz="1900" dirty="0"/>
              <a:t>, cu </a:t>
            </a:r>
            <a:r>
              <a:rPr lang="en-US" sz="1900" dirty="0" err="1"/>
              <a:t>proprietăţi</a:t>
            </a:r>
            <a:r>
              <a:rPr lang="en-US" sz="1900" dirty="0"/>
              <a:t> de demon.</a:t>
            </a:r>
          </a:p>
          <a:p>
            <a:r>
              <a:rPr lang="en-US" sz="1900" dirty="0"/>
              <a:t> </a:t>
            </a:r>
            <a:r>
              <a:rPr lang="en-US" sz="1900" dirty="0" err="1"/>
              <a:t>În</a:t>
            </a:r>
            <a:r>
              <a:rPr lang="en-US" sz="1900" dirty="0"/>
              <a:t> </a:t>
            </a:r>
            <a:r>
              <a:rPr lang="en-US" sz="1900" dirty="0" err="1"/>
              <a:t>acelaşi</a:t>
            </a:r>
            <a:r>
              <a:rPr lang="en-US" sz="1900" dirty="0"/>
              <a:t> </a:t>
            </a:r>
            <a:r>
              <a:rPr lang="en-US" sz="1900" dirty="0" err="1"/>
              <a:t>fel</a:t>
            </a:r>
            <a:r>
              <a:rPr lang="en-US" sz="1900" dirty="0"/>
              <a:t> </a:t>
            </a:r>
            <a:r>
              <a:rPr lang="en-US" sz="1900" dirty="0" err="1"/>
              <a:t>poate</a:t>
            </a:r>
            <a:r>
              <a:rPr lang="en-US" sz="1900" dirty="0"/>
              <a:t> fi </a:t>
            </a:r>
            <a:r>
              <a:rPr lang="en-US" sz="1900" dirty="0" err="1"/>
              <a:t>gândit</a:t>
            </a:r>
            <a:r>
              <a:rPr lang="en-US" sz="1900" dirty="0"/>
              <a:t> un fir de </a:t>
            </a:r>
            <a:r>
              <a:rPr lang="en-US" sz="1900" dirty="0" err="1"/>
              <a:t>execuţie</a:t>
            </a:r>
            <a:r>
              <a:rPr lang="en-US" sz="1900" dirty="0"/>
              <a:t> care </a:t>
            </a:r>
            <a:r>
              <a:rPr lang="en-US" sz="1900" dirty="0" err="1"/>
              <a:t>execută</a:t>
            </a:r>
            <a:r>
              <a:rPr lang="en-US" sz="1900" dirty="0"/>
              <a:t> </a:t>
            </a:r>
            <a:r>
              <a:rPr lang="en-US" sz="1900" dirty="0" err="1"/>
              <a:t>operaţii</a:t>
            </a:r>
            <a:r>
              <a:rPr lang="en-US" sz="1900" dirty="0"/>
              <a:t> de </a:t>
            </a:r>
            <a:r>
              <a:rPr lang="en-US" sz="1900" dirty="0" err="1"/>
              <a:t>încărcare</a:t>
            </a:r>
            <a:r>
              <a:rPr lang="en-US" sz="1900" dirty="0"/>
              <a:t> a </a:t>
            </a:r>
            <a:r>
              <a:rPr lang="en-US" sz="1900" dirty="0" err="1"/>
              <a:t>unor</a:t>
            </a:r>
            <a:r>
              <a:rPr lang="en-US" sz="1900" dirty="0"/>
              <a:t> </a:t>
            </a:r>
            <a:r>
              <a:rPr lang="en-US" sz="1900" dirty="0" err="1"/>
              <a:t>imagini</a:t>
            </a:r>
            <a:r>
              <a:rPr lang="en-US" sz="1900" dirty="0"/>
              <a:t> din </a:t>
            </a:r>
            <a:r>
              <a:rPr lang="en-US" sz="1900" dirty="0" err="1"/>
              <a:t>reţea</a:t>
            </a:r>
            <a:r>
              <a:rPr lang="en-US" sz="1900" dirty="0"/>
              <a:t>.</a:t>
            </a:r>
            <a:endParaRPr lang="ro-RO" sz="1900" dirty="0"/>
          </a:p>
          <a:p>
            <a:r>
              <a:rPr lang="en-US" sz="1900" dirty="0"/>
              <a:t>O </a:t>
            </a:r>
            <a:r>
              <a:rPr lang="en-US" sz="1900" dirty="0" err="1"/>
              <a:t>aplicaţie</a:t>
            </a:r>
            <a:r>
              <a:rPr lang="en-US" sz="1900" dirty="0"/>
              <a:t> Java se </a:t>
            </a:r>
            <a:r>
              <a:rPr lang="en-US" sz="1900" dirty="0" err="1"/>
              <a:t>termină</a:t>
            </a:r>
            <a:r>
              <a:rPr lang="en-US" sz="1900" dirty="0"/>
              <a:t> </a:t>
            </a:r>
            <a:r>
              <a:rPr lang="en-US" sz="1900" dirty="0" err="1"/>
              <a:t>atunci</a:t>
            </a:r>
            <a:r>
              <a:rPr lang="en-US" sz="1900" dirty="0"/>
              <a:t> </a:t>
            </a:r>
            <a:r>
              <a:rPr lang="en-US" sz="1900" dirty="0" err="1"/>
              <a:t>când</a:t>
            </a:r>
            <a:r>
              <a:rPr lang="en-US" sz="1900" dirty="0"/>
              <a:t> se </a:t>
            </a:r>
            <a:r>
              <a:rPr lang="en-US" sz="1900" dirty="0" err="1"/>
              <a:t>termină</a:t>
            </a:r>
            <a:r>
              <a:rPr lang="en-US" sz="1900" dirty="0"/>
              <a:t> </a:t>
            </a:r>
            <a:r>
              <a:rPr lang="en-US" sz="1900" dirty="0" err="1"/>
              <a:t>toate</a:t>
            </a:r>
            <a:r>
              <a:rPr lang="en-US" sz="1900" dirty="0"/>
              <a:t> </a:t>
            </a:r>
            <a:r>
              <a:rPr lang="en-US" sz="1900" dirty="0" err="1"/>
              <a:t>firele</a:t>
            </a:r>
            <a:r>
              <a:rPr lang="en-US" sz="1900" dirty="0"/>
              <a:t> de </a:t>
            </a:r>
            <a:r>
              <a:rPr lang="en-US" sz="1900" dirty="0" err="1"/>
              <a:t>execuţie</a:t>
            </a:r>
            <a:r>
              <a:rPr lang="en-US" sz="1900" dirty="0"/>
              <a:t> din </a:t>
            </a:r>
            <a:r>
              <a:rPr lang="en-US" sz="1900" dirty="0" err="1"/>
              <a:t>interiorul</a:t>
            </a:r>
            <a:r>
              <a:rPr lang="en-US" sz="1900" dirty="0"/>
              <a:t> </a:t>
            </a:r>
            <a:r>
              <a:rPr lang="en-US" sz="1900" dirty="0" err="1"/>
              <a:t>ei</a:t>
            </a:r>
            <a:r>
              <a:rPr lang="en-US" sz="1900" dirty="0"/>
              <a:t> </a:t>
            </a:r>
            <a:r>
              <a:rPr lang="en-US" sz="1900" dirty="0" err="1"/>
              <a:t>sau</a:t>
            </a:r>
            <a:r>
              <a:rPr lang="en-US" sz="1900" dirty="0"/>
              <a:t> </a:t>
            </a:r>
            <a:r>
              <a:rPr lang="en-US" sz="1900" dirty="0" err="1"/>
              <a:t>când</a:t>
            </a:r>
            <a:r>
              <a:rPr lang="en-US" sz="1900" dirty="0"/>
              <a:t> nu </a:t>
            </a:r>
            <a:r>
              <a:rPr lang="en-US" sz="1900" dirty="0" err="1"/>
              <a:t>mai</a:t>
            </a:r>
            <a:r>
              <a:rPr lang="en-US" sz="1900" dirty="0"/>
              <a:t> </a:t>
            </a:r>
            <a:r>
              <a:rPr lang="en-US" sz="1900" dirty="0" err="1"/>
              <a:t>există</a:t>
            </a:r>
            <a:r>
              <a:rPr lang="en-US" sz="1900" dirty="0"/>
              <a:t> </a:t>
            </a:r>
            <a:r>
              <a:rPr lang="en-US" sz="1900" dirty="0" err="1"/>
              <a:t>decât</a:t>
            </a:r>
            <a:r>
              <a:rPr lang="en-US" sz="1900" dirty="0"/>
              <a:t> fire demon. </a:t>
            </a:r>
          </a:p>
          <a:p>
            <a:r>
              <a:rPr lang="en-US" sz="1900" dirty="0" err="1"/>
              <a:t>Terminarea</a:t>
            </a:r>
            <a:r>
              <a:rPr lang="en-US" sz="1900" dirty="0"/>
              <a:t> </a:t>
            </a:r>
            <a:r>
              <a:rPr lang="en-US" sz="1900" dirty="0" err="1"/>
              <a:t>firului</a:t>
            </a:r>
            <a:r>
              <a:rPr lang="en-US" sz="1900" dirty="0"/>
              <a:t> principal de </a:t>
            </a:r>
            <a:r>
              <a:rPr lang="en-US" sz="1900" dirty="0" err="1"/>
              <a:t>execuţie</a:t>
            </a:r>
            <a:r>
              <a:rPr lang="en-US" sz="1900" dirty="0"/>
              <a:t> nu duce la </a:t>
            </a:r>
            <a:r>
              <a:rPr lang="en-US" sz="1900" dirty="0" err="1"/>
              <a:t>terminarea</a:t>
            </a:r>
            <a:r>
              <a:rPr lang="en-US" sz="1900" dirty="0"/>
              <a:t> </a:t>
            </a:r>
            <a:r>
              <a:rPr lang="en-US" sz="1900" dirty="0" err="1"/>
              <a:t>automată</a:t>
            </a:r>
            <a:r>
              <a:rPr lang="en-US" sz="1900" dirty="0"/>
              <a:t> a </a:t>
            </a:r>
            <a:r>
              <a:rPr lang="en-US" sz="1900" dirty="0" err="1"/>
              <a:t>aplicaţiei</a:t>
            </a:r>
            <a:r>
              <a:rPr lang="en-US" sz="1900" dirty="0"/>
              <a:t>. </a:t>
            </a:r>
            <a:endParaRPr lang="ro-RO" sz="1900" dirty="0"/>
          </a:p>
        </p:txBody>
      </p:sp>
    </p:spTree>
    <p:extLst>
      <p:ext uri="{BB962C8B-B14F-4D97-AF65-F5344CB8AC3E}">
        <p14:creationId xmlns:p14="http://schemas.microsoft.com/office/powerpoint/2010/main" val="1610443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492370" y="605896"/>
            <a:ext cx="3084844" cy="5646208"/>
          </a:xfrm>
        </p:spPr>
        <p:txBody>
          <a:bodyPr anchor="ctr">
            <a:normAutofit/>
          </a:bodyPr>
          <a:lstStyle/>
          <a:p>
            <a:r>
              <a:rPr lang="ro-RO" sz="3600" b="1">
                <a:solidFill>
                  <a:srgbClr val="FFFFFF"/>
                </a:solidFill>
              </a:rPr>
              <a:t>Crearea firelor de execuţie</a:t>
            </a:r>
            <a:endParaRPr lang="ro-RO" sz="3600">
              <a:solidFill>
                <a:srgbClr val="FFFFFF"/>
              </a:solidFill>
            </a:endParaRP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 name="Content Placeholder 2"/>
          <p:cNvSpPr>
            <a:spLocks noGrp="1"/>
          </p:cNvSpPr>
          <p:nvPr>
            <p:ph idx="1"/>
          </p:nvPr>
        </p:nvSpPr>
        <p:spPr>
          <a:xfrm>
            <a:off x="4742016" y="605896"/>
            <a:ext cx="6413663" cy="5646208"/>
          </a:xfrm>
        </p:spPr>
        <p:txBody>
          <a:bodyPr anchor="ctr">
            <a:normAutofit/>
          </a:bodyPr>
          <a:lstStyle/>
          <a:p>
            <a:r>
              <a:rPr lang="ro-RO" dirty="0"/>
              <a:t>Există două căi de definire de noi fire de execuţie: derivarea din clasa </a:t>
            </a:r>
            <a:r>
              <a:rPr lang="ro-RO" i="1" dirty="0">
                <a:solidFill>
                  <a:srgbClr val="FF0000"/>
                </a:solidFill>
              </a:rPr>
              <a:t>Thread</a:t>
            </a:r>
            <a:r>
              <a:rPr lang="ro-RO" dirty="0"/>
              <a:t> a noi clase şi implementarea într-o clasă a interfeţei </a:t>
            </a:r>
            <a:r>
              <a:rPr lang="ro-RO" i="1" dirty="0">
                <a:solidFill>
                  <a:srgbClr val="FF0000"/>
                </a:solidFill>
              </a:rPr>
              <a:t>Runnable</a:t>
            </a:r>
            <a:r>
              <a:rPr lang="ro-RO" dirty="0"/>
              <a:t> .</a:t>
            </a:r>
          </a:p>
          <a:p>
            <a:r>
              <a:rPr lang="ro-RO" dirty="0"/>
              <a:t>În primul caz, noua clasă moşteneşte toate metodele şi variabilele clasei </a:t>
            </a:r>
            <a:r>
              <a:rPr lang="ro-RO" i="1" dirty="0">
                <a:solidFill>
                  <a:srgbClr val="FF0000"/>
                </a:solidFill>
              </a:rPr>
              <a:t>Thread</a:t>
            </a:r>
            <a:r>
              <a:rPr lang="ro-RO" dirty="0"/>
              <a:t> care implementează în mod standard, în Java, funcţionalitatea de lucru cu fire de execuţie. </a:t>
            </a:r>
          </a:p>
          <a:p>
            <a:r>
              <a:rPr lang="ro-RO" dirty="0"/>
              <a:t>Singurul lucru pe care trebuie să-l facă noua clasă este să reimplementeze metoda </a:t>
            </a:r>
            <a:r>
              <a:rPr lang="ro-RO" i="1" dirty="0">
                <a:solidFill>
                  <a:srgbClr val="FF0000"/>
                </a:solidFill>
              </a:rPr>
              <a:t>run</a:t>
            </a:r>
            <a:r>
              <a:rPr lang="ro-RO" dirty="0"/>
              <a:t> care este apelată automat de către mediul de execuţie la lansarea unui nou fir. </a:t>
            </a:r>
          </a:p>
          <a:p>
            <a:r>
              <a:rPr lang="ro-RO" dirty="0"/>
              <a:t>În plus, noua clasă ar putea avea nevoie să implementeze un constructor care să permită atribuirea unei denumiri firului de execuţie.</a:t>
            </a:r>
          </a:p>
          <a:p>
            <a:r>
              <a:rPr lang="ro-RO" dirty="0"/>
              <a:t>Dacă firul are un nume, acesta poate fi obţinut cu metoda </a:t>
            </a:r>
            <a:r>
              <a:rPr lang="ro-RO" i="1" dirty="0">
                <a:solidFill>
                  <a:srgbClr val="FF0000"/>
                </a:solidFill>
              </a:rPr>
              <a:t>getName</a:t>
            </a:r>
            <a:r>
              <a:rPr lang="ro-RO" dirty="0"/>
              <a:t> care returnează un obiect de tip </a:t>
            </a:r>
            <a:r>
              <a:rPr lang="ro-RO" i="1" dirty="0">
                <a:solidFill>
                  <a:srgbClr val="FF0000"/>
                </a:solidFill>
              </a:rPr>
              <a:t>String</a:t>
            </a:r>
            <a:r>
              <a:rPr lang="ro-RO" dirty="0"/>
              <a:t> .</a:t>
            </a:r>
          </a:p>
          <a:p>
            <a:endParaRPr lang="ro-RO" dirty="0"/>
          </a:p>
        </p:txBody>
      </p:sp>
    </p:spTree>
    <p:extLst>
      <p:ext uri="{BB962C8B-B14F-4D97-AF65-F5344CB8AC3E}">
        <p14:creationId xmlns:p14="http://schemas.microsoft.com/office/powerpoint/2010/main" val="82004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a:t>Exempl</a:t>
            </a:r>
            <a:r>
              <a:rPr lang="en-GB" dirty="0"/>
              <a:t>e. </a:t>
            </a:r>
            <a:endParaRPr lang="ro-RO" dirty="0"/>
          </a:p>
        </p:txBody>
      </p:sp>
      <p:sp>
        <p:nvSpPr>
          <p:cNvPr id="3" name="Content Placeholder 2"/>
          <p:cNvSpPr>
            <a:spLocks noGrp="1"/>
          </p:cNvSpPr>
          <p:nvPr>
            <p:ph idx="1"/>
          </p:nvPr>
        </p:nvSpPr>
        <p:spPr>
          <a:xfrm>
            <a:off x="401781" y="1845733"/>
            <a:ext cx="9150927" cy="4500637"/>
          </a:xfrm>
        </p:spPr>
        <p:txBody>
          <a:bodyPr>
            <a:normAutofit fontScale="85000" lnSpcReduction="20000"/>
          </a:bodyPr>
          <a:lstStyle/>
          <a:p>
            <a:r>
              <a:rPr lang="en-GB" sz="2300" dirty="0">
                <a:highlight>
                  <a:srgbClr val="FFFFFF"/>
                </a:highlight>
              </a:rPr>
              <a:t>1️⃣ </a:t>
            </a:r>
            <a:r>
              <a:rPr lang="en-GB" sz="2300" dirty="0" err="1">
                <a:highlight>
                  <a:srgbClr val="FFFFFF"/>
                </a:highlight>
              </a:rPr>
              <a:t>Derivarea</a:t>
            </a:r>
            <a:r>
              <a:rPr lang="en-GB" sz="2300" dirty="0">
                <a:highlight>
                  <a:srgbClr val="FFFFFF"/>
                </a:highlight>
              </a:rPr>
              <a:t> din </a:t>
            </a:r>
            <a:r>
              <a:rPr lang="en-GB" sz="2300" dirty="0" err="1">
                <a:highlight>
                  <a:srgbClr val="FFFFFF"/>
                </a:highlight>
              </a:rPr>
              <a:t>clasa</a:t>
            </a:r>
            <a:r>
              <a:rPr lang="en-GB" sz="2300" dirty="0">
                <a:highlight>
                  <a:srgbClr val="FFFFFF"/>
                </a:highlight>
              </a:rPr>
              <a:t> Thread</a:t>
            </a:r>
          </a:p>
          <a:p>
            <a:r>
              <a:rPr lang="en-GB" sz="2300" dirty="0">
                <a:solidFill>
                  <a:srgbClr val="8000FF"/>
                </a:solidFill>
                <a:highlight>
                  <a:srgbClr val="FFFFFF"/>
                </a:highlight>
              </a:rPr>
              <a:t>class</a:t>
            </a:r>
            <a:r>
              <a:rPr lang="en-GB" sz="2300" dirty="0">
                <a:solidFill>
                  <a:srgbClr val="000000"/>
                </a:solidFill>
                <a:highlight>
                  <a:srgbClr val="FFFFFF"/>
                </a:highlight>
              </a:rPr>
              <a:t> </a:t>
            </a:r>
            <a:r>
              <a:rPr lang="en-GB" sz="2300" dirty="0" err="1">
                <a:solidFill>
                  <a:srgbClr val="000000"/>
                </a:solidFill>
                <a:highlight>
                  <a:srgbClr val="FFFFFF"/>
                </a:highlight>
              </a:rPr>
              <a:t>FirSimplu</a:t>
            </a:r>
            <a:r>
              <a:rPr lang="en-GB" sz="2300" dirty="0">
                <a:solidFill>
                  <a:srgbClr val="000000"/>
                </a:solidFill>
                <a:highlight>
                  <a:srgbClr val="FFFFFF"/>
                </a:highlight>
              </a:rPr>
              <a:t> </a:t>
            </a:r>
            <a:r>
              <a:rPr lang="en-GB" sz="2300" b="1" dirty="0">
                <a:solidFill>
                  <a:srgbClr val="0000FF"/>
                </a:solidFill>
                <a:highlight>
                  <a:srgbClr val="FFFFFF"/>
                </a:highlight>
              </a:rPr>
              <a:t>extends</a:t>
            </a:r>
            <a:r>
              <a:rPr lang="en-GB" sz="2300" b="0" dirty="0">
                <a:solidFill>
                  <a:srgbClr val="000000"/>
                </a:solidFill>
                <a:highlight>
                  <a:srgbClr val="FFFFFF"/>
                </a:highlight>
              </a:rPr>
              <a:t> Thread </a:t>
            </a:r>
            <a:r>
              <a:rPr lang="en-GB" sz="2300" b="1" dirty="0">
                <a:solidFill>
                  <a:srgbClr val="000080"/>
                </a:solidFill>
                <a:highlight>
                  <a:srgbClr val="FFFFFF"/>
                </a:highlight>
              </a:rPr>
              <a:t>{</a:t>
            </a:r>
            <a:endParaRPr lang="en-GB" sz="2300" b="0" dirty="0">
              <a:solidFill>
                <a:srgbClr val="000000"/>
              </a:solidFill>
              <a:highlight>
                <a:srgbClr val="FFFFFF"/>
              </a:highlight>
            </a:endParaRPr>
          </a:p>
          <a:p>
            <a:r>
              <a:rPr lang="en-GB" sz="2300" b="0" dirty="0">
                <a:solidFill>
                  <a:srgbClr val="000000"/>
                </a:solidFill>
                <a:highlight>
                  <a:srgbClr val="FFFFFF"/>
                </a:highlight>
              </a:rPr>
              <a:t>    </a:t>
            </a:r>
            <a:r>
              <a:rPr lang="en-GB" sz="2300" b="0" dirty="0">
                <a:solidFill>
                  <a:srgbClr val="8000FF"/>
                </a:solidFill>
                <a:highlight>
                  <a:srgbClr val="FFFFFF"/>
                </a:highlight>
              </a:rPr>
              <a:t>public</a:t>
            </a:r>
            <a:r>
              <a:rPr lang="en-GB" sz="2300" b="0" dirty="0">
                <a:solidFill>
                  <a:srgbClr val="000000"/>
                </a:solidFill>
                <a:highlight>
                  <a:srgbClr val="FFFFFF"/>
                </a:highlight>
              </a:rPr>
              <a:t> </a:t>
            </a:r>
            <a:r>
              <a:rPr lang="en-GB" sz="2300" b="0" dirty="0">
                <a:solidFill>
                  <a:srgbClr val="8000FF"/>
                </a:solidFill>
                <a:highlight>
                  <a:srgbClr val="FFFFFF"/>
                </a:highlight>
              </a:rPr>
              <a:t>void</a:t>
            </a:r>
            <a:r>
              <a:rPr lang="en-GB" sz="2300" b="0" dirty="0">
                <a:solidFill>
                  <a:srgbClr val="000000"/>
                </a:solidFill>
                <a:highlight>
                  <a:srgbClr val="FFFFFF"/>
                </a:highlight>
              </a:rPr>
              <a:t> run</a:t>
            </a:r>
            <a:r>
              <a:rPr lang="en-GB" sz="2300" b="1" dirty="0">
                <a:solidFill>
                  <a:srgbClr val="000080"/>
                </a:solidFill>
                <a:highlight>
                  <a:srgbClr val="FFFFFF"/>
                </a:highlight>
              </a:rPr>
              <a:t>()</a:t>
            </a:r>
            <a:r>
              <a:rPr lang="en-GB" sz="2300" b="0" dirty="0">
                <a:solidFill>
                  <a:srgbClr val="000000"/>
                </a:solidFill>
                <a:highlight>
                  <a:srgbClr val="FFFFFF"/>
                </a:highlight>
              </a:rPr>
              <a:t> </a:t>
            </a:r>
            <a:r>
              <a:rPr lang="en-GB" sz="2300" b="1" dirty="0">
                <a:solidFill>
                  <a:srgbClr val="000080"/>
                </a:solidFill>
                <a:highlight>
                  <a:srgbClr val="FFFFFF"/>
                </a:highlight>
              </a:rPr>
              <a:t>{</a:t>
            </a:r>
            <a:endParaRPr lang="en-GB" sz="2300" b="0" dirty="0">
              <a:solidFill>
                <a:srgbClr val="000000"/>
              </a:solidFill>
              <a:highlight>
                <a:srgbClr val="FFFFFF"/>
              </a:highlight>
            </a:endParaRPr>
          </a:p>
          <a:p>
            <a:r>
              <a:rPr lang="en-GB" sz="2300" b="0" dirty="0">
                <a:solidFill>
                  <a:srgbClr val="000000"/>
                </a:solidFill>
                <a:highlight>
                  <a:srgbClr val="FFFFFF"/>
                </a:highlight>
              </a:rPr>
              <a:t>        </a:t>
            </a:r>
            <a:r>
              <a:rPr lang="en-GB" sz="2300" b="0" dirty="0" err="1">
                <a:solidFill>
                  <a:srgbClr val="000000"/>
                </a:solidFill>
                <a:highlight>
                  <a:srgbClr val="FFFFFF"/>
                </a:highlight>
              </a:rPr>
              <a:t>System</a:t>
            </a:r>
            <a:r>
              <a:rPr lang="en-GB" sz="2300" b="1" dirty="0" err="1">
                <a:solidFill>
                  <a:srgbClr val="000080"/>
                </a:solidFill>
                <a:highlight>
                  <a:srgbClr val="FFFFFF"/>
                </a:highlight>
              </a:rPr>
              <a:t>.</a:t>
            </a:r>
            <a:r>
              <a:rPr lang="en-GB" sz="2300" b="0" dirty="0" err="1">
                <a:solidFill>
                  <a:srgbClr val="000000"/>
                </a:solidFill>
                <a:highlight>
                  <a:srgbClr val="FFFFFF"/>
                </a:highlight>
              </a:rPr>
              <a:t>out</a:t>
            </a:r>
            <a:r>
              <a:rPr lang="en-GB" sz="2300" b="1" dirty="0" err="1">
                <a:solidFill>
                  <a:srgbClr val="000080"/>
                </a:solidFill>
                <a:highlight>
                  <a:srgbClr val="FFFFFF"/>
                </a:highlight>
              </a:rPr>
              <a:t>.</a:t>
            </a:r>
            <a:r>
              <a:rPr lang="en-GB" sz="2300" b="0" dirty="0" err="1">
                <a:solidFill>
                  <a:srgbClr val="000000"/>
                </a:solidFill>
                <a:highlight>
                  <a:srgbClr val="FFFFFF"/>
                </a:highlight>
              </a:rPr>
              <a:t>println</a:t>
            </a:r>
            <a:r>
              <a:rPr lang="en-GB" sz="2300" b="1" dirty="0">
                <a:solidFill>
                  <a:srgbClr val="000080"/>
                </a:solidFill>
                <a:highlight>
                  <a:srgbClr val="FFFFFF"/>
                </a:highlight>
              </a:rPr>
              <a:t>(</a:t>
            </a:r>
            <a:r>
              <a:rPr lang="en-GB" sz="2300" b="0" dirty="0">
                <a:solidFill>
                  <a:srgbClr val="808080"/>
                </a:solidFill>
                <a:highlight>
                  <a:srgbClr val="FFFFFF"/>
                </a:highlight>
              </a:rPr>
              <a:t>"</a:t>
            </a:r>
            <a:r>
              <a:rPr lang="en-GB" sz="2300" b="0" dirty="0" err="1">
                <a:solidFill>
                  <a:srgbClr val="808080"/>
                </a:solidFill>
                <a:highlight>
                  <a:srgbClr val="FFFFFF"/>
                </a:highlight>
              </a:rPr>
              <a:t>Rulare</a:t>
            </a:r>
            <a:r>
              <a:rPr lang="en-GB" sz="2300" b="0" dirty="0">
                <a:solidFill>
                  <a:srgbClr val="808080"/>
                </a:solidFill>
                <a:highlight>
                  <a:srgbClr val="FFFFFF"/>
                </a:highlight>
              </a:rPr>
              <a:t> </a:t>
            </a:r>
            <a:r>
              <a:rPr lang="en-GB" sz="2300" b="0" dirty="0" err="1">
                <a:solidFill>
                  <a:srgbClr val="808080"/>
                </a:solidFill>
                <a:highlight>
                  <a:srgbClr val="FFFFFF"/>
                </a:highlight>
              </a:rPr>
              <a:t>în</a:t>
            </a:r>
            <a:r>
              <a:rPr lang="en-GB" sz="2300" b="0" dirty="0">
                <a:solidFill>
                  <a:srgbClr val="808080"/>
                </a:solidFill>
                <a:highlight>
                  <a:srgbClr val="FFFFFF"/>
                </a:highlight>
              </a:rPr>
              <a:t> </a:t>
            </a:r>
            <a:r>
              <a:rPr lang="en-GB" sz="2300" b="0" dirty="0" err="1">
                <a:solidFill>
                  <a:srgbClr val="808080"/>
                </a:solidFill>
                <a:highlight>
                  <a:srgbClr val="FFFFFF"/>
                </a:highlight>
              </a:rPr>
              <a:t>firul</a:t>
            </a:r>
            <a:r>
              <a:rPr lang="en-GB" sz="2300" b="0" dirty="0">
                <a:solidFill>
                  <a:srgbClr val="808080"/>
                </a:solidFill>
                <a:highlight>
                  <a:srgbClr val="FFFFFF"/>
                </a:highlight>
              </a:rPr>
              <a:t>: "</a:t>
            </a:r>
            <a:r>
              <a:rPr lang="en-GB" sz="2300" b="0" dirty="0">
                <a:solidFill>
                  <a:srgbClr val="000000"/>
                </a:solidFill>
                <a:highlight>
                  <a:srgbClr val="FFFFFF"/>
                </a:highlight>
              </a:rPr>
              <a:t> </a:t>
            </a:r>
            <a:r>
              <a:rPr lang="en-GB" sz="2300" b="1" dirty="0">
                <a:solidFill>
                  <a:srgbClr val="000080"/>
                </a:solidFill>
                <a:highlight>
                  <a:srgbClr val="FFFFFF"/>
                </a:highlight>
              </a:rPr>
              <a:t>+</a:t>
            </a:r>
            <a:r>
              <a:rPr lang="en-GB" sz="2300" b="0" dirty="0">
                <a:solidFill>
                  <a:srgbClr val="000000"/>
                </a:solidFill>
                <a:highlight>
                  <a:srgbClr val="FFFFFF"/>
                </a:highlight>
              </a:rPr>
              <a:t> </a:t>
            </a:r>
            <a:r>
              <a:rPr lang="en-GB" sz="2300" b="0" dirty="0" err="1">
                <a:solidFill>
                  <a:srgbClr val="000000"/>
                </a:solidFill>
                <a:highlight>
                  <a:srgbClr val="FFFFFF"/>
                </a:highlight>
              </a:rPr>
              <a:t>getName</a:t>
            </a:r>
            <a:r>
              <a:rPr lang="en-GB" sz="2300" b="1" dirty="0">
                <a:solidFill>
                  <a:srgbClr val="000080"/>
                </a:solidFill>
                <a:highlight>
                  <a:srgbClr val="FFFFFF"/>
                </a:highlight>
              </a:rPr>
              <a:t>());</a:t>
            </a:r>
            <a:endParaRPr lang="en-GB" sz="2300" b="0" dirty="0">
              <a:solidFill>
                <a:srgbClr val="000000"/>
              </a:solidFill>
              <a:highlight>
                <a:srgbClr val="FFFFFF"/>
              </a:highlight>
            </a:endParaRPr>
          </a:p>
          <a:p>
            <a:r>
              <a:rPr lang="en-GB" sz="2300" b="0" dirty="0">
                <a:solidFill>
                  <a:srgbClr val="000000"/>
                </a:solidFill>
                <a:highlight>
                  <a:srgbClr val="FFFFFF"/>
                </a:highlight>
              </a:rPr>
              <a:t>    </a:t>
            </a:r>
            <a:r>
              <a:rPr lang="en-GB" sz="2300" b="1" dirty="0">
                <a:solidFill>
                  <a:srgbClr val="000080"/>
                </a:solidFill>
                <a:highlight>
                  <a:srgbClr val="FFFFFF"/>
                </a:highlight>
              </a:rPr>
              <a:t>}</a:t>
            </a:r>
            <a:endParaRPr lang="en-GB" sz="2300" b="0" dirty="0">
              <a:solidFill>
                <a:srgbClr val="000000"/>
              </a:solidFill>
              <a:highlight>
                <a:srgbClr val="FFFFFF"/>
              </a:highlight>
            </a:endParaRPr>
          </a:p>
          <a:p>
            <a:r>
              <a:rPr lang="en-GB" sz="2300" b="0" dirty="0">
                <a:solidFill>
                  <a:srgbClr val="000000"/>
                </a:solidFill>
                <a:highlight>
                  <a:srgbClr val="FFFFFF"/>
                </a:highlight>
              </a:rPr>
              <a:t>    </a:t>
            </a:r>
            <a:r>
              <a:rPr lang="en-GB" sz="2300" b="0" dirty="0">
                <a:solidFill>
                  <a:srgbClr val="8000FF"/>
                </a:solidFill>
                <a:highlight>
                  <a:srgbClr val="FFFFFF"/>
                </a:highlight>
              </a:rPr>
              <a:t>public</a:t>
            </a:r>
            <a:r>
              <a:rPr lang="en-GB" sz="2300" b="0" dirty="0">
                <a:solidFill>
                  <a:srgbClr val="000000"/>
                </a:solidFill>
                <a:highlight>
                  <a:srgbClr val="FFFFFF"/>
                </a:highlight>
              </a:rPr>
              <a:t> </a:t>
            </a:r>
            <a:r>
              <a:rPr lang="en-GB" sz="2300" b="0" dirty="0">
                <a:solidFill>
                  <a:srgbClr val="8000FF"/>
                </a:solidFill>
                <a:highlight>
                  <a:srgbClr val="FFFFFF"/>
                </a:highlight>
              </a:rPr>
              <a:t>static</a:t>
            </a:r>
            <a:r>
              <a:rPr lang="en-GB" sz="2300" b="0" dirty="0">
                <a:solidFill>
                  <a:srgbClr val="000000"/>
                </a:solidFill>
                <a:highlight>
                  <a:srgbClr val="FFFFFF"/>
                </a:highlight>
              </a:rPr>
              <a:t> </a:t>
            </a:r>
            <a:r>
              <a:rPr lang="en-GB" sz="2300" b="0" dirty="0">
                <a:solidFill>
                  <a:srgbClr val="8000FF"/>
                </a:solidFill>
                <a:highlight>
                  <a:srgbClr val="FFFFFF"/>
                </a:highlight>
              </a:rPr>
              <a:t>void</a:t>
            </a:r>
            <a:r>
              <a:rPr lang="en-GB" sz="2300" b="0" dirty="0">
                <a:solidFill>
                  <a:srgbClr val="000000"/>
                </a:solidFill>
                <a:highlight>
                  <a:srgbClr val="FFFFFF"/>
                </a:highlight>
              </a:rPr>
              <a:t> main</a:t>
            </a:r>
            <a:r>
              <a:rPr lang="en-GB" sz="2300" b="1" dirty="0">
                <a:solidFill>
                  <a:srgbClr val="000080"/>
                </a:solidFill>
                <a:highlight>
                  <a:srgbClr val="FFFFFF"/>
                </a:highlight>
              </a:rPr>
              <a:t>(</a:t>
            </a:r>
            <a:r>
              <a:rPr lang="en-GB" sz="2300" b="0" dirty="0">
                <a:solidFill>
                  <a:srgbClr val="000000"/>
                </a:solidFill>
                <a:highlight>
                  <a:srgbClr val="FFFFFF"/>
                </a:highlight>
              </a:rPr>
              <a:t>String</a:t>
            </a:r>
            <a:r>
              <a:rPr lang="en-GB" sz="2300" b="1" dirty="0">
                <a:solidFill>
                  <a:srgbClr val="000080"/>
                </a:solidFill>
                <a:highlight>
                  <a:srgbClr val="FFFFFF"/>
                </a:highlight>
              </a:rPr>
              <a:t>[]</a:t>
            </a:r>
            <a:r>
              <a:rPr lang="en-GB" sz="2300" b="0" dirty="0">
                <a:solidFill>
                  <a:srgbClr val="000000"/>
                </a:solidFill>
                <a:highlight>
                  <a:srgbClr val="FFFFFF"/>
                </a:highlight>
              </a:rPr>
              <a:t> </a:t>
            </a:r>
            <a:r>
              <a:rPr lang="en-GB" sz="2300" b="0" dirty="0" err="1">
                <a:solidFill>
                  <a:srgbClr val="000000"/>
                </a:solidFill>
                <a:highlight>
                  <a:srgbClr val="FFFFFF"/>
                </a:highlight>
              </a:rPr>
              <a:t>args</a:t>
            </a:r>
            <a:r>
              <a:rPr lang="en-GB" sz="2300" b="1" dirty="0">
                <a:solidFill>
                  <a:srgbClr val="000080"/>
                </a:solidFill>
                <a:highlight>
                  <a:srgbClr val="FFFFFF"/>
                </a:highlight>
              </a:rPr>
              <a:t>)</a:t>
            </a:r>
            <a:r>
              <a:rPr lang="en-GB" sz="2300" b="0" dirty="0">
                <a:solidFill>
                  <a:srgbClr val="000000"/>
                </a:solidFill>
                <a:highlight>
                  <a:srgbClr val="FFFFFF"/>
                </a:highlight>
              </a:rPr>
              <a:t> </a:t>
            </a:r>
            <a:r>
              <a:rPr lang="en-GB" sz="2300" b="1" dirty="0">
                <a:solidFill>
                  <a:srgbClr val="000080"/>
                </a:solidFill>
                <a:highlight>
                  <a:srgbClr val="FFFFFF"/>
                </a:highlight>
              </a:rPr>
              <a:t>{</a:t>
            </a:r>
            <a:endParaRPr lang="en-GB" sz="2300" b="0" dirty="0">
              <a:solidFill>
                <a:srgbClr val="000000"/>
              </a:solidFill>
              <a:highlight>
                <a:srgbClr val="FFFFFF"/>
              </a:highlight>
            </a:endParaRPr>
          </a:p>
          <a:p>
            <a:r>
              <a:rPr lang="en-GB" sz="2300" b="0" dirty="0">
                <a:solidFill>
                  <a:srgbClr val="000000"/>
                </a:solidFill>
                <a:highlight>
                  <a:srgbClr val="FFFFFF"/>
                </a:highlight>
              </a:rPr>
              <a:t>        </a:t>
            </a:r>
            <a:r>
              <a:rPr lang="en-GB" sz="2300" b="0" dirty="0" err="1">
                <a:solidFill>
                  <a:srgbClr val="000000"/>
                </a:solidFill>
                <a:highlight>
                  <a:srgbClr val="FFFFFF"/>
                </a:highlight>
              </a:rPr>
              <a:t>FirSimplu</a:t>
            </a:r>
            <a:r>
              <a:rPr lang="en-GB" sz="2300" b="0" dirty="0">
                <a:solidFill>
                  <a:srgbClr val="000000"/>
                </a:solidFill>
                <a:highlight>
                  <a:srgbClr val="FFFFFF"/>
                </a:highlight>
              </a:rPr>
              <a:t> f1 </a:t>
            </a:r>
            <a:r>
              <a:rPr lang="en-GB" sz="2300" b="1" dirty="0">
                <a:solidFill>
                  <a:srgbClr val="000080"/>
                </a:solidFill>
                <a:highlight>
                  <a:srgbClr val="FFFFFF"/>
                </a:highlight>
              </a:rPr>
              <a:t>=</a:t>
            </a:r>
            <a:r>
              <a:rPr lang="en-GB" sz="2300" b="0" dirty="0">
                <a:solidFill>
                  <a:srgbClr val="000000"/>
                </a:solidFill>
                <a:highlight>
                  <a:srgbClr val="FFFFFF"/>
                </a:highlight>
              </a:rPr>
              <a:t> </a:t>
            </a:r>
            <a:r>
              <a:rPr lang="en-GB" sz="2300" b="1" dirty="0">
                <a:solidFill>
                  <a:srgbClr val="0000FF"/>
                </a:solidFill>
                <a:highlight>
                  <a:srgbClr val="FFFFFF"/>
                </a:highlight>
              </a:rPr>
              <a:t>new</a:t>
            </a:r>
            <a:r>
              <a:rPr lang="en-GB" sz="2300" b="0" dirty="0">
                <a:solidFill>
                  <a:srgbClr val="000000"/>
                </a:solidFill>
                <a:highlight>
                  <a:srgbClr val="FFFFFF"/>
                </a:highlight>
              </a:rPr>
              <a:t> </a:t>
            </a:r>
            <a:r>
              <a:rPr lang="en-GB" sz="2300" b="0" dirty="0" err="1">
                <a:solidFill>
                  <a:srgbClr val="000000"/>
                </a:solidFill>
                <a:highlight>
                  <a:srgbClr val="FFFFFF"/>
                </a:highlight>
              </a:rPr>
              <a:t>FirSimplu</a:t>
            </a:r>
            <a:r>
              <a:rPr lang="en-GB" sz="2300" b="1" dirty="0">
                <a:solidFill>
                  <a:srgbClr val="000080"/>
                </a:solidFill>
                <a:highlight>
                  <a:srgbClr val="FFFFFF"/>
                </a:highlight>
              </a:rPr>
              <a:t>();</a:t>
            </a:r>
            <a:endParaRPr lang="en-GB" sz="2300" b="0" dirty="0">
              <a:solidFill>
                <a:srgbClr val="000000"/>
              </a:solidFill>
              <a:highlight>
                <a:srgbClr val="FFFFFF"/>
              </a:highlight>
            </a:endParaRPr>
          </a:p>
          <a:p>
            <a:r>
              <a:rPr lang="en-GB" sz="2300" b="0" dirty="0">
                <a:solidFill>
                  <a:srgbClr val="000000"/>
                </a:solidFill>
                <a:highlight>
                  <a:srgbClr val="FFFFFF"/>
                </a:highlight>
              </a:rPr>
              <a:t>        f1</a:t>
            </a:r>
            <a:r>
              <a:rPr lang="en-GB" sz="2300" b="1" dirty="0">
                <a:solidFill>
                  <a:srgbClr val="000080"/>
                </a:solidFill>
                <a:highlight>
                  <a:srgbClr val="FFFFFF"/>
                </a:highlight>
              </a:rPr>
              <a:t>.</a:t>
            </a:r>
            <a:r>
              <a:rPr lang="en-GB" sz="2300" b="0" dirty="0">
                <a:solidFill>
                  <a:srgbClr val="000000"/>
                </a:solidFill>
                <a:highlight>
                  <a:srgbClr val="FFFFFF"/>
                </a:highlight>
              </a:rPr>
              <a:t>start</a:t>
            </a:r>
            <a:r>
              <a:rPr lang="en-GB" sz="2300" b="1" dirty="0">
                <a:solidFill>
                  <a:srgbClr val="000080"/>
                </a:solidFill>
                <a:highlight>
                  <a:srgbClr val="FFFFFF"/>
                </a:highlight>
              </a:rPr>
              <a:t>();</a:t>
            </a:r>
            <a:r>
              <a:rPr lang="en-GB" sz="2300" b="0" dirty="0">
                <a:solidFill>
                  <a:srgbClr val="000000"/>
                </a:solidFill>
                <a:highlight>
                  <a:srgbClr val="FFFFFF"/>
                </a:highlight>
              </a:rPr>
              <a:t>  </a:t>
            </a:r>
            <a:r>
              <a:rPr lang="en-GB" sz="2300" b="0" dirty="0">
                <a:solidFill>
                  <a:srgbClr val="008000"/>
                </a:solidFill>
                <a:highlight>
                  <a:srgbClr val="FFFFFF"/>
                </a:highlight>
              </a:rPr>
              <a:t>// </a:t>
            </a:r>
            <a:r>
              <a:rPr lang="en-GB" sz="2300" b="0" dirty="0" err="1">
                <a:solidFill>
                  <a:srgbClr val="008000"/>
                </a:solidFill>
                <a:highlight>
                  <a:srgbClr val="FFFFFF"/>
                </a:highlight>
              </a:rPr>
              <a:t>pornește</a:t>
            </a:r>
            <a:r>
              <a:rPr lang="en-GB" sz="2300" b="0" dirty="0">
                <a:solidFill>
                  <a:srgbClr val="008000"/>
                </a:solidFill>
                <a:highlight>
                  <a:srgbClr val="FFFFFF"/>
                </a:highlight>
              </a:rPr>
              <a:t> </a:t>
            </a:r>
            <a:r>
              <a:rPr lang="en-GB" sz="2300" b="0" dirty="0" err="1">
                <a:solidFill>
                  <a:srgbClr val="008000"/>
                </a:solidFill>
                <a:highlight>
                  <a:srgbClr val="FFFFFF"/>
                </a:highlight>
              </a:rPr>
              <a:t>firul</a:t>
            </a:r>
            <a:endParaRPr lang="en-GB" sz="2300" b="0" dirty="0">
              <a:solidFill>
                <a:srgbClr val="008000"/>
              </a:solidFill>
              <a:highlight>
                <a:srgbClr val="FFFFFF"/>
              </a:highlight>
            </a:endParaRPr>
          </a:p>
          <a:p>
            <a:r>
              <a:rPr lang="en-GB" sz="2300" b="0" dirty="0">
                <a:solidFill>
                  <a:srgbClr val="000000"/>
                </a:solidFill>
                <a:highlight>
                  <a:srgbClr val="FFFFFF"/>
                </a:highlight>
              </a:rPr>
              <a:t>        </a:t>
            </a:r>
            <a:r>
              <a:rPr lang="en-GB" sz="2300" b="0" dirty="0" err="1">
                <a:solidFill>
                  <a:srgbClr val="000000"/>
                </a:solidFill>
                <a:highlight>
                  <a:srgbClr val="FFFFFF"/>
                </a:highlight>
              </a:rPr>
              <a:t>System</a:t>
            </a:r>
            <a:r>
              <a:rPr lang="en-GB" sz="2300" b="1" dirty="0" err="1">
                <a:solidFill>
                  <a:srgbClr val="000080"/>
                </a:solidFill>
                <a:highlight>
                  <a:srgbClr val="FFFFFF"/>
                </a:highlight>
              </a:rPr>
              <a:t>.</a:t>
            </a:r>
            <a:r>
              <a:rPr lang="en-GB" sz="2300" b="0" dirty="0" err="1">
                <a:solidFill>
                  <a:srgbClr val="000000"/>
                </a:solidFill>
                <a:highlight>
                  <a:srgbClr val="FFFFFF"/>
                </a:highlight>
              </a:rPr>
              <a:t>out</a:t>
            </a:r>
            <a:r>
              <a:rPr lang="en-GB" sz="2300" b="1" dirty="0" err="1">
                <a:solidFill>
                  <a:srgbClr val="000080"/>
                </a:solidFill>
                <a:highlight>
                  <a:srgbClr val="FFFFFF"/>
                </a:highlight>
              </a:rPr>
              <a:t>.</a:t>
            </a:r>
            <a:r>
              <a:rPr lang="en-GB" sz="2300" b="0" dirty="0" err="1">
                <a:solidFill>
                  <a:srgbClr val="000000"/>
                </a:solidFill>
                <a:highlight>
                  <a:srgbClr val="FFFFFF"/>
                </a:highlight>
              </a:rPr>
              <a:t>println</a:t>
            </a:r>
            <a:r>
              <a:rPr lang="en-GB" sz="2300" b="1" dirty="0">
                <a:solidFill>
                  <a:srgbClr val="000080"/>
                </a:solidFill>
                <a:highlight>
                  <a:srgbClr val="FFFFFF"/>
                </a:highlight>
              </a:rPr>
              <a:t>(</a:t>
            </a:r>
            <a:r>
              <a:rPr lang="en-GB" sz="2300" b="0" dirty="0">
                <a:solidFill>
                  <a:srgbClr val="808080"/>
                </a:solidFill>
                <a:highlight>
                  <a:srgbClr val="FFFFFF"/>
                </a:highlight>
              </a:rPr>
              <a:t>"Fir principal: "</a:t>
            </a:r>
            <a:r>
              <a:rPr lang="en-GB" sz="2300" b="0" dirty="0">
                <a:solidFill>
                  <a:srgbClr val="000000"/>
                </a:solidFill>
                <a:highlight>
                  <a:srgbClr val="FFFFFF"/>
                </a:highlight>
              </a:rPr>
              <a:t> </a:t>
            </a:r>
            <a:r>
              <a:rPr lang="en-GB" sz="2300" b="1" dirty="0">
                <a:solidFill>
                  <a:srgbClr val="000080"/>
                </a:solidFill>
                <a:highlight>
                  <a:srgbClr val="FFFFFF"/>
                </a:highlight>
              </a:rPr>
              <a:t>+</a:t>
            </a:r>
            <a:r>
              <a:rPr lang="en-GB" sz="2300" b="0" dirty="0">
                <a:solidFill>
                  <a:srgbClr val="000000"/>
                </a:solidFill>
                <a:highlight>
                  <a:srgbClr val="FFFFFF"/>
                </a:highlight>
              </a:rPr>
              <a:t> </a:t>
            </a:r>
            <a:r>
              <a:rPr lang="en-GB" sz="2300" b="0" dirty="0" err="1">
                <a:solidFill>
                  <a:srgbClr val="000000"/>
                </a:solidFill>
                <a:highlight>
                  <a:srgbClr val="FFFFFF"/>
                </a:highlight>
              </a:rPr>
              <a:t>Thread</a:t>
            </a:r>
            <a:r>
              <a:rPr lang="en-GB" sz="2300" b="1" dirty="0" err="1">
                <a:solidFill>
                  <a:srgbClr val="000080"/>
                </a:solidFill>
                <a:highlight>
                  <a:srgbClr val="FFFFFF"/>
                </a:highlight>
              </a:rPr>
              <a:t>.</a:t>
            </a:r>
            <a:r>
              <a:rPr lang="en-GB" sz="2300" b="0" dirty="0" err="1">
                <a:solidFill>
                  <a:srgbClr val="000000"/>
                </a:solidFill>
                <a:highlight>
                  <a:srgbClr val="FFFFFF"/>
                </a:highlight>
              </a:rPr>
              <a:t>currentThread</a:t>
            </a:r>
            <a:r>
              <a:rPr lang="en-GB" sz="2300" b="1" dirty="0">
                <a:solidFill>
                  <a:srgbClr val="000080"/>
                </a:solidFill>
                <a:highlight>
                  <a:srgbClr val="FFFFFF"/>
                </a:highlight>
              </a:rPr>
              <a:t>().</a:t>
            </a:r>
            <a:r>
              <a:rPr lang="en-GB" sz="2300" b="0" dirty="0" err="1">
                <a:solidFill>
                  <a:srgbClr val="000000"/>
                </a:solidFill>
                <a:highlight>
                  <a:srgbClr val="FFFFFF"/>
                </a:highlight>
              </a:rPr>
              <a:t>getName</a:t>
            </a:r>
            <a:r>
              <a:rPr lang="en-GB" sz="2300" b="1" dirty="0">
                <a:solidFill>
                  <a:srgbClr val="000080"/>
                </a:solidFill>
                <a:highlight>
                  <a:srgbClr val="FFFFFF"/>
                </a:highlight>
              </a:rPr>
              <a:t>());</a:t>
            </a:r>
            <a:endParaRPr lang="en-GB" sz="2300" b="0" dirty="0">
              <a:solidFill>
                <a:srgbClr val="000000"/>
              </a:solidFill>
              <a:highlight>
                <a:srgbClr val="FFFFFF"/>
              </a:highlight>
            </a:endParaRPr>
          </a:p>
          <a:p>
            <a:r>
              <a:rPr lang="en-GB" sz="2300" b="0" dirty="0">
                <a:solidFill>
                  <a:srgbClr val="000000"/>
                </a:solidFill>
                <a:highlight>
                  <a:srgbClr val="FFFFFF"/>
                </a:highlight>
              </a:rPr>
              <a:t>    </a:t>
            </a:r>
            <a:r>
              <a:rPr lang="en-GB" sz="2300" b="1" dirty="0">
                <a:solidFill>
                  <a:srgbClr val="000080"/>
                </a:solidFill>
                <a:highlight>
                  <a:srgbClr val="FFFFFF"/>
                </a:highlight>
              </a:rPr>
              <a:t>}</a:t>
            </a:r>
            <a:endParaRPr lang="en-GB" sz="2300" b="0" dirty="0">
              <a:solidFill>
                <a:srgbClr val="000000"/>
              </a:solidFill>
              <a:highlight>
                <a:srgbClr val="FFFFFF"/>
              </a:highlight>
            </a:endParaRPr>
          </a:p>
          <a:p>
            <a:r>
              <a:rPr lang="en-GB" sz="2300" b="1" dirty="0">
                <a:solidFill>
                  <a:srgbClr val="000080"/>
                </a:solidFill>
                <a:highlight>
                  <a:srgbClr val="FFFFFF"/>
                </a:highlight>
              </a:rPr>
              <a:t>}</a:t>
            </a:r>
            <a:endParaRPr lang="ro-RO" sz="2300" dirty="0"/>
          </a:p>
          <a:p>
            <a:endParaRPr lang="ro-RO" sz="1800" dirty="0"/>
          </a:p>
        </p:txBody>
      </p:sp>
      <p:sp>
        <p:nvSpPr>
          <p:cNvPr id="5" name="Rectangle 4"/>
          <p:cNvSpPr/>
          <p:nvPr/>
        </p:nvSpPr>
        <p:spPr>
          <a:xfrm>
            <a:off x="7608165" y="2069375"/>
            <a:ext cx="4399006" cy="3170099"/>
          </a:xfrm>
          <a:prstGeom prst="rect">
            <a:avLst/>
          </a:prstGeom>
        </p:spPr>
        <p:txBody>
          <a:bodyPr wrap="square">
            <a:spAutoFit/>
          </a:bodyPr>
          <a:lstStyle/>
          <a:p>
            <a:r>
              <a:rPr lang="en-GB" sz="2000" dirty="0"/>
              <a:t>🟢 </a:t>
            </a:r>
            <a:r>
              <a:rPr lang="en-GB" sz="2000" i="1" dirty="0" err="1"/>
              <a:t>Explicație</a:t>
            </a:r>
            <a:r>
              <a:rPr lang="en-GB" sz="2000" i="1" dirty="0"/>
              <a:t>:</a:t>
            </a:r>
            <a:endParaRPr lang="en-GB" sz="2000" dirty="0"/>
          </a:p>
          <a:p>
            <a:r>
              <a:rPr lang="en-GB" sz="2000" dirty="0"/>
              <a:t>Se </a:t>
            </a:r>
            <a:r>
              <a:rPr lang="en-GB" sz="2000" dirty="0" err="1"/>
              <a:t>moștenește</a:t>
            </a:r>
            <a:r>
              <a:rPr lang="en-GB" sz="2000" dirty="0"/>
              <a:t> </a:t>
            </a:r>
            <a:r>
              <a:rPr lang="en-GB" sz="2000" dirty="0" err="1"/>
              <a:t>clasa</a:t>
            </a:r>
            <a:r>
              <a:rPr lang="en-GB" sz="2000" dirty="0"/>
              <a:t> Thread</a:t>
            </a:r>
          </a:p>
          <a:p>
            <a:endParaRPr lang="en-GB" sz="2000" dirty="0"/>
          </a:p>
          <a:p>
            <a:r>
              <a:rPr lang="en-GB" sz="2000" dirty="0"/>
              <a:t>Se </a:t>
            </a:r>
            <a:r>
              <a:rPr lang="en-GB" sz="2000" dirty="0" err="1"/>
              <a:t>suprascrie</a:t>
            </a:r>
            <a:r>
              <a:rPr lang="en-GB" sz="2000" dirty="0"/>
              <a:t> </a:t>
            </a:r>
            <a:r>
              <a:rPr lang="en-GB" sz="2000" dirty="0" err="1"/>
              <a:t>metoda</a:t>
            </a:r>
            <a:r>
              <a:rPr lang="en-GB" sz="2000" dirty="0"/>
              <a:t> run()</a:t>
            </a:r>
          </a:p>
          <a:p>
            <a:endParaRPr lang="en-GB" sz="2000" dirty="0"/>
          </a:p>
          <a:p>
            <a:endParaRPr lang="en-GB" sz="2000" dirty="0"/>
          </a:p>
          <a:p>
            <a:endParaRPr lang="en-GB" sz="2000" dirty="0"/>
          </a:p>
          <a:p>
            <a:r>
              <a:rPr lang="en-GB" sz="2000" dirty="0"/>
              <a:t>Se </a:t>
            </a:r>
            <a:r>
              <a:rPr lang="en-GB" sz="2000" dirty="0" err="1"/>
              <a:t>pornește</a:t>
            </a:r>
            <a:r>
              <a:rPr lang="en-GB" sz="2000" dirty="0"/>
              <a:t> </a:t>
            </a:r>
            <a:r>
              <a:rPr lang="en-GB" sz="2000" dirty="0" err="1"/>
              <a:t>firul</a:t>
            </a:r>
            <a:r>
              <a:rPr lang="en-GB" sz="2000" dirty="0"/>
              <a:t> cu </a:t>
            </a:r>
            <a:r>
              <a:rPr lang="en-GB" sz="2000" dirty="0" err="1"/>
              <a:t>metoda</a:t>
            </a:r>
            <a:r>
              <a:rPr lang="en-GB" sz="2000" dirty="0"/>
              <a:t> start() (nu run() direct)</a:t>
            </a:r>
          </a:p>
          <a:p>
            <a:endParaRPr lang="ro-RO" sz="2000" dirty="0"/>
          </a:p>
        </p:txBody>
      </p:sp>
      <p:sp>
        <p:nvSpPr>
          <p:cNvPr id="4" name="Arrow: Left 3">
            <a:extLst>
              <a:ext uri="{FF2B5EF4-FFF2-40B4-BE49-F238E27FC236}">
                <a16:creationId xmlns:a16="http://schemas.microsoft.com/office/drawing/2014/main" id="{94AB6377-64A0-5172-E731-B6332D23A1D1}"/>
              </a:ext>
            </a:extLst>
          </p:cNvPr>
          <p:cNvSpPr/>
          <p:nvPr/>
        </p:nvSpPr>
        <p:spPr>
          <a:xfrm>
            <a:off x="4655126" y="2140527"/>
            <a:ext cx="2168237" cy="443345"/>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Arrow: Left 5">
            <a:extLst>
              <a:ext uri="{FF2B5EF4-FFF2-40B4-BE49-F238E27FC236}">
                <a16:creationId xmlns:a16="http://schemas.microsoft.com/office/drawing/2014/main" id="{2EE65199-733E-49EA-C51E-80071920EC43}"/>
              </a:ext>
            </a:extLst>
          </p:cNvPr>
          <p:cNvSpPr/>
          <p:nvPr/>
        </p:nvSpPr>
        <p:spPr>
          <a:xfrm>
            <a:off x="4693226" y="4361212"/>
            <a:ext cx="2168237" cy="443345"/>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Arrow: Left 6">
            <a:extLst>
              <a:ext uri="{FF2B5EF4-FFF2-40B4-BE49-F238E27FC236}">
                <a16:creationId xmlns:a16="http://schemas.microsoft.com/office/drawing/2014/main" id="{70B414D4-F8A0-1554-D8AF-10F52CCC9A3E}"/>
              </a:ext>
            </a:extLst>
          </p:cNvPr>
          <p:cNvSpPr/>
          <p:nvPr/>
        </p:nvSpPr>
        <p:spPr>
          <a:xfrm>
            <a:off x="6721929" y="2953591"/>
            <a:ext cx="732805" cy="443345"/>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259673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a:t>Exemplu</a:t>
            </a:r>
          </a:p>
        </p:txBody>
      </p:sp>
      <p:sp>
        <p:nvSpPr>
          <p:cNvPr id="3" name="Content Placeholder 2"/>
          <p:cNvSpPr>
            <a:spLocks noGrp="1"/>
          </p:cNvSpPr>
          <p:nvPr>
            <p:ph idx="1"/>
          </p:nvPr>
        </p:nvSpPr>
        <p:spPr>
          <a:xfrm>
            <a:off x="6286499" y="1903123"/>
            <a:ext cx="5717059" cy="4023360"/>
          </a:xfrm>
        </p:spPr>
        <p:txBody>
          <a:bodyPr>
            <a:noAutofit/>
          </a:bodyPr>
          <a:lstStyle/>
          <a:p>
            <a:r>
              <a:rPr lang="en-GB" sz="1600" dirty="0">
                <a:solidFill>
                  <a:srgbClr val="8000FF"/>
                </a:solidFill>
                <a:highlight>
                  <a:srgbClr val="FFFFFF"/>
                </a:highlight>
              </a:rPr>
              <a:t>public</a:t>
            </a:r>
            <a:r>
              <a:rPr lang="en-GB" sz="1600" dirty="0">
                <a:solidFill>
                  <a:srgbClr val="000000"/>
                </a:solidFill>
                <a:highlight>
                  <a:srgbClr val="FFFFFF"/>
                </a:highlight>
              </a:rPr>
              <a:t> </a:t>
            </a:r>
            <a:r>
              <a:rPr lang="en-GB" sz="1600" dirty="0">
                <a:solidFill>
                  <a:srgbClr val="8000FF"/>
                </a:solidFill>
                <a:highlight>
                  <a:srgbClr val="FFFFFF"/>
                </a:highlight>
              </a:rPr>
              <a:t>class</a:t>
            </a:r>
            <a:r>
              <a:rPr lang="en-GB" sz="1600" dirty="0">
                <a:solidFill>
                  <a:srgbClr val="000000"/>
                </a:solidFill>
                <a:highlight>
                  <a:srgbClr val="FFFFFF"/>
                </a:highlight>
              </a:rPr>
              <a:t> </a:t>
            </a:r>
            <a:r>
              <a:rPr lang="en-GB" sz="1600" dirty="0" err="1">
                <a:solidFill>
                  <a:srgbClr val="000000"/>
                </a:solidFill>
                <a:highlight>
                  <a:srgbClr val="FFFFFF"/>
                </a:highlight>
              </a:rPr>
              <a:t>PrimulFir</a:t>
            </a:r>
            <a:r>
              <a:rPr lang="en-GB" sz="1600" dirty="0">
                <a:solidFill>
                  <a:srgbClr val="000000"/>
                </a:solidFill>
                <a:highlight>
                  <a:srgbClr val="FFFFFF"/>
                </a:highlight>
              </a:rPr>
              <a:t> </a:t>
            </a:r>
            <a:r>
              <a:rPr lang="en-GB" sz="1600" b="1" dirty="0">
                <a:solidFill>
                  <a:srgbClr val="000080"/>
                </a:solidFill>
                <a:highlight>
                  <a:srgbClr val="FFFFFF"/>
                </a:highlight>
              </a:rPr>
              <a:t>{</a:t>
            </a:r>
            <a:endParaRPr lang="en-GB" sz="1600" b="0" dirty="0">
              <a:solidFill>
                <a:srgbClr val="000000"/>
              </a:solidFill>
              <a:highlight>
                <a:srgbClr val="FFFFFF"/>
              </a:highlight>
            </a:endParaRPr>
          </a:p>
          <a:p>
            <a:r>
              <a:rPr lang="en-GB" sz="1600" b="0" dirty="0">
                <a:solidFill>
                  <a:srgbClr val="000000"/>
                </a:solidFill>
                <a:highlight>
                  <a:srgbClr val="FFFFFF"/>
                </a:highlight>
              </a:rPr>
              <a:t>     </a:t>
            </a:r>
            <a:r>
              <a:rPr lang="en-GB" sz="1600" b="0" dirty="0">
                <a:solidFill>
                  <a:srgbClr val="8000FF"/>
                </a:solidFill>
                <a:highlight>
                  <a:srgbClr val="FFFFFF"/>
                </a:highlight>
              </a:rPr>
              <a:t>public</a:t>
            </a:r>
            <a:r>
              <a:rPr lang="en-GB" sz="1600" b="0" dirty="0">
                <a:solidFill>
                  <a:srgbClr val="000000"/>
                </a:solidFill>
                <a:highlight>
                  <a:srgbClr val="FFFFFF"/>
                </a:highlight>
              </a:rPr>
              <a:t> </a:t>
            </a:r>
            <a:r>
              <a:rPr lang="en-GB" sz="1600" b="0" dirty="0">
                <a:solidFill>
                  <a:srgbClr val="8000FF"/>
                </a:solidFill>
                <a:highlight>
                  <a:srgbClr val="FFFFFF"/>
                </a:highlight>
              </a:rPr>
              <a:t>static</a:t>
            </a:r>
            <a:r>
              <a:rPr lang="en-GB" sz="1600" b="0" dirty="0">
                <a:solidFill>
                  <a:srgbClr val="000000"/>
                </a:solidFill>
                <a:highlight>
                  <a:srgbClr val="FFFFFF"/>
                </a:highlight>
              </a:rPr>
              <a:t> </a:t>
            </a:r>
            <a:r>
              <a:rPr lang="en-GB" sz="1600" b="0" dirty="0">
                <a:solidFill>
                  <a:srgbClr val="8000FF"/>
                </a:solidFill>
                <a:highlight>
                  <a:srgbClr val="FFFFFF"/>
                </a:highlight>
              </a:rPr>
              <a:t>void</a:t>
            </a:r>
            <a:r>
              <a:rPr lang="en-GB" sz="1600" b="0" dirty="0">
                <a:solidFill>
                  <a:srgbClr val="000000"/>
                </a:solidFill>
                <a:highlight>
                  <a:srgbClr val="FFFFFF"/>
                </a:highlight>
              </a:rPr>
              <a:t> main</a:t>
            </a:r>
            <a:r>
              <a:rPr lang="en-GB" sz="1600" b="1" dirty="0">
                <a:solidFill>
                  <a:srgbClr val="000080"/>
                </a:solidFill>
                <a:highlight>
                  <a:srgbClr val="FFFFFF"/>
                </a:highlight>
              </a:rPr>
              <a:t>(</a:t>
            </a:r>
            <a:r>
              <a:rPr lang="en-GB" sz="1600" b="0" dirty="0">
                <a:solidFill>
                  <a:srgbClr val="000000"/>
                </a:solidFill>
                <a:highlight>
                  <a:srgbClr val="FFFFFF"/>
                </a:highlight>
              </a:rPr>
              <a:t>String </a:t>
            </a:r>
            <a:r>
              <a:rPr lang="en-GB" sz="1600" b="0" dirty="0" err="1">
                <a:solidFill>
                  <a:srgbClr val="000000"/>
                </a:solidFill>
                <a:highlight>
                  <a:srgbClr val="FFFFFF"/>
                </a:highlight>
              </a:rPr>
              <a:t>arg</a:t>
            </a:r>
            <a:r>
              <a:rPr lang="en-GB" sz="1600" b="1" dirty="0">
                <a:solidFill>
                  <a:srgbClr val="000080"/>
                </a:solidFill>
                <a:highlight>
                  <a:srgbClr val="FFFFFF"/>
                </a:highlight>
              </a:rPr>
              <a:t>[])</a:t>
            </a:r>
            <a:r>
              <a:rPr lang="en-GB" sz="1600" b="0" dirty="0">
                <a:solidFill>
                  <a:srgbClr val="000000"/>
                </a:solidFill>
                <a:highlight>
                  <a:srgbClr val="FFFFFF"/>
                </a:highlight>
              </a:rPr>
              <a:t> </a:t>
            </a:r>
            <a:r>
              <a:rPr lang="en-GB" sz="1600" b="1" dirty="0">
                <a:solidFill>
                  <a:srgbClr val="000080"/>
                </a:solidFill>
                <a:highlight>
                  <a:srgbClr val="FFFFFF"/>
                </a:highlight>
              </a:rPr>
              <a:t>{</a:t>
            </a:r>
            <a:endParaRPr lang="en-GB" sz="1600" b="0" dirty="0">
              <a:solidFill>
                <a:srgbClr val="000000"/>
              </a:solidFill>
              <a:highlight>
                <a:srgbClr val="FFFFFF"/>
              </a:highlight>
            </a:endParaRPr>
          </a:p>
          <a:p>
            <a:r>
              <a:rPr lang="en-GB" sz="1600" b="0" dirty="0">
                <a:solidFill>
                  <a:srgbClr val="000000"/>
                </a:solidFill>
                <a:highlight>
                  <a:srgbClr val="FFFFFF"/>
                </a:highlight>
              </a:rPr>
              <a:t>	</a:t>
            </a:r>
            <a:r>
              <a:rPr lang="en-GB" sz="1600" b="0" dirty="0" err="1">
                <a:solidFill>
                  <a:srgbClr val="000000"/>
                </a:solidFill>
                <a:highlight>
                  <a:srgbClr val="FFFFFF"/>
                </a:highlight>
              </a:rPr>
              <a:t>System</a:t>
            </a:r>
            <a:r>
              <a:rPr lang="en-GB" sz="1600" b="1" dirty="0" err="1">
                <a:solidFill>
                  <a:srgbClr val="000080"/>
                </a:solidFill>
                <a:highlight>
                  <a:srgbClr val="FFFFFF"/>
                </a:highlight>
              </a:rPr>
              <a:t>.</a:t>
            </a:r>
            <a:r>
              <a:rPr lang="en-GB" sz="1600" b="0" dirty="0" err="1">
                <a:solidFill>
                  <a:srgbClr val="000000"/>
                </a:solidFill>
                <a:highlight>
                  <a:srgbClr val="FFFFFF"/>
                </a:highlight>
              </a:rPr>
              <a:t>out</a:t>
            </a:r>
            <a:r>
              <a:rPr lang="en-GB" sz="1600" b="1" dirty="0" err="1">
                <a:solidFill>
                  <a:srgbClr val="000080"/>
                </a:solidFill>
                <a:highlight>
                  <a:srgbClr val="FFFFFF"/>
                </a:highlight>
              </a:rPr>
              <a:t>.</a:t>
            </a:r>
            <a:r>
              <a:rPr lang="en-GB" sz="1600" b="0" dirty="0" err="1">
                <a:solidFill>
                  <a:srgbClr val="000000"/>
                </a:solidFill>
                <a:highlight>
                  <a:srgbClr val="FFFFFF"/>
                </a:highlight>
              </a:rPr>
              <a:t>println</a:t>
            </a:r>
            <a:r>
              <a:rPr lang="en-GB" sz="1600" b="1" dirty="0">
                <a:solidFill>
                  <a:srgbClr val="000080"/>
                </a:solidFill>
                <a:highlight>
                  <a:srgbClr val="FFFFFF"/>
                </a:highlight>
              </a:rPr>
              <a:t>(</a:t>
            </a:r>
            <a:r>
              <a:rPr lang="en-GB" sz="1600" b="0" dirty="0">
                <a:solidFill>
                  <a:srgbClr val="808080"/>
                </a:solidFill>
                <a:highlight>
                  <a:srgbClr val="FFFFFF"/>
                </a:highlight>
              </a:rPr>
              <a:t>"</a:t>
            </a:r>
            <a:r>
              <a:rPr lang="en-GB" sz="1600" b="0" dirty="0" err="1">
                <a:solidFill>
                  <a:srgbClr val="808080"/>
                </a:solidFill>
                <a:highlight>
                  <a:srgbClr val="FFFFFF"/>
                </a:highlight>
              </a:rPr>
              <a:t>Crearea</a:t>
            </a:r>
            <a:r>
              <a:rPr lang="en-GB" sz="1600" b="0" dirty="0">
                <a:solidFill>
                  <a:srgbClr val="808080"/>
                </a:solidFill>
                <a:highlight>
                  <a:srgbClr val="FFFFFF"/>
                </a:highlight>
              </a:rPr>
              <a:t> </a:t>
            </a:r>
            <a:r>
              <a:rPr lang="en-GB" sz="1600" b="0" dirty="0" err="1">
                <a:solidFill>
                  <a:srgbClr val="808080"/>
                </a:solidFill>
                <a:highlight>
                  <a:srgbClr val="FFFFFF"/>
                </a:highlight>
              </a:rPr>
              <a:t>firelor</a:t>
            </a:r>
            <a:r>
              <a:rPr lang="en-GB" sz="1600" b="0" dirty="0">
                <a:solidFill>
                  <a:srgbClr val="808080"/>
                </a:solidFill>
                <a:highlight>
                  <a:srgbClr val="FFFFFF"/>
                </a:highlight>
              </a:rPr>
              <a:t> de </a:t>
            </a:r>
            <a:r>
              <a:rPr lang="en-GB" sz="1600" b="0" dirty="0" err="1">
                <a:solidFill>
                  <a:srgbClr val="808080"/>
                </a:solidFill>
                <a:highlight>
                  <a:srgbClr val="FFFFFF"/>
                </a:highlight>
              </a:rPr>
              <a:t>executie</a:t>
            </a:r>
            <a:r>
              <a:rPr lang="en-GB" sz="1600" b="0" dirty="0">
                <a:solidFill>
                  <a:srgbClr val="808080"/>
                </a:solidFill>
                <a:highlight>
                  <a:srgbClr val="FFFFFF"/>
                </a:highlight>
              </a:rPr>
              <a:t>"</a:t>
            </a:r>
            <a:r>
              <a:rPr lang="en-GB" sz="1600" b="1" dirty="0">
                <a:solidFill>
                  <a:srgbClr val="000080"/>
                </a:solidFill>
                <a:highlight>
                  <a:srgbClr val="FFFFFF"/>
                </a:highlight>
              </a:rPr>
              <a:t>);</a:t>
            </a:r>
            <a:endParaRPr lang="en-GB" sz="1600" b="0" dirty="0">
              <a:solidFill>
                <a:srgbClr val="000000"/>
              </a:solidFill>
              <a:highlight>
                <a:srgbClr val="FFFFFF"/>
              </a:highlight>
            </a:endParaRPr>
          </a:p>
          <a:p>
            <a:r>
              <a:rPr lang="en-GB" sz="1600" b="0" dirty="0">
                <a:solidFill>
                  <a:srgbClr val="000000"/>
                </a:solidFill>
                <a:highlight>
                  <a:srgbClr val="FFFFFF"/>
                </a:highlight>
              </a:rPr>
              <a:t>	</a:t>
            </a:r>
            <a:r>
              <a:rPr lang="en-GB" sz="1600" b="0" dirty="0" err="1">
                <a:solidFill>
                  <a:srgbClr val="000000"/>
                </a:solidFill>
                <a:highlight>
                  <a:srgbClr val="FFFFFF"/>
                </a:highlight>
              </a:rPr>
              <a:t>FirExecutie</a:t>
            </a:r>
            <a:r>
              <a:rPr lang="en-GB" sz="1600" b="0" dirty="0">
                <a:solidFill>
                  <a:srgbClr val="000000"/>
                </a:solidFill>
                <a:highlight>
                  <a:srgbClr val="FFFFFF"/>
                </a:highlight>
              </a:rPr>
              <a:t> fir</a:t>
            </a:r>
            <a:r>
              <a:rPr lang="en-GB" sz="1600" b="1" dirty="0">
                <a:solidFill>
                  <a:srgbClr val="000080"/>
                </a:solidFill>
                <a:highlight>
                  <a:srgbClr val="FFFFFF"/>
                </a:highlight>
              </a:rPr>
              <a:t>=</a:t>
            </a:r>
            <a:r>
              <a:rPr lang="en-GB" sz="1600" b="1" dirty="0">
                <a:solidFill>
                  <a:srgbClr val="0000FF"/>
                </a:solidFill>
                <a:highlight>
                  <a:srgbClr val="FFFFFF"/>
                </a:highlight>
              </a:rPr>
              <a:t>new</a:t>
            </a:r>
            <a:r>
              <a:rPr lang="en-GB" sz="1600" b="0" dirty="0">
                <a:solidFill>
                  <a:srgbClr val="000000"/>
                </a:solidFill>
                <a:highlight>
                  <a:srgbClr val="FFFFFF"/>
                </a:highlight>
              </a:rPr>
              <a:t> </a:t>
            </a:r>
            <a:r>
              <a:rPr lang="en-GB" sz="1600" b="0" dirty="0" err="1">
                <a:solidFill>
                  <a:srgbClr val="000000"/>
                </a:solidFill>
                <a:highlight>
                  <a:srgbClr val="FFFFFF"/>
                </a:highlight>
              </a:rPr>
              <a:t>FirExecutie</a:t>
            </a:r>
            <a:r>
              <a:rPr lang="en-GB" sz="1600" b="1" dirty="0">
                <a:solidFill>
                  <a:srgbClr val="000080"/>
                </a:solidFill>
                <a:highlight>
                  <a:srgbClr val="FFFFFF"/>
                </a:highlight>
              </a:rPr>
              <a:t>();</a:t>
            </a:r>
            <a:endParaRPr lang="en-GB" sz="1600" b="0" dirty="0">
              <a:solidFill>
                <a:srgbClr val="000000"/>
              </a:solidFill>
              <a:highlight>
                <a:srgbClr val="FFFFFF"/>
              </a:highlight>
            </a:endParaRPr>
          </a:p>
          <a:p>
            <a:r>
              <a:rPr lang="pt-BR" sz="1600" b="0" dirty="0">
                <a:solidFill>
                  <a:srgbClr val="000000"/>
                </a:solidFill>
                <a:highlight>
                  <a:srgbClr val="FFFFFF"/>
                </a:highlight>
              </a:rPr>
              <a:t>	System</a:t>
            </a:r>
            <a:r>
              <a:rPr lang="pt-BR" sz="1600" b="1" dirty="0">
                <a:solidFill>
                  <a:srgbClr val="000080"/>
                </a:solidFill>
                <a:highlight>
                  <a:srgbClr val="FFFFFF"/>
                </a:highlight>
              </a:rPr>
              <a:t>.</a:t>
            </a:r>
            <a:r>
              <a:rPr lang="pt-BR" sz="1600" b="0" dirty="0">
                <a:solidFill>
                  <a:srgbClr val="000000"/>
                </a:solidFill>
                <a:highlight>
                  <a:srgbClr val="FFFFFF"/>
                </a:highlight>
              </a:rPr>
              <a:t>out</a:t>
            </a:r>
            <a:r>
              <a:rPr lang="pt-BR" sz="1600" b="1" dirty="0">
                <a:solidFill>
                  <a:srgbClr val="000080"/>
                </a:solidFill>
                <a:highlight>
                  <a:srgbClr val="FFFFFF"/>
                </a:highlight>
              </a:rPr>
              <a:t>.</a:t>
            </a:r>
            <a:r>
              <a:rPr lang="pt-BR" sz="1600" b="0" dirty="0">
                <a:solidFill>
                  <a:srgbClr val="000000"/>
                </a:solidFill>
                <a:highlight>
                  <a:srgbClr val="FFFFFF"/>
                </a:highlight>
              </a:rPr>
              <a:t>println</a:t>
            </a:r>
            <a:r>
              <a:rPr lang="pt-BR" sz="1600" b="1" dirty="0">
                <a:solidFill>
                  <a:srgbClr val="000080"/>
                </a:solidFill>
                <a:highlight>
                  <a:srgbClr val="FFFFFF"/>
                </a:highlight>
              </a:rPr>
              <a:t>(</a:t>
            </a:r>
            <a:r>
              <a:rPr lang="pt-BR" sz="1600" b="0" dirty="0">
                <a:solidFill>
                  <a:srgbClr val="808080"/>
                </a:solidFill>
                <a:highlight>
                  <a:srgbClr val="FFFFFF"/>
                </a:highlight>
              </a:rPr>
              <a:t>"Pornim firul de executie"</a:t>
            </a:r>
            <a:r>
              <a:rPr lang="pt-BR" sz="1600" b="1" dirty="0">
                <a:solidFill>
                  <a:srgbClr val="000080"/>
                </a:solidFill>
                <a:highlight>
                  <a:srgbClr val="FFFFFF"/>
                </a:highlight>
              </a:rPr>
              <a:t>);</a:t>
            </a:r>
            <a:endParaRPr lang="pt-BR" sz="1600" b="0" dirty="0">
              <a:solidFill>
                <a:srgbClr val="000000"/>
              </a:solidFill>
              <a:highlight>
                <a:srgbClr val="FFFFFF"/>
              </a:highlight>
            </a:endParaRPr>
          </a:p>
          <a:p>
            <a:r>
              <a:rPr lang="en-GB" sz="1600" b="0" dirty="0">
                <a:solidFill>
                  <a:srgbClr val="000000"/>
                </a:solidFill>
                <a:highlight>
                  <a:srgbClr val="FFFFFF"/>
                </a:highlight>
              </a:rPr>
              <a:t>	</a:t>
            </a:r>
            <a:r>
              <a:rPr lang="en-GB" sz="1600" b="0" dirty="0" err="1">
                <a:solidFill>
                  <a:srgbClr val="000000"/>
                </a:solidFill>
                <a:highlight>
                  <a:srgbClr val="FFFFFF"/>
                </a:highlight>
              </a:rPr>
              <a:t>fir</a:t>
            </a:r>
            <a:r>
              <a:rPr lang="en-GB" sz="1600" b="1" dirty="0" err="1">
                <a:solidFill>
                  <a:srgbClr val="000080"/>
                </a:solidFill>
                <a:highlight>
                  <a:srgbClr val="FFFFFF"/>
                </a:highlight>
              </a:rPr>
              <a:t>.</a:t>
            </a:r>
            <a:r>
              <a:rPr lang="en-GB" sz="1600" b="0" dirty="0" err="1">
                <a:solidFill>
                  <a:srgbClr val="000000"/>
                </a:solidFill>
                <a:highlight>
                  <a:srgbClr val="FFFFFF"/>
                </a:highlight>
              </a:rPr>
              <a:t>start</a:t>
            </a:r>
            <a:r>
              <a:rPr lang="en-GB" sz="1600" b="1" dirty="0">
                <a:solidFill>
                  <a:srgbClr val="000080"/>
                </a:solidFill>
                <a:highlight>
                  <a:srgbClr val="FFFFFF"/>
                </a:highlight>
              </a:rPr>
              <a:t>();</a:t>
            </a:r>
            <a:endParaRPr lang="en-GB" sz="1600" b="0" dirty="0">
              <a:solidFill>
                <a:srgbClr val="000000"/>
              </a:solidFill>
              <a:highlight>
                <a:srgbClr val="FFFFFF"/>
              </a:highlight>
            </a:endParaRPr>
          </a:p>
          <a:p>
            <a:r>
              <a:rPr lang="en-GB" sz="1600" b="0" dirty="0">
                <a:solidFill>
                  <a:srgbClr val="000000"/>
                </a:solidFill>
                <a:highlight>
                  <a:srgbClr val="FFFFFF"/>
                </a:highlight>
              </a:rPr>
              <a:t>	</a:t>
            </a:r>
            <a:r>
              <a:rPr lang="en-GB" sz="1600" b="0" dirty="0" err="1">
                <a:solidFill>
                  <a:srgbClr val="000000"/>
                </a:solidFill>
                <a:highlight>
                  <a:srgbClr val="FFFFFF"/>
                </a:highlight>
              </a:rPr>
              <a:t>System</a:t>
            </a:r>
            <a:r>
              <a:rPr lang="en-GB" sz="1600" b="1" dirty="0" err="1">
                <a:solidFill>
                  <a:srgbClr val="000080"/>
                </a:solidFill>
                <a:highlight>
                  <a:srgbClr val="FFFFFF"/>
                </a:highlight>
              </a:rPr>
              <a:t>.</a:t>
            </a:r>
            <a:r>
              <a:rPr lang="en-GB" sz="1600" b="0" dirty="0" err="1">
                <a:solidFill>
                  <a:srgbClr val="000000"/>
                </a:solidFill>
                <a:highlight>
                  <a:srgbClr val="FFFFFF"/>
                </a:highlight>
              </a:rPr>
              <a:t>out</a:t>
            </a:r>
            <a:r>
              <a:rPr lang="en-GB" sz="1600" b="1" dirty="0" err="1">
                <a:solidFill>
                  <a:srgbClr val="000080"/>
                </a:solidFill>
                <a:highlight>
                  <a:srgbClr val="FFFFFF"/>
                </a:highlight>
              </a:rPr>
              <a:t>.</a:t>
            </a:r>
            <a:r>
              <a:rPr lang="en-GB" sz="1600" b="0" dirty="0" err="1">
                <a:solidFill>
                  <a:srgbClr val="000000"/>
                </a:solidFill>
                <a:highlight>
                  <a:srgbClr val="FFFFFF"/>
                </a:highlight>
              </a:rPr>
              <a:t>println</a:t>
            </a:r>
            <a:r>
              <a:rPr lang="en-GB" sz="1600" b="1" dirty="0">
                <a:solidFill>
                  <a:srgbClr val="000080"/>
                </a:solidFill>
                <a:highlight>
                  <a:srgbClr val="FFFFFF"/>
                </a:highlight>
              </a:rPr>
              <a:t>(</a:t>
            </a:r>
            <a:r>
              <a:rPr lang="en-GB" sz="1600" b="0" dirty="0">
                <a:solidFill>
                  <a:srgbClr val="808080"/>
                </a:solidFill>
                <a:highlight>
                  <a:srgbClr val="FFFFFF"/>
                </a:highlight>
              </a:rPr>
              <a:t>"</a:t>
            </a:r>
            <a:r>
              <a:rPr lang="en-GB" sz="1600" b="0" dirty="0" err="1">
                <a:solidFill>
                  <a:srgbClr val="808080"/>
                </a:solidFill>
                <a:highlight>
                  <a:srgbClr val="FFFFFF"/>
                </a:highlight>
              </a:rPr>
              <a:t>revenire</a:t>
            </a:r>
            <a:r>
              <a:rPr lang="en-GB" sz="1600" b="0" dirty="0">
                <a:solidFill>
                  <a:srgbClr val="808080"/>
                </a:solidFill>
                <a:highlight>
                  <a:srgbClr val="FFFFFF"/>
                </a:highlight>
              </a:rPr>
              <a:t> in main"</a:t>
            </a:r>
            <a:r>
              <a:rPr lang="en-GB" sz="1600" b="1" dirty="0">
                <a:solidFill>
                  <a:srgbClr val="000080"/>
                </a:solidFill>
                <a:highlight>
                  <a:srgbClr val="FFFFFF"/>
                </a:highlight>
              </a:rPr>
              <a:t>);</a:t>
            </a:r>
            <a:endParaRPr lang="en-GB" sz="1600" b="0" dirty="0">
              <a:solidFill>
                <a:srgbClr val="000000"/>
              </a:solidFill>
              <a:highlight>
                <a:srgbClr val="FFFFFF"/>
              </a:highlight>
            </a:endParaRPr>
          </a:p>
          <a:p>
            <a:r>
              <a:rPr lang="en-GB" sz="1600" b="0" dirty="0">
                <a:solidFill>
                  <a:srgbClr val="000000"/>
                </a:solidFill>
                <a:highlight>
                  <a:srgbClr val="FFFFFF"/>
                </a:highlight>
              </a:rPr>
              <a:t>	</a:t>
            </a:r>
            <a:r>
              <a:rPr lang="en-GB" sz="1600" b="1" dirty="0">
                <a:solidFill>
                  <a:srgbClr val="000080"/>
                </a:solidFill>
                <a:highlight>
                  <a:srgbClr val="FFFFFF"/>
                </a:highlight>
              </a:rPr>
              <a:t>}</a:t>
            </a:r>
            <a:endParaRPr lang="en-GB" sz="1600" b="0" dirty="0">
              <a:solidFill>
                <a:srgbClr val="000000"/>
              </a:solidFill>
              <a:highlight>
                <a:srgbClr val="FFFFFF"/>
              </a:highlight>
            </a:endParaRPr>
          </a:p>
          <a:p>
            <a:r>
              <a:rPr lang="en-GB" sz="1600" b="1" dirty="0">
                <a:solidFill>
                  <a:srgbClr val="000080"/>
                </a:solidFill>
                <a:highlight>
                  <a:srgbClr val="FFFFFF"/>
                </a:highlight>
              </a:rPr>
              <a:t>}</a:t>
            </a:r>
            <a:endParaRPr lang="en-GB" sz="1600" b="0" dirty="0">
              <a:solidFill>
                <a:srgbClr val="000000"/>
              </a:solidFill>
              <a:highlight>
                <a:srgbClr val="FFFFFF"/>
              </a:highlight>
            </a:endParaRPr>
          </a:p>
          <a:p>
            <a:endParaRPr lang="ro-RO" sz="1600" dirty="0"/>
          </a:p>
        </p:txBody>
      </p:sp>
      <p:sp>
        <p:nvSpPr>
          <p:cNvPr id="5" name="Rectangle 4"/>
          <p:cNvSpPr/>
          <p:nvPr/>
        </p:nvSpPr>
        <p:spPr>
          <a:xfrm>
            <a:off x="5325910" y="5738856"/>
            <a:ext cx="6096000" cy="646331"/>
          </a:xfrm>
          <a:prstGeom prst="rect">
            <a:avLst/>
          </a:prstGeom>
        </p:spPr>
        <p:txBody>
          <a:bodyPr>
            <a:spAutoFit/>
          </a:bodyPr>
          <a:lstStyle/>
          <a:p>
            <a:r>
              <a:rPr lang="ro-RO" dirty="0"/>
              <a:t>Metoda start, predefinită în obiectul Thread lansează execuţia propriu-zisă a firului.</a:t>
            </a:r>
          </a:p>
        </p:txBody>
      </p:sp>
      <p:sp>
        <p:nvSpPr>
          <p:cNvPr id="7" name="TextBox 6">
            <a:extLst>
              <a:ext uri="{FF2B5EF4-FFF2-40B4-BE49-F238E27FC236}">
                <a16:creationId xmlns:a16="http://schemas.microsoft.com/office/drawing/2014/main" id="{CB41C31F-65E5-AFA9-CBEF-9C04B509FD0C}"/>
              </a:ext>
            </a:extLst>
          </p:cNvPr>
          <p:cNvSpPr txBox="1"/>
          <p:nvPr/>
        </p:nvSpPr>
        <p:spPr>
          <a:xfrm>
            <a:off x="312302" y="2146751"/>
            <a:ext cx="6338870" cy="2862322"/>
          </a:xfrm>
          <a:prstGeom prst="rect">
            <a:avLst/>
          </a:prstGeom>
          <a:noFill/>
        </p:spPr>
        <p:txBody>
          <a:bodyPr wrap="square">
            <a:spAutoFit/>
          </a:bodyPr>
          <a:lstStyle/>
          <a:p>
            <a:r>
              <a:rPr lang="en-GB" dirty="0">
                <a:solidFill>
                  <a:srgbClr val="8000FF"/>
                </a:solidFill>
                <a:highlight>
                  <a:srgbClr val="FFFFFF"/>
                </a:highlight>
              </a:rPr>
              <a:t>class</a:t>
            </a:r>
            <a:r>
              <a:rPr lang="en-GB" dirty="0">
                <a:solidFill>
                  <a:srgbClr val="000000"/>
                </a:solidFill>
                <a:highlight>
                  <a:srgbClr val="FFFFFF"/>
                </a:highlight>
              </a:rPr>
              <a:t> </a:t>
            </a:r>
            <a:r>
              <a:rPr lang="en-GB" dirty="0" err="1">
                <a:solidFill>
                  <a:srgbClr val="000000"/>
                </a:solidFill>
                <a:highlight>
                  <a:srgbClr val="FFFFFF"/>
                </a:highlight>
              </a:rPr>
              <a:t>FirExecutie</a:t>
            </a:r>
            <a:r>
              <a:rPr lang="en-GB" dirty="0">
                <a:solidFill>
                  <a:srgbClr val="000000"/>
                </a:solidFill>
                <a:highlight>
                  <a:srgbClr val="FFFFFF"/>
                </a:highlight>
              </a:rPr>
              <a:t> </a:t>
            </a:r>
            <a:r>
              <a:rPr lang="en-GB" b="1" dirty="0">
                <a:solidFill>
                  <a:srgbClr val="0000FF"/>
                </a:solidFill>
                <a:highlight>
                  <a:srgbClr val="FFFFFF"/>
                </a:highlight>
              </a:rPr>
              <a:t>extends</a:t>
            </a:r>
            <a:r>
              <a:rPr lang="en-GB" b="0" dirty="0">
                <a:solidFill>
                  <a:srgbClr val="000000"/>
                </a:solidFill>
                <a:highlight>
                  <a:srgbClr val="FFFFFF"/>
                </a:highlight>
              </a:rPr>
              <a:t> Thread </a:t>
            </a:r>
            <a:r>
              <a:rPr lang="en-GB" b="1" dirty="0">
                <a:solidFill>
                  <a:srgbClr val="000080"/>
                </a:solidFill>
                <a:highlight>
                  <a:srgbClr val="FFFFFF"/>
                </a:highlight>
              </a:rPr>
              <a:t>{</a:t>
            </a:r>
            <a:endParaRPr lang="en-GB" b="0" dirty="0">
              <a:solidFill>
                <a:srgbClr val="000000"/>
              </a:solidFill>
              <a:highlight>
                <a:srgbClr val="FFFFFF"/>
              </a:highlight>
            </a:endParaRPr>
          </a:p>
          <a:p>
            <a:r>
              <a:rPr lang="en-GB" b="0" dirty="0">
                <a:solidFill>
                  <a:srgbClr val="8000FF"/>
                </a:solidFill>
                <a:highlight>
                  <a:srgbClr val="FFFFFF"/>
                </a:highlight>
              </a:rPr>
              <a:t>public</a:t>
            </a:r>
            <a:r>
              <a:rPr lang="en-GB" b="0" dirty="0">
                <a:solidFill>
                  <a:srgbClr val="000000"/>
                </a:solidFill>
                <a:highlight>
                  <a:srgbClr val="FFFFFF"/>
                </a:highlight>
              </a:rPr>
              <a:t> </a:t>
            </a:r>
            <a:r>
              <a:rPr lang="en-GB" b="0" dirty="0">
                <a:solidFill>
                  <a:srgbClr val="8000FF"/>
                </a:solidFill>
                <a:highlight>
                  <a:srgbClr val="FFFFFF"/>
                </a:highlight>
              </a:rPr>
              <a:t>void</a:t>
            </a:r>
            <a:r>
              <a:rPr lang="en-GB" b="0" dirty="0">
                <a:solidFill>
                  <a:srgbClr val="000000"/>
                </a:solidFill>
                <a:highlight>
                  <a:srgbClr val="FFFFFF"/>
                </a:highlight>
              </a:rPr>
              <a:t> run</a:t>
            </a:r>
            <a:r>
              <a:rPr lang="en-GB" b="1" dirty="0">
                <a:solidFill>
                  <a:srgbClr val="000080"/>
                </a:solidFill>
                <a:highlight>
                  <a:srgbClr val="FFFFFF"/>
                </a:highlight>
              </a:rPr>
              <a:t>()</a:t>
            </a:r>
            <a:r>
              <a:rPr lang="en-GB" b="0" dirty="0">
                <a:solidFill>
                  <a:srgbClr val="000000"/>
                </a:solidFill>
                <a:highlight>
                  <a:srgbClr val="FFFFFF"/>
                </a:highlight>
              </a:rPr>
              <a:t> </a:t>
            </a:r>
            <a:r>
              <a:rPr lang="en-GB" b="1" dirty="0">
                <a:solidFill>
                  <a:srgbClr val="000080"/>
                </a:solidFill>
                <a:highlight>
                  <a:srgbClr val="FFFFFF"/>
                </a:highlight>
              </a:rPr>
              <a:t>{</a:t>
            </a:r>
            <a:endParaRPr lang="en-GB" b="0" dirty="0">
              <a:solidFill>
                <a:srgbClr val="000000"/>
              </a:solidFill>
              <a:highlight>
                <a:srgbClr val="FFFFFF"/>
              </a:highlight>
            </a:endParaRPr>
          </a:p>
          <a:p>
            <a:r>
              <a:rPr lang="en-GB" b="0" dirty="0">
                <a:solidFill>
                  <a:srgbClr val="000000"/>
                </a:solidFill>
                <a:highlight>
                  <a:srgbClr val="FFFFFF"/>
                </a:highlight>
              </a:rPr>
              <a:t>	</a:t>
            </a:r>
            <a:r>
              <a:rPr lang="en-GB" b="0" dirty="0">
                <a:solidFill>
                  <a:srgbClr val="8000FF"/>
                </a:solidFill>
                <a:highlight>
                  <a:srgbClr val="FFFFFF"/>
                </a:highlight>
              </a:rPr>
              <a:t>int</a:t>
            </a:r>
            <a:r>
              <a:rPr lang="en-GB" b="0" dirty="0">
                <a:solidFill>
                  <a:srgbClr val="000000"/>
                </a:solidFill>
                <a:highlight>
                  <a:srgbClr val="FFFFFF"/>
                </a:highlight>
              </a:rPr>
              <a:t> </a:t>
            </a:r>
            <a:r>
              <a:rPr lang="en-GB" b="0" dirty="0" err="1">
                <a:solidFill>
                  <a:srgbClr val="000000"/>
                </a:solidFill>
                <a:highlight>
                  <a:srgbClr val="FFFFFF"/>
                </a:highlight>
              </a:rPr>
              <a:t>numar</a:t>
            </a:r>
            <a:r>
              <a:rPr lang="en-GB" b="0" dirty="0">
                <a:solidFill>
                  <a:srgbClr val="000000"/>
                </a:solidFill>
                <a:highlight>
                  <a:srgbClr val="FFFFFF"/>
                </a:highlight>
              </a:rPr>
              <a:t> </a:t>
            </a:r>
            <a:r>
              <a:rPr lang="en-GB" b="1" dirty="0">
                <a:solidFill>
                  <a:srgbClr val="000080"/>
                </a:solidFill>
                <a:highlight>
                  <a:srgbClr val="FFFFFF"/>
                </a:highlight>
              </a:rPr>
              <a:t>=</a:t>
            </a:r>
            <a:r>
              <a:rPr lang="en-GB" b="0" dirty="0">
                <a:solidFill>
                  <a:srgbClr val="000000"/>
                </a:solidFill>
                <a:highlight>
                  <a:srgbClr val="FFFFFF"/>
                </a:highlight>
              </a:rPr>
              <a:t> </a:t>
            </a:r>
            <a:r>
              <a:rPr lang="en-GB" b="0" dirty="0">
                <a:solidFill>
                  <a:srgbClr val="FF8000"/>
                </a:solidFill>
                <a:highlight>
                  <a:srgbClr val="FFFFFF"/>
                </a:highlight>
              </a:rPr>
              <a:t>5</a:t>
            </a:r>
            <a:r>
              <a:rPr lang="en-GB" b="1" dirty="0">
                <a:solidFill>
                  <a:srgbClr val="000080"/>
                </a:solidFill>
                <a:highlight>
                  <a:srgbClr val="FFFFFF"/>
                </a:highlight>
              </a:rPr>
              <a:t>;</a:t>
            </a:r>
            <a:endParaRPr lang="en-GB" b="0" dirty="0">
              <a:solidFill>
                <a:srgbClr val="000000"/>
              </a:solidFill>
              <a:highlight>
                <a:srgbClr val="FFFFFF"/>
              </a:highlight>
            </a:endParaRPr>
          </a:p>
          <a:p>
            <a:r>
              <a:rPr lang="pt-BR" b="0" dirty="0">
                <a:solidFill>
                  <a:srgbClr val="000000"/>
                </a:solidFill>
                <a:highlight>
                  <a:srgbClr val="FFFFFF"/>
                </a:highlight>
              </a:rPr>
              <a:t>	System</a:t>
            </a:r>
            <a:r>
              <a:rPr lang="pt-BR" b="1" dirty="0">
                <a:solidFill>
                  <a:srgbClr val="000080"/>
                </a:solidFill>
                <a:highlight>
                  <a:srgbClr val="FFFFFF"/>
                </a:highlight>
              </a:rPr>
              <a:t>.</a:t>
            </a:r>
            <a:r>
              <a:rPr lang="pt-BR" b="0" dirty="0">
                <a:solidFill>
                  <a:srgbClr val="000000"/>
                </a:solidFill>
                <a:highlight>
                  <a:srgbClr val="FFFFFF"/>
                </a:highlight>
              </a:rPr>
              <a:t>out</a:t>
            </a:r>
            <a:r>
              <a:rPr lang="pt-BR" b="1" dirty="0">
                <a:solidFill>
                  <a:srgbClr val="000080"/>
                </a:solidFill>
                <a:highlight>
                  <a:srgbClr val="FFFFFF"/>
                </a:highlight>
              </a:rPr>
              <a:t>.</a:t>
            </a:r>
            <a:r>
              <a:rPr lang="pt-BR" b="0" dirty="0">
                <a:solidFill>
                  <a:srgbClr val="000000"/>
                </a:solidFill>
                <a:highlight>
                  <a:srgbClr val="FFFFFF"/>
                </a:highlight>
              </a:rPr>
              <a:t>println</a:t>
            </a:r>
            <a:r>
              <a:rPr lang="pt-BR" b="1" dirty="0">
                <a:solidFill>
                  <a:srgbClr val="000080"/>
                </a:solidFill>
                <a:highlight>
                  <a:srgbClr val="FFFFFF"/>
                </a:highlight>
              </a:rPr>
              <a:t>(</a:t>
            </a:r>
            <a:r>
              <a:rPr lang="pt-BR" b="0" dirty="0">
                <a:solidFill>
                  <a:srgbClr val="808080"/>
                </a:solidFill>
                <a:highlight>
                  <a:srgbClr val="FFFFFF"/>
                </a:highlight>
              </a:rPr>
              <a:t>"Run se executa de "</a:t>
            </a:r>
            <a:r>
              <a:rPr lang="pt-BR" b="1" dirty="0">
                <a:solidFill>
                  <a:srgbClr val="000080"/>
                </a:solidFill>
                <a:highlight>
                  <a:srgbClr val="FFFFFF"/>
                </a:highlight>
              </a:rPr>
              <a:t>+</a:t>
            </a:r>
            <a:r>
              <a:rPr lang="pt-BR" b="0" dirty="0">
                <a:solidFill>
                  <a:srgbClr val="000000"/>
                </a:solidFill>
                <a:highlight>
                  <a:srgbClr val="FFFFFF"/>
                </a:highlight>
              </a:rPr>
              <a:t>numar </a:t>
            </a:r>
            <a:r>
              <a:rPr lang="pt-BR" b="1" dirty="0">
                <a:solidFill>
                  <a:srgbClr val="000080"/>
                </a:solidFill>
                <a:highlight>
                  <a:srgbClr val="FFFFFF"/>
                </a:highlight>
              </a:rPr>
              <a:t>+</a:t>
            </a:r>
            <a:r>
              <a:rPr lang="pt-BR" b="0" dirty="0">
                <a:solidFill>
                  <a:srgbClr val="808080"/>
                </a:solidFill>
                <a:highlight>
                  <a:srgbClr val="FFFFFF"/>
                </a:highlight>
              </a:rPr>
              <a:t>" ori"</a:t>
            </a:r>
            <a:r>
              <a:rPr lang="pt-BR" b="1" dirty="0">
                <a:solidFill>
                  <a:srgbClr val="000080"/>
                </a:solidFill>
                <a:highlight>
                  <a:srgbClr val="FFFFFF"/>
                </a:highlight>
              </a:rPr>
              <a:t>);</a:t>
            </a:r>
            <a:endParaRPr lang="pt-BR" b="0" dirty="0">
              <a:solidFill>
                <a:srgbClr val="000000"/>
              </a:solidFill>
              <a:highlight>
                <a:srgbClr val="FFFFFF"/>
              </a:highlight>
            </a:endParaRPr>
          </a:p>
          <a:p>
            <a:r>
              <a:rPr lang="en-GB" b="0" dirty="0">
                <a:solidFill>
                  <a:srgbClr val="000000"/>
                </a:solidFill>
                <a:highlight>
                  <a:srgbClr val="FFFFFF"/>
                </a:highlight>
              </a:rPr>
              <a:t>	</a:t>
            </a:r>
            <a:r>
              <a:rPr lang="en-GB" b="1" dirty="0">
                <a:solidFill>
                  <a:srgbClr val="0000FF"/>
                </a:solidFill>
                <a:highlight>
                  <a:srgbClr val="FFFFFF"/>
                </a:highlight>
              </a:rPr>
              <a:t>for</a:t>
            </a:r>
            <a:r>
              <a:rPr lang="en-GB" b="0" dirty="0">
                <a:solidFill>
                  <a:srgbClr val="000000"/>
                </a:solidFill>
                <a:highlight>
                  <a:srgbClr val="FFFFFF"/>
                </a:highlight>
              </a:rPr>
              <a:t> </a:t>
            </a:r>
            <a:r>
              <a:rPr lang="en-GB" b="1" dirty="0">
                <a:solidFill>
                  <a:srgbClr val="000080"/>
                </a:solidFill>
                <a:highlight>
                  <a:srgbClr val="FFFFFF"/>
                </a:highlight>
              </a:rPr>
              <a:t>(</a:t>
            </a:r>
            <a:r>
              <a:rPr lang="en-GB" b="0" dirty="0">
                <a:solidFill>
                  <a:srgbClr val="8000FF"/>
                </a:solidFill>
                <a:highlight>
                  <a:srgbClr val="FFFFFF"/>
                </a:highlight>
              </a:rPr>
              <a:t>int</a:t>
            </a:r>
            <a:r>
              <a:rPr lang="en-GB" b="0" dirty="0">
                <a:solidFill>
                  <a:srgbClr val="000000"/>
                </a:solidFill>
                <a:highlight>
                  <a:srgbClr val="FFFFFF"/>
                </a:highlight>
              </a:rPr>
              <a:t> </a:t>
            </a:r>
            <a:r>
              <a:rPr lang="en-GB" b="0" dirty="0" err="1">
                <a:solidFill>
                  <a:srgbClr val="000000"/>
                </a:solidFill>
                <a:highlight>
                  <a:srgbClr val="FFFFFF"/>
                </a:highlight>
              </a:rPr>
              <a:t>i</a:t>
            </a:r>
            <a:r>
              <a:rPr lang="en-GB" b="1" dirty="0">
                <a:solidFill>
                  <a:srgbClr val="000080"/>
                </a:solidFill>
                <a:highlight>
                  <a:srgbClr val="FFFFFF"/>
                </a:highlight>
              </a:rPr>
              <a:t>=</a:t>
            </a:r>
            <a:r>
              <a:rPr lang="en-GB" b="0" dirty="0">
                <a:solidFill>
                  <a:srgbClr val="FF8000"/>
                </a:solidFill>
                <a:highlight>
                  <a:srgbClr val="FFFFFF"/>
                </a:highlight>
              </a:rPr>
              <a:t>1</a:t>
            </a:r>
            <a:r>
              <a:rPr lang="en-GB" b="1" dirty="0">
                <a:solidFill>
                  <a:srgbClr val="000080"/>
                </a:solidFill>
                <a:highlight>
                  <a:srgbClr val="FFFFFF"/>
                </a:highlight>
              </a:rPr>
              <a:t>;</a:t>
            </a:r>
            <a:r>
              <a:rPr lang="en-GB" b="0" dirty="0">
                <a:solidFill>
                  <a:srgbClr val="000000"/>
                </a:solidFill>
                <a:highlight>
                  <a:srgbClr val="FFFFFF"/>
                </a:highlight>
              </a:rPr>
              <a:t>i</a:t>
            </a:r>
            <a:r>
              <a:rPr lang="en-GB" b="1" dirty="0">
                <a:solidFill>
                  <a:srgbClr val="000080"/>
                </a:solidFill>
                <a:highlight>
                  <a:srgbClr val="FFFFFF"/>
                </a:highlight>
              </a:rPr>
              <a:t>&lt;=</a:t>
            </a:r>
            <a:r>
              <a:rPr lang="en-GB" b="0" dirty="0" err="1">
                <a:solidFill>
                  <a:srgbClr val="000000"/>
                </a:solidFill>
                <a:highlight>
                  <a:srgbClr val="FFFFFF"/>
                </a:highlight>
              </a:rPr>
              <a:t>numar</a:t>
            </a:r>
            <a:r>
              <a:rPr lang="en-GB" b="1" dirty="0" err="1">
                <a:solidFill>
                  <a:srgbClr val="000080"/>
                </a:solidFill>
                <a:highlight>
                  <a:srgbClr val="FFFFFF"/>
                </a:highlight>
              </a:rPr>
              <a:t>;</a:t>
            </a:r>
            <a:r>
              <a:rPr lang="en-GB" b="0" dirty="0" err="1">
                <a:solidFill>
                  <a:srgbClr val="000000"/>
                </a:solidFill>
                <a:highlight>
                  <a:srgbClr val="FFFFFF"/>
                </a:highlight>
              </a:rPr>
              <a:t>i</a:t>
            </a:r>
            <a:r>
              <a:rPr lang="en-GB" b="1" dirty="0">
                <a:solidFill>
                  <a:srgbClr val="000080"/>
                </a:solidFill>
                <a:highlight>
                  <a:srgbClr val="FFFFFF"/>
                </a:highlight>
              </a:rPr>
              <a:t>++)</a:t>
            </a:r>
            <a:endParaRPr lang="en-GB" b="0" dirty="0">
              <a:solidFill>
                <a:srgbClr val="000000"/>
              </a:solidFill>
              <a:highlight>
                <a:srgbClr val="FFFFFF"/>
              </a:highlight>
            </a:endParaRPr>
          </a:p>
          <a:p>
            <a:r>
              <a:rPr lang="en-GB" b="0" dirty="0">
                <a:solidFill>
                  <a:srgbClr val="000000"/>
                </a:solidFill>
                <a:highlight>
                  <a:srgbClr val="FFFFFF"/>
                </a:highlight>
              </a:rPr>
              <a:t>	</a:t>
            </a:r>
            <a:r>
              <a:rPr lang="en-GB" b="0" dirty="0" err="1">
                <a:solidFill>
                  <a:srgbClr val="000000"/>
                </a:solidFill>
                <a:highlight>
                  <a:srgbClr val="FFFFFF"/>
                </a:highlight>
              </a:rPr>
              <a:t>System</a:t>
            </a:r>
            <a:r>
              <a:rPr lang="en-GB" b="1" dirty="0" err="1">
                <a:solidFill>
                  <a:srgbClr val="000080"/>
                </a:solidFill>
                <a:highlight>
                  <a:srgbClr val="FFFFFF"/>
                </a:highlight>
              </a:rPr>
              <a:t>.</a:t>
            </a:r>
            <a:r>
              <a:rPr lang="en-GB" b="0" dirty="0" err="1">
                <a:solidFill>
                  <a:srgbClr val="000000"/>
                </a:solidFill>
                <a:highlight>
                  <a:srgbClr val="FFFFFF"/>
                </a:highlight>
              </a:rPr>
              <a:t>out</a:t>
            </a:r>
            <a:r>
              <a:rPr lang="en-GB" b="1" dirty="0" err="1">
                <a:solidFill>
                  <a:srgbClr val="000080"/>
                </a:solidFill>
                <a:highlight>
                  <a:srgbClr val="FFFFFF"/>
                </a:highlight>
              </a:rPr>
              <a:t>.</a:t>
            </a:r>
            <a:r>
              <a:rPr lang="en-GB" b="0" dirty="0" err="1">
                <a:solidFill>
                  <a:srgbClr val="000000"/>
                </a:solidFill>
                <a:highlight>
                  <a:srgbClr val="FFFFFF"/>
                </a:highlight>
              </a:rPr>
              <a:t>println</a:t>
            </a:r>
            <a:r>
              <a:rPr lang="en-GB" b="1" dirty="0">
                <a:solidFill>
                  <a:srgbClr val="000080"/>
                </a:solidFill>
                <a:highlight>
                  <a:srgbClr val="FFFFFF"/>
                </a:highlight>
              </a:rPr>
              <a:t>(</a:t>
            </a:r>
            <a:r>
              <a:rPr lang="en-GB" b="0" dirty="0">
                <a:solidFill>
                  <a:srgbClr val="808080"/>
                </a:solidFill>
                <a:highlight>
                  <a:srgbClr val="FFFFFF"/>
                </a:highlight>
              </a:rPr>
              <a:t>"Pasul "</a:t>
            </a:r>
            <a:r>
              <a:rPr lang="en-GB" b="1" dirty="0">
                <a:solidFill>
                  <a:srgbClr val="000080"/>
                </a:solidFill>
                <a:highlight>
                  <a:srgbClr val="FFFFFF"/>
                </a:highlight>
              </a:rPr>
              <a:t>+</a:t>
            </a:r>
            <a:r>
              <a:rPr lang="en-GB" b="0" dirty="0" err="1">
                <a:solidFill>
                  <a:srgbClr val="000000"/>
                </a:solidFill>
                <a:highlight>
                  <a:srgbClr val="FFFFFF"/>
                </a:highlight>
              </a:rPr>
              <a:t>i</a:t>
            </a:r>
            <a:r>
              <a:rPr lang="en-GB" b="1" dirty="0">
                <a:solidFill>
                  <a:srgbClr val="000080"/>
                </a:solidFill>
                <a:highlight>
                  <a:srgbClr val="FFFFFF"/>
                </a:highlight>
              </a:rPr>
              <a:t>);</a:t>
            </a:r>
            <a:endParaRPr lang="en-GB" b="0" dirty="0">
              <a:solidFill>
                <a:srgbClr val="000000"/>
              </a:solidFill>
              <a:highlight>
                <a:srgbClr val="FFFFFF"/>
              </a:highlight>
            </a:endParaRPr>
          </a:p>
          <a:p>
            <a:r>
              <a:rPr lang="en-GB" b="0" dirty="0">
                <a:solidFill>
                  <a:srgbClr val="000000"/>
                </a:solidFill>
                <a:highlight>
                  <a:srgbClr val="FFFFFF"/>
                </a:highlight>
              </a:rPr>
              <a:t>	</a:t>
            </a:r>
            <a:r>
              <a:rPr lang="en-GB" b="0" dirty="0" err="1">
                <a:solidFill>
                  <a:srgbClr val="000000"/>
                </a:solidFill>
                <a:highlight>
                  <a:srgbClr val="FFFFFF"/>
                </a:highlight>
              </a:rPr>
              <a:t>System</a:t>
            </a:r>
            <a:r>
              <a:rPr lang="en-GB" b="1" dirty="0" err="1">
                <a:solidFill>
                  <a:srgbClr val="000080"/>
                </a:solidFill>
                <a:highlight>
                  <a:srgbClr val="FFFFFF"/>
                </a:highlight>
              </a:rPr>
              <a:t>.</a:t>
            </a:r>
            <a:r>
              <a:rPr lang="en-GB" b="0" dirty="0" err="1">
                <a:solidFill>
                  <a:srgbClr val="000000"/>
                </a:solidFill>
                <a:highlight>
                  <a:srgbClr val="FFFFFF"/>
                </a:highlight>
              </a:rPr>
              <a:t>out</a:t>
            </a:r>
            <a:r>
              <a:rPr lang="en-GB" b="1" dirty="0" err="1">
                <a:solidFill>
                  <a:srgbClr val="000080"/>
                </a:solidFill>
                <a:highlight>
                  <a:srgbClr val="FFFFFF"/>
                </a:highlight>
              </a:rPr>
              <a:t>.</a:t>
            </a:r>
            <a:r>
              <a:rPr lang="en-GB" b="0" dirty="0" err="1">
                <a:solidFill>
                  <a:srgbClr val="000000"/>
                </a:solidFill>
                <a:highlight>
                  <a:srgbClr val="FFFFFF"/>
                </a:highlight>
              </a:rPr>
              <a:t>println</a:t>
            </a:r>
            <a:r>
              <a:rPr lang="en-GB" b="1" dirty="0">
                <a:solidFill>
                  <a:srgbClr val="000080"/>
                </a:solidFill>
                <a:highlight>
                  <a:srgbClr val="FFFFFF"/>
                </a:highlight>
              </a:rPr>
              <a:t>(</a:t>
            </a:r>
            <a:r>
              <a:rPr lang="en-GB" b="0" dirty="0">
                <a:solidFill>
                  <a:srgbClr val="808080"/>
                </a:solidFill>
                <a:highlight>
                  <a:srgbClr val="FFFFFF"/>
                </a:highlight>
              </a:rPr>
              <a:t>"</a:t>
            </a:r>
            <a:r>
              <a:rPr lang="en-GB" b="0" dirty="0" err="1">
                <a:solidFill>
                  <a:srgbClr val="808080"/>
                </a:solidFill>
                <a:highlight>
                  <a:srgbClr val="FFFFFF"/>
                </a:highlight>
              </a:rPr>
              <a:t>Metoda</a:t>
            </a:r>
            <a:r>
              <a:rPr lang="en-GB" b="0" dirty="0">
                <a:solidFill>
                  <a:srgbClr val="808080"/>
                </a:solidFill>
                <a:highlight>
                  <a:srgbClr val="FFFFFF"/>
                </a:highlight>
              </a:rPr>
              <a:t> un s-a </a:t>
            </a:r>
            <a:r>
              <a:rPr lang="en-GB" b="0" dirty="0" err="1">
                <a:solidFill>
                  <a:srgbClr val="808080"/>
                </a:solidFill>
                <a:highlight>
                  <a:srgbClr val="FFFFFF"/>
                </a:highlight>
              </a:rPr>
              <a:t>incheiat</a:t>
            </a:r>
            <a:r>
              <a:rPr lang="en-GB" b="0" dirty="0">
                <a:solidFill>
                  <a:srgbClr val="808080"/>
                </a:solidFill>
                <a:highlight>
                  <a:srgbClr val="FFFFFF"/>
                </a:highlight>
              </a:rPr>
              <a:t>"</a:t>
            </a:r>
            <a:r>
              <a:rPr lang="en-GB" b="1" dirty="0">
                <a:solidFill>
                  <a:srgbClr val="000080"/>
                </a:solidFill>
                <a:highlight>
                  <a:srgbClr val="FFFFFF"/>
                </a:highlight>
              </a:rPr>
              <a:t>);</a:t>
            </a:r>
            <a:endParaRPr lang="en-GB" b="0" dirty="0">
              <a:solidFill>
                <a:srgbClr val="000000"/>
              </a:solidFill>
              <a:highlight>
                <a:srgbClr val="FFFFFF"/>
              </a:highlight>
            </a:endParaRPr>
          </a:p>
          <a:p>
            <a:r>
              <a:rPr lang="en-GB" b="0" dirty="0">
                <a:solidFill>
                  <a:srgbClr val="000000"/>
                </a:solidFill>
                <a:highlight>
                  <a:srgbClr val="FFFFFF"/>
                </a:highlight>
              </a:rPr>
              <a:t>	</a:t>
            </a:r>
            <a:r>
              <a:rPr lang="en-GB" b="1" dirty="0">
                <a:solidFill>
                  <a:srgbClr val="000080"/>
                </a:solidFill>
                <a:highlight>
                  <a:srgbClr val="FFFFFF"/>
                </a:highlight>
              </a:rPr>
              <a:t>}</a:t>
            </a:r>
            <a:endParaRPr lang="en-GB" b="0" dirty="0">
              <a:solidFill>
                <a:srgbClr val="000000"/>
              </a:solidFill>
              <a:highlight>
                <a:srgbClr val="FFFFFF"/>
              </a:highlight>
            </a:endParaRPr>
          </a:p>
          <a:p>
            <a:r>
              <a:rPr lang="en-GB" b="1" dirty="0">
                <a:solidFill>
                  <a:srgbClr val="000080"/>
                </a:solidFill>
                <a:highlight>
                  <a:srgbClr val="FFFFFF"/>
                </a:highlight>
              </a:rPr>
              <a:t>}</a:t>
            </a:r>
            <a:endParaRPr lang="en-GB" b="0" dirty="0">
              <a:solidFill>
                <a:srgbClr val="000000"/>
              </a:solidFill>
              <a:highlight>
                <a:srgbClr val="FFFFFF"/>
              </a:highlight>
            </a:endParaRPr>
          </a:p>
        </p:txBody>
      </p:sp>
    </p:spTree>
    <p:extLst>
      <p:ext uri="{BB962C8B-B14F-4D97-AF65-F5344CB8AC3E}">
        <p14:creationId xmlns:p14="http://schemas.microsoft.com/office/powerpoint/2010/main" val="4162920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867" y="228938"/>
            <a:ext cx="12031133" cy="1108795"/>
          </a:xfrm>
        </p:spPr>
        <p:txBody>
          <a:bodyPr/>
          <a:lstStyle/>
          <a:p>
            <a:r>
              <a:rPr lang="ro-RO" dirty="0"/>
              <a:t>Creare prin implementare interfața </a:t>
            </a:r>
            <a:r>
              <a:rPr lang="ro-RO" dirty="0" err="1"/>
              <a:t>Runnable</a:t>
            </a:r>
            <a:endParaRPr lang="ro-RO" dirty="0"/>
          </a:p>
        </p:txBody>
      </p:sp>
      <p:sp>
        <p:nvSpPr>
          <p:cNvPr id="3" name="Content Placeholder 2"/>
          <p:cNvSpPr>
            <a:spLocks noGrp="1"/>
          </p:cNvSpPr>
          <p:nvPr>
            <p:ph idx="1"/>
          </p:nvPr>
        </p:nvSpPr>
        <p:spPr>
          <a:xfrm>
            <a:off x="438253" y="1679695"/>
            <a:ext cx="10058400" cy="4023360"/>
          </a:xfrm>
        </p:spPr>
        <p:txBody>
          <a:bodyPr>
            <a:normAutofit fontScale="92500" lnSpcReduction="10000"/>
          </a:bodyPr>
          <a:lstStyle/>
          <a:p>
            <a:pPr>
              <a:spcBef>
                <a:spcPts val="0"/>
              </a:spcBef>
            </a:pPr>
            <a:r>
              <a:rPr lang="ro-RO" dirty="0"/>
              <a:t>A doua cale de </a:t>
            </a:r>
            <a:r>
              <a:rPr lang="ro-RO" dirty="0" err="1"/>
              <a:t>definiţie</a:t>
            </a:r>
            <a:r>
              <a:rPr lang="ro-RO" dirty="0"/>
              <a:t> a unui fir de </a:t>
            </a:r>
            <a:r>
              <a:rPr lang="ro-RO" dirty="0" err="1"/>
              <a:t>execuţie</a:t>
            </a:r>
            <a:r>
              <a:rPr lang="ro-RO" dirty="0"/>
              <a:t> este implementarea </a:t>
            </a:r>
            <a:r>
              <a:rPr lang="ro-RO" dirty="0" err="1"/>
              <a:t>interfeţei</a:t>
            </a:r>
            <a:r>
              <a:rPr lang="ro-RO" dirty="0"/>
              <a:t> </a:t>
            </a:r>
            <a:r>
              <a:rPr lang="ro-RO" dirty="0" err="1"/>
              <a:t>Runnable</a:t>
            </a:r>
            <a:r>
              <a:rPr lang="ro-RO" dirty="0"/>
              <a:t> într-o anumită clasă de obiecte. </a:t>
            </a:r>
          </a:p>
          <a:p>
            <a:pPr>
              <a:spcBef>
                <a:spcPts val="0"/>
              </a:spcBef>
            </a:pPr>
            <a:r>
              <a:rPr lang="ro-RO" dirty="0"/>
              <a:t>Această cale este cea care trebuie aleasă atunci când clasa pe care o creăm nu se poate deriva din clasa </a:t>
            </a:r>
            <a:r>
              <a:rPr lang="ro-RO" dirty="0" err="1"/>
              <a:t>Thread</a:t>
            </a:r>
            <a:r>
              <a:rPr lang="ro-RO" dirty="0"/>
              <a:t> pentru că este important să fie derivată din altă clasă. </a:t>
            </a:r>
          </a:p>
          <a:p>
            <a:pPr>
              <a:spcBef>
                <a:spcPts val="0"/>
              </a:spcBef>
            </a:pPr>
            <a:r>
              <a:rPr lang="ro-RO" dirty="0" err="1">
                <a:solidFill>
                  <a:srgbClr val="FF0000"/>
                </a:solidFill>
              </a:rPr>
              <a:t>class</a:t>
            </a:r>
            <a:r>
              <a:rPr lang="ro-RO" dirty="0">
                <a:solidFill>
                  <a:srgbClr val="FF0000"/>
                </a:solidFill>
              </a:rPr>
              <a:t> </a:t>
            </a:r>
            <a:r>
              <a:rPr lang="ro-RO" dirty="0" err="1">
                <a:solidFill>
                  <a:srgbClr val="FF0000"/>
                </a:solidFill>
              </a:rPr>
              <a:t>Oclasa</a:t>
            </a:r>
            <a:r>
              <a:rPr lang="ro-RO" dirty="0">
                <a:solidFill>
                  <a:srgbClr val="FF0000"/>
                </a:solidFill>
              </a:rPr>
              <a:t> {</a:t>
            </a:r>
          </a:p>
          <a:p>
            <a:pPr>
              <a:spcBef>
                <a:spcPts val="0"/>
              </a:spcBef>
            </a:pPr>
            <a:r>
              <a:rPr lang="ro-RO" dirty="0">
                <a:solidFill>
                  <a:srgbClr val="FF0000"/>
                </a:solidFill>
              </a:rPr>
              <a:t>…</a:t>
            </a:r>
          </a:p>
          <a:p>
            <a:pPr>
              <a:spcBef>
                <a:spcPts val="0"/>
              </a:spcBef>
            </a:pPr>
            <a:r>
              <a:rPr lang="ro-RO" dirty="0">
                <a:solidFill>
                  <a:srgbClr val="FF0000"/>
                </a:solidFill>
              </a:rPr>
              <a:t>}</a:t>
            </a:r>
          </a:p>
          <a:p>
            <a:pPr>
              <a:spcBef>
                <a:spcPts val="0"/>
              </a:spcBef>
            </a:pPr>
            <a:r>
              <a:rPr lang="ro-RO" dirty="0" err="1"/>
              <a:t>class</a:t>
            </a:r>
            <a:r>
              <a:rPr lang="ro-RO" dirty="0"/>
              <a:t> </a:t>
            </a:r>
            <a:r>
              <a:rPr lang="ro-RO" dirty="0" err="1"/>
              <a:t>FirNou</a:t>
            </a:r>
            <a:r>
              <a:rPr lang="ro-RO" dirty="0"/>
              <a:t> </a:t>
            </a:r>
            <a:r>
              <a:rPr lang="ro-RO" dirty="0" err="1"/>
              <a:t>extends</a:t>
            </a:r>
            <a:r>
              <a:rPr lang="ro-RO" dirty="0"/>
              <a:t> </a:t>
            </a:r>
            <a:r>
              <a:rPr lang="ro-RO" dirty="0" err="1">
                <a:solidFill>
                  <a:srgbClr val="FF0000"/>
                </a:solidFill>
              </a:rPr>
              <a:t>Oclasa</a:t>
            </a:r>
            <a:r>
              <a:rPr lang="ro-RO" dirty="0">
                <a:solidFill>
                  <a:srgbClr val="FF0000"/>
                </a:solidFill>
              </a:rPr>
              <a:t> </a:t>
            </a:r>
            <a:r>
              <a:rPr lang="ro-RO" dirty="0" err="1"/>
              <a:t>implements</a:t>
            </a:r>
            <a:r>
              <a:rPr lang="ro-RO" dirty="0"/>
              <a:t> </a:t>
            </a:r>
            <a:r>
              <a:rPr lang="ro-RO" dirty="0" err="1"/>
              <a:t>Runnable</a:t>
            </a:r>
            <a:r>
              <a:rPr lang="ro-RO" dirty="0"/>
              <a:t> {</a:t>
            </a:r>
          </a:p>
          <a:p>
            <a:pPr>
              <a:spcBef>
                <a:spcPts val="0"/>
              </a:spcBef>
            </a:pPr>
            <a:r>
              <a:rPr lang="ro-RO" dirty="0"/>
              <a:t>public </a:t>
            </a:r>
            <a:r>
              <a:rPr lang="ro-RO" dirty="0" err="1"/>
              <a:t>void</a:t>
            </a:r>
            <a:r>
              <a:rPr lang="ro-RO" dirty="0"/>
              <a:t> </a:t>
            </a:r>
            <a:r>
              <a:rPr lang="ro-RO" dirty="0" err="1"/>
              <a:t>run</a:t>
            </a:r>
            <a:r>
              <a:rPr lang="ro-RO" dirty="0"/>
              <a:t>() {</a:t>
            </a:r>
          </a:p>
          <a:p>
            <a:pPr>
              <a:spcBef>
                <a:spcPts val="0"/>
              </a:spcBef>
            </a:pPr>
            <a:r>
              <a:rPr lang="ro-RO" dirty="0"/>
              <a:t>for( </a:t>
            </a:r>
            <a:r>
              <a:rPr lang="ro-RO" dirty="0" err="1"/>
              <a:t>int</a:t>
            </a:r>
            <a:r>
              <a:rPr lang="ro-RO" dirty="0"/>
              <a:t> i = 0; i &lt; 100; i++ ) {</a:t>
            </a:r>
          </a:p>
          <a:p>
            <a:pPr>
              <a:spcBef>
                <a:spcPts val="0"/>
              </a:spcBef>
            </a:pPr>
            <a:r>
              <a:rPr lang="ro-RO" dirty="0" err="1"/>
              <a:t>System.out.println</a:t>
            </a:r>
            <a:r>
              <a:rPr lang="ro-RO" dirty="0"/>
              <a:t>( "pasul " + i );</a:t>
            </a:r>
          </a:p>
          <a:p>
            <a:pPr>
              <a:spcBef>
                <a:spcPts val="0"/>
              </a:spcBef>
            </a:pPr>
            <a:r>
              <a:rPr lang="ro-RO" dirty="0"/>
              <a:t>}</a:t>
            </a:r>
          </a:p>
          <a:p>
            <a:pPr>
              <a:spcBef>
                <a:spcPts val="0"/>
              </a:spcBef>
            </a:pPr>
            <a:r>
              <a:rPr lang="ro-RO" dirty="0"/>
              <a:t>}</a:t>
            </a:r>
          </a:p>
          <a:p>
            <a:pPr>
              <a:spcBef>
                <a:spcPts val="0"/>
              </a:spcBef>
            </a:pPr>
            <a:r>
              <a:rPr lang="ro-RO" dirty="0"/>
              <a:t>…</a:t>
            </a:r>
          </a:p>
          <a:p>
            <a:pPr>
              <a:spcBef>
                <a:spcPts val="0"/>
              </a:spcBef>
            </a:pPr>
            <a:r>
              <a:rPr lang="ro-RO" dirty="0"/>
              <a:t>}</a:t>
            </a:r>
          </a:p>
          <a:p>
            <a:pPr>
              <a:spcBef>
                <a:spcPts val="0"/>
              </a:spcBef>
            </a:pPr>
            <a:endParaRPr lang="ro-RO" dirty="0"/>
          </a:p>
        </p:txBody>
      </p:sp>
      <p:sp>
        <p:nvSpPr>
          <p:cNvPr id="6" name="Rectangle 5"/>
          <p:cNvSpPr/>
          <p:nvPr/>
        </p:nvSpPr>
        <p:spPr>
          <a:xfrm>
            <a:off x="6274761" y="3912625"/>
            <a:ext cx="6096000" cy="2031325"/>
          </a:xfrm>
          <a:prstGeom prst="rect">
            <a:avLst/>
          </a:prstGeom>
        </p:spPr>
        <p:txBody>
          <a:bodyPr>
            <a:spAutoFit/>
          </a:bodyPr>
          <a:lstStyle/>
          <a:p>
            <a:r>
              <a:rPr lang="ro-RO" dirty="0"/>
              <a:t>public </a:t>
            </a:r>
            <a:r>
              <a:rPr lang="ro-RO" dirty="0" err="1"/>
              <a:t>class</a:t>
            </a:r>
            <a:r>
              <a:rPr lang="ro-RO" dirty="0"/>
              <a:t> </a:t>
            </a:r>
            <a:r>
              <a:rPr lang="ro-RO" dirty="0" err="1"/>
              <a:t>TestFirNou</a:t>
            </a:r>
            <a:r>
              <a:rPr lang="ro-RO" dirty="0"/>
              <a:t> {</a:t>
            </a:r>
          </a:p>
          <a:p>
            <a:r>
              <a:rPr lang="ro-RO" dirty="0"/>
              <a:t>public static </a:t>
            </a:r>
            <a:r>
              <a:rPr lang="ro-RO" dirty="0" err="1"/>
              <a:t>void</a:t>
            </a:r>
            <a:r>
              <a:rPr lang="ro-RO" dirty="0"/>
              <a:t> </a:t>
            </a:r>
            <a:r>
              <a:rPr lang="ro-RO" dirty="0" err="1"/>
              <a:t>main</a:t>
            </a:r>
            <a:r>
              <a:rPr lang="ro-RO" dirty="0"/>
              <a:t>( </a:t>
            </a:r>
            <a:r>
              <a:rPr lang="ro-RO" dirty="0" err="1"/>
              <a:t>String</a:t>
            </a:r>
            <a:r>
              <a:rPr lang="ro-RO" dirty="0"/>
              <a:t> argumente[ ] ) {</a:t>
            </a:r>
          </a:p>
          <a:p>
            <a:r>
              <a:rPr lang="ro-RO" dirty="0" err="1">
                <a:solidFill>
                  <a:srgbClr val="FF0000"/>
                </a:solidFill>
              </a:rPr>
              <a:t>new</a:t>
            </a:r>
            <a:r>
              <a:rPr lang="ro-RO" dirty="0">
                <a:solidFill>
                  <a:srgbClr val="FF0000"/>
                </a:solidFill>
              </a:rPr>
              <a:t> </a:t>
            </a:r>
            <a:r>
              <a:rPr lang="ro-RO" dirty="0" err="1">
                <a:solidFill>
                  <a:srgbClr val="FF0000"/>
                </a:solidFill>
              </a:rPr>
              <a:t>Thread</a:t>
            </a:r>
            <a:r>
              <a:rPr lang="ro-RO" dirty="0">
                <a:solidFill>
                  <a:srgbClr val="FF0000"/>
                </a:solidFill>
              </a:rPr>
              <a:t>( </a:t>
            </a:r>
            <a:r>
              <a:rPr lang="ro-RO" dirty="0" err="1">
                <a:solidFill>
                  <a:srgbClr val="FF0000"/>
                </a:solidFill>
              </a:rPr>
              <a:t>new</a:t>
            </a:r>
            <a:r>
              <a:rPr lang="ro-RO" dirty="0">
                <a:solidFill>
                  <a:srgbClr val="FF0000"/>
                </a:solidFill>
              </a:rPr>
              <a:t> </a:t>
            </a:r>
            <a:r>
              <a:rPr lang="ro-RO" dirty="0" err="1">
                <a:solidFill>
                  <a:srgbClr val="FF0000"/>
                </a:solidFill>
              </a:rPr>
              <a:t>FirNou</a:t>
            </a:r>
            <a:r>
              <a:rPr lang="ro-RO" dirty="0">
                <a:solidFill>
                  <a:srgbClr val="FF0000"/>
                </a:solidFill>
              </a:rPr>
              <a:t>() ).start();</a:t>
            </a:r>
          </a:p>
          <a:p>
            <a:r>
              <a:rPr lang="ro-RO" dirty="0"/>
              <a:t>// Obiectele sunt create </a:t>
            </a:r>
            <a:r>
              <a:rPr lang="ro-RO" dirty="0" err="1"/>
              <a:t>şi</a:t>
            </a:r>
            <a:r>
              <a:rPr lang="ro-RO" dirty="0"/>
              <a:t> folosite imediat</a:t>
            </a:r>
          </a:p>
          <a:p>
            <a:r>
              <a:rPr lang="ro-RO" dirty="0"/>
              <a:t>// La terminarea </a:t>
            </a:r>
            <a:r>
              <a:rPr lang="ro-RO" dirty="0" err="1"/>
              <a:t>instrucţiunii</a:t>
            </a:r>
            <a:r>
              <a:rPr lang="ro-RO" dirty="0"/>
              <a:t>, ele sunt automat</a:t>
            </a:r>
          </a:p>
          <a:p>
            <a:r>
              <a:rPr lang="ro-RO" dirty="0"/>
              <a:t>// eliberate nefiind referite de nimic</a:t>
            </a:r>
          </a:p>
          <a:p>
            <a:r>
              <a:rPr lang="ro-RO" dirty="0"/>
              <a:t>}</a:t>
            </a:r>
          </a:p>
        </p:txBody>
      </p:sp>
    </p:spTree>
    <p:extLst>
      <p:ext uri="{BB962C8B-B14F-4D97-AF65-F5344CB8AC3E}">
        <p14:creationId xmlns:p14="http://schemas.microsoft.com/office/powerpoint/2010/main" val="3782364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5DE7B-3DBC-96B7-67CD-E2E2441802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B39D29-B2F4-4FE9-88A9-D135C55A1914}"/>
              </a:ext>
            </a:extLst>
          </p:cNvPr>
          <p:cNvSpPr>
            <a:spLocks noGrp="1"/>
          </p:cNvSpPr>
          <p:nvPr>
            <p:ph type="title"/>
          </p:nvPr>
        </p:nvSpPr>
        <p:spPr/>
        <p:txBody>
          <a:bodyPr/>
          <a:lstStyle/>
          <a:p>
            <a:r>
              <a:rPr lang="ro-RO" dirty="0"/>
              <a:t>Exempl</a:t>
            </a:r>
            <a:r>
              <a:rPr lang="en-GB" dirty="0"/>
              <a:t>e. </a:t>
            </a:r>
            <a:endParaRPr lang="ro-RO" dirty="0"/>
          </a:p>
        </p:txBody>
      </p:sp>
      <p:sp>
        <p:nvSpPr>
          <p:cNvPr id="3" name="Content Placeholder 2">
            <a:extLst>
              <a:ext uri="{FF2B5EF4-FFF2-40B4-BE49-F238E27FC236}">
                <a16:creationId xmlns:a16="http://schemas.microsoft.com/office/drawing/2014/main" id="{C0D322D1-6B37-68AE-C9F0-244442ED1AEC}"/>
              </a:ext>
            </a:extLst>
          </p:cNvPr>
          <p:cNvSpPr>
            <a:spLocks noGrp="1"/>
          </p:cNvSpPr>
          <p:nvPr>
            <p:ph idx="1"/>
          </p:nvPr>
        </p:nvSpPr>
        <p:spPr>
          <a:xfrm>
            <a:off x="401781" y="1845733"/>
            <a:ext cx="9150927" cy="4500637"/>
          </a:xfrm>
        </p:spPr>
        <p:txBody>
          <a:bodyPr>
            <a:normAutofit fontScale="92500" lnSpcReduction="20000"/>
          </a:bodyPr>
          <a:lstStyle/>
          <a:p>
            <a:r>
              <a:rPr lang="en-GB" sz="2400" dirty="0">
                <a:highlight>
                  <a:srgbClr val="FFFFFF"/>
                </a:highlight>
              </a:rPr>
              <a:t>2️⃣ </a:t>
            </a:r>
            <a:r>
              <a:rPr lang="en-GB" sz="2400" dirty="0" err="1">
                <a:highlight>
                  <a:srgbClr val="FFFFFF"/>
                </a:highlight>
              </a:rPr>
              <a:t>Implementarea</a:t>
            </a:r>
            <a:r>
              <a:rPr lang="en-GB" sz="2400" dirty="0">
                <a:highlight>
                  <a:srgbClr val="FFFFFF"/>
                </a:highlight>
              </a:rPr>
              <a:t> </a:t>
            </a:r>
            <a:r>
              <a:rPr lang="en-GB" sz="2400" dirty="0" err="1">
                <a:highlight>
                  <a:srgbClr val="FFFFFF"/>
                </a:highlight>
              </a:rPr>
              <a:t>interfeței</a:t>
            </a:r>
            <a:r>
              <a:rPr lang="en-GB" sz="2400" dirty="0">
                <a:highlight>
                  <a:srgbClr val="FFFFFF"/>
                </a:highlight>
              </a:rPr>
              <a:t> </a:t>
            </a:r>
            <a:r>
              <a:rPr lang="en-GB" dirty="0">
                <a:highlight>
                  <a:srgbClr val="FFFFFF"/>
                </a:highlight>
              </a:rPr>
              <a:t>Runnable</a:t>
            </a:r>
            <a:endParaRPr lang="en-GB" sz="2400" dirty="0">
              <a:solidFill>
                <a:srgbClr val="8000FF"/>
              </a:solidFill>
              <a:highlight>
                <a:srgbClr val="FFFFFF"/>
              </a:highlight>
            </a:endParaRPr>
          </a:p>
          <a:p>
            <a:r>
              <a:rPr lang="en-GB" sz="2400" dirty="0">
                <a:solidFill>
                  <a:srgbClr val="8000FF"/>
                </a:solidFill>
                <a:highlight>
                  <a:srgbClr val="FFFFFF"/>
                </a:highlight>
              </a:rPr>
              <a:t>class</a:t>
            </a:r>
            <a:r>
              <a:rPr lang="en-GB" sz="2400" dirty="0">
                <a:solidFill>
                  <a:srgbClr val="000000"/>
                </a:solidFill>
                <a:highlight>
                  <a:srgbClr val="FFFFFF"/>
                </a:highlight>
              </a:rPr>
              <a:t> Task </a:t>
            </a:r>
            <a:r>
              <a:rPr lang="en-GB" sz="2400" b="1" dirty="0">
                <a:solidFill>
                  <a:srgbClr val="0000FF"/>
                </a:solidFill>
                <a:highlight>
                  <a:srgbClr val="FFFFFF"/>
                </a:highlight>
              </a:rPr>
              <a:t>implements</a:t>
            </a:r>
            <a:r>
              <a:rPr lang="en-GB" sz="2400" b="0" dirty="0">
                <a:solidFill>
                  <a:srgbClr val="000000"/>
                </a:solidFill>
                <a:highlight>
                  <a:srgbClr val="FFFFFF"/>
                </a:highlight>
              </a:rPr>
              <a:t> Runnable </a:t>
            </a:r>
            <a:r>
              <a:rPr lang="en-GB" sz="2400" b="1" dirty="0">
                <a:solidFill>
                  <a:srgbClr val="000080"/>
                </a:solidFill>
                <a:highlight>
                  <a:srgbClr val="FFFFFF"/>
                </a:highlight>
              </a:rPr>
              <a:t>{</a:t>
            </a:r>
            <a:endParaRPr lang="en-GB" sz="2400" b="0" dirty="0">
              <a:solidFill>
                <a:srgbClr val="000000"/>
              </a:solidFill>
              <a:highlight>
                <a:srgbClr val="FFFFFF"/>
              </a:highlight>
            </a:endParaRPr>
          </a:p>
          <a:p>
            <a:r>
              <a:rPr lang="en-GB" sz="2400" b="0" dirty="0">
                <a:solidFill>
                  <a:srgbClr val="000000"/>
                </a:solidFill>
                <a:highlight>
                  <a:srgbClr val="FFFFFF"/>
                </a:highlight>
              </a:rPr>
              <a:t>    </a:t>
            </a:r>
            <a:r>
              <a:rPr lang="en-GB" sz="2400" b="0" dirty="0">
                <a:solidFill>
                  <a:srgbClr val="8000FF"/>
                </a:solidFill>
                <a:highlight>
                  <a:srgbClr val="FFFFFF"/>
                </a:highlight>
              </a:rPr>
              <a:t>public</a:t>
            </a:r>
            <a:r>
              <a:rPr lang="en-GB" sz="2400" b="0" dirty="0">
                <a:solidFill>
                  <a:srgbClr val="000000"/>
                </a:solidFill>
                <a:highlight>
                  <a:srgbClr val="FFFFFF"/>
                </a:highlight>
              </a:rPr>
              <a:t> </a:t>
            </a:r>
            <a:r>
              <a:rPr lang="en-GB" sz="2400" b="0" dirty="0">
                <a:solidFill>
                  <a:srgbClr val="8000FF"/>
                </a:solidFill>
                <a:highlight>
                  <a:srgbClr val="FFFFFF"/>
                </a:highlight>
              </a:rPr>
              <a:t>void</a:t>
            </a:r>
            <a:r>
              <a:rPr lang="en-GB" sz="2400" b="0" dirty="0">
                <a:solidFill>
                  <a:srgbClr val="000000"/>
                </a:solidFill>
                <a:highlight>
                  <a:srgbClr val="FFFFFF"/>
                </a:highlight>
              </a:rPr>
              <a:t> run</a:t>
            </a:r>
            <a:r>
              <a:rPr lang="en-GB" sz="2400" b="1" dirty="0">
                <a:solidFill>
                  <a:srgbClr val="000080"/>
                </a:solidFill>
                <a:highlight>
                  <a:srgbClr val="FFFFFF"/>
                </a:highlight>
              </a:rPr>
              <a:t>()</a:t>
            </a:r>
            <a:r>
              <a:rPr lang="en-GB" sz="2400" b="0" dirty="0">
                <a:solidFill>
                  <a:srgbClr val="000000"/>
                </a:solidFill>
                <a:highlight>
                  <a:srgbClr val="FFFFFF"/>
                </a:highlight>
              </a:rPr>
              <a:t> </a:t>
            </a:r>
            <a:r>
              <a:rPr lang="en-GB" sz="2400" b="1" dirty="0">
                <a:solidFill>
                  <a:srgbClr val="000080"/>
                </a:solidFill>
                <a:highlight>
                  <a:srgbClr val="FFFFFF"/>
                </a:highlight>
              </a:rPr>
              <a:t>{</a:t>
            </a:r>
            <a:endParaRPr lang="en-GB" sz="2400" b="0" dirty="0">
              <a:solidFill>
                <a:srgbClr val="000000"/>
              </a:solidFill>
              <a:highlight>
                <a:srgbClr val="FFFFFF"/>
              </a:highlight>
            </a:endParaRPr>
          </a:p>
          <a:p>
            <a:r>
              <a:rPr lang="en-GB" sz="2400" b="0" dirty="0">
                <a:solidFill>
                  <a:srgbClr val="000000"/>
                </a:solidFill>
                <a:highlight>
                  <a:srgbClr val="FFFFFF"/>
                </a:highlight>
              </a:rPr>
              <a:t>        </a:t>
            </a:r>
            <a:r>
              <a:rPr lang="en-GB" sz="2400" b="0" dirty="0" err="1">
                <a:solidFill>
                  <a:srgbClr val="000000"/>
                </a:solidFill>
                <a:highlight>
                  <a:srgbClr val="FFFFFF"/>
                </a:highlight>
              </a:rPr>
              <a:t>System</a:t>
            </a:r>
            <a:r>
              <a:rPr lang="en-GB" sz="2400" b="1" dirty="0" err="1">
                <a:solidFill>
                  <a:srgbClr val="000080"/>
                </a:solidFill>
                <a:highlight>
                  <a:srgbClr val="FFFFFF"/>
                </a:highlight>
              </a:rPr>
              <a:t>.</a:t>
            </a:r>
            <a:r>
              <a:rPr lang="en-GB" sz="2400" b="0" dirty="0" err="1">
                <a:solidFill>
                  <a:srgbClr val="000000"/>
                </a:solidFill>
                <a:highlight>
                  <a:srgbClr val="FFFFFF"/>
                </a:highlight>
              </a:rPr>
              <a:t>out</a:t>
            </a:r>
            <a:r>
              <a:rPr lang="en-GB" sz="2400" b="1" dirty="0" err="1">
                <a:solidFill>
                  <a:srgbClr val="000080"/>
                </a:solidFill>
                <a:highlight>
                  <a:srgbClr val="FFFFFF"/>
                </a:highlight>
              </a:rPr>
              <a:t>.</a:t>
            </a:r>
            <a:r>
              <a:rPr lang="en-GB" sz="2400" b="0" dirty="0" err="1">
                <a:solidFill>
                  <a:srgbClr val="000000"/>
                </a:solidFill>
                <a:highlight>
                  <a:srgbClr val="FFFFFF"/>
                </a:highlight>
              </a:rPr>
              <a:t>println</a:t>
            </a:r>
            <a:r>
              <a:rPr lang="en-GB" sz="2400" b="1" dirty="0">
                <a:solidFill>
                  <a:srgbClr val="000080"/>
                </a:solidFill>
                <a:highlight>
                  <a:srgbClr val="FFFFFF"/>
                </a:highlight>
              </a:rPr>
              <a:t>(</a:t>
            </a:r>
            <a:r>
              <a:rPr lang="en-GB" sz="2400" b="0" dirty="0">
                <a:solidFill>
                  <a:srgbClr val="808080"/>
                </a:solidFill>
                <a:highlight>
                  <a:srgbClr val="FFFFFF"/>
                </a:highlight>
              </a:rPr>
              <a:t>"</a:t>
            </a:r>
            <a:r>
              <a:rPr lang="en-GB" sz="2400" b="0" dirty="0" err="1">
                <a:solidFill>
                  <a:srgbClr val="808080"/>
                </a:solidFill>
                <a:highlight>
                  <a:srgbClr val="FFFFFF"/>
                </a:highlight>
              </a:rPr>
              <a:t>Execut</a:t>
            </a:r>
            <a:r>
              <a:rPr lang="en-GB" sz="2400" b="0" dirty="0">
                <a:solidFill>
                  <a:srgbClr val="808080"/>
                </a:solidFill>
                <a:highlight>
                  <a:srgbClr val="FFFFFF"/>
                </a:highlight>
              </a:rPr>
              <a:t> </a:t>
            </a:r>
            <a:r>
              <a:rPr lang="en-GB" sz="2400" b="0" dirty="0" err="1">
                <a:solidFill>
                  <a:srgbClr val="808080"/>
                </a:solidFill>
                <a:highlight>
                  <a:srgbClr val="FFFFFF"/>
                </a:highlight>
              </a:rPr>
              <a:t>în</a:t>
            </a:r>
            <a:r>
              <a:rPr lang="en-GB" sz="2400" b="0" dirty="0">
                <a:solidFill>
                  <a:srgbClr val="808080"/>
                </a:solidFill>
                <a:highlight>
                  <a:srgbClr val="FFFFFF"/>
                </a:highlight>
              </a:rPr>
              <a:t> </a:t>
            </a:r>
            <a:r>
              <a:rPr lang="en-GB" sz="2400" b="0" dirty="0" err="1">
                <a:solidFill>
                  <a:srgbClr val="808080"/>
                </a:solidFill>
                <a:highlight>
                  <a:srgbClr val="FFFFFF"/>
                </a:highlight>
              </a:rPr>
              <a:t>firul</a:t>
            </a:r>
            <a:r>
              <a:rPr lang="en-GB" sz="2400" b="0" dirty="0">
                <a:solidFill>
                  <a:srgbClr val="808080"/>
                </a:solidFill>
                <a:highlight>
                  <a:srgbClr val="FFFFFF"/>
                </a:highlight>
              </a:rPr>
              <a:t>: "</a:t>
            </a:r>
            <a:r>
              <a:rPr lang="en-GB" sz="2400" b="0" dirty="0">
                <a:solidFill>
                  <a:srgbClr val="000000"/>
                </a:solidFill>
                <a:highlight>
                  <a:srgbClr val="FFFFFF"/>
                </a:highlight>
              </a:rPr>
              <a:t> </a:t>
            </a:r>
            <a:r>
              <a:rPr lang="en-GB" sz="2400" b="1" dirty="0">
                <a:solidFill>
                  <a:srgbClr val="000080"/>
                </a:solidFill>
                <a:highlight>
                  <a:srgbClr val="FFFFFF"/>
                </a:highlight>
              </a:rPr>
              <a:t>+</a:t>
            </a:r>
            <a:r>
              <a:rPr lang="en-GB" sz="2400" b="0" dirty="0">
                <a:solidFill>
                  <a:srgbClr val="000000"/>
                </a:solidFill>
                <a:highlight>
                  <a:srgbClr val="FFFFFF"/>
                </a:highlight>
              </a:rPr>
              <a:t> </a:t>
            </a:r>
            <a:r>
              <a:rPr lang="en-GB" sz="2400" b="0" dirty="0" err="1">
                <a:solidFill>
                  <a:srgbClr val="000000"/>
                </a:solidFill>
                <a:highlight>
                  <a:srgbClr val="FFFFFF"/>
                </a:highlight>
              </a:rPr>
              <a:t>Thread</a:t>
            </a:r>
            <a:r>
              <a:rPr lang="en-GB" sz="2400" b="1" dirty="0" err="1">
                <a:solidFill>
                  <a:srgbClr val="000080"/>
                </a:solidFill>
                <a:highlight>
                  <a:srgbClr val="FFFFFF"/>
                </a:highlight>
              </a:rPr>
              <a:t>.</a:t>
            </a:r>
            <a:r>
              <a:rPr lang="en-GB" sz="2400" b="0" dirty="0" err="1">
                <a:solidFill>
                  <a:srgbClr val="000000"/>
                </a:solidFill>
                <a:highlight>
                  <a:srgbClr val="FFFFFF"/>
                </a:highlight>
              </a:rPr>
              <a:t>currentThread</a:t>
            </a:r>
            <a:r>
              <a:rPr lang="en-GB" sz="2400" b="1" dirty="0">
                <a:solidFill>
                  <a:srgbClr val="000080"/>
                </a:solidFill>
                <a:highlight>
                  <a:srgbClr val="FFFFFF"/>
                </a:highlight>
              </a:rPr>
              <a:t>().</a:t>
            </a:r>
            <a:r>
              <a:rPr lang="en-GB" sz="2400" b="0" dirty="0" err="1">
                <a:solidFill>
                  <a:srgbClr val="000000"/>
                </a:solidFill>
                <a:highlight>
                  <a:srgbClr val="FFFFFF"/>
                </a:highlight>
              </a:rPr>
              <a:t>getName</a:t>
            </a:r>
            <a:r>
              <a:rPr lang="en-GB" sz="2400" b="1" dirty="0">
                <a:solidFill>
                  <a:srgbClr val="000080"/>
                </a:solidFill>
                <a:highlight>
                  <a:srgbClr val="FFFFFF"/>
                </a:highlight>
              </a:rPr>
              <a:t>());</a:t>
            </a:r>
            <a:endParaRPr lang="en-GB" sz="2400" b="0" dirty="0">
              <a:solidFill>
                <a:srgbClr val="000000"/>
              </a:solidFill>
              <a:highlight>
                <a:srgbClr val="FFFFFF"/>
              </a:highlight>
            </a:endParaRPr>
          </a:p>
          <a:p>
            <a:r>
              <a:rPr lang="en-GB" sz="2400" b="0" dirty="0">
                <a:solidFill>
                  <a:srgbClr val="000000"/>
                </a:solidFill>
                <a:highlight>
                  <a:srgbClr val="FFFFFF"/>
                </a:highlight>
              </a:rPr>
              <a:t>    </a:t>
            </a:r>
            <a:r>
              <a:rPr lang="en-GB" sz="2400" b="1" dirty="0">
                <a:solidFill>
                  <a:srgbClr val="000080"/>
                </a:solidFill>
                <a:highlight>
                  <a:srgbClr val="FFFFFF"/>
                </a:highlight>
              </a:rPr>
              <a:t>}</a:t>
            </a:r>
            <a:endParaRPr lang="en-GB" sz="2400" b="0" dirty="0">
              <a:solidFill>
                <a:srgbClr val="000000"/>
              </a:solidFill>
              <a:highlight>
                <a:srgbClr val="FFFFFF"/>
              </a:highlight>
            </a:endParaRPr>
          </a:p>
          <a:p>
            <a:endParaRPr lang="en-GB" sz="2400" b="0" dirty="0">
              <a:solidFill>
                <a:srgbClr val="000000"/>
              </a:solidFill>
              <a:highlight>
                <a:srgbClr val="FFFFFF"/>
              </a:highlight>
            </a:endParaRPr>
          </a:p>
          <a:p>
            <a:r>
              <a:rPr lang="en-GB" sz="2400" b="0" dirty="0">
                <a:solidFill>
                  <a:srgbClr val="000000"/>
                </a:solidFill>
                <a:highlight>
                  <a:srgbClr val="FFFFFF"/>
                </a:highlight>
              </a:rPr>
              <a:t>    </a:t>
            </a:r>
            <a:r>
              <a:rPr lang="en-GB" sz="2400" b="0" dirty="0">
                <a:solidFill>
                  <a:srgbClr val="8000FF"/>
                </a:solidFill>
                <a:highlight>
                  <a:srgbClr val="FFFFFF"/>
                </a:highlight>
              </a:rPr>
              <a:t>public</a:t>
            </a:r>
            <a:r>
              <a:rPr lang="en-GB" sz="2400" b="0" dirty="0">
                <a:solidFill>
                  <a:srgbClr val="000000"/>
                </a:solidFill>
                <a:highlight>
                  <a:srgbClr val="FFFFFF"/>
                </a:highlight>
              </a:rPr>
              <a:t> </a:t>
            </a:r>
            <a:r>
              <a:rPr lang="en-GB" sz="2400" b="0" dirty="0">
                <a:solidFill>
                  <a:srgbClr val="8000FF"/>
                </a:solidFill>
                <a:highlight>
                  <a:srgbClr val="FFFFFF"/>
                </a:highlight>
              </a:rPr>
              <a:t>static</a:t>
            </a:r>
            <a:r>
              <a:rPr lang="en-GB" sz="2400" b="0" dirty="0">
                <a:solidFill>
                  <a:srgbClr val="000000"/>
                </a:solidFill>
                <a:highlight>
                  <a:srgbClr val="FFFFFF"/>
                </a:highlight>
              </a:rPr>
              <a:t> </a:t>
            </a:r>
            <a:r>
              <a:rPr lang="en-GB" sz="2400" b="0" dirty="0">
                <a:solidFill>
                  <a:srgbClr val="8000FF"/>
                </a:solidFill>
                <a:highlight>
                  <a:srgbClr val="FFFFFF"/>
                </a:highlight>
              </a:rPr>
              <a:t>void</a:t>
            </a:r>
            <a:r>
              <a:rPr lang="en-GB" sz="2400" b="0" dirty="0">
                <a:solidFill>
                  <a:srgbClr val="000000"/>
                </a:solidFill>
                <a:highlight>
                  <a:srgbClr val="FFFFFF"/>
                </a:highlight>
              </a:rPr>
              <a:t> main</a:t>
            </a:r>
            <a:r>
              <a:rPr lang="en-GB" sz="2400" b="1" dirty="0">
                <a:solidFill>
                  <a:srgbClr val="000080"/>
                </a:solidFill>
                <a:highlight>
                  <a:srgbClr val="FFFFFF"/>
                </a:highlight>
              </a:rPr>
              <a:t>(</a:t>
            </a:r>
            <a:r>
              <a:rPr lang="en-GB" sz="2400" b="0" dirty="0">
                <a:solidFill>
                  <a:srgbClr val="000000"/>
                </a:solidFill>
                <a:highlight>
                  <a:srgbClr val="FFFFFF"/>
                </a:highlight>
              </a:rPr>
              <a:t>String</a:t>
            </a:r>
            <a:r>
              <a:rPr lang="en-GB" sz="2400" b="1" dirty="0">
                <a:solidFill>
                  <a:srgbClr val="000080"/>
                </a:solidFill>
                <a:highlight>
                  <a:srgbClr val="FFFFFF"/>
                </a:highlight>
              </a:rPr>
              <a:t>[]</a:t>
            </a:r>
            <a:r>
              <a:rPr lang="en-GB" sz="2400" b="0" dirty="0">
                <a:solidFill>
                  <a:srgbClr val="000000"/>
                </a:solidFill>
                <a:highlight>
                  <a:srgbClr val="FFFFFF"/>
                </a:highlight>
              </a:rPr>
              <a:t> </a:t>
            </a:r>
            <a:r>
              <a:rPr lang="en-GB" sz="2400" b="0" dirty="0" err="1">
                <a:solidFill>
                  <a:srgbClr val="000000"/>
                </a:solidFill>
                <a:highlight>
                  <a:srgbClr val="FFFFFF"/>
                </a:highlight>
              </a:rPr>
              <a:t>args</a:t>
            </a:r>
            <a:r>
              <a:rPr lang="en-GB" sz="2400" b="1" dirty="0">
                <a:solidFill>
                  <a:srgbClr val="000080"/>
                </a:solidFill>
                <a:highlight>
                  <a:srgbClr val="FFFFFF"/>
                </a:highlight>
              </a:rPr>
              <a:t>)</a:t>
            </a:r>
            <a:r>
              <a:rPr lang="en-GB" sz="2400" b="0" dirty="0">
                <a:solidFill>
                  <a:srgbClr val="000000"/>
                </a:solidFill>
                <a:highlight>
                  <a:srgbClr val="FFFFFF"/>
                </a:highlight>
              </a:rPr>
              <a:t> </a:t>
            </a:r>
            <a:r>
              <a:rPr lang="en-GB" sz="2400" b="1" dirty="0">
                <a:solidFill>
                  <a:srgbClr val="000080"/>
                </a:solidFill>
                <a:highlight>
                  <a:srgbClr val="FFFFFF"/>
                </a:highlight>
              </a:rPr>
              <a:t>{</a:t>
            </a:r>
            <a:endParaRPr lang="en-GB" sz="2400" b="0" dirty="0">
              <a:solidFill>
                <a:srgbClr val="000000"/>
              </a:solidFill>
              <a:highlight>
                <a:srgbClr val="FFFFFF"/>
              </a:highlight>
            </a:endParaRPr>
          </a:p>
          <a:p>
            <a:r>
              <a:rPr lang="en-GB" sz="2400" b="0" dirty="0">
                <a:solidFill>
                  <a:srgbClr val="000000"/>
                </a:solidFill>
                <a:highlight>
                  <a:srgbClr val="FFFFFF"/>
                </a:highlight>
              </a:rPr>
              <a:t>        Thread t1 </a:t>
            </a:r>
            <a:r>
              <a:rPr lang="en-GB" sz="2400" b="1" dirty="0">
                <a:solidFill>
                  <a:srgbClr val="000080"/>
                </a:solidFill>
                <a:highlight>
                  <a:srgbClr val="FFFFFF"/>
                </a:highlight>
              </a:rPr>
              <a:t>=</a:t>
            </a:r>
            <a:r>
              <a:rPr lang="en-GB" sz="2400" b="0" dirty="0">
                <a:solidFill>
                  <a:srgbClr val="000000"/>
                </a:solidFill>
                <a:highlight>
                  <a:srgbClr val="FFFFFF"/>
                </a:highlight>
              </a:rPr>
              <a:t> </a:t>
            </a:r>
            <a:r>
              <a:rPr lang="en-GB" sz="2400" b="1" dirty="0">
                <a:solidFill>
                  <a:srgbClr val="0000FF"/>
                </a:solidFill>
                <a:highlight>
                  <a:srgbClr val="FFFFFF"/>
                </a:highlight>
              </a:rPr>
              <a:t>new</a:t>
            </a:r>
            <a:r>
              <a:rPr lang="en-GB" sz="2400" b="0" dirty="0">
                <a:solidFill>
                  <a:srgbClr val="000000"/>
                </a:solidFill>
                <a:highlight>
                  <a:srgbClr val="FFFFFF"/>
                </a:highlight>
              </a:rPr>
              <a:t> Thread</a:t>
            </a:r>
            <a:r>
              <a:rPr lang="en-GB" sz="2400" b="1" dirty="0">
                <a:solidFill>
                  <a:srgbClr val="000080"/>
                </a:solidFill>
                <a:highlight>
                  <a:srgbClr val="FFFFFF"/>
                </a:highlight>
              </a:rPr>
              <a:t>(</a:t>
            </a:r>
            <a:r>
              <a:rPr lang="en-GB" sz="2400" b="1" dirty="0">
                <a:solidFill>
                  <a:srgbClr val="0000FF"/>
                </a:solidFill>
                <a:highlight>
                  <a:srgbClr val="FFFFFF"/>
                </a:highlight>
              </a:rPr>
              <a:t>new</a:t>
            </a:r>
            <a:r>
              <a:rPr lang="en-GB" sz="2400" b="0" dirty="0">
                <a:solidFill>
                  <a:srgbClr val="000000"/>
                </a:solidFill>
                <a:highlight>
                  <a:srgbClr val="FFFFFF"/>
                </a:highlight>
              </a:rPr>
              <a:t> Task</a:t>
            </a:r>
            <a:r>
              <a:rPr lang="en-GB" sz="2400" b="1" dirty="0">
                <a:solidFill>
                  <a:srgbClr val="000080"/>
                </a:solidFill>
                <a:highlight>
                  <a:srgbClr val="FFFFFF"/>
                </a:highlight>
              </a:rPr>
              <a:t>(),</a:t>
            </a:r>
            <a:r>
              <a:rPr lang="en-GB" sz="2400" b="0" dirty="0">
                <a:solidFill>
                  <a:srgbClr val="000000"/>
                </a:solidFill>
                <a:highlight>
                  <a:srgbClr val="FFFFFF"/>
                </a:highlight>
              </a:rPr>
              <a:t> </a:t>
            </a:r>
            <a:r>
              <a:rPr lang="en-GB" sz="2400" b="0" dirty="0">
                <a:solidFill>
                  <a:srgbClr val="808080"/>
                </a:solidFill>
                <a:highlight>
                  <a:srgbClr val="FFFFFF"/>
                </a:highlight>
              </a:rPr>
              <a:t>"Fir-1"</a:t>
            </a:r>
            <a:r>
              <a:rPr lang="en-GB" sz="2400" b="1" dirty="0">
                <a:solidFill>
                  <a:srgbClr val="000080"/>
                </a:solidFill>
                <a:highlight>
                  <a:srgbClr val="FFFFFF"/>
                </a:highlight>
              </a:rPr>
              <a:t>);</a:t>
            </a:r>
            <a:endParaRPr lang="en-GB" sz="2400" b="0" dirty="0">
              <a:solidFill>
                <a:srgbClr val="000000"/>
              </a:solidFill>
              <a:highlight>
                <a:srgbClr val="FFFFFF"/>
              </a:highlight>
            </a:endParaRPr>
          </a:p>
          <a:p>
            <a:r>
              <a:rPr lang="en-GB" sz="2400" b="0" dirty="0">
                <a:solidFill>
                  <a:srgbClr val="000000"/>
                </a:solidFill>
                <a:highlight>
                  <a:srgbClr val="FFFFFF"/>
                </a:highlight>
              </a:rPr>
              <a:t>        t1</a:t>
            </a:r>
            <a:r>
              <a:rPr lang="en-GB" sz="2400" b="1" dirty="0">
                <a:solidFill>
                  <a:srgbClr val="000080"/>
                </a:solidFill>
                <a:highlight>
                  <a:srgbClr val="FFFFFF"/>
                </a:highlight>
              </a:rPr>
              <a:t>.</a:t>
            </a:r>
            <a:r>
              <a:rPr lang="en-GB" sz="2400" b="0" dirty="0">
                <a:solidFill>
                  <a:srgbClr val="000000"/>
                </a:solidFill>
                <a:highlight>
                  <a:srgbClr val="FFFFFF"/>
                </a:highlight>
              </a:rPr>
              <a:t>start</a:t>
            </a:r>
            <a:r>
              <a:rPr lang="en-GB" sz="2400" b="1" dirty="0">
                <a:solidFill>
                  <a:srgbClr val="000080"/>
                </a:solidFill>
                <a:highlight>
                  <a:srgbClr val="FFFFFF"/>
                </a:highlight>
              </a:rPr>
              <a:t>();</a:t>
            </a:r>
            <a:endParaRPr lang="en-GB" sz="2400" b="0" dirty="0">
              <a:solidFill>
                <a:srgbClr val="000000"/>
              </a:solidFill>
              <a:highlight>
                <a:srgbClr val="FFFFFF"/>
              </a:highlight>
            </a:endParaRPr>
          </a:p>
          <a:p>
            <a:r>
              <a:rPr lang="en-GB" sz="2400" b="0" dirty="0">
                <a:solidFill>
                  <a:srgbClr val="000000"/>
                </a:solidFill>
                <a:highlight>
                  <a:srgbClr val="FFFFFF"/>
                </a:highlight>
              </a:rPr>
              <a:t>    </a:t>
            </a:r>
            <a:r>
              <a:rPr lang="en-GB" sz="2400" b="1" dirty="0">
                <a:solidFill>
                  <a:srgbClr val="000080"/>
                </a:solidFill>
                <a:highlight>
                  <a:srgbClr val="FFFFFF"/>
                </a:highlight>
              </a:rPr>
              <a:t>}</a:t>
            </a:r>
            <a:endParaRPr lang="en-GB" sz="2400" b="0" dirty="0">
              <a:solidFill>
                <a:srgbClr val="000000"/>
              </a:solidFill>
              <a:highlight>
                <a:srgbClr val="FFFFFF"/>
              </a:highlight>
            </a:endParaRPr>
          </a:p>
          <a:p>
            <a:r>
              <a:rPr lang="en-GB" sz="2400" b="1" dirty="0">
                <a:solidFill>
                  <a:srgbClr val="000080"/>
                </a:solidFill>
                <a:highlight>
                  <a:srgbClr val="FFFFFF"/>
                </a:highlight>
              </a:rPr>
              <a:t>}</a:t>
            </a:r>
            <a:endParaRPr lang="en-GB" sz="2400" b="0" dirty="0">
              <a:solidFill>
                <a:srgbClr val="000000"/>
              </a:solidFill>
              <a:highlight>
                <a:srgbClr val="FFFFFF"/>
              </a:highlight>
            </a:endParaRPr>
          </a:p>
          <a:p>
            <a:endParaRPr lang="ro-RO" sz="2300" dirty="0"/>
          </a:p>
          <a:p>
            <a:endParaRPr lang="ro-RO" sz="1800" dirty="0"/>
          </a:p>
        </p:txBody>
      </p:sp>
      <p:sp>
        <p:nvSpPr>
          <p:cNvPr id="5" name="Rectangle 4">
            <a:extLst>
              <a:ext uri="{FF2B5EF4-FFF2-40B4-BE49-F238E27FC236}">
                <a16:creationId xmlns:a16="http://schemas.microsoft.com/office/drawing/2014/main" id="{61794B2C-7776-D47B-9919-487B778E8186}"/>
              </a:ext>
            </a:extLst>
          </p:cNvPr>
          <p:cNvSpPr/>
          <p:nvPr/>
        </p:nvSpPr>
        <p:spPr>
          <a:xfrm>
            <a:off x="7613608" y="1880060"/>
            <a:ext cx="4399006" cy="4062651"/>
          </a:xfrm>
          <a:prstGeom prst="rect">
            <a:avLst/>
          </a:prstGeom>
        </p:spPr>
        <p:txBody>
          <a:bodyPr wrap="square">
            <a:spAutoFit/>
          </a:bodyPr>
          <a:lstStyle/>
          <a:p>
            <a:r>
              <a:rPr lang="en-GB" sz="2000" dirty="0"/>
              <a:t>🟢 </a:t>
            </a:r>
            <a:r>
              <a:rPr lang="en-GB" sz="2000" i="1" dirty="0" err="1"/>
              <a:t>Explicație</a:t>
            </a:r>
            <a:r>
              <a:rPr lang="en-GB" sz="2000" i="1" dirty="0"/>
              <a:t>:</a:t>
            </a:r>
            <a:endParaRPr lang="en-GB" sz="2000" dirty="0"/>
          </a:p>
          <a:p>
            <a:r>
              <a:rPr lang="en-GB" sz="2000" dirty="0"/>
              <a:t>Se </a:t>
            </a:r>
            <a:r>
              <a:rPr lang="en-GB" sz="2000" dirty="0" err="1"/>
              <a:t>implementează</a:t>
            </a:r>
            <a:r>
              <a:rPr lang="en-GB" sz="2000" dirty="0"/>
              <a:t> </a:t>
            </a:r>
            <a:r>
              <a:rPr lang="en-GB" sz="2000" dirty="0" err="1"/>
              <a:t>metoda</a:t>
            </a:r>
            <a:r>
              <a:rPr lang="en-GB" sz="2000" dirty="0"/>
              <a:t> </a:t>
            </a:r>
            <a:r>
              <a:rPr lang="en-GB" dirty="0"/>
              <a:t>run()</a:t>
            </a:r>
            <a:r>
              <a:rPr lang="en-GB" sz="2000" dirty="0"/>
              <a:t> din </a:t>
            </a:r>
            <a:r>
              <a:rPr lang="en-GB" dirty="0"/>
              <a:t>Runnable</a:t>
            </a:r>
            <a:endParaRPr lang="en-GB" sz="2000" dirty="0"/>
          </a:p>
          <a:p>
            <a:endParaRPr lang="en-GB" sz="2000" dirty="0"/>
          </a:p>
          <a:p>
            <a:endParaRPr lang="en-GB" sz="2000" dirty="0"/>
          </a:p>
          <a:p>
            <a:endParaRPr lang="en-GB" sz="2000" dirty="0"/>
          </a:p>
          <a:p>
            <a:endParaRPr lang="en-GB" sz="2000" dirty="0"/>
          </a:p>
          <a:p>
            <a:endParaRPr lang="en-GB" sz="2000" dirty="0"/>
          </a:p>
          <a:p>
            <a:endParaRPr lang="en-GB" sz="2000" dirty="0"/>
          </a:p>
          <a:p>
            <a:r>
              <a:rPr lang="en-GB" sz="2000" dirty="0"/>
              <a:t>Se </a:t>
            </a:r>
            <a:r>
              <a:rPr lang="en-GB" sz="2000" dirty="0" err="1"/>
              <a:t>creează</a:t>
            </a:r>
            <a:r>
              <a:rPr lang="en-GB" sz="2000" dirty="0"/>
              <a:t> un </a:t>
            </a:r>
            <a:r>
              <a:rPr lang="en-GB" sz="2000" dirty="0" err="1"/>
              <a:t>obiect</a:t>
            </a:r>
            <a:r>
              <a:rPr lang="en-GB" sz="2000" dirty="0"/>
              <a:t> </a:t>
            </a:r>
            <a:r>
              <a:rPr lang="en-GB" dirty="0"/>
              <a:t>Thread</a:t>
            </a:r>
            <a:r>
              <a:rPr lang="en-GB" sz="2000" dirty="0"/>
              <a:t> care </a:t>
            </a:r>
            <a:r>
              <a:rPr lang="en-GB" sz="2000" dirty="0" err="1"/>
              <a:t>primește</a:t>
            </a:r>
            <a:r>
              <a:rPr lang="en-GB" sz="2000" dirty="0"/>
              <a:t> </a:t>
            </a:r>
            <a:r>
              <a:rPr lang="en-GB" sz="2000" dirty="0" err="1"/>
              <a:t>obiectul</a:t>
            </a:r>
            <a:r>
              <a:rPr lang="en-GB" sz="2000" dirty="0"/>
              <a:t> </a:t>
            </a:r>
            <a:r>
              <a:rPr lang="en-GB" dirty="0"/>
              <a:t>Runnable</a:t>
            </a:r>
            <a:endParaRPr lang="en-GB" sz="2000" dirty="0"/>
          </a:p>
          <a:p>
            <a:r>
              <a:rPr lang="en-GB" sz="2000" dirty="0" err="1"/>
              <a:t>Metoda</a:t>
            </a:r>
            <a:r>
              <a:rPr lang="en-GB" sz="2000" dirty="0"/>
              <a:t> </a:t>
            </a:r>
            <a:r>
              <a:rPr lang="en-GB" dirty="0"/>
              <a:t>start()</a:t>
            </a:r>
            <a:r>
              <a:rPr lang="en-GB" sz="2000" dirty="0"/>
              <a:t> </a:t>
            </a:r>
            <a:r>
              <a:rPr lang="en-GB" sz="2000" dirty="0" err="1"/>
              <a:t>lansează</a:t>
            </a:r>
            <a:r>
              <a:rPr lang="en-GB" sz="2000" dirty="0"/>
              <a:t> </a:t>
            </a:r>
            <a:r>
              <a:rPr lang="en-GB" sz="2000" dirty="0" err="1"/>
              <a:t>execuția</a:t>
            </a:r>
            <a:endParaRPr lang="en-GB" sz="2000" dirty="0"/>
          </a:p>
          <a:p>
            <a:endParaRPr lang="ro-RO" sz="2000" dirty="0"/>
          </a:p>
        </p:txBody>
      </p:sp>
      <p:sp>
        <p:nvSpPr>
          <p:cNvPr id="4" name="Arrow: Left 3">
            <a:extLst>
              <a:ext uri="{FF2B5EF4-FFF2-40B4-BE49-F238E27FC236}">
                <a16:creationId xmlns:a16="http://schemas.microsoft.com/office/drawing/2014/main" id="{D9B4B800-FC35-5092-87D1-FB6BE022A1A0}"/>
              </a:ext>
            </a:extLst>
          </p:cNvPr>
          <p:cNvSpPr/>
          <p:nvPr/>
        </p:nvSpPr>
        <p:spPr>
          <a:xfrm>
            <a:off x="4655126" y="2140527"/>
            <a:ext cx="2168237" cy="443345"/>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Arrow: Left 5">
            <a:extLst>
              <a:ext uri="{FF2B5EF4-FFF2-40B4-BE49-F238E27FC236}">
                <a16:creationId xmlns:a16="http://schemas.microsoft.com/office/drawing/2014/main" id="{6CB575D2-85A4-63AD-4977-E31B626741FE}"/>
              </a:ext>
            </a:extLst>
          </p:cNvPr>
          <p:cNvSpPr/>
          <p:nvPr/>
        </p:nvSpPr>
        <p:spPr>
          <a:xfrm>
            <a:off x="4747654" y="5232069"/>
            <a:ext cx="2168237" cy="443345"/>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Arrow: Left 6">
            <a:extLst>
              <a:ext uri="{FF2B5EF4-FFF2-40B4-BE49-F238E27FC236}">
                <a16:creationId xmlns:a16="http://schemas.microsoft.com/office/drawing/2014/main" id="{20D83F26-5B2B-F5AB-8A67-3776FE23B8E5}"/>
              </a:ext>
            </a:extLst>
          </p:cNvPr>
          <p:cNvSpPr/>
          <p:nvPr/>
        </p:nvSpPr>
        <p:spPr>
          <a:xfrm>
            <a:off x="6596743" y="4635434"/>
            <a:ext cx="732805" cy="443345"/>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672240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EEAD9-61B5-F798-79B0-B7AF87303202}"/>
              </a:ext>
            </a:extLst>
          </p:cNvPr>
          <p:cNvSpPr>
            <a:spLocks noGrp="1"/>
          </p:cNvSpPr>
          <p:nvPr>
            <p:ph type="title"/>
          </p:nvPr>
        </p:nvSpPr>
        <p:spPr/>
        <p:txBody>
          <a:bodyPr/>
          <a:lstStyle/>
          <a:p>
            <a:r>
              <a:rPr lang="en-GB" dirty="0" err="1"/>
              <a:t>Comparatie</a:t>
            </a:r>
            <a:endParaRPr lang="en-GB" dirty="0"/>
          </a:p>
        </p:txBody>
      </p:sp>
      <p:graphicFrame>
        <p:nvGraphicFramePr>
          <p:cNvPr id="4" name="Content Placeholder 3">
            <a:extLst>
              <a:ext uri="{FF2B5EF4-FFF2-40B4-BE49-F238E27FC236}">
                <a16:creationId xmlns:a16="http://schemas.microsoft.com/office/drawing/2014/main" id="{66087F60-055D-8D29-194E-9318369C51D8}"/>
              </a:ext>
            </a:extLst>
          </p:cNvPr>
          <p:cNvGraphicFramePr>
            <a:graphicFrameLocks noGrp="1"/>
          </p:cNvGraphicFramePr>
          <p:nvPr>
            <p:ph idx="1"/>
            <p:extLst>
              <p:ext uri="{D42A27DB-BD31-4B8C-83A1-F6EECF244321}">
                <p14:modId xmlns:p14="http://schemas.microsoft.com/office/powerpoint/2010/main" val="3848649545"/>
              </p:ext>
            </p:extLst>
          </p:nvPr>
        </p:nvGraphicFramePr>
        <p:xfrm>
          <a:off x="819377" y="2687320"/>
          <a:ext cx="10058397" cy="1483360"/>
        </p:xfrm>
        <a:graphic>
          <a:graphicData uri="http://schemas.openxmlformats.org/drawingml/2006/table">
            <a:tbl>
              <a:tblPr firstRow="1" bandRow="1">
                <a:tableStyleId>{5C22544A-7EE6-4342-B048-85BDC9FD1C3A}</a:tableStyleId>
              </a:tblPr>
              <a:tblGrid>
                <a:gridCol w="3352799">
                  <a:extLst>
                    <a:ext uri="{9D8B030D-6E8A-4147-A177-3AD203B41FA5}">
                      <a16:colId xmlns:a16="http://schemas.microsoft.com/office/drawing/2014/main" val="2034579148"/>
                    </a:ext>
                  </a:extLst>
                </a:gridCol>
                <a:gridCol w="3352799">
                  <a:extLst>
                    <a:ext uri="{9D8B030D-6E8A-4147-A177-3AD203B41FA5}">
                      <a16:colId xmlns:a16="http://schemas.microsoft.com/office/drawing/2014/main" val="2028865170"/>
                    </a:ext>
                  </a:extLst>
                </a:gridCol>
                <a:gridCol w="3352799">
                  <a:extLst>
                    <a:ext uri="{9D8B030D-6E8A-4147-A177-3AD203B41FA5}">
                      <a16:colId xmlns:a16="http://schemas.microsoft.com/office/drawing/2014/main" val="1368108736"/>
                    </a:ext>
                  </a:extLst>
                </a:gridCol>
              </a:tblGrid>
              <a:tr h="370840">
                <a:tc>
                  <a:txBody>
                    <a:bodyPr/>
                    <a:lstStyle/>
                    <a:p>
                      <a:pPr>
                        <a:buNone/>
                      </a:pPr>
                      <a:r>
                        <a:rPr lang="en-GB" dirty="0" err="1"/>
                        <a:t>Criteriu</a:t>
                      </a:r>
                      <a:endParaRPr lang="en-GB" dirty="0"/>
                    </a:p>
                  </a:txBody>
                  <a:tcPr anchor="ctr"/>
                </a:tc>
                <a:tc>
                  <a:txBody>
                    <a:bodyPr/>
                    <a:lstStyle/>
                    <a:p>
                      <a:pPr>
                        <a:buNone/>
                      </a:pPr>
                      <a:r>
                        <a:rPr lang="en-GB">
                          <a:latin typeface="Courier New" panose="02070309020205020404" pitchFamily="49" charset="0"/>
                        </a:rPr>
                        <a:t>extends Thread</a:t>
                      </a:r>
                      <a:endParaRPr lang="en-GB"/>
                    </a:p>
                  </a:txBody>
                  <a:tcPr anchor="ctr"/>
                </a:tc>
                <a:tc>
                  <a:txBody>
                    <a:bodyPr/>
                    <a:lstStyle/>
                    <a:p>
                      <a:pPr>
                        <a:buNone/>
                      </a:pPr>
                      <a:r>
                        <a:rPr lang="en-GB">
                          <a:latin typeface="Courier New" panose="02070309020205020404" pitchFamily="49" charset="0"/>
                        </a:rPr>
                        <a:t>implements Runnable</a:t>
                      </a:r>
                      <a:endParaRPr lang="en-GB"/>
                    </a:p>
                  </a:txBody>
                  <a:tcPr anchor="ctr"/>
                </a:tc>
                <a:extLst>
                  <a:ext uri="{0D108BD9-81ED-4DB2-BD59-A6C34878D82A}">
                    <a16:rowId xmlns:a16="http://schemas.microsoft.com/office/drawing/2014/main" val="2088054405"/>
                  </a:ext>
                </a:extLst>
              </a:tr>
              <a:tr h="370840">
                <a:tc>
                  <a:txBody>
                    <a:bodyPr/>
                    <a:lstStyle/>
                    <a:p>
                      <a:pPr>
                        <a:buNone/>
                      </a:pPr>
                      <a:r>
                        <a:rPr lang="en-GB"/>
                        <a:t>Moștenire</a:t>
                      </a:r>
                    </a:p>
                  </a:txBody>
                  <a:tcPr anchor="ctr"/>
                </a:tc>
                <a:tc>
                  <a:txBody>
                    <a:bodyPr/>
                    <a:lstStyle/>
                    <a:p>
                      <a:pPr>
                        <a:buNone/>
                      </a:pPr>
                      <a:r>
                        <a:rPr lang="en-GB"/>
                        <a:t>Blochează moștenirea altor clase</a:t>
                      </a:r>
                    </a:p>
                  </a:txBody>
                  <a:tcPr anchor="ctr"/>
                </a:tc>
                <a:tc>
                  <a:txBody>
                    <a:bodyPr/>
                    <a:lstStyle/>
                    <a:p>
                      <a:pPr>
                        <a:buNone/>
                      </a:pPr>
                      <a:r>
                        <a:rPr lang="en-GB"/>
                        <a:t>Permite moștenirea altor clase</a:t>
                      </a:r>
                    </a:p>
                  </a:txBody>
                  <a:tcPr anchor="ctr"/>
                </a:tc>
                <a:extLst>
                  <a:ext uri="{0D108BD9-81ED-4DB2-BD59-A6C34878D82A}">
                    <a16:rowId xmlns:a16="http://schemas.microsoft.com/office/drawing/2014/main" val="4052809208"/>
                  </a:ext>
                </a:extLst>
              </a:tr>
              <a:tr h="370840">
                <a:tc>
                  <a:txBody>
                    <a:bodyPr/>
                    <a:lstStyle/>
                    <a:p>
                      <a:pPr>
                        <a:buNone/>
                      </a:pPr>
                      <a:r>
                        <a:rPr lang="en-GB"/>
                        <a:t>Flexibilitate</a:t>
                      </a:r>
                    </a:p>
                  </a:txBody>
                  <a:tcPr anchor="ctr"/>
                </a:tc>
                <a:tc>
                  <a:txBody>
                    <a:bodyPr/>
                    <a:lstStyle/>
                    <a:p>
                      <a:pPr>
                        <a:buNone/>
                      </a:pPr>
                      <a:r>
                        <a:rPr lang="en-GB"/>
                        <a:t>Limitată</a:t>
                      </a:r>
                    </a:p>
                  </a:txBody>
                  <a:tcPr anchor="ctr"/>
                </a:tc>
                <a:tc>
                  <a:txBody>
                    <a:bodyPr/>
                    <a:lstStyle/>
                    <a:p>
                      <a:pPr>
                        <a:buNone/>
                      </a:pPr>
                      <a:r>
                        <a:rPr lang="en-GB"/>
                        <a:t>Recomandată în practică</a:t>
                      </a:r>
                    </a:p>
                  </a:txBody>
                  <a:tcPr anchor="ctr"/>
                </a:tc>
                <a:extLst>
                  <a:ext uri="{0D108BD9-81ED-4DB2-BD59-A6C34878D82A}">
                    <a16:rowId xmlns:a16="http://schemas.microsoft.com/office/drawing/2014/main" val="805612522"/>
                  </a:ext>
                </a:extLst>
              </a:tr>
              <a:tr h="370840">
                <a:tc>
                  <a:txBody>
                    <a:bodyPr/>
                    <a:lstStyle/>
                    <a:p>
                      <a:pPr>
                        <a:buNone/>
                      </a:pPr>
                      <a:r>
                        <a:rPr lang="en-GB"/>
                        <a:t>Instanțiere</a:t>
                      </a:r>
                    </a:p>
                  </a:txBody>
                  <a:tcPr anchor="ctr"/>
                </a:tc>
                <a:tc>
                  <a:txBody>
                    <a:bodyPr/>
                    <a:lstStyle/>
                    <a:p>
                      <a:pPr>
                        <a:buNone/>
                      </a:pPr>
                      <a:r>
                        <a:rPr lang="en-GB"/>
                        <a:t>Direct</a:t>
                      </a:r>
                    </a:p>
                  </a:txBody>
                  <a:tcPr anchor="ctr"/>
                </a:tc>
                <a:tc>
                  <a:txBody>
                    <a:bodyPr/>
                    <a:lstStyle/>
                    <a:p>
                      <a:pPr>
                        <a:buNone/>
                      </a:pPr>
                      <a:r>
                        <a:rPr lang="en-GB" dirty="0"/>
                        <a:t>Prin </a:t>
                      </a:r>
                      <a:r>
                        <a:rPr lang="en-GB" dirty="0" err="1"/>
                        <a:t>obiect</a:t>
                      </a:r>
                      <a:r>
                        <a:rPr lang="en-GB" dirty="0"/>
                        <a:t> </a:t>
                      </a:r>
                      <a:r>
                        <a:rPr lang="en-GB" dirty="0">
                          <a:latin typeface="Courier New" panose="02070309020205020404" pitchFamily="49" charset="0"/>
                        </a:rPr>
                        <a:t>Thread</a:t>
                      </a:r>
                      <a:r>
                        <a:rPr lang="en-GB" dirty="0"/>
                        <a:t> </a:t>
                      </a:r>
                      <a:r>
                        <a:rPr lang="en-GB" dirty="0" err="1"/>
                        <a:t>separat</a:t>
                      </a:r>
                      <a:endParaRPr lang="en-GB" dirty="0"/>
                    </a:p>
                  </a:txBody>
                  <a:tcPr anchor="ctr"/>
                </a:tc>
                <a:extLst>
                  <a:ext uri="{0D108BD9-81ED-4DB2-BD59-A6C34878D82A}">
                    <a16:rowId xmlns:a16="http://schemas.microsoft.com/office/drawing/2014/main" val="1379939577"/>
                  </a:ext>
                </a:extLst>
              </a:tr>
            </a:tbl>
          </a:graphicData>
        </a:graphic>
      </p:graphicFrame>
    </p:spTree>
    <p:extLst>
      <p:ext uri="{BB962C8B-B14F-4D97-AF65-F5344CB8AC3E}">
        <p14:creationId xmlns:p14="http://schemas.microsoft.com/office/powerpoint/2010/main" val="42011688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Stările unui fir de </a:t>
            </a:r>
            <a:r>
              <a:rPr lang="ro-RO" b="1" dirty="0" err="1"/>
              <a:t>execuţie</a:t>
            </a:r>
            <a:endParaRPr lang="ro-RO" dirty="0"/>
          </a:p>
        </p:txBody>
      </p:sp>
      <p:sp>
        <p:nvSpPr>
          <p:cNvPr id="3" name="Content Placeholder 2"/>
          <p:cNvSpPr>
            <a:spLocks noGrp="1"/>
          </p:cNvSpPr>
          <p:nvPr>
            <p:ph idx="1"/>
          </p:nvPr>
        </p:nvSpPr>
        <p:spPr>
          <a:xfrm>
            <a:off x="173182" y="1876289"/>
            <a:ext cx="7813963" cy="4587239"/>
          </a:xfrm>
        </p:spPr>
        <p:txBody>
          <a:bodyPr>
            <a:normAutofit lnSpcReduction="10000"/>
          </a:bodyPr>
          <a:lstStyle/>
          <a:p>
            <a:r>
              <a:rPr lang="ro-RO" sz="1800" dirty="0"/>
              <a:t>Un fir de </a:t>
            </a:r>
            <a:r>
              <a:rPr lang="ro-RO" sz="1800" dirty="0" err="1"/>
              <a:t>execuţie</a:t>
            </a:r>
            <a:r>
              <a:rPr lang="ro-RO" sz="1800" dirty="0"/>
              <a:t> se poate afla în Java în mai multe stări, în </a:t>
            </a:r>
            <a:r>
              <a:rPr lang="ro-RO" sz="1800" dirty="0" err="1"/>
              <a:t>funcţie</a:t>
            </a:r>
            <a:r>
              <a:rPr lang="ro-RO" sz="1800" dirty="0"/>
              <a:t> de ce se întâmplă cu el la un moment dat.</a:t>
            </a:r>
          </a:p>
          <a:p>
            <a:r>
              <a:rPr lang="ro-RO" sz="1800" dirty="0"/>
              <a:t>Atunci când este creat, dar înainte de apelul metodei start, firul se </a:t>
            </a:r>
            <a:r>
              <a:rPr lang="ro-RO" sz="1800" dirty="0" err="1"/>
              <a:t>găseşte</a:t>
            </a:r>
            <a:r>
              <a:rPr lang="ro-RO" sz="1800" dirty="0"/>
              <a:t> într-o stare pe care o vom numi </a:t>
            </a:r>
            <a:r>
              <a:rPr lang="ro-RO" sz="1800" dirty="0">
                <a:solidFill>
                  <a:srgbClr val="FF0000"/>
                </a:solidFill>
              </a:rPr>
              <a:t>Fir Nou Creat </a:t>
            </a:r>
            <a:r>
              <a:rPr lang="ro-RO" sz="1800" dirty="0"/>
              <a:t>. În această stare, singurele metode care se pot apela pentru firul de </a:t>
            </a:r>
            <a:r>
              <a:rPr lang="ro-RO" sz="1800" dirty="0" err="1"/>
              <a:t>execuţie</a:t>
            </a:r>
            <a:r>
              <a:rPr lang="ro-RO" sz="1800" dirty="0"/>
              <a:t> sunt metodele </a:t>
            </a:r>
            <a:r>
              <a:rPr lang="ro-RO" sz="1800" dirty="0">
                <a:solidFill>
                  <a:srgbClr val="FF0000"/>
                </a:solidFill>
              </a:rPr>
              <a:t>start</a:t>
            </a:r>
            <a:r>
              <a:rPr lang="ro-RO" sz="1800" dirty="0"/>
              <a:t> </a:t>
            </a:r>
            <a:r>
              <a:rPr lang="ro-RO" sz="1800" dirty="0" err="1"/>
              <a:t>şi</a:t>
            </a:r>
            <a:r>
              <a:rPr lang="ro-RO" sz="1800" dirty="0"/>
              <a:t> </a:t>
            </a:r>
            <a:r>
              <a:rPr lang="ro-RO" sz="1800" dirty="0">
                <a:solidFill>
                  <a:srgbClr val="FF0000"/>
                </a:solidFill>
              </a:rPr>
              <a:t>stop</a:t>
            </a:r>
            <a:r>
              <a:rPr lang="ro-RO" sz="1800" dirty="0"/>
              <a:t> . </a:t>
            </a:r>
          </a:p>
          <a:p>
            <a:r>
              <a:rPr lang="ro-RO" sz="1800" dirty="0"/>
              <a:t>Metoda </a:t>
            </a:r>
            <a:r>
              <a:rPr lang="ro-RO" sz="1800" dirty="0">
                <a:solidFill>
                  <a:srgbClr val="FF0000"/>
                </a:solidFill>
              </a:rPr>
              <a:t>start</a:t>
            </a:r>
            <a:r>
              <a:rPr lang="ro-RO" sz="1800" dirty="0"/>
              <a:t> lansează firul în execuţie prin apelul metodei </a:t>
            </a:r>
            <a:r>
              <a:rPr lang="ro-RO" sz="1800" dirty="0">
                <a:solidFill>
                  <a:srgbClr val="FF0000"/>
                </a:solidFill>
              </a:rPr>
              <a:t>run</a:t>
            </a:r>
            <a:r>
              <a:rPr lang="ro-RO" sz="1800" dirty="0"/>
              <a:t>.</a:t>
            </a:r>
          </a:p>
          <a:p>
            <a:r>
              <a:rPr lang="ro-RO" sz="1800" dirty="0"/>
              <a:t> Metoda </a:t>
            </a:r>
            <a:r>
              <a:rPr lang="ro-RO" sz="1800" dirty="0">
                <a:solidFill>
                  <a:srgbClr val="FF0000"/>
                </a:solidFill>
              </a:rPr>
              <a:t>stop</a:t>
            </a:r>
            <a:r>
              <a:rPr lang="ro-RO" sz="1800" dirty="0"/>
              <a:t> omoară firul de </a:t>
            </a:r>
            <a:r>
              <a:rPr lang="ro-RO" sz="1800" dirty="0" err="1"/>
              <a:t>execuţie</a:t>
            </a:r>
            <a:r>
              <a:rPr lang="ro-RO" sz="1800" dirty="0"/>
              <a:t> încă înainte de a fi lansat. Orice altă metodă apelată în această stare provoacă terminarea firului de </a:t>
            </a:r>
            <a:r>
              <a:rPr lang="ro-RO" sz="1800" dirty="0" err="1"/>
              <a:t>execuţie</a:t>
            </a:r>
            <a:r>
              <a:rPr lang="ro-RO" sz="1800" dirty="0"/>
              <a:t> prin generarea unei </a:t>
            </a:r>
            <a:r>
              <a:rPr lang="ro-RO" sz="1800" dirty="0" err="1"/>
              <a:t>excepţii</a:t>
            </a:r>
            <a:r>
              <a:rPr lang="ro-RO" sz="1800" dirty="0"/>
              <a:t> de tip </a:t>
            </a:r>
            <a:r>
              <a:rPr lang="ro-RO" sz="1800" dirty="0" err="1">
                <a:solidFill>
                  <a:srgbClr val="FF0000"/>
                </a:solidFill>
              </a:rPr>
              <a:t>IllegalThreadStateException</a:t>
            </a:r>
            <a:r>
              <a:rPr lang="ro-RO" sz="1800" dirty="0"/>
              <a:t> .</a:t>
            </a:r>
          </a:p>
          <a:p>
            <a:r>
              <a:rPr lang="ro-RO" sz="1800" dirty="0"/>
              <a:t>Dacă apelăm metoda </a:t>
            </a:r>
            <a:r>
              <a:rPr lang="ro-RO" dirty="0">
                <a:solidFill>
                  <a:srgbClr val="FF0000"/>
                </a:solidFill>
              </a:rPr>
              <a:t>start</a:t>
            </a:r>
            <a:r>
              <a:rPr lang="ro-RO" sz="1800" dirty="0"/>
              <a:t> pentru un </a:t>
            </a:r>
            <a:r>
              <a:rPr lang="ro-RO" sz="1800" dirty="0">
                <a:solidFill>
                  <a:srgbClr val="FF0000"/>
                </a:solidFill>
              </a:rPr>
              <a:t>Fir Nou Creat </a:t>
            </a:r>
            <a:r>
              <a:rPr lang="ro-RO" sz="1800" dirty="0"/>
              <a:t>firul de </a:t>
            </a:r>
            <a:r>
              <a:rPr lang="ro-RO" sz="1800" dirty="0" err="1"/>
              <a:t>execuţie</a:t>
            </a:r>
            <a:r>
              <a:rPr lang="ro-RO" sz="1800" dirty="0"/>
              <a:t> va trece în starea </a:t>
            </a:r>
            <a:r>
              <a:rPr lang="ro-RO" sz="1800" dirty="0">
                <a:solidFill>
                  <a:srgbClr val="FF0000"/>
                </a:solidFill>
              </a:rPr>
              <a:t>Rulează</a:t>
            </a:r>
            <a:r>
              <a:rPr lang="ro-RO" sz="1800" dirty="0"/>
              <a:t>. În această stare, </a:t>
            </a:r>
            <a:r>
              <a:rPr lang="ro-RO" sz="1800" dirty="0" err="1"/>
              <a:t>instrucţiunile</a:t>
            </a:r>
            <a:r>
              <a:rPr lang="ro-RO" sz="1800" dirty="0"/>
              <a:t> din corpul metodei </a:t>
            </a:r>
            <a:r>
              <a:rPr lang="ro-RO" sz="1800" dirty="0" err="1">
                <a:solidFill>
                  <a:srgbClr val="FF0000"/>
                </a:solidFill>
              </a:rPr>
              <a:t>run</a:t>
            </a:r>
            <a:r>
              <a:rPr lang="ro-RO" sz="1800" dirty="0"/>
              <a:t> se execută una după alta. </a:t>
            </a:r>
            <a:r>
              <a:rPr lang="ro-RO" sz="1800" dirty="0" err="1"/>
              <a:t>Execuţia</a:t>
            </a:r>
            <a:r>
              <a:rPr lang="ro-RO" sz="1800" dirty="0"/>
              <a:t> poate fi oprită temporar prin apelul metodei </a:t>
            </a:r>
            <a:r>
              <a:rPr lang="ro-RO" sz="1800" dirty="0" err="1">
                <a:solidFill>
                  <a:srgbClr val="FF0000"/>
                </a:solidFill>
              </a:rPr>
              <a:t>sleep</a:t>
            </a:r>
            <a:r>
              <a:rPr lang="ro-RO" sz="1800" dirty="0"/>
              <a:t> care </a:t>
            </a:r>
            <a:r>
              <a:rPr lang="ro-RO" sz="1800" dirty="0" err="1"/>
              <a:t>primeşte</a:t>
            </a:r>
            <a:r>
              <a:rPr lang="ro-RO" sz="1800" dirty="0"/>
              <a:t> ca argument un număr de milisecunde care reprezintă intervalul de timp în care firul trebuie să fie oprit. </a:t>
            </a:r>
          </a:p>
          <a:p>
            <a:r>
              <a:rPr lang="ro-RO" sz="1800" dirty="0"/>
              <a:t>După trecerea intervalului, firul de execuţie va porni din nou.</a:t>
            </a:r>
          </a:p>
        </p:txBody>
      </p:sp>
      <p:pic>
        <p:nvPicPr>
          <p:cNvPr id="1026" name="Picture 2" descr="Java Thread Example - Java Code Geeks">
            <a:extLst>
              <a:ext uri="{FF2B5EF4-FFF2-40B4-BE49-F238E27FC236}">
                <a16:creationId xmlns:a16="http://schemas.microsoft.com/office/drawing/2014/main" id="{486749C6-E817-4B70-BA18-DDC9D84A68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5194" y="1737360"/>
            <a:ext cx="4476806" cy="4587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2256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Stările unui fir de </a:t>
            </a:r>
            <a:r>
              <a:rPr lang="ro-RO" b="1" dirty="0" err="1"/>
              <a:t>execuţie</a:t>
            </a:r>
            <a:endParaRPr lang="ro-RO" dirty="0"/>
          </a:p>
        </p:txBody>
      </p:sp>
      <p:sp>
        <p:nvSpPr>
          <p:cNvPr id="3" name="Content Placeholder 2"/>
          <p:cNvSpPr>
            <a:spLocks noGrp="1"/>
          </p:cNvSpPr>
          <p:nvPr>
            <p:ph idx="1"/>
          </p:nvPr>
        </p:nvSpPr>
        <p:spPr>
          <a:xfrm>
            <a:off x="494607" y="1894225"/>
            <a:ext cx="10058400" cy="4023360"/>
          </a:xfrm>
        </p:spPr>
        <p:txBody>
          <a:bodyPr>
            <a:noAutofit/>
          </a:bodyPr>
          <a:lstStyle/>
          <a:p>
            <a:r>
              <a:rPr lang="ro-RO" sz="1800" dirty="0"/>
              <a:t>În timpul în care se scurge intervalul specificat de </a:t>
            </a:r>
            <a:r>
              <a:rPr lang="ro-RO" sz="1800" dirty="0" err="1">
                <a:solidFill>
                  <a:srgbClr val="FF0000"/>
                </a:solidFill>
              </a:rPr>
              <a:t>sleep</a:t>
            </a:r>
            <a:r>
              <a:rPr lang="ro-RO" sz="1800" dirty="0"/>
              <a:t>, obiectul nu poate fi repornit prin metode </a:t>
            </a:r>
            <a:r>
              <a:rPr lang="ro-RO" sz="1800" dirty="0" err="1"/>
              <a:t>obişnuite</a:t>
            </a:r>
            <a:r>
              <a:rPr lang="ro-RO" sz="1800" dirty="0"/>
              <a:t>. </a:t>
            </a:r>
          </a:p>
          <a:p>
            <a:r>
              <a:rPr lang="ro-RO" sz="1800" dirty="0"/>
              <a:t>Singura cale de a </a:t>
            </a:r>
            <a:r>
              <a:rPr lang="ro-RO" sz="1800" dirty="0" err="1"/>
              <a:t>ieşi</a:t>
            </a:r>
            <a:r>
              <a:rPr lang="ro-RO" sz="1800" dirty="0"/>
              <a:t> din această stare este aceea de a apela metoda </a:t>
            </a:r>
            <a:r>
              <a:rPr lang="ro-RO" sz="1800" dirty="0" err="1">
                <a:solidFill>
                  <a:srgbClr val="FF0000"/>
                </a:solidFill>
              </a:rPr>
              <a:t>interrupt</a:t>
            </a:r>
            <a:r>
              <a:rPr lang="ro-RO" sz="1800" dirty="0"/>
              <a:t>. Această metodă generează o </a:t>
            </a:r>
            <a:r>
              <a:rPr lang="ro-RO" sz="1800" dirty="0" err="1"/>
              <a:t>excepţie</a:t>
            </a:r>
            <a:r>
              <a:rPr lang="ro-RO" sz="1800" dirty="0"/>
              <a:t> de tip </a:t>
            </a:r>
            <a:r>
              <a:rPr lang="ro-RO" sz="1800" dirty="0" err="1">
                <a:solidFill>
                  <a:srgbClr val="FF0000"/>
                </a:solidFill>
              </a:rPr>
              <a:t>InterruptedException</a:t>
            </a:r>
            <a:r>
              <a:rPr lang="ro-RO" sz="1800" dirty="0"/>
              <a:t> care nu este interceptată de </a:t>
            </a:r>
            <a:r>
              <a:rPr lang="ro-RO" sz="1800" dirty="0" err="1">
                <a:solidFill>
                  <a:srgbClr val="FF0000"/>
                </a:solidFill>
              </a:rPr>
              <a:t>sleep</a:t>
            </a:r>
            <a:r>
              <a:rPr lang="ro-RO" sz="1800" dirty="0"/>
              <a:t> dar care trebuie interceptată obligatoriu de metoda care a apelat metoda </a:t>
            </a:r>
            <a:r>
              <a:rPr lang="ro-RO" sz="1800" dirty="0" err="1">
                <a:solidFill>
                  <a:srgbClr val="FF0000"/>
                </a:solidFill>
              </a:rPr>
              <a:t>sleep</a:t>
            </a:r>
            <a:r>
              <a:rPr lang="ro-RO" sz="1800" dirty="0"/>
              <a:t>. De aceea, modul standard în care se apelează metoda </a:t>
            </a:r>
            <a:r>
              <a:rPr lang="ro-RO" sz="1800" dirty="0" err="1">
                <a:solidFill>
                  <a:srgbClr val="FF0000"/>
                </a:solidFill>
              </a:rPr>
              <a:t>sleep</a:t>
            </a:r>
            <a:r>
              <a:rPr lang="ro-RO" sz="1800" dirty="0"/>
              <a:t> este următorul:</a:t>
            </a:r>
          </a:p>
          <a:p>
            <a:r>
              <a:rPr lang="ro-RO" sz="1800" dirty="0"/>
              <a:t>…</a:t>
            </a:r>
          </a:p>
          <a:p>
            <a:r>
              <a:rPr lang="ro-RO" sz="1800" dirty="0" err="1"/>
              <a:t>try</a:t>
            </a:r>
            <a:r>
              <a:rPr lang="ro-RO" sz="1800" dirty="0"/>
              <a:t> {</a:t>
            </a:r>
          </a:p>
          <a:p>
            <a:r>
              <a:rPr lang="ro-RO" sz="1800" dirty="0" err="1"/>
              <a:t>sleep</a:t>
            </a:r>
            <a:r>
              <a:rPr lang="ro-RO" sz="1800" dirty="0"/>
              <a:t>( 1000 ); // o secundă</a:t>
            </a:r>
          </a:p>
          <a:p>
            <a:r>
              <a:rPr lang="ro-RO" sz="1800" dirty="0"/>
              <a:t>} catch( </a:t>
            </a:r>
            <a:r>
              <a:rPr lang="ro-RO" sz="1800" dirty="0" err="1"/>
              <a:t>InterruptedException</a:t>
            </a:r>
            <a:r>
              <a:rPr lang="ro-RO" sz="1800" dirty="0"/>
              <a:t> ) {</a:t>
            </a:r>
          </a:p>
          <a:p>
            <a:r>
              <a:rPr lang="ro-RO" sz="1800" dirty="0"/>
              <a:t>…</a:t>
            </a:r>
          </a:p>
          <a:p>
            <a:r>
              <a:rPr lang="ro-RO" sz="1800" dirty="0"/>
              <a:t>}</a:t>
            </a:r>
          </a:p>
          <a:p>
            <a:r>
              <a:rPr lang="ro-RO" sz="1800" dirty="0"/>
              <a:t>…</a:t>
            </a:r>
          </a:p>
          <a:p>
            <a:endParaRPr lang="ro-RO" sz="1800" dirty="0"/>
          </a:p>
        </p:txBody>
      </p:sp>
    </p:spTree>
    <p:extLst>
      <p:ext uri="{BB962C8B-B14F-4D97-AF65-F5344CB8AC3E}">
        <p14:creationId xmlns:p14="http://schemas.microsoft.com/office/powerpoint/2010/main" val="1013830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Stările unui fir de </a:t>
            </a:r>
            <a:r>
              <a:rPr lang="ro-RO" b="1" dirty="0" err="1"/>
              <a:t>execuţie</a:t>
            </a:r>
            <a:endParaRPr lang="ro-RO" dirty="0"/>
          </a:p>
        </p:txBody>
      </p:sp>
      <p:sp>
        <p:nvSpPr>
          <p:cNvPr id="3" name="Content Placeholder 2"/>
          <p:cNvSpPr>
            <a:spLocks noGrp="1"/>
          </p:cNvSpPr>
          <p:nvPr>
            <p:ph idx="1"/>
          </p:nvPr>
        </p:nvSpPr>
        <p:spPr>
          <a:xfrm>
            <a:off x="556953" y="1928861"/>
            <a:ext cx="10058400" cy="4023360"/>
          </a:xfrm>
        </p:spPr>
        <p:txBody>
          <a:bodyPr>
            <a:normAutofit lnSpcReduction="10000"/>
          </a:bodyPr>
          <a:lstStyle/>
          <a:p>
            <a:r>
              <a:rPr lang="ro-RO" dirty="0"/>
              <a:t>Dacă dorim oprirea firului de </a:t>
            </a:r>
            <a:r>
              <a:rPr lang="ro-RO" dirty="0" err="1"/>
              <a:t>execuţie</a:t>
            </a:r>
            <a:r>
              <a:rPr lang="ro-RO" dirty="0"/>
              <a:t> pe timp nedefinit, putem apela metoda </a:t>
            </a:r>
            <a:r>
              <a:rPr lang="ro-RO" dirty="0">
                <a:solidFill>
                  <a:srgbClr val="FF0000"/>
                </a:solidFill>
              </a:rPr>
              <a:t>suspend</a:t>
            </a:r>
            <a:r>
              <a:rPr lang="ro-RO" dirty="0"/>
              <a:t>. Aceasta trece firul de </a:t>
            </a:r>
            <a:r>
              <a:rPr lang="ro-RO" dirty="0" err="1"/>
              <a:t>execuţie</a:t>
            </a:r>
            <a:r>
              <a:rPr lang="ro-RO" dirty="0"/>
              <a:t> într-o nouă stare, numită </a:t>
            </a:r>
            <a:r>
              <a:rPr lang="ro-RO" dirty="0">
                <a:solidFill>
                  <a:srgbClr val="FF0000"/>
                </a:solidFill>
              </a:rPr>
              <a:t>Nu Rulează</a:t>
            </a:r>
            <a:r>
              <a:rPr lang="ro-RO" dirty="0"/>
              <a:t>. </a:t>
            </a:r>
            <a:r>
              <a:rPr lang="ro-RO" dirty="0" err="1"/>
              <a:t>Aceeaşi</a:t>
            </a:r>
            <a:r>
              <a:rPr lang="ro-RO" dirty="0"/>
              <a:t> stare este folosită </a:t>
            </a:r>
            <a:r>
              <a:rPr lang="ro-RO" dirty="0" err="1"/>
              <a:t>şi</a:t>
            </a:r>
            <a:r>
              <a:rPr lang="ro-RO" dirty="0"/>
              <a:t> pentru oprirea temporară cu </a:t>
            </a:r>
            <a:r>
              <a:rPr lang="ro-RO" dirty="0" err="1">
                <a:solidFill>
                  <a:srgbClr val="FF0000"/>
                </a:solidFill>
              </a:rPr>
              <a:t>sleep</a:t>
            </a:r>
            <a:r>
              <a:rPr lang="ro-RO" dirty="0"/>
              <a:t>. În cazul apelului suspend însă, </a:t>
            </a:r>
            <a:r>
              <a:rPr lang="ro-RO" dirty="0" err="1"/>
              <a:t>execuţia</a:t>
            </a:r>
            <a:r>
              <a:rPr lang="ro-RO" dirty="0"/>
              <a:t> nu va putea fi reluată decât printr-un apel al metodei </a:t>
            </a:r>
            <a:r>
              <a:rPr lang="ro-RO" dirty="0" err="1">
                <a:solidFill>
                  <a:srgbClr val="FF0000"/>
                </a:solidFill>
              </a:rPr>
              <a:t>resume</a:t>
            </a:r>
            <a:r>
              <a:rPr lang="ro-RO" dirty="0"/>
              <a:t>. După acest apel, firul va intra din nou în starea </a:t>
            </a:r>
            <a:r>
              <a:rPr lang="ro-RO" dirty="0">
                <a:solidFill>
                  <a:srgbClr val="FF0000"/>
                </a:solidFill>
              </a:rPr>
              <a:t>Rulează</a:t>
            </a:r>
            <a:r>
              <a:rPr lang="ro-RO" dirty="0"/>
              <a:t> .</a:t>
            </a:r>
          </a:p>
          <a:p>
            <a:r>
              <a:rPr lang="ro-RO" dirty="0"/>
              <a:t>Pe timpul în care firul de </a:t>
            </a:r>
            <a:r>
              <a:rPr lang="ro-RO" dirty="0" err="1"/>
              <a:t>execuţie</a:t>
            </a:r>
            <a:r>
              <a:rPr lang="ro-RO" dirty="0"/>
              <a:t> se </a:t>
            </a:r>
            <a:r>
              <a:rPr lang="ro-RO" dirty="0" err="1"/>
              <a:t>găseşte</a:t>
            </a:r>
            <a:r>
              <a:rPr lang="ro-RO" dirty="0"/>
              <a:t> în starea </a:t>
            </a:r>
            <a:r>
              <a:rPr lang="ro-RO" dirty="0">
                <a:solidFill>
                  <a:srgbClr val="FF0000"/>
                </a:solidFill>
              </a:rPr>
              <a:t>Nu Rulează </a:t>
            </a:r>
            <a:r>
              <a:rPr lang="ro-RO" dirty="0"/>
              <a:t>, acesta nu este planificat niciodată la controlul </a:t>
            </a:r>
            <a:r>
              <a:rPr lang="ro-RO" dirty="0" err="1"/>
              <a:t>unităţii</a:t>
            </a:r>
            <a:r>
              <a:rPr lang="ro-RO" dirty="0"/>
              <a:t> centrale, aceasta fiind cedată celorlalte fire de </a:t>
            </a:r>
            <a:r>
              <a:rPr lang="ro-RO" dirty="0" err="1"/>
              <a:t>execuţie</a:t>
            </a:r>
            <a:r>
              <a:rPr lang="ro-RO" dirty="0"/>
              <a:t> din </a:t>
            </a:r>
            <a:r>
              <a:rPr lang="ro-RO" dirty="0" err="1"/>
              <a:t>aplicaţie</a:t>
            </a:r>
            <a:r>
              <a:rPr lang="ro-RO" dirty="0"/>
              <a:t>.</a:t>
            </a:r>
          </a:p>
          <a:p>
            <a:r>
              <a:rPr lang="ro-RO" dirty="0"/>
              <a:t>Firul de </a:t>
            </a:r>
            <a:r>
              <a:rPr lang="ro-RO" dirty="0" err="1"/>
              <a:t>execuţie</a:t>
            </a:r>
            <a:r>
              <a:rPr lang="ro-RO" dirty="0"/>
              <a:t> poate intra în starea </a:t>
            </a:r>
            <a:r>
              <a:rPr lang="ro-RO" dirty="0">
                <a:solidFill>
                  <a:srgbClr val="FF0000"/>
                </a:solidFill>
              </a:rPr>
              <a:t>Nu Rulează </a:t>
            </a:r>
            <a:r>
              <a:rPr lang="ro-RO" dirty="0" err="1"/>
              <a:t>şi</a:t>
            </a:r>
            <a:r>
              <a:rPr lang="ro-RO" dirty="0"/>
              <a:t> din alte motive. De exemplu se poate întâmpla ca firul să </a:t>
            </a:r>
            <a:r>
              <a:rPr lang="ro-RO" dirty="0" err="1"/>
              <a:t>aştepte</a:t>
            </a:r>
            <a:r>
              <a:rPr lang="ro-RO" dirty="0"/>
              <a:t> pentru terminarea unei </a:t>
            </a:r>
            <a:r>
              <a:rPr lang="ro-RO" dirty="0" err="1"/>
              <a:t>operaţii</a:t>
            </a:r>
            <a:r>
              <a:rPr lang="ro-RO" dirty="0"/>
              <a:t> de intrare/</a:t>
            </a:r>
            <a:r>
              <a:rPr lang="ro-RO" dirty="0" err="1"/>
              <a:t>ieşire</a:t>
            </a:r>
            <a:r>
              <a:rPr lang="ro-RO" dirty="0"/>
              <a:t> de lungă durată caz în care firul va intra din nou în starea Rulează doar după terminarea </a:t>
            </a:r>
            <a:r>
              <a:rPr lang="ro-RO" dirty="0" err="1"/>
              <a:t>operaţiei</a:t>
            </a:r>
            <a:r>
              <a:rPr lang="ro-RO" dirty="0"/>
              <a:t>.</a:t>
            </a:r>
          </a:p>
          <a:p>
            <a:r>
              <a:rPr lang="ro-RO" dirty="0"/>
              <a:t>O altă cale de a ajunge în starea </a:t>
            </a:r>
            <a:r>
              <a:rPr lang="ro-RO" dirty="0">
                <a:solidFill>
                  <a:srgbClr val="FF0000"/>
                </a:solidFill>
              </a:rPr>
              <a:t>Nu Rulează </a:t>
            </a:r>
            <a:r>
              <a:rPr lang="ro-RO" dirty="0"/>
              <a:t>este aceea de a apela o metodă sau o </a:t>
            </a:r>
            <a:r>
              <a:rPr lang="ro-RO" dirty="0" err="1"/>
              <a:t>secvenţă</a:t>
            </a:r>
            <a:r>
              <a:rPr lang="ro-RO" dirty="0"/>
              <a:t> de </a:t>
            </a:r>
            <a:r>
              <a:rPr lang="ro-RO" dirty="0" err="1"/>
              <a:t>instrucţiuni</a:t>
            </a:r>
            <a:r>
              <a:rPr lang="ro-RO" dirty="0"/>
              <a:t> sincronizată după un obiect. În acest caz, dacă obiectul este deja blocat, firul de </a:t>
            </a:r>
            <a:r>
              <a:rPr lang="ro-RO" dirty="0" err="1"/>
              <a:t>execuţie</a:t>
            </a:r>
            <a:r>
              <a:rPr lang="ro-RO" dirty="0"/>
              <a:t> va fi oprit până în clipa în care obiectul cu pricina apelează metoda </a:t>
            </a:r>
            <a:r>
              <a:rPr lang="ro-RO" dirty="0" err="1">
                <a:solidFill>
                  <a:srgbClr val="FF0000"/>
                </a:solidFill>
              </a:rPr>
              <a:t>notify</a:t>
            </a:r>
            <a:r>
              <a:rPr lang="ro-RO" dirty="0"/>
              <a:t> sau </a:t>
            </a:r>
            <a:r>
              <a:rPr lang="ro-RO" dirty="0" err="1">
                <a:solidFill>
                  <a:srgbClr val="FF0000"/>
                </a:solidFill>
              </a:rPr>
              <a:t>notifyAll</a:t>
            </a:r>
            <a:r>
              <a:rPr lang="ro-RO" dirty="0"/>
              <a:t> .</a:t>
            </a:r>
          </a:p>
          <a:p>
            <a:endParaRPr lang="ro-RO" dirty="0"/>
          </a:p>
        </p:txBody>
      </p:sp>
    </p:spTree>
    <p:extLst>
      <p:ext uri="{BB962C8B-B14F-4D97-AF65-F5344CB8AC3E}">
        <p14:creationId xmlns:p14="http://schemas.microsoft.com/office/powerpoint/2010/main" val="20654105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Stările unui fir de </a:t>
            </a:r>
            <a:r>
              <a:rPr lang="ro-RO" b="1" dirty="0" err="1"/>
              <a:t>execuţie</a:t>
            </a:r>
            <a:endParaRPr lang="ro-RO" dirty="0"/>
          </a:p>
        </p:txBody>
      </p:sp>
      <p:sp>
        <p:nvSpPr>
          <p:cNvPr id="3" name="Content Placeholder 2"/>
          <p:cNvSpPr>
            <a:spLocks noGrp="1"/>
          </p:cNvSpPr>
          <p:nvPr>
            <p:ph idx="1"/>
          </p:nvPr>
        </p:nvSpPr>
        <p:spPr>
          <a:xfrm>
            <a:off x="672737" y="1878392"/>
            <a:ext cx="10058400" cy="4023360"/>
          </a:xfrm>
        </p:spPr>
        <p:txBody>
          <a:bodyPr>
            <a:noAutofit/>
          </a:bodyPr>
          <a:lstStyle/>
          <a:p>
            <a:r>
              <a:rPr lang="ro-RO" sz="1800" dirty="0"/>
              <a:t>Atunci când metoda </a:t>
            </a:r>
            <a:r>
              <a:rPr lang="ro-RO" sz="1800" dirty="0" err="1">
                <a:solidFill>
                  <a:srgbClr val="FF0000"/>
                </a:solidFill>
              </a:rPr>
              <a:t>run</a:t>
            </a:r>
            <a:r>
              <a:rPr lang="ro-RO" sz="1800" dirty="0"/>
              <a:t> </a:t>
            </a:r>
            <a:r>
              <a:rPr lang="ro-RO" sz="1800" dirty="0" err="1"/>
              <a:t>şi</a:t>
            </a:r>
            <a:r>
              <a:rPr lang="ro-RO" sz="1800" dirty="0"/>
              <a:t>-a terminat </a:t>
            </a:r>
            <a:r>
              <a:rPr lang="ro-RO" sz="1800" dirty="0" err="1"/>
              <a:t>execuţia</a:t>
            </a:r>
            <a:r>
              <a:rPr lang="ro-RO" sz="1800" dirty="0"/>
              <a:t>, obiectul intră în starea </a:t>
            </a:r>
            <a:r>
              <a:rPr lang="ro-RO" sz="1800" dirty="0">
                <a:solidFill>
                  <a:srgbClr val="FF0000"/>
                </a:solidFill>
              </a:rPr>
              <a:t>Mort</a:t>
            </a:r>
            <a:r>
              <a:rPr lang="ro-RO" sz="1800" dirty="0"/>
              <a:t>. Această stare este păstrată până în clipa în care obiectul este eliminat din memorie de mecanismul de colectare a gunoaielor. O altă posibilitate de a intra în starea </a:t>
            </a:r>
            <a:r>
              <a:rPr lang="ro-RO" sz="1800" dirty="0">
                <a:solidFill>
                  <a:srgbClr val="FF0000"/>
                </a:solidFill>
              </a:rPr>
              <a:t>Mort</a:t>
            </a:r>
            <a:r>
              <a:rPr lang="ro-RO" sz="1800" dirty="0"/>
              <a:t> este aceea de a apela metoda </a:t>
            </a:r>
            <a:r>
              <a:rPr lang="ro-RO" sz="1800" dirty="0">
                <a:solidFill>
                  <a:srgbClr val="FF0000"/>
                </a:solidFill>
              </a:rPr>
              <a:t>stop</a:t>
            </a:r>
            <a:r>
              <a:rPr lang="ro-RO" sz="1800" dirty="0"/>
              <a:t> .</a:t>
            </a:r>
          </a:p>
          <a:p>
            <a:r>
              <a:rPr lang="ro-RO" sz="1800" dirty="0"/>
              <a:t>Firul de </a:t>
            </a:r>
            <a:r>
              <a:rPr lang="ro-RO" sz="1800" dirty="0" err="1"/>
              <a:t>execuţie</a:t>
            </a:r>
            <a:r>
              <a:rPr lang="ro-RO" sz="1800" dirty="0"/>
              <a:t> poate fi terminat </a:t>
            </a:r>
            <a:r>
              <a:rPr lang="ro-RO" sz="1800" dirty="0" err="1"/>
              <a:t>şi</a:t>
            </a:r>
            <a:r>
              <a:rPr lang="ro-RO" sz="1800" dirty="0"/>
              <a:t> pe alte căi, caz în care metoda </a:t>
            </a:r>
            <a:r>
              <a:rPr lang="ro-RO" sz="1800" dirty="0">
                <a:solidFill>
                  <a:srgbClr val="FF0000"/>
                </a:solidFill>
              </a:rPr>
              <a:t>stop</a:t>
            </a:r>
            <a:r>
              <a:rPr lang="ro-RO" sz="1800" dirty="0"/>
              <a:t> nu este apelată. În aceste </a:t>
            </a:r>
            <a:r>
              <a:rPr lang="ro-RO" sz="1800" dirty="0" err="1"/>
              <a:t>situaţii</a:t>
            </a:r>
            <a:r>
              <a:rPr lang="ro-RO" sz="1800" dirty="0"/>
              <a:t> este preferabil să ne folosim de o clauză </a:t>
            </a:r>
            <a:r>
              <a:rPr lang="ro-RO" sz="1800" dirty="0" err="1">
                <a:solidFill>
                  <a:srgbClr val="FF0000"/>
                </a:solidFill>
              </a:rPr>
              <a:t>finally</a:t>
            </a:r>
            <a:r>
              <a:rPr lang="ro-RO" sz="1800" dirty="0">
                <a:solidFill>
                  <a:srgbClr val="FF0000"/>
                </a:solidFill>
              </a:rPr>
              <a:t> </a:t>
            </a:r>
            <a:r>
              <a:rPr lang="ro-RO" sz="1800" dirty="0"/>
              <a:t>ca în exemplul următor:</a:t>
            </a:r>
          </a:p>
          <a:p>
            <a:pPr>
              <a:spcBef>
                <a:spcPts val="600"/>
              </a:spcBef>
            </a:pPr>
            <a:r>
              <a:rPr lang="en-GB" sz="1400" dirty="0">
                <a:solidFill>
                  <a:srgbClr val="000000"/>
                </a:solidFill>
                <a:highlight>
                  <a:srgbClr val="FFFFFF"/>
                </a:highlight>
              </a:rPr>
              <a:t>…</a:t>
            </a:r>
          </a:p>
          <a:p>
            <a:pPr>
              <a:spcBef>
                <a:spcPts val="600"/>
              </a:spcBef>
            </a:pPr>
            <a:r>
              <a:rPr lang="en-GB" sz="1400" b="1" dirty="0">
                <a:solidFill>
                  <a:srgbClr val="0000FF"/>
                </a:solidFill>
                <a:highlight>
                  <a:srgbClr val="FFFFFF"/>
                </a:highlight>
              </a:rPr>
              <a:t>try</a:t>
            </a:r>
            <a:r>
              <a:rPr lang="en-GB" sz="1400" b="0" dirty="0">
                <a:solidFill>
                  <a:srgbClr val="000000"/>
                </a:solidFill>
                <a:highlight>
                  <a:srgbClr val="FFFFFF"/>
                </a:highlight>
              </a:rPr>
              <a:t> </a:t>
            </a:r>
            <a:r>
              <a:rPr lang="en-GB" sz="1400" b="1" dirty="0">
                <a:solidFill>
                  <a:srgbClr val="000080"/>
                </a:solidFill>
                <a:highlight>
                  <a:srgbClr val="FFFFFF"/>
                </a:highlight>
              </a:rPr>
              <a:t>{</a:t>
            </a:r>
            <a:endParaRPr lang="en-GB" sz="1400" b="0" dirty="0">
              <a:solidFill>
                <a:srgbClr val="000000"/>
              </a:solidFill>
              <a:highlight>
                <a:srgbClr val="FFFFFF"/>
              </a:highlight>
            </a:endParaRPr>
          </a:p>
          <a:p>
            <a:pPr>
              <a:spcBef>
                <a:spcPts val="600"/>
              </a:spcBef>
            </a:pPr>
            <a:r>
              <a:rPr lang="en-GB" sz="1400" b="0" dirty="0">
                <a:solidFill>
                  <a:srgbClr val="000000"/>
                </a:solidFill>
                <a:highlight>
                  <a:srgbClr val="FFFFFF"/>
                </a:highlight>
              </a:rPr>
              <a:t>    </a:t>
            </a:r>
            <a:r>
              <a:rPr lang="en-GB" sz="1400" b="0" dirty="0" err="1">
                <a:solidFill>
                  <a:srgbClr val="000000"/>
                </a:solidFill>
                <a:highlight>
                  <a:srgbClr val="FFFFFF"/>
                </a:highlight>
              </a:rPr>
              <a:t>firDeExecutie</a:t>
            </a:r>
            <a:r>
              <a:rPr lang="en-GB" sz="1400" b="1" dirty="0" err="1">
                <a:solidFill>
                  <a:srgbClr val="000080"/>
                </a:solidFill>
                <a:highlight>
                  <a:srgbClr val="FFFFFF"/>
                </a:highlight>
              </a:rPr>
              <a:t>.</a:t>
            </a:r>
            <a:r>
              <a:rPr lang="en-GB" sz="1400" b="0" dirty="0" err="1">
                <a:solidFill>
                  <a:srgbClr val="000000"/>
                </a:solidFill>
                <a:highlight>
                  <a:srgbClr val="FFFFFF"/>
                </a:highlight>
              </a:rPr>
              <a:t>start</a:t>
            </a:r>
            <a:r>
              <a:rPr lang="en-GB" sz="1400" b="1" dirty="0">
                <a:solidFill>
                  <a:srgbClr val="000080"/>
                </a:solidFill>
                <a:highlight>
                  <a:srgbClr val="FFFFFF"/>
                </a:highlight>
              </a:rPr>
              <a:t>(</a:t>
            </a:r>
            <a:r>
              <a:rPr lang="en-GB" sz="1400" b="0" dirty="0">
                <a:solidFill>
                  <a:srgbClr val="000000"/>
                </a:solidFill>
                <a:highlight>
                  <a:srgbClr val="FFFFFF"/>
                </a:highlight>
              </a:rPr>
              <a:t> </a:t>
            </a:r>
            <a:r>
              <a:rPr lang="en-GB" sz="1400" b="1" dirty="0">
                <a:solidFill>
                  <a:srgbClr val="000080"/>
                </a:solidFill>
                <a:highlight>
                  <a:srgbClr val="FFFFFF"/>
                </a:highlight>
              </a:rPr>
              <a:t>);</a:t>
            </a:r>
            <a:endParaRPr lang="en-GB" sz="1400" b="0" dirty="0">
              <a:solidFill>
                <a:srgbClr val="000000"/>
              </a:solidFill>
              <a:highlight>
                <a:srgbClr val="FFFFFF"/>
              </a:highlight>
            </a:endParaRPr>
          </a:p>
          <a:p>
            <a:pPr>
              <a:spcBef>
                <a:spcPts val="600"/>
              </a:spcBef>
            </a:pPr>
            <a:r>
              <a:rPr lang="en-GB" sz="1400" b="0" dirty="0">
                <a:solidFill>
                  <a:srgbClr val="000000"/>
                </a:solidFill>
                <a:highlight>
                  <a:srgbClr val="FFFFFF"/>
                </a:highlight>
              </a:rPr>
              <a:t>…</a:t>
            </a:r>
          </a:p>
          <a:p>
            <a:pPr>
              <a:spcBef>
                <a:spcPts val="600"/>
              </a:spcBef>
            </a:pPr>
            <a:r>
              <a:rPr lang="en-GB" sz="1400" b="1" dirty="0">
                <a:solidFill>
                  <a:srgbClr val="000080"/>
                </a:solidFill>
                <a:highlight>
                  <a:srgbClr val="FFFFFF"/>
                </a:highlight>
              </a:rPr>
              <a:t>}</a:t>
            </a:r>
            <a:r>
              <a:rPr lang="en-GB" sz="1400" b="0" dirty="0">
                <a:solidFill>
                  <a:srgbClr val="000000"/>
                </a:solidFill>
                <a:highlight>
                  <a:srgbClr val="FFFFFF"/>
                </a:highlight>
              </a:rPr>
              <a:t> </a:t>
            </a:r>
            <a:r>
              <a:rPr lang="en-GB" sz="1400" b="1" dirty="0">
                <a:solidFill>
                  <a:srgbClr val="0000FF"/>
                </a:solidFill>
                <a:highlight>
                  <a:srgbClr val="FFFFFF"/>
                </a:highlight>
              </a:rPr>
              <a:t>finally</a:t>
            </a:r>
            <a:r>
              <a:rPr lang="en-GB" sz="1400" b="0" dirty="0">
                <a:solidFill>
                  <a:srgbClr val="000000"/>
                </a:solidFill>
                <a:highlight>
                  <a:srgbClr val="FFFFFF"/>
                </a:highlight>
              </a:rPr>
              <a:t> </a:t>
            </a:r>
            <a:r>
              <a:rPr lang="en-GB" sz="1400" b="1" dirty="0">
                <a:solidFill>
                  <a:srgbClr val="000080"/>
                </a:solidFill>
                <a:highlight>
                  <a:srgbClr val="FFFFFF"/>
                </a:highlight>
              </a:rPr>
              <a:t>{</a:t>
            </a:r>
            <a:endParaRPr lang="en-GB" sz="1400" b="0" dirty="0">
              <a:solidFill>
                <a:srgbClr val="000000"/>
              </a:solidFill>
              <a:highlight>
                <a:srgbClr val="FFFFFF"/>
              </a:highlight>
            </a:endParaRPr>
          </a:p>
          <a:p>
            <a:pPr>
              <a:spcBef>
                <a:spcPts val="600"/>
              </a:spcBef>
            </a:pPr>
            <a:r>
              <a:rPr lang="en-GB" sz="1400" b="0" dirty="0">
                <a:solidFill>
                  <a:srgbClr val="000000"/>
                </a:solidFill>
                <a:highlight>
                  <a:srgbClr val="FFFFFF"/>
                </a:highlight>
              </a:rPr>
              <a:t>    </a:t>
            </a:r>
            <a:r>
              <a:rPr lang="en-GB" sz="1400" b="1" dirty="0">
                <a:solidFill>
                  <a:srgbClr val="000080"/>
                </a:solidFill>
                <a:highlight>
                  <a:srgbClr val="FFFFFF"/>
                </a:highlight>
              </a:rPr>
              <a:t>..</a:t>
            </a:r>
            <a:r>
              <a:rPr lang="en-GB" sz="1400" b="0" dirty="0">
                <a:solidFill>
                  <a:srgbClr val="008000"/>
                </a:solidFill>
                <a:highlight>
                  <a:srgbClr val="FFFFFF"/>
                </a:highlight>
              </a:rPr>
              <a:t>// </a:t>
            </a:r>
            <a:r>
              <a:rPr lang="en-GB" sz="1400" b="0" dirty="0" err="1">
                <a:solidFill>
                  <a:srgbClr val="008000"/>
                </a:solidFill>
                <a:highlight>
                  <a:srgbClr val="FFFFFF"/>
                </a:highlight>
              </a:rPr>
              <a:t>curăţenie</a:t>
            </a:r>
            <a:endParaRPr lang="en-GB" sz="1400" b="0" dirty="0">
              <a:solidFill>
                <a:srgbClr val="008000"/>
              </a:solidFill>
              <a:highlight>
                <a:srgbClr val="FFFFFF"/>
              </a:highlight>
            </a:endParaRPr>
          </a:p>
          <a:p>
            <a:pPr>
              <a:spcBef>
                <a:spcPts val="600"/>
              </a:spcBef>
            </a:pPr>
            <a:r>
              <a:rPr lang="en-GB" sz="1400" b="1" dirty="0">
                <a:solidFill>
                  <a:srgbClr val="000080"/>
                </a:solidFill>
                <a:highlight>
                  <a:srgbClr val="FFFFFF"/>
                </a:highlight>
              </a:rPr>
              <a:t>}</a:t>
            </a:r>
            <a:endParaRPr lang="en-GB" sz="1400" b="0" dirty="0">
              <a:solidFill>
                <a:srgbClr val="000000"/>
              </a:solidFill>
              <a:highlight>
                <a:srgbClr val="FFFFFF"/>
              </a:highlight>
            </a:endParaRPr>
          </a:p>
          <a:p>
            <a:r>
              <a:rPr lang="ro-RO" sz="1800" dirty="0"/>
              <a:t>În fine, dacă nu se mai poate face nimic pentru că firul de execuţie nu mai răspunde la comenzi, puteţi apela la metoda </a:t>
            </a:r>
            <a:r>
              <a:rPr lang="ro-RO" sz="1800" dirty="0">
                <a:solidFill>
                  <a:srgbClr val="FF0000"/>
                </a:solidFill>
              </a:rPr>
              <a:t>destroy</a:t>
            </a:r>
            <a:r>
              <a:rPr lang="ro-RO" sz="1800" dirty="0"/>
              <a:t>. Din păcate, metoda </a:t>
            </a:r>
            <a:r>
              <a:rPr lang="ro-RO" sz="1800" dirty="0" err="1">
                <a:solidFill>
                  <a:srgbClr val="FF0000"/>
                </a:solidFill>
              </a:rPr>
              <a:t>destroy</a:t>
            </a:r>
            <a:r>
              <a:rPr lang="ro-RO" sz="1800" dirty="0"/>
              <a:t> termină firul de </a:t>
            </a:r>
            <a:r>
              <a:rPr lang="ro-RO" sz="1800" dirty="0" err="1"/>
              <a:t>execuţie</a:t>
            </a:r>
            <a:r>
              <a:rPr lang="ro-RO" sz="1800" dirty="0"/>
              <a:t> fără a proceda la </a:t>
            </a:r>
            <a:r>
              <a:rPr lang="ro-RO" sz="1800" dirty="0" err="1"/>
              <a:t>curăţirile</a:t>
            </a:r>
            <a:r>
              <a:rPr lang="ro-RO" sz="1800" dirty="0"/>
              <a:t> necesare în memorie.</a:t>
            </a:r>
          </a:p>
          <a:p>
            <a:endParaRPr lang="ro-RO" sz="1800" dirty="0"/>
          </a:p>
        </p:txBody>
      </p:sp>
    </p:spTree>
    <p:extLst>
      <p:ext uri="{BB962C8B-B14F-4D97-AF65-F5344CB8AC3E}">
        <p14:creationId xmlns:p14="http://schemas.microsoft.com/office/powerpoint/2010/main" val="816094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462" y="345447"/>
            <a:ext cx="10058400" cy="1450757"/>
          </a:xfrm>
        </p:spPr>
        <p:txBody>
          <a:bodyPr/>
          <a:lstStyle/>
          <a:p>
            <a:r>
              <a:rPr lang="ro-RO" b="1" dirty="0"/>
              <a:t>Stările unui fir de </a:t>
            </a:r>
            <a:r>
              <a:rPr lang="ro-RO" b="1" dirty="0" err="1"/>
              <a:t>execuţie</a:t>
            </a:r>
            <a:endParaRPr lang="ro-RO" dirty="0"/>
          </a:p>
        </p:txBody>
      </p:sp>
      <p:sp>
        <p:nvSpPr>
          <p:cNvPr id="3" name="Content Placeholder 2"/>
          <p:cNvSpPr>
            <a:spLocks noGrp="1"/>
          </p:cNvSpPr>
          <p:nvPr>
            <p:ph idx="1"/>
          </p:nvPr>
        </p:nvSpPr>
        <p:spPr>
          <a:xfrm>
            <a:off x="228600" y="1930901"/>
            <a:ext cx="6608618" cy="4762499"/>
          </a:xfrm>
        </p:spPr>
        <p:txBody>
          <a:bodyPr>
            <a:normAutofit fontScale="92500" lnSpcReduction="20000"/>
          </a:bodyPr>
          <a:lstStyle/>
          <a:p>
            <a:r>
              <a:rPr lang="ro-RO" dirty="0"/>
              <a:t>Atunci când un fir de </a:t>
            </a:r>
            <a:r>
              <a:rPr lang="ro-RO" dirty="0" err="1"/>
              <a:t>execuţie</a:t>
            </a:r>
            <a:r>
              <a:rPr lang="ro-RO" dirty="0"/>
              <a:t> este oprit cu comanda </a:t>
            </a:r>
            <a:r>
              <a:rPr lang="ro-RO" dirty="0">
                <a:solidFill>
                  <a:srgbClr val="FF0000"/>
                </a:solidFill>
              </a:rPr>
              <a:t>stop</a:t>
            </a:r>
            <a:r>
              <a:rPr lang="ro-RO" dirty="0"/>
              <a:t>, mai este nevoie de un timp până când sistemul efectuează toate </a:t>
            </a:r>
            <a:r>
              <a:rPr lang="ro-RO" dirty="0" err="1"/>
              <a:t>operaţiile</a:t>
            </a:r>
            <a:r>
              <a:rPr lang="ro-RO" dirty="0"/>
              <a:t> necesare opririi. Din această cauză, este preferabil să </a:t>
            </a:r>
            <a:r>
              <a:rPr lang="ro-RO" dirty="0" err="1"/>
              <a:t>aşteptăm</a:t>
            </a:r>
            <a:r>
              <a:rPr lang="ro-RO" dirty="0"/>
              <a:t> în mod explicit terminarea firului prin apelul metodei </a:t>
            </a:r>
            <a:r>
              <a:rPr lang="ro-RO" dirty="0" err="1">
                <a:solidFill>
                  <a:srgbClr val="FF0000"/>
                </a:solidFill>
              </a:rPr>
              <a:t>join</a:t>
            </a:r>
            <a:r>
              <a:rPr lang="ro-RO" dirty="0"/>
              <a:t>:</a:t>
            </a:r>
          </a:p>
          <a:p>
            <a:pPr>
              <a:spcBef>
                <a:spcPts val="600"/>
              </a:spcBef>
            </a:pPr>
            <a:r>
              <a:rPr lang="en-GB" sz="2000" dirty="0" err="1">
                <a:solidFill>
                  <a:srgbClr val="000000"/>
                </a:solidFill>
                <a:highlight>
                  <a:srgbClr val="FFFFFF"/>
                </a:highlight>
              </a:rPr>
              <a:t>firDeExecutie</a:t>
            </a:r>
            <a:r>
              <a:rPr lang="en-GB" sz="2000" b="1" dirty="0" err="1">
                <a:solidFill>
                  <a:srgbClr val="000080"/>
                </a:solidFill>
                <a:highlight>
                  <a:srgbClr val="FFFFFF"/>
                </a:highlight>
              </a:rPr>
              <a:t>.</a:t>
            </a:r>
            <a:r>
              <a:rPr lang="en-GB" sz="2000" b="0" dirty="0" err="1">
                <a:solidFill>
                  <a:srgbClr val="000000"/>
                </a:solidFill>
                <a:highlight>
                  <a:srgbClr val="FFFFFF"/>
                </a:highlight>
              </a:rPr>
              <a:t>stop</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1" dirty="0">
                <a:solidFill>
                  <a:srgbClr val="000080"/>
                </a:solidFill>
                <a:highlight>
                  <a:srgbClr val="FFFFFF"/>
                </a:highlight>
              </a:rPr>
              <a:t>)</a:t>
            </a:r>
            <a:endParaRPr lang="en-GB" sz="2000" b="0" dirty="0">
              <a:solidFill>
                <a:srgbClr val="000000"/>
              </a:solidFill>
              <a:highlight>
                <a:srgbClr val="FFFFFF"/>
              </a:highlight>
            </a:endParaRPr>
          </a:p>
          <a:p>
            <a:pPr>
              <a:spcBef>
                <a:spcPts val="600"/>
              </a:spcBef>
            </a:pPr>
            <a:r>
              <a:rPr lang="en-GB" sz="2000" b="1" dirty="0">
                <a:solidFill>
                  <a:srgbClr val="0000FF"/>
                </a:solidFill>
                <a:highlight>
                  <a:srgbClr val="FFFFFF"/>
                </a:highlight>
              </a:rPr>
              <a:t>try</a:t>
            </a:r>
            <a:r>
              <a:rPr lang="en-GB" sz="2000" b="0" dirty="0">
                <a:solidFill>
                  <a:srgbClr val="000000"/>
                </a:solidFill>
                <a:highlight>
                  <a:srgbClr val="FFFFFF"/>
                </a:highlight>
              </a:rPr>
              <a:t> </a:t>
            </a:r>
            <a:r>
              <a:rPr lang="en-GB" sz="2000" b="1" dirty="0">
                <a:solidFill>
                  <a:srgbClr val="000080"/>
                </a:solidFill>
                <a:highlight>
                  <a:srgbClr val="FFFFFF"/>
                </a:highlight>
              </a:rPr>
              <a:t>{</a:t>
            </a:r>
            <a:endParaRPr lang="en-GB" sz="2000" b="0" dirty="0">
              <a:solidFill>
                <a:srgbClr val="000000"/>
              </a:solidFill>
              <a:highlight>
                <a:srgbClr val="FFFFFF"/>
              </a:highlight>
            </a:endParaRPr>
          </a:p>
          <a:p>
            <a:pPr>
              <a:spcBef>
                <a:spcPts val="600"/>
              </a:spcBef>
            </a:pPr>
            <a:r>
              <a:rPr lang="en-GB" sz="2000" b="0" dirty="0" err="1">
                <a:solidFill>
                  <a:srgbClr val="000000"/>
                </a:solidFill>
                <a:highlight>
                  <a:srgbClr val="FFFFFF"/>
                </a:highlight>
              </a:rPr>
              <a:t>firDeExecutie</a:t>
            </a:r>
            <a:r>
              <a:rPr lang="en-GB" sz="2000" b="1" dirty="0" err="1">
                <a:solidFill>
                  <a:srgbClr val="000080"/>
                </a:solidFill>
                <a:highlight>
                  <a:srgbClr val="FFFFFF"/>
                </a:highlight>
              </a:rPr>
              <a:t>.</a:t>
            </a:r>
            <a:r>
              <a:rPr lang="en-GB" sz="2000" b="0" dirty="0" err="1">
                <a:solidFill>
                  <a:srgbClr val="000000"/>
                </a:solidFill>
                <a:highlight>
                  <a:srgbClr val="FFFFFF"/>
                </a:highlight>
              </a:rPr>
              <a:t>join</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1" dirty="0">
                <a:solidFill>
                  <a:srgbClr val="000080"/>
                </a:solidFill>
                <a:highlight>
                  <a:srgbClr val="FFFFFF"/>
                </a:highlight>
              </a:rPr>
              <a:t>);</a:t>
            </a:r>
            <a:endParaRPr lang="en-GB" sz="2000" b="0" dirty="0">
              <a:solidFill>
                <a:srgbClr val="000000"/>
              </a:solidFill>
              <a:highlight>
                <a:srgbClr val="FFFFFF"/>
              </a:highlight>
            </a:endParaRPr>
          </a:p>
          <a:p>
            <a:pPr>
              <a:spcBef>
                <a:spcPts val="600"/>
              </a:spcBef>
            </a:pP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1" dirty="0">
                <a:solidFill>
                  <a:srgbClr val="0000FF"/>
                </a:solidFill>
                <a:highlight>
                  <a:srgbClr val="FFFFFF"/>
                </a:highlight>
              </a:rPr>
              <a:t>catch</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0" dirty="0" err="1">
                <a:solidFill>
                  <a:srgbClr val="000000"/>
                </a:solidFill>
                <a:highlight>
                  <a:srgbClr val="FFFFFF"/>
                </a:highlight>
              </a:rPr>
              <a:t>InterruptedException</a:t>
            </a:r>
            <a:r>
              <a:rPr lang="en-GB" sz="2000" b="0" dirty="0">
                <a:solidFill>
                  <a:srgbClr val="000000"/>
                </a:solidFill>
                <a:highlight>
                  <a:srgbClr val="FFFFFF"/>
                </a:highlight>
              </a:rPr>
              <a:t> e </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1" dirty="0">
                <a:solidFill>
                  <a:srgbClr val="000080"/>
                </a:solidFill>
                <a:highlight>
                  <a:srgbClr val="FFFFFF"/>
                </a:highlight>
              </a:rPr>
              <a:t>{</a:t>
            </a:r>
            <a:endParaRPr lang="en-GB" sz="2000" b="0" dirty="0">
              <a:solidFill>
                <a:srgbClr val="000000"/>
              </a:solidFill>
              <a:highlight>
                <a:srgbClr val="FFFFFF"/>
              </a:highlight>
            </a:endParaRPr>
          </a:p>
          <a:p>
            <a:pPr>
              <a:spcBef>
                <a:spcPts val="600"/>
              </a:spcBef>
            </a:pPr>
            <a:r>
              <a:rPr lang="en-GB" sz="2000" b="0" dirty="0">
                <a:solidFill>
                  <a:srgbClr val="000000"/>
                </a:solidFill>
                <a:highlight>
                  <a:srgbClr val="FFFFFF"/>
                </a:highlight>
              </a:rPr>
              <a:t>…</a:t>
            </a:r>
          </a:p>
          <a:p>
            <a:pPr>
              <a:spcBef>
                <a:spcPts val="600"/>
              </a:spcBef>
            </a:pPr>
            <a:r>
              <a:rPr lang="en-GB" sz="2000" b="1" dirty="0">
                <a:solidFill>
                  <a:srgbClr val="000080"/>
                </a:solidFill>
                <a:highlight>
                  <a:srgbClr val="FFFFFF"/>
                </a:highlight>
              </a:rPr>
              <a:t>}</a:t>
            </a:r>
            <a:endParaRPr lang="en-GB" sz="2000" b="0" dirty="0">
              <a:solidFill>
                <a:srgbClr val="000000"/>
              </a:solidFill>
              <a:highlight>
                <a:srgbClr val="FFFFFF"/>
              </a:highlight>
            </a:endParaRPr>
          </a:p>
          <a:p>
            <a:r>
              <a:rPr lang="ro-RO" dirty="0"/>
              <a:t>Excepţia de întrerupere trebuie interceptată obligatoriu. Dacă nu apelăm metoda </a:t>
            </a:r>
            <a:r>
              <a:rPr lang="ro-RO" dirty="0">
                <a:solidFill>
                  <a:srgbClr val="FF0000"/>
                </a:solidFill>
              </a:rPr>
              <a:t>join</a:t>
            </a:r>
            <a:r>
              <a:rPr lang="ro-RO" dirty="0"/>
              <a:t> pentru a aştepta terminarea şi metoda </a:t>
            </a:r>
            <a:r>
              <a:rPr lang="ro-RO" dirty="0">
                <a:solidFill>
                  <a:srgbClr val="FF0000"/>
                </a:solidFill>
              </a:rPr>
              <a:t>stop</a:t>
            </a:r>
            <a:r>
              <a:rPr lang="ro-RO" dirty="0"/>
              <a:t> este de exemplu apelată pe ultima linie a funcţiei </a:t>
            </a:r>
            <a:r>
              <a:rPr lang="ro-RO" dirty="0">
                <a:solidFill>
                  <a:srgbClr val="FF0000"/>
                </a:solidFill>
              </a:rPr>
              <a:t>main</a:t>
            </a:r>
            <a:r>
              <a:rPr lang="ro-RO" dirty="0"/>
              <a:t> , există şansa ca sistemul să creadă că firul auxiliar de execuţie este încă în viaţă şi aplicaţia Java să nu se mai ter</a:t>
            </a:r>
            <a:r>
              <a:rPr lang="en-GB" dirty="0"/>
              <a:t>m</a:t>
            </a:r>
            <a:r>
              <a:rPr lang="ro-RO" dirty="0"/>
              <a:t>ine rămânând într-o stare de aşteptare. </a:t>
            </a:r>
            <a:r>
              <a:rPr lang="en-GB" dirty="0"/>
              <a:t>Se </a:t>
            </a:r>
            <a:r>
              <a:rPr lang="en-GB" dirty="0" err="1"/>
              <a:t>poate</a:t>
            </a:r>
            <a:r>
              <a:rPr lang="en-GB" dirty="0"/>
              <a:t> </a:t>
            </a:r>
            <a:r>
              <a:rPr lang="ro-RO" dirty="0"/>
              <a:t>termina tastând ^C. </a:t>
            </a:r>
          </a:p>
        </p:txBody>
      </p:sp>
      <p:pic>
        <p:nvPicPr>
          <p:cNvPr id="2050" name="Picture 2" descr="Life Cycle of Thread in Java | Thread State - Scientech Easy">
            <a:extLst>
              <a:ext uri="{FF2B5EF4-FFF2-40B4-BE49-F238E27FC236}">
                <a16:creationId xmlns:a16="http://schemas.microsoft.com/office/drawing/2014/main" id="{D669D38F-8D07-4969-E0EC-DCD3A15738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4982" y="1989821"/>
            <a:ext cx="5237018" cy="4364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22303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492370" y="605896"/>
            <a:ext cx="3084844" cy="5646208"/>
          </a:xfrm>
        </p:spPr>
        <p:txBody>
          <a:bodyPr anchor="ctr">
            <a:normAutofit/>
          </a:bodyPr>
          <a:lstStyle/>
          <a:p>
            <a:r>
              <a:rPr lang="ro-RO" sz="3600" b="1">
                <a:solidFill>
                  <a:srgbClr val="FFFFFF"/>
                </a:solidFill>
              </a:rPr>
              <a:t>Prioritatea firelor de execuţie</a:t>
            </a:r>
            <a:endParaRPr lang="ro-RO" sz="3600">
              <a:solidFill>
                <a:srgbClr val="FFFFFF"/>
              </a:solidFill>
            </a:endParaRP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 name="Content Placeholder 2"/>
          <p:cNvSpPr>
            <a:spLocks noGrp="1"/>
          </p:cNvSpPr>
          <p:nvPr>
            <p:ph idx="1"/>
          </p:nvPr>
        </p:nvSpPr>
        <p:spPr>
          <a:xfrm>
            <a:off x="4742016" y="605896"/>
            <a:ext cx="6413663" cy="5646208"/>
          </a:xfrm>
        </p:spPr>
        <p:txBody>
          <a:bodyPr anchor="ctr">
            <a:normAutofit lnSpcReduction="10000"/>
          </a:bodyPr>
          <a:lstStyle/>
          <a:p>
            <a:r>
              <a:rPr lang="ro-RO" sz="1800" dirty="0"/>
              <a:t>Fiecare fir de execuţie are o prioritate cuprinsă între valorile </a:t>
            </a:r>
            <a:r>
              <a:rPr lang="ro-RO" sz="1800" dirty="0">
                <a:solidFill>
                  <a:srgbClr val="FF0000"/>
                </a:solidFill>
              </a:rPr>
              <a:t>MIN_PRIORITY</a:t>
            </a:r>
            <a:r>
              <a:rPr lang="ro-RO" sz="1800" dirty="0"/>
              <a:t> şi </a:t>
            </a:r>
            <a:r>
              <a:rPr lang="ro-RO" sz="1800" dirty="0">
                <a:solidFill>
                  <a:srgbClr val="FF0000"/>
                </a:solidFill>
              </a:rPr>
              <a:t>MAX_PRIORITY</a:t>
            </a:r>
            <a:r>
              <a:rPr lang="ro-RO" sz="1800" dirty="0"/>
              <a:t>. Aceste două variabile finale sunt declarate în clasa </a:t>
            </a:r>
            <a:r>
              <a:rPr lang="ro-RO" sz="1800" dirty="0">
                <a:solidFill>
                  <a:srgbClr val="FF0000"/>
                </a:solidFill>
              </a:rPr>
              <a:t>Thread</a:t>
            </a:r>
            <a:r>
              <a:rPr lang="ro-RO" sz="1800" dirty="0"/>
              <a:t>. În mod normal însă, un fir de execuţie are prioritatea </a:t>
            </a:r>
            <a:r>
              <a:rPr lang="ro-RO" sz="1800" dirty="0">
                <a:solidFill>
                  <a:srgbClr val="FF0000"/>
                </a:solidFill>
              </a:rPr>
              <a:t>NORM_PRIORITY</a:t>
            </a:r>
            <a:r>
              <a:rPr lang="ro-RO" sz="1800" dirty="0"/>
              <a:t>, de asemenea definită în clasa </a:t>
            </a:r>
            <a:r>
              <a:rPr lang="ro-RO" sz="1800" dirty="0">
                <a:solidFill>
                  <a:srgbClr val="FF0000"/>
                </a:solidFill>
              </a:rPr>
              <a:t>Thread</a:t>
            </a:r>
            <a:r>
              <a:rPr lang="ro-RO" sz="1800" dirty="0"/>
              <a:t> .</a:t>
            </a:r>
          </a:p>
          <a:p>
            <a:r>
              <a:rPr lang="ro-RO" sz="1800" dirty="0"/>
              <a:t>Mediul de execuţie Java planifică firele de execuţie la controlul unităţii centrale în funcţie de prioritatea lor. Dacă există mai multe fire cu prioritate maximă, acestea sunt planificate după un algoritm numit round-robin. Firele de prioritate mai mică intră în calcul doar atunci când toate firele de prioritate mare sunt în starea </a:t>
            </a:r>
            <a:r>
              <a:rPr lang="ro-RO" sz="1800" dirty="0">
                <a:solidFill>
                  <a:srgbClr val="FF0000"/>
                </a:solidFill>
              </a:rPr>
              <a:t>Nu Rulează </a:t>
            </a:r>
            <a:r>
              <a:rPr lang="ro-RO" sz="1800" dirty="0"/>
              <a:t>.</a:t>
            </a:r>
          </a:p>
          <a:p>
            <a:r>
              <a:rPr lang="ro-RO" sz="1800" dirty="0"/>
              <a:t>Prioritatea unui fir de execuţie se poate interoga cu metoda </a:t>
            </a:r>
            <a:r>
              <a:rPr lang="ro-RO" sz="1800" dirty="0">
                <a:solidFill>
                  <a:srgbClr val="FF0000"/>
                </a:solidFill>
              </a:rPr>
              <a:t>getPriority</a:t>
            </a:r>
            <a:r>
              <a:rPr lang="ro-RO" sz="1800" dirty="0"/>
              <a:t> care întoarce un număr întreg care reprezintă prioritatea curentă a firului de execuţie. Pentru a seta prioritatea, se foloseşte metoda </a:t>
            </a:r>
            <a:r>
              <a:rPr lang="ro-RO" sz="1800" dirty="0">
                <a:solidFill>
                  <a:srgbClr val="FF0000"/>
                </a:solidFill>
              </a:rPr>
              <a:t>setPriority</a:t>
            </a:r>
            <a:r>
              <a:rPr lang="ro-RO" sz="1800" dirty="0"/>
              <a:t> care primeşte ca parametru un număr întreg care reprezintă prioritatea dorită.</a:t>
            </a:r>
          </a:p>
          <a:p>
            <a:r>
              <a:rPr lang="ro-RO" sz="1800" dirty="0"/>
              <a:t>Există însă situaţii în care putem schimba această prioritate fără pericol, de exemplu când avem un fir de execuţie care nu face altceva decât să citească caractere de la utilizator şi să le memoreze într-o zonă temporară. În acest caz, firul de execuţie este în cea mai mare parte a timpului în starea </a:t>
            </a:r>
            <a:r>
              <a:rPr lang="ro-RO" sz="1800" dirty="0">
                <a:solidFill>
                  <a:srgbClr val="FF0000"/>
                </a:solidFill>
              </a:rPr>
              <a:t>Nu Rulează</a:t>
            </a:r>
            <a:r>
              <a:rPr lang="ro-RO" sz="1800" dirty="0"/>
              <a:t> din cauză că aşteaptă terminarea unei operaţii de intrare/ieşire.</a:t>
            </a:r>
          </a:p>
          <a:p>
            <a:endParaRPr lang="ro-RO" sz="1700" dirty="0"/>
          </a:p>
        </p:txBody>
      </p:sp>
    </p:spTree>
    <p:extLst>
      <p:ext uri="{BB962C8B-B14F-4D97-AF65-F5344CB8AC3E}">
        <p14:creationId xmlns:p14="http://schemas.microsoft.com/office/powerpoint/2010/main" val="35762814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662426E1-051E-E773-7FBB-D44C6D482E4E}"/>
              </a:ext>
            </a:extLst>
          </p:cNvPr>
          <p:cNvSpPr>
            <a:spLocks noGrp="1"/>
          </p:cNvSpPr>
          <p:nvPr>
            <p:ph type="title"/>
          </p:nvPr>
        </p:nvSpPr>
        <p:spPr>
          <a:xfrm>
            <a:off x="492370" y="605896"/>
            <a:ext cx="3084844" cy="5646208"/>
          </a:xfrm>
        </p:spPr>
        <p:txBody>
          <a:bodyPr anchor="ctr">
            <a:normAutofit/>
          </a:bodyPr>
          <a:lstStyle/>
          <a:p>
            <a:r>
              <a:rPr lang="en-GB" sz="3600">
                <a:solidFill>
                  <a:srgbClr val="FFFFFF"/>
                </a:solidFill>
              </a:rPr>
              <a:t>Exemplu</a:t>
            </a: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 name="Content Placeholder 2">
            <a:extLst>
              <a:ext uri="{FF2B5EF4-FFF2-40B4-BE49-F238E27FC236}">
                <a16:creationId xmlns:a16="http://schemas.microsoft.com/office/drawing/2014/main" id="{C3557CA3-99D4-350B-A2C8-B033009A7E64}"/>
              </a:ext>
            </a:extLst>
          </p:cNvPr>
          <p:cNvSpPr>
            <a:spLocks noGrp="1"/>
          </p:cNvSpPr>
          <p:nvPr>
            <p:ph idx="1"/>
          </p:nvPr>
        </p:nvSpPr>
        <p:spPr>
          <a:xfrm>
            <a:off x="4742016" y="605896"/>
            <a:ext cx="6413663" cy="5646208"/>
          </a:xfrm>
        </p:spPr>
        <p:txBody>
          <a:bodyPr anchor="ctr">
            <a:normAutofit/>
          </a:bodyPr>
          <a:lstStyle/>
          <a:p>
            <a:pPr>
              <a:spcBef>
                <a:spcPts val="0"/>
              </a:spcBef>
            </a:pPr>
            <a:r>
              <a:rPr lang="en-GB" sz="1400" dirty="0">
                <a:solidFill>
                  <a:srgbClr val="8000FF"/>
                </a:solidFill>
                <a:highlight>
                  <a:srgbClr val="FFFFFF"/>
                </a:highlight>
              </a:rPr>
              <a:t>class</a:t>
            </a:r>
            <a:r>
              <a:rPr lang="en-GB" sz="1400" dirty="0">
                <a:solidFill>
                  <a:srgbClr val="000000"/>
                </a:solidFill>
                <a:highlight>
                  <a:srgbClr val="FFFFFF"/>
                </a:highlight>
              </a:rPr>
              <a:t> </a:t>
            </a:r>
            <a:r>
              <a:rPr lang="en-GB" sz="1400" dirty="0" err="1">
                <a:solidFill>
                  <a:srgbClr val="000000"/>
                </a:solidFill>
                <a:highlight>
                  <a:srgbClr val="FFFFFF"/>
                </a:highlight>
              </a:rPr>
              <a:t>FirPrioritate</a:t>
            </a:r>
            <a:r>
              <a:rPr lang="en-GB" sz="1400" dirty="0">
                <a:solidFill>
                  <a:srgbClr val="000000"/>
                </a:solidFill>
                <a:highlight>
                  <a:srgbClr val="FFFFFF"/>
                </a:highlight>
              </a:rPr>
              <a:t> </a:t>
            </a:r>
            <a:r>
              <a:rPr lang="en-GB" sz="1400" b="1" dirty="0">
                <a:solidFill>
                  <a:srgbClr val="0000FF"/>
                </a:solidFill>
                <a:highlight>
                  <a:srgbClr val="FFFFFF"/>
                </a:highlight>
              </a:rPr>
              <a:t>extends</a:t>
            </a:r>
            <a:r>
              <a:rPr lang="en-GB" sz="1400" dirty="0">
                <a:solidFill>
                  <a:srgbClr val="000000"/>
                </a:solidFill>
                <a:highlight>
                  <a:srgbClr val="FFFFFF"/>
                </a:highlight>
              </a:rPr>
              <a:t> Thread </a:t>
            </a:r>
            <a:r>
              <a:rPr lang="en-GB" sz="1400" b="1" dirty="0">
                <a:solidFill>
                  <a:srgbClr val="000080"/>
                </a:solidFill>
                <a:highlight>
                  <a:srgbClr val="FFFFFF"/>
                </a:highlight>
              </a:rPr>
              <a:t>{</a:t>
            </a:r>
            <a:endParaRPr lang="en-GB" sz="1400" dirty="0">
              <a:solidFill>
                <a:srgbClr val="000000"/>
              </a:solidFill>
              <a:highlight>
                <a:srgbClr val="FFFFFF"/>
              </a:highlight>
            </a:endParaRPr>
          </a:p>
          <a:p>
            <a:pPr>
              <a:spcBef>
                <a:spcPts val="0"/>
              </a:spcBef>
            </a:pPr>
            <a:r>
              <a:rPr lang="en-GB" sz="1400" dirty="0">
                <a:solidFill>
                  <a:srgbClr val="000000"/>
                </a:solidFill>
                <a:highlight>
                  <a:srgbClr val="FFFFFF"/>
                </a:highlight>
              </a:rPr>
              <a:t>    </a:t>
            </a:r>
            <a:r>
              <a:rPr lang="en-GB" sz="1400" dirty="0">
                <a:solidFill>
                  <a:srgbClr val="8000FF"/>
                </a:solidFill>
                <a:highlight>
                  <a:srgbClr val="FFFFFF"/>
                </a:highlight>
              </a:rPr>
              <a:t>public</a:t>
            </a:r>
            <a:r>
              <a:rPr lang="en-GB" sz="1400" dirty="0">
                <a:solidFill>
                  <a:srgbClr val="000000"/>
                </a:solidFill>
                <a:highlight>
                  <a:srgbClr val="FFFFFF"/>
                </a:highlight>
              </a:rPr>
              <a:t> </a:t>
            </a:r>
            <a:r>
              <a:rPr lang="en-GB" sz="1400" dirty="0" err="1">
                <a:solidFill>
                  <a:srgbClr val="000000"/>
                </a:solidFill>
                <a:highlight>
                  <a:srgbClr val="FFFFFF"/>
                </a:highlight>
              </a:rPr>
              <a:t>FirPrioritate</a:t>
            </a:r>
            <a:r>
              <a:rPr lang="en-GB" sz="1400" b="1" dirty="0">
                <a:solidFill>
                  <a:srgbClr val="000080"/>
                </a:solidFill>
                <a:highlight>
                  <a:srgbClr val="FFFFFF"/>
                </a:highlight>
              </a:rPr>
              <a:t>(</a:t>
            </a:r>
            <a:r>
              <a:rPr lang="en-GB" sz="1400" dirty="0">
                <a:solidFill>
                  <a:srgbClr val="000000"/>
                </a:solidFill>
                <a:highlight>
                  <a:srgbClr val="FFFFFF"/>
                </a:highlight>
              </a:rPr>
              <a:t>String </a:t>
            </a:r>
            <a:r>
              <a:rPr lang="en-GB" sz="1400" dirty="0" err="1">
                <a:solidFill>
                  <a:srgbClr val="000000"/>
                </a:solidFill>
                <a:highlight>
                  <a:srgbClr val="FFFFFF"/>
                </a:highlight>
              </a:rPr>
              <a:t>nume</a:t>
            </a:r>
            <a:r>
              <a:rPr lang="en-GB" sz="1400" b="1" dirty="0">
                <a:solidFill>
                  <a:srgbClr val="000080"/>
                </a:solidFill>
                <a:highlight>
                  <a:srgbClr val="FFFFFF"/>
                </a:highlight>
              </a:rPr>
              <a:t>)</a:t>
            </a:r>
            <a:r>
              <a:rPr lang="en-GB" sz="1400" dirty="0">
                <a:solidFill>
                  <a:srgbClr val="000000"/>
                </a:solidFill>
                <a:highlight>
                  <a:srgbClr val="FFFFFF"/>
                </a:highlight>
              </a:rPr>
              <a:t> </a:t>
            </a:r>
            <a:r>
              <a:rPr lang="en-GB" sz="1400" b="1" dirty="0">
                <a:solidFill>
                  <a:srgbClr val="000080"/>
                </a:solidFill>
                <a:highlight>
                  <a:srgbClr val="FFFFFF"/>
                </a:highlight>
              </a:rPr>
              <a:t>{</a:t>
            </a:r>
            <a:endParaRPr lang="en-GB" sz="1400" dirty="0">
              <a:solidFill>
                <a:srgbClr val="000000"/>
              </a:solidFill>
              <a:highlight>
                <a:srgbClr val="FFFFFF"/>
              </a:highlight>
            </a:endParaRPr>
          </a:p>
          <a:p>
            <a:pPr>
              <a:spcBef>
                <a:spcPts val="0"/>
              </a:spcBef>
            </a:pPr>
            <a:r>
              <a:rPr lang="en-GB" sz="1400" dirty="0">
                <a:solidFill>
                  <a:srgbClr val="000000"/>
                </a:solidFill>
                <a:highlight>
                  <a:srgbClr val="FFFFFF"/>
                </a:highlight>
              </a:rPr>
              <a:t>        </a:t>
            </a:r>
            <a:r>
              <a:rPr lang="en-GB" sz="1400" b="1" dirty="0">
                <a:solidFill>
                  <a:srgbClr val="0000FF"/>
                </a:solidFill>
                <a:highlight>
                  <a:srgbClr val="FFFFFF"/>
                </a:highlight>
              </a:rPr>
              <a:t>super</a:t>
            </a:r>
            <a:r>
              <a:rPr lang="en-GB" sz="1400" b="1" dirty="0">
                <a:solidFill>
                  <a:srgbClr val="000080"/>
                </a:solidFill>
                <a:highlight>
                  <a:srgbClr val="FFFFFF"/>
                </a:highlight>
              </a:rPr>
              <a:t>(</a:t>
            </a:r>
            <a:r>
              <a:rPr lang="en-GB" sz="1400" dirty="0" err="1">
                <a:solidFill>
                  <a:srgbClr val="000000"/>
                </a:solidFill>
                <a:highlight>
                  <a:srgbClr val="FFFFFF"/>
                </a:highlight>
              </a:rPr>
              <a:t>nume</a:t>
            </a:r>
            <a:r>
              <a:rPr lang="en-GB" sz="1400" b="1" dirty="0">
                <a:solidFill>
                  <a:srgbClr val="000080"/>
                </a:solidFill>
                <a:highlight>
                  <a:srgbClr val="FFFFFF"/>
                </a:highlight>
              </a:rPr>
              <a:t>);</a:t>
            </a:r>
            <a:endParaRPr lang="en-GB" sz="1400" dirty="0">
              <a:solidFill>
                <a:srgbClr val="000000"/>
              </a:solidFill>
              <a:highlight>
                <a:srgbClr val="FFFFFF"/>
              </a:highlight>
            </a:endParaRPr>
          </a:p>
          <a:p>
            <a:pPr>
              <a:spcBef>
                <a:spcPts val="0"/>
              </a:spcBef>
            </a:pPr>
            <a:r>
              <a:rPr lang="en-GB" sz="1400" dirty="0">
                <a:solidFill>
                  <a:srgbClr val="000000"/>
                </a:solidFill>
                <a:highlight>
                  <a:srgbClr val="FFFFFF"/>
                </a:highlight>
              </a:rPr>
              <a:t>    </a:t>
            </a:r>
            <a:r>
              <a:rPr lang="en-GB" sz="1400" b="1" dirty="0">
                <a:solidFill>
                  <a:srgbClr val="000080"/>
                </a:solidFill>
                <a:highlight>
                  <a:srgbClr val="FFFFFF"/>
                </a:highlight>
              </a:rPr>
              <a:t>}</a:t>
            </a:r>
            <a:endParaRPr lang="en-GB" sz="1400" dirty="0">
              <a:solidFill>
                <a:srgbClr val="000000"/>
              </a:solidFill>
              <a:highlight>
                <a:srgbClr val="FFFFFF"/>
              </a:highlight>
            </a:endParaRPr>
          </a:p>
          <a:p>
            <a:pPr>
              <a:spcBef>
                <a:spcPts val="0"/>
              </a:spcBef>
            </a:pPr>
            <a:endParaRPr lang="en-GB" sz="1400" dirty="0">
              <a:solidFill>
                <a:srgbClr val="000000"/>
              </a:solidFill>
              <a:highlight>
                <a:srgbClr val="FFFFFF"/>
              </a:highlight>
            </a:endParaRPr>
          </a:p>
          <a:p>
            <a:pPr>
              <a:spcBef>
                <a:spcPts val="0"/>
              </a:spcBef>
            </a:pPr>
            <a:r>
              <a:rPr lang="en-GB" sz="1400" dirty="0">
                <a:solidFill>
                  <a:srgbClr val="000000"/>
                </a:solidFill>
                <a:highlight>
                  <a:srgbClr val="FFFFFF"/>
                </a:highlight>
              </a:rPr>
              <a:t>    </a:t>
            </a:r>
            <a:r>
              <a:rPr lang="en-GB" sz="1400" dirty="0">
                <a:solidFill>
                  <a:srgbClr val="8000FF"/>
                </a:solidFill>
                <a:highlight>
                  <a:srgbClr val="FFFFFF"/>
                </a:highlight>
              </a:rPr>
              <a:t>public</a:t>
            </a:r>
            <a:r>
              <a:rPr lang="en-GB" sz="1400" dirty="0">
                <a:solidFill>
                  <a:srgbClr val="000000"/>
                </a:solidFill>
                <a:highlight>
                  <a:srgbClr val="FFFFFF"/>
                </a:highlight>
              </a:rPr>
              <a:t> </a:t>
            </a:r>
            <a:r>
              <a:rPr lang="en-GB" sz="1400" dirty="0">
                <a:solidFill>
                  <a:srgbClr val="8000FF"/>
                </a:solidFill>
                <a:highlight>
                  <a:srgbClr val="FFFFFF"/>
                </a:highlight>
              </a:rPr>
              <a:t>void</a:t>
            </a:r>
            <a:r>
              <a:rPr lang="en-GB" sz="1400" dirty="0">
                <a:solidFill>
                  <a:srgbClr val="000000"/>
                </a:solidFill>
                <a:highlight>
                  <a:srgbClr val="FFFFFF"/>
                </a:highlight>
              </a:rPr>
              <a:t> run</a:t>
            </a:r>
            <a:r>
              <a:rPr lang="en-GB" sz="1400" b="1" dirty="0">
                <a:solidFill>
                  <a:srgbClr val="000080"/>
                </a:solidFill>
                <a:highlight>
                  <a:srgbClr val="FFFFFF"/>
                </a:highlight>
              </a:rPr>
              <a:t>()</a:t>
            </a:r>
            <a:r>
              <a:rPr lang="en-GB" sz="1400" dirty="0">
                <a:solidFill>
                  <a:srgbClr val="000000"/>
                </a:solidFill>
                <a:highlight>
                  <a:srgbClr val="FFFFFF"/>
                </a:highlight>
              </a:rPr>
              <a:t> </a:t>
            </a:r>
            <a:r>
              <a:rPr lang="en-GB" sz="1400" b="1" dirty="0">
                <a:solidFill>
                  <a:srgbClr val="000080"/>
                </a:solidFill>
                <a:highlight>
                  <a:srgbClr val="FFFFFF"/>
                </a:highlight>
              </a:rPr>
              <a:t>{</a:t>
            </a:r>
            <a:endParaRPr lang="en-GB" sz="1400" dirty="0">
              <a:solidFill>
                <a:srgbClr val="000000"/>
              </a:solidFill>
              <a:highlight>
                <a:srgbClr val="FFFFFF"/>
              </a:highlight>
            </a:endParaRPr>
          </a:p>
          <a:p>
            <a:pPr>
              <a:spcBef>
                <a:spcPts val="0"/>
              </a:spcBef>
            </a:pPr>
            <a:r>
              <a:rPr lang="nn-NO" sz="1400" dirty="0">
                <a:solidFill>
                  <a:srgbClr val="000000"/>
                </a:solidFill>
                <a:highlight>
                  <a:srgbClr val="FFFFFF"/>
                </a:highlight>
              </a:rPr>
              <a:t>        </a:t>
            </a:r>
            <a:r>
              <a:rPr lang="nn-NO" sz="1400" b="1" dirty="0">
                <a:solidFill>
                  <a:srgbClr val="0000FF"/>
                </a:solidFill>
                <a:highlight>
                  <a:srgbClr val="FFFFFF"/>
                </a:highlight>
              </a:rPr>
              <a:t>for</a:t>
            </a:r>
            <a:r>
              <a:rPr lang="nn-NO" sz="1400" dirty="0">
                <a:solidFill>
                  <a:srgbClr val="000000"/>
                </a:solidFill>
                <a:highlight>
                  <a:srgbClr val="FFFFFF"/>
                </a:highlight>
              </a:rPr>
              <a:t> </a:t>
            </a:r>
            <a:r>
              <a:rPr lang="nn-NO" sz="1400" b="1" dirty="0">
                <a:solidFill>
                  <a:srgbClr val="000080"/>
                </a:solidFill>
                <a:highlight>
                  <a:srgbClr val="FFFFFF"/>
                </a:highlight>
              </a:rPr>
              <a:t>(</a:t>
            </a:r>
            <a:r>
              <a:rPr lang="nn-NO" sz="1400" dirty="0">
                <a:solidFill>
                  <a:srgbClr val="8000FF"/>
                </a:solidFill>
                <a:highlight>
                  <a:srgbClr val="FFFFFF"/>
                </a:highlight>
              </a:rPr>
              <a:t>int</a:t>
            </a:r>
            <a:r>
              <a:rPr lang="nn-NO" sz="1400" dirty="0">
                <a:solidFill>
                  <a:srgbClr val="000000"/>
                </a:solidFill>
                <a:highlight>
                  <a:srgbClr val="FFFFFF"/>
                </a:highlight>
              </a:rPr>
              <a:t> i </a:t>
            </a:r>
            <a:r>
              <a:rPr lang="nn-NO" sz="1400" b="1" dirty="0">
                <a:solidFill>
                  <a:srgbClr val="000080"/>
                </a:solidFill>
                <a:highlight>
                  <a:srgbClr val="FFFFFF"/>
                </a:highlight>
              </a:rPr>
              <a:t>=</a:t>
            </a:r>
            <a:r>
              <a:rPr lang="nn-NO" sz="1400" dirty="0">
                <a:solidFill>
                  <a:srgbClr val="000000"/>
                </a:solidFill>
                <a:highlight>
                  <a:srgbClr val="FFFFFF"/>
                </a:highlight>
              </a:rPr>
              <a:t> </a:t>
            </a:r>
            <a:r>
              <a:rPr lang="nn-NO" sz="1400" dirty="0">
                <a:solidFill>
                  <a:srgbClr val="FF8000"/>
                </a:solidFill>
                <a:highlight>
                  <a:srgbClr val="FFFFFF"/>
                </a:highlight>
              </a:rPr>
              <a:t>1</a:t>
            </a:r>
            <a:r>
              <a:rPr lang="nn-NO" sz="1400" b="1" dirty="0">
                <a:solidFill>
                  <a:srgbClr val="000080"/>
                </a:solidFill>
                <a:highlight>
                  <a:srgbClr val="FFFFFF"/>
                </a:highlight>
              </a:rPr>
              <a:t>;</a:t>
            </a:r>
            <a:r>
              <a:rPr lang="nn-NO" sz="1400" dirty="0">
                <a:solidFill>
                  <a:srgbClr val="000000"/>
                </a:solidFill>
                <a:highlight>
                  <a:srgbClr val="FFFFFF"/>
                </a:highlight>
              </a:rPr>
              <a:t> i </a:t>
            </a:r>
            <a:r>
              <a:rPr lang="nn-NO" sz="1400" b="1" dirty="0">
                <a:solidFill>
                  <a:srgbClr val="000080"/>
                </a:solidFill>
                <a:highlight>
                  <a:srgbClr val="FFFFFF"/>
                </a:highlight>
              </a:rPr>
              <a:t>&lt;=</a:t>
            </a:r>
            <a:r>
              <a:rPr lang="nn-NO" sz="1400" dirty="0">
                <a:solidFill>
                  <a:srgbClr val="000000"/>
                </a:solidFill>
                <a:highlight>
                  <a:srgbClr val="FFFFFF"/>
                </a:highlight>
              </a:rPr>
              <a:t> </a:t>
            </a:r>
            <a:r>
              <a:rPr lang="nn-NO" sz="1400" dirty="0">
                <a:solidFill>
                  <a:srgbClr val="FF8000"/>
                </a:solidFill>
                <a:highlight>
                  <a:srgbClr val="FFFFFF"/>
                </a:highlight>
              </a:rPr>
              <a:t>3</a:t>
            </a:r>
            <a:r>
              <a:rPr lang="nn-NO" sz="1400" b="1" dirty="0">
                <a:solidFill>
                  <a:srgbClr val="000080"/>
                </a:solidFill>
                <a:highlight>
                  <a:srgbClr val="FFFFFF"/>
                </a:highlight>
              </a:rPr>
              <a:t>;</a:t>
            </a:r>
            <a:r>
              <a:rPr lang="nn-NO" sz="1400" dirty="0">
                <a:solidFill>
                  <a:srgbClr val="000000"/>
                </a:solidFill>
                <a:highlight>
                  <a:srgbClr val="FFFFFF"/>
                </a:highlight>
              </a:rPr>
              <a:t> i</a:t>
            </a:r>
            <a:r>
              <a:rPr lang="nn-NO" sz="1400" b="1" dirty="0">
                <a:solidFill>
                  <a:srgbClr val="000080"/>
                </a:solidFill>
                <a:highlight>
                  <a:srgbClr val="FFFFFF"/>
                </a:highlight>
              </a:rPr>
              <a:t>++)</a:t>
            </a:r>
            <a:r>
              <a:rPr lang="nn-NO" sz="1400" dirty="0">
                <a:solidFill>
                  <a:srgbClr val="000000"/>
                </a:solidFill>
                <a:highlight>
                  <a:srgbClr val="FFFFFF"/>
                </a:highlight>
              </a:rPr>
              <a:t> </a:t>
            </a:r>
            <a:r>
              <a:rPr lang="nn-NO" sz="1400" b="1" dirty="0">
                <a:solidFill>
                  <a:srgbClr val="000080"/>
                </a:solidFill>
                <a:highlight>
                  <a:srgbClr val="FFFFFF"/>
                </a:highlight>
              </a:rPr>
              <a:t>{</a:t>
            </a:r>
            <a:endParaRPr lang="nn-NO" sz="1400" dirty="0">
              <a:solidFill>
                <a:srgbClr val="000000"/>
              </a:solidFill>
              <a:highlight>
                <a:srgbClr val="FFFFFF"/>
              </a:highlight>
            </a:endParaRPr>
          </a:p>
          <a:p>
            <a:pPr>
              <a:spcBef>
                <a:spcPts val="0"/>
              </a:spcBef>
            </a:pPr>
            <a:r>
              <a:rPr lang="en-GB" sz="1400" dirty="0">
                <a:solidFill>
                  <a:srgbClr val="000000"/>
                </a:solidFill>
                <a:highlight>
                  <a:srgbClr val="FFFFFF"/>
                </a:highlight>
              </a:rPr>
              <a:t>            </a:t>
            </a:r>
            <a:r>
              <a:rPr lang="en-GB" sz="1400" dirty="0" err="1">
                <a:solidFill>
                  <a:srgbClr val="000000"/>
                </a:solidFill>
                <a:highlight>
                  <a:srgbClr val="FFFFFF"/>
                </a:highlight>
              </a:rPr>
              <a:t>System</a:t>
            </a:r>
            <a:r>
              <a:rPr lang="en-GB" sz="1400" b="1" dirty="0" err="1">
                <a:solidFill>
                  <a:srgbClr val="000080"/>
                </a:solidFill>
                <a:highlight>
                  <a:srgbClr val="FFFFFF"/>
                </a:highlight>
              </a:rPr>
              <a:t>.</a:t>
            </a:r>
            <a:r>
              <a:rPr lang="en-GB" sz="1400" dirty="0" err="1">
                <a:solidFill>
                  <a:srgbClr val="000000"/>
                </a:solidFill>
                <a:highlight>
                  <a:srgbClr val="FFFFFF"/>
                </a:highlight>
              </a:rPr>
              <a:t>out</a:t>
            </a:r>
            <a:r>
              <a:rPr lang="en-GB" sz="1400" b="1" dirty="0" err="1">
                <a:solidFill>
                  <a:srgbClr val="000080"/>
                </a:solidFill>
                <a:highlight>
                  <a:srgbClr val="FFFFFF"/>
                </a:highlight>
              </a:rPr>
              <a:t>.</a:t>
            </a:r>
            <a:r>
              <a:rPr lang="en-GB" sz="1400" dirty="0" err="1">
                <a:solidFill>
                  <a:srgbClr val="000000"/>
                </a:solidFill>
                <a:highlight>
                  <a:srgbClr val="FFFFFF"/>
                </a:highlight>
              </a:rPr>
              <a:t>println</a:t>
            </a:r>
            <a:r>
              <a:rPr lang="en-GB" sz="1400" b="1" dirty="0">
                <a:solidFill>
                  <a:srgbClr val="000080"/>
                </a:solidFill>
                <a:highlight>
                  <a:srgbClr val="FFFFFF"/>
                </a:highlight>
              </a:rPr>
              <a:t>(</a:t>
            </a:r>
            <a:r>
              <a:rPr lang="en-GB" sz="1400" dirty="0" err="1">
                <a:solidFill>
                  <a:srgbClr val="000000"/>
                </a:solidFill>
                <a:highlight>
                  <a:srgbClr val="FFFFFF"/>
                </a:highlight>
              </a:rPr>
              <a:t>getName</a:t>
            </a:r>
            <a:r>
              <a:rPr lang="en-GB" sz="1400" b="1" dirty="0">
                <a:solidFill>
                  <a:srgbClr val="000080"/>
                </a:solidFill>
                <a:highlight>
                  <a:srgbClr val="FFFFFF"/>
                </a:highlight>
              </a:rPr>
              <a:t>()</a:t>
            </a:r>
            <a:r>
              <a:rPr lang="en-GB" sz="1400" dirty="0">
                <a:solidFill>
                  <a:srgbClr val="000000"/>
                </a:solidFill>
                <a:highlight>
                  <a:srgbClr val="FFFFFF"/>
                </a:highlight>
              </a:rPr>
              <a:t> </a:t>
            </a:r>
            <a:r>
              <a:rPr lang="en-GB" sz="1400" b="1" dirty="0">
                <a:solidFill>
                  <a:srgbClr val="000080"/>
                </a:solidFill>
                <a:highlight>
                  <a:srgbClr val="FFFFFF"/>
                </a:highlight>
              </a:rPr>
              <a:t>+</a:t>
            </a:r>
            <a:r>
              <a:rPr lang="en-GB" sz="1400" dirty="0">
                <a:solidFill>
                  <a:srgbClr val="000000"/>
                </a:solidFill>
                <a:highlight>
                  <a:srgbClr val="FFFFFF"/>
                </a:highlight>
              </a:rPr>
              <a:t> </a:t>
            </a:r>
            <a:r>
              <a:rPr lang="en-GB" sz="1400" dirty="0">
                <a:solidFill>
                  <a:srgbClr val="808080"/>
                </a:solidFill>
                <a:highlight>
                  <a:srgbClr val="FFFFFF"/>
                </a:highlight>
              </a:rPr>
              <a:t>" (</a:t>
            </a:r>
            <a:r>
              <a:rPr lang="en-GB" sz="1400" dirty="0" err="1">
                <a:solidFill>
                  <a:srgbClr val="808080"/>
                </a:solidFill>
                <a:highlight>
                  <a:srgbClr val="FFFFFF"/>
                </a:highlight>
              </a:rPr>
              <a:t>prioritate</a:t>
            </a:r>
            <a:r>
              <a:rPr lang="en-GB" sz="1400" dirty="0">
                <a:solidFill>
                  <a:srgbClr val="808080"/>
                </a:solidFill>
                <a:highlight>
                  <a:srgbClr val="FFFFFF"/>
                </a:highlight>
              </a:rPr>
              <a:t>: "</a:t>
            </a:r>
            <a:r>
              <a:rPr lang="en-GB" sz="1400" dirty="0">
                <a:solidFill>
                  <a:srgbClr val="000000"/>
                </a:solidFill>
                <a:highlight>
                  <a:srgbClr val="FFFFFF"/>
                </a:highlight>
              </a:rPr>
              <a:t> </a:t>
            </a:r>
            <a:r>
              <a:rPr lang="en-GB" sz="1400" b="1" dirty="0">
                <a:solidFill>
                  <a:srgbClr val="000080"/>
                </a:solidFill>
                <a:highlight>
                  <a:srgbClr val="FFFFFF"/>
                </a:highlight>
              </a:rPr>
              <a:t>+</a:t>
            </a:r>
            <a:r>
              <a:rPr lang="en-GB" sz="1400" dirty="0">
                <a:solidFill>
                  <a:srgbClr val="000000"/>
                </a:solidFill>
                <a:highlight>
                  <a:srgbClr val="FFFFFF"/>
                </a:highlight>
              </a:rPr>
              <a:t> </a:t>
            </a:r>
            <a:r>
              <a:rPr lang="en-GB" sz="1400" dirty="0" err="1">
                <a:solidFill>
                  <a:srgbClr val="000000"/>
                </a:solidFill>
                <a:highlight>
                  <a:srgbClr val="FFFFFF"/>
                </a:highlight>
              </a:rPr>
              <a:t>getPriority</a:t>
            </a:r>
            <a:r>
              <a:rPr lang="en-GB" sz="1400" b="1" dirty="0">
                <a:solidFill>
                  <a:srgbClr val="000080"/>
                </a:solidFill>
                <a:highlight>
                  <a:srgbClr val="FFFFFF"/>
                </a:highlight>
              </a:rPr>
              <a:t>()</a:t>
            </a:r>
            <a:r>
              <a:rPr lang="en-GB" sz="1400" dirty="0">
                <a:solidFill>
                  <a:srgbClr val="000000"/>
                </a:solidFill>
                <a:highlight>
                  <a:srgbClr val="FFFFFF"/>
                </a:highlight>
              </a:rPr>
              <a:t> </a:t>
            </a:r>
            <a:r>
              <a:rPr lang="en-GB" sz="1400" b="1" dirty="0">
                <a:solidFill>
                  <a:srgbClr val="000080"/>
                </a:solidFill>
                <a:highlight>
                  <a:srgbClr val="FFFFFF"/>
                </a:highlight>
              </a:rPr>
              <a:t>+</a:t>
            </a:r>
            <a:r>
              <a:rPr lang="en-GB" sz="1400" dirty="0">
                <a:solidFill>
                  <a:srgbClr val="000000"/>
                </a:solidFill>
                <a:highlight>
                  <a:srgbClr val="FFFFFF"/>
                </a:highlight>
              </a:rPr>
              <a:t> </a:t>
            </a:r>
            <a:r>
              <a:rPr lang="en-GB" sz="1400" dirty="0">
                <a:solidFill>
                  <a:srgbClr val="808080"/>
                </a:solidFill>
                <a:highlight>
                  <a:srgbClr val="FFFFFF"/>
                </a:highlight>
              </a:rPr>
              <a:t>") -&gt; </a:t>
            </a:r>
            <a:r>
              <a:rPr lang="en-GB" sz="1400" dirty="0" err="1">
                <a:solidFill>
                  <a:srgbClr val="808080"/>
                </a:solidFill>
                <a:highlight>
                  <a:srgbClr val="FFFFFF"/>
                </a:highlight>
              </a:rPr>
              <a:t>i</a:t>
            </a:r>
            <a:r>
              <a:rPr lang="en-GB" sz="1400" dirty="0">
                <a:solidFill>
                  <a:srgbClr val="808080"/>
                </a:solidFill>
                <a:highlight>
                  <a:srgbClr val="FFFFFF"/>
                </a:highlight>
              </a:rPr>
              <a:t>="</a:t>
            </a:r>
            <a:r>
              <a:rPr lang="en-GB" sz="1400" dirty="0">
                <a:solidFill>
                  <a:srgbClr val="000000"/>
                </a:solidFill>
                <a:highlight>
                  <a:srgbClr val="FFFFFF"/>
                </a:highlight>
              </a:rPr>
              <a:t> </a:t>
            </a:r>
            <a:r>
              <a:rPr lang="en-GB" sz="1400" b="1" dirty="0">
                <a:solidFill>
                  <a:srgbClr val="000080"/>
                </a:solidFill>
                <a:highlight>
                  <a:srgbClr val="FFFFFF"/>
                </a:highlight>
              </a:rPr>
              <a:t>+</a:t>
            </a:r>
            <a:r>
              <a:rPr lang="en-GB" sz="1400" dirty="0">
                <a:solidFill>
                  <a:srgbClr val="000000"/>
                </a:solidFill>
                <a:highlight>
                  <a:srgbClr val="FFFFFF"/>
                </a:highlight>
              </a:rPr>
              <a:t> </a:t>
            </a:r>
            <a:r>
              <a:rPr lang="en-GB" sz="1400" dirty="0" err="1">
                <a:solidFill>
                  <a:srgbClr val="000000"/>
                </a:solidFill>
                <a:highlight>
                  <a:srgbClr val="FFFFFF"/>
                </a:highlight>
              </a:rPr>
              <a:t>i</a:t>
            </a:r>
            <a:r>
              <a:rPr lang="en-GB" sz="1400" b="1" dirty="0">
                <a:solidFill>
                  <a:srgbClr val="000080"/>
                </a:solidFill>
                <a:highlight>
                  <a:srgbClr val="FFFFFF"/>
                </a:highlight>
              </a:rPr>
              <a:t>);</a:t>
            </a:r>
            <a:endParaRPr lang="en-GB" sz="1400" dirty="0">
              <a:solidFill>
                <a:srgbClr val="000000"/>
              </a:solidFill>
              <a:highlight>
                <a:srgbClr val="FFFFFF"/>
              </a:highlight>
            </a:endParaRPr>
          </a:p>
          <a:p>
            <a:pPr>
              <a:spcBef>
                <a:spcPts val="0"/>
              </a:spcBef>
            </a:pPr>
            <a:r>
              <a:rPr lang="en-GB" sz="1400" dirty="0">
                <a:solidFill>
                  <a:srgbClr val="000000"/>
                </a:solidFill>
                <a:highlight>
                  <a:srgbClr val="FFFFFF"/>
                </a:highlight>
              </a:rPr>
              <a:t>        </a:t>
            </a:r>
            <a:r>
              <a:rPr lang="en-GB" sz="1400" b="1" dirty="0">
                <a:solidFill>
                  <a:srgbClr val="000080"/>
                </a:solidFill>
                <a:highlight>
                  <a:srgbClr val="FFFFFF"/>
                </a:highlight>
              </a:rPr>
              <a:t>}</a:t>
            </a:r>
            <a:endParaRPr lang="en-GB" sz="1400" dirty="0">
              <a:solidFill>
                <a:srgbClr val="000000"/>
              </a:solidFill>
              <a:highlight>
                <a:srgbClr val="FFFFFF"/>
              </a:highlight>
            </a:endParaRPr>
          </a:p>
          <a:p>
            <a:pPr>
              <a:spcBef>
                <a:spcPts val="0"/>
              </a:spcBef>
            </a:pPr>
            <a:r>
              <a:rPr lang="en-GB" sz="1400" dirty="0">
                <a:solidFill>
                  <a:srgbClr val="000000"/>
                </a:solidFill>
                <a:highlight>
                  <a:srgbClr val="FFFFFF"/>
                </a:highlight>
              </a:rPr>
              <a:t>    </a:t>
            </a:r>
            <a:r>
              <a:rPr lang="en-GB" sz="1400" b="1" dirty="0">
                <a:solidFill>
                  <a:srgbClr val="000080"/>
                </a:solidFill>
                <a:highlight>
                  <a:srgbClr val="FFFFFF"/>
                </a:highlight>
              </a:rPr>
              <a:t>}</a:t>
            </a:r>
            <a:endParaRPr lang="en-GB" sz="1400" dirty="0">
              <a:solidFill>
                <a:srgbClr val="000000"/>
              </a:solidFill>
              <a:highlight>
                <a:srgbClr val="FFFFFF"/>
              </a:highlight>
            </a:endParaRPr>
          </a:p>
          <a:p>
            <a:pPr>
              <a:spcBef>
                <a:spcPts val="0"/>
              </a:spcBef>
            </a:pPr>
            <a:endParaRPr lang="en-GB" sz="1400" dirty="0">
              <a:solidFill>
                <a:srgbClr val="000000"/>
              </a:solidFill>
              <a:highlight>
                <a:srgbClr val="FFFFFF"/>
              </a:highlight>
            </a:endParaRPr>
          </a:p>
          <a:p>
            <a:pPr>
              <a:spcBef>
                <a:spcPts val="0"/>
              </a:spcBef>
            </a:pPr>
            <a:r>
              <a:rPr lang="en-GB" sz="1400" dirty="0">
                <a:solidFill>
                  <a:srgbClr val="000000"/>
                </a:solidFill>
                <a:highlight>
                  <a:srgbClr val="FFFFFF"/>
                </a:highlight>
              </a:rPr>
              <a:t>    </a:t>
            </a:r>
            <a:r>
              <a:rPr lang="en-GB" sz="1400" dirty="0">
                <a:solidFill>
                  <a:srgbClr val="8000FF"/>
                </a:solidFill>
                <a:highlight>
                  <a:srgbClr val="FFFFFF"/>
                </a:highlight>
              </a:rPr>
              <a:t>public</a:t>
            </a:r>
            <a:r>
              <a:rPr lang="en-GB" sz="1400" dirty="0">
                <a:solidFill>
                  <a:srgbClr val="000000"/>
                </a:solidFill>
                <a:highlight>
                  <a:srgbClr val="FFFFFF"/>
                </a:highlight>
              </a:rPr>
              <a:t> </a:t>
            </a:r>
            <a:r>
              <a:rPr lang="en-GB" sz="1400" dirty="0">
                <a:solidFill>
                  <a:srgbClr val="8000FF"/>
                </a:solidFill>
                <a:highlight>
                  <a:srgbClr val="FFFFFF"/>
                </a:highlight>
              </a:rPr>
              <a:t>static</a:t>
            </a:r>
            <a:r>
              <a:rPr lang="en-GB" sz="1400" dirty="0">
                <a:solidFill>
                  <a:srgbClr val="000000"/>
                </a:solidFill>
                <a:highlight>
                  <a:srgbClr val="FFFFFF"/>
                </a:highlight>
              </a:rPr>
              <a:t> </a:t>
            </a:r>
            <a:r>
              <a:rPr lang="en-GB" sz="1400" dirty="0">
                <a:solidFill>
                  <a:srgbClr val="8000FF"/>
                </a:solidFill>
                <a:highlight>
                  <a:srgbClr val="FFFFFF"/>
                </a:highlight>
              </a:rPr>
              <a:t>void</a:t>
            </a:r>
            <a:r>
              <a:rPr lang="en-GB" sz="1400" dirty="0">
                <a:solidFill>
                  <a:srgbClr val="000000"/>
                </a:solidFill>
                <a:highlight>
                  <a:srgbClr val="FFFFFF"/>
                </a:highlight>
              </a:rPr>
              <a:t> main</a:t>
            </a:r>
            <a:r>
              <a:rPr lang="en-GB" sz="1400" b="1" dirty="0">
                <a:solidFill>
                  <a:srgbClr val="000080"/>
                </a:solidFill>
                <a:highlight>
                  <a:srgbClr val="FFFFFF"/>
                </a:highlight>
              </a:rPr>
              <a:t>(</a:t>
            </a:r>
            <a:r>
              <a:rPr lang="en-GB" sz="1400" dirty="0">
                <a:solidFill>
                  <a:srgbClr val="000000"/>
                </a:solidFill>
                <a:highlight>
                  <a:srgbClr val="FFFFFF"/>
                </a:highlight>
              </a:rPr>
              <a:t>String</a:t>
            </a:r>
            <a:r>
              <a:rPr lang="en-GB" sz="1400" b="1" dirty="0">
                <a:solidFill>
                  <a:srgbClr val="000080"/>
                </a:solidFill>
                <a:highlight>
                  <a:srgbClr val="FFFFFF"/>
                </a:highlight>
              </a:rPr>
              <a:t>[]</a:t>
            </a:r>
            <a:r>
              <a:rPr lang="en-GB" sz="1400" dirty="0">
                <a:solidFill>
                  <a:srgbClr val="000000"/>
                </a:solidFill>
                <a:highlight>
                  <a:srgbClr val="FFFFFF"/>
                </a:highlight>
              </a:rPr>
              <a:t> </a:t>
            </a:r>
            <a:r>
              <a:rPr lang="en-GB" sz="1400" dirty="0" err="1">
                <a:solidFill>
                  <a:srgbClr val="000000"/>
                </a:solidFill>
                <a:highlight>
                  <a:srgbClr val="FFFFFF"/>
                </a:highlight>
              </a:rPr>
              <a:t>args</a:t>
            </a:r>
            <a:r>
              <a:rPr lang="en-GB" sz="1400" b="1" dirty="0">
                <a:solidFill>
                  <a:srgbClr val="000080"/>
                </a:solidFill>
                <a:highlight>
                  <a:srgbClr val="FFFFFF"/>
                </a:highlight>
              </a:rPr>
              <a:t>)</a:t>
            </a:r>
            <a:r>
              <a:rPr lang="en-GB" sz="1400" dirty="0">
                <a:solidFill>
                  <a:srgbClr val="000000"/>
                </a:solidFill>
                <a:highlight>
                  <a:srgbClr val="FFFFFF"/>
                </a:highlight>
              </a:rPr>
              <a:t> </a:t>
            </a:r>
            <a:r>
              <a:rPr lang="en-GB" sz="1400" b="1" dirty="0">
                <a:solidFill>
                  <a:srgbClr val="000080"/>
                </a:solidFill>
                <a:highlight>
                  <a:srgbClr val="FFFFFF"/>
                </a:highlight>
              </a:rPr>
              <a:t>{</a:t>
            </a:r>
            <a:endParaRPr lang="en-GB" sz="1400" dirty="0">
              <a:solidFill>
                <a:srgbClr val="000000"/>
              </a:solidFill>
              <a:highlight>
                <a:srgbClr val="FFFFFF"/>
              </a:highlight>
            </a:endParaRPr>
          </a:p>
          <a:p>
            <a:pPr>
              <a:spcBef>
                <a:spcPts val="0"/>
              </a:spcBef>
            </a:pPr>
            <a:r>
              <a:rPr lang="en-GB" sz="1400" dirty="0">
                <a:solidFill>
                  <a:srgbClr val="000000"/>
                </a:solidFill>
                <a:highlight>
                  <a:srgbClr val="FFFFFF"/>
                </a:highlight>
              </a:rPr>
              <a:t>        </a:t>
            </a:r>
            <a:r>
              <a:rPr lang="en-GB" sz="1400" dirty="0" err="1">
                <a:solidFill>
                  <a:srgbClr val="000000"/>
                </a:solidFill>
                <a:highlight>
                  <a:srgbClr val="FFFFFF"/>
                </a:highlight>
              </a:rPr>
              <a:t>FirPrioritate</a:t>
            </a:r>
            <a:r>
              <a:rPr lang="en-GB" sz="1400" dirty="0">
                <a:solidFill>
                  <a:srgbClr val="000000"/>
                </a:solidFill>
                <a:highlight>
                  <a:srgbClr val="FFFFFF"/>
                </a:highlight>
              </a:rPr>
              <a:t> f1 </a:t>
            </a:r>
            <a:r>
              <a:rPr lang="en-GB" sz="1400" b="1" dirty="0">
                <a:solidFill>
                  <a:srgbClr val="000080"/>
                </a:solidFill>
                <a:highlight>
                  <a:srgbClr val="FFFFFF"/>
                </a:highlight>
              </a:rPr>
              <a:t>=</a:t>
            </a:r>
            <a:r>
              <a:rPr lang="en-GB" sz="1400" dirty="0">
                <a:solidFill>
                  <a:srgbClr val="000000"/>
                </a:solidFill>
                <a:highlight>
                  <a:srgbClr val="FFFFFF"/>
                </a:highlight>
              </a:rPr>
              <a:t> </a:t>
            </a:r>
            <a:r>
              <a:rPr lang="en-GB" sz="1400" b="1" dirty="0">
                <a:solidFill>
                  <a:srgbClr val="0000FF"/>
                </a:solidFill>
                <a:highlight>
                  <a:srgbClr val="FFFFFF"/>
                </a:highlight>
              </a:rPr>
              <a:t>new</a:t>
            </a:r>
            <a:r>
              <a:rPr lang="en-GB" sz="1400" dirty="0">
                <a:solidFill>
                  <a:srgbClr val="000000"/>
                </a:solidFill>
                <a:highlight>
                  <a:srgbClr val="FFFFFF"/>
                </a:highlight>
              </a:rPr>
              <a:t> </a:t>
            </a:r>
            <a:r>
              <a:rPr lang="en-GB" sz="1400" dirty="0" err="1">
                <a:solidFill>
                  <a:srgbClr val="000000"/>
                </a:solidFill>
                <a:highlight>
                  <a:srgbClr val="FFFFFF"/>
                </a:highlight>
              </a:rPr>
              <a:t>FirPrioritate</a:t>
            </a:r>
            <a:r>
              <a:rPr lang="en-GB" sz="1400" b="1" dirty="0">
                <a:solidFill>
                  <a:srgbClr val="000080"/>
                </a:solidFill>
                <a:highlight>
                  <a:srgbClr val="FFFFFF"/>
                </a:highlight>
              </a:rPr>
              <a:t>(</a:t>
            </a:r>
            <a:r>
              <a:rPr lang="en-GB" sz="1400" dirty="0">
                <a:solidFill>
                  <a:srgbClr val="808080"/>
                </a:solidFill>
                <a:highlight>
                  <a:srgbClr val="FFFFFF"/>
                </a:highlight>
              </a:rPr>
              <a:t>"Fir-1"</a:t>
            </a:r>
            <a:r>
              <a:rPr lang="en-GB" sz="1400" b="1" dirty="0">
                <a:solidFill>
                  <a:srgbClr val="000080"/>
                </a:solidFill>
                <a:highlight>
                  <a:srgbClr val="FFFFFF"/>
                </a:highlight>
              </a:rPr>
              <a:t>);</a:t>
            </a:r>
            <a:endParaRPr lang="en-GB" sz="1400" dirty="0">
              <a:solidFill>
                <a:srgbClr val="000000"/>
              </a:solidFill>
              <a:highlight>
                <a:srgbClr val="FFFFFF"/>
              </a:highlight>
            </a:endParaRPr>
          </a:p>
          <a:p>
            <a:pPr>
              <a:spcBef>
                <a:spcPts val="0"/>
              </a:spcBef>
            </a:pPr>
            <a:r>
              <a:rPr lang="en-GB" sz="1400" dirty="0">
                <a:solidFill>
                  <a:srgbClr val="000000"/>
                </a:solidFill>
                <a:highlight>
                  <a:srgbClr val="FFFFFF"/>
                </a:highlight>
              </a:rPr>
              <a:t>        </a:t>
            </a:r>
            <a:r>
              <a:rPr lang="en-GB" sz="1400" dirty="0" err="1">
                <a:solidFill>
                  <a:srgbClr val="000000"/>
                </a:solidFill>
                <a:highlight>
                  <a:srgbClr val="FFFFFF"/>
                </a:highlight>
              </a:rPr>
              <a:t>FirPrioritate</a:t>
            </a:r>
            <a:r>
              <a:rPr lang="en-GB" sz="1400" dirty="0">
                <a:solidFill>
                  <a:srgbClr val="000000"/>
                </a:solidFill>
                <a:highlight>
                  <a:srgbClr val="FFFFFF"/>
                </a:highlight>
              </a:rPr>
              <a:t> f2 </a:t>
            </a:r>
            <a:r>
              <a:rPr lang="en-GB" sz="1400" b="1" dirty="0">
                <a:solidFill>
                  <a:srgbClr val="000080"/>
                </a:solidFill>
                <a:highlight>
                  <a:srgbClr val="FFFFFF"/>
                </a:highlight>
              </a:rPr>
              <a:t>=</a:t>
            </a:r>
            <a:r>
              <a:rPr lang="en-GB" sz="1400" dirty="0">
                <a:solidFill>
                  <a:srgbClr val="000000"/>
                </a:solidFill>
                <a:highlight>
                  <a:srgbClr val="FFFFFF"/>
                </a:highlight>
              </a:rPr>
              <a:t> </a:t>
            </a:r>
            <a:r>
              <a:rPr lang="en-GB" sz="1400" b="1" dirty="0">
                <a:solidFill>
                  <a:srgbClr val="0000FF"/>
                </a:solidFill>
                <a:highlight>
                  <a:srgbClr val="FFFFFF"/>
                </a:highlight>
              </a:rPr>
              <a:t>new</a:t>
            </a:r>
            <a:r>
              <a:rPr lang="en-GB" sz="1400" dirty="0">
                <a:solidFill>
                  <a:srgbClr val="000000"/>
                </a:solidFill>
                <a:highlight>
                  <a:srgbClr val="FFFFFF"/>
                </a:highlight>
              </a:rPr>
              <a:t> </a:t>
            </a:r>
            <a:r>
              <a:rPr lang="en-GB" sz="1400" dirty="0" err="1">
                <a:solidFill>
                  <a:srgbClr val="000000"/>
                </a:solidFill>
                <a:highlight>
                  <a:srgbClr val="FFFFFF"/>
                </a:highlight>
              </a:rPr>
              <a:t>FirPrioritate</a:t>
            </a:r>
            <a:r>
              <a:rPr lang="en-GB" sz="1400" b="1" dirty="0">
                <a:solidFill>
                  <a:srgbClr val="000080"/>
                </a:solidFill>
                <a:highlight>
                  <a:srgbClr val="FFFFFF"/>
                </a:highlight>
              </a:rPr>
              <a:t>(</a:t>
            </a:r>
            <a:r>
              <a:rPr lang="en-GB" sz="1400" dirty="0">
                <a:solidFill>
                  <a:srgbClr val="808080"/>
                </a:solidFill>
                <a:highlight>
                  <a:srgbClr val="FFFFFF"/>
                </a:highlight>
              </a:rPr>
              <a:t>"Fir-2"</a:t>
            </a:r>
            <a:r>
              <a:rPr lang="en-GB" sz="1400" b="1" dirty="0">
                <a:solidFill>
                  <a:srgbClr val="000080"/>
                </a:solidFill>
                <a:highlight>
                  <a:srgbClr val="FFFFFF"/>
                </a:highlight>
              </a:rPr>
              <a:t>);</a:t>
            </a:r>
            <a:endParaRPr lang="en-GB" sz="1400" dirty="0">
              <a:solidFill>
                <a:srgbClr val="000000"/>
              </a:solidFill>
              <a:highlight>
                <a:srgbClr val="FFFFFF"/>
              </a:highlight>
            </a:endParaRPr>
          </a:p>
          <a:p>
            <a:pPr>
              <a:spcBef>
                <a:spcPts val="0"/>
              </a:spcBef>
            </a:pPr>
            <a:r>
              <a:rPr lang="en-GB" sz="1400" dirty="0">
                <a:solidFill>
                  <a:srgbClr val="000000"/>
                </a:solidFill>
                <a:highlight>
                  <a:srgbClr val="FFFFFF"/>
                </a:highlight>
              </a:rPr>
              <a:t>        </a:t>
            </a:r>
            <a:r>
              <a:rPr lang="en-GB" sz="1400" dirty="0" err="1">
                <a:solidFill>
                  <a:srgbClr val="000000"/>
                </a:solidFill>
                <a:highlight>
                  <a:srgbClr val="FFFFFF"/>
                </a:highlight>
              </a:rPr>
              <a:t>FirPrioritate</a:t>
            </a:r>
            <a:r>
              <a:rPr lang="en-GB" sz="1400" dirty="0">
                <a:solidFill>
                  <a:srgbClr val="000000"/>
                </a:solidFill>
                <a:highlight>
                  <a:srgbClr val="FFFFFF"/>
                </a:highlight>
              </a:rPr>
              <a:t> f3 </a:t>
            </a:r>
            <a:r>
              <a:rPr lang="en-GB" sz="1400" b="1" dirty="0">
                <a:solidFill>
                  <a:srgbClr val="000080"/>
                </a:solidFill>
                <a:highlight>
                  <a:srgbClr val="FFFFFF"/>
                </a:highlight>
              </a:rPr>
              <a:t>=</a:t>
            </a:r>
            <a:r>
              <a:rPr lang="en-GB" sz="1400" dirty="0">
                <a:solidFill>
                  <a:srgbClr val="000000"/>
                </a:solidFill>
                <a:highlight>
                  <a:srgbClr val="FFFFFF"/>
                </a:highlight>
              </a:rPr>
              <a:t> </a:t>
            </a:r>
            <a:r>
              <a:rPr lang="en-GB" sz="1400" b="1" dirty="0">
                <a:solidFill>
                  <a:srgbClr val="0000FF"/>
                </a:solidFill>
                <a:highlight>
                  <a:srgbClr val="FFFFFF"/>
                </a:highlight>
              </a:rPr>
              <a:t>new</a:t>
            </a:r>
            <a:r>
              <a:rPr lang="en-GB" sz="1400" dirty="0">
                <a:solidFill>
                  <a:srgbClr val="000000"/>
                </a:solidFill>
                <a:highlight>
                  <a:srgbClr val="FFFFFF"/>
                </a:highlight>
              </a:rPr>
              <a:t> </a:t>
            </a:r>
            <a:r>
              <a:rPr lang="en-GB" sz="1400" dirty="0" err="1">
                <a:solidFill>
                  <a:srgbClr val="000000"/>
                </a:solidFill>
                <a:highlight>
                  <a:srgbClr val="FFFFFF"/>
                </a:highlight>
              </a:rPr>
              <a:t>FirPrioritate</a:t>
            </a:r>
            <a:r>
              <a:rPr lang="en-GB" sz="1400" b="1" dirty="0">
                <a:solidFill>
                  <a:srgbClr val="000080"/>
                </a:solidFill>
                <a:highlight>
                  <a:srgbClr val="FFFFFF"/>
                </a:highlight>
              </a:rPr>
              <a:t>(</a:t>
            </a:r>
            <a:r>
              <a:rPr lang="en-GB" sz="1400" dirty="0">
                <a:solidFill>
                  <a:srgbClr val="808080"/>
                </a:solidFill>
                <a:highlight>
                  <a:srgbClr val="FFFFFF"/>
                </a:highlight>
              </a:rPr>
              <a:t>"Fir-3"</a:t>
            </a:r>
            <a:r>
              <a:rPr lang="en-GB" sz="1400" b="1" dirty="0">
                <a:solidFill>
                  <a:srgbClr val="000080"/>
                </a:solidFill>
                <a:highlight>
                  <a:srgbClr val="FFFFFF"/>
                </a:highlight>
              </a:rPr>
              <a:t>);</a:t>
            </a:r>
            <a:endParaRPr lang="en-GB" sz="1400" dirty="0">
              <a:solidFill>
                <a:srgbClr val="000000"/>
              </a:solidFill>
              <a:highlight>
                <a:srgbClr val="FFFFFF"/>
              </a:highlight>
            </a:endParaRPr>
          </a:p>
          <a:p>
            <a:pPr>
              <a:spcBef>
                <a:spcPts val="0"/>
              </a:spcBef>
            </a:pPr>
            <a:endParaRPr lang="en-GB" sz="1400" dirty="0">
              <a:solidFill>
                <a:srgbClr val="000000"/>
              </a:solidFill>
              <a:highlight>
                <a:srgbClr val="FFFFFF"/>
              </a:highlight>
            </a:endParaRPr>
          </a:p>
          <a:p>
            <a:pPr>
              <a:spcBef>
                <a:spcPts val="0"/>
              </a:spcBef>
            </a:pPr>
            <a:r>
              <a:rPr lang="en-GB" sz="1400" dirty="0">
                <a:solidFill>
                  <a:srgbClr val="000000"/>
                </a:solidFill>
                <a:highlight>
                  <a:srgbClr val="FFFFFF"/>
                </a:highlight>
              </a:rPr>
              <a:t>        f1</a:t>
            </a:r>
            <a:r>
              <a:rPr lang="en-GB" sz="1400" b="1" dirty="0">
                <a:solidFill>
                  <a:srgbClr val="000080"/>
                </a:solidFill>
                <a:highlight>
                  <a:srgbClr val="FFFFFF"/>
                </a:highlight>
              </a:rPr>
              <a:t>.</a:t>
            </a:r>
            <a:r>
              <a:rPr lang="en-GB" sz="1400" dirty="0">
                <a:solidFill>
                  <a:srgbClr val="000000"/>
                </a:solidFill>
                <a:highlight>
                  <a:srgbClr val="FFFFFF"/>
                </a:highlight>
              </a:rPr>
              <a:t>setPriority</a:t>
            </a:r>
            <a:r>
              <a:rPr lang="en-GB" sz="1400" b="1" dirty="0">
                <a:solidFill>
                  <a:srgbClr val="000080"/>
                </a:solidFill>
                <a:highlight>
                  <a:srgbClr val="FFFFFF"/>
                </a:highlight>
              </a:rPr>
              <a:t>(</a:t>
            </a:r>
            <a:r>
              <a:rPr lang="en-GB" sz="1400" dirty="0" err="1">
                <a:solidFill>
                  <a:srgbClr val="000000"/>
                </a:solidFill>
                <a:highlight>
                  <a:srgbClr val="FFFFFF"/>
                </a:highlight>
              </a:rPr>
              <a:t>Thread</a:t>
            </a:r>
            <a:r>
              <a:rPr lang="en-GB" sz="1400" b="1" dirty="0" err="1">
                <a:solidFill>
                  <a:srgbClr val="000080"/>
                </a:solidFill>
                <a:highlight>
                  <a:srgbClr val="FFFFFF"/>
                </a:highlight>
              </a:rPr>
              <a:t>.</a:t>
            </a:r>
            <a:r>
              <a:rPr lang="en-GB" sz="1400" dirty="0" err="1">
                <a:solidFill>
                  <a:srgbClr val="000000"/>
                </a:solidFill>
                <a:highlight>
                  <a:srgbClr val="FFFFFF"/>
                </a:highlight>
              </a:rPr>
              <a:t>MIN_PRIORITY</a:t>
            </a:r>
            <a:r>
              <a:rPr lang="en-GB" sz="1400" b="1" dirty="0">
                <a:solidFill>
                  <a:srgbClr val="000080"/>
                </a:solidFill>
                <a:highlight>
                  <a:srgbClr val="FFFFFF"/>
                </a:highlight>
              </a:rPr>
              <a:t>);</a:t>
            </a:r>
            <a:r>
              <a:rPr lang="en-GB" sz="1400" dirty="0">
                <a:solidFill>
                  <a:srgbClr val="000000"/>
                </a:solidFill>
                <a:highlight>
                  <a:srgbClr val="FFFFFF"/>
                </a:highlight>
              </a:rPr>
              <a:t> </a:t>
            </a:r>
            <a:r>
              <a:rPr lang="en-GB" sz="1400" dirty="0">
                <a:solidFill>
                  <a:srgbClr val="008000"/>
                </a:solidFill>
                <a:highlight>
                  <a:srgbClr val="FFFFFF"/>
                </a:highlight>
              </a:rPr>
              <a:t>// 1</a:t>
            </a:r>
          </a:p>
          <a:p>
            <a:pPr>
              <a:spcBef>
                <a:spcPts val="0"/>
              </a:spcBef>
            </a:pPr>
            <a:r>
              <a:rPr lang="en-GB" sz="1400" dirty="0">
                <a:solidFill>
                  <a:srgbClr val="000000"/>
                </a:solidFill>
                <a:highlight>
                  <a:srgbClr val="FFFFFF"/>
                </a:highlight>
              </a:rPr>
              <a:t>        f2</a:t>
            </a:r>
            <a:r>
              <a:rPr lang="en-GB" sz="1400" b="1" dirty="0">
                <a:solidFill>
                  <a:srgbClr val="000080"/>
                </a:solidFill>
                <a:highlight>
                  <a:srgbClr val="FFFFFF"/>
                </a:highlight>
              </a:rPr>
              <a:t>.</a:t>
            </a:r>
            <a:r>
              <a:rPr lang="en-GB" sz="1400" dirty="0">
                <a:solidFill>
                  <a:srgbClr val="000000"/>
                </a:solidFill>
                <a:highlight>
                  <a:srgbClr val="FFFFFF"/>
                </a:highlight>
              </a:rPr>
              <a:t>setPriority</a:t>
            </a:r>
            <a:r>
              <a:rPr lang="en-GB" sz="1400" b="1" dirty="0">
                <a:solidFill>
                  <a:srgbClr val="000080"/>
                </a:solidFill>
                <a:highlight>
                  <a:srgbClr val="FFFFFF"/>
                </a:highlight>
              </a:rPr>
              <a:t>(</a:t>
            </a:r>
            <a:r>
              <a:rPr lang="en-GB" sz="1400" dirty="0" err="1">
                <a:solidFill>
                  <a:srgbClr val="000000"/>
                </a:solidFill>
                <a:highlight>
                  <a:srgbClr val="FFFFFF"/>
                </a:highlight>
              </a:rPr>
              <a:t>Thread</a:t>
            </a:r>
            <a:r>
              <a:rPr lang="en-GB" sz="1400" b="1" dirty="0" err="1">
                <a:solidFill>
                  <a:srgbClr val="000080"/>
                </a:solidFill>
                <a:highlight>
                  <a:srgbClr val="FFFFFF"/>
                </a:highlight>
              </a:rPr>
              <a:t>.</a:t>
            </a:r>
            <a:r>
              <a:rPr lang="en-GB" sz="1400" dirty="0" err="1">
                <a:solidFill>
                  <a:srgbClr val="000000"/>
                </a:solidFill>
                <a:highlight>
                  <a:srgbClr val="FFFFFF"/>
                </a:highlight>
              </a:rPr>
              <a:t>NORM_PRIORITY</a:t>
            </a:r>
            <a:r>
              <a:rPr lang="en-GB" sz="1400" b="1" dirty="0">
                <a:solidFill>
                  <a:srgbClr val="000080"/>
                </a:solidFill>
                <a:highlight>
                  <a:srgbClr val="FFFFFF"/>
                </a:highlight>
              </a:rPr>
              <a:t>);</a:t>
            </a:r>
            <a:r>
              <a:rPr lang="en-GB" sz="1400" dirty="0">
                <a:solidFill>
                  <a:srgbClr val="000000"/>
                </a:solidFill>
                <a:highlight>
                  <a:srgbClr val="FFFFFF"/>
                </a:highlight>
              </a:rPr>
              <a:t> </a:t>
            </a:r>
            <a:r>
              <a:rPr lang="en-GB" sz="1400" dirty="0">
                <a:solidFill>
                  <a:srgbClr val="008000"/>
                </a:solidFill>
                <a:highlight>
                  <a:srgbClr val="FFFFFF"/>
                </a:highlight>
              </a:rPr>
              <a:t>// 5 (implicit)</a:t>
            </a:r>
          </a:p>
          <a:p>
            <a:pPr>
              <a:spcBef>
                <a:spcPts val="0"/>
              </a:spcBef>
            </a:pPr>
            <a:r>
              <a:rPr lang="en-GB" sz="1400" dirty="0">
                <a:solidFill>
                  <a:srgbClr val="000000"/>
                </a:solidFill>
                <a:highlight>
                  <a:srgbClr val="FFFFFF"/>
                </a:highlight>
              </a:rPr>
              <a:t>        f3</a:t>
            </a:r>
            <a:r>
              <a:rPr lang="en-GB" sz="1400" b="1" dirty="0">
                <a:solidFill>
                  <a:srgbClr val="000080"/>
                </a:solidFill>
                <a:highlight>
                  <a:srgbClr val="FFFFFF"/>
                </a:highlight>
              </a:rPr>
              <a:t>.</a:t>
            </a:r>
            <a:r>
              <a:rPr lang="en-GB" sz="1400" dirty="0">
                <a:solidFill>
                  <a:srgbClr val="000000"/>
                </a:solidFill>
                <a:highlight>
                  <a:srgbClr val="FFFFFF"/>
                </a:highlight>
              </a:rPr>
              <a:t>setPriority</a:t>
            </a:r>
            <a:r>
              <a:rPr lang="en-GB" sz="1400" b="1" dirty="0">
                <a:solidFill>
                  <a:srgbClr val="000080"/>
                </a:solidFill>
                <a:highlight>
                  <a:srgbClr val="FFFFFF"/>
                </a:highlight>
              </a:rPr>
              <a:t>(</a:t>
            </a:r>
            <a:r>
              <a:rPr lang="en-GB" sz="1400" dirty="0" err="1">
                <a:solidFill>
                  <a:srgbClr val="000000"/>
                </a:solidFill>
                <a:highlight>
                  <a:srgbClr val="FFFFFF"/>
                </a:highlight>
              </a:rPr>
              <a:t>Thread</a:t>
            </a:r>
            <a:r>
              <a:rPr lang="en-GB" sz="1400" b="1" dirty="0" err="1">
                <a:solidFill>
                  <a:srgbClr val="000080"/>
                </a:solidFill>
                <a:highlight>
                  <a:srgbClr val="FFFFFF"/>
                </a:highlight>
              </a:rPr>
              <a:t>.</a:t>
            </a:r>
            <a:r>
              <a:rPr lang="en-GB" sz="1400" dirty="0" err="1">
                <a:solidFill>
                  <a:srgbClr val="000000"/>
                </a:solidFill>
                <a:highlight>
                  <a:srgbClr val="FFFFFF"/>
                </a:highlight>
              </a:rPr>
              <a:t>MAX_PRIORITY</a:t>
            </a:r>
            <a:r>
              <a:rPr lang="en-GB" sz="1400" b="1" dirty="0">
                <a:solidFill>
                  <a:srgbClr val="000080"/>
                </a:solidFill>
                <a:highlight>
                  <a:srgbClr val="FFFFFF"/>
                </a:highlight>
              </a:rPr>
              <a:t>);</a:t>
            </a:r>
            <a:r>
              <a:rPr lang="en-GB" sz="1400" dirty="0">
                <a:solidFill>
                  <a:srgbClr val="000000"/>
                </a:solidFill>
                <a:highlight>
                  <a:srgbClr val="FFFFFF"/>
                </a:highlight>
              </a:rPr>
              <a:t> </a:t>
            </a:r>
            <a:r>
              <a:rPr lang="en-GB" sz="1400" dirty="0">
                <a:solidFill>
                  <a:srgbClr val="008000"/>
                </a:solidFill>
                <a:highlight>
                  <a:srgbClr val="FFFFFF"/>
                </a:highlight>
              </a:rPr>
              <a:t>// 10</a:t>
            </a:r>
          </a:p>
          <a:p>
            <a:pPr>
              <a:spcBef>
                <a:spcPts val="0"/>
              </a:spcBef>
            </a:pPr>
            <a:endParaRPr lang="en-GB" sz="1400" dirty="0">
              <a:solidFill>
                <a:srgbClr val="000000"/>
              </a:solidFill>
              <a:highlight>
                <a:srgbClr val="FFFFFF"/>
              </a:highlight>
            </a:endParaRPr>
          </a:p>
          <a:p>
            <a:pPr>
              <a:spcBef>
                <a:spcPts val="0"/>
              </a:spcBef>
            </a:pPr>
            <a:r>
              <a:rPr lang="en-GB" sz="1400" dirty="0">
                <a:solidFill>
                  <a:srgbClr val="000000"/>
                </a:solidFill>
                <a:highlight>
                  <a:srgbClr val="FFFFFF"/>
                </a:highlight>
              </a:rPr>
              <a:t>        f1</a:t>
            </a:r>
            <a:r>
              <a:rPr lang="en-GB" sz="1400" b="1" dirty="0">
                <a:solidFill>
                  <a:srgbClr val="000080"/>
                </a:solidFill>
                <a:highlight>
                  <a:srgbClr val="FFFFFF"/>
                </a:highlight>
              </a:rPr>
              <a:t>.</a:t>
            </a:r>
            <a:r>
              <a:rPr lang="en-GB" sz="1400" dirty="0">
                <a:solidFill>
                  <a:srgbClr val="000000"/>
                </a:solidFill>
                <a:highlight>
                  <a:srgbClr val="FFFFFF"/>
                </a:highlight>
              </a:rPr>
              <a:t>start</a:t>
            </a:r>
            <a:r>
              <a:rPr lang="en-GB" sz="1400" b="1" dirty="0">
                <a:solidFill>
                  <a:srgbClr val="000080"/>
                </a:solidFill>
                <a:highlight>
                  <a:srgbClr val="FFFFFF"/>
                </a:highlight>
              </a:rPr>
              <a:t>();</a:t>
            </a:r>
            <a:endParaRPr lang="en-GB" sz="1400" dirty="0">
              <a:solidFill>
                <a:srgbClr val="000000"/>
              </a:solidFill>
              <a:highlight>
                <a:srgbClr val="FFFFFF"/>
              </a:highlight>
            </a:endParaRPr>
          </a:p>
          <a:p>
            <a:pPr>
              <a:spcBef>
                <a:spcPts val="0"/>
              </a:spcBef>
            </a:pPr>
            <a:r>
              <a:rPr lang="en-GB" sz="1400" dirty="0">
                <a:solidFill>
                  <a:srgbClr val="000000"/>
                </a:solidFill>
                <a:highlight>
                  <a:srgbClr val="FFFFFF"/>
                </a:highlight>
              </a:rPr>
              <a:t>        f2</a:t>
            </a:r>
            <a:r>
              <a:rPr lang="en-GB" sz="1400" b="1" dirty="0">
                <a:solidFill>
                  <a:srgbClr val="000080"/>
                </a:solidFill>
                <a:highlight>
                  <a:srgbClr val="FFFFFF"/>
                </a:highlight>
              </a:rPr>
              <a:t>.</a:t>
            </a:r>
            <a:r>
              <a:rPr lang="en-GB" sz="1400" dirty="0">
                <a:solidFill>
                  <a:srgbClr val="000000"/>
                </a:solidFill>
                <a:highlight>
                  <a:srgbClr val="FFFFFF"/>
                </a:highlight>
              </a:rPr>
              <a:t>start</a:t>
            </a:r>
            <a:r>
              <a:rPr lang="en-GB" sz="1400" b="1" dirty="0">
                <a:solidFill>
                  <a:srgbClr val="000080"/>
                </a:solidFill>
                <a:highlight>
                  <a:srgbClr val="FFFFFF"/>
                </a:highlight>
              </a:rPr>
              <a:t>();</a:t>
            </a:r>
            <a:endParaRPr lang="en-GB" sz="1400" dirty="0">
              <a:solidFill>
                <a:srgbClr val="000000"/>
              </a:solidFill>
              <a:highlight>
                <a:srgbClr val="FFFFFF"/>
              </a:highlight>
            </a:endParaRPr>
          </a:p>
          <a:p>
            <a:pPr>
              <a:spcBef>
                <a:spcPts val="0"/>
              </a:spcBef>
            </a:pPr>
            <a:r>
              <a:rPr lang="en-GB" sz="1400" dirty="0">
                <a:solidFill>
                  <a:srgbClr val="000000"/>
                </a:solidFill>
                <a:highlight>
                  <a:srgbClr val="FFFFFF"/>
                </a:highlight>
              </a:rPr>
              <a:t>        f3</a:t>
            </a:r>
            <a:r>
              <a:rPr lang="en-GB" sz="1400" b="1" dirty="0">
                <a:solidFill>
                  <a:srgbClr val="000080"/>
                </a:solidFill>
                <a:highlight>
                  <a:srgbClr val="FFFFFF"/>
                </a:highlight>
              </a:rPr>
              <a:t>.</a:t>
            </a:r>
            <a:r>
              <a:rPr lang="en-GB" sz="1400" dirty="0">
                <a:solidFill>
                  <a:srgbClr val="000000"/>
                </a:solidFill>
                <a:highlight>
                  <a:srgbClr val="FFFFFF"/>
                </a:highlight>
              </a:rPr>
              <a:t>start</a:t>
            </a:r>
            <a:r>
              <a:rPr lang="en-GB" sz="1400" b="1" dirty="0">
                <a:solidFill>
                  <a:srgbClr val="000080"/>
                </a:solidFill>
                <a:highlight>
                  <a:srgbClr val="FFFFFF"/>
                </a:highlight>
              </a:rPr>
              <a:t>();</a:t>
            </a:r>
            <a:endParaRPr lang="en-GB" sz="1400" dirty="0">
              <a:solidFill>
                <a:srgbClr val="000000"/>
              </a:solidFill>
              <a:highlight>
                <a:srgbClr val="FFFFFF"/>
              </a:highlight>
            </a:endParaRPr>
          </a:p>
          <a:p>
            <a:pPr>
              <a:spcBef>
                <a:spcPts val="0"/>
              </a:spcBef>
            </a:pPr>
            <a:r>
              <a:rPr lang="en-GB" sz="1400" dirty="0">
                <a:solidFill>
                  <a:srgbClr val="000000"/>
                </a:solidFill>
                <a:highlight>
                  <a:srgbClr val="FFFFFF"/>
                </a:highlight>
              </a:rPr>
              <a:t>    </a:t>
            </a:r>
            <a:r>
              <a:rPr lang="en-GB" sz="1400" b="1" dirty="0">
                <a:solidFill>
                  <a:srgbClr val="000080"/>
                </a:solidFill>
                <a:highlight>
                  <a:srgbClr val="FFFFFF"/>
                </a:highlight>
              </a:rPr>
              <a:t>}</a:t>
            </a:r>
            <a:endParaRPr lang="en-GB" sz="1400" dirty="0">
              <a:solidFill>
                <a:srgbClr val="000000"/>
              </a:solidFill>
              <a:highlight>
                <a:srgbClr val="FFFFFF"/>
              </a:highlight>
            </a:endParaRPr>
          </a:p>
          <a:p>
            <a:pPr>
              <a:spcBef>
                <a:spcPts val="0"/>
              </a:spcBef>
            </a:pPr>
            <a:r>
              <a:rPr lang="en-GB" sz="1400" b="1" dirty="0">
                <a:solidFill>
                  <a:srgbClr val="000080"/>
                </a:solidFill>
                <a:highlight>
                  <a:srgbClr val="FFFFFF"/>
                </a:highlight>
              </a:rPr>
              <a:t>}</a:t>
            </a:r>
            <a:endParaRPr lang="en-GB" sz="1400" dirty="0">
              <a:solidFill>
                <a:srgbClr val="000000"/>
              </a:solidFill>
              <a:highlight>
                <a:srgbClr val="FFFFFF"/>
              </a:highlight>
            </a:endParaRPr>
          </a:p>
          <a:p>
            <a:pPr>
              <a:spcBef>
                <a:spcPts val="0"/>
              </a:spcBef>
            </a:pPr>
            <a:endParaRPr lang="en-GB" sz="1400" dirty="0"/>
          </a:p>
        </p:txBody>
      </p:sp>
    </p:spTree>
    <p:extLst>
      <p:ext uri="{BB962C8B-B14F-4D97-AF65-F5344CB8AC3E}">
        <p14:creationId xmlns:p14="http://schemas.microsoft.com/office/powerpoint/2010/main" val="13326828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492370" y="605896"/>
            <a:ext cx="3084844" cy="5646208"/>
          </a:xfrm>
        </p:spPr>
        <p:txBody>
          <a:bodyPr anchor="ctr">
            <a:normAutofit/>
          </a:bodyPr>
          <a:lstStyle/>
          <a:p>
            <a:r>
              <a:rPr lang="ro-RO" sz="3600" b="1" dirty="0">
                <a:solidFill>
                  <a:srgbClr val="FFFFFF"/>
                </a:solidFill>
              </a:rPr>
              <a:t>Prioritatea firelor de execuţie</a:t>
            </a:r>
            <a:r>
              <a:rPr lang="en-GB" sz="3600" b="1" dirty="0">
                <a:solidFill>
                  <a:srgbClr val="FFFFFF"/>
                </a:solidFill>
              </a:rPr>
              <a:t>. Fire demon (Daemon Threads) </a:t>
            </a:r>
            <a:r>
              <a:rPr lang="en-GB" sz="3600" b="1" dirty="0" err="1">
                <a:solidFill>
                  <a:srgbClr val="FFFFFF"/>
                </a:solidFill>
              </a:rPr>
              <a:t>în</a:t>
            </a:r>
            <a:r>
              <a:rPr lang="en-GB" sz="3600" b="1" dirty="0">
                <a:solidFill>
                  <a:srgbClr val="FFFFFF"/>
                </a:solidFill>
              </a:rPr>
              <a:t> Java</a:t>
            </a:r>
            <a:endParaRPr lang="ro-RO" sz="3600" dirty="0">
              <a:solidFill>
                <a:srgbClr val="FFFFFF"/>
              </a:solidFill>
            </a:endParaRP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 name="Content Placeholder 2"/>
          <p:cNvSpPr>
            <a:spLocks noGrp="1"/>
          </p:cNvSpPr>
          <p:nvPr>
            <p:ph idx="1"/>
          </p:nvPr>
        </p:nvSpPr>
        <p:spPr>
          <a:xfrm>
            <a:off x="4742016" y="605896"/>
            <a:ext cx="6413663" cy="5646208"/>
          </a:xfrm>
        </p:spPr>
        <p:txBody>
          <a:bodyPr anchor="ctr">
            <a:normAutofit/>
          </a:bodyPr>
          <a:lstStyle/>
          <a:p>
            <a:r>
              <a:rPr lang="ro-RO" dirty="0"/>
              <a:t>În alte situaţii, avem de executat o sarcină cu prioritate mică. În aceste cazuri, putem seta pentru firul de execuţie care execută aceste sarcini o prioritate redusă.</a:t>
            </a:r>
          </a:p>
          <a:p>
            <a:r>
              <a:rPr lang="ro-RO" dirty="0"/>
              <a:t>Alternativ, putem defini firul respectiv de execuţie ca un </a:t>
            </a:r>
            <a:r>
              <a:rPr lang="ro-RO" dirty="0">
                <a:solidFill>
                  <a:srgbClr val="FF0000"/>
                </a:solidFill>
              </a:rPr>
              <a:t>demon</a:t>
            </a:r>
            <a:r>
              <a:rPr lang="ro-RO" dirty="0"/>
              <a:t>. </a:t>
            </a:r>
          </a:p>
          <a:p>
            <a:r>
              <a:rPr lang="ro-RO" dirty="0"/>
              <a:t>Dezavantajul în această situaţie este faptul că aplicaţia va fi terminată atunci când există doar demoni în lucru şi există posibilitatea pierderii de date. </a:t>
            </a:r>
          </a:p>
          <a:p>
            <a:r>
              <a:rPr lang="ro-RO" dirty="0"/>
              <a:t>Pentru a declara un fir de execuţie ca demon, putem apela metoda </a:t>
            </a:r>
            <a:r>
              <a:rPr lang="ro-RO" dirty="0">
                <a:solidFill>
                  <a:srgbClr val="FF0000"/>
                </a:solidFill>
              </a:rPr>
              <a:t>setDaemon</a:t>
            </a:r>
            <a:r>
              <a:rPr lang="ro-RO" dirty="0"/>
              <a:t>. Această metodă primeşte ca parametru o valoare booleană care dacă este true firul este făcut demon şi dacă nu este adus înapoi la starea normală. </a:t>
            </a:r>
          </a:p>
          <a:p>
            <a:r>
              <a:rPr lang="ro-RO" dirty="0"/>
              <a:t>Putem testa faptul că un fir de execuţie este demon sau nu cu metoda </a:t>
            </a:r>
            <a:r>
              <a:rPr lang="ro-RO" dirty="0">
                <a:solidFill>
                  <a:srgbClr val="FF0000"/>
                </a:solidFill>
              </a:rPr>
              <a:t>isDemon</a:t>
            </a:r>
            <a:r>
              <a:rPr lang="ro-RO" dirty="0"/>
              <a:t>.</a:t>
            </a:r>
          </a:p>
        </p:txBody>
      </p:sp>
    </p:spTree>
    <p:extLst>
      <p:ext uri="{BB962C8B-B14F-4D97-AF65-F5344CB8AC3E}">
        <p14:creationId xmlns:p14="http://schemas.microsoft.com/office/powerpoint/2010/main" val="13846034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F96667-6F2C-B181-BC83-DD8A5EAB481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7C9AEE-982E-2A3A-FF63-977B6436D0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1ED8CFE-A17A-BA88-9395-9660394FD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B5FCA287-5C76-CC5F-DFAE-EDA6E7E732F4}"/>
              </a:ext>
            </a:extLst>
          </p:cNvPr>
          <p:cNvSpPr>
            <a:spLocks noGrp="1"/>
          </p:cNvSpPr>
          <p:nvPr>
            <p:ph type="title"/>
          </p:nvPr>
        </p:nvSpPr>
        <p:spPr>
          <a:xfrm>
            <a:off x="492370" y="605896"/>
            <a:ext cx="3084844" cy="5646208"/>
          </a:xfrm>
        </p:spPr>
        <p:txBody>
          <a:bodyPr anchor="ctr">
            <a:normAutofit/>
          </a:bodyPr>
          <a:lstStyle/>
          <a:p>
            <a:r>
              <a:rPr lang="ro-RO" sz="3600" b="1">
                <a:solidFill>
                  <a:srgbClr val="FFFFFF"/>
                </a:solidFill>
              </a:rPr>
              <a:t>Prioritatea firelor de execuţie</a:t>
            </a:r>
            <a:endParaRPr lang="ro-RO" sz="3600">
              <a:solidFill>
                <a:srgbClr val="FFFFFF"/>
              </a:solidFill>
            </a:endParaRPr>
          </a:p>
        </p:txBody>
      </p:sp>
      <p:sp>
        <p:nvSpPr>
          <p:cNvPr id="12" name="Rectangle 11">
            <a:extLst>
              <a:ext uri="{FF2B5EF4-FFF2-40B4-BE49-F238E27FC236}">
                <a16:creationId xmlns:a16="http://schemas.microsoft.com/office/drawing/2014/main" id="{3204B5CD-AA51-2570-C93C-9BA9FF9097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 name="Content Placeholder 2">
            <a:extLst>
              <a:ext uri="{FF2B5EF4-FFF2-40B4-BE49-F238E27FC236}">
                <a16:creationId xmlns:a16="http://schemas.microsoft.com/office/drawing/2014/main" id="{E2512D69-50E9-0175-6597-5973C1F50995}"/>
              </a:ext>
            </a:extLst>
          </p:cNvPr>
          <p:cNvSpPr>
            <a:spLocks noGrp="1"/>
          </p:cNvSpPr>
          <p:nvPr>
            <p:ph idx="1"/>
          </p:nvPr>
        </p:nvSpPr>
        <p:spPr>
          <a:xfrm>
            <a:off x="4742016" y="605896"/>
            <a:ext cx="6413663" cy="5646208"/>
          </a:xfrm>
        </p:spPr>
        <p:txBody>
          <a:bodyPr anchor="ctr">
            <a:normAutofit fontScale="70000" lnSpcReduction="20000"/>
          </a:bodyPr>
          <a:lstStyle/>
          <a:p>
            <a:pPr>
              <a:lnSpc>
                <a:spcPct val="120000"/>
              </a:lnSpc>
              <a:spcBef>
                <a:spcPts val="0"/>
              </a:spcBef>
            </a:pPr>
            <a:r>
              <a:rPr lang="en-GB" sz="2000" dirty="0">
                <a:solidFill>
                  <a:srgbClr val="8000FF"/>
                </a:solidFill>
                <a:highlight>
                  <a:srgbClr val="FFFFFF"/>
                </a:highlight>
              </a:rPr>
              <a:t>class</a:t>
            </a:r>
            <a:r>
              <a:rPr lang="en-GB" sz="2000" dirty="0">
                <a:solidFill>
                  <a:srgbClr val="000000"/>
                </a:solidFill>
                <a:highlight>
                  <a:srgbClr val="FFFFFF"/>
                </a:highlight>
              </a:rPr>
              <a:t> </a:t>
            </a:r>
            <a:r>
              <a:rPr lang="en-GB" sz="2000" dirty="0" err="1">
                <a:solidFill>
                  <a:srgbClr val="000000"/>
                </a:solidFill>
                <a:highlight>
                  <a:srgbClr val="FFFFFF"/>
                </a:highlight>
              </a:rPr>
              <a:t>FirDemon</a:t>
            </a:r>
            <a:r>
              <a:rPr lang="en-GB" sz="2000" dirty="0">
                <a:solidFill>
                  <a:srgbClr val="000000"/>
                </a:solidFill>
                <a:highlight>
                  <a:srgbClr val="FFFFFF"/>
                </a:highlight>
              </a:rPr>
              <a:t> </a:t>
            </a:r>
            <a:r>
              <a:rPr lang="en-GB" sz="2000" b="1" dirty="0">
                <a:solidFill>
                  <a:srgbClr val="0000FF"/>
                </a:solidFill>
                <a:highlight>
                  <a:srgbClr val="FFFFFF"/>
                </a:highlight>
              </a:rPr>
              <a:t>extends</a:t>
            </a:r>
            <a:r>
              <a:rPr lang="en-GB" sz="2000" b="0" dirty="0">
                <a:solidFill>
                  <a:srgbClr val="000000"/>
                </a:solidFill>
                <a:highlight>
                  <a:srgbClr val="FFFFFF"/>
                </a:highlight>
              </a:rPr>
              <a:t> Thread </a:t>
            </a:r>
            <a:r>
              <a:rPr lang="en-GB" sz="2000" b="1" dirty="0">
                <a:solidFill>
                  <a:srgbClr val="000080"/>
                </a:solidFill>
                <a:highlight>
                  <a:srgbClr val="FFFFFF"/>
                </a:highlight>
              </a:rPr>
              <a:t>{</a:t>
            </a:r>
            <a:endParaRPr lang="en-GB" sz="2000" b="0" dirty="0">
              <a:solidFill>
                <a:srgbClr val="000000"/>
              </a:solidFill>
              <a:highlight>
                <a:srgbClr val="FFFFFF"/>
              </a:highlight>
            </a:endParaRPr>
          </a:p>
          <a:p>
            <a:pPr>
              <a:lnSpc>
                <a:spcPct val="120000"/>
              </a:lnSpc>
              <a:spcBef>
                <a:spcPts val="0"/>
              </a:spcBef>
            </a:pPr>
            <a:r>
              <a:rPr lang="en-GB" sz="2000" b="0" dirty="0">
                <a:solidFill>
                  <a:srgbClr val="000000"/>
                </a:solidFill>
                <a:highlight>
                  <a:srgbClr val="FFFFFF"/>
                </a:highlight>
              </a:rPr>
              <a:t>    </a:t>
            </a:r>
            <a:r>
              <a:rPr lang="en-GB" sz="2000" b="0" dirty="0">
                <a:solidFill>
                  <a:srgbClr val="8000FF"/>
                </a:solidFill>
                <a:highlight>
                  <a:srgbClr val="FFFFFF"/>
                </a:highlight>
              </a:rPr>
              <a:t>public</a:t>
            </a:r>
            <a:r>
              <a:rPr lang="en-GB" sz="2000" b="0" dirty="0">
                <a:solidFill>
                  <a:srgbClr val="000000"/>
                </a:solidFill>
                <a:highlight>
                  <a:srgbClr val="FFFFFF"/>
                </a:highlight>
              </a:rPr>
              <a:t> </a:t>
            </a:r>
            <a:r>
              <a:rPr lang="en-GB" sz="2000" b="0" dirty="0">
                <a:solidFill>
                  <a:srgbClr val="8000FF"/>
                </a:solidFill>
                <a:highlight>
                  <a:srgbClr val="FFFFFF"/>
                </a:highlight>
              </a:rPr>
              <a:t>void</a:t>
            </a:r>
            <a:r>
              <a:rPr lang="en-GB" sz="2000" b="0" dirty="0">
                <a:solidFill>
                  <a:srgbClr val="000000"/>
                </a:solidFill>
                <a:highlight>
                  <a:srgbClr val="FFFFFF"/>
                </a:highlight>
              </a:rPr>
              <a:t> run</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1" dirty="0">
                <a:solidFill>
                  <a:srgbClr val="000080"/>
                </a:solidFill>
                <a:highlight>
                  <a:srgbClr val="FFFFFF"/>
                </a:highlight>
              </a:rPr>
              <a:t>{</a:t>
            </a:r>
            <a:endParaRPr lang="en-GB" sz="2000" b="0" dirty="0">
              <a:solidFill>
                <a:srgbClr val="000000"/>
              </a:solidFill>
              <a:highlight>
                <a:srgbClr val="FFFFFF"/>
              </a:highlight>
            </a:endParaRPr>
          </a:p>
          <a:p>
            <a:pPr>
              <a:lnSpc>
                <a:spcPct val="120000"/>
              </a:lnSpc>
              <a:spcBef>
                <a:spcPts val="0"/>
              </a:spcBef>
            </a:pPr>
            <a:r>
              <a:rPr lang="en-GB" sz="2000" b="0" dirty="0">
                <a:solidFill>
                  <a:srgbClr val="000000"/>
                </a:solidFill>
                <a:highlight>
                  <a:srgbClr val="FFFFFF"/>
                </a:highlight>
              </a:rPr>
              <a:t>        </a:t>
            </a:r>
            <a:r>
              <a:rPr lang="en-GB" sz="2000" b="1" dirty="0">
                <a:solidFill>
                  <a:srgbClr val="0000FF"/>
                </a:solidFill>
                <a:highlight>
                  <a:srgbClr val="FFFFFF"/>
                </a:highlight>
              </a:rPr>
              <a:t>if</a:t>
            </a:r>
            <a:r>
              <a:rPr lang="en-GB" sz="2000" b="0" dirty="0">
                <a:solidFill>
                  <a:srgbClr val="000000"/>
                </a:solidFill>
                <a:highlight>
                  <a:srgbClr val="FFFFFF"/>
                </a:highlight>
              </a:rPr>
              <a:t> </a:t>
            </a:r>
            <a:r>
              <a:rPr lang="en-GB" sz="2000" b="1" dirty="0">
                <a:solidFill>
                  <a:srgbClr val="000080"/>
                </a:solidFill>
                <a:highlight>
                  <a:srgbClr val="FFFFFF"/>
                </a:highlight>
              </a:rPr>
              <a:t>(</a:t>
            </a:r>
            <a:r>
              <a:rPr lang="en-GB" sz="2000" b="0" dirty="0" err="1">
                <a:solidFill>
                  <a:srgbClr val="000000"/>
                </a:solidFill>
                <a:highlight>
                  <a:srgbClr val="FFFFFF"/>
                </a:highlight>
              </a:rPr>
              <a:t>isDaemon</a:t>
            </a:r>
            <a:r>
              <a:rPr lang="en-GB" sz="2000" b="1" dirty="0">
                <a:solidFill>
                  <a:srgbClr val="000080"/>
                </a:solidFill>
                <a:highlight>
                  <a:srgbClr val="FFFFFF"/>
                </a:highlight>
              </a:rPr>
              <a:t>())</a:t>
            </a:r>
            <a:endParaRPr lang="en-GB" sz="2000" b="0" dirty="0">
              <a:solidFill>
                <a:srgbClr val="000000"/>
              </a:solidFill>
              <a:highlight>
                <a:srgbClr val="FFFFFF"/>
              </a:highlight>
            </a:endParaRPr>
          </a:p>
          <a:p>
            <a:pPr>
              <a:lnSpc>
                <a:spcPct val="120000"/>
              </a:lnSpc>
              <a:spcBef>
                <a:spcPts val="0"/>
              </a:spcBef>
            </a:pPr>
            <a:r>
              <a:rPr lang="en-GB" sz="2000" b="0" dirty="0">
                <a:solidFill>
                  <a:srgbClr val="000000"/>
                </a:solidFill>
                <a:highlight>
                  <a:srgbClr val="FFFFFF"/>
                </a:highlight>
              </a:rPr>
              <a:t>            </a:t>
            </a:r>
            <a:r>
              <a:rPr lang="en-GB" sz="2000" b="0" dirty="0" err="1">
                <a:solidFill>
                  <a:srgbClr val="000000"/>
                </a:solidFill>
                <a:highlight>
                  <a:srgbClr val="FFFFFF"/>
                </a:highlight>
              </a:rPr>
              <a:t>System</a:t>
            </a:r>
            <a:r>
              <a:rPr lang="en-GB" sz="2000" b="1" dirty="0" err="1">
                <a:solidFill>
                  <a:srgbClr val="000080"/>
                </a:solidFill>
                <a:highlight>
                  <a:srgbClr val="FFFFFF"/>
                </a:highlight>
              </a:rPr>
              <a:t>.</a:t>
            </a:r>
            <a:r>
              <a:rPr lang="en-GB" sz="2000" b="0" dirty="0" err="1">
                <a:solidFill>
                  <a:srgbClr val="000000"/>
                </a:solidFill>
                <a:highlight>
                  <a:srgbClr val="FFFFFF"/>
                </a:highlight>
              </a:rPr>
              <a:t>out</a:t>
            </a:r>
            <a:r>
              <a:rPr lang="en-GB" sz="2000" b="1" dirty="0" err="1">
                <a:solidFill>
                  <a:srgbClr val="000080"/>
                </a:solidFill>
                <a:highlight>
                  <a:srgbClr val="FFFFFF"/>
                </a:highlight>
              </a:rPr>
              <a:t>.</a:t>
            </a:r>
            <a:r>
              <a:rPr lang="en-GB" sz="2000" b="0" dirty="0" err="1">
                <a:solidFill>
                  <a:srgbClr val="000000"/>
                </a:solidFill>
                <a:highlight>
                  <a:srgbClr val="FFFFFF"/>
                </a:highlight>
              </a:rPr>
              <a:t>println</a:t>
            </a:r>
            <a:r>
              <a:rPr lang="en-GB" sz="2000" b="1" dirty="0">
                <a:solidFill>
                  <a:srgbClr val="000080"/>
                </a:solidFill>
                <a:highlight>
                  <a:srgbClr val="FFFFFF"/>
                </a:highlight>
              </a:rPr>
              <a:t>(</a:t>
            </a:r>
            <a:r>
              <a:rPr lang="en-GB" sz="2000" b="0" dirty="0" err="1">
                <a:solidFill>
                  <a:srgbClr val="000000"/>
                </a:solidFill>
                <a:highlight>
                  <a:srgbClr val="FFFFFF"/>
                </a:highlight>
              </a:rPr>
              <a:t>getName</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0" dirty="0">
                <a:solidFill>
                  <a:srgbClr val="808080"/>
                </a:solidFill>
                <a:highlight>
                  <a:srgbClr val="FFFFFF"/>
                </a:highlight>
              </a:rPr>
              <a:t>" </a:t>
            </a:r>
            <a:r>
              <a:rPr lang="en-GB" sz="2000" b="0" dirty="0" err="1">
                <a:solidFill>
                  <a:srgbClr val="808080"/>
                </a:solidFill>
                <a:highlight>
                  <a:srgbClr val="FFFFFF"/>
                </a:highlight>
              </a:rPr>
              <a:t>este</a:t>
            </a:r>
            <a:r>
              <a:rPr lang="en-GB" sz="2000" b="0" dirty="0">
                <a:solidFill>
                  <a:srgbClr val="808080"/>
                </a:solidFill>
                <a:highlight>
                  <a:srgbClr val="FFFFFF"/>
                </a:highlight>
              </a:rPr>
              <a:t> un fir demon"</a:t>
            </a:r>
            <a:r>
              <a:rPr lang="en-GB" sz="2000" b="1" dirty="0">
                <a:solidFill>
                  <a:srgbClr val="000080"/>
                </a:solidFill>
                <a:highlight>
                  <a:srgbClr val="FFFFFF"/>
                </a:highlight>
              </a:rPr>
              <a:t>);</a:t>
            </a:r>
            <a:endParaRPr lang="en-GB" sz="2000" b="0" dirty="0">
              <a:solidFill>
                <a:srgbClr val="000000"/>
              </a:solidFill>
              <a:highlight>
                <a:srgbClr val="FFFFFF"/>
              </a:highlight>
            </a:endParaRPr>
          </a:p>
          <a:p>
            <a:pPr>
              <a:lnSpc>
                <a:spcPct val="120000"/>
              </a:lnSpc>
              <a:spcBef>
                <a:spcPts val="0"/>
              </a:spcBef>
            </a:pPr>
            <a:r>
              <a:rPr lang="en-GB" sz="2000" b="0" dirty="0">
                <a:solidFill>
                  <a:srgbClr val="000000"/>
                </a:solidFill>
                <a:highlight>
                  <a:srgbClr val="FFFFFF"/>
                </a:highlight>
              </a:rPr>
              <a:t>        </a:t>
            </a:r>
            <a:r>
              <a:rPr lang="en-GB" sz="2000" b="1" dirty="0">
                <a:solidFill>
                  <a:srgbClr val="0000FF"/>
                </a:solidFill>
                <a:highlight>
                  <a:srgbClr val="FFFFFF"/>
                </a:highlight>
              </a:rPr>
              <a:t>else</a:t>
            </a:r>
            <a:endParaRPr lang="en-GB" sz="2000" b="0" dirty="0">
              <a:solidFill>
                <a:srgbClr val="000000"/>
              </a:solidFill>
              <a:highlight>
                <a:srgbClr val="FFFFFF"/>
              </a:highlight>
            </a:endParaRPr>
          </a:p>
          <a:p>
            <a:pPr>
              <a:lnSpc>
                <a:spcPct val="120000"/>
              </a:lnSpc>
              <a:spcBef>
                <a:spcPts val="0"/>
              </a:spcBef>
            </a:pPr>
            <a:r>
              <a:rPr lang="en-GB" sz="2000" b="0" dirty="0">
                <a:solidFill>
                  <a:srgbClr val="000000"/>
                </a:solidFill>
                <a:highlight>
                  <a:srgbClr val="FFFFFF"/>
                </a:highlight>
              </a:rPr>
              <a:t>            </a:t>
            </a:r>
            <a:r>
              <a:rPr lang="en-GB" sz="2000" b="0" dirty="0" err="1">
                <a:solidFill>
                  <a:srgbClr val="000000"/>
                </a:solidFill>
                <a:highlight>
                  <a:srgbClr val="FFFFFF"/>
                </a:highlight>
              </a:rPr>
              <a:t>System</a:t>
            </a:r>
            <a:r>
              <a:rPr lang="en-GB" sz="2000" b="1" dirty="0" err="1">
                <a:solidFill>
                  <a:srgbClr val="000080"/>
                </a:solidFill>
                <a:highlight>
                  <a:srgbClr val="FFFFFF"/>
                </a:highlight>
              </a:rPr>
              <a:t>.</a:t>
            </a:r>
            <a:r>
              <a:rPr lang="en-GB" sz="2000" b="0" dirty="0" err="1">
                <a:solidFill>
                  <a:srgbClr val="000000"/>
                </a:solidFill>
                <a:highlight>
                  <a:srgbClr val="FFFFFF"/>
                </a:highlight>
              </a:rPr>
              <a:t>out</a:t>
            </a:r>
            <a:r>
              <a:rPr lang="en-GB" sz="2000" b="1" dirty="0" err="1">
                <a:solidFill>
                  <a:srgbClr val="000080"/>
                </a:solidFill>
                <a:highlight>
                  <a:srgbClr val="FFFFFF"/>
                </a:highlight>
              </a:rPr>
              <a:t>.</a:t>
            </a:r>
            <a:r>
              <a:rPr lang="en-GB" sz="2000" b="0" dirty="0" err="1">
                <a:solidFill>
                  <a:srgbClr val="000000"/>
                </a:solidFill>
                <a:highlight>
                  <a:srgbClr val="FFFFFF"/>
                </a:highlight>
              </a:rPr>
              <a:t>println</a:t>
            </a:r>
            <a:r>
              <a:rPr lang="en-GB" sz="2000" b="1" dirty="0">
                <a:solidFill>
                  <a:srgbClr val="000080"/>
                </a:solidFill>
                <a:highlight>
                  <a:srgbClr val="FFFFFF"/>
                </a:highlight>
              </a:rPr>
              <a:t>(</a:t>
            </a:r>
            <a:r>
              <a:rPr lang="en-GB" sz="2000" b="0" dirty="0" err="1">
                <a:solidFill>
                  <a:srgbClr val="000000"/>
                </a:solidFill>
                <a:highlight>
                  <a:srgbClr val="FFFFFF"/>
                </a:highlight>
              </a:rPr>
              <a:t>getName</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0" dirty="0">
                <a:solidFill>
                  <a:srgbClr val="808080"/>
                </a:solidFill>
                <a:highlight>
                  <a:srgbClr val="FFFFFF"/>
                </a:highlight>
              </a:rPr>
              <a:t>" </a:t>
            </a:r>
            <a:r>
              <a:rPr lang="en-GB" sz="2000" b="0" dirty="0" err="1">
                <a:solidFill>
                  <a:srgbClr val="808080"/>
                </a:solidFill>
                <a:highlight>
                  <a:srgbClr val="FFFFFF"/>
                </a:highlight>
              </a:rPr>
              <a:t>este</a:t>
            </a:r>
            <a:r>
              <a:rPr lang="en-GB" sz="2000" b="0" dirty="0">
                <a:solidFill>
                  <a:srgbClr val="808080"/>
                </a:solidFill>
                <a:highlight>
                  <a:srgbClr val="FFFFFF"/>
                </a:highlight>
              </a:rPr>
              <a:t> un fir normal"</a:t>
            </a:r>
            <a:r>
              <a:rPr lang="en-GB" sz="2000" b="1" dirty="0">
                <a:solidFill>
                  <a:srgbClr val="000080"/>
                </a:solidFill>
                <a:highlight>
                  <a:srgbClr val="FFFFFF"/>
                </a:highlight>
              </a:rPr>
              <a:t>);</a:t>
            </a:r>
            <a:endParaRPr lang="en-GB" sz="2000" b="0" dirty="0">
              <a:solidFill>
                <a:srgbClr val="000000"/>
              </a:solidFill>
              <a:highlight>
                <a:srgbClr val="FFFFFF"/>
              </a:highlight>
            </a:endParaRPr>
          </a:p>
          <a:p>
            <a:pPr>
              <a:lnSpc>
                <a:spcPct val="120000"/>
              </a:lnSpc>
              <a:spcBef>
                <a:spcPts val="0"/>
              </a:spcBef>
            </a:pPr>
            <a:endParaRPr lang="en-GB" sz="2000" b="0" dirty="0">
              <a:solidFill>
                <a:srgbClr val="000000"/>
              </a:solidFill>
              <a:highlight>
                <a:srgbClr val="FFFFFF"/>
              </a:highlight>
            </a:endParaRPr>
          </a:p>
          <a:p>
            <a:pPr>
              <a:lnSpc>
                <a:spcPct val="120000"/>
              </a:lnSpc>
              <a:spcBef>
                <a:spcPts val="0"/>
              </a:spcBef>
            </a:pPr>
            <a:r>
              <a:rPr lang="nn-NO" sz="2000" b="0" dirty="0">
                <a:solidFill>
                  <a:srgbClr val="000000"/>
                </a:solidFill>
                <a:highlight>
                  <a:srgbClr val="FFFFFF"/>
                </a:highlight>
              </a:rPr>
              <a:t>        </a:t>
            </a:r>
            <a:r>
              <a:rPr lang="nn-NO" sz="2000" b="1" dirty="0">
                <a:solidFill>
                  <a:srgbClr val="0000FF"/>
                </a:solidFill>
                <a:highlight>
                  <a:srgbClr val="FFFFFF"/>
                </a:highlight>
              </a:rPr>
              <a:t>for</a:t>
            </a:r>
            <a:r>
              <a:rPr lang="nn-NO" sz="2000" b="0" dirty="0">
                <a:solidFill>
                  <a:srgbClr val="000000"/>
                </a:solidFill>
                <a:highlight>
                  <a:srgbClr val="FFFFFF"/>
                </a:highlight>
              </a:rPr>
              <a:t> </a:t>
            </a:r>
            <a:r>
              <a:rPr lang="nn-NO" sz="2000" b="1" dirty="0">
                <a:solidFill>
                  <a:srgbClr val="000080"/>
                </a:solidFill>
                <a:highlight>
                  <a:srgbClr val="FFFFFF"/>
                </a:highlight>
              </a:rPr>
              <a:t>(</a:t>
            </a:r>
            <a:r>
              <a:rPr lang="nn-NO" sz="2000" b="0" dirty="0">
                <a:solidFill>
                  <a:srgbClr val="8000FF"/>
                </a:solidFill>
                <a:highlight>
                  <a:srgbClr val="FFFFFF"/>
                </a:highlight>
              </a:rPr>
              <a:t>int</a:t>
            </a:r>
            <a:r>
              <a:rPr lang="nn-NO" sz="2000" b="0" dirty="0">
                <a:solidFill>
                  <a:srgbClr val="000000"/>
                </a:solidFill>
                <a:highlight>
                  <a:srgbClr val="FFFFFF"/>
                </a:highlight>
              </a:rPr>
              <a:t> i </a:t>
            </a:r>
            <a:r>
              <a:rPr lang="nn-NO" sz="2000" b="1" dirty="0">
                <a:solidFill>
                  <a:srgbClr val="000080"/>
                </a:solidFill>
                <a:highlight>
                  <a:srgbClr val="FFFFFF"/>
                </a:highlight>
              </a:rPr>
              <a:t>=</a:t>
            </a:r>
            <a:r>
              <a:rPr lang="nn-NO" sz="2000" b="0" dirty="0">
                <a:solidFill>
                  <a:srgbClr val="000000"/>
                </a:solidFill>
                <a:highlight>
                  <a:srgbClr val="FFFFFF"/>
                </a:highlight>
              </a:rPr>
              <a:t> </a:t>
            </a:r>
            <a:r>
              <a:rPr lang="nn-NO" sz="2000" b="0" dirty="0">
                <a:solidFill>
                  <a:srgbClr val="FF8000"/>
                </a:solidFill>
                <a:highlight>
                  <a:srgbClr val="FFFFFF"/>
                </a:highlight>
              </a:rPr>
              <a:t>0</a:t>
            </a:r>
            <a:r>
              <a:rPr lang="nn-NO" sz="2000" b="1" dirty="0">
                <a:solidFill>
                  <a:srgbClr val="000080"/>
                </a:solidFill>
                <a:highlight>
                  <a:srgbClr val="FFFFFF"/>
                </a:highlight>
              </a:rPr>
              <a:t>;</a:t>
            </a:r>
            <a:r>
              <a:rPr lang="nn-NO" sz="2000" b="0" dirty="0">
                <a:solidFill>
                  <a:srgbClr val="000000"/>
                </a:solidFill>
                <a:highlight>
                  <a:srgbClr val="FFFFFF"/>
                </a:highlight>
              </a:rPr>
              <a:t> i </a:t>
            </a:r>
            <a:r>
              <a:rPr lang="nn-NO" sz="2000" b="1" dirty="0">
                <a:solidFill>
                  <a:srgbClr val="000080"/>
                </a:solidFill>
                <a:highlight>
                  <a:srgbClr val="FFFFFF"/>
                </a:highlight>
              </a:rPr>
              <a:t>&lt;</a:t>
            </a:r>
            <a:r>
              <a:rPr lang="nn-NO" sz="2000" b="0" dirty="0">
                <a:solidFill>
                  <a:srgbClr val="000000"/>
                </a:solidFill>
                <a:highlight>
                  <a:srgbClr val="FFFFFF"/>
                </a:highlight>
              </a:rPr>
              <a:t> </a:t>
            </a:r>
            <a:r>
              <a:rPr lang="nn-NO" sz="2000" b="0" dirty="0">
                <a:solidFill>
                  <a:srgbClr val="FF8000"/>
                </a:solidFill>
                <a:highlight>
                  <a:srgbClr val="FFFFFF"/>
                </a:highlight>
              </a:rPr>
              <a:t>3</a:t>
            </a:r>
            <a:r>
              <a:rPr lang="nn-NO" sz="2000" b="1" dirty="0">
                <a:solidFill>
                  <a:srgbClr val="000080"/>
                </a:solidFill>
                <a:highlight>
                  <a:srgbClr val="FFFFFF"/>
                </a:highlight>
              </a:rPr>
              <a:t>;</a:t>
            </a:r>
            <a:r>
              <a:rPr lang="nn-NO" sz="2000" b="0" dirty="0">
                <a:solidFill>
                  <a:srgbClr val="000000"/>
                </a:solidFill>
                <a:highlight>
                  <a:srgbClr val="FFFFFF"/>
                </a:highlight>
              </a:rPr>
              <a:t> i</a:t>
            </a:r>
            <a:r>
              <a:rPr lang="nn-NO" sz="2000" b="1" dirty="0">
                <a:solidFill>
                  <a:srgbClr val="000080"/>
                </a:solidFill>
                <a:highlight>
                  <a:srgbClr val="FFFFFF"/>
                </a:highlight>
              </a:rPr>
              <a:t>++)</a:t>
            </a:r>
            <a:r>
              <a:rPr lang="nn-NO" sz="2000" b="0" dirty="0">
                <a:solidFill>
                  <a:srgbClr val="000000"/>
                </a:solidFill>
                <a:highlight>
                  <a:srgbClr val="FFFFFF"/>
                </a:highlight>
              </a:rPr>
              <a:t> </a:t>
            </a:r>
            <a:r>
              <a:rPr lang="nn-NO" sz="2000" b="1" dirty="0">
                <a:solidFill>
                  <a:srgbClr val="000080"/>
                </a:solidFill>
                <a:highlight>
                  <a:srgbClr val="FFFFFF"/>
                </a:highlight>
              </a:rPr>
              <a:t>{</a:t>
            </a:r>
            <a:endParaRPr lang="nn-NO" sz="2000" b="0" dirty="0">
              <a:solidFill>
                <a:srgbClr val="000000"/>
              </a:solidFill>
              <a:highlight>
                <a:srgbClr val="FFFFFF"/>
              </a:highlight>
            </a:endParaRPr>
          </a:p>
          <a:p>
            <a:pPr>
              <a:lnSpc>
                <a:spcPct val="120000"/>
              </a:lnSpc>
              <a:spcBef>
                <a:spcPts val="0"/>
              </a:spcBef>
            </a:pPr>
            <a:r>
              <a:rPr lang="en-GB" sz="2000" b="0" dirty="0">
                <a:solidFill>
                  <a:srgbClr val="000000"/>
                </a:solidFill>
                <a:highlight>
                  <a:srgbClr val="FFFFFF"/>
                </a:highlight>
              </a:rPr>
              <a:t>            </a:t>
            </a:r>
            <a:r>
              <a:rPr lang="en-GB" sz="2000" b="0" dirty="0" err="1">
                <a:solidFill>
                  <a:srgbClr val="000000"/>
                </a:solidFill>
                <a:highlight>
                  <a:srgbClr val="FFFFFF"/>
                </a:highlight>
              </a:rPr>
              <a:t>System</a:t>
            </a:r>
            <a:r>
              <a:rPr lang="en-GB" sz="2000" b="1" dirty="0" err="1">
                <a:solidFill>
                  <a:srgbClr val="000080"/>
                </a:solidFill>
                <a:highlight>
                  <a:srgbClr val="FFFFFF"/>
                </a:highlight>
              </a:rPr>
              <a:t>.</a:t>
            </a:r>
            <a:r>
              <a:rPr lang="en-GB" sz="2000" b="0" dirty="0" err="1">
                <a:solidFill>
                  <a:srgbClr val="000000"/>
                </a:solidFill>
                <a:highlight>
                  <a:srgbClr val="FFFFFF"/>
                </a:highlight>
              </a:rPr>
              <a:t>out</a:t>
            </a:r>
            <a:r>
              <a:rPr lang="en-GB" sz="2000" b="1" dirty="0" err="1">
                <a:solidFill>
                  <a:srgbClr val="000080"/>
                </a:solidFill>
                <a:highlight>
                  <a:srgbClr val="FFFFFF"/>
                </a:highlight>
              </a:rPr>
              <a:t>.</a:t>
            </a:r>
            <a:r>
              <a:rPr lang="en-GB" sz="2000" b="0" dirty="0" err="1">
                <a:solidFill>
                  <a:srgbClr val="000000"/>
                </a:solidFill>
                <a:highlight>
                  <a:srgbClr val="FFFFFF"/>
                </a:highlight>
              </a:rPr>
              <a:t>println</a:t>
            </a:r>
            <a:r>
              <a:rPr lang="en-GB" sz="2000" b="1" dirty="0">
                <a:solidFill>
                  <a:srgbClr val="000080"/>
                </a:solidFill>
                <a:highlight>
                  <a:srgbClr val="FFFFFF"/>
                </a:highlight>
              </a:rPr>
              <a:t>(</a:t>
            </a:r>
            <a:r>
              <a:rPr lang="en-GB" sz="2000" b="0" dirty="0" err="1">
                <a:solidFill>
                  <a:srgbClr val="000000"/>
                </a:solidFill>
                <a:highlight>
                  <a:srgbClr val="FFFFFF"/>
                </a:highlight>
              </a:rPr>
              <a:t>getName</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0" dirty="0">
                <a:solidFill>
                  <a:srgbClr val="808080"/>
                </a:solidFill>
                <a:highlight>
                  <a:srgbClr val="FFFFFF"/>
                </a:highlight>
              </a:rPr>
              <a:t>" </a:t>
            </a:r>
            <a:r>
              <a:rPr lang="en-GB" sz="2000" b="0" dirty="0" err="1">
                <a:solidFill>
                  <a:srgbClr val="808080"/>
                </a:solidFill>
                <a:highlight>
                  <a:srgbClr val="FFFFFF"/>
                </a:highlight>
              </a:rPr>
              <a:t>rulează</a:t>
            </a:r>
            <a:r>
              <a:rPr lang="en-GB" sz="2000" b="0" dirty="0">
                <a:solidFill>
                  <a:srgbClr val="808080"/>
                </a:solidFill>
                <a:highlight>
                  <a:srgbClr val="FFFFFF"/>
                </a:highlight>
              </a:rPr>
              <a:t>..."</a:t>
            </a:r>
            <a:r>
              <a:rPr lang="en-GB" sz="2000" b="1" dirty="0">
                <a:solidFill>
                  <a:srgbClr val="000080"/>
                </a:solidFill>
                <a:highlight>
                  <a:srgbClr val="FFFFFF"/>
                </a:highlight>
              </a:rPr>
              <a:t>);</a:t>
            </a:r>
            <a:endParaRPr lang="en-GB" sz="2000" b="0" dirty="0">
              <a:solidFill>
                <a:srgbClr val="000000"/>
              </a:solidFill>
              <a:highlight>
                <a:srgbClr val="FFFFFF"/>
              </a:highlight>
            </a:endParaRPr>
          </a:p>
          <a:p>
            <a:pPr>
              <a:lnSpc>
                <a:spcPct val="120000"/>
              </a:lnSpc>
              <a:spcBef>
                <a:spcPts val="0"/>
              </a:spcBef>
            </a:pPr>
            <a:r>
              <a:rPr lang="en-GB" sz="2000" b="0" dirty="0">
                <a:solidFill>
                  <a:srgbClr val="000000"/>
                </a:solidFill>
                <a:highlight>
                  <a:srgbClr val="FFFFFF"/>
                </a:highlight>
              </a:rPr>
              <a:t>            </a:t>
            </a:r>
            <a:r>
              <a:rPr lang="en-GB" sz="2000" b="1" dirty="0">
                <a:solidFill>
                  <a:srgbClr val="0000FF"/>
                </a:solidFill>
                <a:highlight>
                  <a:srgbClr val="FFFFFF"/>
                </a:highlight>
              </a:rPr>
              <a:t>try</a:t>
            </a:r>
            <a:r>
              <a:rPr lang="en-GB" sz="2000" b="0" dirty="0">
                <a:solidFill>
                  <a:srgbClr val="000000"/>
                </a:solidFill>
                <a:highlight>
                  <a:srgbClr val="FFFFFF"/>
                </a:highlight>
              </a:rPr>
              <a:t> </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0" dirty="0" err="1">
                <a:solidFill>
                  <a:srgbClr val="000000"/>
                </a:solidFill>
                <a:highlight>
                  <a:srgbClr val="FFFFFF"/>
                </a:highlight>
              </a:rPr>
              <a:t>Thread</a:t>
            </a:r>
            <a:r>
              <a:rPr lang="en-GB" sz="2000" b="1" dirty="0" err="1">
                <a:solidFill>
                  <a:srgbClr val="000080"/>
                </a:solidFill>
                <a:highlight>
                  <a:srgbClr val="FFFFFF"/>
                </a:highlight>
              </a:rPr>
              <a:t>.</a:t>
            </a:r>
            <a:r>
              <a:rPr lang="en-GB" sz="2000" b="0" dirty="0" err="1">
                <a:solidFill>
                  <a:srgbClr val="000000"/>
                </a:solidFill>
                <a:highlight>
                  <a:srgbClr val="FFFFFF"/>
                </a:highlight>
              </a:rPr>
              <a:t>sleep</a:t>
            </a:r>
            <a:r>
              <a:rPr lang="en-GB" sz="2000" b="1" dirty="0">
                <a:solidFill>
                  <a:srgbClr val="000080"/>
                </a:solidFill>
                <a:highlight>
                  <a:srgbClr val="FFFFFF"/>
                </a:highlight>
              </a:rPr>
              <a:t>(</a:t>
            </a:r>
            <a:r>
              <a:rPr lang="en-GB" sz="2000" b="0" dirty="0">
                <a:solidFill>
                  <a:srgbClr val="FF8000"/>
                </a:solidFill>
                <a:highlight>
                  <a:srgbClr val="FFFFFF"/>
                </a:highlight>
              </a:rPr>
              <a:t>500</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1" dirty="0">
                <a:solidFill>
                  <a:srgbClr val="0000FF"/>
                </a:solidFill>
                <a:highlight>
                  <a:srgbClr val="FFFFFF"/>
                </a:highlight>
              </a:rPr>
              <a:t>catch</a:t>
            </a:r>
            <a:r>
              <a:rPr lang="en-GB" sz="2000" b="0" dirty="0">
                <a:solidFill>
                  <a:srgbClr val="000000"/>
                </a:solidFill>
                <a:highlight>
                  <a:srgbClr val="FFFFFF"/>
                </a:highlight>
              </a:rPr>
              <a:t> </a:t>
            </a:r>
            <a:r>
              <a:rPr lang="en-GB" sz="2000" b="1" dirty="0">
                <a:solidFill>
                  <a:srgbClr val="000080"/>
                </a:solidFill>
                <a:highlight>
                  <a:srgbClr val="FFFFFF"/>
                </a:highlight>
              </a:rPr>
              <a:t>(</a:t>
            </a:r>
            <a:r>
              <a:rPr lang="en-GB" sz="2000" b="0" dirty="0" err="1">
                <a:solidFill>
                  <a:srgbClr val="000000"/>
                </a:solidFill>
                <a:highlight>
                  <a:srgbClr val="FFFFFF"/>
                </a:highlight>
              </a:rPr>
              <a:t>InterruptedException</a:t>
            </a:r>
            <a:r>
              <a:rPr lang="en-GB" sz="2000" b="0" dirty="0">
                <a:solidFill>
                  <a:srgbClr val="000000"/>
                </a:solidFill>
                <a:highlight>
                  <a:srgbClr val="FFFFFF"/>
                </a:highlight>
              </a:rPr>
              <a:t> e</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1" dirty="0">
                <a:solidFill>
                  <a:srgbClr val="000080"/>
                </a:solidFill>
                <a:highlight>
                  <a:srgbClr val="FFFFFF"/>
                </a:highlight>
              </a:rPr>
              <a:t>}</a:t>
            </a:r>
            <a:endParaRPr lang="en-GB" sz="2000" b="0" dirty="0">
              <a:solidFill>
                <a:srgbClr val="000000"/>
              </a:solidFill>
              <a:highlight>
                <a:srgbClr val="FFFFFF"/>
              </a:highlight>
            </a:endParaRPr>
          </a:p>
          <a:p>
            <a:pPr>
              <a:lnSpc>
                <a:spcPct val="120000"/>
              </a:lnSpc>
              <a:spcBef>
                <a:spcPts val="0"/>
              </a:spcBef>
            </a:pPr>
            <a:r>
              <a:rPr lang="en-GB" sz="2000" b="0" dirty="0">
                <a:solidFill>
                  <a:srgbClr val="000000"/>
                </a:solidFill>
                <a:highlight>
                  <a:srgbClr val="FFFFFF"/>
                </a:highlight>
              </a:rPr>
              <a:t>        </a:t>
            </a:r>
            <a:r>
              <a:rPr lang="en-GB" sz="2000" b="1" dirty="0">
                <a:solidFill>
                  <a:srgbClr val="000080"/>
                </a:solidFill>
                <a:highlight>
                  <a:srgbClr val="FFFFFF"/>
                </a:highlight>
              </a:rPr>
              <a:t>}</a:t>
            </a:r>
            <a:endParaRPr lang="en-GB" sz="2000" b="0" dirty="0">
              <a:solidFill>
                <a:srgbClr val="000000"/>
              </a:solidFill>
              <a:highlight>
                <a:srgbClr val="FFFFFF"/>
              </a:highlight>
            </a:endParaRPr>
          </a:p>
          <a:p>
            <a:pPr>
              <a:lnSpc>
                <a:spcPct val="120000"/>
              </a:lnSpc>
              <a:spcBef>
                <a:spcPts val="0"/>
              </a:spcBef>
            </a:pPr>
            <a:r>
              <a:rPr lang="en-GB" sz="2000" b="0" dirty="0">
                <a:solidFill>
                  <a:srgbClr val="000000"/>
                </a:solidFill>
                <a:highlight>
                  <a:srgbClr val="FFFFFF"/>
                </a:highlight>
              </a:rPr>
              <a:t>    </a:t>
            </a:r>
            <a:r>
              <a:rPr lang="en-GB" sz="2000" b="1" dirty="0">
                <a:solidFill>
                  <a:srgbClr val="000080"/>
                </a:solidFill>
                <a:highlight>
                  <a:srgbClr val="FFFFFF"/>
                </a:highlight>
              </a:rPr>
              <a:t>}</a:t>
            </a:r>
            <a:endParaRPr lang="en-GB" sz="2000" b="0" dirty="0">
              <a:solidFill>
                <a:srgbClr val="000000"/>
              </a:solidFill>
              <a:highlight>
                <a:srgbClr val="FFFFFF"/>
              </a:highlight>
            </a:endParaRPr>
          </a:p>
          <a:p>
            <a:pPr>
              <a:lnSpc>
                <a:spcPct val="120000"/>
              </a:lnSpc>
              <a:spcBef>
                <a:spcPts val="0"/>
              </a:spcBef>
            </a:pPr>
            <a:endParaRPr lang="en-GB" sz="2000" b="0" dirty="0">
              <a:solidFill>
                <a:srgbClr val="000000"/>
              </a:solidFill>
              <a:highlight>
                <a:srgbClr val="FFFFFF"/>
              </a:highlight>
            </a:endParaRPr>
          </a:p>
          <a:p>
            <a:pPr>
              <a:lnSpc>
                <a:spcPct val="120000"/>
              </a:lnSpc>
              <a:spcBef>
                <a:spcPts val="0"/>
              </a:spcBef>
            </a:pPr>
            <a:r>
              <a:rPr lang="en-GB" sz="2000" b="0" dirty="0">
                <a:solidFill>
                  <a:srgbClr val="000000"/>
                </a:solidFill>
                <a:highlight>
                  <a:srgbClr val="FFFFFF"/>
                </a:highlight>
              </a:rPr>
              <a:t>    </a:t>
            </a:r>
            <a:r>
              <a:rPr lang="en-GB" sz="2000" b="0" dirty="0">
                <a:solidFill>
                  <a:srgbClr val="8000FF"/>
                </a:solidFill>
                <a:highlight>
                  <a:srgbClr val="FFFFFF"/>
                </a:highlight>
              </a:rPr>
              <a:t>public</a:t>
            </a:r>
            <a:r>
              <a:rPr lang="en-GB" sz="2000" b="0" dirty="0">
                <a:solidFill>
                  <a:srgbClr val="000000"/>
                </a:solidFill>
                <a:highlight>
                  <a:srgbClr val="FFFFFF"/>
                </a:highlight>
              </a:rPr>
              <a:t> </a:t>
            </a:r>
            <a:r>
              <a:rPr lang="en-GB" sz="2000" b="0" dirty="0">
                <a:solidFill>
                  <a:srgbClr val="8000FF"/>
                </a:solidFill>
                <a:highlight>
                  <a:srgbClr val="FFFFFF"/>
                </a:highlight>
              </a:rPr>
              <a:t>static</a:t>
            </a:r>
            <a:r>
              <a:rPr lang="en-GB" sz="2000" b="0" dirty="0">
                <a:solidFill>
                  <a:srgbClr val="000000"/>
                </a:solidFill>
                <a:highlight>
                  <a:srgbClr val="FFFFFF"/>
                </a:highlight>
              </a:rPr>
              <a:t> </a:t>
            </a:r>
            <a:r>
              <a:rPr lang="en-GB" sz="2000" b="0" dirty="0">
                <a:solidFill>
                  <a:srgbClr val="8000FF"/>
                </a:solidFill>
                <a:highlight>
                  <a:srgbClr val="FFFFFF"/>
                </a:highlight>
              </a:rPr>
              <a:t>void</a:t>
            </a:r>
            <a:r>
              <a:rPr lang="en-GB" sz="2000" b="0" dirty="0">
                <a:solidFill>
                  <a:srgbClr val="000000"/>
                </a:solidFill>
                <a:highlight>
                  <a:srgbClr val="FFFFFF"/>
                </a:highlight>
              </a:rPr>
              <a:t> main</a:t>
            </a:r>
            <a:r>
              <a:rPr lang="en-GB" sz="2000" b="1" dirty="0">
                <a:solidFill>
                  <a:srgbClr val="000080"/>
                </a:solidFill>
                <a:highlight>
                  <a:srgbClr val="FFFFFF"/>
                </a:highlight>
              </a:rPr>
              <a:t>(</a:t>
            </a:r>
            <a:r>
              <a:rPr lang="en-GB" sz="2000" b="0" dirty="0">
                <a:solidFill>
                  <a:srgbClr val="000000"/>
                </a:solidFill>
                <a:highlight>
                  <a:srgbClr val="FFFFFF"/>
                </a:highlight>
              </a:rPr>
              <a:t>String</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0" dirty="0" err="1">
                <a:solidFill>
                  <a:srgbClr val="000000"/>
                </a:solidFill>
                <a:highlight>
                  <a:srgbClr val="FFFFFF"/>
                </a:highlight>
              </a:rPr>
              <a:t>args</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1" dirty="0">
                <a:solidFill>
                  <a:srgbClr val="000080"/>
                </a:solidFill>
                <a:highlight>
                  <a:srgbClr val="FFFFFF"/>
                </a:highlight>
              </a:rPr>
              <a:t>{</a:t>
            </a:r>
            <a:endParaRPr lang="en-GB" sz="2000" b="0" dirty="0">
              <a:solidFill>
                <a:srgbClr val="000000"/>
              </a:solidFill>
              <a:highlight>
                <a:srgbClr val="FFFFFF"/>
              </a:highlight>
            </a:endParaRPr>
          </a:p>
          <a:p>
            <a:pPr>
              <a:lnSpc>
                <a:spcPct val="120000"/>
              </a:lnSpc>
              <a:spcBef>
                <a:spcPts val="0"/>
              </a:spcBef>
            </a:pPr>
            <a:r>
              <a:rPr lang="en-GB" sz="2000" b="0" dirty="0">
                <a:solidFill>
                  <a:srgbClr val="000000"/>
                </a:solidFill>
                <a:highlight>
                  <a:srgbClr val="FFFFFF"/>
                </a:highlight>
              </a:rPr>
              <a:t>        </a:t>
            </a:r>
            <a:r>
              <a:rPr lang="en-GB" sz="2000" b="0" dirty="0" err="1">
                <a:solidFill>
                  <a:srgbClr val="000000"/>
                </a:solidFill>
                <a:highlight>
                  <a:srgbClr val="FFFFFF"/>
                </a:highlight>
              </a:rPr>
              <a:t>FirDemon</a:t>
            </a:r>
            <a:r>
              <a:rPr lang="en-GB" sz="2000" b="0" dirty="0">
                <a:solidFill>
                  <a:srgbClr val="000000"/>
                </a:solidFill>
                <a:highlight>
                  <a:srgbClr val="FFFFFF"/>
                </a:highlight>
              </a:rPr>
              <a:t> f1 </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1" dirty="0">
                <a:solidFill>
                  <a:srgbClr val="0000FF"/>
                </a:solidFill>
                <a:highlight>
                  <a:srgbClr val="FFFFFF"/>
                </a:highlight>
              </a:rPr>
              <a:t>new</a:t>
            </a:r>
            <a:r>
              <a:rPr lang="en-GB" sz="2000" b="0" dirty="0">
                <a:solidFill>
                  <a:srgbClr val="000000"/>
                </a:solidFill>
                <a:highlight>
                  <a:srgbClr val="FFFFFF"/>
                </a:highlight>
              </a:rPr>
              <a:t> </a:t>
            </a:r>
            <a:r>
              <a:rPr lang="en-GB" sz="2000" b="0" dirty="0" err="1">
                <a:solidFill>
                  <a:srgbClr val="000000"/>
                </a:solidFill>
                <a:highlight>
                  <a:srgbClr val="FFFFFF"/>
                </a:highlight>
              </a:rPr>
              <a:t>FirDemon</a:t>
            </a:r>
            <a:r>
              <a:rPr lang="en-GB" sz="2000" b="1" dirty="0">
                <a:solidFill>
                  <a:srgbClr val="000080"/>
                </a:solidFill>
                <a:highlight>
                  <a:srgbClr val="FFFFFF"/>
                </a:highlight>
              </a:rPr>
              <a:t>();</a:t>
            </a:r>
            <a:endParaRPr lang="en-GB" sz="2000" b="0" dirty="0">
              <a:solidFill>
                <a:srgbClr val="000000"/>
              </a:solidFill>
              <a:highlight>
                <a:srgbClr val="FFFFFF"/>
              </a:highlight>
            </a:endParaRPr>
          </a:p>
          <a:p>
            <a:pPr>
              <a:lnSpc>
                <a:spcPct val="120000"/>
              </a:lnSpc>
              <a:spcBef>
                <a:spcPts val="0"/>
              </a:spcBef>
            </a:pPr>
            <a:r>
              <a:rPr lang="en-GB" sz="2000" b="0" dirty="0">
                <a:solidFill>
                  <a:srgbClr val="000000"/>
                </a:solidFill>
                <a:highlight>
                  <a:srgbClr val="FFFFFF"/>
                </a:highlight>
              </a:rPr>
              <a:t>        </a:t>
            </a:r>
            <a:r>
              <a:rPr lang="en-GB" sz="2000" b="0" dirty="0" err="1">
                <a:solidFill>
                  <a:srgbClr val="000000"/>
                </a:solidFill>
                <a:highlight>
                  <a:srgbClr val="FFFFFF"/>
                </a:highlight>
              </a:rPr>
              <a:t>FirDemon</a:t>
            </a:r>
            <a:r>
              <a:rPr lang="en-GB" sz="2000" b="0" dirty="0">
                <a:solidFill>
                  <a:srgbClr val="000000"/>
                </a:solidFill>
                <a:highlight>
                  <a:srgbClr val="FFFFFF"/>
                </a:highlight>
              </a:rPr>
              <a:t> f2 </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1" dirty="0">
                <a:solidFill>
                  <a:srgbClr val="0000FF"/>
                </a:solidFill>
                <a:highlight>
                  <a:srgbClr val="FFFFFF"/>
                </a:highlight>
              </a:rPr>
              <a:t>new</a:t>
            </a:r>
            <a:r>
              <a:rPr lang="en-GB" sz="2000" b="0" dirty="0">
                <a:solidFill>
                  <a:srgbClr val="000000"/>
                </a:solidFill>
                <a:highlight>
                  <a:srgbClr val="FFFFFF"/>
                </a:highlight>
              </a:rPr>
              <a:t> </a:t>
            </a:r>
            <a:r>
              <a:rPr lang="en-GB" sz="2000" b="0" dirty="0" err="1">
                <a:solidFill>
                  <a:srgbClr val="000000"/>
                </a:solidFill>
                <a:highlight>
                  <a:srgbClr val="FFFFFF"/>
                </a:highlight>
              </a:rPr>
              <a:t>FirDemon</a:t>
            </a:r>
            <a:r>
              <a:rPr lang="en-GB" sz="2000" b="1" dirty="0">
                <a:solidFill>
                  <a:srgbClr val="000080"/>
                </a:solidFill>
                <a:highlight>
                  <a:srgbClr val="FFFFFF"/>
                </a:highlight>
              </a:rPr>
              <a:t>();</a:t>
            </a:r>
            <a:endParaRPr lang="en-GB" sz="2000" b="0" dirty="0">
              <a:solidFill>
                <a:srgbClr val="000000"/>
              </a:solidFill>
              <a:highlight>
                <a:srgbClr val="FFFFFF"/>
              </a:highlight>
            </a:endParaRPr>
          </a:p>
          <a:p>
            <a:pPr>
              <a:lnSpc>
                <a:spcPct val="120000"/>
              </a:lnSpc>
              <a:spcBef>
                <a:spcPts val="0"/>
              </a:spcBef>
            </a:pPr>
            <a:endParaRPr lang="en-GB" sz="2000" b="0" dirty="0">
              <a:solidFill>
                <a:srgbClr val="000000"/>
              </a:solidFill>
              <a:highlight>
                <a:srgbClr val="FFFFFF"/>
              </a:highlight>
            </a:endParaRPr>
          </a:p>
          <a:p>
            <a:pPr>
              <a:lnSpc>
                <a:spcPct val="120000"/>
              </a:lnSpc>
              <a:spcBef>
                <a:spcPts val="0"/>
              </a:spcBef>
            </a:pPr>
            <a:r>
              <a:rPr lang="en-GB" sz="2000" b="0" dirty="0">
                <a:solidFill>
                  <a:srgbClr val="000000"/>
                </a:solidFill>
                <a:highlight>
                  <a:srgbClr val="FFFFFF"/>
                </a:highlight>
              </a:rPr>
              <a:t>        f1</a:t>
            </a:r>
            <a:r>
              <a:rPr lang="en-GB" sz="2000" b="1" dirty="0">
                <a:solidFill>
                  <a:srgbClr val="000080"/>
                </a:solidFill>
                <a:highlight>
                  <a:srgbClr val="FFFFFF"/>
                </a:highlight>
              </a:rPr>
              <a:t>.</a:t>
            </a:r>
            <a:r>
              <a:rPr lang="en-GB" sz="2000" b="0" dirty="0">
                <a:solidFill>
                  <a:srgbClr val="000000"/>
                </a:solidFill>
                <a:highlight>
                  <a:srgbClr val="FFFFFF"/>
                </a:highlight>
              </a:rPr>
              <a:t>setDaemon</a:t>
            </a:r>
            <a:r>
              <a:rPr lang="en-GB" sz="2000" b="1" dirty="0">
                <a:solidFill>
                  <a:srgbClr val="000080"/>
                </a:solidFill>
                <a:highlight>
                  <a:srgbClr val="FFFFFF"/>
                </a:highlight>
              </a:rPr>
              <a:t>(</a:t>
            </a:r>
            <a:r>
              <a:rPr lang="en-GB" sz="2000" b="1" dirty="0">
                <a:solidFill>
                  <a:srgbClr val="0000FF"/>
                </a:solidFill>
                <a:highlight>
                  <a:srgbClr val="FFFFFF"/>
                </a:highlight>
              </a:rPr>
              <a:t>true</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0" dirty="0">
                <a:solidFill>
                  <a:srgbClr val="008000"/>
                </a:solidFill>
                <a:highlight>
                  <a:srgbClr val="FFFFFF"/>
                </a:highlight>
              </a:rPr>
              <a:t>// </a:t>
            </a:r>
            <a:r>
              <a:rPr lang="en-GB" sz="2000" b="0" dirty="0" err="1">
                <a:solidFill>
                  <a:srgbClr val="008000"/>
                </a:solidFill>
                <a:highlight>
                  <a:srgbClr val="FFFFFF"/>
                </a:highlight>
              </a:rPr>
              <a:t>declarăm</a:t>
            </a:r>
            <a:r>
              <a:rPr lang="en-GB" sz="2000" b="0" dirty="0">
                <a:solidFill>
                  <a:srgbClr val="008000"/>
                </a:solidFill>
                <a:highlight>
                  <a:srgbClr val="FFFFFF"/>
                </a:highlight>
              </a:rPr>
              <a:t> </a:t>
            </a:r>
            <a:r>
              <a:rPr lang="en-GB" sz="2000" b="0" dirty="0" err="1">
                <a:solidFill>
                  <a:srgbClr val="008000"/>
                </a:solidFill>
                <a:highlight>
                  <a:srgbClr val="FFFFFF"/>
                </a:highlight>
              </a:rPr>
              <a:t>firul</a:t>
            </a:r>
            <a:r>
              <a:rPr lang="en-GB" sz="2000" b="0" dirty="0">
                <a:solidFill>
                  <a:srgbClr val="008000"/>
                </a:solidFill>
                <a:highlight>
                  <a:srgbClr val="FFFFFF"/>
                </a:highlight>
              </a:rPr>
              <a:t> ca demon</a:t>
            </a:r>
          </a:p>
          <a:p>
            <a:pPr>
              <a:lnSpc>
                <a:spcPct val="120000"/>
              </a:lnSpc>
              <a:spcBef>
                <a:spcPts val="0"/>
              </a:spcBef>
            </a:pPr>
            <a:r>
              <a:rPr lang="en-GB" sz="2000" b="0" dirty="0">
                <a:solidFill>
                  <a:srgbClr val="000000"/>
                </a:solidFill>
                <a:highlight>
                  <a:srgbClr val="FFFFFF"/>
                </a:highlight>
              </a:rPr>
              <a:t>        f1</a:t>
            </a:r>
            <a:r>
              <a:rPr lang="en-GB" sz="2000" b="1" dirty="0">
                <a:solidFill>
                  <a:srgbClr val="000080"/>
                </a:solidFill>
                <a:highlight>
                  <a:srgbClr val="FFFFFF"/>
                </a:highlight>
              </a:rPr>
              <a:t>.</a:t>
            </a:r>
            <a:r>
              <a:rPr lang="en-GB" sz="2000" b="0" dirty="0">
                <a:solidFill>
                  <a:srgbClr val="000000"/>
                </a:solidFill>
                <a:highlight>
                  <a:srgbClr val="FFFFFF"/>
                </a:highlight>
              </a:rPr>
              <a:t>start</a:t>
            </a:r>
            <a:r>
              <a:rPr lang="en-GB" sz="2000" b="1" dirty="0">
                <a:solidFill>
                  <a:srgbClr val="000080"/>
                </a:solidFill>
                <a:highlight>
                  <a:srgbClr val="FFFFFF"/>
                </a:highlight>
              </a:rPr>
              <a:t>();</a:t>
            </a:r>
            <a:endParaRPr lang="en-GB" sz="2000" b="0" dirty="0">
              <a:solidFill>
                <a:srgbClr val="000000"/>
              </a:solidFill>
              <a:highlight>
                <a:srgbClr val="FFFFFF"/>
              </a:highlight>
            </a:endParaRPr>
          </a:p>
          <a:p>
            <a:pPr>
              <a:lnSpc>
                <a:spcPct val="120000"/>
              </a:lnSpc>
              <a:spcBef>
                <a:spcPts val="0"/>
              </a:spcBef>
            </a:pPr>
            <a:r>
              <a:rPr lang="en-GB" sz="2000" b="0" dirty="0">
                <a:solidFill>
                  <a:srgbClr val="000000"/>
                </a:solidFill>
                <a:highlight>
                  <a:srgbClr val="FFFFFF"/>
                </a:highlight>
              </a:rPr>
              <a:t>        f2</a:t>
            </a:r>
            <a:r>
              <a:rPr lang="en-GB" sz="2000" b="1" dirty="0">
                <a:solidFill>
                  <a:srgbClr val="000080"/>
                </a:solidFill>
                <a:highlight>
                  <a:srgbClr val="FFFFFF"/>
                </a:highlight>
              </a:rPr>
              <a:t>.</a:t>
            </a:r>
            <a:r>
              <a:rPr lang="en-GB" sz="2000" b="0" dirty="0">
                <a:solidFill>
                  <a:srgbClr val="000000"/>
                </a:solidFill>
                <a:highlight>
                  <a:srgbClr val="FFFFFF"/>
                </a:highlight>
              </a:rPr>
              <a:t>start</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0" dirty="0">
                <a:solidFill>
                  <a:srgbClr val="008000"/>
                </a:solidFill>
                <a:highlight>
                  <a:srgbClr val="FFFFFF"/>
                </a:highlight>
              </a:rPr>
              <a:t>// fir normal</a:t>
            </a:r>
          </a:p>
          <a:p>
            <a:pPr>
              <a:lnSpc>
                <a:spcPct val="120000"/>
              </a:lnSpc>
              <a:spcBef>
                <a:spcPts val="0"/>
              </a:spcBef>
            </a:pPr>
            <a:r>
              <a:rPr lang="en-GB" sz="2000" b="0" dirty="0">
                <a:solidFill>
                  <a:srgbClr val="000000"/>
                </a:solidFill>
                <a:highlight>
                  <a:srgbClr val="FFFFFF"/>
                </a:highlight>
              </a:rPr>
              <a:t>    </a:t>
            </a:r>
            <a:r>
              <a:rPr lang="en-GB" sz="2000" b="1" dirty="0">
                <a:solidFill>
                  <a:srgbClr val="000080"/>
                </a:solidFill>
                <a:highlight>
                  <a:srgbClr val="FFFFFF"/>
                </a:highlight>
              </a:rPr>
              <a:t>}</a:t>
            </a:r>
            <a:endParaRPr lang="en-GB" sz="2000" b="0" dirty="0">
              <a:solidFill>
                <a:srgbClr val="000000"/>
              </a:solidFill>
              <a:highlight>
                <a:srgbClr val="FFFFFF"/>
              </a:highlight>
            </a:endParaRPr>
          </a:p>
          <a:p>
            <a:pPr>
              <a:lnSpc>
                <a:spcPct val="120000"/>
              </a:lnSpc>
              <a:spcBef>
                <a:spcPts val="0"/>
              </a:spcBef>
            </a:pPr>
            <a:r>
              <a:rPr lang="en-GB" sz="2000" b="1" dirty="0">
                <a:solidFill>
                  <a:srgbClr val="000080"/>
                </a:solidFill>
                <a:highlight>
                  <a:srgbClr val="FFFFFF"/>
                </a:highlight>
              </a:rPr>
              <a:t>}</a:t>
            </a:r>
            <a:endParaRPr lang="en-GB" sz="2000" b="0" dirty="0">
              <a:solidFill>
                <a:srgbClr val="000000"/>
              </a:solidFill>
              <a:highlight>
                <a:srgbClr val="FFFFFF"/>
              </a:highlight>
            </a:endParaRPr>
          </a:p>
          <a:p>
            <a:pPr>
              <a:lnSpc>
                <a:spcPct val="120000"/>
              </a:lnSpc>
              <a:spcBef>
                <a:spcPts val="0"/>
              </a:spcBef>
            </a:pPr>
            <a:endParaRPr lang="ro-RO" dirty="0"/>
          </a:p>
        </p:txBody>
      </p:sp>
    </p:spTree>
    <p:extLst>
      <p:ext uri="{BB962C8B-B14F-4D97-AF65-F5344CB8AC3E}">
        <p14:creationId xmlns:p14="http://schemas.microsoft.com/office/powerpoint/2010/main" val="10130885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t>Grupuri de fire de </a:t>
            </a:r>
            <a:r>
              <a:rPr lang="ro-RO" b="1" dirty="0" err="1"/>
              <a:t>execuţie</a:t>
            </a:r>
            <a:endParaRPr lang="ro-RO" dirty="0"/>
          </a:p>
        </p:txBody>
      </p:sp>
      <p:sp>
        <p:nvSpPr>
          <p:cNvPr id="3" name="Content Placeholder 2"/>
          <p:cNvSpPr>
            <a:spLocks noGrp="1"/>
          </p:cNvSpPr>
          <p:nvPr>
            <p:ph idx="1"/>
          </p:nvPr>
        </p:nvSpPr>
        <p:spPr>
          <a:xfrm>
            <a:off x="1097279" y="1845733"/>
            <a:ext cx="10338163" cy="4462537"/>
          </a:xfrm>
        </p:spPr>
        <p:txBody>
          <a:bodyPr/>
          <a:lstStyle/>
          <a:p>
            <a:r>
              <a:rPr lang="en-GB" dirty="0"/>
              <a:t>E</a:t>
            </a:r>
            <a:r>
              <a:rPr lang="ro-RO" dirty="0"/>
              <a:t>ste util să putem grupa firele de execuţie pe grupuri. </a:t>
            </a:r>
            <a:endParaRPr lang="en-GB" dirty="0"/>
          </a:p>
          <a:p>
            <a:r>
              <a:rPr lang="ro-RO" dirty="0"/>
              <a:t>Această funcţionalitate este oferită în Java de către o clasă numită </a:t>
            </a:r>
            <a:r>
              <a:rPr lang="ro-RO" dirty="0">
                <a:solidFill>
                  <a:srgbClr val="FF0000"/>
                </a:solidFill>
              </a:rPr>
              <a:t>ThreadGroup</a:t>
            </a:r>
            <a:r>
              <a:rPr lang="ro-RO" dirty="0"/>
              <a:t> .</a:t>
            </a:r>
          </a:p>
          <a:p>
            <a:r>
              <a:rPr lang="ro-RO" dirty="0"/>
              <a:t>La pornirea unei aplicaţii Java, se creează automat un prim grup de fire de execuţie, numit grupul principal, </a:t>
            </a:r>
            <a:r>
              <a:rPr lang="ro-RO" dirty="0">
                <a:solidFill>
                  <a:srgbClr val="FF0000"/>
                </a:solidFill>
              </a:rPr>
              <a:t>main</a:t>
            </a:r>
            <a:r>
              <a:rPr lang="ro-RO" dirty="0"/>
              <a:t>. </a:t>
            </a:r>
            <a:endParaRPr lang="en-GB" dirty="0"/>
          </a:p>
          <a:p>
            <a:r>
              <a:rPr lang="ro-RO" dirty="0"/>
              <a:t>Firul principal de execuţie face parte din acest grup. În continuare, ori de câte ori creăm un nou fir de </a:t>
            </a:r>
            <a:r>
              <a:rPr lang="ro-RO" dirty="0" err="1"/>
              <a:t>execuţie</a:t>
            </a:r>
            <a:r>
              <a:rPr lang="ro-RO" dirty="0"/>
              <a:t>, acesta va face parte din </a:t>
            </a:r>
            <a:r>
              <a:rPr lang="ro-RO" dirty="0" err="1"/>
              <a:t>acelaşi</a:t>
            </a:r>
            <a:r>
              <a:rPr lang="ro-RO" dirty="0"/>
              <a:t> grup de fire de </a:t>
            </a:r>
            <a:r>
              <a:rPr lang="ro-RO" dirty="0" err="1"/>
              <a:t>execuţie</a:t>
            </a:r>
            <a:r>
              <a:rPr lang="ro-RO" dirty="0"/>
              <a:t> ca </a:t>
            </a:r>
            <a:r>
              <a:rPr lang="ro-RO" dirty="0" err="1"/>
              <a:t>şi</a:t>
            </a:r>
            <a:r>
              <a:rPr lang="ro-RO" dirty="0"/>
              <a:t> firul de </a:t>
            </a:r>
            <a:r>
              <a:rPr lang="ro-RO" dirty="0" err="1"/>
              <a:t>execuţie</a:t>
            </a:r>
            <a:r>
              <a:rPr lang="ro-RO" dirty="0"/>
              <a:t> din interiorul căruia a fost creat, în afară de cazurile în care în constructorul firului specificăm explicit altceva.</a:t>
            </a:r>
          </a:p>
          <a:p>
            <a:r>
              <a:rPr lang="ro-RO" dirty="0"/>
              <a:t>Într-un grup de fire de </a:t>
            </a:r>
            <a:r>
              <a:rPr lang="ro-RO" dirty="0" err="1"/>
              <a:t>execuţie</a:t>
            </a:r>
            <a:r>
              <a:rPr lang="ro-RO" dirty="0"/>
              <a:t> putem defini nu numai fire dar </a:t>
            </a:r>
            <a:r>
              <a:rPr lang="ro-RO" dirty="0" err="1"/>
              <a:t>şi</a:t>
            </a:r>
            <a:r>
              <a:rPr lang="ro-RO" dirty="0"/>
              <a:t> alte grupuri de </a:t>
            </a:r>
            <a:r>
              <a:rPr lang="ro-RO" dirty="0" err="1"/>
              <a:t>execuţie</a:t>
            </a:r>
            <a:r>
              <a:rPr lang="ro-RO" dirty="0"/>
              <a:t>. Se creează astfel o </a:t>
            </a:r>
            <a:r>
              <a:rPr lang="ro-RO" dirty="0" err="1"/>
              <a:t>arborescenţă</a:t>
            </a:r>
            <a:r>
              <a:rPr lang="ro-RO" dirty="0"/>
              <a:t> a cărei rădăcină este grupul principal de fire de </a:t>
            </a:r>
            <a:r>
              <a:rPr lang="ro-RO" dirty="0" err="1"/>
              <a:t>execuţie</a:t>
            </a:r>
            <a:r>
              <a:rPr lang="ro-RO" dirty="0"/>
              <a:t>.</a:t>
            </a:r>
          </a:p>
          <a:p>
            <a:r>
              <a:rPr lang="ro-RO" dirty="0"/>
              <a:t>Pentru a specifica pentru un fir un nou grup de fire de </a:t>
            </a:r>
            <a:r>
              <a:rPr lang="ro-RO" dirty="0" err="1"/>
              <a:t>execuţie</a:t>
            </a:r>
            <a:r>
              <a:rPr lang="ro-RO" dirty="0"/>
              <a:t>, putem apela constructorii </a:t>
            </a:r>
            <a:r>
              <a:rPr lang="ro-RO" dirty="0" err="1"/>
              <a:t>obişnuiţi</a:t>
            </a:r>
            <a:r>
              <a:rPr lang="ro-RO" dirty="0"/>
              <a:t> dar introducând un prim parametru suplimentar de tip </a:t>
            </a:r>
            <a:r>
              <a:rPr lang="ro-RO" dirty="0" err="1">
                <a:solidFill>
                  <a:srgbClr val="FF0000"/>
                </a:solidFill>
              </a:rPr>
              <a:t>ThreadGroup</a:t>
            </a:r>
            <a:r>
              <a:rPr lang="ro-RO" dirty="0"/>
              <a:t> .</a:t>
            </a:r>
          </a:p>
        </p:txBody>
      </p:sp>
    </p:spTree>
    <p:extLst>
      <p:ext uri="{BB962C8B-B14F-4D97-AF65-F5344CB8AC3E}">
        <p14:creationId xmlns:p14="http://schemas.microsoft.com/office/powerpoint/2010/main" val="17525526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492370" y="605896"/>
            <a:ext cx="3084844" cy="5646208"/>
          </a:xfrm>
        </p:spPr>
        <p:txBody>
          <a:bodyPr anchor="ctr">
            <a:normAutofit/>
          </a:bodyPr>
          <a:lstStyle/>
          <a:p>
            <a:r>
              <a:rPr lang="ro-RO" sz="3600">
                <a:solidFill>
                  <a:srgbClr val="FFFFFF"/>
                </a:solidFill>
              </a:rPr>
              <a:t>Exemplu</a:t>
            </a: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 name="Content Placeholder 2"/>
          <p:cNvSpPr>
            <a:spLocks noGrp="1"/>
          </p:cNvSpPr>
          <p:nvPr>
            <p:ph idx="1"/>
          </p:nvPr>
        </p:nvSpPr>
        <p:spPr>
          <a:xfrm>
            <a:off x="4742016" y="605896"/>
            <a:ext cx="6413663" cy="5646208"/>
          </a:xfrm>
        </p:spPr>
        <p:txBody>
          <a:bodyPr anchor="ctr">
            <a:normAutofit/>
          </a:bodyPr>
          <a:lstStyle/>
          <a:p>
            <a:r>
              <a:rPr lang="ro-RO" dirty="0" err="1"/>
              <a:t>ThreadGroup</a:t>
            </a:r>
            <a:r>
              <a:rPr lang="ro-RO" dirty="0"/>
              <a:t> tg = </a:t>
            </a:r>
            <a:r>
              <a:rPr lang="ro-RO" dirty="0" err="1"/>
              <a:t>new</a:t>
            </a:r>
            <a:r>
              <a:rPr lang="ro-RO" dirty="0"/>
              <a:t> </a:t>
            </a:r>
            <a:r>
              <a:rPr lang="ro-RO" dirty="0" err="1"/>
              <a:t>ThreadGroup</a:t>
            </a:r>
            <a:r>
              <a:rPr lang="ro-RO" dirty="0"/>
              <a:t>( "Noul grup" );</a:t>
            </a:r>
          </a:p>
          <a:p>
            <a:r>
              <a:rPr lang="ro-RO" dirty="0" err="1"/>
              <a:t>Thread</a:t>
            </a:r>
            <a:r>
              <a:rPr lang="ro-RO" dirty="0"/>
              <a:t> t = </a:t>
            </a:r>
            <a:r>
              <a:rPr lang="ro-RO" dirty="0" err="1"/>
              <a:t>new</a:t>
            </a:r>
            <a:r>
              <a:rPr lang="ro-RO" dirty="0"/>
              <a:t> </a:t>
            </a:r>
            <a:r>
              <a:rPr lang="ro-RO" dirty="0" err="1"/>
              <a:t>Thread</a:t>
            </a:r>
            <a:r>
              <a:rPr lang="ro-RO" dirty="0"/>
              <a:t>( tg, "Firul de </a:t>
            </a:r>
            <a:r>
              <a:rPr lang="ro-RO" dirty="0" err="1"/>
              <a:t>executie</a:t>
            </a:r>
            <a:r>
              <a:rPr lang="ro-RO" dirty="0"/>
              <a:t>" );</a:t>
            </a:r>
          </a:p>
          <a:p>
            <a:r>
              <a:rPr lang="ro-RO" dirty="0"/>
              <a:t>Acest nou fir de </a:t>
            </a:r>
            <a:r>
              <a:rPr lang="ro-RO" dirty="0" err="1"/>
              <a:t>execuţie</a:t>
            </a:r>
            <a:r>
              <a:rPr lang="ro-RO" dirty="0"/>
              <a:t> va face parte dintr-un alt grup de fire decât firul principal. Putem afla grupul de fire de </a:t>
            </a:r>
            <a:r>
              <a:rPr lang="ro-RO" dirty="0" err="1"/>
              <a:t>execuţie</a:t>
            </a:r>
            <a:r>
              <a:rPr lang="ro-RO" dirty="0"/>
              <a:t> din care face parte un anumit fir apelând metoda </a:t>
            </a:r>
            <a:r>
              <a:rPr lang="ro-RO" dirty="0" err="1"/>
              <a:t>getThreadGroup</a:t>
            </a:r>
            <a:r>
              <a:rPr lang="ro-RO" dirty="0"/>
              <a:t> , ca în </a:t>
            </a:r>
            <a:r>
              <a:rPr lang="ro-RO" dirty="0" err="1"/>
              <a:t>secvenţa</a:t>
            </a:r>
            <a:r>
              <a:rPr lang="ro-RO" dirty="0"/>
              <a:t>:</a:t>
            </a:r>
          </a:p>
          <a:p>
            <a:r>
              <a:rPr lang="ro-RO" dirty="0" err="1"/>
              <a:t>Thread</a:t>
            </a:r>
            <a:r>
              <a:rPr lang="ro-RO" dirty="0"/>
              <a:t> t = </a:t>
            </a:r>
            <a:r>
              <a:rPr lang="ro-RO" dirty="0" err="1"/>
              <a:t>new</a:t>
            </a:r>
            <a:r>
              <a:rPr lang="ro-RO" dirty="0"/>
              <a:t> </a:t>
            </a:r>
            <a:r>
              <a:rPr lang="ro-RO" dirty="0" err="1"/>
              <a:t>Thread</a:t>
            </a:r>
            <a:r>
              <a:rPr lang="ro-RO" dirty="0"/>
              <a:t>( "Firul de </a:t>
            </a:r>
            <a:r>
              <a:rPr lang="ro-RO" dirty="0" err="1"/>
              <a:t>Executie</a:t>
            </a:r>
            <a:r>
              <a:rPr lang="ro-RO" dirty="0"/>
              <a:t>" );</a:t>
            </a:r>
          </a:p>
          <a:p>
            <a:r>
              <a:rPr lang="ro-RO" dirty="0" err="1"/>
              <a:t>ThreadGroup</a:t>
            </a:r>
            <a:r>
              <a:rPr lang="ro-RO" dirty="0"/>
              <a:t> tg = </a:t>
            </a:r>
            <a:r>
              <a:rPr lang="ro-RO" dirty="0" err="1"/>
              <a:t>t.getThreadGroup</a:t>
            </a:r>
            <a:r>
              <a:rPr lang="ro-RO" dirty="0"/>
              <a:t>();</a:t>
            </a:r>
          </a:p>
          <a:p>
            <a:r>
              <a:rPr lang="ro-RO" dirty="0" err="1"/>
              <a:t>Operaţiile</a:t>
            </a:r>
            <a:r>
              <a:rPr lang="ro-RO" dirty="0"/>
              <a:t> definite pentru un grup de fire de </a:t>
            </a:r>
            <a:r>
              <a:rPr lang="ro-RO" dirty="0" err="1"/>
              <a:t>execuţie</a:t>
            </a:r>
            <a:r>
              <a:rPr lang="ro-RO" dirty="0"/>
              <a:t> sunt clasificabile în </a:t>
            </a:r>
            <a:r>
              <a:rPr lang="ro-RO" dirty="0" err="1"/>
              <a:t>operaţii</a:t>
            </a:r>
            <a:r>
              <a:rPr lang="ro-RO" dirty="0"/>
              <a:t> care </a:t>
            </a:r>
            <a:r>
              <a:rPr lang="ro-RO" dirty="0" err="1"/>
              <a:t>acţionează</a:t>
            </a:r>
            <a:r>
              <a:rPr lang="ro-RO" dirty="0"/>
              <a:t> la nivelul grupului, cum ar fi aflarea numelui, setarea unei </a:t>
            </a:r>
            <a:r>
              <a:rPr lang="ro-RO" dirty="0" err="1"/>
              <a:t>priorităţi</a:t>
            </a:r>
            <a:r>
              <a:rPr lang="ro-RO" dirty="0"/>
              <a:t> maxime, etc., </a:t>
            </a:r>
            <a:r>
              <a:rPr lang="ro-RO" dirty="0" err="1"/>
              <a:t>şi</a:t>
            </a:r>
            <a:r>
              <a:rPr lang="ro-RO" dirty="0"/>
              <a:t> </a:t>
            </a:r>
            <a:r>
              <a:rPr lang="ro-RO" dirty="0" err="1"/>
              <a:t>operaţii</a:t>
            </a:r>
            <a:r>
              <a:rPr lang="ro-RO" dirty="0"/>
              <a:t> care </a:t>
            </a:r>
            <a:r>
              <a:rPr lang="ro-RO" dirty="0" err="1"/>
              <a:t>acţionează</a:t>
            </a:r>
            <a:r>
              <a:rPr lang="ro-RO" dirty="0"/>
              <a:t> asupra fiecărui fir de </a:t>
            </a:r>
            <a:r>
              <a:rPr lang="ro-RO" dirty="0" err="1"/>
              <a:t>execuţie</a:t>
            </a:r>
            <a:r>
              <a:rPr lang="ro-RO" dirty="0"/>
              <a:t> din grup, cum ar fi stop, suspend sau </a:t>
            </a:r>
            <a:r>
              <a:rPr lang="ro-RO" dirty="0" err="1"/>
              <a:t>resume</a:t>
            </a:r>
            <a:r>
              <a:rPr lang="ro-RO" dirty="0"/>
              <a:t>.</a:t>
            </a:r>
          </a:p>
          <a:p>
            <a:endParaRPr lang="ro-RO" dirty="0"/>
          </a:p>
        </p:txBody>
      </p:sp>
    </p:spTree>
    <p:extLst>
      <p:ext uri="{BB962C8B-B14F-4D97-AF65-F5344CB8AC3E}">
        <p14:creationId xmlns:p14="http://schemas.microsoft.com/office/powerpoint/2010/main" val="11504018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492370" y="605896"/>
            <a:ext cx="3084844" cy="5646208"/>
          </a:xfrm>
        </p:spPr>
        <p:txBody>
          <a:bodyPr anchor="ctr">
            <a:normAutofit/>
          </a:bodyPr>
          <a:lstStyle/>
          <a:p>
            <a:r>
              <a:rPr lang="ro-RO" sz="3600">
                <a:solidFill>
                  <a:srgbClr val="FFFFFF"/>
                </a:solidFill>
              </a:rPr>
              <a:t>Enumerarea firelor de execuţie</a:t>
            </a: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 name="Content Placeholder 2"/>
          <p:cNvSpPr>
            <a:spLocks noGrp="1"/>
          </p:cNvSpPr>
          <p:nvPr>
            <p:ph idx="1"/>
          </p:nvPr>
        </p:nvSpPr>
        <p:spPr>
          <a:xfrm>
            <a:off x="4742016" y="605896"/>
            <a:ext cx="6413663" cy="5646208"/>
          </a:xfrm>
        </p:spPr>
        <p:txBody>
          <a:bodyPr anchor="ctr">
            <a:normAutofit/>
          </a:bodyPr>
          <a:lstStyle/>
          <a:p>
            <a:r>
              <a:rPr lang="ro-RO" sz="1600" dirty="0"/>
              <a:t>Pentru a enumera firele de execuţie active la un moment dat, putem folosi metoda </a:t>
            </a:r>
            <a:r>
              <a:rPr lang="ro-RO" sz="1600" dirty="0">
                <a:solidFill>
                  <a:srgbClr val="FF0000"/>
                </a:solidFill>
              </a:rPr>
              <a:t>enumerate</a:t>
            </a:r>
            <a:r>
              <a:rPr lang="ro-RO" sz="1600" dirty="0"/>
              <a:t> definită în clasa </a:t>
            </a:r>
            <a:r>
              <a:rPr lang="ro-RO" sz="1600" dirty="0">
                <a:solidFill>
                  <a:srgbClr val="FF0000"/>
                </a:solidFill>
              </a:rPr>
              <a:t>Thread</a:t>
            </a:r>
            <a:r>
              <a:rPr lang="ro-RO" sz="1600" dirty="0"/>
              <a:t> precum şi în clasa </a:t>
            </a:r>
            <a:r>
              <a:rPr lang="ro-RO" sz="1600" dirty="0">
                <a:solidFill>
                  <a:srgbClr val="FF0000"/>
                </a:solidFill>
              </a:rPr>
              <a:t>ThreadGroup</a:t>
            </a:r>
            <a:r>
              <a:rPr lang="ro-RO" sz="1600" dirty="0"/>
              <a:t> . </a:t>
            </a:r>
          </a:p>
          <a:p>
            <a:r>
              <a:rPr lang="ro-RO" sz="1600" dirty="0"/>
              <a:t>Această metodă primeşte ca parametru o referinţă către un tablou de referinţe la obiecte de tip </a:t>
            </a:r>
            <a:r>
              <a:rPr lang="ro-RO" sz="1600" dirty="0">
                <a:solidFill>
                  <a:srgbClr val="FF0000"/>
                </a:solidFill>
              </a:rPr>
              <a:t>Thread</a:t>
            </a:r>
            <a:r>
              <a:rPr lang="ro-RO" sz="1600" dirty="0"/>
              <a:t> pe care îl umple cu referinţe către fiecare fir activ în grupul specificat.</a:t>
            </a:r>
          </a:p>
          <a:p>
            <a:r>
              <a:rPr lang="ro-RO" sz="1600" dirty="0"/>
              <a:t>Pentru a afla câte fire active sunt în grupul respectiv la un moment dat, putem apela metoda </a:t>
            </a:r>
            <a:r>
              <a:rPr lang="ro-RO" sz="1600" dirty="0">
                <a:solidFill>
                  <a:srgbClr val="FF0000"/>
                </a:solidFill>
              </a:rPr>
              <a:t>activeCount</a:t>
            </a:r>
            <a:r>
              <a:rPr lang="ro-RO" sz="1600" dirty="0"/>
              <a:t> din clasa ThreadGr</a:t>
            </a:r>
            <a:r>
              <a:rPr lang="ro-RO" sz="1600" dirty="0">
                <a:solidFill>
                  <a:srgbClr val="FF0000"/>
                </a:solidFill>
              </a:rPr>
              <a:t>o</a:t>
            </a:r>
            <a:r>
              <a:rPr lang="ro-RO" sz="1600" dirty="0"/>
              <a:t>up . De exemplu:</a:t>
            </a:r>
          </a:p>
          <a:p>
            <a:r>
              <a:rPr lang="en-GB" sz="1600" dirty="0" err="1">
                <a:solidFill>
                  <a:srgbClr val="000000"/>
                </a:solidFill>
                <a:highlight>
                  <a:srgbClr val="FFFFFF"/>
                </a:highlight>
              </a:rPr>
              <a:t>ThreadGroup</a:t>
            </a:r>
            <a:r>
              <a:rPr lang="en-GB" sz="1600" dirty="0">
                <a:solidFill>
                  <a:srgbClr val="000000"/>
                </a:solidFill>
                <a:highlight>
                  <a:srgbClr val="FFFFFF"/>
                </a:highlight>
              </a:rPr>
              <a:t> </a:t>
            </a:r>
            <a:r>
              <a:rPr lang="en-GB" sz="1600" dirty="0" err="1">
                <a:solidFill>
                  <a:srgbClr val="000000"/>
                </a:solidFill>
                <a:highlight>
                  <a:srgbClr val="FFFFFF"/>
                </a:highlight>
              </a:rPr>
              <a:t>grup</a:t>
            </a:r>
            <a:r>
              <a:rPr lang="en-GB" sz="1600" dirty="0">
                <a:solidFill>
                  <a:srgbClr val="000000"/>
                </a:solidFill>
                <a:highlight>
                  <a:srgbClr val="FFFFFF"/>
                </a:highlight>
              </a:rPr>
              <a:t> </a:t>
            </a:r>
            <a:r>
              <a:rPr lang="en-GB" sz="1600" b="1" dirty="0">
                <a:solidFill>
                  <a:srgbClr val="000080"/>
                </a:solidFill>
                <a:highlight>
                  <a:srgbClr val="FFFFFF"/>
                </a:highlight>
              </a:rPr>
              <a:t>=</a:t>
            </a:r>
            <a:r>
              <a:rPr lang="en-GB" sz="1600" b="0" dirty="0">
                <a:solidFill>
                  <a:srgbClr val="000000"/>
                </a:solidFill>
                <a:highlight>
                  <a:srgbClr val="FFFFFF"/>
                </a:highlight>
              </a:rPr>
              <a:t> </a:t>
            </a:r>
            <a:r>
              <a:rPr lang="en-GB" sz="1600" b="0" dirty="0" err="1">
                <a:solidFill>
                  <a:srgbClr val="000000"/>
                </a:solidFill>
                <a:highlight>
                  <a:srgbClr val="FFFFFF"/>
                </a:highlight>
              </a:rPr>
              <a:t>Thread</a:t>
            </a:r>
            <a:r>
              <a:rPr lang="en-GB" sz="1600" b="1" dirty="0" err="1">
                <a:solidFill>
                  <a:srgbClr val="000080"/>
                </a:solidFill>
                <a:highlight>
                  <a:srgbClr val="FFFFFF"/>
                </a:highlight>
              </a:rPr>
              <a:t>.</a:t>
            </a:r>
            <a:r>
              <a:rPr lang="en-GB" sz="1600" b="0" dirty="0" err="1">
                <a:solidFill>
                  <a:srgbClr val="000000"/>
                </a:solidFill>
                <a:highlight>
                  <a:srgbClr val="FFFFFF"/>
                </a:highlight>
              </a:rPr>
              <a:t>currentThread</a:t>
            </a:r>
            <a:r>
              <a:rPr lang="en-GB" sz="1600" b="1" dirty="0">
                <a:solidFill>
                  <a:srgbClr val="000080"/>
                </a:solidFill>
                <a:highlight>
                  <a:srgbClr val="FFFFFF"/>
                </a:highlight>
              </a:rPr>
              <a:t>().</a:t>
            </a:r>
            <a:r>
              <a:rPr lang="en-GB" sz="1600" b="0" dirty="0" err="1">
                <a:solidFill>
                  <a:srgbClr val="000000"/>
                </a:solidFill>
                <a:highlight>
                  <a:srgbClr val="FFFFFF"/>
                </a:highlight>
              </a:rPr>
              <a:t>getThreadGroup</a:t>
            </a:r>
            <a:r>
              <a:rPr lang="en-GB" sz="1600" b="1" dirty="0">
                <a:solidFill>
                  <a:srgbClr val="000080"/>
                </a:solidFill>
                <a:highlight>
                  <a:srgbClr val="FFFFFF"/>
                </a:highlight>
              </a:rPr>
              <a:t>();</a:t>
            </a:r>
            <a:endParaRPr lang="en-GB" sz="1600" b="0" dirty="0">
              <a:solidFill>
                <a:srgbClr val="000000"/>
              </a:solidFill>
              <a:highlight>
                <a:srgbClr val="FFFFFF"/>
              </a:highlight>
            </a:endParaRPr>
          </a:p>
          <a:p>
            <a:r>
              <a:rPr lang="en-GB" sz="1600" b="0" dirty="0">
                <a:solidFill>
                  <a:srgbClr val="8000FF"/>
                </a:solidFill>
                <a:highlight>
                  <a:srgbClr val="FFFFFF"/>
                </a:highlight>
              </a:rPr>
              <a:t>int</a:t>
            </a:r>
            <a:r>
              <a:rPr lang="en-GB" sz="1600" b="0" dirty="0">
                <a:solidFill>
                  <a:srgbClr val="000000"/>
                </a:solidFill>
                <a:highlight>
                  <a:srgbClr val="FFFFFF"/>
                </a:highlight>
              </a:rPr>
              <a:t> </a:t>
            </a:r>
            <a:r>
              <a:rPr lang="en-GB" sz="1600" b="0" dirty="0" err="1">
                <a:solidFill>
                  <a:srgbClr val="000000"/>
                </a:solidFill>
                <a:highlight>
                  <a:srgbClr val="FFFFFF"/>
                </a:highlight>
              </a:rPr>
              <a:t>numarFire</a:t>
            </a:r>
            <a:r>
              <a:rPr lang="en-GB" sz="1600" b="0" dirty="0">
                <a:solidFill>
                  <a:srgbClr val="000000"/>
                </a:solidFill>
                <a:highlight>
                  <a:srgbClr val="FFFFFF"/>
                </a:highlight>
              </a:rPr>
              <a:t> </a:t>
            </a:r>
            <a:r>
              <a:rPr lang="en-GB" sz="1600" b="1" dirty="0">
                <a:solidFill>
                  <a:srgbClr val="000080"/>
                </a:solidFill>
                <a:highlight>
                  <a:srgbClr val="FFFFFF"/>
                </a:highlight>
              </a:rPr>
              <a:t>=</a:t>
            </a:r>
            <a:r>
              <a:rPr lang="en-GB" sz="1600" b="0" dirty="0">
                <a:solidFill>
                  <a:srgbClr val="000000"/>
                </a:solidFill>
                <a:highlight>
                  <a:srgbClr val="FFFFFF"/>
                </a:highlight>
              </a:rPr>
              <a:t> </a:t>
            </a:r>
            <a:r>
              <a:rPr lang="en-GB" sz="1600" b="0" dirty="0" err="1">
                <a:solidFill>
                  <a:srgbClr val="000000"/>
                </a:solidFill>
                <a:highlight>
                  <a:srgbClr val="FFFFFF"/>
                </a:highlight>
              </a:rPr>
              <a:t>grup</a:t>
            </a:r>
            <a:r>
              <a:rPr lang="en-GB" sz="1600" b="1" dirty="0" err="1">
                <a:solidFill>
                  <a:srgbClr val="000080"/>
                </a:solidFill>
                <a:highlight>
                  <a:srgbClr val="FFFFFF"/>
                </a:highlight>
              </a:rPr>
              <a:t>.</a:t>
            </a:r>
            <a:r>
              <a:rPr lang="en-GB" sz="1600" b="0" dirty="0" err="1">
                <a:solidFill>
                  <a:srgbClr val="000000"/>
                </a:solidFill>
                <a:highlight>
                  <a:srgbClr val="FFFFFF"/>
                </a:highlight>
              </a:rPr>
              <a:t>activeCount</a:t>
            </a:r>
            <a:r>
              <a:rPr lang="en-GB" sz="1600" b="1" dirty="0">
                <a:solidFill>
                  <a:srgbClr val="000080"/>
                </a:solidFill>
                <a:highlight>
                  <a:srgbClr val="FFFFFF"/>
                </a:highlight>
              </a:rPr>
              <a:t>();</a:t>
            </a:r>
            <a:endParaRPr lang="en-GB" sz="1600" b="0" dirty="0">
              <a:solidFill>
                <a:srgbClr val="000000"/>
              </a:solidFill>
              <a:highlight>
                <a:srgbClr val="FFFFFF"/>
              </a:highlight>
            </a:endParaRPr>
          </a:p>
          <a:p>
            <a:r>
              <a:rPr lang="en-GB" sz="1600" b="0" dirty="0">
                <a:solidFill>
                  <a:srgbClr val="000000"/>
                </a:solidFill>
                <a:highlight>
                  <a:srgbClr val="FFFFFF"/>
                </a:highlight>
              </a:rPr>
              <a:t>Thread fire</a:t>
            </a:r>
            <a:r>
              <a:rPr lang="en-GB" sz="1600" b="1" dirty="0">
                <a:solidFill>
                  <a:srgbClr val="000080"/>
                </a:solidFill>
                <a:highlight>
                  <a:srgbClr val="FFFFFF"/>
                </a:highlight>
              </a:rPr>
              <a:t>[]</a:t>
            </a:r>
            <a:r>
              <a:rPr lang="en-GB" sz="1600" b="0" dirty="0">
                <a:solidFill>
                  <a:srgbClr val="000000"/>
                </a:solidFill>
                <a:highlight>
                  <a:srgbClr val="FFFFFF"/>
                </a:highlight>
              </a:rPr>
              <a:t> </a:t>
            </a:r>
            <a:r>
              <a:rPr lang="en-GB" sz="1600" b="1" dirty="0">
                <a:solidFill>
                  <a:srgbClr val="000080"/>
                </a:solidFill>
                <a:highlight>
                  <a:srgbClr val="FFFFFF"/>
                </a:highlight>
              </a:rPr>
              <a:t>=</a:t>
            </a:r>
            <a:r>
              <a:rPr lang="en-GB" sz="1600" b="0" dirty="0">
                <a:solidFill>
                  <a:srgbClr val="000000"/>
                </a:solidFill>
                <a:highlight>
                  <a:srgbClr val="FFFFFF"/>
                </a:highlight>
              </a:rPr>
              <a:t> </a:t>
            </a:r>
            <a:r>
              <a:rPr lang="en-GB" sz="1600" b="1" dirty="0">
                <a:solidFill>
                  <a:srgbClr val="0000FF"/>
                </a:solidFill>
                <a:highlight>
                  <a:srgbClr val="FFFFFF"/>
                </a:highlight>
              </a:rPr>
              <a:t>new</a:t>
            </a:r>
            <a:r>
              <a:rPr lang="en-GB" sz="1600" b="0" dirty="0">
                <a:solidFill>
                  <a:srgbClr val="000000"/>
                </a:solidFill>
                <a:highlight>
                  <a:srgbClr val="FFFFFF"/>
                </a:highlight>
              </a:rPr>
              <a:t> Thread</a:t>
            </a:r>
            <a:r>
              <a:rPr lang="en-GB" sz="1600" b="1" dirty="0">
                <a:solidFill>
                  <a:srgbClr val="000080"/>
                </a:solidFill>
                <a:highlight>
                  <a:srgbClr val="FFFFFF"/>
                </a:highlight>
              </a:rPr>
              <a:t>[</a:t>
            </a:r>
            <a:r>
              <a:rPr lang="en-GB" sz="1600" b="0" dirty="0" err="1">
                <a:solidFill>
                  <a:srgbClr val="000000"/>
                </a:solidFill>
                <a:highlight>
                  <a:srgbClr val="FFFFFF"/>
                </a:highlight>
              </a:rPr>
              <a:t>numarFire</a:t>
            </a:r>
            <a:r>
              <a:rPr lang="en-GB" sz="1600" b="1" dirty="0">
                <a:solidFill>
                  <a:srgbClr val="000080"/>
                </a:solidFill>
                <a:highlight>
                  <a:srgbClr val="FFFFFF"/>
                </a:highlight>
              </a:rPr>
              <a:t>];</a:t>
            </a:r>
            <a:endParaRPr lang="en-GB" sz="1600" b="0" dirty="0">
              <a:solidFill>
                <a:srgbClr val="000000"/>
              </a:solidFill>
              <a:highlight>
                <a:srgbClr val="FFFFFF"/>
              </a:highlight>
            </a:endParaRPr>
          </a:p>
          <a:p>
            <a:r>
              <a:rPr lang="en-GB" sz="1600" b="0" dirty="0" err="1">
                <a:solidFill>
                  <a:srgbClr val="000000"/>
                </a:solidFill>
                <a:highlight>
                  <a:srgbClr val="FFFFFF"/>
                </a:highlight>
              </a:rPr>
              <a:t>grup</a:t>
            </a:r>
            <a:r>
              <a:rPr lang="en-GB" sz="1600" b="1" dirty="0" err="1">
                <a:solidFill>
                  <a:srgbClr val="000080"/>
                </a:solidFill>
                <a:highlight>
                  <a:srgbClr val="FFFFFF"/>
                </a:highlight>
              </a:rPr>
              <a:t>.</a:t>
            </a:r>
            <a:r>
              <a:rPr lang="en-GB" sz="1600" b="0" dirty="0" err="1">
                <a:solidFill>
                  <a:srgbClr val="000000"/>
                </a:solidFill>
                <a:highlight>
                  <a:srgbClr val="FFFFFF"/>
                </a:highlight>
              </a:rPr>
              <a:t>enumerate</a:t>
            </a:r>
            <a:r>
              <a:rPr lang="en-GB" sz="1600" b="1" dirty="0">
                <a:solidFill>
                  <a:srgbClr val="000080"/>
                </a:solidFill>
                <a:highlight>
                  <a:srgbClr val="FFFFFF"/>
                </a:highlight>
              </a:rPr>
              <a:t>(</a:t>
            </a:r>
            <a:r>
              <a:rPr lang="en-GB" sz="1600" b="0" dirty="0">
                <a:solidFill>
                  <a:srgbClr val="000000"/>
                </a:solidFill>
                <a:highlight>
                  <a:srgbClr val="FFFFFF"/>
                </a:highlight>
              </a:rPr>
              <a:t> fire </a:t>
            </a:r>
            <a:r>
              <a:rPr lang="en-GB" sz="1600" b="1" dirty="0">
                <a:solidFill>
                  <a:srgbClr val="000080"/>
                </a:solidFill>
                <a:highlight>
                  <a:srgbClr val="FFFFFF"/>
                </a:highlight>
              </a:rPr>
              <a:t>);</a:t>
            </a:r>
            <a:endParaRPr lang="en-GB" sz="1600" b="0" dirty="0">
              <a:solidFill>
                <a:srgbClr val="000000"/>
              </a:solidFill>
              <a:highlight>
                <a:srgbClr val="FFFFFF"/>
              </a:highlight>
            </a:endParaRPr>
          </a:p>
          <a:p>
            <a:r>
              <a:rPr lang="nn-NO" sz="1600" b="1" dirty="0">
                <a:solidFill>
                  <a:srgbClr val="0000FF"/>
                </a:solidFill>
                <a:highlight>
                  <a:srgbClr val="FFFFFF"/>
                </a:highlight>
              </a:rPr>
              <a:t>for</a:t>
            </a:r>
            <a:r>
              <a:rPr lang="nn-NO" sz="1600" b="1" dirty="0">
                <a:solidFill>
                  <a:srgbClr val="000080"/>
                </a:solidFill>
                <a:highlight>
                  <a:srgbClr val="FFFFFF"/>
                </a:highlight>
              </a:rPr>
              <a:t>(</a:t>
            </a:r>
            <a:r>
              <a:rPr lang="nn-NO" sz="1600" b="0" dirty="0">
                <a:solidFill>
                  <a:srgbClr val="000000"/>
                </a:solidFill>
                <a:highlight>
                  <a:srgbClr val="FFFFFF"/>
                </a:highlight>
              </a:rPr>
              <a:t> </a:t>
            </a:r>
            <a:r>
              <a:rPr lang="nn-NO" sz="1600" b="0" dirty="0">
                <a:solidFill>
                  <a:srgbClr val="8000FF"/>
                </a:solidFill>
                <a:highlight>
                  <a:srgbClr val="FFFFFF"/>
                </a:highlight>
              </a:rPr>
              <a:t>int</a:t>
            </a:r>
            <a:r>
              <a:rPr lang="nn-NO" sz="1600" b="0" dirty="0">
                <a:solidFill>
                  <a:srgbClr val="000000"/>
                </a:solidFill>
                <a:highlight>
                  <a:srgbClr val="FFFFFF"/>
                </a:highlight>
              </a:rPr>
              <a:t> i </a:t>
            </a:r>
            <a:r>
              <a:rPr lang="nn-NO" sz="1600" b="1" dirty="0">
                <a:solidFill>
                  <a:srgbClr val="000080"/>
                </a:solidFill>
                <a:highlight>
                  <a:srgbClr val="FFFFFF"/>
                </a:highlight>
              </a:rPr>
              <a:t>=</a:t>
            </a:r>
            <a:r>
              <a:rPr lang="nn-NO" sz="1600" b="0" dirty="0">
                <a:solidFill>
                  <a:srgbClr val="000000"/>
                </a:solidFill>
                <a:highlight>
                  <a:srgbClr val="FFFFFF"/>
                </a:highlight>
              </a:rPr>
              <a:t> </a:t>
            </a:r>
            <a:r>
              <a:rPr lang="nn-NO" sz="1600" b="0" dirty="0">
                <a:solidFill>
                  <a:srgbClr val="FF8000"/>
                </a:solidFill>
                <a:highlight>
                  <a:srgbClr val="FFFFFF"/>
                </a:highlight>
              </a:rPr>
              <a:t>0</a:t>
            </a:r>
            <a:r>
              <a:rPr lang="nn-NO" sz="1600" b="1" dirty="0">
                <a:solidFill>
                  <a:srgbClr val="000080"/>
                </a:solidFill>
                <a:highlight>
                  <a:srgbClr val="FFFFFF"/>
                </a:highlight>
              </a:rPr>
              <a:t>;</a:t>
            </a:r>
            <a:r>
              <a:rPr lang="nn-NO" sz="1600" b="0" dirty="0">
                <a:solidFill>
                  <a:srgbClr val="000000"/>
                </a:solidFill>
                <a:highlight>
                  <a:srgbClr val="FFFFFF"/>
                </a:highlight>
              </a:rPr>
              <a:t> i </a:t>
            </a:r>
            <a:r>
              <a:rPr lang="nn-NO" sz="1600" b="1" dirty="0">
                <a:solidFill>
                  <a:srgbClr val="000080"/>
                </a:solidFill>
                <a:highlight>
                  <a:srgbClr val="FFFFFF"/>
                </a:highlight>
              </a:rPr>
              <a:t>&lt;</a:t>
            </a:r>
            <a:r>
              <a:rPr lang="nn-NO" sz="1600" b="0" dirty="0">
                <a:solidFill>
                  <a:srgbClr val="000000"/>
                </a:solidFill>
                <a:highlight>
                  <a:srgbClr val="FFFFFF"/>
                </a:highlight>
              </a:rPr>
              <a:t> numar</a:t>
            </a:r>
            <a:r>
              <a:rPr lang="nn-NO" sz="1600" b="1" dirty="0">
                <a:solidFill>
                  <a:srgbClr val="000080"/>
                </a:solidFill>
                <a:highlight>
                  <a:srgbClr val="FFFFFF"/>
                </a:highlight>
              </a:rPr>
              <a:t>;</a:t>
            </a:r>
            <a:r>
              <a:rPr lang="nn-NO" sz="1600" b="0" dirty="0">
                <a:solidFill>
                  <a:srgbClr val="000000"/>
                </a:solidFill>
                <a:highlight>
                  <a:srgbClr val="FFFFFF"/>
                </a:highlight>
              </a:rPr>
              <a:t> i</a:t>
            </a:r>
            <a:r>
              <a:rPr lang="nn-NO" sz="1600" b="1" dirty="0">
                <a:solidFill>
                  <a:srgbClr val="000080"/>
                </a:solidFill>
                <a:highlight>
                  <a:srgbClr val="FFFFFF"/>
                </a:highlight>
              </a:rPr>
              <a:t>++</a:t>
            </a:r>
            <a:r>
              <a:rPr lang="nn-NO" sz="1600" b="0" dirty="0">
                <a:solidFill>
                  <a:srgbClr val="000000"/>
                </a:solidFill>
                <a:highlight>
                  <a:srgbClr val="FFFFFF"/>
                </a:highlight>
              </a:rPr>
              <a:t> </a:t>
            </a:r>
            <a:r>
              <a:rPr lang="nn-NO" sz="1600" b="1" dirty="0">
                <a:solidFill>
                  <a:srgbClr val="000080"/>
                </a:solidFill>
                <a:highlight>
                  <a:srgbClr val="FFFFFF"/>
                </a:highlight>
              </a:rPr>
              <a:t>)</a:t>
            </a:r>
            <a:r>
              <a:rPr lang="nn-NO" sz="1600" b="0" dirty="0">
                <a:solidFill>
                  <a:srgbClr val="000000"/>
                </a:solidFill>
                <a:highlight>
                  <a:srgbClr val="FFFFFF"/>
                </a:highlight>
              </a:rPr>
              <a:t> </a:t>
            </a:r>
            <a:r>
              <a:rPr lang="nn-NO" sz="1600" b="1" dirty="0">
                <a:solidFill>
                  <a:srgbClr val="000080"/>
                </a:solidFill>
                <a:highlight>
                  <a:srgbClr val="FFFFFF"/>
                </a:highlight>
              </a:rPr>
              <a:t>{</a:t>
            </a:r>
            <a:endParaRPr lang="nn-NO" sz="1600" b="0" dirty="0">
              <a:solidFill>
                <a:srgbClr val="000000"/>
              </a:solidFill>
              <a:highlight>
                <a:srgbClr val="FFFFFF"/>
              </a:highlight>
            </a:endParaRPr>
          </a:p>
          <a:p>
            <a:r>
              <a:rPr lang="en-GB" sz="1600" b="0" dirty="0">
                <a:solidFill>
                  <a:srgbClr val="000000"/>
                </a:solidFill>
                <a:highlight>
                  <a:srgbClr val="FFFFFF"/>
                </a:highlight>
              </a:rPr>
              <a:t>      </a:t>
            </a:r>
            <a:r>
              <a:rPr lang="en-GB" sz="1600" b="0" dirty="0" err="1">
                <a:solidFill>
                  <a:srgbClr val="000000"/>
                </a:solidFill>
                <a:highlight>
                  <a:srgbClr val="FFFFFF"/>
                </a:highlight>
              </a:rPr>
              <a:t>System</a:t>
            </a:r>
            <a:r>
              <a:rPr lang="en-GB" sz="1600" b="1" dirty="0" err="1">
                <a:solidFill>
                  <a:srgbClr val="000080"/>
                </a:solidFill>
                <a:highlight>
                  <a:srgbClr val="FFFFFF"/>
                </a:highlight>
              </a:rPr>
              <a:t>.</a:t>
            </a:r>
            <a:r>
              <a:rPr lang="en-GB" sz="1600" b="0" dirty="0" err="1">
                <a:solidFill>
                  <a:srgbClr val="000000"/>
                </a:solidFill>
                <a:highlight>
                  <a:srgbClr val="FFFFFF"/>
                </a:highlight>
              </a:rPr>
              <a:t>out</a:t>
            </a:r>
            <a:r>
              <a:rPr lang="en-GB" sz="1600" b="1" dirty="0" err="1">
                <a:solidFill>
                  <a:srgbClr val="000080"/>
                </a:solidFill>
                <a:highlight>
                  <a:srgbClr val="FFFFFF"/>
                </a:highlight>
              </a:rPr>
              <a:t>.</a:t>
            </a:r>
            <a:r>
              <a:rPr lang="en-GB" sz="1600" b="0" dirty="0" err="1">
                <a:solidFill>
                  <a:srgbClr val="000000"/>
                </a:solidFill>
                <a:highlight>
                  <a:srgbClr val="FFFFFF"/>
                </a:highlight>
              </a:rPr>
              <a:t>println</a:t>
            </a:r>
            <a:r>
              <a:rPr lang="en-GB" sz="1600" b="1" dirty="0">
                <a:solidFill>
                  <a:srgbClr val="000080"/>
                </a:solidFill>
                <a:highlight>
                  <a:srgbClr val="FFFFFF"/>
                </a:highlight>
              </a:rPr>
              <a:t>(</a:t>
            </a:r>
            <a:r>
              <a:rPr lang="en-GB" sz="1600" b="0" dirty="0">
                <a:solidFill>
                  <a:srgbClr val="000000"/>
                </a:solidFill>
                <a:highlight>
                  <a:srgbClr val="FFFFFF"/>
                </a:highlight>
              </a:rPr>
              <a:t> fire</a:t>
            </a:r>
            <a:r>
              <a:rPr lang="en-GB" sz="1600" b="1" dirty="0">
                <a:solidFill>
                  <a:srgbClr val="000080"/>
                </a:solidFill>
                <a:highlight>
                  <a:srgbClr val="FFFFFF"/>
                </a:highlight>
              </a:rPr>
              <a:t>[</a:t>
            </a:r>
            <a:r>
              <a:rPr lang="en-GB" sz="1600" b="0" dirty="0" err="1">
                <a:solidFill>
                  <a:srgbClr val="000000"/>
                </a:solidFill>
                <a:highlight>
                  <a:srgbClr val="FFFFFF"/>
                </a:highlight>
              </a:rPr>
              <a:t>i</a:t>
            </a:r>
            <a:r>
              <a:rPr lang="en-GB" sz="1600" b="1" dirty="0">
                <a:solidFill>
                  <a:srgbClr val="000080"/>
                </a:solidFill>
                <a:highlight>
                  <a:srgbClr val="FFFFFF"/>
                </a:highlight>
              </a:rPr>
              <a:t>].</a:t>
            </a:r>
            <a:r>
              <a:rPr lang="en-GB" sz="1600" b="0" dirty="0" err="1">
                <a:solidFill>
                  <a:srgbClr val="000000"/>
                </a:solidFill>
                <a:highlight>
                  <a:srgbClr val="FFFFFF"/>
                </a:highlight>
              </a:rPr>
              <a:t>toString</a:t>
            </a:r>
            <a:r>
              <a:rPr lang="en-GB" sz="1600" b="1" dirty="0">
                <a:solidFill>
                  <a:srgbClr val="000080"/>
                </a:solidFill>
                <a:highlight>
                  <a:srgbClr val="FFFFFF"/>
                </a:highlight>
              </a:rPr>
              <a:t>()</a:t>
            </a:r>
            <a:r>
              <a:rPr lang="en-GB" sz="1600" b="0" dirty="0">
                <a:solidFill>
                  <a:srgbClr val="000000"/>
                </a:solidFill>
                <a:highlight>
                  <a:srgbClr val="FFFFFF"/>
                </a:highlight>
              </a:rPr>
              <a:t> </a:t>
            </a:r>
            <a:r>
              <a:rPr lang="en-GB" sz="1600" b="1" dirty="0">
                <a:solidFill>
                  <a:srgbClr val="000080"/>
                </a:solidFill>
                <a:highlight>
                  <a:srgbClr val="FFFFFF"/>
                </a:highlight>
              </a:rPr>
              <a:t>);</a:t>
            </a:r>
            <a:endParaRPr lang="en-GB" sz="1600" b="0" dirty="0">
              <a:solidFill>
                <a:srgbClr val="000000"/>
              </a:solidFill>
              <a:highlight>
                <a:srgbClr val="FFFFFF"/>
              </a:highlight>
            </a:endParaRPr>
          </a:p>
          <a:p>
            <a:endParaRPr lang="en-GB" sz="1600" dirty="0"/>
          </a:p>
          <a:p>
            <a:r>
              <a:rPr lang="ro-RO" sz="1600" dirty="0"/>
              <a:t>Metoda enumerate întoarce numărul de fire memorate în tablou, care este identic cu numărul de fire active.</a:t>
            </a:r>
          </a:p>
        </p:txBody>
      </p:sp>
    </p:spTree>
    <p:extLst>
      <p:ext uri="{BB962C8B-B14F-4D97-AF65-F5344CB8AC3E}">
        <p14:creationId xmlns:p14="http://schemas.microsoft.com/office/powerpoint/2010/main" val="34704036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D9E1DFD8-3C87-FCBC-47D5-EB1B4F255B8A}"/>
              </a:ext>
            </a:extLst>
          </p:cNvPr>
          <p:cNvSpPr>
            <a:spLocks noGrp="1"/>
          </p:cNvSpPr>
          <p:nvPr>
            <p:ph type="title"/>
          </p:nvPr>
        </p:nvSpPr>
        <p:spPr>
          <a:xfrm>
            <a:off x="492370" y="605896"/>
            <a:ext cx="3084844" cy="5646208"/>
          </a:xfrm>
        </p:spPr>
        <p:txBody>
          <a:bodyPr anchor="ctr">
            <a:normAutofit/>
          </a:bodyPr>
          <a:lstStyle/>
          <a:p>
            <a:r>
              <a:rPr lang="en-GB" sz="3600">
                <a:solidFill>
                  <a:srgbClr val="FFFFFF"/>
                </a:solidFill>
              </a:rPr>
              <a:t>Exemplu</a:t>
            </a: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 name="Content Placeholder 2">
            <a:extLst>
              <a:ext uri="{FF2B5EF4-FFF2-40B4-BE49-F238E27FC236}">
                <a16:creationId xmlns:a16="http://schemas.microsoft.com/office/drawing/2014/main" id="{11F009CE-E7F2-297D-373A-F199109EADF9}"/>
              </a:ext>
            </a:extLst>
          </p:cNvPr>
          <p:cNvSpPr>
            <a:spLocks noGrp="1"/>
          </p:cNvSpPr>
          <p:nvPr>
            <p:ph idx="1"/>
          </p:nvPr>
        </p:nvSpPr>
        <p:spPr>
          <a:xfrm>
            <a:off x="4192287" y="235782"/>
            <a:ext cx="7058098" cy="5646208"/>
          </a:xfrm>
        </p:spPr>
        <p:txBody>
          <a:bodyPr anchor="ctr">
            <a:normAutofit fontScale="92500" lnSpcReduction="20000"/>
          </a:bodyPr>
          <a:lstStyle/>
          <a:p>
            <a:pPr>
              <a:spcBef>
                <a:spcPts val="0"/>
              </a:spcBef>
            </a:pPr>
            <a:r>
              <a:rPr lang="en-GB" sz="2000" dirty="0">
                <a:solidFill>
                  <a:srgbClr val="8000FF"/>
                </a:solidFill>
                <a:highlight>
                  <a:srgbClr val="FFFFFF"/>
                </a:highlight>
              </a:rPr>
              <a:t>class</a:t>
            </a:r>
            <a:r>
              <a:rPr lang="en-GB" sz="2000" dirty="0">
                <a:solidFill>
                  <a:srgbClr val="000000"/>
                </a:solidFill>
                <a:highlight>
                  <a:srgbClr val="FFFFFF"/>
                </a:highlight>
              </a:rPr>
              <a:t> </a:t>
            </a:r>
            <a:r>
              <a:rPr lang="en-GB" sz="2000" dirty="0" err="1">
                <a:solidFill>
                  <a:srgbClr val="000000"/>
                </a:solidFill>
                <a:highlight>
                  <a:srgbClr val="FFFFFF"/>
                </a:highlight>
              </a:rPr>
              <a:t>FirGrup</a:t>
            </a:r>
            <a:r>
              <a:rPr lang="en-GB" sz="2000" dirty="0">
                <a:solidFill>
                  <a:srgbClr val="000000"/>
                </a:solidFill>
                <a:highlight>
                  <a:srgbClr val="FFFFFF"/>
                </a:highlight>
              </a:rPr>
              <a:t> </a:t>
            </a:r>
            <a:r>
              <a:rPr lang="en-GB" sz="2000" b="1" dirty="0">
                <a:solidFill>
                  <a:srgbClr val="0000FF"/>
                </a:solidFill>
                <a:highlight>
                  <a:srgbClr val="FFFFFF"/>
                </a:highlight>
              </a:rPr>
              <a:t>extends</a:t>
            </a:r>
            <a:r>
              <a:rPr lang="en-GB" sz="2000" b="0" dirty="0">
                <a:solidFill>
                  <a:srgbClr val="000000"/>
                </a:solidFill>
                <a:highlight>
                  <a:srgbClr val="FFFFFF"/>
                </a:highlight>
              </a:rPr>
              <a:t> Thread </a:t>
            </a:r>
            <a:r>
              <a:rPr lang="en-GB" sz="2000" b="1" dirty="0">
                <a:solidFill>
                  <a:srgbClr val="000080"/>
                </a:solidFill>
                <a:highlight>
                  <a:srgbClr val="FFFFFF"/>
                </a:highlight>
              </a:rPr>
              <a:t>{</a:t>
            </a:r>
            <a:endParaRPr lang="en-GB" sz="2000" b="0" dirty="0">
              <a:solidFill>
                <a:srgbClr val="000000"/>
              </a:solidFill>
              <a:highlight>
                <a:srgbClr val="FFFFFF"/>
              </a:highlight>
            </a:endParaRPr>
          </a:p>
          <a:p>
            <a:pPr>
              <a:spcBef>
                <a:spcPts val="0"/>
              </a:spcBef>
            </a:pPr>
            <a:r>
              <a:rPr lang="en-GB" sz="2000" b="0" dirty="0">
                <a:solidFill>
                  <a:srgbClr val="000000"/>
                </a:solidFill>
                <a:highlight>
                  <a:srgbClr val="FFFFFF"/>
                </a:highlight>
              </a:rPr>
              <a:t>    </a:t>
            </a:r>
            <a:r>
              <a:rPr lang="en-GB" sz="2000" b="0" dirty="0">
                <a:solidFill>
                  <a:srgbClr val="8000FF"/>
                </a:solidFill>
                <a:highlight>
                  <a:srgbClr val="FFFFFF"/>
                </a:highlight>
              </a:rPr>
              <a:t>public</a:t>
            </a:r>
            <a:r>
              <a:rPr lang="en-GB" sz="2000" b="0" dirty="0">
                <a:solidFill>
                  <a:srgbClr val="000000"/>
                </a:solidFill>
                <a:highlight>
                  <a:srgbClr val="FFFFFF"/>
                </a:highlight>
              </a:rPr>
              <a:t> </a:t>
            </a:r>
            <a:r>
              <a:rPr lang="en-GB" sz="2000" b="0" dirty="0" err="1">
                <a:solidFill>
                  <a:srgbClr val="000000"/>
                </a:solidFill>
                <a:highlight>
                  <a:srgbClr val="FFFFFF"/>
                </a:highlight>
              </a:rPr>
              <a:t>FirGrup</a:t>
            </a:r>
            <a:r>
              <a:rPr lang="en-GB" sz="2000" b="1" dirty="0">
                <a:solidFill>
                  <a:srgbClr val="000080"/>
                </a:solidFill>
                <a:highlight>
                  <a:srgbClr val="FFFFFF"/>
                </a:highlight>
              </a:rPr>
              <a:t>(</a:t>
            </a:r>
            <a:r>
              <a:rPr lang="en-GB" sz="2000" b="0" dirty="0" err="1">
                <a:solidFill>
                  <a:srgbClr val="000000"/>
                </a:solidFill>
                <a:highlight>
                  <a:srgbClr val="FFFFFF"/>
                </a:highlight>
              </a:rPr>
              <a:t>ThreadGroup</a:t>
            </a:r>
            <a:r>
              <a:rPr lang="en-GB" sz="2000" b="0" dirty="0">
                <a:solidFill>
                  <a:srgbClr val="000000"/>
                </a:solidFill>
                <a:highlight>
                  <a:srgbClr val="FFFFFF"/>
                </a:highlight>
              </a:rPr>
              <a:t> </a:t>
            </a:r>
            <a:r>
              <a:rPr lang="en-GB" sz="2000" b="0" dirty="0" err="1">
                <a:solidFill>
                  <a:srgbClr val="000000"/>
                </a:solidFill>
                <a:highlight>
                  <a:srgbClr val="FFFFFF"/>
                </a:highlight>
              </a:rPr>
              <a:t>grup</a:t>
            </a:r>
            <a:r>
              <a:rPr lang="en-GB" sz="2000" b="1" dirty="0">
                <a:solidFill>
                  <a:srgbClr val="000080"/>
                </a:solidFill>
                <a:highlight>
                  <a:srgbClr val="FFFFFF"/>
                </a:highlight>
              </a:rPr>
              <a:t>,</a:t>
            </a:r>
            <a:r>
              <a:rPr lang="en-GB" sz="2000" b="0" dirty="0">
                <a:solidFill>
                  <a:srgbClr val="000000"/>
                </a:solidFill>
                <a:highlight>
                  <a:srgbClr val="FFFFFF"/>
                </a:highlight>
              </a:rPr>
              <a:t> String </a:t>
            </a:r>
            <a:r>
              <a:rPr lang="en-GB" sz="2000" b="0" dirty="0" err="1">
                <a:solidFill>
                  <a:srgbClr val="000000"/>
                </a:solidFill>
                <a:highlight>
                  <a:srgbClr val="FFFFFF"/>
                </a:highlight>
              </a:rPr>
              <a:t>nume</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1" dirty="0">
                <a:solidFill>
                  <a:srgbClr val="000080"/>
                </a:solidFill>
                <a:highlight>
                  <a:srgbClr val="FFFFFF"/>
                </a:highlight>
              </a:rPr>
              <a:t>{</a:t>
            </a:r>
            <a:endParaRPr lang="en-GB" sz="2000" b="0" dirty="0">
              <a:solidFill>
                <a:srgbClr val="000000"/>
              </a:solidFill>
              <a:highlight>
                <a:srgbClr val="FFFFFF"/>
              </a:highlight>
            </a:endParaRPr>
          </a:p>
          <a:p>
            <a:pPr>
              <a:spcBef>
                <a:spcPts val="0"/>
              </a:spcBef>
            </a:pPr>
            <a:r>
              <a:rPr lang="en-GB" sz="2000" b="0" dirty="0">
                <a:solidFill>
                  <a:srgbClr val="000000"/>
                </a:solidFill>
                <a:highlight>
                  <a:srgbClr val="FFFFFF"/>
                </a:highlight>
              </a:rPr>
              <a:t>        </a:t>
            </a:r>
            <a:r>
              <a:rPr lang="en-GB" sz="2000" b="1" dirty="0">
                <a:solidFill>
                  <a:srgbClr val="0000FF"/>
                </a:solidFill>
                <a:highlight>
                  <a:srgbClr val="FFFFFF"/>
                </a:highlight>
              </a:rPr>
              <a:t>super</a:t>
            </a:r>
            <a:r>
              <a:rPr lang="en-GB" sz="2000" b="1" dirty="0">
                <a:solidFill>
                  <a:srgbClr val="000080"/>
                </a:solidFill>
                <a:highlight>
                  <a:srgbClr val="FFFFFF"/>
                </a:highlight>
              </a:rPr>
              <a:t>(</a:t>
            </a:r>
            <a:r>
              <a:rPr lang="en-GB" sz="2000" b="0" dirty="0" err="1">
                <a:solidFill>
                  <a:srgbClr val="000000"/>
                </a:solidFill>
                <a:highlight>
                  <a:srgbClr val="FFFFFF"/>
                </a:highlight>
              </a:rPr>
              <a:t>grup</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0" dirty="0" err="1">
                <a:solidFill>
                  <a:srgbClr val="000000"/>
                </a:solidFill>
                <a:highlight>
                  <a:srgbClr val="FFFFFF"/>
                </a:highlight>
              </a:rPr>
              <a:t>nume</a:t>
            </a:r>
            <a:r>
              <a:rPr lang="en-GB" sz="2000" b="1" dirty="0">
                <a:solidFill>
                  <a:srgbClr val="000080"/>
                </a:solidFill>
                <a:highlight>
                  <a:srgbClr val="FFFFFF"/>
                </a:highlight>
              </a:rPr>
              <a:t>);</a:t>
            </a:r>
            <a:endParaRPr lang="en-GB" sz="2000" b="0" dirty="0">
              <a:solidFill>
                <a:srgbClr val="000000"/>
              </a:solidFill>
              <a:highlight>
                <a:srgbClr val="FFFFFF"/>
              </a:highlight>
            </a:endParaRPr>
          </a:p>
          <a:p>
            <a:pPr>
              <a:spcBef>
                <a:spcPts val="0"/>
              </a:spcBef>
            </a:pPr>
            <a:r>
              <a:rPr lang="en-GB" sz="2000" b="0" dirty="0">
                <a:solidFill>
                  <a:srgbClr val="000000"/>
                </a:solidFill>
                <a:highlight>
                  <a:srgbClr val="FFFFFF"/>
                </a:highlight>
              </a:rPr>
              <a:t>    </a:t>
            </a:r>
            <a:r>
              <a:rPr lang="en-GB" sz="2000" b="1" dirty="0">
                <a:solidFill>
                  <a:srgbClr val="000080"/>
                </a:solidFill>
                <a:highlight>
                  <a:srgbClr val="FFFFFF"/>
                </a:highlight>
              </a:rPr>
              <a:t>}</a:t>
            </a:r>
            <a:endParaRPr lang="en-GB" sz="2000" b="0" dirty="0">
              <a:solidFill>
                <a:srgbClr val="000000"/>
              </a:solidFill>
              <a:highlight>
                <a:srgbClr val="FFFFFF"/>
              </a:highlight>
            </a:endParaRPr>
          </a:p>
          <a:p>
            <a:pPr>
              <a:spcBef>
                <a:spcPts val="0"/>
              </a:spcBef>
            </a:pPr>
            <a:endParaRPr lang="en-GB" sz="2000" b="0" dirty="0">
              <a:solidFill>
                <a:srgbClr val="000000"/>
              </a:solidFill>
              <a:highlight>
                <a:srgbClr val="FFFFFF"/>
              </a:highlight>
            </a:endParaRPr>
          </a:p>
          <a:p>
            <a:pPr>
              <a:spcBef>
                <a:spcPts val="0"/>
              </a:spcBef>
            </a:pPr>
            <a:r>
              <a:rPr lang="en-GB" sz="2000" b="0" dirty="0">
                <a:solidFill>
                  <a:srgbClr val="000000"/>
                </a:solidFill>
                <a:highlight>
                  <a:srgbClr val="FFFFFF"/>
                </a:highlight>
              </a:rPr>
              <a:t>    </a:t>
            </a:r>
            <a:r>
              <a:rPr lang="en-GB" sz="2000" b="0" dirty="0">
                <a:solidFill>
                  <a:srgbClr val="8000FF"/>
                </a:solidFill>
                <a:highlight>
                  <a:srgbClr val="FFFFFF"/>
                </a:highlight>
              </a:rPr>
              <a:t>public</a:t>
            </a:r>
            <a:r>
              <a:rPr lang="en-GB" sz="2000" b="0" dirty="0">
                <a:solidFill>
                  <a:srgbClr val="000000"/>
                </a:solidFill>
                <a:highlight>
                  <a:srgbClr val="FFFFFF"/>
                </a:highlight>
              </a:rPr>
              <a:t> </a:t>
            </a:r>
            <a:r>
              <a:rPr lang="en-GB" sz="2000" b="0" dirty="0">
                <a:solidFill>
                  <a:srgbClr val="8000FF"/>
                </a:solidFill>
                <a:highlight>
                  <a:srgbClr val="FFFFFF"/>
                </a:highlight>
              </a:rPr>
              <a:t>void</a:t>
            </a:r>
            <a:r>
              <a:rPr lang="en-GB" sz="2000" b="0" dirty="0">
                <a:solidFill>
                  <a:srgbClr val="000000"/>
                </a:solidFill>
                <a:highlight>
                  <a:srgbClr val="FFFFFF"/>
                </a:highlight>
              </a:rPr>
              <a:t> run</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1" dirty="0">
                <a:solidFill>
                  <a:srgbClr val="000080"/>
                </a:solidFill>
                <a:highlight>
                  <a:srgbClr val="FFFFFF"/>
                </a:highlight>
              </a:rPr>
              <a:t>{</a:t>
            </a:r>
            <a:endParaRPr lang="en-GB" sz="2000" b="0" dirty="0">
              <a:solidFill>
                <a:srgbClr val="000000"/>
              </a:solidFill>
              <a:highlight>
                <a:srgbClr val="FFFFFF"/>
              </a:highlight>
            </a:endParaRPr>
          </a:p>
          <a:p>
            <a:pPr>
              <a:spcBef>
                <a:spcPts val="0"/>
              </a:spcBef>
            </a:pPr>
            <a:r>
              <a:rPr lang="en-GB" sz="2000" b="0" dirty="0">
                <a:solidFill>
                  <a:srgbClr val="000000"/>
                </a:solidFill>
                <a:highlight>
                  <a:srgbClr val="FFFFFF"/>
                </a:highlight>
              </a:rPr>
              <a:t>        </a:t>
            </a:r>
            <a:r>
              <a:rPr lang="en-GB" sz="2000" b="0" dirty="0" err="1">
                <a:solidFill>
                  <a:srgbClr val="000000"/>
                </a:solidFill>
                <a:highlight>
                  <a:srgbClr val="FFFFFF"/>
                </a:highlight>
              </a:rPr>
              <a:t>System</a:t>
            </a:r>
            <a:r>
              <a:rPr lang="en-GB" sz="2000" b="1" dirty="0" err="1">
                <a:solidFill>
                  <a:srgbClr val="000080"/>
                </a:solidFill>
                <a:highlight>
                  <a:srgbClr val="FFFFFF"/>
                </a:highlight>
              </a:rPr>
              <a:t>.</a:t>
            </a:r>
            <a:r>
              <a:rPr lang="en-GB" sz="2000" b="0" dirty="0" err="1">
                <a:solidFill>
                  <a:srgbClr val="000000"/>
                </a:solidFill>
                <a:highlight>
                  <a:srgbClr val="FFFFFF"/>
                </a:highlight>
              </a:rPr>
              <a:t>out</a:t>
            </a:r>
            <a:r>
              <a:rPr lang="en-GB" sz="2000" b="1" dirty="0" err="1">
                <a:solidFill>
                  <a:srgbClr val="000080"/>
                </a:solidFill>
                <a:highlight>
                  <a:srgbClr val="FFFFFF"/>
                </a:highlight>
              </a:rPr>
              <a:t>.</a:t>
            </a:r>
            <a:r>
              <a:rPr lang="en-GB" sz="2000" b="0" dirty="0" err="1">
                <a:solidFill>
                  <a:srgbClr val="000000"/>
                </a:solidFill>
                <a:highlight>
                  <a:srgbClr val="FFFFFF"/>
                </a:highlight>
              </a:rPr>
              <a:t>println</a:t>
            </a:r>
            <a:r>
              <a:rPr lang="en-GB" sz="2000" b="1" dirty="0">
                <a:solidFill>
                  <a:srgbClr val="000080"/>
                </a:solidFill>
                <a:highlight>
                  <a:srgbClr val="FFFFFF"/>
                </a:highlight>
              </a:rPr>
              <a:t>(</a:t>
            </a:r>
            <a:r>
              <a:rPr lang="en-GB" sz="2000" b="0" dirty="0">
                <a:solidFill>
                  <a:srgbClr val="808080"/>
                </a:solidFill>
                <a:highlight>
                  <a:srgbClr val="FFFFFF"/>
                </a:highlight>
              </a:rPr>
              <a:t>"</a:t>
            </a:r>
            <a:r>
              <a:rPr lang="en-GB" sz="2000" b="0" dirty="0" err="1">
                <a:solidFill>
                  <a:srgbClr val="808080"/>
                </a:solidFill>
                <a:highlight>
                  <a:srgbClr val="FFFFFF"/>
                </a:highlight>
              </a:rPr>
              <a:t>Rulează</a:t>
            </a:r>
            <a:r>
              <a:rPr lang="en-GB" sz="2000" b="0" dirty="0">
                <a:solidFill>
                  <a:srgbClr val="808080"/>
                </a:solidFill>
                <a:highlight>
                  <a:srgbClr val="FFFFFF"/>
                </a:highlight>
              </a:rPr>
              <a:t> "</a:t>
            </a:r>
            <a:r>
              <a:rPr lang="en-GB" sz="2000" b="0" dirty="0">
                <a:solidFill>
                  <a:srgbClr val="000000"/>
                </a:solidFill>
                <a:highlight>
                  <a:srgbClr val="FFFFFF"/>
                </a:highlight>
              </a:rPr>
              <a:t> </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0" dirty="0" err="1">
                <a:solidFill>
                  <a:srgbClr val="000000"/>
                </a:solidFill>
                <a:highlight>
                  <a:srgbClr val="FFFFFF"/>
                </a:highlight>
              </a:rPr>
              <a:t>getName</a:t>
            </a:r>
            <a:r>
              <a:rPr lang="en-GB" sz="2000" b="1" dirty="0">
                <a:solidFill>
                  <a:srgbClr val="000080"/>
                </a:solidFill>
                <a:highlight>
                  <a:srgbClr val="FFFFFF"/>
                </a:highlight>
              </a:rPr>
              <a:t>());</a:t>
            </a:r>
            <a:endParaRPr lang="en-GB" sz="2000" b="0" dirty="0">
              <a:solidFill>
                <a:srgbClr val="000000"/>
              </a:solidFill>
              <a:highlight>
                <a:srgbClr val="FFFFFF"/>
              </a:highlight>
            </a:endParaRPr>
          </a:p>
          <a:p>
            <a:pPr>
              <a:spcBef>
                <a:spcPts val="0"/>
              </a:spcBef>
            </a:pPr>
            <a:r>
              <a:rPr lang="en-GB" sz="2000" b="0" dirty="0">
                <a:solidFill>
                  <a:srgbClr val="000000"/>
                </a:solidFill>
                <a:highlight>
                  <a:srgbClr val="FFFFFF"/>
                </a:highlight>
              </a:rPr>
              <a:t>    </a:t>
            </a:r>
            <a:r>
              <a:rPr lang="en-GB" sz="2000" b="1" dirty="0">
                <a:solidFill>
                  <a:srgbClr val="000080"/>
                </a:solidFill>
                <a:highlight>
                  <a:srgbClr val="FFFFFF"/>
                </a:highlight>
              </a:rPr>
              <a:t>}</a:t>
            </a:r>
            <a:endParaRPr lang="en-GB" sz="2000" b="0" dirty="0">
              <a:solidFill>
                <a:srgbClr val="000000"/>
              </a:solidFill>
              <a:highlight>
                <a:srgbClr val="FFFFFF"/>
              </a:highlight>
            </a:endParaRPr>
          </a:p>
          <a:p>
            <a:pPr>
              <a:spcBef>
                <a:spcPts val="0"/>
              </a:spcBef>
            </a:pPr>
            <a:endParaRPr lang="en-GB" sz="2000" b="0" dirty="0">
              <a:solidFill>
                <a:srgbClr val="000000"/>
              </a:solidFill>
              <a:highlight>
                <a:srgbClr val="FFFFFF"/>
              </a:highlight>
            </a:endParaRPr>
          </a:p>
          <a:p>
            <a:pPr>
              <a:spcBef>
                <a:spcPts val="0"/>
              </a:spcBef>
            </a:pPr>
            <a:r>
              <a:rPr lang="en-GB" sz="2000" b="0" dirty="0">
                <a:solidFill>
                  <a:srgbClr val="000000"/>
                </a:solidFill>
                <a:highlight>
                  <a:srgbClr val="FFFFFF"/>
                </a:highlight>
              </a:rPr>
              <a:t>    </a:t>
            </a:r>
            <a:r>
              <a:rPr lang="en-GB" sz="2000" b="0" dirty="0">
                <a:solidFill>
                  <a:srgbClr val="8000FF"/>
                </a:solidFill>
                <a:highlight>
                  <a:srgbClr val="FFFFFF"/>
                </a:highlight>
              </a:rPr>
              <a:t>public</a:t>
            </a:r>
            <a:r>
              <a:rPr lang="en-GB" sz="2000" b="0" dirty="0">
                <a:solidFill>
                  <a:srgbClr val="000000"/>
                </a:solidFill>
                <a:highlight>
                  <a:srgbClr val="FFFFFF"/>
                </a:highlight>
              </a:rPr>
              <a:t> </a:t>
            </a:r>
            <a:r>
              <a:rPr lang="en-GB" sz="2000" b="0" dirty="0">
                <a:solidFill>
                  <a:srgbClr val="8000FF"/>
                </a:solidFill>
                <a:highlight>
                  <a:srgbClr val="FFFFFF"/>
                </a:highlight>
              </a:rPr>
              <a:t>static</a:t>
            </a:r>
            <a:r>
              <a:rPr lang="en-GB" sz="2000" b="0" dirty="0">
                <a:solidFill>
                  <a:srgbClr val="000000"/>
                </a:solidFill>
                <a:highlight>
                  <a:srgbClr val="FFFFFF"/>
                </a:highlight>
              </a:rPr>
              <a:t> </a:t>
            </a:r>
            <a:r>
              <a:rPr lang="en-GB" sz="2000" b="0" dirty="0">
                <a:solidFill>
                  <a:srgbClr val="8000FF"/>
                </a:solidFill>
                <a:highlight>
                  <a:srgbClr val="FFFFFF"/>
                </a:highlight>
              </a:rPr>
              <a:t>void</a:t>
            </a:r>
            <a:r>
              <a:rPr lang="en-GB" sz="2000" b="0" dirty="0">
                <a:solidFill>
                  <a:srgbClr val="000000"/>
                </a:solidFill>
                <a:highlight>
                  <a:srgbClr val="FFFFFF"/>
                </a:highlight>
              </a:rPr>
              <a:t> main</a:t>
            </a:r>
            <a:r>
              <a:rPr lang="en-GB" sz="2000" b="1" dirty="0">
                <a:solidFill>
                  <a:srgbClr val="000080"/>
                </a:solidFill>
                <a:highlight>
                  <a:srgbClr val="FFFFFF"/>
                </a:highlight>
              </a:rPr>
              <a:t>(</a:t>
            </a:r>
            <a:r>
              <a:rPr lang="en-GB" sz="2000" b="0" dirty="0">
                <a:solidFill>
                  <a:srgbClr val="000000"/>
                </a:solidFill>
                <a:highlight>
                  <a:srgbClr val="FFFFFF"/>
                </a:highlight>
              </a:rPr>
              <a:t>String</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0" dirty="0" err="1">
                <a:solidFill>
                  <a:srgbClr val="000000"/>
                </a:solidFill>
                <a:highlight>
                  <a:srgbClr val="FFFFFF"/>
                </a:highlight>
              </a:rPr>
              <a:t>args</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1" dirty="0">
                <a:solidFill>
                  <a:srgbClr val="000080"/>
                </a:solidFill>
                <a:highlight>
                  <a:srgbClr val="FFFFFF"/>
                </a:highlight>
              </a:rPr>
              <a:t>{</a:t>
            </a:r>
            <a:endParaRPr lang="en-GB" sz="2000" b="0" dirty="0">
              <a:solidFill>
                <a:srgbClr val="000000"/>
              </a:solidFill>
              <a:highlight>
                <a:srgbClr val="FFFFFF"/>
              </a:highlight>
            </a:endParaRPr>
          </a:p>
          <a:p>
            <a:pPr>
              <a:spcBef>
                <a:spcPts val="0"/>
              </a:spcBef>
            </a:pPr>
            <a:r>
              <a:rPr lang="en-GB" sz="2000" b="0" dirty="0">
                <a:solidFill>
                  <a:srgbClr val="000000"/>
                </a:solidFill>
                <a:highlight>
                  <a:srgbClr val="FFFFFF"/>
                </a:highlight>
              </a:rPr>
              <a:t>        </a:t>
            </a:r>
            <a:r>
              <a:rPr lang="en-GB" sz="2000" b="0" dirty="0" err="1">
                <a:solidFill>
                  <a:srgbClr val="000000"/>
                </a:solidFill>
                <a:highlight>
                  <a:srgbClr val="FFFFFF"/>
                </a:highlight>
              </a:rPr>
              <a:t>ThreadGroup</a:t>
            </a:r>
            <a:r>
              <a:rPr lang="en-GB" sz="2000" b="0" dirty="0">
                <a:solidFill>
                  <a:srgbClr val="000000"/>
                </a:solidFill>
                <a:highlight>
                  <a:srgbClr val="FFFFFF"/>
                </a:highlight>
              </a:rPr>
              <a:t> </a:t>
            </a:r>
            <a:r>
              <a:rPr lang="en-GB" sz="2000" b="0" dirty="0" err="1">
                <a:solidFill>
                  <a:srgbClr val="000000"/>
                </a:solidFill>
                <a:highlight>
                  <a:srgbClr val="FFFFFF"/>
                </a:highlight>
              </a:rPr>
              <a:t>grup</a:t>
            </a:r>
            <a:r>
              <a:rPr lang="en-GB" sz="2000" b="0" dirty="0">
                <a:solidFill>
                  <a:srgbClr val="000000"/>
                </a:solidFill>
                <a:highlight>
                  <a:srgbClr val="FFFFFF"/>
                </a:highlight>
              </a:rPr>
              <a:t> </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1" dirty="0">
                <a:solidFill>
                  <a:srgbClr val="0000FF"/>
                </a:solidFill>
                <a:highlight>
                  <a:srgbClr val="FFFFFF"/>
                </a:highlight>
              </a:rPr>
              <a:t>new</a:t>
            </a:r>
            <a:r>
              <a:rPr lang="en-GB" sz="2000" b="0" dirty="0">
                <a:solidFill>
                  <a:srgbClr val="000000"/>
                </a:solidFill>
                <a:highlight>
                  <a:srgbClr val="FFFFFF"/>
                </a:highlight>
              </a:rPr>
              <a:t> </a:t>
            </a:r>
            <a:r>
              <a:rPr lang="en-GB" sz="2000" b="0" dirty="0" err="1">
                <a:solidFill>
                  <a:srgbClr val="000000"/>
                </a:solidFill>
                <a:highlight>
                  <a:srgbClr val="FFFFFF"/>
                </a:highlight>
              </a:rPr>
              <a:t>ThreadGroup</a:t>
            </a:r>
            <a:r>
              <a:rPr lang="en-GB" sz="2000" b="1" dirty="0">
                <a:solidFill>
                  <a:srgbClr val="000080"/>
                </a:solidFill>
                <a:highlight>
                  <a:srgbClr val="FFFFFF"/>
                </a:highlight>
              </a:rPr>
              <a:t>(</a:t>
            </a:r>
            <a:r>
              <a:rPr lang="en-GB" sz="2000" b="0" dirty="0">
                <a:solidFill>
                  <a:srgbClr val="808080"/>
                </a:solidFill>
                <a:highlight>
                  <a:srgbClr val="FFFFFF"/>
                </a:highlight>
              </a:rPr>
              <a:t>"</a:t>
            </a:r>
            <a:r>
              <a:rPr lang="en-GB" sz="2000" b="0" dirty="0" err="1">
                <a:solidFill>
                  <a:srgbClr val="808080"/>
                </a:solidFill>
                <a:highlight>
                  <a:srgbClr val="FFFFFF"/>
                </a:highlight>
              </a:rPr>
              <a:t>Grupul</a:t>
            </a:r>
            <a:r>
              <a:rPr lang="en-GB" sz="2000" b="0" dirty="0">
                <a:solidFill>
                  <a:srgbClr val="808080"/>
                </a:solidFill>
                <a:highlight>
                  <a:srgbClr val="FFFFFF"/>
                </a:highlight>
              </a:rPr>
              <a:t> A"</a:t>
            </a:r>
            <a:r>
              <a:rPr lang="en-GB" sz="2000" b="1" dirty="0">
                <a:solidFill>
                  <a:srgbClr val="000080"/>
                </a:solidFill>
                <a:highlight>
                  <a:srgbClr val="FFFFFF"/>
                </a:highlight>
              </a:rPr>
              <a:t>);</a:t>
            </a:r>
            <a:endParaRPr lang="en-GB" sz="2000" b="0" dirty="0">
              <a:solidFill>
                <a:srgbClr val="000000"/>
              </a:solidFill>
              <a:highlight>
                <a:srgbClr val="FFFFFF"/>
              </a:highlight>
            </a:endParaRPr>
          </a:p>
          <a:p>
            <a:pPr>
              <a:spcBef>
                <a:spcPts val="0"/>
              </a:spcBef>
            </a:pPr>
            <a:endParaRPr lang="en-GB" sz="2000" b="0" dirty="0">
              <a:solidFill>
                <a:srgbClr val="000000"/>
              </a:solidFill>
              <a:highlight>
                <a:srgbClr val="FFFFFF"/>
              </a:highlight>
            </a:endParaRPr>
          </a:p>
          <a:p>
            <a:pPr>
              <a:spcBef>
                <a:spcPts val="0"/>
              </a:spcBef>
            </a:pPr>
            <a:r>
              <a:rPr lang="en-GB" sz="2000" b="0" dirty="0">
                <a:solidFill>
                  <a:srgbClr val="000000"/>
                </a:solidFill>
                <a:highlight>
                  <a:srgbClr val="FFFFFF"/>
                </a:highlight>
              </a:rPr>
              <a:t>        </a:t>
            </a:r>
            <a:r>
              <a:rPr lang="en-GB" sz="2000" b="0" dirty="0" err="1">
                <a:solidFill>
                  <a:srgbClr val="000000"/>
                </a:solidFill>
                <a:highlight>
                  <a:srgbClr val="FFFFFF"/>
                </a:highlight>
              </a:rPr>
              <a:t>FirGrup</a:t>
            </a:r>
            <a:r>
              <a:rPr lang="en-GB" sz="2000" b="0" dirty="0">
                <a:solidFill>
                  <a:srgbClr val="000000"/>
                </a:solidFill>
                <a:highlight>
                  <a:srgbClr val="FFFFFF"/>
                </a:highlight>
              </a:rPr>
              <a:t> f1 </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1" dirty="0">
                <a:solidFill>
                  <a:srgbClr val="0000FF"/>
                </a:solidFill>
                <a:highlight>
                  <a:srgbClr val="FFFFFF"/>
                </a:highlight>
              </a:rPr>
              <a:t>new</a:t>
            </a:r>
            <a:r>
              <a:rPr lang="en-GB" sz="2000" b="0" dirty="0">
                <a:solidFill>
                  <a:srgbClr val="000000"/>
                </a:solidFill>
                <a:highlight>
                  <a:srgbClr val="FFFFFF"/>
                </a:highlight>
              </a:rPr>
              <a:t> </a:t>
            </a:r>
            <a:r>
              <a:rPr lang="en-GB" sz="2000" b="0" dirty="0" err="1">
                <a:solidFill>
                  <a:srgbClr val="000000"/>
                </a:solidFill>
                <a:highlight>
                  <a:srgbClr val="FFFFFF"/>
                </a:highlight>
              </a:rPr>
              <a:t>FirGrup</a:t>
            </a:r>
            <a:r>
              <a:rPr lang="en-GB" sz="2000" b="1" dirty="0">
                <a:solidFill>
                  <a:srgbClr val="000080"/>
                </a:solidFill>
                <a:highlight>
                  <a:srgbClr val="FFFFFF"/>
                </a:highlight>
              </a:rPr>
              <a:t>(</a:t>
            </a:r>
            <a:r>
              <a:rPr lang="en-GB" sz="2000" b="0" dirty="0" err="1">
                <a:solidFill>
                  <a:srgbClr val="000000"/>
                </a:solidFill>
                <a:highlight>
                  <a:srgbClr val="FFFFFF"/>
                </a:highlight>
              </a:rPr>
              <a:t>grup</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0" dirty="0">
                <a:solidFill>
                  <a:srgbClr val="808080"/>
                </a:solidFill>
                <a:highlight>
                  <a:srgbClr val="FFFFFF"/>
                </a:highlight>
              </a:rPr>
              <a:t>"Fir 1"</a:t>
            </a:r>
            <a:r>
              <a:rPr lang="en-GB" sz="2000" b="1" dirty="0">
                <a:solidFill>
                  <a:srgbClr val="000080"/>
                </a:solidFill>
                <a:highlight>
                  <a:srgbClr val="FFFFFF"/>
                </a:highlight>
              </a:rPr>
              <a:t>);</a:t>
            </a:r>
            <a:endParaRPr lang="en-GB" sz="2000" b="0" dirty="0">
              <a:solidFill>
                <a:srgbClr val="000000"/>
              </a:solidFill>
              <a:highlight>
                <a:srgbClr val="FFFFFF"/>
              </a:highlight>
            </a:endParaRPr>
          </a:p>
          <a:p>
            <a:pPr>
              <a:spcBef>
                <a:spcPts val="0"/>
              </a:spcBef>
            </a:pPr>
            <a:r>
              <a:rPr lang="en-GB" sz="2000" b="0" dirty="0">
                <a:solidFill>
                  <a:srgbClr val="000000"/>
                </a:solidFill>
                <a:highlight>
                  <a:srgbClr val="FFFFFF"/>
                </a:highlight>
              </a:rPr>
              <a:t>        </a:t>
            </a:r>
            <a:r>
              <a:rPr lang="en-GB" sz="2000" b="0" dirty="0" err="1">
                <a:solidFill>
                  <a:srgbClr val="000000"/>
                </a:solidFill>
                <a:highlight>
                  <a:srgbClr val="FFFFFF"/>
                </a:highlight>
              </a:rPr>
              <a:t>FirGrup</a:t>
            </a:r>
            <a:r>
              <a:rPr lang="en-GB" sz="2000" b="0" dirty="0">
                <a:solidFill>
                  <a:srgbClr val="000000"/>
                </a:solidFill>
                <a:highlight>
                  <a:srgbClr val="FFFFFF"/>
                </a:highlight>
              </a:rPr>
              <a:t> f2 </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1" dirty="0">
                <a:solidFill>
                  <a:srgbClr val="0000FF"/>
                </a:solidFill>
                <a:highlight>
                  <a:srgbClr val="FFFFFF"/>
                </a:highlight>
              </a:rPr>
              <a:t>new</a:t>
            </a:r>
            <a:r>
              <a:rPr lang="en-GB" sz="2000" b="0" dirty="0">
                <a:solidFill>
                  <a:srgbClr val="000000"/>
                </a:solidFill>
                <a:highlight>
                  <a:srgbClr val="FFFFFF"/>
                </a:highlight>
              </a:rPr>
              <a:t> </a:t>
            </a:r>
            <a:r>
              <a:rPr lang="en-GB" sz="2000" b="0" dirty="0" err="1">
                <a:solidFill>
                  <a:srgbClr val="000000"/>
                </a:solidFill>
                <a:highlight>
                  <a:srgbClr val="FFFFFF"/>
                </a:highlight>
              </a:rPr>
              <a:t>FirGrup</a:t>
            </a:r>
            <a:r>
              <a:rPr lang="en-GB" sz="2000" b="1" dirty="0">
                <a:solidFill>
                  <a:srgbClr val="000080"/>
                </a:solidFill>
                <a:highlight>
                  <a:srgbClr val="FFFFFF"/>
                </a:highlight>
              </a:rPr>
              <a:t>(</a:t>
            </a:r>
            <a:r>
              <a:rPr lang="en-GB" sz="2000" b="0" dirty="0" err="1">
                <a:solidFill>
                  <a:srgbClr val="000000"/>
                </a:solidFill>
                <a:highlight>
                  <a:srgbClr val="FFFFFF"/>
                </a:highlight>
              </a:rPr>
              <a:t>grup</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0" dirty="0">
                <a:solidFill>
                  <a:srgbClr val="808080"/>
                </a:solidFill>
                <a:highlight>
                  <a:srgbClr val="FFFFFF"/>
                </a:highlight>
              </a:rPr>
              <a:t>"Fir 2"</a:t>
            </a:r>
            <a:r>
              <a:rPr lang="en-GB" sz="2000" b="1" dirty="0">
                <a:solidFill>
                  <a:srgbClr val="000080"/>
                </a:solidFill>
                <a:highlight>
                  <a:srgbClr val="FFFFFF"/>
                </a:highlight>
              </a:rPr>
              <a:t>);</a:t>
            </a:r>
            <a:endParaRPr lang="en-GB" sz="2000" b="0" dirty="0">
              <a:solidFill>
                <a:srgbClr val="000000"/>
              </a:solidFill>
              <a:highlight>
                <a:srgbClr val="FFFFFF"/>
              </a:highlight>
            </a:endParaRPr>
          </a:p>
          <a:p>
            <a:pPr>
              <a:spcBef>
                <a:spcPts val="0"/>
              </a:spcBef>
            </a:pPr>
            <a:r>
              <a:rPr lang="en-GB" sz="2000" b="0" dirty="0">
                <a:solidFill>
                  <a:srgbClr val="000000"/>
                </a:solidFill>
                <a:highlight>
                  <a:srgbClr val="FFFFFF"/>
                </a:highlight>
              </a:rPr>
              <a:t>        </a:t>
            </a:r>
            <a:r>
              <a:rPr lang="en-GB" sz="2000" b="0" dirty="0" err="1">
                <a:solidFill>
                  <a:srgbClr val="000000"/>
                </a:solidFill>
                <a:highlight>
                  <a:srgbClr val="FFFFFF"/>
                </a:highlight>
              </a:rPr>
              <a:t>FirGrup</a:t>
            </a:r>
            <a:r>
              <a:rPr lang="en-GB" sz="2000" b="0" dirty="0">
                <a:solidFill>
                  <a:srgbClr val="000000"/>
                </a:solidFill>
                <a:highlight>
                  <a:srgbClr val="FFFFFF"/>
                </a:highlight>
              </a:rPr>
              <a:t> f3 </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1" dirty="0">
                <a:solidFill>
                  <a:srgbClr val="0000FF"/>
                </a:solidFill>
                <a:highlight>
                  <a:srgbClr val="FFFFFF"/>
                </a:highlight>
              </a:rPr>
              <a:t>new</a:t>
            </a:r>
            <a:r>
              <a:rPr lang="en-GB" sz="2000" b="0" dirty="0">
                <a:solidFill>
                  <a:srgbClr val="000000"/>
                </a:solidFill>
                <a:highlight>
                  <a:srgbClr val="FFFFFF"/>
                </a:highlight>
              </a:rPr>
              <a:t> </a:t>
            </a:r>
            <a:r>
              <a:rPr lang="en-GB" sz="2000" b="0" dirty="0" err="1">
                <a:solidFill>
                  <a:srgbClr val="000000"/>
                </a:solidFill>
                <a:highlight>
                  <a:srgbClr val="FFFFFF"/>
                </a:highlight>
              </a:rPr>
              <a:t>FirGrup</a:t>
            </a:r>
            <a:r>
              <a:rPr lang="en-GB" sz="2000" b="1" dirty="0">
                <a:solidFill>
                  <a:srgbClr val="000080"/>
                </a:solidFill>
                <a:highlight>
                  <a:srgbClr val="FFFFFF"/>
                </a:highlight>
              </a:rPr>
              <a:t>(</a:t>
            </a:r>
            <a:r>
              <a:rPr lang="en-GB" sz="2000" b="0" dirty="0" err="1">
                <a:solidFill>
                  <a:srgbClr val="000000"/>
                </a:solidFill>
                <a:highlight>
                  <a:srgbClr val="FFFFFF"/>
                </a:highlight>
              </a:rPr>
              <a:t>grup</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0" dirty="0">
                <a:solidFill>
                  <a:srgbClr val="808080"/>
                </a:solidFill>
                <a:highlight>
                  <a:srgbClr val="FFFFFF"/>
                </a:highlight>
              </a:rPr>
              <a:t>"Fir 3"</a:t>
            </a:r>
            <a:r>
              <a:rPr lang="en-GB" sz="2000" b="1" dirty="0">
                <a:solidFill>
                  <a:srgbClr val="000080"/>
                </a:solidFill>
                <a:highlight>
                  <a:srgbClr val="FFFFFF"/>
                </a:highlight>
              </a:rPr>
              <a:t>);</a:t>
            </a:r>
            <a:endParaRPr lang="en-GB" sz="2000" b="0" dirty="0">
              <a:solidFill>
                <a:srgbClr val="000000"/>
              </a:solidFill>
              <a:highlight>
                <a:srgbClr val="FFFFFF"/>
              </a:highlight>
            </a:endParaRPr>
          </a:p>
          <a:p>
            <a:pPr>
              <a:spcBef>
                <a:spcPts val="0"/>
              </a:spcBef>
            </a:pPr>
            <a:endParaRPr lang="en-GB" sz="2000" b="0" dirty="0">
              <a:solidFill>
                <a:srgbClr val="000000"/>
              </a:solidFill>
              <a:highlight>
                <a:srgbClr val="FFFFFF"/>
              </a:highlight>
            </a:endParaRPr>
          </a:p>
          <a:p>
            <a:pPr>
              <a:spcBef>
                <a:spcPts val="0"/>
              </a:spcBef>
            </a:pPr>
            <a:r>
              <a:rPr lang="en-GB" sz="2000" b="0" dirty="0">
                <a:solidFill>
                  <a:srgbClr val="000000"/>
                </a:solidFill>
                <a:highlight>
                  <a:srgbClr val="FFFFFF"/>
                </a:highlight>
              </a:rPr>
              <a:t>        f1</a:t>
            </a:r>
            <a:r>
              <a:rPr lang="en-GB" sz="2000" b="1" dirty="0">
                <a:solidFill>
                  <a:srgbClr val="000080"/>
                </a:solidFill>
                <a:highlight>
                  <a:srgbClr val="FFFFFF"/>
                </a:highlight>
              </a:rPr>
              <a:t>.</a:t>
            </a:r>
            <a:r>
              <a:rPr lang="en-GB" sz="2000" b="0" dirty="0">
                <a:solidFill>
                  <a:srgbClr val="000000"/>
                </a:solidFill>
                <a:highlight>
                  <a:srgbClr val="FFFFFF"/>
                </a:highlight>
              </a:rPr>
              <a:t>start</a:t>
            </a:r>
            <a:r>
              <a:rPr lang="en-GB" sz="2000" b="1" dirty="0">
                <a:solidFill>
                  <a:srgbClr val="000080"/>
                </a:solidFill>
                <a:highlight>
                  <a:srgbClr val="FFFFFF"/>
                </a:highlight>
              </a:rPr>
              <a:t>();</a:t>
            </a:r>
            <a:endParaRPr lang="en-GB" sz="2000" b="0" dirty="0">
              <a:solidFill>
                <a:srgbClr val="000000"/>
              </a:solidFill>
              <a:highlight>
                <a:srgbClr val="FFFFFF"/>
              </a:highlight>
            </a:endParaRPr>
          </a:p>
          <a:p>
            <a:pPr>
              <a:spcBef>
                <a:spcPts val="0"/>
              </a:spcBef>
            </a:pPr>
            <a:r>
              <a:rPr lang="en-GB" sz="2000" b="0" dirty="0">
                <a:solidFill>
                  <a:srgbClr val="000000"/>
                </a:solidFill>
                <a:highlight>
                  <a:srgbClr val="FFFFFF"/>
                </a:highlight>
              </a:rPr>
              <a:t>        f2</a:t>
            </a:r>
            <a:r>
              <a:rPr lang="en-GB" sz="2000" b="1" dirty="0">
                <a:solidFill>
                  <a:srgbClr val="000080"/>
                </a:solidFill>
                <a:highlight>
                  <a:srgbClr val="FFFFFF"/>
                </a:highlight>
              </a:rPr>
              <a:t>.</a:t>
            </a:r>
            <a:r>
              <a:rPr lang="en-GB" sz="2000" b="0" dirty="0">
                <a:solidFill>
                  <a:srgbClr val="000000"/>
                </a:solidFill>
                <a:highlight>
                  <a:srgbClr val="FFFFFF"/>
                </a:highlight>
              </a:rPr>
              <a:t>start</a:t>
            </a:r>
            <a:r>
              <a:rPr lang="en-GB" sz="2000" b="1" dirty="0">
                <a:solidFill>
                  <a:srgbClr val="000080"/>
                </a:solidFill>
                <a:highlight>
                  <a:srgbClr val="FFFFFF"/>
                </a:highlight>
              </a:rPr>
              <a:t>();</a:t>
            </a:r>
            <a:endParaRPr lang="en-GB" sz="2000" b="0" dirty="0">
              <a:solidFill>
                <a:srgbClr val="000000"/>
              </a:solidFill>
              <a:highlight>
                <a:srgbClr val="FFFFFF"/>
              </a:highlight>
            </a:endParaRPr>
          </a:p>
          <a:p>
            <a:pPr>
              <a:spcBef>
                <a:spcPts val="0"/>
              </a:spcBef>
            </a:pPr>
            <a:r>
              <a:rPr lang="en-GB" sz="2000" b="0" dirty="0">
                <a:solidFill>
                  <a:srgbClr val="000000"/>
                </a:solidFill>
                <a:highlight>
                  <a:srgbClr val="FFFFFF"/>
                </a:highlight>
              </a:rPr>
              <a:t>        f3</a:t>
            </a:r>
            <a:r>
              <a:rPr lang="en-GB" sz="2000" b="1" dirty="0">
                <a:solidFill>
                  <a:srgbClr val="000080"/>
                </a:solidFill>
                <a:highlight>
                  <a:srgbClr val="FFFFFF"/>
                </a:highlight>
              </a:rPr>
              <a:t>.</a:t>
            </a:r>
            <a:r>
              <a:rPr lang="en-GB" sz="2000" b="0" dirty="0">
                <a:solidFill>
                  <a:srgbClr val="000000"/>
                </a:solidFill>
                <a:highlight>
                  <a:srgbClr val="FFFFFF"/>
                </a:highlight>
              </a:rPr>
              <a:t>start</a:t>
            </a:r>
            <a:r>
              <a:rPr lang="en-GB" sz="2000" b="1" dirty="0">
                <a:solidFill>
                  <a:srgbClr val="000080"/>
                </a:solidFill>
                <a:highlight>
                  <a:srgbClr val="FFFFFF"/>
                </a:highlight>
              </a:rPr>
              <a:t>();</a:t>
            </a:r>
            <a:endParaRPr lang="en-GB" sz="2000" b="0" dirty="0">
              <a:solidFill>
                <a:srgbClr val="000000"/>
              </a:solidFill>
              <a:highlight>
                <a:srgbClr val="FFFFFF"/>
              </a:highlight>
            </a:endParaRPr>
          </a:p>
          <a:p>
            <a:pPr>
              <a:spcBef>
                <a:spcPts val="0"/>
              </a:spcBef>
            </a:pPr>
            <a:endParaRPr lang="en-GB" sz="2000" b="0" dirty="0">
              <a:solidFill>
                <a:srgbClr val="000000"/>
              </a:solidFill>
              <a:highlight>
                <a:srgbClr val="FFFFFF"/>
              </a:highlight>
            </a:endParaRPr>
          </a:p>
          <a:p>
            <a:pPr>
              <a:spcBef>
                <a:spcPts val="0"/>
              </a:spcBef>
            </a:pPr>
            <a:r>
              <a:rPr lang="en-GB" sz="2000" b="0" dirty="0">
                <a:solidFill>
                  <a:srgbClr val="000000"/>
                </a:solidFill>
                <a:highlight>
                  <a:srgbClr val="FFFFFF"/>
                </a:highlight>
              </a:rPr>
              <a:t>        </a:t>
            </a:r>
            <a:r>
              <a:rPr lang="en-GB" sz="2000" b="0" dirty="0" err="1">
                <a:solidFill>
                  <a:srgbClr val="000000"/>
                </a:solidFill>
                <a:highlight>
                  <a:srgbClr val="FFFFFF"/>
                </a:highlight>
              </a:rPr>
              <a:t>System</a:t>
            </a:r>
            <a:r>
              <a:rPr lang="en-GB" sz="2000" b="1" dirty="0" err="1">
                <a:solidFill>
                  <a:srgbClr val="000080"/>
                </a:solidFill>
                <a:highlight>
                  <a:srgbClr val="FFFFFF"/>
                </a:highlight>
              </a:rPr>
              <a:t>.</a:t>
            </a:r>
            <a:r>
              <a:rPr lang="en-GB" sz="2000" b="0" dirty="0" err="1">
                <a:solidFill>
                  <a:srgbClr val="000000"/>
                </a:solidFill>
                <a:highlight>
                  <a:srgbClr val="FFFFFF"/>
                </a:highlight>
              </a:rPr>
              <a:t>out</a:t>
            </a:r>
            <a:r>
              <a:rPr lang="en-GB" sz="2000" b="1" dirty="0" err="1">
                <a:solidFill>
                  <a:srgbClr val="000080"/>
                </a:solidFill>
                <a:highlight>
                  <a:srgbClr val="FFFFFF"/>
                </a:highlight>
              </a:rPr>
              <a:t>.</a:t>
            </a:r>
            <a:r>
              <a:rPr lang="en-GB" sz="2000" b="0" dirty="0" err="1">
                <a:solidFill>
                  <a:srgbClr val="000000"/>
                </a:solidFill>
                <a:highlight>
                  <a:srgbClr val="FFFFFF"/>
                </a:highlight>
              </a:rPr>
              <a:t>println</a:t>
            </a:r>
            <a:r>
              <a:rPr lang="en-GB" sz="2000" b="1" dirty="0">
                <a:solidFill>
                  <a:srgbClr val="000080"/>
                </a:solidFill>
                <a:highlight>
                  <a:srgbClr val="FFFFFF"/>
                </a:highlight>
              </a:rPr>
              <a:t>(</a:t>
            </a:r>
            <a:r>
              <a:rPr lang="en-GB" sz="2000" b="0" dirty="0">
                <a:solidFill>
                  <a:srgbClr val="808080"/>
                </a:solidFill>
                <a:highlight>
                  <a:srgbClr val="FFFFFF"/>
                </a:highlight>
              </a:rPr>
              <a:t>"Fire </a:t>
            </a:r>
            <a:r>
              <a:rPr lang="en-GB" sz="2000" b="0" dirty="0" err="1">
                <a:solidFill>
                  <a:srgbClr val="808080"/>
                </a:solidFill>
                <a:highlight>
                  <a:srgbClr val="FFFFFF"/>
                </a:highlight>
              </a:rPr>
              <a:t>în</a:t>
            </a:r>
            <a:r>
              <a:rPr lang="en-GB" sz="2000" b="0" dirty="0">
                <a:solidFill>
                  <a:srgbClr val="808080"/>
                </a:solidFill>
                <a:highlight>
                  <a:srgbClr val="FFFFFF"/>
                </a:highlight>
              </a:rPr>
              <a:t> "</a:t>
            </a:r>
            <a:r>
              <a:rPr lang="en-GB" sz="2000" b="0" dirty="0">
                <a:solidFill>
                  <a:srgbClr val="000000"/>
                </a:solidFill>
                <a:highlight>
                  <a:srgbClr val="FFFFFF"/>
                </a:highlight>
              </a:rPr>
              <a:t> </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0" dirty="0" err="1">
                <a:solidFill>
                  <a:srgbClr val="000000"/>
                </a:solidFill>
                <a:highlight>
                  <a:srgbClr val="FFFFFF"/>
                </a:highlight>
              </a:rPr>
              <a:t>grup</a:t>
            </a:r>
            <a:r>
              <a:rPr lang="en-GB" sz="2000" b="1" dirty="0" err="1">
                <a:solidFill>
                  <a:srgbClr val="000080"/>
                </a:solidFill>
                <a:highlight>
                  <a:srgbClr val="FFFFFF"/>
                </a:highlight>
              </a:rPr>
              <a:t>.</a:t>
            </a:r>
            <a:r>
              <a:rPr lang="en-GB" sz="2000" b="0" dirty="0" err="1">
                <a:solidFill>
                  <a:srgbClr val="000000"/>
                </a:solidFill>
                <a:highlight>
                  <a:srgbClr val="FFFFFF"/>
                </a:highlight>
              </a:rPr>
              <a:t>getName</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0" dirty="0">
                <a:solidFill>
                  <a:srgbClr val="808080"/>
                </a:solidFill>
                <a:highlight>
                  <a:srgbClr val="FFFFFF"/>
                </a:highlight>
              </a:rPr>
              <a:t>": "</a:t>
            </a:r>
            <a:r>
              <a:rPr lang="en-GB" sz="2000" b="0" dirty="0">
                <a:solidFill>
                  <a:srgbClr val="000000"/>
                </a:solidFill>
                <a:highlight>
                  <a:srgbClr val="FFFFFF"/>
                </a:highlight>
              </a:rPr>
              <a:t> </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0" dirty="0" err="1">
                <a:solidFill>
                  <a:srgbClr val="000000"/>
                </a:solidFill>
                <a:highlight>
                  <a:srgbClr val="FFFFFF"/>
                </a:highlight>
              </a:rPr>
              <a:t>grup</a:t>
            </a:r>
            <a:r>
              <a:rPr lang="en-GB" sz="2000" b="1" dirty="0" err="1">
                <a:solidFill>
                  <a:srgbClr val="000080"/>
                </a:solidFill>
                <a:highlight>
                  <a:srgbClr val="FFFFFF"/>
                </a:highlight>
              </a:rPr>
              <a:t>.</a:t>
            </a:r>
            <a:r>
              <a:rPr lang="en-GB" sz="2000" b="0" dirty="0" err="1">
                <a:solidFill>
                  <a:srgbClr val="000000"/>
                </a:solidFill>
                <a:highlight>
                  <a:srgbClr val="FFFFFF"/>
                </a:highlight>
              </a:rPr>
              <a:t>activeCount</a:t>
            </a:r>
            <a:r>
              <a:rPr lang="en-GB" sz="2000" b="1" dirty="0">
                <a:solidFill>
                  <a:srgbClr val="000080"/>
                </a:solidFill>
                <a:highlight>
                  <a:srgbClr val="FFFFFF"/>
                </a:highlight>
              </a:rPr>
              <a:t>());</a:t>
            </a:r>
            <a:endParaRPr lang="en-GB" sz="2000" b="0" dirty="0">
              <a:solidFill>
                <a:srgbClr val="000000"/>
              </a:solidFill>
              <a:highlight>
                <a:srgbClr val="FFFFFF"/>
              </a:highlight>
            </a:endParaRPr>
          </a:p>
          <a:p>
            <a:pPr>
              <a:spcBef>
                <a:spcPts val="0"/>
              </a:spcBef>
            </a:pPr>
            <a:r>
              <a:rPr lang="en-GB" sz="2000" b="0" dirty="0">
                <a:solidFill>
                  <a:srgbClr val="000000"/>
                </a:solidFill>
                <a:highlight>
                  <a:srgbClr val="FFFFFF"/>
                </a:highlight>
              </a:rPr>
              <a:t>    </a:t>
            </a:r>
            <a:r>
              <a:rPr lang="en-GB" sz="2000" b="1" dirty="0">
                <a:solidFill>
                  <a:srgbClr val="000080"/>
                </a:solidFill>
                <a:highlight>
                  <a:srgbClr val="FFFFFF"/>
                </a:highlight>
              </a:rPr>
              <a:t>}</a:t>
            </a:r>
            <a:endParaRPr lang="en-GB" sz="2000" b="0" dirty="0">
              <a:solidFill>
                <a:srgbClr val="000000"/>
              </a:solidFill>
              <a:highlight>
                <a:srgbClr val="FFFFFF"/>
              </a:highlight>
            </a:endParaRPr>
          </a:p>
          <a:p>
            <a:pPr>
              <a:spcBef>
                <a:spcPts val="0"/>
              </a:spcBef>
            </a:pPr>
            <a:r>
              <a:rPr lang="en-GB" sz="2000" b="1" dirty="0">
                <a:solidFill>
                  <a:srgbClr val="000080"/>
                </a:solidFill>
                <a:highlight>
                  <a:srgbClr val="FFFFFF"/>
                </a:highlight>
              </a:rPr>
              <a:t>}</a:t>
            </a:r>
            <a:endParaRPr lang="en-GB" sz="2000" b="0" dirty="0">
              <a:solidFill>
                <a:srgbClr val="000000"/>
              </a:solidFill>
              <a:highlight>
                <a:srgbClr val="FFFFFF"/>
              </a:highlight>
            </a:endParaRPr>
          </a:p>
          <a:p>
            <a:pPr>
              <a:spcBef>
                <a:spcPts val="0"/>
              </a:spcBef>
            </a:pPr>
            <a:endParaRPr lang="en-GB" dirty="0"/>
          </a:p>
        </p:txBody>
      </p:sp>
      <p:sp>
        <p:nvSpPr>
          <p:cNvPr id="5" name="TextBox 4">
            <a:extLst>
              <a:ext uri="{FF2B5EF4-FFF2-40B4-BE49-F238E27FC236}">
                <a16:creationId xmlns:a16="http://schemas.microsoft.com/office/drawing/2014/main" id="{9646B483-9CC5-9E9B-DF08-159AEF99AD4B}"/>
              </a:ext>
            </a:extLst>
          </p:cNvPr>
          <p:cNvSpPr txBox="1"/>
          <p:nvPr/>
        </p:nvSpPr>
        <p:spPr>
          <a:xfrm>
            <a:off x="6321744" y="5096666"/>
            <a:ext cx="6096000" cy="1815882"/>
          </a:xfrm>
          <a:prstGeom prst="rect">
            <a:avLst/>
          </a:prstGeom>
          <a:noFill/>
        </p:spPr>
        <p:txBody>
          <a:bodyPr wrap="square">
            <a:spAutoFit/>
          </a:bodyPr>
          <a:lstStyle/>
          <a:p>
            <a:pPr>
              <a:buNone/>
            </a:pPr>
            <a:r>
              <a:rPr lang="en-GB" sz="1600" dirty="0"/>
              <a:t>🟢 </a:t>
            </a:r>
            <a:r>
              <a:rPr lang="en-GB" sz="1600" b="1" dirty="0" err="1"/>
              <a:t>Explicație</a:t>
            </a:r>
            <a:r>
              <a:rPr lang="en-GB" sz="1600" b="1" dirty="0"/>
              <a:t>:</a:t>
            </a:r>
            <a:endParaRPr lang="en-GB" sz="1600" dirty="0"/>
          </a:p>
          <a:p>
            <a:pPr>
              <a:buFont typeface="Arial" panose="020B0604020202020204" pitchFamily="34" charset="0"/>
              <a:buChar char="•"/>
            </a:pPr>
            <a:r>
              <a:rPr lang="en-GB" sz="1600" dirty="0" err="1">
                <a:latin typeface="Courier New" panose="02070309020205020404" pitchFamily="49" charset="0"/>
              </a:rPr>
              <a:t>ThreadGroup</a:t>
            </a:r>
            <a:r>
              <a:rPr lang="en-GB" sz="1600" dirty="0"/>
              <a:t> </a:t>
            </a:r>
            <a:r>
              <a:rPr lang="en-GB" sz="1600" dirty="0" err="1"/>
              <a:t>permite</a:t>
            </a:r>
            <a:r>
              <a:rPr lang="en-GB" sz="1600" dirty="0"/>
              <a:t> </a:t>
            </a:r>
            <a:r>
              <a:rPr lang="en-GB" sz="1600" b="1" dirty="0" err="1"/>
              <a:t>organizarea</a:t>
            </a:r>
            <a:r>
              <a:rPr lang="en-GB" sz="1600" b="1" dirty="0"/>
              <a:t> </a:t>
            </a:r>
            <a:r>
              <a:rPr lang="en-GB" sz="1600" b="1" dirty="0" err="1"/>
              <a:t>firelor</a:t>
            </a:r>
            <a:r>
              <a:rPr lang="en-GB" sz="1600" dirty="0"/>
              <a:t> </a:t>
            </a:r>
            <a:r>
              <a:rPr lang="en-GB" sz="1600" dirty="0" err="1"/>
              <a:t>în</a:t>
            </a:r>
            <a:r>
              <a:rPr lang="en-GB" sz="1600" dirty="0"/>
              <a:t> </a:t>
            </a:r>
            <a:r>
              <a:rPr lang="en-GB" sz="1600" dirty="0" err="1"/>
              <a:t>grupuri</a:t>
            </a:r>
            <a:r>
              <a:rPr lang="en-GB" sz="1600" dirty="0"/>
              <a:t> </a:t>
            </a:r>
            <a:r>
              <a:rPr lang="en-GB" sz="1600" dirty="0" err="1"/>
              <a:t>pentru</a:t>
            </a:r>
            <a:r>
              <a:rPr lang="en-GB" sz="1600" dirty="0"/>
              <a:t> </a:t>
            </a:r>
            <a:r>
              <a:rPr lang="en-GB" sz="1600" dirty="0" err="1"/>
              <a:t>gestionare</a:t>
            </a:r>
            <a:r>
              <a:rPr lang="en-GB" sz="1600" dirty="0"/>
              <a:t> </a:t>
            </a:r>
            <a:r>
              <a:rPr lang="en-GB" sz="1600" dirty="0" err="1"/>
              <a:t>comună</a:t>
            </a:r>
            <a:r>
              <a:rPr lang="en-GB" sz="1600" dirty="0"/>
              <a:t> (</a:t>
            </a:r>
            <a:r>
              <a:rPr lang="en-GB" sz="1600" dirty="0" err="1"/>
              <a:t>pornire</a:t>
            </a:r>
            <a:r>
              <a:rPr lang="en-GB" sz="1600" dirty="0"/>
              <a:t>, </a:t>
            </a:r>
            <a:r>
              <a:rPr lang="en-GB" sz="1600" dirty="0" err="1"/>
              <a:t>oprire</a:t>
            </a:r>
            <a:r>
              <a:rPr lang="en-GB" sz="1600" dirty="0"/>
              <a:t>, </a:t>
            </a:r>
            <a:r>
              <a:rPr lang="en-GB" sz="1600" dirty="0" err="1"/>
              <a:t>listare</a:t>
            </a:r>
            <a:r>
              <a:rPr lang="en-GB" sz="1600" dirty="0"/>
              <a:t> etc.).</a:t>
            </a:r>
          </a:p>
          <a:p>
            <a:pPr>
              <a:buFont typeface="Arial" panose="020B0604020202020204" pitchFamily="34" charset="0"/>
              <a:buChar char="•"/>
            </a:pPr>
            <a:r>
              <a:rPr lang="en-GB" sz="1600" dirty="0" err="1"/>
              <a:t>Metoda</a:t>
            </a:r>
            <a:r>
              <a:rPr lang="en-GB" sz="1600" dirty="0"/>
              <a:t> </a:t>
            </a:r>
            <a:r>
              <a:rPr lang="en-GB" sz="1600" dirty="0" err="1">
                <a:latin typeface="Courier New" panose="02070309020205020404" pitchFamily="49" charset="0"/>
              </a:rPr>
              <a:t>activeCount</a:t>
            </a:r>
            <a:r>
              <a:rPr lang="en-GB" sz="1600" dirty="0">
                <a:latin typeface="Courier New" panose="02070309020205020404" pitchFamily="49" charset="0"/>
              </a:rPr>
              <a:t>()</a:t>
            </a:r>
            <a:r>
              <a:rPr lang="en-GB" sz="1600" dirty="0"/>
              <a:t> </a:t>
            </a:r>
            <a:r>
              <a:rPr lang="en-GB" sz="1600" dirty="0" err="1"/>
              <a:t>returnează</a:t>
            </a:r>
            <a:r>
              <a:rPr lang="en-GB" sz="1600" dirty="0"/>
              <a:t> </a:t>
            </a:r>
            <a:r>
              <a:rPr lang="en-GB" sz="1600" dirty="0" err="1"/>
              <a:t>numărul</a:t>
            </a:r>
            <a:r>
              <a:rPr lang="en-GB" sz="1600" dirty="0"/>
              <a:t> de fire active din </a:t>
            </a:r>
            <a:r>
              <a:rPr lang="en-GB" sz="1600" dirty="0" err="1"/>
              <a:t>grup</a:t>
            </a:r>
            <a:r>
              <a:rPr lang="en-GB" sz="1600" dirty="0"/>
              <a:t>.</a:t>
            </a:r>
          </a:p>
          <a:p>
            <a:pPr>
              <a:buFont typeface="Arial" panose="020B0604020202020204" pitchFamily="34" charset="0"/>
              <a:buChar char="•"/>
            </a:pPr>
            <a:r>
              <a:rPr lang="en-GB" sz="1600" dirty="0"/>
              <a:t>Se pot </a:t>
            </a:r>
            <a:r>
              <a:rPr lang="en-GB" sz="1600" dirty="0" err="1"/>
              <a:t>crea</a:t>
            </a:r>
            <a:r>
              <a:rPr lang="en-GB" sz="1600" dirty="0"/>
              <a:t> </a:t>
            </a:r>
            <a:r>
              <a:rPr lang="en-GB" sz="1600" b="1" dirty="0" err="1"/>
              <a:t>ierarhii</a:t>
            </a:r>
            <a:r>
              <a:rPr lang="en-GB" sz="1600" b="1" dirty="0"/>
              <a:t> de </a:t>
            </a:r>
            <a:r>
              <a:rPr lang="en-GB" sz="1600" b="1" dirty="0" err="1"/>
              <a:t>grupuri</a:t>
            </a:r>
            <a:r>
              <a:rPr lang="en-GB" sz="1600" dirty="0"/>
              <a:t> (de </a:t>
            </a:r>
            <a:r>
              <a:rPr lang="en-GB" sz="1600" dirty="0" err="1"/>
              <a:t>exemplu</a:t>
            </a:r>
            <a:r>
              <a:rPr lang="en-GB" sz="1600" dirty="0"/>
              <a:t>, un </a:t>
            </a:r>
            <a:r>
              <a:rPr lang="en-GB" sz="1600" dirty="0" err="1"/>
              <a:t>grup</a:t>
            </a:r>
            <a:r>
              <a:rPr lang="en-GB" sz="1600" dirty="0"/>
              <a:t> principal care </a:t>
            </a:r>
            <a:r>
              <a:rPr lang="en-GB" sz="1600" dirty="0" err="1"/>
              <a:t>conține</a:t>
            </a:r>
            <a:r>
              <a:rPr lang="en-GB" sz="1600" dirty="0"/>
              <a:t> </a:t>
            </a:r>
            <a:r>
              <a:rPr lang="en-GB" sz="1600" dirty="0" err="1"/>
              <a:t>alte</a:t>
            </a:r>
            <a:r>
              <a:rPr lang="en-GB" sz="1600" dirty="0"/>
              <a:t> </a:t>
            </a:r>
            <a:r>
              <a:rPr lang="en-GB" sz="1600" dirty="0" err="1"/>
              <a:t>subgrupuri</a:t>
            </a:r>
            <a:r>
              <a:rPr lang="en-GB" sz="1600" dirty="0"/>
              <a:t>).</a:t>
            </a:r>
          </a:p>
        </p:txBody>
      </p:sp>
    </p:spTree>
    <p:extLst>
      <p:ext uri="{BB962C8B-B14F-4D97-AF65-F5344CB8AC3E}">
        <p14:creationId xmlns:p14="http://schemas.microsoft.com/office/powerpoint/2010/main" val="35385685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Exemplu</a:t>
            </a:r>
            <a:r>
              <a:rPr lang="en-US" dirty="0"/>
              <a:t> de program</a:t>
            </a:r>
            <a:endParaRPr lang="ro-RO" dirty="0"/>
          </a:p>
        </p:txBody>
      </p:sp>
      <p:sp>
        <p:nvSpPr>
          <p:cNvPr id="3" name="Content Placeholder 2"/>
          <p:cNvSpPr>
            <a:spLocks noGrp="1"/>
          </p:cNvSpPr>
          <p:nvPr>
            <p:ph idx="1"/>
          </p:nvPr>
        </p:nvSpPr>
        <p:spPr>
          <a:xfrm>
            <a:off x="800718" y="1737360"/>
            <a:ext cx="10058400" cy="4023360"/>
          </a:xfrm>
        </p:spPr>
        <p:txBody>
          <a:bodyPr>
            <a:noAutofit/>
          </a:bodyPr>
          <a:lstStyle/>
          <a:p>
            <a:pPr>
              <a:lnSpc>
                <a:spcPct val="100000"/>
              </a:lnSpc>
              <a:spcBef>
                <a:spcPts val="0"/>
              </a:spcBef>
              <a:spcAft>
                <a:spcPts val="0"/>
              </a:spcAft>
            </a:pPr>
            <a:r>
              <a:rPr lang="en-US" sz="1200" dirty="0" err="1"/>
              <a:t>Acesta</a:t>
            </a:r>
            <a:r>
              <a:rPr lang="en-US" sz="1200" dirty="0"/>
              <a:t> </a:t>
            </a:r>
            <a:r>
              <a:rPr lang="en-US" sz="1200" dirty="0" err="1"/>
              <a:t>este</a:t>
            </a:r>
            <a:r>
              <a:rPr lang="en-US" sz="1200" dirty="0"/>
              <a:t> un </a:t>
            </a:r>
            <a:r>
              <a:rPr lang="ro-RO" sz="1200" dirty="0"/>
              <a:t>exemplu simplu și interesant de program Java cu fire de execuție, care simulează o cursă între mai mulți alergători. Fiecare fir reprezintă un alergător, iar programul afișează progresul acestora până la linia de sosire.</a:t>
            </a:r>
            <a:endParaRPr lang="ro-RO" sz="1200" dirty="0">
              <a:solidFill>
                <a:srgbClr val="000000"/>
              </a:solidFill>
              <a:highlight>
                <a:srgbClr val="FFFFFF"/>
              </a:highlight>
            </a:endParaRPr>
          </a:p>
          <a:p>
            <a:pPr>
              <a:lnSpc>
                <a:spcPct val="100000"/>
              </a:lnSpc>
              <a:spcBef>
                <a:spcPts val="0"/>
              </a:spcBef>
              <a:spcAft>
                <a:spcPts val="0"/>
              </a:spcAft>
            </a:pPr>
            <a:endParaRPr lang="en-US" sz="1200" dirty="0">
              <a:solidFill>
                <a:srgbClr val="8000FF"/>
              </a:solidFill>
              <a:highlight>
                <a:srgbClr val="FFFFFF"/>
              </a:highlight>
            </a:endParaRPr>
          </a:p>
          <a:p>
            <a:pPr>
              <a:lnSpc>
                <a:spcPct val="100000"/>
              </a:lnSpc>
              <a:spcBef>
                <a:spcPts val="0"/>
              </a:spcBef>
              <a:spcAft>
                <a:spcPts val="0"/>
              </a:spcAft>
            </a:pPr>
            <a:r>
              <a:rPr lang="ro-RO" sz="1200" dirty="0">
                <a:solidFill>
                  <a:srgbClr val="8000FF"/>
                </a:solidFill>
                <a:highlight>
                  <a:srgbClr val="FFFFFF"/>
                </a:highlight>
              </a:rPr>
              <a:t>public</a:t>
            </a:r>
            <a:r>
              <a:rPr lang="ro-RO" sz="1200" dirty="0">
                <a:solidFill>
                  <a:srgbClr val="000000"/>
                </a:solidFill>
                <a:highlight>
                  <a:srgbClr val="FFFFFF"/>
                </a:highlight>
              </a:rPr>
              <a:t> </a:t>
            </a:r>
            <a:r>
              <a:rPr lang="ro-RO" sz="1200" dirty="0" err="1">
                <a:solidFill>
                  <a:srgbClr val="8000FF"/>
                </a:solidFill>
                <a:highlight>
                  <a:srgbClr val="FFFFFF"/>
                </a:highlight>
              </a:rPr>
              <a:t>class</a:t>
            </a:r>
            <a:r>
              <a:rPr lang="ro-RO" sz="1200" dirty="0">
                <a:solidFill>
                  <a:srgbClr val="000000"/>
                </a:solidFill>
                <a:highlight>
                  <a:srgbClr val="FFFFFF"/>
                </a:highlight>
              </a:rPr>
              <a:t> </a:t>
            </a:r>
            <a:r>
              <a:rPr lang="ro-RO" sz="1200" dirty="0" err="1">
                <a:solidFill>
                  <a:srgbClr val="000000"/>
                </a:solidFill>
                <a:highlight>
                  <a:srgbClr val="FFFFFF"/>
                </a:highlight>
              </a:rPr>
              <a:t>SimulareCursa</a:t>
            </a:r>
            <a:r>
              <a:rPr lang="ro-RO" sz="1200" dirty="0">
                <a:solidFill>
                  <a:srgbClr val="000000"/>
                </a:solidFill>
                <a:highlight>
                  <a:srgbClr val="FFFFFF"/>
                </a:highlight>
              </a:rPr>
              <a:t> </a:t>
            </a:r>
            <a:r>
              <a:rPr lang="ro-RO" sz="1200" b="1" dirty="0">
                <a:solidFill>
                  <a:srgbClr val="000080"/>
                </a:solidFill>
                <a:highlight>
                  <a:srgbClr val="FFFFFF"/>
                </a:highlight>
              </a:rPr>
              <a:t>{</a:t>
            </a:r>
            <a:endParaRPr lang="ro-RO" sz="1200" dirty="0">
              <a:solidFill>
                <a:srgbClr val="000000"/>
              </a:solidFill>
              <a:highlight>
                <a:srgbClr val="FFFFFF"/>
              </a:highlight>
            </a:endParaRPr>
          </a:p>
          <a:p>
            <a:pPr>
              <a:lnSpc>
                <a:spcPct val="100000"/>
              </a:lnSpc>
              <a:spcBef>
                <a:spcPts val="0"/>
              </a:spcBef>
              <a:spcAft>
                <a:spcPts val="0"/>
              </a:spcAft>
            </a:pPr>
            <a:endParaRPr lang="ro-RO" sz="1200" dirty="0">
              <a:solidFill>
                <a:srgbClr val="000000"/>
              </a:solidFill>
              <a:highlight>
                <a:srgbClr val="FFFFFF"/>
              </a:highlight>
            </a:endParaRPr>
          </a:p>
          <a:p>
            <a:pPr>
              <a:lnSpc>
                <a:spcPct val="100000"/>
              </a:lnSpc>
              <a:spcBef>
                <a:spcPts val="0"/>
              </a:spcBef>
              <a:spcAft>
                <a:spcPts val="0"/>
              </a:spcAft>
            </a:pPr>
            <a:r>
              <a:rPr lang="en-US" sz="1200" dirty="0">
                <a:solidFill>
                  <a:srgbClr val="000000"/>
                </a:solidFill>
                <a:highlight>
                  <a:srgbClr val="FFFFFF"/>
                </a:highlight>
              </a:rPr>
              <a:t>    </a:t>
            </a:r>
            <a:r>
              <a:rPr lang="en-US" sz="1200" dirty="0">
                <a:solidFill>
                  <a:srgbClr val="8000FF"/>
                </a:solidFill>
                <a:highlight>
                  <a:srgbClr val="FFFFFF"/>
                </a:highlight>
              </a:rPr>
              <a:t>public</a:t>
            </a:r>
            <a:r>
              <a:rPr lang="en-US" sz="1200" dirty="0">
                <a:solidFill>
                  <a:srgbClr val="000000"/>
                </a:solidFill>
                <a:highlight>
                  <a:srgbClr val="FFFFFF"/>
                </a:highlight>
              </a:rPr>
              <a:t> </a:t>
            </a:r>
            <a:r>
              <a:rPr lang="en-US" sz="1200" dirty="0">
                <a:solidFill>
                  <a:srgbClr val="8000FF"/>
                </a:solidFill>
                <a:highlight>
                  <a:srgbClr val="FFFFFF"/>
                </a:highlight>
              </a:rPr>
              <a:t>static</a:t>
            </a:r>
            <a:r>
              <a:rPr lang="en-US" sz="1200" dirty="0">
                <a:solidFill>
                  <a:srgbClr val="000000"/>
                </a:solidFill>
                <a:highlight>
                  <a:srgbClr val="FFFFFF"/>
                </a:highlight>
              </a:rPr>
              <a:t> </a:t>
            </a:r>
            <a:r>
              <a:rPr lang="en-US" sz="1200" dirty="0">
                <a:solidFill>
                  <a:srgbClr val="8000FF"/>
                </a:solidFill>
                <a:highlight>
                  <a:srgbClr val="FFFFFF"/>
                </a:highlight>
              </a:rPr>
              <a:t>void</a:t>
            </a:r>
            <a:r>
              <a:rPr lang="en-US" sz="1200" dirty="0">
                <a:solidFill>
                  <a:srgbClr val="000000"/>
                </a:solidFill>
                <a:highlight>
                  <a:srgbClr val="FFFFFF"/>
                </a:highlight>
              </a:rPr>
              <a:t> main</a:t>
            </a:r>
            <a:r>
              <a:rPr lang="en-US" sz="1200" b="1" dirty="0">
                <a:solidFill>
                  <a:srgbClr val="000080"/>
                </a:solidFill>
                <a:highlight>
                  <a:srgbClr val="FFFFFF"/>
                </a:highlight>
              </a:rPr>
              <a:t>(</a:t>
            </a:r>
            <a:r>
              <a:rPr lang="en-US" sz="1200" dirty="0">
                <a:solidFill>
                  <a:srgbClr val="000000"/>
                </a:solidFill>
                <a:highlight>
                  <a:srgbClr val="FFFFFF"/>
                </a:highlight>
              </a:rPr>
              <a:t>String</a:t>
            </a:r>
            <a:r>
              <a:rPr lang="en-US" sz="1200" b="1" dirty="0">
                <a:solidFill>
                  <a:srgbClr val="000080"/>
                </a:solidFill>
                <a:highlight>
                  <a:srgbClr val="FFFFFF"/>
                </a:highlight>
              </a:rPr>
              <a:t>[]</a:t>
            </a:r>
            <a:r>
              <a:rPr lang="en-US" sz="1200" dirty="0">
                <a:solidFill>
                  <a:srgbClr val="000000"/>
                </a:solidFill>
                <a:highlight>
                  <a:srgbClr val="FFFFFF"/>
                </a:highlight>
              </a:rPr>
              <a:t> </a:t>
            </a:r>
            <a:r>
              <a:rPr lang="en-US" sz="1200" dirty="0" err="1">
                <a:solidFill>
                  <a:srgbClr val="000000"/>
                </a:solidFill>
                <a:highlight>
                  <a:srgbClr val="FFFFFF"/>
                </a:highlight>
              </a:rPr>
              <a:t>args</a:t>
            </a:r>
            <a:r>
              <a:rPr lang="en-US" sz="1200" b="1" dirty="0">
                <a:solidFill>
                  <a:srgbClr val="000080"/>
                </a:solidFill>
                <a:highlight>
                  <a:srgbClr val="FFFFFF"/>
                </a:highlight>
              </a:rPr>
              <a:t>)</a:t>
            </a:r>
            <a:r>
              <a:rPr lang="en-US" sz="1200" dirty="0">
                <a:solidFill>
                  <a:srgbClr val="000000"/>
                </a:solidFill>
                <a:highlight>
                  <a:srgbClr val="FFFFFF"/>
                </a:highlight>
              </a:rPr>
              <a:t> </a:t>
            </a:r>
            <a:r>
              <a:rPr lang="en-US" sz="1200" b="1" dirty="0">
                <a:solidFill>
                  <a:srgbClr val="000080"/>
                </a:solidFill>
                <a:highlight>
                  <a:srgbClr val="FFFFFF"/>
                </a:highlight>
              </a:rPr>
              <a:t>{</a:t>
            </a:r>
            <a:endParaRPr lang="en-US" sz="1200" dirty="0">
              <a:solidFill>
                <a:srgbClr val="000000"/>
              </a:solidFill>
              <a:highlight>
                <a:srgbClr val="FFFFFF"/>
              </a:highlight>
            </a:endParaRPr>
          </a:p>
          <a:p>
            <a:pPr>
              <a:lnSpc>
                <a:spcPct val="100000"/>
              </a:lnSpc>
              <a:spcBef>
                <a:spcPts val="0"/>
              </a:spcBef>
              <a:spcAft>
                <a:spcPts val="0"/>
              </a:spcAft>
            </a:pPr>
            <a:r>
              <a:rPr lang="ro-RO" sz="1200" dirty="0">
                <a:solidFill>
                  <a:srgbClr val="000000"/>
                </a:solidFill>
                <a:highlight>
                  <a:srgbClr val="FFFFFF"/>
                </a:highlight>
              </a:rPr>
              <a:t>        </a:t>
            </a:r>
            <a:r>
              <a:rPr lang="ro-RO" sz="1200" dirty="0" err="1">
                <a:solidFill>
                  <a:srgbClr val="000000"/>
                </a:solidFill>
                <a:highlight>
                  <a:srgbClr val="FFFFFF"/>
                </a:highlight>
              </a:rPr>
              <a:t>Alergator</a:t>
            </a:r>
            <a:r>
              <a:rPr lang="ro-RO" sz="1200" dirty="0">
                <a:solidFill>
                  <a:srgbClr val="000000"/>
                </a:solidFill>
                <a:highlight>
                  <a:srgbClr val="FFFFFF"/>
                </a:highlight>
              </a:rPr>
              <a:t> alergator1 </a:t>
            </a:r>
            <a:r>
              <a:rPr lang="ro-RO" sz="1200" b="1" dirty="0">
                <a:solidFill>
                  <a:srgbClr val="000080"/>
                </a:solidFill>
                <a:highlight>
                  <a:srgbClr val="FFFFFF"/>
                </a:highlight>
              </a:rPr>
              <a:t>=</a:t>
            </a:r>
            <a:r>
              <a:rPr lang="ro-RO" sz="1200" dirty="0">
                <a:solidFill>
                  <a:srgbClr val="000000"/>
                </a:solidFill>
                <a:highlight>
                  <a:srgbClr val="FFFFFF"/>
                </a:highlight>
              </a:rPr>
              <a:t> </a:t>
            </a:r>
            <a:r>
              <a:rPr lang="ro-RO" sz="1200" b="1" dirty="0" err="1">
                <a:solidFill>
                  <a:srgbClr val="0000FF"/>
                </a:solidFill>
                <a:highlight>
                  <a:srgbClr val="FFFFFF"/>
                </a:highlight>
              </a:rPr>
              <a:t>new</a:t>
            </a:r>
            <a:r>
              <a:rPr lang="ro-RO" sz="1200" dirty="0">
                <a:solidFill>
                  <a:srgbClr val="000000"/>
                </a:solidFill>
                <a:highlight>
                  <a:srgbClr val="FFFFFF"/>
                </a:highlight>
              </a:rPr>
              <a:t> </a:t>
            </a:r>
            <a:r>
              <a:rPr lang="ro-RO" sz="1200" dirty="0" err="1">
                <a:solidFill>
                  <a:srgbClr val="000000"/>
                </a:solidFill>
                <a:highlight>
                  <a:srgbClr val="FFFFFF"/>
                </a:highlight>
              </a:rPr>
              <a:t>Alergator</a:t>
            </a:r>
            <a:r>
              <a:rPr lang="ro-RO" sz="1200" b="1" dirty="0">
                <a:solidFill>
                  <a:srgbClr val="000080"/>
                </a:solidFill>
                <a:highlight>
                  <a:srgbClr val="FFFFFF"/>
                </a:highlight>
              </a:rPr>
              <a:t>(</a:t>
            </a:r>
            <a:r>
              <a:rPr lang="ro-RO" sz="1200" dirty="0">
                <a:solidFill>
                  <a:srgbClr val="808080"/>
                </a:solidFill>
                <a:highlight>
                  <a:srgbClr val="FFFFFF"/>
                </a:highlight>
              </a:rPr>
              <a:t>"Alergător 1"</a:t>
            </a:r>
            <a:r>
              <a:rPr lang="ro-RO" sz="1200" b="1" dirty="0">
                <a:solidFill>
                  <a:srgbClr val="000080"/>
                </a:solidFill>
                <a:highlight>
                  <a:srgbClr val="FFFFFF"/>
                </a:highlight>
              </a:rPr>
              <a:t>);</a:t>
            </a:r>
            <a:endParaRPr lang="ro-RO" sz="1200" dirty="0">
              <a:solidFill>
                <a:srgbClr val="000000"/>
              </a:solidFill>
              <a:highlight>
                <a:srgbClr val="FFFFFF"/>
              </a:highlight>
            </a:endParaRPr>
          </a:p>
          <a:p>
            <a:pPr>
              <a:lnSpc>
                <a:spcPct val="100000"/>
              </a:lnSpc>
              <a:spcBef>
                <a:spcPts val="0"/>
              </a:spcBef>
              <a:spcAft>
                <a:spcPts val="0"/>
              </a:spcAft>
            </a:pPr>
            <a:r>
              <a:rPr lang="ro-RO" sz="1200" dirty="0">
                <a:solidFill>
                  <a:srgbClr val="000000"/>
                </a:solidFill>
                <a:highlight>
                  <a:srgbClr val="FFFFFF"/>
                </a:highlight>
              </a:rPr>
              <a:t>        </a:t>
            </a:r>
            <a:r>
              <a:rPr lang="ro-RO" sz="1200" dirty="0" err="1">
                <a:solidFill>
                  <a:srgbClr val="000000"/>
                </a:solidFill>
                <a:highlight>
                  <a:srgbClr val="FFFFFF"/>
                </a:highlight>
              </a:rPr>
              <a:t>Alergator</a:t>
            </a:r>
            <a:r>
              <a:rPr lang="ro-RO" sz="1200" dirty="0">
                <a:solidFill>
                  <a:srgbClr val="000000"/>
                </a:solidFill>
                <a:highlight>
                  <a:srgbClr val="FFFFFF"/>
                </a:highlight>
              </a:rPr>
              <a:t> alergator2 </a:t>
            </a:r>
            <a:r>
              <a:rPr lang="ro-RO" sz="1200" b="1" dirty="0">
                <a:solidFill>
                  <a:srgbClr val="000080"/>
                </a:solidFill>
                <a:highlight>
                  <a:srgbClr val="FFFFFF"/>
                </a:highlight>
              </a:rPr>
              <a:t>=</a:t>
            </a:r>
            <a:r>
              <a:rPr lang="ro-RO" sz="1200" dirty="0">
                <a:solidFill>
                  <a:srgbClr val="000000"/>
                </a:solidFill>
                <a:highlight>
                  <a:srgbClr val="FFFFFF"/>
                </a:highlight>
              </a:rPr>
              <a:t> </a:t>
            </a:r>
            <a:r>
              <a:rPr lang="ro-RO" sz="1200" b="1" dirty="0" err="1">
                <a:solidFill>
                  <a:srgbClr val="0000FF"/>
                </a:solidFill>
                <a:highlight>
                  <a:srgbClr val="FFFFFF"/>
                </a:highlight>
              </a:rPr>
              <a:t>new</a:t>
            </a:r>
            <a:r>
              <a:rPr lang="ro-RO" sz="1200" dirty="0">
                <a:solidFill>
                  <a:srgbClr val="000000"/>
                </a:solidFill>
                <a:highlight>
                  <a:srgbClr val="FFFFFF"/>
                </a:highlight>
              </a:rPr>
              <a:t> </a:t>
            </a:r>
            <a:r>
              <a:rPr lang="ro-RO" sz="1200" dirty="0" err="1">
                <a:solidFill>
                  <a:srgbClr val="000000"/>
                </a:solidFill>
                <a:highlight>
                  <a:srgbClr val="FFFFFF"/>
                </a:highlight>
              </a:rPr>
              <a:t>Alergator</a:t>
            </a:r>
            <a:r>
              <a:rPr lang="ro-RO" sz="1200" b="1" dirty="0">
                <a:solidFill>
                  <a:srgbClr val="000080"/>
                </a:solidFill>
                <a:highlight>
                  <a:srgbClr val="FFFFFF"/>
                </a:highlight>
              </a:rPr>
              <a:t>(</a:t>
            </a:r>
            <a:r>
              <a:rPr lang="ro-RO" sz="1200" dirty="0">
                <a:solidFill>
                  <a:srgbClr val="808080"/>
                </a:solidFill>
                <a:highlight>
                  <a:srgbClr val="FFFFFF"/>
                </a:highlight>
              </a:rPr>
              <a:t>"Alergător 2"</a:t>
            </a:r>
            <a:r>
              <a:rPr lang="ro-RO" sz="1200" b="1" dirty="0">
                <a:solidFill>
                  <a:srgbClr val="000080"/>
                </a:solidFill>
                <a:highlight>
                  <a:srgbClr val="FFFFFF"/>
                </a:highlight>
              </a:rPr>
              <a:t>);</a:t>
            </a:r>
            <a:endParaRPr lang="ro-RO" sz="1200" dirty="0">
              <a:solidFill>
                <a:srgbClr val="000000"/>
              </a:solidFill>
              <a:highlight>
                <a:srgbClr val="FFFFFF"/>
              </a:highlight>
            </a:endParaRPr>
          </a:p>
          <a:p>
            <a:pPr>
              <a:lnSpc>
                <a:spcPct val="100000"/>
              </a:lnSpc>
              <a:spcBef>
                <a:spcPts val="0"/>
              </a:spcBef>
              <a:spcAft>
                <a:spcPts val="0"/>
              </a:spcAft>
            </a:pPr>
            <a:r>
              <a:rPr lang="ro-RO" sz="1200" dirty="0">
                <a:solidFill>
                  <a:srgbClr val="000000"/>
                </a:solidFill>
                <a:highlight>
                  <a:srgbClr val="FFFFFF"/>
                </a:highlight>
              </a:rPr>
              <a:t>        </a:t>
            </a:r>
            <a:r>
              <a:rPr lang="ro-RO" sz="1200" dirty="0" err="1">
                <a:solidFill>
                  <a:srgbClr val="000000"/>
                </a:solidFill>
                <a:highlight>
                  <a:srgbClr val="FFFFFF"/>
                </a:highlight>
              </a:rPr>
              <a:t>Alergator</a:t>
            </a:r>
            <a:r>
              <a:rPr lang="ro-RO" sz="1200" dirty="0">
                <a:solidFill>
                  <a:srgbClr val="000000"/>
                </a:solidFill>
                <a:highlight>
                  <a:srgbClr val="FFFFFF"/>
                </a:highlight>
              </a:rPr>
              <a:t> alergator3 </a:t>
            </a:r>
            <a:r>
              <a:rPr lang="ro-RO" sz="1200" b="1" dirty="0">
                <a:solidFill>
                  <a:srgbClr val="000080"/>
                </a:solidFill>
                <a:highlight>
                  <a:srgbClr val="FFFFFF"/>
                </a:highlight>
              </a:rPr>
              <a:t>=</a:t>
            </a:r>
            <a:r>
              <a:rPr lang="ro-RO" sz="1200" dirty="0">
                <a:solidFill>
                  <a:srgbClr val="000000"/>
                </a:solidFill>
                <a:highlight>
                  <a:srgbClr val="FFFFFF"/>
                </a:highlight>
              </a:rPr>
              <a:t> </a:t>
            </a:r>
            <a:r>
              <a:rPr lang="ro-RO" sz="1200" b="1" dirty="0" err="1">
                <a:solidFill>
                  <a:srgbClr val="0000FF"/>
                </a:solidFill>
                <a:highlight>
                  <a:srgbClr val="FFFFFF"/>
                </a:highlight>
              </a:rPr>
              <a:t>new</a:t>
            </a:r>
            <a:r>
              <a:rPr lang="ro-RO" sz="1200" dirty="0">
                <a:solidFill>
                  <a:srgbClr val="000000"/>
                </a:solidFill>
                <a:highlight>
                  <a:srgbClr val="FFFFFF"/>
                </a:highlight>
              </a:rPr>
              <a:t> </a:t>
            </a:r>
            <a:r>
              <a:rPr lang="ro-RO" sz="1200" dirty="0" err="1">
                <a:solidFill>
                  <a:srgbClr val="000000"/>
                </a:solidFill>
                <a:highlight>
                  <a:srgbClr val="FFFFFF"/>
                </a:highlight>
              </a:rPr>
              <a:t>Alergator</a:t>
            </a:r>
            <a:r>
              <a:rPr lang="ro-RO" sz="1200" b="1" dirty="0">
                <a:solidFill>
                  <a:srgbClr val="000080"/>
                </a:solidFill>
                <a:highlight>
                  <a:srgbClr val="FFFFFF"/>
                </a:highlight>
              </a:rPr>
              <a:t>(</a:t>
            </a:r>
            <a:r>
              <a:rPr lang="ro-RO" sz="1200" dirty="0">
                <a:solidFill>
                  <a:srgbClr val="808080"/>
                </a:solidFill>
                <a:highlight>
                  <a:srgbClr val="FFFFFF"/>
                </a:highlight>
              </a:rPr>
              <a:t>"Alergător 3"</a:t>
            </a:r>
            <a:r>
              <a:rPr lang="ro-RO" sz="1200" b="1" dirty="0">
                <a:solidFill>
                  <a:srgbClr val="000080"/>
                </a:solidFill>
                <a:highlight>
                  <a:srgbClr val="FFFFFF"/>
                </a:highlight>
              </a:rPr>
              <a:t>);</a:t>
            </a:r>
            <a:endParaRPr lang="ro-RO" sz="1200" dirty="0">
              <a:solidFill>
                <a:srgbClr val="000000"/>
              </a:solidFill>
              <a:highlight>
                <a:srgbClr val="FFFFFF"/>
              </a:highlight>
            </a:endParaRPr>
          </a:p>
          <a:p>
            <a:pPr>
              <a:lnSpc>
                <a:spcPct val="100000"/>
              </a:lnSpc>
              <a:spcBef>
                <a:spcPts val="0"/>
              </a:spcBef>
              <a:spcAft>
                <a:spcPts val="0"/>
              </a:spcAft>
            </a:pPr>
            <a:r>
              <a:rPr lang="ro-RO" sz="1200" dirty="0">
                <a:solidFill>
                  <a:srgbClr val="000000"/>
                </a:solidFill>
                <a:highlight>
                  <a:srgbClr val="FFFFFF"/>
                </a:highlight>
              </a:rPr>
              <a:t>        </a:t>
            </a:r>
            <a:r>
              <a:rPr lang="ro-RO" sz="1200" dirty="0" err="1">
                <a:solidFill>
                  <a:srgbClr val="000000"/>
                </a:solidFill>
                <a:highlight>
                  <a:srgbClr val="FFFFFF"/>
                </a:highlight>
              </a:rPr>
              <a:t>Thread</a:t>
            </a:r>
            <a:r>
              <a:rPr lang="ro-RO" sz="1200" dirty="0">
                <a:solidFill>
                  <a:srgbClr val="000000"/>
                </a:solidFill>
                <a:highlight>
                  <a:srgbClr val="FFFFFF"/>
                </a:highlight>
              </a:rPr>
              <a:t> fir1 </a:t>
            </a:r>
            <a:r>
              <a:rPr lang="ro-RO" sz="1200" b="1" dirty="0">
                <a:solidFill>
                  <a:srgbClr val="000080"/>
                </a:solidFill>
                <a:highlight>
                  <a:srgbClr val="FFFFFF"/>
                </a:highlight>
              </a:rPr>
              <a:t>=</a:t>
            </a:r>
            <a:r>
              <a:rPr lang="ro-RO" sz="1200" dirty="0">
                <a:solidFill>
                  <a:srgbClr val="000000"/>
                </a:solidFill>
                <a:highlight>
                  <a:srgbClr val="FFFFFF"/>
                </a:highlight>
              </a:rPr>
              <a:t> </a:t>
            </a:r>
            <a:r>
              <a:rPr lang="ro-RO" sz="1200" b="1" dirty="0" err="1">
                <a:solidFill>
                  <a:srgbClr val="0000FF"/>
                </a:solidFill>
                <a:highlight>
                  <a:srgbClr val="FFFFFF"/>
                </a:highlight>
              </a:rPr>
              <a:t>new</a:t>
            </a:r>
            <a:r>
              <a:rPr lang="ro-RO" sz="1200" dirty="0">
                <a:solidFill>
                  <a:srgbClr val="000000"/>
                </a:solidFill>
                <a:highlight>
                  <a:srgbClr val="FFFFFF"/>
                </a:highlight>
              </a:rPr>
              <a:t> </a:t>
            </a:r>
            <a:r>
              <a:rPr lang="ro-RO" sz="1200" dirty="0" err="1">
                <a:solidFill>
                  <a:srgbClr val="000000"/>
                </a:solidFill>
                <a:highlight>
                  <a:srgbClr val="FFFFFF"/>
                </a:highlight>
              </a:rPr>
              <a:t>Thread</a:t>
            </a:r>
            <a:r>
              <a:rPr lang="ro-RO" sz="1200" b="1" dirty="0">
                <a:solidFill>
                  <a:srgbClr val="000080"/>
                </a:solidFill>
                <a:highlight>
                  <a:srgbClr val="FFFFFF"/>
                </a:highlight>
              </a:rPr>
              <a:t>(</a:t>
            </a:r>
            <a:r>
              <a:rPr lang="ro-RO" sz="1200" dirty="0">
                <a:solidFill>
                  <a:srgbClr val="000000"/>
                </a:solidFill>
                <a:highlight>
                  <a:srgbClr val="FFFFFF"/>
                </a:highlight>
              </a:rPr>
              <a:t>alergator1</a:t>
            </a:r>
            <a:r>
              <a:rPr lang="ro-RO" sz="1200" b="1" dirty="0">
                <a:solidFill>
                  <a:srgbClr val="000080"/>
                </a:solidFill>
                <a:highlight>
                  <a:srgbClr val="FFFFFF"/>
                </a:highlight>
              </a:rPr>
              <a:t>);</a:t>
            </a:r>
            <a:endParaRPr lang="ro-RO" sz="1200" dirty="0">
              <a:solidFill>
                <a:srgbClr val="000000"/>
              </a:solidFill>
              <a:highlight>
                <a:srgbClr val="FFFFFF"/>
              </a:highlight>
            </a:endParaRPr>
          </a:p>
          <a:p>
            <a:pPr>
              <a:lnSpc>
                <a:spcPct val="100000"/>
              </a:lnSpc>
              <a:spcBef>
                <a:spcPts val="0"/>
              </a:spcBef>
              <a:spcAft>
                <a:spcPts val="0"/>
              </a:spcAft>
            </a:pPr>
            <a:r>
              <a:rPr lang="ro-RO" sz="1200" dirty="0">
                <a:solidFill>
                  <a:srgbClr val="000000"/>
                </a:solidFill>
                <a:highlight>
                  <a:srgbClr val="FFFFFF"/>
                </a:highlight>
              </a:rPr>
              <a:t>        </a:t>
            </a:r>
            <a:r>
              <a:rPr lang="ro-RO" sz="1200" dirty="0" err="1">
                <a:solidFill>
                  <a:srgbClr val="000000"/>
                </a:solidFill>
                <a:highlight>
                  <a:srgbClr val="FFFFFF"/>
                </a:highlight>
              </a:rPr>
              <a:t>Thread</a:t>
            </a:r>
            <a:r>
              <a:rPr lang="ro-RO" sz="1200" dirty="0">
                <a:solidFill>
                  <a:srgbClr val="000000"/>
                </a:solidFill>
                <a:highlight>
                  <a:srgbClr val="FFFFFF"/>
                </a:highlight>
              </a:rPr>
              <a:t> fir2 </a:t>
            </a:r>
            <a:r>
              <a:rPr lang="ro-RO" sz="1200" b="1" dirty="0">
                <a:solidFill>
                  <a:srgbClr val="000080"/>
                </a:solidFill>
                <a:highlight>
                  <a:srgbClr val="FFFFFF"/>
                </a:highlight>
              </a:rPr>
              <a:t>=</a:t>
            </a:r>
            <a:r>
              <a:rPr lang="ro-RO" sz="1200" dirty="0">
                <a:solidFill>
                  <a:srgbClr val="000000"/>
                </a:solidFill>
                <a:highlight>
                  <a:srgbClr val="FFFFFF"/>
                </a:highlight>
              </a:rPr>
              <a:t> </a:t>
            </a:r>
            <a:r>
              <a:rPr lang="ro-RO" sz="1200" b="1" dirty="0" err="1">
                <a:solidFill>
                  <a:srgbClr val="0000FF"/>
                </a:solidFill>
                <a:highlight>
                  <a:srgbClr val="FFFFFF"/>
                </a:highlight>
              </a:rPr>
              <a:t>new</a:t>
            </a:r>
            <a:r>
              <a:rPr lang="ro-RO" sz="1200" dirty="0">
                <a:solidFill>
                  <a:srgbClr val="000000"/>
                </a:solidFill>
                <a:highlight>
                  <a:srgbClr val="FFFFFF"/>
                </a:highlight>
              </a:rPr>
              <a:t> </a:t>
            </a:r>
            <a:r>
              <a:rPr lang="ro-RO" sz="1200" dirty="0" err="1">
                <a:solidFill>
                  <a:srgbClr val="000000"/>
                </a:solidFill>
                <a:highlight>
                  <a:srgbClr val="FFFFFF"/>
                </a:highlight>
              </a:rPr>
              <a:t>Thread</a:t>
            </a:r>
            <a:r>
              <a:rPr lang="ro-RO" sz="1200" b="1" dirty="0">
                <a:solidFill>
                  <a:srgbClr val="000080"/>
                </a:solidFill>
                <a:highlight>
                  <a:srgbClr val="FFFFFF"/>
                </a:highlight>
              </a:rPr>
              <a:t>(</a:t>
            </a:r>
            <a:r>
              <a:rPr lang="ro-RO" sz="1200" dirty="0">
                <a:solidFill>
                  <a:srgbClr val="000000"/>
                </a:solidFill>
                <a:highlight>
                  <a:srgbClr val="FFFFFF"/>
                </a:highlight>
              </a:rPr>
              <a:t>alergator2</a:t>
            </a:r>
            <a:r>
              <a:rPr lang="ro-RO" sz="1200" b="1" dirty="0">
                <a:solidFill>
                  <a:srgbClr val="000080"/>
                </a:solidFill>
                <a:highlight>
                  <a:srgbClr val="FFFFFF"/>
                </a:highlight>
              </a:rPr>
              <a:t>);</a:t>
            </a:r>
            <a:endParaRPr lang="ro-RO" sz="1200" dirty="0">
              <a:solidFill>
                <a:srgbClr val="000000"/>
              </a:solidFill>
              <a:highlight>
                <a:srgbClr val="FFFFFF"/>
              </a:highlight>
            </a:endParaRPr>
          </a:p>
          <a:p>
            <a:pPr>
              <a:lnSpc>
                <a:spcPct val="100000"/>
              </a:lnSpc>
              <a:spcBef>
                <a:spcPts val="0"/>
              </a:spcBef>
              <a:spcAft>
                <a:spcPts val="0"/>
              </a:spcAft>
            </a:pPr>
            <a:r>
              <a:rPr lang="ro-RO" sz="1200" dirty="0">
                <a:solidFill>
                  <a:srgbClr val="000000"/>
                </a:solidFill>
                <a:highlight>
                  <a:srgbClr val="FFFFFF"/>
                </a:highlight>
              </a:rPr>
              <a:t>        </a:t>
            </a:r>
            <a:r>
              <a:rPr lang="ro-RO" sz="1200" dirty="0" err="1">
                <a:solidFill>
                  <a:srgbClr val="000000"/>
                </a:solidFill>
                <a:highlight>
                  <a:srgbClr val="FFFFFF"/>
                </a:highlight>
              </a:rPr>
              <a:t>Thread</a:t>
            </a:r>
            <a:r>
              <a:rPr lang="ro-RO" sz="1200" dirty="0">
                <a:solidFill>
                  <a:srgbClr val="000000"/>
                </a:solidFill>
                <a:highlight>
                  <a:srgbClr val="FFFFFF"/>
                </a:highlight>
              </a:rPr>
              <a:t> fir3 </a:t>
            </a:r>
            <a:r>
              <a:rPr lang="ro-RO" sz="1200" b="1" dirty="0">
                <a:solidFill>
                  <a:srgbClr val="000080"/>
                </a:solidFill>
                <a:highlight>
                  <a:srgbClr val="FFFFFF"/>
                </a:highlight>
              </a:rPr>
              <a:t>=</a:t>
            </a:r>
            <a:r>
              <a:rPr lang="ro-RO" sz="1200" dirty="0">
                <a:solidFill>
                  <a:srgbClr val="000000"/>
                </a:solidFill>
                <a:highlight>
                  <a:srgbClr val="FFFFFF"/>
                </a:highlight>
              </a:rPr>
              <a:t> </a:t>
            </a:r>
            <a:r>
              <a:rPr lang="ro-RO" sz="1200" b="1" dirty="0" err="1">
                <a:solidFill>
                  <a:srgbClr val="0000FF"/>
                </a:solidFill>
                <a:highlight>
                  <a:srgbClr val="FFFFFF"/>
                </a:highlight>
              </a:rPr>
              <a:t>new</a:t>
            </a:r>
            <a:r>
              <a:rPr lang="ro-RO" sz="1200" dirty="0">
                <a:solidFill>
                  <a:srgbClr val="000000"/>
                </a:solidFill>
                <a:highlight>
                  <a:srgbClr val="FFFFFF"/>
                </a:highlight>
              </a:rPr>
              <a:t> </a:t>
            </a:r>
            <a:r>
              <a:rPr lang="ro-RO" sz="1200" dirty="0" err="1">
                <a:solidFill>
                  <a:srgbClr val="000000"/>
                </a:solidFill>
                <a:highlight>
                  <a:srgbClr val="FFFFFF"/>
                </a:highlight>
              </a:rPr>
              <a:t>Thread</a:t>
            </a:r>
            <a:r>
              <a:rPr lang="ro-RO" sz="1200" b="1" dirty="0">
                <a:solidFill>
                  <a:srgbClr val="000080"/>
                </a:solidFill>
                <a:highlight>
                  <a:srgbClr val="FFFFFF"/>
                </a:highlight>
              </a:rPr>
              <a:t>(</a:t>
            </a:r>
            <a:r>
              <a:rPr lang="ro-RO" sz="1200" dirty="0">
                <a:solidFill>
                  <a:srgbClr val="000000"/>
                </a:solidFill>
                <a:highlight>
                  <a:srgbClr val="FFFFFF"/>
                </a:highlight>
              </a:rPr>
              <a:t>alergator3</a:t>
            </a:r>
            <a:r>
              <a:rPr lang="ro-RO" sz="1200" b="1" dirty="0">
                <a:solidFill>
                  <a:srgbClr val="000080"/>
                </a:solidFill>
                <a:highlight>
                  <a:srgbClr val="FFFFFF"/>
                </a:highlight>
              </a:rPr>
              <a:t>);</a:t>
            </a:r>
            <a:endParaRPr lang="ro-RO" sz="1200" dirty="0">
              <a:solidFill>
                <a:srgbClr val="000000"/>
              </a:solidFill>
              <a:highlight>
                <a:srgbClr val="FFFFFF"/>
              </a:highlight>
            </a:endParaRPr>
          </a:p>
          <a:p>
            <a:pPr>
              <a:lnSpc>
                <a:spcPct val="100000"/>
              </a:lnSpc>
              <a:spcBef>
                <a:spcPts val="0"/>
              </a:spcBef>
              <a:spcAft>
                <a:spcPts val="0"/>
              </a:spcAft>
            </a:pPr>
            <a:r>
              <a:rPr lang="ro-RO" sz="1200" dirty="0">
                <a:solidFill>
                  <a:srgbClr val="000000"/>
                </a:solidFill>
                <a:highlight>
                  <a:srgbClr val="FFFFFF"/>
                </a:highlight>
              </a:rPr>
              <a:t>        </a:t>
            </a:r>
            <a:r>
              <a:rPr lang="ro-RO" sz="1200" dirty="0" err="1">
                <a:solidFill>
                  <a:srgbClr val="000000"/>
                </a:solidFill>
                <a:highlight>
                  <a:srgbClr val="FFFFFF"/>
                </a:highlight>
              </a:rPr>
              <a:t>System</a:t>
            </a:r>
            <a:r>
              <a:rPr lang="ro-RO" sz="1200" b="1" dirty="0" err="1">
                <a:solidFill>
                  <a:srgbClr val="000080"/>
                </a:solidFill>
                <a:highlight>
                  <a:srgbClr val="FFFFFF"/>
                </a:highlight>
              </a:rPr>
              <a:t>.</a:t>
            </a:r>
            <a:r>
              <a:rPr lang="ro-RO" sz="1200" dirty="0" err="1">
                <a:solidFill>
                  <a:srgbClr val="000000"/>
                </a:solidFill>
                <a:highlight>
                  <a:srgbClr val="FFFFFF"/>
                </a:highlight>
              </a:rPr>
              <a:t>out</a:t>
            </a:r>
            <a:r>
              <a:rPr lang="ro-RO" sz="1200" b="1" dirty="0" err="1">
                <a:solidFill>
                  <a:srgbClr val="000080"/>
                </a:solidFill>
                <a:highlight>
                  <a:srgbClr val="FFFFFF"/>
                </a:highlight>
              </a:rPr>
              <a:t>.</a:t>
            </a:r>
            <a:r>
              <a:rPr lang="ro-RO" sz="1200" dirty="0" err="1">
                <a:solidFill>
                  <a:srgbClr val="000000"/>
                </a:solidFill>
                <a:highlight>
                  <a:srgbClr val="FFFFFF"/>
                </a:highlight>
              </a:rPr>
              <a:t>println</a:t>
            </a:r>
            <a:r>
              <a:rPr lang="ro-RO" sz="1200" b="1" dirty="0">
                <a:solidFill>
                  <a:srgbClr val="000080"/>
                </a:solidFill>
                <a:highlight>
                  <a:srgbClr val="FFFFFF"/>
                </a:highlight>
              </a:rPr>
              <a:t>(</a:t>
            </a:r>
            <a:r>
              <a:rPr lang="ro-RO" sz="1200" dirty="0">
                <a:solidFill>
                  <a:srgbClr val="808080"/>
                </a:solidFill>
                <a:highlight>
                  <a:srgbClr val="FFFFFF"/>
                </a:highlight>
              </a:rPr>
              <a:t>"Startul cursei!"</a:t>
            </a:r>
            <a:r>
              <a:rPr lang="ro-RO" sz="1200" b="1" dirty="0">
                <a:solidFill>
                  <a:srgbClr val="000080"/>
                </a:solidFill>
                <a:highlight>
                  <a:srgbClr val="FFFFFF"/>
                </a:highlight>
              </a:rPr>
              <a:t>);</a:t>
            </a:r>
            <a:endParaRPr lang="ro-RO" sz="1200" dirty="0">
              <a:solidFill>
                <a:srgbClr val="000000"/>
              </a:solidFill>
              <a:highlight>
                <a:srgbClr val="FFFFFF"/>
              </a:highlight>
            </a:endParaRPr>
          </a:p>
          <a:p>
            <a:pPr>
              <a:lnSpc>
                <a:spcPct val="100000"/>
              </a:lnSpc>
              <a:spcBef>
                <a:spcPts val="0"/>
              </a:spcBef>
              <a:spcAft>
                <a:spcPts val="0"/>
              </a:spcAft>
            </a:pPr>
            <a:r>
              <a:rPr lang="ro-RO" sz="1200" dirty="0">
                <a:solidFill>
                  <a:srgbClr val="000000"/>
                </a:solidFill>
                <a:highlight>
                  <a:srgbClr val="FFFFFF"/>
                </a:highlight>
              </a:rPr>
              <a:t>        fir1</a:t>
            </a:r>
            <a:r>
              <a:rPr lang="ro-RO" sz="1200" b="1" dirty="0">
                <a:solidFill>
                  <a:srgbClr val="000080"/>
                </a:solidFill>
                <a:highlight>
                  <a:srgbClr val="FFFFFF"/>
                </a:highlight>
              </a:rPr>
              <a:t>.</a:t>
            </a:r>
            <a:r>
              <a:rPr lang="ro-RO" sz="1200" dirty="0">
                <a:solidFill>
                  <a:srgbClr val="000000"/>
                </a:solidFill>
                <a:highlight>
                  <a:srgbClr val="FFFFFF"/>
                </a:highlight>
              </a:rPr>
              <a:t>start</a:t>
            </a:r>
            <a:r>
              <a:rPr lang="ro-RO" sz="1200" b="1" dirty="0">
                <a:solidFill>
                  <a:srgbClr val="000080"/>
                </a:solidFill>
                <a:highlight>
                  <a:srgbClr val="FFFFFF"/>
                </a:highlight>
              </a:rPr>
              <a:t>();</a:t>
            </a:r>
            <a:endParaRPr lang="ro-RO" sz="1200" dirty="0">
              <a:solidFill>
                <a:srgbClr val="000000"/>
              </a:solidFill>
              <a:highlight>
                <a:srgbClr val="FFFFFF"/>
              </a:highlight>
            </a:endParaRPr>
          </a:p>
          <a:p>
            <a:pPr>
              <a:lnSpc>
                <a:spcPct val="100000"/>
              </a:lnSpc>
              <a:spcBef>
                <a:spcPts val="0"/>
              </a:spcBef>
              <a:spcAft>
                <a:spcPts val="0"/>
              </a:spcAft>
            </a:pPr>
            <a:r>
              <a:rPr lang="ro-RO" sz="1200" dirty="0">
                <a:solidFill>
                  <a:srgbClr val="000000"/>
                </a:solidFill>
                <a:highlight>
                  <a:srgbClr val="FFFFFF"/>
                </a:highlight>
              </a:rPr>
              <a:t>        fir2</a:t>
            </a:r>
            <a:r>
              <a:rPr lang="ro-RO" sz="1200" b="1" dirty="0">
                <a:solidFill>
                  <a:srgbClr val="000080"/>
                </a:solidFill>
                <a:highlight>
                  <a:srgbClr val="FFFFFF"/>
                </a:highlight>
              </a:rPr>
              <a:t>.</a:t>
            </a:r>
            <a:r>
              <a:rPr lang="ro-RO" sz="1200" dirty="0">
                <a:solidFill>
                  <a:srgbClr val="000000"/>
                </a:solidFill>
                <a:highlight>
                  <a:srgbClr val="FFFFFF"/>
                </a:highlight>
              </a:rPr>
              <a:t>start</a:t>
            </a:r>
            <a:r>
              <a:rPr lang="ro-RO" sz="1200" b="1" dirty="0">
                <a:solidFill>
                  <a:srgbClr val="000080"/>
                </a:solidFill>
                <a:highlight>
                  <a:srgbClr val="FFFFFF"/>
                </a:highlight>
              </a:rPr>
              <a:t>();</a:t>
            </a:r>
            <a:endParaRPr lang="ro-RO" sz="1200" dirty="0">
              <a:solidFill>
                <a:srgbClr val="000000"/>
              </a:solidFill>
              <a:highlight>
                <a:srgbClr val="FFFFFF"/>
              </a:highlight>
            </a:endParaRPr>
          </a:p>
          <a:p>
            <a:pPr>
              <a:lnSpc>
                <a:spcPct val="100000"/>
              </a:lnSpc>
              <a:spcBef>
                <a:spcPts val="0"/>
              </a:spcBef>
              <a:spcAft>
                <a:spcPts val="0"/>
              </a:spcAft>
            </a:pPr>
            <a:r>
              <a:rPr lang="ro-RO" sz="1200" dirty="0">
                <a:solidFill>
                  <a:srgbClr val="000000"/>
                </a:solidFill>
                <a:highlight>
                  <a:srgbClr val="FFFFFF"/>
                </a:highlight>
              </a:rPr>
              <a:t>        fir3</a:t>
            </a:r>
            <a:r>
              <a:rPr lang="ro-RO" sz="1200" b="1" dirty="0">
                <a:solidFill>
                  <a:srgbClr val="000080"/>
                </a:solidFill>
                <a:highlight>
                  <a:srgbClr val="FFFFFF"/>
                </a:highlight>
              </a:rPr>
              <a:t>.</a:t>
            </a:r>
            <a:r>
              <a:rPr lang="ro-RO" sz="1200" dirty="0">
                <a:solidFill>
                  <a:srgbClr val="000000"/>
                </a:solidFill>
                <a:highlight>
                  <a:srgbClr val="FFFFFF"/>
                </a:highlight>
              </a:rPr>
              <a:t>start</a:t>
            </a:r>
            <a:r>
              <a:rPr lang="ro-RO" sz="1200" b="1" dirty="0">
                <a:solidFill>
                  <a:srgbClr val="000080"/>
                </a:solidFill>
                <a:highlight>
                  <a:srgbClr val="FFFFFF"/>
                </a:highlight>
              </a:rPr>
              <a:t>();</a:t>
            </a:r>
            <a:endParaRPr lang="ro-RO" sz="1200" dirty="0">
              <a:solidFill>
                <a:srgbClr val="000000"/>
              </a:solidFill>
              <a:highlight>
                <a:srgbClr val="FFFFFF"/>
              </a:highlight>
            </a:endParaRPr>
          </a:p>
          <a:p>
            <a:pPr>
              <a:lnSpc>
                <a:spcPct val="100000"/>
              </a:lnSpc>
              <a:spcBef>
                <a:spcPts val="0"/>
              </a:spcBef>
              <a:spcAft>
                <a:spcPts val="0"/>
              </a:spcAft>
            </a:pPr>
            <a:r>
              <a:rPr lang="ro-RO" sz="1200" dirty="0">
                <a:solidFill>
                  <a:srgbClr val="000000"/>
                </a:solidFill>
                <a:highlight>
                  <a:srgbClr val="FFFFFF"/>
                </a:highlight>
              </a:rPr>
              <a:t>        </a:t>
            </a:r>
            <a:r>
              <a:rPr lang="ro-RO" sz="1200" b="1" dirty="0" err="1">
                <a:solidFill>
                  <a:srgbClr val="0000FF"/>
                </a:solidFill>
                <a:highlight>
                  <a:srgbClr val="FFFFFF"/>
                </a:highlight>
              </a:rPr>
              <a:t>try</a:t>
            </a:r>
            <a:r>
              <a:rPr lang="ro-RO" sz="1200" dirty="0">
                <a:solidFill>
                  <a:srgbClr val="000000"/>
                </a:solidFill>
                <a:highlight>
                  <a:srgbClr val="FFFFFF"/>
                </a:highlight>
              </a:rPr>
              <a:t> </a:t>
            </a:r>
            <a:r>
              <a:rPr lang="ro-RO" sz="1200" b="1" dirty="0">
                <a:solidFill>
                  <a:srgbClr val="000080"/>
                </a:solidFill>
                <a:highlight>
                  <a:srgbClr val="FFFFFF"/>
                </a:highlight>
              </a:rPr>
              <a:t>{</a:t>
            </a:r>
            <a:endParaRPr lang="ro-RO" sz="1200" dirty="0">
              <a:solidFill>
                <a:srgbClr val="000000"/>
              </a:solidFill>
              <a:highlight>
                <a:srgbClr val="FFFFFF"/>
              </a:highlight>
            </a:endParaRPr>
          </a:p>
          <a:p>
            <a:pPr>
              <a:lnSpc>
                <a:spcPct val="100000"/>
              </a:lnSpc>
              <a:spcBef>
                <a:spcPts val="0"/>
              </a:spcBef>
              <a:spcAft>
                <a:spcPts val="0"/>
              </a:spcAft>
            </a:pPr>
            <a:r>
              <a:rPr lang="ro-RO" sz="1200" dirty="0">
                <a:solidFill>
                  <a:srgbClr val="000000"/>
                </a:solidFill>
                <a:highlight>
                  <a:srgbClr val="FFFFFF"/>
                </a:highlight>
              </a:rPr>
              <a:t>            fir1</a:t>
            </a:r>
            <a:r>
              <a:rPr lang="ro-RO" sz="1200" b="1" dirty="0">
                <a:solidFill>
                  <a:srgbClr val="000080"/>
                </a:solidFill>
                <a:highlight>
                  <a:srgbClr val="FFFFFF"/>
                </a:highlight>
              </a:rPr>
              <a:t>.</a:t>
            </a:r>
            <a:r>
              <a:rPr lang="ro-RO" sz="1200" dirty="0">
                <a:solidFill>
                  <a:srgbClr val="000000"/>
                </a:solidFill>
                <a:highlight>
                  <a:srgbClr val="FFFFFF"/>
                </a:highlight>
              </a:rPr>
              <a:t>join</a:t>
            </a:r>
            <a:r>
              <a:rPr lang="ro-RO" sz="1200" b="1" dirty="0">
                <a:solidFill>
                  <a:srgbClr val="000080"/>
                </a:solidFill>
                <a:highlight>
                  <a:srgbClr val="FFFFFF"/>
                </a:highlight>
              </a:rPr>
              <a:t>();</a:t>
            </a:r>
            <a:endParaRPr lang="ro-RO" sz="1200" dirty="0">
              <a:solidFill>
                <a:srgbClr val="000000"/>
              </a:solidFill>
              <a:highlight>
                <a:srgbClr val="FFFFFF"/>
              </a:highlight>
            </a:endParaRPr>
          </a:p>
          <a:p>
            <a:pPr>
              <a:lnSpc>
                <a:spcPct val="100000"/>
              </a:lnSpc>
              <a:spcBef>
                <a:spcPts val="0"/>
              </a:spcBef>
              <a:spcAft>
                <a:spcPts val="0"/>
              </a:spcAft>
            </a:pPr>
            <a:r>
              <a:rPr lang="ro-RO" sz="1200" dirty="0">
                <a:solidFill>
                  <a:srgbClr val="000000"/>
                </a:solidFill>
                <a:highlight>
                  <a:srgbClr val="FFFFFF"/>
                </a:highlight>
              </a:rPr>
              <a:t>            fir2</a:t>
            </a:r>
            <a:r>
              <a:rPr lang="ro-RO" sz="1200" b="1" dirty="0">
                <a:solidFill>
                  <a:srgbClr val="000080"/>
                </a:solidFill>
                <a:highlight>
                  <a:srgbClr val="FFFFFF"/>
                </a:highlight>
              </a:rPr>
              <a:t>.</a:t>
            </a:r>
            <a:r>
              <a:rPr lang="ro-RO" sz="1200" dirty="0">
                <a:solidFill>
                  <a:srgbClr val="000000"/>
                </a:solidFill>
                <a:highlight>
                  <a:srgbClr val="FFFFFF"/>
                </a:highlight>
              </a:rPr>
              <a:t>join</a:t>
            </a:r>
            <a:r>
              <a:rPr lang="ro-RO" sz="1200" b="1" dirty="0">
                <a:solidFill>
                  <a:srgbClr val="000080"/>
                </a:solidFill>
                <a:highlight>
                  <a:srgbClr val="FFFFFF"/>
                </a:highlight>
              </a:rPr>
              <a:t>();</a:t>
            </a:r>
            <a:endParaRPr lang="ro-RO" sz="1200" dirty="0">
              <a:solidFill>
                <a:srgbClr val="000000"/>
              </a:solidFill>
              <a:highlight>
                <a:srgbClr val="FFFFFF"/>
              </a:highlight>
            </a:endParaRPr>
          </a:p>
          <a:p>
            <a:pPr>
              <a:lnSpc>
                <a:spcPct val="100000"/>
              </a:lnSpc>
              <a:spcBef>
                <a:spcPts val="0"/>
              </a:spcBef>
              <a:spcAft>
                <a:spcPts val="0"/>
              </a:spcAft>
            </a:pPr>
            <a:r>
              <a:rPr lang="ro-RO" sz="1200" dirty="0">
                <a:solidFill>
                  <a:srgbClr val="000000"/>
                </a:solidFill>
                <a:highlight>
                  <a:srgbClr val="FFFFFF"/>
                </a:highlight>
              </a:rPr>
              <a:t>            fir3</a:t>
            </a:r>
            <a:r>
              <a:rPr lang="ro-RO" sz="1200" b="1" dirty="0">
                <a:solidFill>
                  <a:srgbClr val="000080"/>
                </a:solidFill>
                <a:highlight>
                  <a:srgbClr val="FFFFFF"/>
                </a:highlight>
              </a:rPr>
              <a:t>.</a:t>
            </a:r>
            <a:r>
              <a:rPr lang="ro-RO" sz="1200" dirty="0">
                <a:solidFill>
                  <a:srgbClr val="000000"/>
                </a:solidFill>
                <a:highlight>
                  <a:srgbClr val="FFFFFF"/>
                </a:highlight>
              </a:rPr>
              <a:t>join</a:t>
            </a:r>
            <a:r>
              <a:rPr lang="ro-RO" sz="1200" b="1" dirty="0">
                <a:solidFill>
                  <a:srgbClr val="000080"/>
                </a:solidFill>
                <a:highlight>
                  <a:srgbClr val="FFFFFF"/>
                </a:highlight>
              </a:rPr>
              <a:t>();</a:t>
            </a:r>
            <a:endParaRPr lang="ro-RO" sz="1200" dirty="0">
              <a:solidFill>
                <a:srgbClr val="000000"/>
              </a:solidFill>
              <a:highlight>
                <a:srgbClr val="FFFFFF"/>
              </a:highlight>
            </a:endParaRPr>
          </a:p>
          <a:p>
            <a:pPr>
              <a:lnSpc>
                <a:spcPct val="100000"/>
              </a:lnSpc>
              <a:spcBef>
                <a:spcPts val="0"/>
              </a:spcBef>
              <a:spcAft>
                <a:spcPts val="0"/>
              </a:spcAft>
            </a:pPr>
            <a:r>
              <a:rPr lang="ro-RO" sz="1200" dirty="0">
                <a:solidFill>
                  <a:srgbClr val="000000"/>
                </a:solidFill>
                <a:highlight>
                  <a:srgbClr val="FFFFFF"/>
                </a:highlight>
              </a:rPr>
              <a:t>        </a:t>
            </a:r>
            <a:r>
              <a:rPr lang="ro-RO" sz="1200" b="1" dirty="0">
                <a:solidFill>
                  <a:srgbClr val="000080"/>
                </a:solidFill>
                <a:highlight>
                  <a:srgbClr val="FFFFFF"/>
                </a:highlight>
              </a:rPr>
              <a:t>}</a:t>
            </a:r>
            <a:r>
              <a:rPr lang="ro-RO" sz="1200" dirty="0">
                <a:solidFill>
                  <a:srgbClr val="000000"/>
                </a:solidFill>
                <a:highlight>
                  <a:srgbClr val="FFFFFF"/>
                </a:highlight>
              </a:rPr>
              <a:t> </a:t>
            </a:r>
            <a:r>
              <a:rPr lang="ro-RO" sz="1200" b="1" dirty="0">
                <a:solidFill>
                  <a:srgbClr val="0000FF"/>
                </a:solidFill>
                <a:highlight>
                  <a:srgbClr val="FFFFFF"/>
                </a:highlight>
              </a:rPr>
              <a:t>catch</a:t>
            </a:r>
            <a:r>
              <a:rPr lang="ro-RO" sz="1200" dirty="0">
                <a:solidFill>
                  <a:srgbClr val="000000"/>
                </a:solidFill>
                <a:highlight>
                  <a:srgbClr val="FFFFFF"/>
                </a:highlight>
              </a:rPr>
              <a:t> </a:t>
            </a:r>
            <a:r>
              <a:rPr lang="ro-RO" sz="1200" b="1" dirty="0">
                <a:solidFill>
                  <a:srgbClr val="000080"/>
                </a:solidFill>
                <a:highlight>
                  <a:srgbClr val="FFFFFF"/>
                </a:highlight>
              </a:rPr>
              <a:t>(</a:t>
            </a:r>
            <a:r>
              <a:rPr lang="ro-RO" sz="1200" dirty="0" err="1">
                <a:solidFill>
                  <a:srgbClr val="000000"/>
                </a:solidFill>
                <a:highlight>
                  <a:srgbClr val="FFFFFF"/>
                </a:highlight>
              </a:rPr>
              <a:t>InterruptedException</a:t>
            </a:r>
            <a:r>
              <a:rPr lang="ro-RO" sz="1200" dirty="0">
                <a:solidFill>
                  <a:srgbClr val="000000"/>
                </a:solidFill>
                <a:highlight>
                  <a:srgbClr val="FFFFFF"/>
                </a:highlight>
              </a:rPr>
              <a:t> e</a:t>
            </a:r>
            <a:r>
              <a:rPr lang="ro-RO" sz="1200" b="1" dirty="0">
                <a:solidFill>
                  <a:srgbClr val="000080"/>
                </a:solidFill>
                <a:highlight>
                  <a:srgbClr val="FFFFFF"/>
                </a:highlight>
              </a:rPr>
              <a:t>)</a:t>
            </a:r>
            <a:r>
              <a:rPr lang="ro-RO" sz="1200" dirty="0">
                <a:solidFill>
                  <a:srgbClr val="000000"/>
                </a:solidFill>
                <a:highlight>
                  <a:srgbClr val="FFFFFF"/>
                </a:highlight>
              </a:rPr>
              <a:t> </a:t>
            </a:r>
            <a:r>
              <a:rPr lang="ro-RO" sz="1200" b="1" dirty="0">
                <a:solidFill>
                  <a:srgbClr val="000080"/>
                </a:solidFill>
                <a:highlight>
                  <a:srgbClr val="FFFFFF"/>
                </a:highlight>
              </a:rPr>
              <a:t>{</a:t>
            </a:r>
            <a:endParaRPr lang="ro-RO" sz="1200" dirty="0">
              <a:solidFill>
                <a:srgbClr val="000000"/>
              </a:solidFill>
              <a:highlight>
                <a:srgbClr val="FFFFFF"/>
              </a:highlight>
            </a:endParaRPr>
          </a:p>
          <a:p>
            <a:pPr>
              <a:lnSpc>
                <a:spcPct val="100000"/>
              </a:lnSpc>
              <a:spcBef>
                <a:spcPts val="0"/>
              </a:spcBef>
              <a:spcAft>
                <a:spcPts val="0"/>
              </a:spcAft>
            </a:pPr>
            <a:r>
              <a:rPr lang="ro-RO" sz="1200" dirty="0">
                <a:solidFill>
                  <a:srgbClr val="000000"/>
                </a:solidFill>
                <a:highlight>
                  <a:srgbClr val="FFFFFF"/>
                </a:highlight>
              </a:rPr>
              <a:t>            </a:t>
            </a:r>
            <a:r>
              <a:rPr lang="ro-RO" sz="1200" dirty="0" err="1">
                <a:solidFill>
                  <a:srgbClr val="000000"/>
                </a:solidFill>
                <a:highlight>
                  <a:srgbClr val="FFFFFF"/>
                </a:highlight>
              </a:rPr>
              <a:t>e</a:t>
            </a:r>
            <a:r>
              <a:rPr lang="ro-RO" sz="1200" b="1" dirty="0" err="1">
                <a:solidFill>
                  <a:srgbClr val="000080"/>
                </a:solidFill>
                <a:highlight>
                  <a:srgbClr val="FFFFFF"/>
                </a:highlight>
              </a:rPr>
              <a:t>.</a:t>
            </a:r>
            <a:r>
              <a:rPr lang="ro-RO" sz="1200" dirty="0" err="1">
                <a:solidFill>
                  <a:srgbClr val="000000"/>
                </a:solidFill>
                <a:highlight>
                  <a:srgbClr val="FFFFFF"/>
                </a:highlight>
              </a:rPr>
              <a:t>printStackTrace</a:t>
            </a:r>
            <a:r>
              <a:rPr lang="ro-RO" sz="1200" b="1" dirty="0">
                <a:solidFill>
                  <a:srgbClr val="000080"/>
                </a:solidFill>
                <a:highlight>
                  <a:srgbClr val="FFFFFF"/>
                </a:highlight>
              </a:rPr>
              <a:t>();</a:t>
            </a:r>
            <a:endParaRPr lang="ro-RO" sz="1200" dirty="0">
              <a:solidFill>
                <a:srgbClr val="000000"/>
              </a:solidFill>
              <a:highlight>
                <a:srgbClr val="FFFFFF"/>
              </a:highlight>
            </a:endParaRPr>
          </a:p>
          <a:p>
            <a:pPr>
              <a:lnSpc>
                <a:spcPct val="100000"/>
              </a:lnSpc>
              <a:spcBef>
                <a:spcPts val="0"/>
              </a:spcBef>
              <a:spcAft>
                <a:spcPts val="0"/>
              </a:spcAft>
            </a:pPr>
            <a:r>
              <a:rPr lang="ro-RO" sz="1200" dirty="0">
                <a:solidFill>
                  <a:srgbClr val="000000"/>
                </a:solidFill>
                <a:highlight>
                  <a:srgbClr val="FFFFFF"/>
                </a:highlight>
              </a:rPr>
              <a:t>        </a:t>
            </a:r>
            <a:r>
              <a:rPr lang="ro-RO" sz="1200" b="1" dirty="0">
                <a:solidFill>
                  <a:srgbClr val="000080"/>
                </a:solidFill>
                <a:highlight>
                  <a:srgbClr val="FFFFFF"/>
                </a:highlight>
              </a:rPr>
              <a:t>}</a:t>
            </a:r>
            <a:endParaRPr lang="ro-RO" sz="1200" dirty="0">
              <a:solidFill>
                <a:srgbClr val="000000"/>
              </a:solidFill>
              <a:highlight>
                <a:srgbClr val="FFFFFF"/>
              </a:highlight>
            </a:endParaRPr>
          </a:p>
          <a:p>
            <a:pPr>
              <a:lnSpc>
                <a:spcPct val="100000"/>
              </a:lnSpc>
              <a:spcBef>
                <a:spcPts val="0"/>
              </a:spcBef>
              <a:spcAft>
                <a:spcPts val="0"/>
              </a:spcAft>
            </a:pPr>
            <a:endParaRPr lang="ro-RO" sz="1200" dirty="0">
              <a:solidFill>
                <a:srgbClr val="000000"/>
              </a:solidFill>
              <a:highlight>
                <a:srgbClr val="FFFFFF"/>
              </a:highlight>
            </a:endParaRPr>
          </a:p>
          <a:p>
            <a:pPr>
              <a:lnSpc>
                <a:spcPct val="100000"/>
              </a:lnSpc>
              <a:spcBef>
                <a:spcPts val="0"/>
              </a:spcBef>
              <a:spcAft>
                <a:spcPts val="0"/>
              </a:spcAft>
            </a:pPr>
            <a:r>
              <a:rPr lang="ro-RO" sz="1200" dirty="0">
                <a:solidFill>
                  <a:srgbClr val="000000"/>
                </a:solidFill>
                <a:highlight>
                  <a:srgbClr val="FFFFFF"/>
                </a:highlight>
              </a:rPr>
              <a:t>        </a:t>
            </a:r>
            <a:r>
              <a:rPr lang="ro-RO" sz="1200" dirty="0" err="1">
                <a:solidFill>
                  <a:srgbClr val="000000"/>
                </a:solidFill>
                <a:highlight>
                  <a:srgbClr val="FFFFFF"/>
                </a:highlight>
              </a:rPr>
              <a:t>System</a:t>
            </a:r>
            <a:r>
              <a:rPr lang="ro-RO" sz="1200" b="1" dirty="0" err="1">
                <a:solidFill>
                  <a:srgbClr val="000080"/>
                </a:solidFill>
                <a:highlight>
                  <a:srgbClr val="FFFFFF"/>
                </a:highlight>
              </a:rPr>
              <a:t>.</a:t>
            </a:r>
            <a:r>
              <a:rPr lang="ro-RO" sz="1200" dirty="0" err="1">
                <a:solidFill>
                  <a:srgbClr val="000000"/>
                </a:solidFill>
                <a:highlight>
                  <a:srgbClr val="FFFFFF"/>
                </a:highlight>
              </a:rPr>
              <a:t>out</a:t>
            </a:r>
            <a:r>
              <a:rPr lang="ro-RO" sz="1200" b="1" dirty="0" err="1">
                <a:solidFill>
                  <a:srgbClr val="000080"/>
                </a:solidFill>
                <a:highlight>
                  <a:srgbClr val="FFFFFF"/>
                </a:highlight>
              </a:rPr>
              <a:t>.</a:t>
            </a:r>
            <a:r>
              <a:rPr lang="ro-RO" sz="1200" dirty="0" err="1">
                <a:solidFill>
                  <a:srgbClr val="000000"/>
                </a:solidFill>
                <a:highlight>
                  <a:srgbClr val="FFFFFF"/>
                </a:highlight>
              </a:rPr>
              <a:t>println</a:t>
            </a:r>
            <a:r>
              <a:rPr lang="ro-RO" sz="1200" b="1" dirty="0">
                <a:solidFill>
                  <a:srgbClr val="000080"/>
                </a:solidFill>
                <a:highlight>
                  <a:srgbClr val="FFFFFF"/>
                </a:highlight>
              </a:rPr>
              <a:t>(</a:t>
            </a:r>
            <a:r>
              <a:rPr lang="ro-RO" sz="1200" dirty="0">
                <a:solidFill>
                  <a:srgbClr val="808080"/>
                </a:solidFill>
                <a:highlight>
                  <a:srgbClr val="FFFFFF"/>
                </a:highlight>
              </a:rPr>
              <a:t>"Cursa s-a terminat!"</a:t>
            </a:r>
            <a:r>
              <a:rPr lang="ro-RO" sz="1200" b="1" dirty="0">
                <a:solidFill>
                  <a:srgbClr val="000080"/>
                </a:solidFill>
                <a:highlight>
                  <a:srgbClr val="FFFFFF"/>
                </a:highlight>
              </a:rPr>
              <a:t>);</a:t>
            </a:r>
            <a:endParaRPr lang="ro-RO" sz="1200" dirty="0">
              <a:solidFill>
                <a:srgbClr val="000000"/>
              </a:solidFill>
              <a:highlight>
                <a:srgbClr val="FFFFFF"/>
              </a:highlight>
            </a:endParaRPr>
          </a:p>
          <a:p>
            <a:pPr>
              <a:lnSpc>
                <a:spcPct val="100000"/>
              </a:lnSpc>
              <a:spcBef>
                <a:spcPts val="0"/>
              </a:spcBef>
              <a:spcAft>
                <a:spcPts val="0"/>
              </a:spcAft>
            </a:pPr>
            <a:r>
              <a:rPr lang="ro-RO" sz="1200" dirty="0">
                <a:solidFill>
                  <a:srgbClr val="000000"/>
                </a:solidFill>
                <a:highlight>
                  <a:srgbClr val="FFFFFF"/>
                </a:highlight>
              </a:rPr>
              <a:t>    </a:t>
            </a:r>
            <a:r>
              <a:rPr lang="ro-RO" sz="1200" b="1" dirty="0">
                <a:solidFill>
                  <a:srgbClr val="000080"/>
                </a:solidFill>
                <a:highlight>
                  <a:srgbClr val="FFFFFF"/>
                </a:highlight>
              </a:rPr>
              <a:t>}</a:t>
            </a:r>
            <a:endParaRPr lang="ro-RO" sz="1200" dirty="0">
              <a:solidFill>
                <a:srgbClr val="000000"/>
              </a:solidFill>
              <a:highlight>
                <a:srgbClr val="FFFFFF"/>
              </a:highlight>
            </a:endParaRPr>
          </a:p>
          <a:p>
            <a:pPr>
              <a:lnSpc>
                <a:spcPct val="100000"/>
              </a:lnSpc>
              <a:spcBef>
                <a:spcPts val="0"/>
              </a:spcBef>
              <a:spcAft>
                <a:spcPts val="0"/>
              </a:spcAft>
            </a:pPr>
            <a:r>
              <a:rPr lang="ro-RO" sz="1200" b="1" dirty="0">
                <a:solidFill>
                  <a:srgbClr val="000080"/>
                </a:solidFill>
                <a:highlight>
                  <a:srgbClr val="FFFFFF"/>
                </a:highlight>
              </a:rPr>
              <a:t>}</a:t>
            </a:r>
            <a:endParaRPr lang="ro-RO" sz="1200" dirty="0">
              <a:solidFill>
                <a:srgbClr val="000000"/>
              </a:solidFill>
              <a:highlight>
                <a:srgbClr val="FFFFFF"/>
              </a:highlight>
            </a:endParaRPr>
          </a:p>
          <a:p>
            <a:pPr>
              <a:lnSpc>
                <a:spcPct val="100000"/>
              </a:lnSpc>
              <a:spcBef>
                <a:spcPts val="0"/>
              </a:spcBef>
              <a:spcAft>
                <a:spcPts val="0"/>
              </a:spcAft>
            </a:pPr>
            <a:endParaRPr lang="ro-RO" sz="1200" dirty="0"/>
          </a:p>
        </p:txBody>
      </p:sp>
      <p:sp>
        <p:nvSpPr>
          <p:cNvPr id="4" name="Rectangle 3"/>
          <p:cNvSpPr/>
          <p:nvPr/>
        </p:nvSpPr>
        <p:spPr>
          <a:xfrm>
            <a:off x="6096000" y="2090744"/>
            <a:ext cx="6096000" cy="4154984"/>
          </a:xfrm>
          <a:prstGeom prst="rect">
            <a:avLst/>
          </a:prstGeom>
        </p:spPr>
        <p:txBody>
          <a:bodyPr>
            <a:spAutoFit/>
          </a:bodyPr>
          <a:lstStyle/>
          <a:p>
            <a:r>
              <a:rPr lang="ro-RO" sz="1200" dirty="0" err="1">
                <a:solidFill>
                  <a:srgbClr val="8000FF"/>
                </a:solidFill>
                <a:highlight>
                  <a:srgbClr val="FFFFFF"/>
                </a:highlight>
              </a:rPr>
              <a:t>class</a:t>
            </a:r>
            <a:r>
              <a:rPr lang="ro-RO" sz="1200" dirty="0">
                <a:solidFill>
                  <a:srgbClr val="000000"/>
                </a:solidFill>
                <a:highlight>
                  <a:srgbClr val="FFFFFF"/>
                </a:highlight>
              </a:rPr>
              <a:t> </a:t>
            </a:r>
            <a:r>
              <a:rPr lang="ro-RO" sz="1200" dirty="0" err="1">
                <a:solidFill>
                  <a:srgbClr val="000000"/>
                </a:solidFill>
                <a:highlight>
                  <a:srgbClr val="FFFFFF"/>
                </a:highlight>
              </a:rPr>
              <a:t>Alergator</a:t>
            </a:r>
            <a:r>
              <a:rPr lang="ro-RO" sz="1200" dirty="0">
                <a:solidFill>
                  <a:srgbClr val="000000"/>
                </a:solidFill>
                <a:highlight>
                  <a:srgbClr val="FFFFFF"/>
                </a:highlight>
              </a:rPr>
              <a:t> </a:t>
            </a:r>
            <a:r>
              <a:rPr lang="ro-RO" sz="1200" b="1" dirty="0" err="1">
                <a:solidFill>
                  <a:srgbClr val="0000FF"/>
                </a:solidFill>
                <a:highlight>
                  <a:srgbClr val="FFFFFF"/>
                </a:highlight>
              </a:rPr>
              <a:t>implements</a:t>
            </a:r>
            <a:r>
              <a:rPr lang="ro-RO" sz="1200" dirty="0">
                <a:solidFill>
                  <a:srgbClr val="000000"/>
                </a:solidFill>
                <a:highlight>
                  <a:srgbClr val="FFFFFF"/>
                </a:highlight>
              </a:rPr>
              <a:t> </a:t>
            </a:r>
            <a:r>
              <a:rPr lang="ro-RO" sz="1200" dirty="0" err="1">
                <a:solidFill>
                  <a:srgbClr val="000000"/>
                </a:solidFill>
                <a:highlight>
                  <a:srgbClr val="FFFFFF"/>
                </a:highlight>
              </a:rPr>
              <a:t>Runnable</a:t>
            </a:r>
            <a:r>
              <a:rPr lang="ro-RO" sz="1200" dirty="0">
                <a:solidFill>
                  <a:srgbClr val="000000"/>
                </a:solidFill>
                <a:highlight>
                  <a:srgbClr val="FFFFFF"/>
                </a:highlight>
              </a:rPr>
              <a:t> </a:t>
            </a:r>
            <a:r>
              <a:rPr lang="ro-RO" sz="1200" b="1" dirty="0">
                <a:solidFill>
                  <a:srgbClr val="000080"/>
                </a:solidFill>
                <a:highlight>
                  <a:srgbClr val="FFFFFF"/>
                </a:highlight>
              </a:rPr>
              <a:t>{</a:t>
            </a:r>
            <a:endParaRPr lang="ro-RO" sz="1200" dirty="0">
              <a:solidFill>
                <a:srgbClr val="000000"/>
              </a:solidFill>
              <a:highlight>
                <a:srgbClr val="FFFFFF"/>
              </a:highlight>
            </a:endParaRPr>
          </a:p>
          <a:p>
            <a:r>
              <a:rPr lang="ro-RO" sz="1200" dirty="0">
                <a:solidFill>
                  <a:srgbClr val="000000"/>
                </a:solidFill>
                <a:highlight>
                  <a:srgbClr val="FFFFFF"/>
                </a:highlight>
              </a:rPr>
              <a:t>    </a:t>
            </a:r>
            <a:r>
              <a:rPr lang="ro-RO" sz="1200" dirty="0">
                <a:solidFill>
                  <a:srgbClr val="8000FF"/>
                </a:solidFill>
                <a:highlight>
                  <a:srgbClr val="FFFFFF"/>
                </a:highlight>
              </a:rPr>
              <a:t>private</a:t>
            </a:r>
            <a:r>
              <a:rPr lang="ro-RO" sz="1200" dirty="0">
                <a:solidFill>
                  <a:srgbClr val="000000"/>
                </a:solidFill>
                <a:highlight>
                  <a:srgbClr val="FFFFFF"/>
                </a:highlight>
              </a:rPr>
              <a:t> </a:t>
            </a:r>
            <a:r>
              <a:rPr lang="ro-RO" sz="1200" dirty="0" err="1">
                <a:solidFill>
                  <a:srgbClr val="000000"/>
                </a:solidFill>
                <a:highlight>
                  <a:srgbClr val="FFFFFF"/>
                </a:highlight>
              </a:rPr>
              <a:t>String</a:t>
            </a:r>
            <a:r>
              <a:rPr lang="ro-RO" sz="1200" dirty="0">
                <a:solidFill>
                  <a:srgbClr val="000000"/>
                </a:solidFill>
                <a:highlight>
                  <a:srgbClr val="FFFFFF"/>
                </a:highlight>
              </a:rPr>
              <a:t> nume</a:t>
            </a:r>
            <a:r>
              <a:rPr lang="ro-RO" sz="1200" b="1" dirty="0">
                <a:solidFill>
                  <a:srgbClr val="000080"/>
                </a:solidFill>
                <a:highlight>
                  <a:srgbClr val="FFFFFF"/>
                </a:highlight>
              </a:rPr>
              <a:t>;</a:t>
            </a:r>
            <a:endParaRPr lang="ro-RO" sz="1200" dirty="0">
              <a:solidFill>
                <a:srgbClr val="000000"/>
              </a:solidFill>
              <a:highlight>
                <a:srgbClr val="FFFFFF"/>
              </a:highlight>
            </a:endParaRPr>
          </a:p>
          <a:p>
            <a:endParaRPr lang="ro-RO" sz="1200" dirty="0">
              <a:solidFill>
                <a:srgbClr val="000000"/>
              </a:solidFill>
              <a:highlight>
                <a:srgbClr val="FFFFFF"/>
              </a:highlight>
            </a:endParaRPr>
          </a:p>
          <a:p>
            <a:r>
              <a:rPr lang="ro-RO" sz="1200" dirty="0">
                <a:solidFill>
                  <a:srgbClr val="000000"/>
                </a:solidFill>
                <a:highlight>
                  <a:srgbClr val="FFFFFF"/>
                </a:highlight>
              </a:rPr>
              <a:t>    </a:t>
            </a:r>
            <a:r>
              <a:rPr lang="ro-RO" sz="1200" dirty="0">
                <a:solidFill>
                  <a:srgbClr val="8000FF"/>
                </a:solidFill>
                <a:highlight>
                  <a:srgbClr val="FFFFFF"/>
                </a:highlight>
              </a:rPr>
              <a:t>public</a:t>
            </a:r>
            <a:r>
              <a:rPr lang="ro-RO" sz="1200" dirty="0">
                <a:solidFill>
                  <a:srgbClr val="000000"/>
                </a:solidFill>
                <a:highlight>
                  <a:srgbClr val="FFFFFF"/>
                </a:highlight>
              </a:rPr>
              <a:t> </a:t>
            </a:r>
            <a:r>
              <a:rPr lang="ro-RO" sz="1200" dirty="0" err="1">
                <a:solidFill>
                  <a:srgbClr val="000000"/>
                </a:solidFill>
                <a:highlight>
                  <a:srgbClr val="FFFFFF"/>
                </a:highlight>
              </a:rPr>
              <a:t>Alergator</a:t>
            </a:r>
            <a:r>
              <a:rPr lang="ro-RO" sz="1200" b="1" dirty="0">
                <a:solidFill>
                  <a:srgbClr val="000080"/>
                </a:solidFill>
                <a:highlight>
                  <a:srgbClr val="FFFFFF"/>
                </a:highlight>
              </a:rPr>
              <a:t>(</a:t>
            </a:r>
            <a:r>
              <a:rPr lang="ro-RO" sz="1200" dirty="0" err="1">
                <a:solidFill>
                  <a:srgbClr val="000000"/>
                </a:solidFill>
                <a:highlight>
                  <a:srgbClr val="FFFFFF"/>
                </a:highlight>
              </a:rPr>
              <a:t>String</a:t>
            </a:r>
            <a:r>
              <a:rPr lang="ro-RO" sz="1200" dirty="0">
                <a:solidFill>
                  <a:srgbClr val="000000"/>
                </a:solidFill>
                <a:highlight>
                  <a:srgbClr val="FFFFFF"/>
                </a:highlight>
              </a:rPr>
              <a:t> nume</a:t>
            </a:r>
            <a:r>
              <a:rPr lang="ro-RO" sz="1200" b="1" dirty="0">
                <a:solidFill>
                  <a:srgbClr val="000080"/>
                </a:solidFill>
                <a:highlight>
                  <a:srgbClr val="FFFFFF"/>
                </a:highlight>
              </a:rPr>
              <a:t>)</a:t>
            </a:r>
            <a:r>
              <a:rPr lang="ro-RO" sz="1200" dirty="0">
                <a:solidFill>
                  <a:srgbClr val="000000"/>
                </a:solidFill>
                <a:highlight>
                  <a:srgbClr val="FFFFFF"/>
                </a:highlight>
              </a:rPr>
              <a:t> </a:t>
            </a:r>
            <a:r>
              <a:rPr lang="ro-RO" sz="1200" b="1" dirty="0">
                <a:solidFill>
                  <a:srgbClr val="000080"/>
                </a:solidFill>
                <a:highlight>
                  <a:srgbClr val="FFFFFF"/>
                </a:highlight>
              </a:rPr>
              <a:t>{</a:t>
            </a:r>
            <a:endParaRPr lang="ro-RO" sz="1200" dirty="0">
              <a:solidFill>
                <a:srgbClr val="000000"/>
              </a:solidFill>
              <a:highlight>
                <a:srgbClr val="FFFFFF"/>
              </a:highlight>
            </a:endParaRPr>
          </a:p>
          <a:p>
            <a:r>
              <a:rPr lang="ro-RO" sz="1200" dirty="0">
                <a:solidFill>
                  <a:srgbClr val="000000"/>
                </a:solidFill>
                <a:highlight>
                  <a:srgbClr val="FFFFFF"/>
                </a:highlight>
              </a:rPr>
              <a:t>        </a:t>
            </a:r>
            <a:r>
              <a:rPr lang="ro-RO" sz="1200" b="1" dirty="0" err="1">
                <a:solidFill>
                  <a:srgbClr val="0000FF"/>
                </a:solidFill>
                <a:highlight>
                  <a:srgbClr val="FFFFFF"/>
                </a:highlight>
              </a:rPr>
              <a:t>this</a:t>
            </a:r>
            <a:r>
              <a:rPr lang="ro-RO" sz="1200" b="1" dirty="0" err="1">
                <a:solidFill>
                  <a:srgbClr val="000080"/>
                </a:solidFill>
                <a:highlight>
                  <a:srgbClr val="FFFFFF"/>
                </a:highlight>
              </a:rPr>
              <a:t>.</a:t>
            </a:r>
            <a:r>
              <a:rPr lang="ro-RO" sz="1200" dirty="0" err="1">
                <a:solidFill>
                  <a:srgbClr val="000000"/>
                </a:solidFill>
                <a:highlight>
                  <a:srgbClr val="FFFFFF"/>
                </a:highlight>
              </a:rPr>
              <a:t>nume</a:t>
            </a:r>
            <a:r>
              <a:rPr lang="ro-RO" sz="1200" dirty="0">
                <a:solidFill>
                  <a:srgbClr val="000000"/>
                </a:solidFill>
                <a:highlight>
                  <a:srgbClr val="FFFFFF"/>
                </a:highlight>
              </a:rPr>
              <a:t> </a:t>
            </a:r>
            <a:r>
              <a:rPr lang="ro-RO" sz="1200" b="1" dirty="0">
                <a:solidFill>
                  <a:srgbClr val="000080"/>
                </a:solidFill>
                <a:highlight>
                  <a:srgbClr val="FFFFFF"/>
                </a:highlight>
              </a:rPr>
              <a:t>=</a:t>
            </a:r>
            <a:r>
              <a:rPr lang="ro-RO" sz="1200" dirty="0">
                <a:solidFill>
                  <a:srgbClr val="000000"/>
                </a:solidFill>
                <a:highlight>
                  <a:srgbClr val="FFFFFF"/>
                </a:highlight>
              </a:rPr>
              <a:t> nume</a:t>
            </a:r>
            <a:r>
              <a:rPr lang="ro-RO" sz="1200" b="1" dirty="0">
                <a:solidFill>
                  <a:srgbClr val="000080"/>
                </a:solidFill>
                <a:highlight>
                  <a:srgbClr val="FFFFFF"/>
                </a:highlight>
              </a:rPr>
              <a:t>;</a:t>
            </a:r>
            <a:endParaRPr lang="ro-RO" sz="1200" dirty="0">
              <a:solidFill>
                <a:srgbClr val="000000"/>
              </a:solidFill>
              <a:highlight>
                <a:srgbClr val="FFFFFF"/>
              </a:highlight>
            </a:endParaRPr>
          </a:p>
          <a:p>
            <a:r>
              <a:rPr lang="ro-RO" sz="1200" dirty="0">
                <a:solidFill>
                  <a:srgbClr val="000000"/>
                </a:solidFill>
                <a:highlight>
                  <a:srgbClr val="FFFFFF"/>
                </a:highlight>
              </a:rPr>
              <a:t>    </a:t>
            </a:r>
            <a:r>
              <a:rPr lang="ro-RO" sz="1200" b="1" dirty="0">
                <a:solidFill>
                  <a:srgbClr val="000080"/>
                </a:solidFill>
                <a:highlight>
                  <a:srgbClr val="FFFFFF"/>
                </a:highlight>
              </a:rPr>
              <a:t>}</a:t>
            </a:r>
            <a:endParaRPr lang="ro-RO" sz="1200" dirty="0">
              <a:solidFill>
                <a:srgbClr val="000000"/>
              </a:solidFill>
              <a:highlight>
                <a:srgbClr val="FFFFFF"/>
              </a:highlight>
            </a:endParaRPr>
          </a:p>
          <a:p>
            <a:endParaRPr lang="ro-RO" sz="1200" dirty="0">
              <a:solidFill>
                <a:srgbClr val="000000"/>
              </a:solidFill>
              <a:highlight>
                <a:srgbClr val="FFFFFF"/>
              </a:highlight>
            </a:endParaRPr>
          </a:p>
          <a:p>
            <a:r>
              <a:rPr lang="ro-RO" sz="1200" dirty="0">
                <a:solidFill>
                  <a:srgbClr val="000000"/>
                </a:solidFill>
                <a:highlight>
                  <a:srgbClr val="FFFFFF"/>
                </a:highlight>
              </a:rPr>
              <a:t>    @</a:t>
            </a:r>
            <a:r>
              <a:rPr lang="ro-RO" sz="1200" dirty="0" err="1">
                <a:solidFill>
                  <a:srgbClr val="000000"/>
                </a:solidFill>
                <a:highlight>
                  <a:srgbClr val="FFFFFF"/>
                </a:highlight>
              </a:rPr>
              <a:t>Override</a:t>
            </a:r>
            <a:endParaRPr lang="ro-RO" sz="1200" dirty="0">
              <a:solidFill>
                <a:srgbClr val="000000"/>
              </a:solidFill>
              <a:highlight>
                <a:srgbClr val="FFFFFF"/>
              </a:highlight>
            </a:endParaRPr>
          </a:p>
          <a:p>
            <a:r>
              <a:rPr lang="ro-RO" sz="1200" dirty="0">
                <a:solidFill>
                  <a:srgbClr val="000000"/>
                </a:solidFill>
                <a:highlight>
                  <a:srgbClr val="FFFFFF"/>
                </a:highlight>
              </a:rPr>
              <a:t>    </a:t>
            </a:r>
            <a:r>
              <a:rPr lang="ro-RO" sz="1200" dirty="0">
                <a:solidFill>
                  <a:srgbClr val="8000FF"/>
                </a:solidFill>
                <a:highlight>
                  <a:srgbClr val="FFFFFF"/>
                </a:highlight>
              </a:rPr>
              <a:t>public</a:t>
            </a:r>
            <a:r>
              <a:rPr lang="ro-RO" sz="1200" dirty="0">
                <a:solidFill>
                  <a:srgbClr val="000000"/>
                </a:solidFill>
                <a:highlight>
                  <a:srgbClr val="FFFFFF"/>
                </a:highlight>
              </a:rPr>
              <a:t> </a:t>
            </a:r>
            <a:r>
              <a:rPr lang="ro-RO" sz="1200" dirty="0" err="1">
                <a:solidFill>
                  <a:srgbClr val="8000FF"/>
                </a:solidFill>
                <a:highlight>
                  <a:srgbClr val="FFFFFF"/>
                </a:highlight>
              </a:rPr>
              <a:t>void</a:t>
            </a:r>
            <a:r>
              <a:rPr lang="ro-RO" sz="1200" dirty="0">
                <a:solidFill>
                  <a:srgbClr val="000000"/>
                </a:solidFill>
                <a:highlight>
                  <a:srgbClr val="FFFFFF"/>
                </a:highlight>
              </a:rPr>
              <a:t> </a:t>
            </a:r>
            <a:r>
              <a:rPr lang="ro-RO" sz="1200" dirty="0" err="1">
                <a:solidFill>
                  <a:srgbClr val="000000"/>
                </a:solidFill>
                <a:highlight>
                  <a:srgbClr val="FFFFFF"/>
                </a:highlight>
              </a:rPr>
              <a:t>run</a:t>
            </a:r>
            <a:r>
              <a:rPr lang="ro-RO" sz="1200" b="1" dirty="0">
                <a:solidFill>
                  <a:srgbClr val="000080"/>
                </a:solidFill>
                <a:highlight>
                  <a:srgbClr val="FFFFFF"/>
                </a:highlight>
              </a:rPr>
              <a:t>()</a:t>
            </a:r>
            <a:r>
              <a:rPr lang="ro-RO" sz="1200" dirty="0">
                <a:solidFill>
                  <a:srgbClr val="000000"/>
                </a:solidFill>
                <a:highlight>
                  <a:srgbClr val="FFFFFF"/>
                </a:highlight>
              </a:rPr>
              <a:t> </a:t>
            </a:r>
            <a:r>
              <a:rPr lang="ro-RO" sz="1200" b="1" dirty="0">
                <a:solidFill>
                  <a:srgbClr val="000080"/>
                </a:solidFill>
                <a:highlight>
                  <a:srgbClr val="FFFFFF"/>
                </a:highlight>
              </a:rPr>
              <a:t>{</a:t>
            </a:r>
            <a:endParaRPr lang="ro-RO" sz="1200" dirty="0">
              <a:solidFill>
                <a:srgbClr val="000000"/>
              </a:solidFill>
              <a:highlight>
                <a:srgbClr val="FFFFFF"/>
              </a:highlight>
            </a:endParaRPr>
          </a:p>
          <a:p>
            <a:r>
              <a:rPr lang="ro-RO" sz="1200" dirty="0">
                <a:solidFill>
                  <a:srgbClr val="000000"/>
                </a:solidFill>
                <a:highlight>
                  <a:srgbClr val="FFFFFF"/>
                </a:highlight>
              </a:rPr>
              <a:t>        </a:t>
            </a:r>
            <a:r>
              <a:rPr lang="ro-RO" sz="1200" b="1" dirty="0">
                <a:solidFill>
                  <a:srgbClr val="0000FF"/>
                </a:solidFill>
                <a:highlight>
                  <a:srgbClr val="FFFFFF"/>
                </a:highlight>
              </a:rPr>
              <a:t>for</a:t>
            </a:r>
            <a:r>
              <a:rPr lang="ro-RO" sz="1200" dirty="0">
                <a:solidFill>
                  <a:srgbClr val="000000"/>
                </a:solidFill>
                <a:highlight>
                  <a:srgbClr val="FFFFFF"/>
                </a:highlight>
              </a:rPr>
              <a:t> </a:t>
            </a:r>
            <a:r>
              <a:rPr lang="ro-RO" sz="1200" b="1" dirty="0">
                <a:solidFill>
                  <a:srgbClr val="000080"/>
                </a:solidFill>
                <a:highlight>
                  <a:srgbClr val="FFFFFF"/>
                </a:highlight>
              </a:rPr>
              <a:t>(</a:t>
            </a:r>
            <a:r>
              <a:rPr lang="ro-RO" sz="1200" dirty="0" err="1">
                <a:solidFill>
                  <a:srgbClr val="8000FF"/>
                </a:solidFill>
                <a:highlight>
                  <a:srgbClr val="FFFFFF"/>
                </a:highlight>
              </a:rPr>
              <a:t>int</a:t>
            </a:r>
            <a:r>
              <a:rPr lang="ro-RO" sz="1200" dirty="0">
                <a:solidFill>
                  <a:srgbClr val="000000"/>
                </a:solidFill>
                <a:highlight>
                  <a:srgbClr val="FFFFFF"/>
                </a:highlight>
              </a:rPr>
              <a:t> distanta </a:t>
            </a:r>
            <a:r>
              <a:rPr lang="ro-RO" sz="1200" b="1" dirty="0">
                <a:solidFill>
                  <a:srgbClr val="000080"/>
                </a:solidFill>
                <a:highlight>
                  <a:srgbClr val="FFFFFF"/>
                </a:highlight>
              </a:rPr>
              <a:t>=</a:t>
            </a:r>
            <a:r>
              <a:rPr lang="ro-RO" sz="1200" dirty="0">
                <a:solidFill>
                  <a:srgbClr val="000000"/>
                </a:solidFill>
                <a:highlight>
                  <a:srgbClr val="FFFFFF"/>
                </a:highlight>
              </a:rPr>
              <a:t> </a:t>
            </a:r>
            <a:r>
              <a:rPr lang="ro-RO" sz="1200" dirty="0">
                <a:solidFill>
                  <a:srgbClr val="FF8000"/>
                </a:solidFill>
                <a:highlight>
                  <a:srgbClr val="FFFFFF"/>
                </a:highlight>
              </a:rPr>
              <a:t>1</a:t>
            </a:r>
            <a:r>
              <a:rPr lang="ro-RO" sz="1200" b="1" dirty="0">
                <a:solidFill>
                  <a:srgbClr val="000080"/>
                </a:solidFill>
                <a:highlight>
                  <a:srgbClr val="FFFFFF"/>
                </a:highlight>
              </a:rPr>
              <a:t>;</a:t>
            </a:r>
            <a:r>
              <a:rPr lang="ro-RO" sz="1200" dirty="0">
                <a:solidFill>
                  <a:srgbClr val="000000"/>
                </a:solidFill>
                <a:highlight>
                  <a:srgbClr val="FFFFFF"/>
                </a:highlight>
              </a:rPr>
              <a:t> distanta </a:t>
            </a:r>
            <a:r>
              <a:rPr lang="ro-RO" sz="1200" b="1" dirty="0">
                <a:solidFill>
                  <a:srgbClr val="000080"/>
                </a:solidFill>
                <a:highlight>
                  <a:srgbClr val="FFFFFF"/>
                </a:highlight>
              </a:rPr>
              <a:t>&lt;=</a:t>
            </a:r>
            <a:r>
              <a:rPr lang="ro-RO" sz="1200" dirty="0">
                <a:solidFill>
                  <a:srgbClr val="000000"/>
                </a:solidFill>
                <a:highlight>
                  <a:srgbClr val="FFFFFF"/>
                </a:highlight>
              </a:rPr>
              <a:t> </a:t>
            </a:r>
            <a:r>
              <a:rPr lang="ro-RO" sz="1200" dirty="0">
                <a:solidFill>
                  <a:srgbClr val="FF8000"/>
                </a:solidFill>
                <a:highlight>
                  <a:srgbClr val="FFFFFF"/>
                </a:highlight>
              </a:rPr>
              <a:t>10</a:t>
            </a:r>
            <a:r>
              <a:rPr lang="ro-RO" sz="1200" b="1" dirty="0">
                <a:solidFill>
                  <a:srgbClr val="000080"/>
                </a:solidFill>
                <a:highlight>
                  <a:srgbClr val="FFFFFF"/>
                </a:highlight>
              </a:rPr>
              <a:t>;</a:t>
            </a:r>
            <a:r>
              <a:rPr lang="ro-RO" sz="1200" dirty="0">
                <a:solidFill>
                  <a:srgbClr val="000000"/>
                </a:solidFill>
                <a:highlight>
                  <a:srgbClr val="FFFFFF"/>
                </a:highlight>
              </a:rPr>
              <a:t> distanta</a:t>
            </a:r>
            <a:r>
              <a:rPr lang="ro-RO" sz="1200" b="1" dirty="0">
                <a:solidFill>
                  <a:srgbClr val="000080"/>
                </a:solidFill>
                <a:highlight>
                  <a:srgbClr val="FFFFFF"/>
                </a:highlight>
              </a:rPr>
              <a:t>++)</a:t>
            </a:r>
            <a:r>
              <a:rPr lang="ro-RO" sz="1200" dirty="0">
                <a:solidFill>
                  <a:srgbClr val="000000"/>
                </a:solidFill>
                <a:highlight>
                  <a:srgbClr val="FFFFFF"/>
                </a:highlight>
              </a:rPr>
              <a:t> </a:t>
            </a:r>
            <a:r>
              <a:rPr lang="ro-RO" sz="1200" b="1" dirty="0">
                <a:solidFill>
                  <a:srgbClr val="000080"/>
                </a:solidFill>
                <a:highlight>
                  <a:srgbClr val="FFFFFF"/>
                </a:highlight>
              </a:rPr>
              <a:t>{</a:t>
            </a:r>
            <a:endParaRPr lang="ro-RO" sz="1200" dirty="0">
              <a:solidFill>
                <a:srgbClr val="000000"/>
              </a:solidFill>
              <a:highlight>
                <a:srgbClr val="FFFFFF"/>
              </a:highlight>
            </a:endParaRPr>
          </a:p>
          <a:p>
            <a:r>
              <a:rPr lang="ro-RO" sz="1200" dirty="0">
                <a:solidFill>
                  <a:srgbClr val="000000"/>
                </a:solidFill>
                <a:highlight>
                  <a:srgbClr val="FFFFFF"/>
                </a:highlight>
              </a:rPr>
              <a:t>            </a:t>
            </a:r>
            <a:r>
              <a:rPr lang="ro-RO" sz="1200" dirty="0" err="1">
                <a:solidFill>
                  <a:srgbClr val="000000"/>
                </a:solidFill>
                <a:highlight>
                  <a:srgbClr val="FFFFFF"/>
                </a:highlight>
              </a:rPr>
              <a:t>System</a:t>
            </a:r>
            <a:r>
              <a:rPr lang="ro-RO" sz="1200" b="1" dirty="0" err="1">
                <a:solidFill>
                  <a:srgbClr val="000080"/>
                </a:solidFill>
                <a:highlight>
                  <a:srgbClr val="FFFFFF"/>
                </a:highlight>
              </a:rPr>
              <a:t>.</a:t>
            </a:r>
            <a:r>
              <a:rPr lang="ro-RO" sz="1200" dirty="0" err="1">
                <a:solidFill>
                  <a:srgbClr val="000000"/>
                </a:solidFill>
                <a:highlight>
                  <a:srgbClr val="FFFFFF"/>
                </a:highlight>
              </a:rPr>
              <a:t>out</a:t>
            </a:r>
            <a:r>
              <a:rPr lang="ro-RO" sz="1200" b="1" dirty="0" err="1">
                <a:solidFill>
                  <a:srgbClr val="000080"/>
                </a:solidFill>
                <a:highlight>
                  <a:srgbClr val="FFFFFF"/>
                </a:highlight>
              </a:rPr>
              <a:t>.</a:t>
            </a:r>
            <a:r>
              <a:rPr lang="ro-RO" sz="1200" dirty="0" err="1">
                <a:solidFill>
                  <a:srgbClr val="000000"/>
                </a:solidFill>
                <a:highlight>
                  <a:srgbClr val="FFFFFF"/>
                </a:highlight>
              </a:rPr>
              <a:t>println</a:t>
            </a:r>
            <a:r>
              <a:rPr lang="ro-RO" sz="1200" b="1" dirty="0">
                <a:solidFill>
                  <a:srgbClr val="000080"/>
                </a:solidFill>
                <a:highlight>
                  <a:srgbClr val="FFFFFF"/>
                </a:highlight>
              </a:rPr>
              <a:t>(</a:t>
            </a:r>
            <a:r>
              <a:rPr lang="ro-RO" sz="1200" dirty="0">
                <a:solidFill>
                  <a:srgbClr val="000000"/>
                </a:solidFill>
                <a:highlight>
                  <a:srgbClr val="FFFFFF"/>
                </a:highlight>
              </a:rPr>
              <a:t>nume </a:t>
            </a:r>
            <a:r>
              <a:rPr lang="ro-RO" sz="1200" b="1" dirty="0">
                <a:solidFill>
                  <a:srgbClr val="000080"/>
                </a:solidFill>
                <a:highlight>
                  <a:srgbClr val="FFFFFF"/>
                </a:highlight>
              </a:rPr>
              <a:t>+</a:t>
            </a:r>
            <a:r>
              <a:rPr lang="ro-RO" sz="1200" dirty="0">
                <a:solidFill>
                  <a:srgbClr val="000000"/>
                </a:solidFill>
                <a:highlight>
                  <a:srgbClr val="FFFFFF"/>
                </a:highlight>
              </a:rPr>
              <a:t> </a:t>
            </a:r>
            <a:r>
              <a:rPr lang="ro-RO" sz="1200" dirty="0">
                <a:solidFill>
                  <a:srgbClr val="808080"/>
                </a:solidFill>
                <a:highlight>
                  <a:srgbClr val="FFFFFF"/>
                </a:highlight>
              </a:rPr>
              <a:t>" a parcurs "</a:t>
            </a:r>
            <a:r>
              <a:rPr lang="ro-RO" sz="1200" dirty="0">
                <a:solidFill>
                  <a:srgbClr val="000000"/>
                </a:solidFill>
                <a:highlight>
                  <a:srgbClr val="FFFFFF"/>
                </a:highlight>
              </a:rPr>
              <a:t> </a:t>
            </a:r>
            <a:r>
              <a:rPr lang="ro-RO" sz="1200" b="1" dirty="0">
                <a:solidFill>
                  <a:srgbClr val="000080"/>
                </a:solidFill>
                <a:highlight>
                  <a:srgbClr val="FFFFFF"/>
                </a:highlight>
              </a:rPr>
              <a:t>+</a:t>
            </a:r>
            <a:r>
              <a:rPr lang="ro-RO" sz="1200" dirty="0">
                <a:solidFill>
                  <a:srgbClr val="000000"/>
                </a:solidFill>
                <a:highlight>
                  <a:srgbClr val="FFFFFF"/>
                </a:highlight>
              </a:rPr>
              <a:t> distanta </a:t>
            </a:r>
            <a:r>
              <a:rPr lang="ro-RO" sz="1200" b="1" dirty="0">
                <a:solidFill>
                  <a:srgbClr val="000080"/>
                </a:solidFill>
                <a:highlight>
                  <a:srgbClr val="FFFFFF"/>
                </a:highlight>
              </a:rPr>
              <a:t>*</a:t>
            </a:r>
            <a:r>
              <a:rPr lang="ro-RO" sz="1200" dirty="0">
                <a:solidFill>
                  <a:srgbClr val="000000"/>
                </a:solidFill>
                <a:highlight>
                  <a:srgbClr val="FFFFFF"/>
                </a:highlight>
              </a:rPr>
              <a:t> </a:t>
            </a:r>
            <a:r>
              <a:rPr lang="ro-RO" sz="1200" dirty="0">
                <a:solidFill>
                  <a:srgbClr val="FF8000"/>
                </a:solidFill>
                <a:highlight>
                  <a:srgbClr val="FFFFFF"/>
                </a:highlight>
              </a:rPr>
              <a:t>10</a:t>
            </a:r>
            <a:r>
              <a:rPr lang="ro-RO" sz="1200" dirty="0">
                <a:solidFill>
                  <a:srgbClr val="000000"/>
                </a:solidFill>
                <a:highlight>
                  <a:srgbClr val="FFFFFF"/>
                </a:highlight>
              </a:rPr>
              <a:t> </a:t>
            </a:r>
            <a:r>
              <a:rPr lang="ro-RO" sz="1200" b="1" dirty="0">
                <a:solidFill>
                  <a:srgbClr val="000080"/>
                </a:solidFill>
                <a:highlight>
                  <a:srgbClr val="FFFFFF"/>
                </a:highlight>
              </a:rPr>
              <a:t>+</a:t>
            </a:r>
            <a:r>
              <a:rPr lang="ro-RO" sz="1200" dirty="0">
                <a:solidFill>
                  <a:srgbClr val="000000"/>
                </a:solidFill>
                <a:highlight>
                  <a:srgbClr val="FFFFFF"/>
                </a:highlight>
              </a:rPr>
              <a:t> </a:t>
            </a:r>
            <a:r>
              <a:rPr lang="ro-RO" sz="1200" dirty="0">
                <a:solidFill>
                  <a:srgbClr val="808080"/>
                </a:solidFill>
                <a:highlight>
                  <a:srgbClr val="FFFFFF"/>
                </a:highlight>
              </a:rPr>
              <a:t>"% din cursă."</a:t>
            </a:r>
            <a:r>
              <a:rPr lang="ro-RO" sz="1200" b="1" dirty="0">
                <a:solidFill>
                  <a:srgbClr val="000080"/>
                </a:solidFill>
                <a:highlight>
                  <a:srgbClr val="FFFFFF"/>
                </a:highlight>
              </a:rPr>
              <a:t>);</a:t>
            </a:r>
            <a:endParaRPr lang="ro-RO" sz="1200" dirty="0">
              <a:solidFill>
                <a:srgbClr val="000000"/>
              </a:solidFill>
              <a:highlight>
                <a:srgbClr val="FFFFFF"/>
              </a:highlight>
            </a:endParaRPr>
          </a:p>
          <a:p>
            <a:endParaRPr lang="ro-RO" sz="1200" dirty="0">
              <a:solidFill>
                <a:srgbClr val="000000"/>
              </a:solidFill>
              <a:highlight>
                <a:srgbClr val="FFFFFF"/>
              </a:highlight>
            </a:endParaRPr>
          </a:p>
          <a:p>
            <a:r>
              <a:rPr lang="ro-RO" sz="1200" dirty="0">
                <a:solidFill>
                  <a:srgbClr val="000000"/>
                </a:solidFill>
                <a:highlight>
                  <a:srgbClr val="FFFFFF"/>
                </a:highlight>
              </a:rPr>
              <a:t>            </a:t>
            </a:r>
            <a:r>
              <a:rPr lang="ro-RO" sz="1200" b="1" dirty="0" err="1">
                <a:solidFill>
                  <a:srgbClr val="0000FF"/>
                </a:solidFill>
                <a:highlight>
                  <a:srgbClr val="FFFFFF"/>
                </a:highlight>
              </a:rPr>
              <a:t>try</a:t>
            </a:r>
            <a:r>
              <a:rPr lang="ro-RO" sz="1200" dirty="0">
                <a:solidFill>
                  <a:srgbClr val="000000"/>
                </a:solidFill>
                <a:highlight>
                  <a:srgbClr val="FFFFFF"/>
                </a:highlight>
              </a:rPr>
              <a:t> </a:t>
            </a:r>
            <a:r>
              <a:rPr lang="ro-RO" sz="1200" b="1" dirty="0">
                <a:solidFill>
                  <a:srgbClr val="000080"/>
                </a:solidFill>
                <a:highlight>
                  <a:srgbClr val="FFFFFF"/>
                </a:highlight>
              </a:rPr>
              <a:t>{</a:t>
            </a:r>
            <a:endParaRPr lang="ro-RO" sz="1200" dirty="0">
              <a:solidFill>
                <a:srgbClr val="000000"/>
              </a:solidFill>
              <a:highlight>
                <a:srgbClr val="FFFFFF"/>
              </a:highlight>
            </a:endParaRPr>
          </a:p>
          <a:p>
            <a:r>
              <a:rPr lang="ro-RO" sz="1200" dirty="0">
                <a:solidFill>
                  <a:srgbClr val="000000"/>
                </a:solidFill>
                <a:highlight>
                  <a:srgbClr val="FFFFFF"/>
                </a:highlight>
              </a:rPr>
              <a:t>                </a:t>
            </a:r>
            <a:r>
              <a:rPr lang="ro-RO" sz="1200" dirty="0" err="1">
                <a:solidFill>
                  <a:srgbClr val="000000"/>
                </a:solidFill>
                <a:highlight>
                  <a:srgbClr val="FFFFFF"/>
                </a:highlight>
              </a:rPr>
              <a:t>Thread</a:t>
            </a:r>
            <a:r>
              <a:rPr lang="ro-RO" sz="1200" b="1" dirty="0" err="1">
                <a:solidFill>
                  <a:srgbClr val="000080"/>
                </a:solidFill>
                <a:highlight>
                  <a:srgbClr val="FFFFFF"/>
                </a:highlight>
              </a:rPr>
              <a:t>.</a:t>
            </a:r>
            <a:r>
              <a:rPr lang="ro-RO" sz="1200" dirty="0" err="1">
                <a:solidFill>
                  <a:srgbClr val="000000"/>
                </a:solidFill>
                <a:highlight>
                  <a:srgbClr val="FFFFFF"/>
                </a:highlight>
              </a:rPr>
              <a:t>sleep</a:t>
            </a:r>
            <a:r>
              <a:rPr lang="ro-RO" sz="1200" b="1" dirty="0">
                <a:solidFill>
                  <a:srgbClr val="000080"/>
                </a:solidFill>
                <a:highlight>
                  <a:srgbClr val="FFFFFF"/>
                </a:highlight>
              </a:rPr>
              <a:t>((</a:t>
            </a:r>
            <a:r>
              <a:rPr lang="ro-RO" sz="1200" dirty="0" err="1">
                <a:solidFill>
                  <a:srgbClr val="8000FF"/>
                </a:solidFill>
                <a:highlight>
                  <a:srgbClr val="FFFFFF"/>
                </a:highlight>
              </a:rPr>
              <a:t>int</a:t>
            </a:r>
            <a:r>
              <a:rPr lang="ro-RO" sz="1200" b="1" dirty="0">
                <a:solidFill>
                  <a:srgbClr val="000080"/>
                </a:solidFill>
                <a:highlight>
                  <a:srgbClr val="FFFFFF"/>
                </a:highlight>
              </a:rPr>
              <a:t>)</a:t>
            </a:r>
            <a:r>
              <a:rPr lang="ro-RO" sz="1200" dirty="0">
                <a:solidFill>
                  <a:srgbClr val="000000"/>
                </a:solidFill>
                <a:highlight>
                  <a:srgbClr val="FFFFFF"/>
                </a:highlight>
              </a:rPr>
              <a:t> </a:t>
            </a:r>
            <a:r>
              <a:rPr lang="ro-RO" sz="1200" b="1" dirty="0">
                <a:solidFill>
                  <a:srgbClr val="000080"/>
                </a:solidFill>
                <a:highlight>
                  <a:srgbClr val="FFFFFF"/>
                </a:highlight>
              </a:rPr>
              <a:t>(</a:t>
            </a:r>
            <a:r>
              <a:rPr lang="ro-RO" sz="1200" dirty="0" err="1">
                <a:solidFill>
                  <a:srgbClr val="000000"/>
                </a:solidFill>
                <a:highlight>
                  <a:srgbClr val="FFFFFF"/>
                </a:highlight>
              </a:rPr>
              <a:t>Math</a:t>
            </a:r>
            <a:r>
              <a:rPr lang="ro-RO" sz="1200" b="1" dirty="0" err="1">
                <a:solidFill>
                  <a:srgbClr val="000080"/>
                </a:solidFill>
                <a:highlight>
                  <a:srgbClr val="FFFFFF"/>
                </a:highlight>
              </a:rPr>
              <a:t>.</a:t>
            </a:r>
            <a:r>
              <a:rPr lang="ro-RO" sz="1200" dirty="0" err="1">
                <a:solidFill>
                  <a:srgbClr val="000000"/>
                </a:solidFill>
                <a:highlight>
                  <a:srgbClr val="FFFFFF"/>
                </a:highlight>
              </a:rPr>
              <a:t>random</a:t>
            </a:r>
            <a:r>
              <a:rPr lang="ro-RO" sz="1200" b="1" dirty="0">
                <a:solidFill>
                  <a:srgbClr val="000080"/>
                </a:solidFill>
                <a:highlight>
                  <a:srgbClr val="FFFFFF"/>
                </a:highlight>
              </a:rPr>
              <a:t>()</a:t>
            </a:r>
            <a:r>
              <a:rPr lang="ro-RO" sz="1200" dirty="0">
                <a:solidFill>
                  <a:srgbClr val="000000"/>
                </a:solidFill>
                <a:highlight>
                  <a:srgbClr val="FFFFFF"/>
                </a:highlight>
              </a:rPr>
              <a:t> </a:t>
            </a:r>
            <a:r>
              <a:rPr lang="ro-RO" sz="1200" b="1" dirty="0">
                <a:solidFill>
                  <a:srgbClr val="000080"/>
                </a:solidFill>
                <a:highlight>
                  <a:srgbClr val="FFFFFF"/>
                </a:highlight>
              </a:rPr>
              <a:t>*</a:t>
            </a:r>
            <a:r>
              <a:rPr lang="ro-RO" sz="1200" dirty="0">
                <a:solidFill>
                  <a:srgbClr val="000000"/>
                </a:solidFill>
                <a:highlight>
                  <a:srgbClr val="FFFFFF"/>
                </a:highlight>
              </a:rPr>
              <a:t> </a:t>
            </a:r>
            <a:r>
              <a:rPr lang="ro-RO" sz="1200" dirty="0">
                <a:solidFill>
                  <a:srgbClr val="FF8000"/>
                </a:solidFill>
                <a:highlight>
                  <a:srgbClr val="FFFFFF"/>
                </a:highlight>
              </a:rPr>
              <a:t>500</a:t>
            </a:r>
            <a:r>
              <a:rPr lang="ro-RO" sz="1200" b="1" dirty="0">
                <a:solidFill>
                  <a:srgbClr val="000080"/>
                </a:solidFill>
                <a:highlight>
                  <a:srgbClr val="FFFFFF"/>
                </a:highlight>
              </a:rPr>
              <a:t>)</a:t>
            </a:r>
            <a:r>
              <a:rPr lang="ro-RO" sz="1200" dirty="0">
                <a:solidFill>
                  <a:srgbClr val="000000"/>
                </a:solidFill>
                <a:highlight>
                  <a:srgbClr val="FFFFFF"/>
                </a:highlight>
              </a:rPr>
              <a:t> </a:t>
            </a:r>
            <a:r>
              <a:rPr lang="ro-RO" sz="1200" b="1" dirty="0">
                <a:solidFill>
                  <a:srgbClr val="000080"/>
                </a:solidFill>
                <a:highlight>
                  <a:srgbClr val="FFFFFF"/>
                </a:highlight>
              </a:rPr>
              <a:t>+</a:t>
            </a:r>
            <a:r>
              <a:rPr lang="ro-RO" sz="1200" dirty="0">
                <a:solidFill>
                  <a:srgbClr val="000000"/>
                </a:solidFill>
                <a:highlight>
                  <a:srgbClr val="FFFFFF"/>
                </a:highlight>
              </a:rPr>
              <a:t> </a:t>
            </a:r>
            <a:r>
              <a:rPr lang="ro-RO" sz="1200" dirty="0">
                <a:solidFill>
                  <a:srgbClr val="FF8000"/>
                </a:solidFill>
                <a:highlight>
                  <a:srgbClr val="FFFFFF"/>
                </a:highlight>
              </a:rPr>
              <a:t>200</a:t>
            </a:r>
            <a:r>
              <a:rPr lang="ro-RO" sz="1200" b="1" dirty="0">
                <a:solidFill>
                  <a:srgbClr val="000080"/>
                </a:solidFill>
                <a:highlight>
                  <a:srgbClr val="FFFFFF"/>
                </a:highlight>
              </a:rPr>
              <a:t>);</a:t>
            </a:r>
            <a:r>
              <a:rPr lang="ro-RO" sz="1200" dirty="0">
                <a:solidFill>
                  <a:srgbClr val="000000"/>
                </a:solidFill>
                <a:highlight>
                  <a:srgbClr val="FFFFFF"/>
                </a:highlight>
              </a:rPr>
              <a:t> </a:t>
            </a:r>
            <a:endParaRPr lang="en-US" sz="1200" dirty="0">
              <a:solidFill>
                <a:srgbClr val="000000"/>
              </a:solidFill>
              <a:highlight>
                <a:srgbClr val="FFFFFF"/>
              </a:highlight>
            </a:endParaRPr>
          </a:p>
          <a:p>
            <a:r>
              <a:rPr lang="en-US" sz="1200" dirty="0">
                <a:solidFill>
                  <a:srgbClr val="000000"/>
                </a:solidFill>
                <a:highlight>
                  <a:srgbClr val="FFFFFF"/>
                </a:highlight>
              </a:rPr>
              <a:t>                                          </a:t>
            </a:r>
            <a:r>
              <a:rPr lang="ro-RO" sz="1200" dirty="0">
                <a:solidFill>
                  <a:srgbClr val="008000"/>
                </a:solidFill>
                <a:highlight>
                  <a:srgbClr val="FFFFFF"/>
                </a:highlight>
              </a:rPr>
              <a:t>// Pauza aleatorie pentru a simula viteze diferite</a:t>
            </a:r>
          </a:p>
          <a:p>
            <a:r>
              <a:rPr lang="ro-RO" sz="1200" dirty="0">
                <a:solidFill>
                  <a:srgbClr val="000000"/>
                </a:solidFill>
                <a:highlight>
                  <a:srgbClr val="FFFFFF"/>
                </a:highlight>
              </a:rPr>
              <a:t>            </a:t>
            </a:r>
            <a:r>
              <a:rPr lang="ro-RO" sz="1200" b="1" dirty="0">
                <a:solidFill>
                  <a:srgbClr val="000080"/>
                </a:solidFill>
                <a:highlight>
                  <a:srgbClr val="FFFFFF"/>
                </a:highlight>
              </a:rPr>
              <a:t>}</a:t>
            </a:r>
            <a:r>
              <a:rPr lang="ro-RO" sz="1200" dirty="0">
                <a:solidFill>
                  <a:srgbClr val="000000"/>
                </a:solidFill>
                <a:highlight>
                  <a:srgbClr val="FFFFFF"/>
                </a:highlight>
              </a:rPr>
              <a:t> </a:t>
            </a:r>
            <a:r>
              <a:rPr lang="ro-RO" sz="1200" b="1" dirty="0">
                <a:solidFill>
                  <a:srgbClr val="0000FF"/>
                </a:solidFill>
                <a:highlight>
                  <a:srgbClr val="FFFFFF"/>
                </a:highlight>
              </a:rPr>
              <a:t>catch</a:t>
            </a:r>
            <a:r>
              <a:rPr lang="ro-RO" sz="1200" dirty="0">
                <a:solidFill>
                  <a:srgbClr val="000000"/>
                </a:solidFill>
                <a:highlight>
                  <a:srgbClr val="FFFFFF"/>
                </a:highlight>
              </a:rPr>
              <a:t> </a:t>
            </a:r>
            <a:r>
              <a:rPr lang="ro-RO" sz="1200" b="1" dirty="0">
                <a:solidFill>
                  <a:srgbClr val="000080"/>
                </a:solidFill>
                <a:highlight>
                  <a:srgbClr val="FFFFFF"/>
                </a:highlight>
              </a:rPr>
              <a:t>(</a:t>
            </a:r>
            <a:r>
              <a:rPr lang="ro-RO" sz="1200" dirty="0" err="1">
                <a:solidFill>
                  <a:srgbClr val="000000"/>
                </a:solidFill>
                <a:highlight>
                  <a:srgbClr val="FFFFFF"/>
                </a:highlight>
              </a:rPr>
              <a:t>InterruptedException</a:t>
            </a:r>
            <a:r>
              <a:rPr lang="ro-RO" sz="1200" dirty="0">
                <a:solidFill>
                  <a:srgbClr val="000000"/>
                </a:solidFill>
                <a:highlight>
                  <a:srgbClr val="FFFFFF"/>
                </a:highlight>
              </a:rPr>
              <a:t> e</a:t>
            </a:r>
            <a:r>
              <a:rPr lang="ro-RO" sz="1200" b="1" dirty="0">
                <a:solidFill>
                  <a:srgbClr val="000080"/>
                </a:solidFill>
                <a:highlight>
                  <a:srgbClr val="FFFFFF"/>
                </a:highlight>
              </a:rPr>
              <a:t>)</a:t>
            </a:r>
            <a:r>
              <a:rPr lang="ro-RO" sz="1200" dirty="0">
                <a:solidFill>
                  <a:srgbClr val="000000"/>
                </a:solidFill>
                <a:highlight>
                  <a:srgbClr val="FFFFFF"/>
                </a:highlight>
              </a:rPr>
              <a:t> </a:t>
            </a:r>
            <a:r>
              <a:rPr lang="ro-RO" sz="1200" b="1" dirty="0">
                <a:solidFill>
                  <a:srgbClr val="000080"/>
                </a:solidFill>
                <a:highlight>
                  <a:srgbClr val="FFFFFF"/>
                </a:highlight>
              </a:rPr>
              <a:t>{</a:t>
            </a:r>
            <a:endParaRPr lang="ro-RO" sz="1200" dirty="0">
              <a:solidFill>
                <a:srgbClr val="000000"/>
              </a:solidFill>
              <a:highlight>
                <a:srgbClr val="FFFFFF"/>
              </a:highlight>
            </a:endParaRPr>
          </a:p>
          <a:p>
            <a:r>
              <a:rPr lang="ro-RO" sz="1200" dirty="0">
                <a:solidFill>
                  <a:srgbClr val="000000"/>
                </a:solidFill>
                <a:highlight>
                  <a:srgbClr val="FFFFFF"/>
                </a:highlight>
              </a:rPr>
              <a:t>                </a:t>
            </a:r>
            <a:r>
              <a:rPr lang="ro-RO" sz="1200" dirty="0" err="1">
                <a:solidFill>
                  <a:srgbClr val="000000"/>
                </a:solidFill>
                <a:highlight>
                  <a:srgbClr val="FFFFFF"/>
                </a:highlight>
              </a:rPr>
              <a:t>e</a:t>
            </a:r>
            <a:r>
              <a:rPr lang="ro-RO" sz="1200" b="1" dirty="0" err="1">
                <a:solidFill>
                  <a:srgbClr val="000080"/>
                </a:solidFill>
                <a:highlight>
                  <a:srgbClr val="FFFFFF"/>
                </a:highlight>
              </a:rPr>
              <a:t>.</a:t>
            </a:r>
            <a:r>
              <a:rPr lang="ro-RO" sz="1200" dirty="0" err="1">
                <a:solidFill>
                  <a:srgbClr val="000000"/>
                </a:solidFill>
                <a:highlight>
                  <a:srgbClr val="FFFFFF"/>
                </a:highlight>
              </a:rPr>
              <a:t>printStackTrace</a:t>
            </a:r>
            <a:r>
              <a:rPr lang="ro-RO" sz="1200" b="1" dirty="0">
                <a:solidFill>
                  <a:srgbClr val="000080"/>
                </a:solidFill>
                <a:highlight>
                  <a:srgbClr val="FFFFFF"/>
                </a:highlight>
              </a:rPr>
              <a:t>();</a:t>
            </a:r>
            <a:endParaRPr lang="ro-RO" sz="1200" dirty="0">
              <a:solidFill>
                <a:srgbClr val="000000"/>
              </a:solidFill>
              <a:highlight>
                <a:srgbClr val="FFFFFF"/>
              </a:highlight>
            </a:endParaRPr>
          </a:p>
          <a:p>
            <a:r>
              <a:rPr lang="ro-RO" sz="1200" dirty="0">
                <a:solidFill>
                  <a:srgbClr val="000000"/>
                </a:solidFill>
                <a:highlight>
                  <a:srgbClr val="FFFFFF"/>
                </a:highlight>
              </a:rPr>
              <a:t>            </a:t>
            </a:r>
            <a:r>
              <a:rPr lang="ro-RO" sz="1200" b="1" dirty="0">
                <a:solidFill>
                  <a:srgbClr val="000080"/>
                </a:solidFill>
                <a:highlight>
                  <a:srgbClr val="FFFFFF"/>
                </a:highlight>
              </a:rPr>
              <a:t>}</a:t>
            </a:r>
            <a:endParaRPr lang="ro-RO" sz="1200" dirty="0">
              <a:solidFill>
                <a:srgbClr val="000000"/>
              </a:solidFill>
              <a:highlight>
                <a:srgbClr val="FFFFFF"/>
              </a:highlight>
            </a:endParaRPr>
          </a:p>
          <a:p>
            <a:r>
              <a:rPr lang="ro-RO" sz="1200" dirty="0">
                <a:solidFill>
                  <a:srgbClr val="000000"/>
                </a:solidFill>
                <a:highlight>
                  <a:srgbClr val="FFFFFF"/>
                </a:highlight>
              </a:rPr>
              <a:t>        </a:t>
            </a:r>
            <a:r>
              <a:rPr lang="ro-RO" sz="1200" b="1" dirty="0">
                <a:solidFill>
                  <a:srgbClr val="000080"/>
                </a:solidFill>
                <a:highlight>
                  <a:srgbClr val="FFFFFF"/>
                </a:highlight>
              </a:rPr>
              <a:t>}</a:t>
            </a:r>
            <a:endParaRPr lang="ro-RO" sz="1200" dirty="0">
              <a:solidFill>
                <a:srgbClr val="000000"/>
              </a:solidFill>
              <a:highlight>
                <a:srgbClr val="FFFFFF"/>
              </a:highlight>
            </a:endParaRPr>
          </a:p>
          <a:p>
            <a:r>
              <a:rPr lang="ro-RO" sz="1200" dirty="0">
                <a:solidFill>
                  <a:srgbClr val="000000"/>
                </a:solidFill>
                <a:highlight>
                  <a:srgbClr val="FFFFFF"/>
                </a:highlight>
              </a:rPr>
              <a:t>        </a:t>
            </a:r>
            <a:r>
              <a:rPr lang="ro-RO" sz="1200" dirty="0" err="1">
                <a:solidFill>
                  <a:srgbClr val="000000"/>
                </a:solidFill>
                <a:highlight>
                  <a:srgbClr val="FFFFFF"/>
                </a:highlight>
              </a:rPr>
              <a:t>System</a:t>
            </a:r>
            <a:r>
              <a:rPr lang="ro-RO" sz="1200" b="1" dirty="0" err="1">
                <a:solidFill>
                  <a:srgbClr val="000080"/>
                </a:solidFill>
                <a:highlight>
                  <a:srgbClr val="FFFFFF"/>
                </a:highlight>
              </a:rPr>
              <a:t>.</a:t>
            </a:r>
            <a:r>
              <a:rPr lang="ro-RO" sz="1200" dirty="0" err="1">
                <a:solidFill>
                  <a:srgbClr val="000000"/>
                </a:solidFill>
                <a:highlight>
                  <a:srgbClr val="FFFFFF"/>
                </a:highlight>
              </a:rPr>
              <a:t>out</a:t>
            </a:r>
            <a:r>
              <a:rPr lang="ro-RO" sz="1200" b="1" dirty="0" err="1">
                <a:solidFill>
                  <a:srgbClr val="000080"/>
                </a:solidFill>
                <a:highlight>
                  <a:srgbClr val="FFFFFF"/>
                </a:highlight>
              </a:rPr>
              <a:t>.</a:t>
            </a:r>
            <a:r>
              <a:rPr lang="ro-RO" sz="1200" dirty="0" err="1">
                <a:solidFill>
                  <a:srgbClr val="000000"/>
                </a:solidFill>
                <a:highlight>
                  <a:srgbClr val="FFFFFF"/>
                </a:highlight>
              </a:rPr>
              <a:t>println</a:t>
            </a:r>
            <a:r>
              <a:rPr lang="ro-RO" sz="1200" b="1" dirty="0">
                <a:solidFill>
                  <a:srgbClr val="000080"/>
                </a:solidFill>
                <a:highlight>
                  <a:srgbClr val="FFFFFF"/>
                </a:highlight>
              </a:rPr>
              <a:t>(</a:t>
            </a:r>
            <a:r>
              <a:rPr lang="ro-RO" sz="1200" dirty="0">
                <a:solidFill>
                  <a:srgbClr val="000000"/>
                </a:solidFill>
                <a:highlight>
                  <a:srgbClr val="FFFFFF"/>
                </a:highlight>
              </a:rPr>
              <a:t>nume </a:t>
            </a:r>
            <a:r>
              <a:rPr lang="ro-RO" sz="1200" b="1" dirty="0">
                <a:solidFill>
                  <a:srgbClr val="000080"/>
                </a:solidFill>
                <a:highlight>
                  <a:srgbClr val="FFFFFF"/>
                </a:highlight>
              </a:rPr>
              <a:t>+</a:t>
            </a:r>
            <a:r>
              <a:rPr lang="ro-RO" sz="1200" dirty="0">
                <a:solidFill>
                  <a:srgbClr val="000000"/>
                </a:solidFill>
                <a:highlight>
                  <a:srgbClr val="FFFFFF"/>
                </a:highlight>
              </a:rPr>
              <a:t> </a:t>
            </a:r>
            <a:r>
              <a:rPr lang="ro-RO" sz="1200" dirty="0">
                <a:solidFill>
                  <a:srgbClr val="808080"/>
                </a:solidFill>
                <a:highlight>
                  <a:srgbClr val="FFFFFF"/>
                </a:highlight>
              </a:rPr>
              <a:t>" a ajuns la linia de sosire!"</a:t>
            </a:r>
            <a:r>
              <a:rPr lang="ro-RO" sz="1200" b="1" dirty="0">
                <a:solidFill>
                  <a:srgbClr val="000080"/>
                </a:solidFill>
                <a:highlight>
                  <a:srgbClr val="FFFFFF"/>
                </a:highlight>
              </a:rPr>
              <a:t>);</a:t>
            </a:r>
            <a:endParaRPr lang="ro-RO" sz="1200" dirty="0">
              <a:solidFill>
                <a:srgbClr val="000000"/>
              </a:solidFill>
              <a:highlight>
                <a:srgbClr val="FFFFFF"/>
              </a:highlight>
            </a:endParaRPr>
          </a:p>
          <a:p>
            <a:r>
              <a:rPr lang="ro-RO" sz="1200" dirty="0">
                <a:solidFill>
                  <a:srgbClr val="000000"/>
                </a:solidFill>
                <a:highlight>
                  <a:srgbClr val="FFFFFF"/>
                </a:highlight>
              </a:rPr>
              <a:t>    </a:t>
            </a:r>
            <a:r>
              <a:rPr lang="ro-RO" sz="1200" b="1" dirty="0">
                <a:solidFill>
                  <a:srgbClr val="000080"/>
                </a:solidFill>
                <a:highlight>
                  <a:srgbClr val="FFFFFF"/>
                </a:highlight>
              </a:rPr>
              <a:t>}</a:t>
            </a:r>
            <a:endParaRPr lang="ro-RO" sz="1200" dirty="0">
              <a:solidFill>
                <a:srgbClr val="000000"/>
              </a:solidFill>
              <a:highlight>
                <a:srgbClr val="FFFFFF"/>
              </a:highlight>
            </a:endParaRPr>
          </a:p>
          <a:p>
            <a:r>
              <a:rPr lang="ro-RO" sz="1200" b="1" dirty="0">
                <a:solidFill>
                  <a:srgbClr val="000080"/>
                </a:solidFill>
                <a:highlight>
                  <a:srgbClr val="FFFFFF"/>
                </a:highlight>
              </a:rPr>
              <a:t>}</a:t>
            </a:r>
            <a:endParaRPr lang="ro-RO" sz="1200" dirty="0">
              <a:solidFill>
                <a:srgbClr val="000000"/>
              </a:solidFill>
              <a:highlight>
                <a:srgbClr val="FFFFFF"/>
              </a:highlight>
            </a:endParaRPr>
          </a:p>
        </p:txBody>
      </p:sp>
    </p:spTree>
    <p:extLst>
      <p:ext uri="{BB962C8B-B14F-4D97-AF65-F5344CB8AC3E}">
        <p14:creationId xmlns:p14="http://schemas.microsoft.com/office/powerpoint/2010/main" val="33410294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492370" y="605896"/>
            <a:ext cx="3084844" cy="5646208"/>
          </a:xfrm>
        </p:spPr>
        <p:txBody>
          <a:bodyPr anchor="ctr">
            <a:normAutofit/>
          </a:bodyPr>
          <a:lstStyle/>
          <a:p>
            <a:r>
              <a:rPr lang="en-US" sz="3600">
                <a:solidFill>
                  <a:srgbClr val="FFFFFF"/>
                </a:solidFill>
              </a:rPr>
              <a:t>Exemplu de program</a:t>
            </a:r>
            <a:endParaRPr lang="ro-RO" sz="3600">
              <a:solidFill>
                <a:srgbClr val="FFFFFF"/>
              </a:solidFill>
            </a:endParaRP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 name="Content Placeholder 2"/>
          <p:cNvSpPr>
            <a:spLocks noGrp="1"/>
          </p:cNvSpPr>
          <p:nvPr>
            <p:ph idx="1"/>
          </p:nvPr>
        </p:nvSpPr>
        <p:spPr>
          <a:xfrm>
            <a:off x="4411500" y="605896"/>
            <a:ext cx="6413663" cy="6061604"/>
          </a:xfrm>
        </p:spPr>
        <p:txBody>
          <a:bodyPr anchor="ctr">
            <a:normAutofit/>
          </a:bodyPr>
          <a:lstStyle/>
          <a:p>
            <a:pPr>
              <a:spcBef>
                <a:spcPts val="0"/>
              </a:spcBef>
            </a:pPr>
            <a:r>
              <a:rPr lang="ro-RO" sz="1400" b="1" dirty="0"/>
              <a:t>Clasele principale</a:t>
            </a:r>
            <a:r>
              <a:rPr lang="ro-RO" sz="1400" dirty="0"/>
              <a:t>:</a:t>
            </a:r>
            <a:endParaRPr lang="en-US" sz="1400" dirty="0"/>
          </a:p>
          <a:p>
            <a:pPr>
              <a:spcBef>
                <a:spcPts val="0"/>
              </a:spcBef>
            </a:pPr>
            <a:r>
              <a:rPr lang="ro-RO" sz="1400" dirty="0"/>
              <a:t>SimulareCursa: aceasta este clasa principală unde se creează și se pornesc firele de execuție.</a:t>
            </a:r>
            <a:endParaRPr lang="en-US" sz="1400" dirty="0"/>
          </a:p>
          <a:p>
            <a:pPr>
              <a:spcBef>
                <a:spcPts val="0"/>
              </a:spcBef>
            </a:pPr>
            <a:r>
              <a:rPr lang="ro-RO" sz="1400" dirty="0"/>
              <a:t>Alergator: implementează interfața Runnable și reprezintă un alergător care va parcurge cursa.</a:t>
            </a:r>
            <a:endParaRPr lang="en-US" sz="1400" dirty="0"/>
          </a:p>
          <a:p>
            <a:pPr>
              <a:spcBef>
                <a:spcPts val="0"/>
              </a:spcBef>
            </a:pPr>
            <a:r>
              <a:rPr lang="ro-RO" sz="1400" b="1" dirty="0"/>
              <a:t>Firul de execuție</a:t>
            </a:r>
            <a:r>
              <a:rPr lang="ro-RO" sz="1400" dirty="0"/>
              <a:t>:</a:t>
            </a:r>
            <a:endParaRPr lang="en-US" sz="1400" dirty="0"/>
          </a:p>
          <a:p>
            <a:pPr>
              <a:spcBef>
                <a:spcPts val="0"/>
              </a:spcBef>
            </a:pPr>
            <a:r>
              <a:rPr lang="ro-RO" sz="1400" dirty="0"/>
              <a:t>Fiecare alergător (Alergator) este rulat într-un fir de execuție separat.</a:t>
            </a:r>
            <a:r>
              <a:rPr lang="en-US" sz="1400" dirty="0"/>
              <a:t> </a:t>
            </a:r>
          </a:p>
          <a:p>
            <a:pPr>
              <a:spcBef>
                <a:spcPts val="0"/>
              </a:spcBef>
            </a:pPr>
            <a:r>
              <a:rPr lang="ro-RO" sz="1400" dirty="0"/>
              <a:t>În metod</a:t>
            </a:r>
            <a:r>
              <a:rPr lang="en-US" sz="1400" dirty="0"/>
              <a:t>a</a:t>
            </a:r>
            <a:r>
              <a:rPr lang="ro-RO" sz="1400" dirty="0"/>
              <a:t> run, fiecare alergător parcurge 10 </a:t>
            </a:r>
            <a:r>
              <a:rPr lang="en-US" sz="1400" dirty="0" err="1"/>
              <a:t>etape</a:t>
            </a:r>
            <a:r>
              <a:rPr lang="en-US" sz="1400" dirty="0"/>
              <a:t> </a:t>
            </a:r>
            <a:r>
              <a:rPr lang="ro-RO" sz="1400" dirty="0"/>
              <a:t>pentru a ajunge la linia de sosire, afișând progresul său în procente.</a:t>
            </a:r>
            <a:endParaRPr lang="en-US" sz="1400" dirty="0"/>
          </a:p>
          <a:p>
            <a:pPr>
              <a:spcBef>
                <a:spcPts val="0"/>
              </a:spcBef>
            </a:pPr>
            <a:r>
              <a:rPr lang="ro-RO" sz="1400" b="1" dirty="0"/>
              <a:t>Sleep</a:t>
            </a:r>
            <a:r>
              <a:rPr lang="ro-RO" sz="1400" dirty="0"/>
              <a:t>:</a:t>
            </a:r>
            <a:endParaRPr lang="en-US" sz="1400" dirty="0"/>
          </a:p>
          <a:p>
            <a:pPr>
              <a:spcBef>
                <a:spcPts val="0"/>
              </a:spcBef>
            </a:pPr>
            <a:r>
              <a:rPr lang="en-US" sz="1400" dirty="0" err="1">
                <a:latin typeface="Courier New" panose="02070309020205020404" pitchFamily="49" charset="0"/>
                <a:cs typeface="Courier New" panose="02070309020205020404" pitchFamily="49" charset="0"/>
              </a:rPr>
              <a:t>Thread.sleep</a:t>
            </a:r>
            <a:r>
              <a:rPr lang="en-US" sz="1400" dirty="0">
                <a:latin typeface="Courier New" panose="02070309020205020404" pitchFamily="49" charset="0"/>
                <a:cs typeface="Courier New" panose="02070309020205020404" pitchFamily="49" charset="0"/>
              </a:rPr>
              <a:t>((int) (</a:t>
            </a:r>
            <a:r>
              <a:rPr lang="en-US" sz="1400" dirty="0" err="1">
                <a:latin typeface="Courier New" panose="02070309020205020404" pitchFamily="49" charset="0"/>
                <a:cs typeface="Courier New" panose="02070309020205020404" pitchFamily="49" charset="0"/>
              </a:rPr>
              <a:t>Math.random</a:t>
            </a:r>
            <a:r>
              <a:rPr lang="en-US" sz="1400" dirty="0">
                <a:latin typeface="Courier New" panose="02070309020205020404" pitchFamily="49" charset="0"/>
                <a:cs typeface="Courier New" panose="02070309020205020404" pitchFamily="49" charset="0"/>
              </a:rPr>
              <a:t>() * 500) + 200); </a:t>
            </a:r>
            <a:r>
              <a:rPr lang="en-US" sz="1400" dirty="0" err="1"/>
              <a:t>adaugă</a:t>
            </a:r>
            <a:r>
              <a:rPr lang="en-US" sz="1400" dirty="0"/>
              <a:t> o </a:t>
            </a:r>
            <a:r>
              <a:rPr lang="en-US" sz="1400" dirty="0" err="1"/>
              <a:t>întârziere</a:t>
            </a:r>
            <a:r>
              <a:rPr lang="en-US" sz="1400" dirty="0"/>
              <a:t> </a:t>
            </a:r>
            <a:r>
              <a:rPr lang="en-US" sz="1400" dirty="0" err="1"/>
              <a:t>aleatorie</a:t>
            </a:r>
            <a:r>
              <a:rPr lang="en-US" sz="1400" dirty="0"/>
              <a:t> </a:t>
            </a:r>
            <a:r>
              <a:rPr lang="en-US" sz="1400" dirty="0" err="1"/>
              <a:t>pentru</a:t>
            </a:r>
            <a:r>
              <a:rPr lang="en-US" sz="1400" dirty="0"/>
              <a:t> </a:t>
            </a:r>
            <a:r>
              <a:rPr lang="en-US" sz="1400" dirty="0" err="1"/>
              <a:t>fiecare</a:t>
            </a:r>
            <a:r>
              <a:rPr lang="en-US" sz="1400" dirty="0"/>
              <a:t> </a:t>
            </a:r>
            <a:r>
              <a:rPr lang="en-US" sz="1400" dirty="0" err="1"/>
              <a:t>alergător</a:t>
            </a:r>
            <a:r>
              <a:rPr lang="en-US" sz="1400" dirty="0"/>
              <a:t>, </a:t>
            </a:r>
            <a:r>
              <a:rPr lang="en-US" sz="1400" dirty="0" err="1"/>
              <a:t>simulând</a:t>
            </a:r>
            <a:r>
              <a:rPr lang="en-US" sz="1400" dirty="0"/>
              <a:t> </a:t>
            </a:r>
            <a:r>
              <a:rPr lang="en-US" sz="1400" dirty="0" err="1"/>
              <a:t>diferențele</a:t>
            </a:r>
            <a:r>
              <a:rPr lang="en-US" sz="1400" dirty="0"/>
              <a:t> de </a:t>
            </a:r>
            <a:r>
              <a:rPr lang="en-US" sz="1400" dirty="0" err="1"/>
              <a:t>viteză</a:t>
            </a:r>
            <a:r>
              <a:rPr lang="en-US" sz="1400" dirty="0"/>
              <a:t> </a:t>
            </a:r>
            <a:r>
              <a:rPr lang="en-US" sz="1400" dirty="0" err="1"/>
              <a:t>dintre</a:t>
            </a:r>
            <a:r>
              <a:rPr lang="en-US" sz="1400" dirty="0"/>
              <a:t> </a:t>
            </a:r>
            <a:r>
              <a:rPr lang="en-US" sz="1400" dirty="0" err="1"/>
              <a:t>ei</a:t>
            </a:r>
            <a:r>
              <a:rPr lang="en-US" sz="1400" dirty="0"/>
              <a:t>.</a:t>
            </a:r>
          </a:p>
          <a:p>
            <a:pPr>
              <a:spcBef>
                <a:spcPts val="0"/>
              </a:spcBef>
            </a:pPr>
            <a:r>
              <a:rPr lang="ro-RO" sz="1400" b="1" dirty="0"/>
              <a:t>join()</a:t>
            </a:r>
            <a:r>
              <a:rPr lang="ro-RO" sz="1400" dirty="0"/>
              <a:t>:</a:t>
            </a:r>
            <a:endParaRPr lang="en-US" sz="1400" dirty="0"/>
          </a:p>
          <a:p>
            <a:pPr>
              <a:spcBef>
                <a:spcPts val="0"/>
              </a:spcBef>
            </a:pPr>
            <a:r>
              <a:rPr lang="ro-RO" sz="1400" dirty="0"/>
              <a:t>Asigură că programul principal așteaptă ca toate firele să termine cursa înainte de a afișa mesajul de finalizare.</a:t>
            </a:r>
            <a:endParaRPr lang="en-GB" sz="1400" dirty="0"/>
          </a:p>
          <a:p>
            <a:pPr>
              <a:spcBef>
                <a:spcPts val="0"/>
              </a:spcBef>
            </a:pPr>
            <a:endParaRPr lang="en-US" sz="1400" dirty="0"/>
          </a:p>
          <a:p>
            <a:r>
              <a:rPr lang="en-GB" sz="1400" dirty="0" err="1"/>
              <a:t>Metoda</a:t>
            </a:r>
            <a:r>
              <a:rPr lang="en-GB" sz="1400" dirty="0"/>
              <a:t> </a:t>
            </a:r>
            <a:r>
              <a:rPr lang="en-GB" sz="1400" dirty="0" err="1">
                <a:latin typeface="Courier New" panose="02070309020205020404" pitchFamily="49" charset="0"/>
              </a:rPr>
              <a:t>printStackTrace</a:t>
            </a:r>
            <a:r>
              <a:rPr lang="en-GB" sz="1400" dirty="0">
                <a:latin typeface="Courier New" panose="02070309020205020404" pitchFamily="49" charset="0"/>
              </a:rPr>
              <a:t>()</a:t>
            </a:r>
            <a:r>
              <a:rPr lang="en-GB" sz="1400" dirty="0"/>
              <a:t> </a:t>
            </a:r>
            <a:r>
              <a:rPr lang="en-GB" sz="1400" dirty="0" err="1"/>
              <a:t>aparține</a:t>
            </a:r>
            <a:r>
              <a:rPr lang="en-GB" sz="1400" dirty="0"/>
              <a:t> </a:t>
            </a:r>
            <a:r>
              <a:rPr lang="en-GB" sz="1400" dirty="0" err="1"/>
              <a:t>clasei</a:t>
            </a:r>
            <a:r>
              <a:rPr lang="en-GB" sz="1400" dirty="0"/>
              <a:t> </a:t>
            </a:r>
            <a:r>
              <a:rPr lang="en-GB" sz="1400" b="1" dirty="0">
                <a:latin typeface="Courier New" panose="02070309020205020404" pitchFamily="49" charset="0"/>
              </a:rPr>
              <a:t>Throwable. </a:t>
            </a:r>
            <a:r>
              <a:rPr lang="en-GB" sz="1400" dirty="0" err="1"/>
              <a:t>Ea</a:t>
            </a:r>
            <a:r>
              <a:rPr lang="en-GB" sz="1400" dirty="0"/>
              <a:t> are </a:t>
            </a:r>
            <a:r>
              <a:rPr lang="en-GB" sz="1400" dirty="0" err="1"/>
              <a:t>rolul</a:t>
            </a:r>
            <a:r>
              <a:rPr lang="en-GB" sz="1400" dirty="0"/>
              <a:t> de a </a:t>
            </a:r>
            <a:r>
              <a:rPr lang="en-GB" sz="1400" b="1" dirty="0" err="1"/>
              <a:t>afișa</a:t>
            </a:r>
            <a:r>
              <a:rPr lang="en-GB" sz="1400" b="1" dirty="0"/>
              <a:t> </a:t>
            </a:r>
            <a:r>
              <a:rPr lang="en-GB" sz="1400" b="1" dirty="0" err="1"/>
              <a:t>în</a:t>
            </a:r>
            <a:r>
              <a:rPr lang="en-GB" sz="1400" b="1" dirty="0"/>
              <a:t> </a:t>
            </a:r>
            <a:r>
              <a:rPr lang="en-GB" sz="1400" b="1" dirty="0" err="1"/>
              <a:t>consolă</a:t>
            </a:r>
            <a:r>
              <a:rPr lang="en-GB" sz="1400" b="1" dirty="0"/>
              <a:t> </a:t>
            </a:r>
            <a:r>
              <a:rPr lang="en-GB" sz="1400" b="1" dirty="0" err="1"/>
              <a:t>detalii</a:t>
            </a:r>
            <a:r>
              <a:rPr lang="en-GB" sz="1400" b="1" dirty="0"/>
              <a:t> complete </a:t>
            </a:r>
            <a:r>
              <a:rPr lang="en-GB" sz="1400" b="1" dirty="0" err="1"/>
              <a:t>despre</a:t>
            </a:r>
            <a:r>
              <a:rPr lang="en-GB" sz="1400" b="1" dirty="0"/>
              <a:t> </a:t>
            </a:r>
            <a:r>
              <a:rPr lang="en-GB" sz="1400" b="1" dirty="0" err="1"/>
              <a:t>eroarea</a:t>
            </a:r>
            <a:r>
              <a:rPr lang="en-GB" sz="1400" b="1" dirty="0"/>
              <a:t> (</a:t>
            </a:r>
            <a:r>
              <a:rPr lang="en-GB" sz="1400" b="1" dirty="0" err="1"/>
              <a:t>excepția</a:t>
            </a:r>
            <a:r>
              <a:rPr lang="en-GB" sz="1400" b="1" dirty="0"/>
              <a:t>)</a:t>
            </a:r>
            <a:r>
              <a:rPr lang="en-GB" sz="1400" dirty="0"/>
              <a:t> care a </a:t>
            </a:r>
            <a:r>
              <a:rPr lang="en-GB" sz="1400" dirty="0" err="1"/>
              <a:t>fost</a:t>
            </a:r>
            <a:r>
              <a:rPr lang="en-GB" sz="1400" dirty="0"/>
              <a:t> </a:t>
            </a:r>
            <a:r>
              <a:rPr lang="en-GB" sz="1400" dirty="0" err="1"/>
              <a:t>aruncată</a:t>
            </a:r>
            <a:r>
              <a:rPr lang="en-GB" sz="1400" dirty="0"/>
              <a:t>, </a:t>
            </a:r>
            <a:r>
              <a:rPr lang="en-GB" sz="1400" dirty="0" err="1"/>
              <a:t>inclusiv</a:t>
            </a:r>
            <a:r>
              <a:rPr lang="en-GB" sz="1400" dirty="0"/>
              <a:t>:</a:t>
            </a:r>
          </a:p>
          <a:p>
            <a:pPr>
              <a:buFont typeface="Wingdings" panose="05000000000000000000" pitchFamily="2" charset="2"/>
              <a:buChar char="Ø"/>
            </a:pPr>
            <a:r>
              <a:rPr lang="en-GB" sz="1400" b="1" dirty="0" err="1"/>
              <a:t>tipul</a:t>
            </a:r>
            <a:r>
              <a:rPr lang="en-GB" sz="1400" b="1" dirty="0"/>
              <a:t> </a:t>
            </a:r>
            <a:r>
              <a:rPr lang="en-GB" sz="1400" b="1" dirty="0" err="1"/>
              <a:t>excepției</a:t>
            </a:r>
            <a:r>
              <a:rPr lang="en-GB" sz="1400" dirty="0"/>
              <a:t> (ex: </a:t>
            </a:r>
            <a:r>
              <a:rPr lang="en-GB" sz="1400" dirty="0" err="1"/>
              <a:t>InterruptedException</a:t>
            </a:r>
            <a:r>
              <a:rPr lang="en-GB" sz="1400" dirty="0"/>
              <a:t>);</a:t>
            </a:r>
          </a:p>
          <a:p>
            <a:pPr>
              <a:buFont typeface="Wingdings" panose="05000000000000000000" pitchFamily="2" charset="2"/>
              <a:buChar char="Ø"/>
            </a:pPr>
            <a:r>
              <a:rPr lang="en-GB" sz="1400" b="1" dirty="0" err="1"/>
              <a:t>mesajul</a:t>
            </a:r>
            <a:r>
              <a:rPr lang="en-GB" sz="1400" b="1" dirty="0"/>
              <a:t> de </a:t>
            </a:r>
            <a:r>
              <a:rPr lang="en-GB" sz="1400" b="1" dirty="0" err="1"/>
              <a:t>eroare</a:t>
            </a:r>
            <a:r>
              <a:rPr lang="en-GB" sz="1400" dirty="0"/>
              <a:t>, </a:t>
            </a:r>
            <a:r>
              <a:rPr lang="en-GB" sz="1400" dirty="0" err="1"/>
              <a:t>dacă</a:t>
            </a:r>
            <a:r>
              <a:rPr lang="en-GB" sz="1400" dirty="0"/>
              <a:t> </a:t>
            </a:r>
            <a:r>
              <a:rPr lang="en-GB" sz="1400" dirty="0" err="1"/>
              <a:t>există</a:t>
            </a:r>
            <a:r>
              <a:rPr lang="en-GB" sz="1400" dirty="0"/>
              <a:t>;</a:t>
            </a:r>
          </a:p>
          <a:p>
            <a:pPr>
              <a:buFont typeface="Wingdings" panose="05000000000000000000" pitchFamily="2" charset="2"/>
              <a:buChar char="Ø"/>
            </a:pPr>
            <a:r>
              <a:rPr lang="en-GB" sz="1400" b="1" dirty="0" err="1"/>
              <a:t>traseul</a:t>
            </a:r>
            <a:r>
              <a:rPr lang="en-GB" sz="1400" b="1" dirty="0"/>
              <a:t> de </a:t>
            </a:r>
            <a:r>
              <a:rPr lang="en-GB" sz="1400" b="1" dirty="0" err="1"/>
              <a:t>apeluri</a:t>
            </a:r>
            <a:r>
              <a:rPr lang="en-GB" sz="1400" dirty="0"/>
              <a:t> (stack trace) — </a:t>
            </a:r>
            <a:r>
              <a:rPr lang="en-GB" sz="1400" dirty="0" err="1"/>
              <a:t>adică</a:t>
            </a:r>
            <a:r>
              <a:rPr lang="en-GB" sz="1400" dirty="0"/>
              <a:t> </a:t>
            </a:r>
            <a:r>
              <a:rPr lang="en-GB" sz="1400" dirty="0" err="1"/>
              <a:t>lista</a:t>
            </a:r>
            <a:r>
              <a:rPr lang="en-GB" sz="1400" dirty="0"/>
              <a:t> </a:t>
            </a:r>
            <a:r>
              <a:rPr lang="en-GB" sz="1400" dirty="0" err="1"/>
              <a:t>metodelor</a:t>
            </a:r>
            <a:r>
              <a:rPr lang="en-GB" sz="1400" dirty="0"/>
              <a:t> care au </a:t>
            </a:r>
            <a:r>
              <a:rPr lang="en-GB" sz="1400" dirty="0" err="1"/>
              <a:t>fost</a:t>
            </a:r>
            <a:r>
              <a:rPr lang="en-GB" sz="1400" dirty="0"/>
              <a:t> </a:t>
            </a:r>
            <a:r>
              <a:rPr lang="en-GB" sz="1400" dirty="0" err="1"/>
              <a:t>apelate</a:t>
            </a:r>
            <a:r>
              <a:rPr lang="en-GB" sz="1400" dirty="0"/>
              <a:t> </a:t>
            </a:r>
            <a:r>
              <a:rPr lang="en-GB" sz="1400" dirty="0" err="1"/>
              <a:t>până</a:t>
            </a:r>
            <a:r>
              <a:rPr lang="en-GB" sz="1400" dirty="0"/>
              <a:t> la </a:t>
            </a:r>
            <a:r>
              <a:rPr lang="en-GB" sz="1400" dirty="0" err="1"/>
              <a:t>apariția</a:t>
            </a:r>
            <a:r>
              <a:rPr lang="en-GB" sz="1400" dirty="0"/>
              <a:t> </a:t>
            </a:r>
            <a:r>
              <a:rPr lang="en-GB" sz="1400" dirty="0" err="1"/>
              <a:t>erorii</a:t>
            </a:r>
            <a:r>
              <a:rPr lang="en-GB" sz="1400" dirty="0"/>
              <a:t>.</a:t>
            </a:r>
          </a:p>
          <a:p>
            <a:pPr>
              <a:spcBef>
                <a:spcPts val="0"/>
              </a:spcBef>
            </a:pPr>
            <a:endParaRPr lang="ro-RO" sz="1400" dirty="0"/>
          </a:p>
        </p:txBody>
      </p:sp>
    </p:spTree>
    <p:extLst>
      <p:ext uri="{BB962C8B-B14F-4D97-AF65-F5344CB8AC3E}">
        <p14:creationId xmlns:p14="http://schemas.microsoft.com/office/powerpoint/2010/main" val="28852474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A325B0-B0F1-AE73-75AD-59D6FAD6A90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F65FD2-077E-737C-4B3C-6A92B2D11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2E3B40C-E500-2437-129F-91DE712874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F753238A-D783-1B02-1B1E-2AD3A56F7747}"/>
              </a:ext>
            </a:extLst>
          </p:cNvPr>
          <p:cNvSpPr>
            <a:spLocks noGrp="1"/>
          </p:cNvSpPr>
          <p:nvPr>
            <p:ph type="title"/>
          </p:nvPr>
        </p:nvSpPr>
        <p:spPr>
          <a:xfrm>
            <a:off x="492370" y="605896"/>
            <a:ext cx="3084844" cy="5646208"/>
          </a:xfrm>
        </p:spPr>
        <p:txBody>
          <a:bodyPr anchor="ctr">
            <a:normAutofit/>
          </a:bodyPr>
          <a:lstStyle/>
          <a:p>
            <a:r>
              <a:rPr lang="en-US" sz="3600">
                <a:solidFill>
                  <a:srgbClr val="FFFFFF"/>
                </a:solidFill>
              </a:rPr>
              <a:t>Exemplu de program</a:t>
            </a:r>
            <a:endParaRPr lang="ro-RO" sz="3600">
              <a:solidFill>
                <a:srgbClr val="FFFFFF"/>
              </a:solidFill>
            </a:endParaRPr>
          </a:p>
        </p:txBody>
      </p:sp>
      <p:sp>
        <p:nvSpPr>
          <p:cNvPr id="12" name="Rectangle 11">
            <a:extLst>
              <a:ext uri="{FF2B5EF4-FFF2-40B4-BE49-F238E27FC236}">
                <a16:creationId xmlns:a16="http://schemas.microsoft.com/office/drawing/2014/main" id="{E8B57CAF-7DAD-A117-65D2-26ADFAF6D1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 name="Content Placeholder 2">
            <a:extLst>
              <a:ext uri="{FF2B5EF4-FFF2-40B4-BE49-F238E27FC236}">
                <a16:creationId xmlns:a16="http://schemas.microsoft.com/office/drawing/2014/main" id="{7BEFE86F-4591-3F49-DC48-11ADE3E6B34D}"/>
              </a:ext>
            </a:extLst>
          </p:cNvPr>
          <p:cNvSpPr>
            <a:spLocks noGrp="1"/>
          </p:cNvSpPr>
          <p:nvPr>
            <p:ph idx="1"/>
          </p:nvPr>
        </p:nvSpPr>
        <p:spPr>
          <a:xfrm>
            <a:off x="4411500" y="605896"/>
            <a:ext cx="7075650" cy="6061604"/>
          </a:xfrm>
        </p:spPr>
        <p:txBody>
          <a:bodyPr anchor="ctr">
            <a:normAutofit/>
          </a:bodyPr>
          <a:lstStyle/>
          <a:p>
            <a:pPr>
              <a:spcBef>
                <a:spcPts val="0"/>
              </a:spcBef>
            </a:pPr>
            <a:r>
              <a:rPr lang="en-GB" sz="1400" dirty="0"/>
              <a:t>In contextual </a:t>
            </a:r>
            <a:r>
              <a:rPr lang="en-GB" sz="1400" dirty="0" err="1"/>
              <a:t>exemplului</a:t>
            </a:r>
            <a:endParaRPr lang="en-GB" sz="1400" dirty="0"/>
          </a:p>
          <a:p>
            <a:r>
              <a:rPr lang="en-GB" sz="1400" b="1" dirty="0">
                <a:solidFill>
                  <a:srgbClr val="000080"/>
                </a:solidFill>
                <a:highlight>
                  <a:srgbClr val="FFFFFF"/>
                </a:highlight>
              </a:rPr>
              <a:t>}</a:t>
            </a:r>
            <a:r>
              <a:rPr lang="en-GB" sz="1400" b="0" dirty="0">
                <a:solidFill>
                  <a:srgbClr val="000000"/>
                </a:solidFill>
                <a:highlight>
                  <a:srgbClr val="FFFFFF"/>
                </a:highlight>
              </a:rPr>
              <a:t> </a:t>
            </a:r>
            <a:r>
              <a:rPr lang="en-GB" sz="1400" b="1" dirty="0">
                <a:solidFill>
                  <a:srgbClr val="0000FF"/>
                </a:solidFill>
                <a:highlight>
                  <a:srgbClr val="FFFFFF"/>
                </a:highlight>
              </a:rPr>
              <a:t>catch</a:t>
            </a:r>
            <a:r>
              <a:rPr lang="en-GB" sz="1400" b="0" dirty="0">
                <a:solidFill>
                  <a:srgbClr val="000000"/>
                </a:solidFill>
                <a:highlight>
                  <a:srgbClr val="FFFFFF"/>
                </a:highlight>
              </a:rPr>
              <a:t> </a:t>
            </a:r>
            <a:r>
              <a:rPr lang="en-GB" sz="1400" b="1" dirty="0">
                <a:solidFill>
                  <a:srgbClr val="000080"/>
                </a:solidFill>
                <a:highlight>
                  <a:srgbClr val="FFFFFF"/>
                </a:highlight>
              </a:rPr>
              <a:t>(</a:t>
            </a:r>
            <a:r>
              <a:rPr lang="en-GB" sz="1400" b="0" dirty="0" err="1">
                <a:solidFill>
                  <a:srgbClr val="000000"/>
                </a:solidFill>
                <a:highlight>
                  <a:srgbClr val="FFFFFF"/>
                </a:highlight>
              </a:rPr>
              <a:t>InterruptedException</a:t>
            </a:r>
            <a:r>
              <a:rPr lang="en-GB" sz="1400" b="0" dirty="0">
                <a:solidFill>
                  <a:srgbClr val="000000"/>
                </a:solidFill>
                <a:highlight>
                  <a:srgbClr val="FFFFFF"/>
                </a:highlight>
              </a:rPr>
              <a:t> e</a:t>
            </a:r>
            <a:r>
              <a:rPr lang="en-GB" sz="1400" b="1" dirty="0">
                <a:solidFill>
                  <a:srgbClr val="000080"/>
                </a:solidFill>
                <a:highlight>
                  <a:srgbClr val="FFFFFF"/>
                </a:highlight>
              </a:rPr>
              <a:t>)</a:t>
            </a:r>
            <a:r>
              <a:rPr lang="en-GB" sz="1400" b="0" dirty="0">
                <a:solidFill>
                  <a:srgbClr val="000000"/>
                </a:solidFill>
                <a:highlight>
                  <a:srgbClr val="FFFFFF"/>
                </a:highlight>
              </a:rPr>
              <a:t> </a:t>
            </a:r>
            <a:r>
              <a:rPr lang="en-GB" sz="1400" b="1" dirty="0">
                <a:solidFill>
                  <a:srgbClr val="000080"/>
                </a:solidFill>
                <a:highlight>
                  <a:srgbClr val="FFFFFF"/>
                </a:highlight>
              </a:rPr>
              <a:t>{</a:t>
            </a:r>
            <a:endParaRPr lang="en-GB" sz="1400" b="0" dirty="0">
              <a:solidFill>
                <a:srgbClr val="000000"/>
              </a:solidFill>
              <a:highlight>
                <a:srgbClr val="FFFFFF"/>
              </a:highlight>
            </a:endParaRPr>
          </a:p>
          <a:p>
            <a:r>
              <a:rPr lang="en-GB" sz="1400" b="0" dirty="0">
                <a:solidFill>
                  <a:srgbClr val="000000"/>
                </a:solidFill>
                <a:highlight>
                  <a:srgbClr val="FFFFFF"/>
                </a:highlight>
              </a:rPr>
              <a:t>    </a:t>
            </a:r>
            <a:r>
              <a:rPr lang="en-GB" sz="1400" b="0" dirty="0" err="1">
                <a:solidFill>
                  <a:srgbClr val="000000"/>
                </a:solidFill>
                <a:highlight>
                  <a:srgbClr val="FFFFFF"/>
                </a:highlight>
              </a:rPr>
              <a:t>e</a:t>
            </a:r>
            <a:r>
              <a:rPr lang="en-GB" sz="1400" b="1" dirty="0" err="1">
                <a:solidFill>
                  <a:srgbClr val="000080"/>
                </a:solidFill>
                <a:highlight>
                  <a:srgbClr val="FFFFFF"/>
                </a:highlight>
              </a:rPr>
              <a:t>.</a:t>
            </a:r>
            <a:r>
              <a:rPr lang="en-GB" sz="1400" b="0" dirty="0" err="1">
                <a:solidFill>
                  <a:srgbClr val="000000"/>
                </a:solidFill>
                <a:highlight>
                  <a:srgbClr val="FFFFFF"/>
                </a:highlight>
              </a:rPr>
              <a:t>printStackTrace</a:t>
            </a:r>
            <a:r>
              <a:rPr lang="en-GB" sz="1400" b="1" dirty="0">
                <a:solidFill>
                  <a:srgbClr val="000080"/>
                </a:solidFill>
                <a:highlight>
                  <a:srgbClr val="FFFFFF"/>
                </a:highlight>
              </a:rPr>
              <a:t>();</a:t>
            </a:r>
            <a:endParaRPr lang="en-GB" sz="1400" b="0" dirty="0">
              <a:solidFill>
                <a:srgbClr val="000000"/>
              </a:solidFill>
              <a:highlight>
                <a:srgbClr val="FFFFFF"/>
              </a:highlight>
            </a:endParaRPr>
          </a:p>
          <a:p>
            <a:r>
              <a:rPr lang="en-GB" sz="1400" b="1" dirty="0">
                <a:solidFill>
                  <a:srgbClr val="000080"/>
                </a:solidFill>
                <a:highlight>
                  <a:srgbClr val="FFFFFF"/>
                </a:highlight>
              </a:rPr>
              <a:t>}</a:t>
            </a:r>
            <a:endParaRPr lang="en-GB" sz="1400" b="0" dirty="0">
              <a:solidFill>
                <a:srgbClr val="000000"/>
              </a:solidFill>
              <a:highlight>
                <a:srgbClr val="FFFFFF"/>
              </a:highlight>
            </a:endParaRPr>
          </a:p>
          <a:p>
            <a:pPr>
              <a:spcBef>
                <a:spcPts val="0"/>
              </a:spcBef>
            </a:pPr>
            <a:r>
              <a:rPr lang="ro-RO" sz="1400" dirty="0"/>
              <a:t>Aici, metoda join() poate arunca o InterruptedException, dacă unul dintre fire este întrerupt în timp ce așteaptă.</a:t>
            </a:r>
            <a:r>
              <a:rPr lang="en-GB" sz="1400" dirty="0"/>
              <a:t> </a:t>
            </a:r>
            <a:r>
              <a:rPr lang="ro-RO" sz="1400" dirty="0"/>
              <a:t>Apelul e.printStackTrace(); va afișa în consolă detaliile despre acea întrerupere.</a:t>
            </a:r>
            <a:endParaRPr lang="en-GB" sz="1400" dirty="0"/>
          </a:p>
          <a:p>
            <a:pPr>
              <a:spcBef>
                <a:spcPts val="0"/>
              </a:spcBef>
            </a:pPr>
            <a:r>
              <a:rPr lang="en-GB" sz="1400" dirty="0" err="1"/>
              <a:t>Varianta</a:t>
            </a:r>
            <a:r>
              <a:rPr lang="en-GB" sz="1400" dirty="0"/>
              <a:t> </a:t>
            </a:r>
            <a:r>
              <a:rPr lang="en-GB" sz="1400" dirty="0" err="1"/>
              <a:t>pentru</a:t>
            </a:r>
            <a:r>
              <a:rPr lang="en-GB" sz="1400" dirty="0"/>
              <a:t> </a:t>
            </a:r>
            <a:r>
              <a:rPr lang="en-GB" sz="1400" dirty="0" err="1"/>
              <a:t>codul</a:t>
            </a:r>
            <a:r>
              <a:rPr lang="en-GB" sz="1400" dirty="0"/>
              <a:t> anterior:</a:t>
            </a:r>
          </a:p>
          <a:p>
            <a:r>
              <a:rPr lang="en-GB" sz="1400" b="1" dirty="0">
                <a:solidFill>
                  <a:srgbClr val="000080"/>
                </a:solidFill>
                <a:highlight>
                  <a:srgbClr val="FFFFFF"/>
                </a:highlight>
              </a:rPr>
              <a:t>}</a:t>
            </a:r>
            <a:r>
              <a:rPr lang="en-GB" sz="1400" b="0" dirty="0">
                <a:solidFill>
                  <a:srgbClr val="000000"/>
                </a:solidFill>
                <a:highlight>
                  <a:srgbClr val="FFFFFF"/>
                </a:highlight>
              </a:rPr>
              <a:t> </a:t>
            </a:r>
            <a:r>
              <a:rPr lang="en-GB" sz="1400" b="1" dirty="0">
                <a:solidFill>
                  <a:srgbClr val="0000FF"/>
                </a:solidFill>
                <a:highlight>
                  <a:srgbClr val="FFFFFF"/>
                </a:highlight>
              </a:rPr>
              <a:t>catch</a:t>
            </a:r>
            <a:r>
              <a:rPr lang="en-GB" sz="1400" b="0" dirty="0">
                <a:solidFill>
                  <a:srgbClr val="000000"/>
                </a:solidFill>
                <a:highlight>
                  <a:srgbClr val="FFFFFF"/>
                </a:highlight>
              </a:rPr>
              <a:t> </a:t>
            </a:r>
            <a:r>
              <a:rPr lang="en-GB" sz="1400" b="1" dirty="0">
                <a:solidFill>
                  <a:srgbClr val="000080"/>
                </a:solidFill>
                <a:highlight>
                  <a:srgbClr val="FFFFFF"/>
                </a:highlight>
              </a:rPr>
              <a:t>(</a:t>
            </a:r>
            <a:r>
              <a:rPr lang="en-GB" sz="1400" b="0" dirty="0" err="1">
                <a:solidFill>
                  <a:srgbClr val="000000"/>
                </a:solidFill>
                <a:highlight>
                  <a:srgbClr val="FFFFFF"/>
                </a:highlight>
              </a:rPr>
              <a:t>InterruptedException</a:t>
            </a:r>
            <a:r>
              <a:rPr lang="en-GB" sz="1400" b="0" dirty="0">
                <a:solidFill>
                  <a:srgbClr val="000000"/>
                </a:solidFill>
                <a:highlight>
                  <a:srgbClr val="FFFFFF"/>
                </a:highlight>
              </a:rPr>
              <a:t> e</a:t>
            </a:r>
            <a:r>
              <a:rPr lang="en-GB" sz="1400" b="1" dirty="0">
                <a:solidFill>
                  <a:srgbClr val="000080"/>
                </a:solidFill>
                <a:highlight>
                  <a:srgbClr val="FFFFFF"/>
                </a:highlight>
              </a:rPr>
              <a:t>)</a:t>
            </a:r>
            <a:r>
              <a:rPr lang="en-GB" sz="1400" b="0" dirty="0">
                <a:solidFill>
                  <a:srgbClr val="000000"/>
                </a:solidFill>
                <a:highlight>
                  <a:srgbClr val="FFFFFF"/>
                </a:highlight>
              </a:rPr>
              <a:t> </a:t>
            </a:r>
            <a:r>
              <a:rPr lang="en-GB" sz="1400" b="1" dirty="0">
                <a:solidFill>
                  <a:srgbClr val="000080"/>
                </a:solidFill>
                <a:highlight>
                  <a:srgbClr val="FFFFFF"/>
                </a:highlight>
              </a:rPr>
              <a:t>{</a:t>
            </a:r>
            <a:endParaRPr lang="en-GB" sz="1400" b="0" dirty="0">
              <a:solidFill>
                <a:srgbClr val="000000"/>
              </a:solidFill>
              <a:highlight>
                <a:srgbClr val="FFFFFF"/>
              </a:highlight>
            </a:endParaRPr>
          </a:p>
          <a:p>
            <a:r>
              <a:rPr lang="en-GB" sz="1400" b="0" dirty="0">
                <a:solidFill>
                  <a:srgbClr val="000000"/>
                </a:solidFill>
                <a:highlight>
                  <a:srgbClr val="FFFFFF"/>
                </a:highlight>
              </a:rPr>
              <a:t>    </a:t>
            </a:r>
            <a:r>
              <a:rPr lang="en-GB" sz="1400" b="0" dirty="0" err="1">
                <a:solidFill>
                  <a:srgbClr val="000000"/>
                </a:solidFill>
                <a:highlight>
                  <a:srgbClr val="FFFFFF"/>
                </a:highlight>
              </a:rPr>
              <a:t>System</a:t>
            </a:r>
            <a:r>
              <a:rPr lang="en-GB" sz="1400" b="1" dirty="0" err="1">
                <a:solidFill>
                  <a:srgbClr val="000080"/>
                </a:solidFill>
                <a:highlight>
                  <a:srgbClr val="FFFFFF"/>
                </a:highlight>
              </a:rPr>
              <a:t>.</a:t>
            </a:r>
            <a:r>
              <a:rPr lang="en-GB" sz="1400" b="0" dirty="0" err="1">
                <a:solidFill>
                  <a:srgbClr val="000000"/>
                </a:solidFill>
                <a:highlight>
                  <a:srgbClr val="FFFFFF"/>
                </a:highlight>
              </a:rPr>
              <a:t>out</a:t>
            </a:r>
            <a:r>
              <a:rPr lang="en-GB" sz="1400" b="1" dirty="0" err="1">
                <a:solidFill>
                  <a:srgbClr val="000080"/>
                </a:solidFill>
                <a:highlight>
                  <a:srgbClr val="FFFFFF"/>
                </a:highlight>
              </a:rPr>
              <a:t>.</a:t>
            </a:r>
            <a:r>
              <a:rPr lang="en-GB" sz="1400" b="0" dirty="0" err="1">
                <a:solidFill>
                  <a:srgbClr val="000000"/>
                </a:solidFill>
                <a:highlight>
                  <a:srgbClr val="FFFFFF"/>
                </a:highlight>
              </a:rPr>
              <a:t>println</a:t>
            </a:r>
            <a:r>
              <a:rPr lang="en-GB" sz="1400" b="1" dirty="0">
                <a:solidFill>
                  <a:srgbClr val="000080"/>
                </a:solidFill>
                <a:highlight>
                  <a:srgbClr val="FFFFFF"/>
                </a:highlight>
              </a:rPr>
              <a:t>(</a:t>
            </a:r>
            <a:r>
              <a:rPr lang="en-GB" sz="1400" b="0" dirty="0">
                <a:solidFill>
                  <a:srgbClr val="808080"/>
                </a:solidFill>
                <a:highlight>
                  <a:srgbClr val="FFFFFF"/>
                </a:highlight>
              </a:rPr>
              <a:t>"</a:t>
            </a:r>
            <a:r>
              <a:rPr lang="en-GB" sz="1400" b="0" dirty="0" err="1">
                <a:solidFill>
                  <a:srgbClr val="808080"/>
                </a:solidFill>
                <a:highlight>
                  <a:srgbClr val="FFFFFF"/>
                </a:highlight>
              </a:rPr>
              <a:t>Cursa</a:t>
            </a:r>
            <a:r>
              <a:rPr lang="en-GB" sz="1400" b="0" dirty="0">
                <a:solidFill>
                  <a:srgbClr val="808080"/>
                </a:solidFill>
                <a:highlight>
                  <a:srgbClr val="FFFFFF"/>
                </a:highlight>
              </a:rPr>
              <a:t> a </a:t>
            </a:r>
            <a:r>
              <a:rPr lang="en-GB" sz="1400" b="0" dirty="0" err="1">
                <a:solidFill>
                  <a:srgbClr val="808080"/>
                </a:solidFill>
                <a:highlight>
                  <a:srgbClr val="FFFFFF"/>
                </a:highlight>
              </a:rPr>
              <a:t>fost</a:t>
            </a:r>
            <a:r>
              <a:rPr lang="en-GB" sz="1400" b="0" dirty="0">
                <a:solidFill>
                  <a:srgbClr val="808080"/>
                </a:solidFill>
                <a:highlight>
                  <a:srgbClr val="FFFFFF"/>
                </a:highlight>
              </a:rPr>
              <a:t> </a:t>
            </a:r>
            <a:r>
              <a:rPr lang="en-GB" sz="1400" b="0" dirty="0" err="1">
                <a:solidFill>
                  <a:srgbClr val="808080"/>
                </a:solidFill>
                <a:highlight>
                  <a:srgbClr val="FFFFFF"/>
                </a:highlight>
              </a:rPr>
              <a:t>întreruptă</a:t>
            </a:r>
            <a:r>
              <a:rPr lang="en-GB" sz="1400" b="0" dirty="0">
                <a:solidFill>
                  <a:srgbClr val="808080"/>
                </a:solidFill>
                <a:highlight>
                  <a:srgbClr val="FFFFFF"/>
                </a:highlight>
              </a:rPr>
              <a:t>!"</a:t>
            </a:r>
            <a:r>
              <a:rPr lang="en-GB" sz="1400" b="1" dirty="0">
                <a:solidFill>
                  <a:srgbClr val="000080"/>
                </a:solidFill>
                <a:highlight>
                  <a:srgbClr val="FFFFFF"/>
                </a:highlight>
              </a:rPr>
              <a:t>);</a:t>
            </a:r>
            <a:endParaRPr lang="en-GB" sz="1400" b="0" dirty="0">
              <a:solidFill>
                <a:srgbClr val="000000"/>
              </a:solidFill>
              <a:highlight>
                <a:srgbClr val="FFFFFF"/>
              </a:highlight>
            </a:endParaRPr>
          </a:p>
          <a:p>
            <a:r>
              <a:rPr lang="en-GB" sz="1400" b="1" dirty="0">
                <a:solidFill>
                  <a:srgbClr val="000080"/>
                </a:solidFill>
                <a:highlight>
                  <a:srgbClr val="FFFFFF"/>
                </a:highlight>
              </a:rPr>
              <a:t>}</a:t>
            </a:r>
            <a:endParaRPr lang="en-GB" sz="1400" b="0" dirty="0">
              <a:solidFill>
                <a:srgbClr val="000000"/>
              </a:solidFill>
              <a:highlight>
                <a:srgbClr val="FFFFFF"/>
              </a:highlight>
            </a:endParaRPr>
          </a:p>
          <a:p>
            <a:pPr>
              <a:spcBef>
                <a:spcPts val="0"/>
              </a:spcBef>
            </a:pPr>
            <a:r>
              <a:rPr lang="ro-RO" sz="1400" dirty="0"/>
              <a:t>💡 Pe scurt:</a:t>
            </a:r>
            <a:endParaRPr lang="en-GB" sz="1400" dirty="0"/>
          </a:p>
          <a:p>
            <a:pPr>
              <a:spcBef>
                <a:spcPts val="0"/>
              </a:spcBef>
            </a:pPr>
            <a:r>
              <a:rPr lang="ro-RO" sz="1400" dirty="0"/>
              <a:t>✅ printStackTrace() → bun pentru diagnosticare și debugging.</a:t>
            </a:r>
            <a:endParaRPr lang="en-GB" sz="1400" dirty="0"/>
          </a:p>
          <a:p>
            <a:pPr>
              <a:spcBef>
                <a:spcPts val="0"/>
              </a:spcBef>
            </a:pPr>
            <a:r>
              <a:rPr lang="ro-RO" sz="1400" dirty="0"/>
              <a:t>⚙️ Poate fi înlocuit cu un mesaj personalizat.</a:t>
            </a:r>
            <a:endParaRPr lang="en-GB" sz="1400" dirty="0"/>
          </a:p>
        </p:txBody>
      </p:sp>
    </p:spTree>
    <p:extLst>
      <p:ext uri="{BB962C8B-B14F-4D97-AF65-F5344CB8AC3E}">
        <p14:creationId xmlns:p14="http://schemas.microsoft.com/office/powerpoint/2010/main" val="18917377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492370" y="605896"/>
            <a:ext cx="3084844" cy="5646208"/>
          </a:xfrm>
        </p:spPr>
        <p:txBody>
          <a:bodyPr anchor="ctr">
            <a:normAutofit/>
          </a:bodyPr>
          <a:lstStyle/>
          <a:p>
            <a:r>
              <a:rPr lang="ro-RO" sz="3600" b="1">
                <a:solidFill>
                  <a:srgbClr val="FFFFFF"/>
                </a:solidFill>
              </a:rPr>
              <a:t>Sincronizare</a:t>
            </a:r>
            <a:endParaRPr lang="ro-RO" sz="3600">
              <a:solidFill>
                <a:srgbClr val="FFFFFF"/>
              </a:solidFill>
            </a:endParaRP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 name="Content Placeholder 2"/>
          <p:cNvSpPr>
            <a:spLocks noGrp="1"/>
          </p:cNvSpPr>
          <p:nvPr>
            <p:ph idx="1"/>
          </p:nvPr>
        </p:nvSpPr>
        <p:spPr>
          <a:xfrm>
            <a:off x="4742016" y="605896"/>
            <a:ext cx="7179820" cy="6252104"/>
          </a:xfrm>
        </p:spPr>
        <p:txBody>
          <a:bodyPr anchor="ctr">
            <a:normAutofit/>
          </a:bodyPr>
          <a:lstStyle/>
          <a:p>
            <a:r>
              <a:rPr lang="ro-RO" sz="1400" dirty="0"/>
              <a:t>În unele situaţii se poate întâmpla ca mai multe fire de execuţie să vrea să acceseze aceeaşi variabilă. În astfel de situaţii, se pot produce încurcături dacă în timpul unuia dintre accese un alt fir de execuţie modifică valoarea variabilei.</a:t>
            </a:r>
          </a:p>
          <a:p>
            <a:r>
              <a:rPr lang="ro-RO" sz="1400" dirty="0"/>
              <a:t>Limbajul Java oferă în mod nativ suport pentru protejarea acestor variabile. </a:t>
            </a:r>
            <a:endParaRPr lang="en-GB" sz="1400" dirty="0"/>
          </a:p>
          <a:p>
            <a:r>
              <a:rPr lang="ro-RO" sz="1400" dirty="0"/>
              <a:t>Putem defini metode, în cadrul claselor, care sunt sincronizate. </a:t>
            </a:r>
          </a:p>
          <a:p>
            <a:r>
              <a:rPr lang="ro-RO" sz="1400" dirty="0"/>
              <a:t>Pe o instanţă de clasă, la un moment dat, poate lucra o singură metodă sincronizată. Dacă un alt fir de execuţie încearcă să apeleze aceeaşi metodă pe aceeaşi instanţă sau o altă metodă a clasei de asemenea declarată sincronizată, acest al doilea apel va trebui să aştepte înainte de execuţie eliberarea instanţei de către cealaltă metodă.</a:t>
            </a:r>
          </a:p>
          <a:p>
            <a:r>
              <a:rPr lang="ro-RO" sz="1400" dirty="0"/>
              <a:t>În afară de sincronizarea metodelor, se pot sincroniza şi doar blocuri de instrucţiuni. Aceste sincronizări se fac tot în legătură cu o anumită instanţă a unei clase. Aceste blocuri de instrucţiuni sincronizate se pot executa doar când instanţa este liberă. Se poate întâmpla ca cele două tipuri de sincronizări să se amestece, în sensul că obiectul poate fi blocat de un bloc de instrucţiuni şi toate metodele sincronizate să aştepte, sau invers.</a:t>
            </a:r>
          </a:p>
          <a:p>
            <a:r>
              <a:rPr lang="ro-RO" sz="1400" dirty="0"/>
              <a:t>Declararea unui bloc de instrucţiuni sincronizate se face prin:</a:t>
            </a:r>
          </a:p>
          <a:p>
            <a:r>
              <a:rPr lang="en-GB" sz="1400" dirty="0">
                <a:solidFill>
                  <a:srgbClr val="000000"/>
                </a:solidFill>
                <a:highlight>
                  <a:srgbClr val="FFFFFF"/>
                </a:highlight>
              </a:rPr>
              <a:t>synchronize </a:t>
            </a:r>
            <a:r>
              <a:rPr lang="en-GB" sz="1400" b="1" dirty="0">
                <a:solidFill>
                  <a:srgbClr val="000080"/>
                </a:solidFill>
                <a:highlight>
                  <a:srgbClr val="FFFFFF"/>
                </a:highlight>
              </a:rPr>
              <a:t>(</a:t>
            </a:r>
            <a:r>
              <a:rPr lang="en-GB" sz="1400" b="0" dirty="0">
                <a:solidFill>
                  <a:srgbClr val="000000"/>
                </a:solidFill>
                <a:highlight>
                  <a:srgbClr val="FFFFFF"/>
                </a:highlight>
              </a:rPr>
              <a:t> </a:t>
            </a:r>
            <a:r>
              <a:rPr lang="en-GB" sz="1400" b="0" dirty="0" err="1">
                <a:solidFill>
                  <a:srgbClr val="000000"/>
                </a:solidFill>
                <a:highlight>
                  <a:srgbClr val="FFFFFF"/>
                </a:highlight>
              </a:rPr>
              <a:t>Instanţă</a:t>
            </a:r>
            <a:r>
              <a:rPr lang="en-GB" sz="1400" b="0" dirty="0">
                <a:solidFill>
                  <a:srgbClr val="000000"/>
                </a:solidFill>
                <a:highlight>
                  <a:srgbClr val="FFFFFF"/>
                </a:highlight>
              </a:rPr>
              <a:t> </a:t>
            </a:r>
            <a:r>
              <a:rPr lang="en-GB" sz="1400" b="1" dirty="0">
                <a:solidFill>
                  <a:srgbClr val="000080"/>
                </a:solidFill>
                <a:highlight>
                  <a:srgbClr val="FFFFFF"/>
                </a:highlight>
              </a:rPr>
              <a:t>)</a:t>
            </a:r>
            <a:r>
              <a:rPr lang="en-GB" sz="1400" b="0" dirty="0">
                <a:solidFill>
                  <a:srgbClr val="000000"/>
                </a:solidFill>
                <a:highlight>
                  <a:srgbClr val="FFFFFF"/>
                </a:highlight>
              </a:rPr>
              <a:t> </a:t>
            </a:r>
            <a:r>
              <a:rPr lang="en-GB" sz="1400" b="1" dirty="0">
                <a:solidFill>
                  <a:srgbClr val="000080"/>
                </a:solidFill>
                <a:highlight>
                  <a:srgbClr val="FFFFFF"/>
                </a:highlight>
              </a:rPr>
              <a:t>{</a:t>
            </a:r>
            <a:endParaRPr lang="en-GB" sz="1400" b="0" dirty="0">
              <a:solidFill>
                <a:srgbClr val="000000"/>
              </a:solidFill>
              <a:highlight>
                <a:srgbClr val="FFFFFF"/>
              </a:highlight>
            </a:endParaRPr>
          </a:p>
          <a:p>
            <a:r>
              <a:rPr lang="en-GB" sz="1400" b="0" dirty="0" err="1">
                <a:solidFill>
                  <a:srgbClr val="000000"/>
                </a:solidFill>
                <a:highlight>
                  <a:srgbClr val="FFFFFF"/>
                </a:highlight>
              </a:rPr>
              <a:t>Instrucţiuni</a:t>
            </a:r>
            <a:endParaRPr lang="en-GB" sz="1400" b="0" dirty="0">
              <a:solidFill>
                <a:srgbClr val="000000"/>
              </a:solidFill>
              <a:highlight>
                <a:srgbClr val="FFFFFF"/>
              </a:highlight>
            </a:endParaRPr>
          </a:p>
          <a:p>
            <a:r>
              <a:rPr lang="en-GB" sz="1400" b="1" dirty="0">
                <a:solidFill>
                  <a:srgbClr val="000080"/>
                </a:solidFill>
                <a:highlight>
                  <a:srgbClr val="FFFFFF"/>
                </a:highlight>
              </a:rPr>
              <a:t>}</a:t>
            </a:r>
            <a:endParaRPr lang="en-GB" sz="1400" b="0" dirty="0">
              <a:solidFill>
                <a:srgbClr val="000000"/>
              </a:solidFill>
              <a:highlight>
                <a:srgbClr val="FFFFFF"/>
              </a:highlight>
            </a:endParaRPr>
          </a:p>
          <a:p>
            <a:r>
              <a:rPr lang="ro-RO" sz="1400" dirty="0"/>
              <a:t>iar declararea unei metode sincronizate se face prin folosirea modificatorului synchronize la implementarea metodei. </a:t>
            </a:r>
          </a:p>
          <a:p>
            <a:endParaRPr lang="ro-RO" sz="1400" dirty="0"/>
          </a:p>
        </p:txBody>
      </p:sp>
    </p:spTree>
    <p:extLst>
      <p:ext uri="{BB962C8B-B14F-4D97-AF65-F5344CB8AC3E}">
        <p14:creationId xmlns:p14="http://schemas.microsoft.com/office/powerpoint/2010/main" val="34975113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0EFDAB-220F-A0CE-D2BE-AD7AD3B6A76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FAB090-70D6-118E-340E-B372B80D16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1804F6E-23C5-BB09-CEDF-A9CCD2A88A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3C7AD751-C167-1419-5905-8B6A97B1DB24}"/>
              </a:ext>
            </a:extLst>
          </p:cNvPr>
          <p:cNvSpPr>
            <a:spLocks noGrp="1"/>
          </p:cNvSpPr>
          <p:nvPr>
            <p:ph type="title"/>
          </p:nvPr>
        </p:nvSpPr>
        <p:spPr>
          <a:xfrm>
            <a:off x="492370" y="605896"/>
            <a:ext cx="3084844" cy="5646208"/>
          </a:xfrm>
        </p:spPr>
        <p:txBody>
          <a:bodyPr anchor="ctr">
            <a:normAutofit/>
          </a:bodyPr>
          <a:lstStyle/>
          <a:p>
            <a:r>
              <a:rPr lang="ro-RO" sz="3600" b="1">
                <a:solidFill>
                  <a:srgbClr val="FFFFFF"/>
                </a:solidFill>
              </a:rPr>
              <a:t>Sincronizare</a:t>
            </a:r>
            <a:endParaRPr lang="ro-RO" sz="3600">
              <a:solidFill>
                <a:srgbClr val="FFFFFF"/>
              </a:solidFill>
            </a:endParaRPr>
          </a:p>
        </p:txBody>
      </p:sp>
      <p:sp>
        <p:nvSpPr>
          <p:cNvPr id="12" name="Rectangle 11">
            <a:extLst>
              <a:ext uri="{FF2B5EF4-FFF2-40B4-BE49-F238E27FC236}">
                <a16:creationId xmlns:a16="http://schemas.microsoft.com/office/drawing/2014/main" id="{FB114A32-C909-AD73-F744-F8D555E862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 name="Content Placeholder 2">
            <a:extLst>
              <a:ext uri="{FF2B5EF4-FFF2-40B4-BE49-F238E27FC236}">
                <a16:creationId xmlns:a16="http://schemas.microsoft.com/office/drawing/2014/main" id="{0D0DA374-CE04-5CF8-BF3E-E591EEC3F63C}"/>
              </a:ext>
            </a:extLst>
          </p:cNvPr>
          <p:cNvSpPr>
            <a:spLocks noGrp="1"/>
          </p:cNvSpPr>
          <p:nvPr>
            <p:ph idx="1"/>
          </p:nvPr>
        </p:nvSpPr>
        <p:spPr>
          <a:xfrm>
            <a:off x="4240366" y="180446"/>
            <a:ext cx="7179820" cy="6252104"/>
          </a:xfrm>
        </p:spPr>
        <p:txBody>
          <a:bodyPr anchor="ctr">
            <a:normAutofit/>
          </a:bodyPr>
          <a:lstStyle/>
          <a:p>
            <a:pPr>
              <a:spcBef>
                <a:spcPts val="0"/>
              </a:spcBef>
            </a:pPr>
            <a:r>
              <a:rPr lang="en-GB" sz="1400" dirty="0">
                <a:solidFill>
                  <a:srgbClr val="8000FF"/>
                </a:solidFill>
                <a:highlight>
                  <a:srgbClr val="FFFFFF"/>
                </a:highlight>
              </a:rPr>
              <a:t>class</a:t>
            </a:r>
            <a:r>
              <a:rPr lang="en-GB" sz="1400" dirty="0">
                <a:solidFill>
                  <a:srgbClr val="000000"/>
                </a:solidFill>
                <a:highlight>
                  <a:srgbClr val="FFFFFF"/>
                </a:highlight>
              </a:rPr>
              <a:t> </a:t>
            </a:r>
            <a:r>
              <a:rPr lang="en-GB" sz="1400" dirty="0" err="1">
                <a:solidFill>
                  <a:srgbClr val="000000"/>
                </a:solidFill>
                <a:highlight>
                  <a:srgbClr val="FFFFFF"/>
                </a:highlight>
              </a:rPr>
              <a:t>Cont</a:t>
            </a:r>
            <a:r>
              <a:rPr lang="en-GB" sz="1400" dirty="0">
                <a:solidFill>
                  <a:srgbClr val="000000"/>
                </a:solidFill>
                <a:highlight>
                  <a:srgbClr val="FFFFFF"/>
                </a:highlight>
              </a:rPr>
              <a:t> </a:t>
            </a:r>
            <a:r>
              <a:rPr lang="en-GB" sz="1400" b="1" dirty="0">
                <a:solidFill>
                  <a:srgbClr val="000080"/>
                </a:solidFill>
                <a:highlight>
                  <a:srgbClr val="FFFFFF"/>
                </a:highlight>
              </a:rPr>
              <a:t>{</a:t>
            </a:r>
            <a:endParaRPr lang="en-GB" sz="1400" b="0" dirty="0">
              <a:solidFill>
                <a:srgbClr val="000000"/>
              </a:solidFill>
              <a:highlight>
                <a:srgbClr val="FFFFFF"/>
              </a:highlight>
            </a:endParaRPr>
          </a:p>
          <a:p>
            <a:pPr>
              <a:spcBef>
                <a:spcPts val="0"/>
              </a:spcBef>
            </a:pPr>
            <a:r>
              <a:rPr lang="en-GB" sz="1400" b="0" dirty="0">
                <a:solidFill>
                  <a:srgbClr val="000000"/>
                </a:solidFill>
                <a:highlight>
                  <a:srgbClr val="FFFFFF"/>
                </a:highlight>
              </a:rPr>
              <a:t>    </a:t>
            </a:r>
            <a:r>
              <a:rPr lang="en-GB" sz="1400" b="0" dirty="0">
                <a:solidFill>
                  <a:srgbClr val="8000FF"/>
                </a:solidFill>
                <a:highlight>
                  <a:srgbClr val="FFFFFF"/>
                </a:highlight>
              </a:rPr>
              <a:t>private</a:t>
            </a:r>
            <a:r>
              <a:rPr lang="en-GB" sz="1400" b="0" dirty="0">
                <a:solidFill>
                  <a:srgbClr val="000000"/>
                </a:solidFill>
                <a:highlight>
                  <a:srgbClr val="FFFFFF"/>
                </a:highlight>
              </a:rPr>
              <a:t> </a:t>
            </a:r>
            <a:r>
              <a:rPr lang="en-GB" sz="1400" b="0" dirty="0">
                <a:solidFill>
                  <a:srgbClr val="8000FF"/>
                </a:solidFill>
                <a:highlight>
                  <a:srgbClr val="FFFFFF"/>
                </a:highlight>
              </a:rPr>
              <a:t>int</a:t>
            </a:r>
            <a:r>
              <a:rPr lang="en-GB" sz="1400" b="0" dirty="0">
                <a:solidFill>
                  <a:srgbClr val="000000"/>
                </a:solidFill>
                <a:highlight>
                  <a:srgbClr val="FFFFFF"/>
                </a:highlight>
              </a:rPr>
              <a:t> sold </a:t>
            </a:r>
            <a:r>
              <a:rPr lang="en-GB" sz="1400" b="1" dirty="0">
                <a:solidFill>
                  <a:srgbClr val="000080"/>
                </a:solidFill>
                <a:highlight>
                  <a:srgbClr val="FFFFFF"/>
                </a:highlight>
              </a:rPr>
              <a:t>=</a:t>
            </a:r>
            <a:r>
              <a:rPr lang="en-GB" sz="1400" b="0" dirty="0">
                <a:solidFill>
                  <a:srgbClr val="000000"/>
                </a:solidFill>
                <a:highlight>
                  <a:srgbClr val="FFFFFF"/>
                </a:highlight>
              </a:rPr>
              <a:t> </a:t>
            </a:r>
            <a:r>
              <a:rPr lang="en-GB" sz="1400" b="0" dirty="0">
                <a:solidFill>
                  <a:srgbClr val="FF8000"/>
                </a:solidFill>
                <a:highlight>
                  <a:srgbClr val="FFFFFF"/>
                </a:highlight>
              </a:rPr>
              <a:t>100</a:t>
            </a:r>
            <a:r>
              <a:rPr lang="en-GB" sz="1400" b="1" dirty="0">
                <a:solidFill>
                  <a:srgbClr val="000080"/>
                </a:solidFill>
                <a:highlight>
                  <a:srgbClr val="FFFFFF"/>
                </a:highlight>
              </a:rPr>
              <a:t>;</a:t>
            </a:r>
            <a:endParaRPr lang="en-GB" sz="1400" b="0" dirty="0">
              <a:solidFill>
                <a:srgbClr val="000000"/>
              </a:solidFill>
              <a:highlight>
                <a:srgbClr val="FFFFFF"/>
              </a:highlight>
            </a:endParaRPr>
          </a:p>
          <a:p>
            <a:pPr>
              <a:spcBef>
                <a:spcPts val="0"/>
              </a:spcBef>
            </a:pPr>
            <a:endParaRPr lang="en-GB" sz="1400" b="0" dirty="0">
              <a:solidFill>
                <a:srgbClr val="000000"/>
              </a:solidFill>
              <a:highlight>
                <a:srgbClr val="FFFFFF"/>
              </a:highlight>
            </a:endParaRPr>
          </a:p>
          <a:p>
            <a:pPr>
              <a:spcBef>
                <a:spcPts val="0"/>
              </a:spcBef>
            </a:pPr>
            <a:r>
              <a:rPr lang="en-GB" sz="1400" b="0" dirty="0">
                <a:solidFill>
                  <a:srgbClr val="000000"/>
                </a:solidFill>
                <a:highlight>
                  <a:srgbClr val="FFFFFF"/>
                </a:highlight>
              </a:rPr>
              <a:t>    </a:t>
            </a:r>
            <a:r>
              <a:rPr lang="en-GB" sz="1400" b="0" dirty="0">
                <a:solidFill>
                  <a:srgbClr val="008000"/>
                </a:solidFill>
                <a:highlight>
                  <a:srgbClr val="FFFFFF"/>
                </a:highlight>
              </a:rPr>
              <a:t>// </a:t>
            </a:r>
            <a:r>
              <a:rPr lang="en-GB" sz="1400" b="0" dirty="0" err="1">
                <a:solidFill>
                  <a:srgbClr val="008000"/>
                </a:solidFill>
                <a:highlight>
                  <a:srgbClr val="FFFFFF"/>
                </a:highlight>
              </a:rPr>
              <a:t>metodă</a:t>
            </a:r>
            <a:r>
              <a:rPr lang="en-GB" sz="1400" b="0" dirty="0">
                <a:solidFill>
                  <a:srgbClr val="008000"/>
                </a:solidFill>
                <a:highlight>
                  <a:srgbClr val="FFFFFF"/>
                </a:highlight>
              </a:rPr>
              <a:t> </a:t>
            </a:r>
            <a:r>
              <a:rPr lang="en-GB" sz="1400" b="0" dirty="0" err="1">
                <a:solidFill>
                  <a:srgbClr val="008000"/>
                </a:solidFill>
                <a:highlight>
                  <a:srgbClr val="FFFFFF"/>
                </a:highlight>
              </a:rPr>
              <a:t>sincronizată</a:t>
            </a:r>
            <a:endParaRPr lang="en-GB" sz="1400" b="0" dirty="0">
              <a:solidFill>
                <a:srgbClr val="008000"/>
              </a:solidFill>
              <a:highlight>
                <a:srgbClr val="FFFFFF"/>
              </a:highlight>
            </a:endParaRPr>
          </a:p>
          <a:p>
            <a:pPr>
              <a:spcBef>
                <a:spcPts val="0"/>
              </a:spcBef>
            </a:pPr>
            <a:r>
              <a:rPr lang="en-GB" sz="1400" b="0" dirty="0">
                <a:solidFill>
                  <a:srgbClr val="000000"/>
                </a:solidFill>
                <a:highlight>
                  <a:srgbClr val="FFFFFF"/>
                </a:highlight>
              </a:rPr>
              <a:t>    </a:t>
            </a:r>
            <a:r>
              <a:rPr lang="en-GB" sz="1400" b="0" dirty="0">
                <a:solidFill>
                  <a:srgbClr val="8000FF"/>
                </a:solidFill>
                <a:highlight>
                  <a:srgbClr val="FFFFFF"/>
                </a:highlight>
              </a:rPr>
              <a:t>public</a:t>
            </a:r>
            <a:r>
              <a:rPr lang="en-GB" sz="1400" b="0" dirty="0">
                <a:solidFill>
                  <a:srgbClr val="000000"/>
                </a:solidFill>
                <a:highlight>
                  <a:srgbClr val="FFFFFF"/>
                </a:highlight>
              </a:rPr>
              <a:t> </a:t>
            </a:r>
            <a:r>
              <a:rPr lang="en-GB" sz="1400" b="0" dirty="0">
                <a:solidFill>
                  <a:srgbClr val="8000FF"/>
                </a:solidFill>
                <a:highlight>
                  <a:srgbClr val="FFFFFF"/>
                </a:highlight>
              </a:rPr>
              <a:t>synchronized</a:t>
            </a:r>
            <a:r>
              <a:rPr lang="en-GB" sz="1400" b="0" dirty="0">
                <a:solidFill>
                  <a:srgbClr val="000000"/>
                </a:solidFill>
                <a:highlight>
                  <a:srgbClr val="FFFFFF"/>
                </a:highlight>
              </a:rPr>
              <a:t> </a:t>
            </a:r>
            <a:r>
              <a:rPr lang="en-GB" sz="1400" b="0" dirty="0">
                <a:solidFill>
                  <a:srgbClr val="8000FF"/>
                </a:solidFill>
                <a:highlight>
                  <a:srgbClr val="FFFFFF"/>
                </a:highlight>
              </a:rPr>
              <a:t>void</a:t>
            </a:r>
            <a:r>
              <a:rPr lang="en-GB" sz="1400" b="0" dirty="0">
                <a:solidFill>
                  <a:srgbClr val="000000"/>
                </a:solidFill>
                <a:highlight>
                  <a:srgbClr val="FFFFFF"/>
                </a:highlight>
              </a:rPr>
              <a:t> </a:t>
            </a:r>
            <a:r>
              <a:rPr lang="en-GB" sz="1400" b="0" dirty="0" err="1">
                <a:solidFill>
                  <a:srgbClr val="000000"/>
                </a:solidFill>
                <a:highlight>
                  <a:srgbClr val="FFFFFF"/>
                </a:highlight>
              </a:rPr>
              <a:t>retragere</a:t>
            </a:r>
            <a:r>
              <a:rPr lang="en-GB" sz="1400" b="1" dirty="0">
                <a:solidFill>
                  <a:srgbClr val="000080"/>
                </a:solidFill>
                <a:highlight>
                  <a:srgbClr val="FFFFFF"/>
                </a:highlight>
              </a:rPr>
              <a:t>(</a:t>
            </a:r>
            <a:r>
              <a:rPr lang="en-GB" sz="1400" b="0" dirty="0">
                <a:solidFill>
                  <a:srgbClr val="8000FF"/>
                </a:solidFill>
                <a:highlight>
                  <a:srgbClr val="FFFFFF"/>
                </a:highlight>
              </a:rPr>
              <a:t>int</a:t>
            </a:r>
            <a:r>
              <a:rPr lang="en-GB" sz="1400" b="0" dirty="0">
                <a:solidFill>
                  <a:srgbClr val="000000"/>
                </a:solidFill>
                <a:highlight>
                  <a:srgbClr val="FFFFFF"/>
                </a:highlight>
              </a:rPr>
              <a:t> </a:t>
            </a:r>
            <a:r>
              <a:rPr lang="en-GB" sz="1400" b="0" dirty="0" err="1">
                <a:solidFill>
                  <a:srgbClr val="000000"/>
                </a:solidFill>
                <a:highlight>
                  <a:srgbClr val="FFFFFF"/>
                </a:highlight>
              </a:rPr>
              <a:t>suma</a:t>
            </a:r>
            <a:r>
              <a:rPr lang="en-GB" sz="1400" b="1" dirty="0">
                <a:solidFill>
                  <a:srgbClr val="000080"/>
                </a:solidFill>
                <a:highlight>
                  <a:srgbClr val="FFFFFF"/>
                </a:highlight>
              </a:rPr>
              <a:t>)</a:t>
            </a:r>
            <a:r>
              <a:rPr lang="en-GB" sz="1400" b="0" dirty="0">
                <a:solidFill>
                  <a:srgbClr val="000000"/>
                </a:solidFill>
                <a:highlight>
                  <a:srgbClr val="FFFFFF"/>
                </a:highlight>
              </a:rPr>
              <a:t> </a:t>
            </a:r>
            <a:r>
              <a:rPr lang="en-GB" sz="1400" b="1" dirty="0">
                <a:solidFill>
                  <a:srgbClr val="000080"/>
                </a:solidFill>
                <a:highlight>
                  <a:srgbClr val="FFFFFF"/>
                </a:highlight>
              </a:rPr>
              <a:t>{</a:t>
            </a:r>
            <a:endParaRPr lang="en-GB" sz="1400" b="0" dirty="0">
              <a:solidFill>
                <a:srgbClr val="000000"/>
              </a:solidFill>
              <a:highlight>
                <a:srgbClr val="FFFFFF"/>
              </a:highlight>
            </a:endParaRPr>
          </a:p>
          <a:p>
            <a:pPr>
              <a:spcBef>
                <a:spcPts val="0"/>
              </a:spcBef>
            </a:pPr>
            <a:r>
              <a:rPr lang="en-GB" sz="1400" b="0" dirty="0">
                <a:solidFill>
                  <a:srgbClr val="000000"/>
                </a:solidFill>
                <a:highlight>
                  <a:srgbClr val="FFFFFF"/>
                </a:highlight>
              </a:rPr>
              <a:t>        </a:t>
            </a:r>
            <a:r>
              <a:rPr lang="en-GB" sz="1400" b="1" dirty="0">
                <a:solidFill>
                  <a:srgbClr val="0000FF"/>
                </a:solidFill>
                <a:highlight>
                  <a:srgbClr val="FFFFFF"/>
                </a:highlight>
              </a:rPr>
              <a:t>if</a:t>
            </a:r>
            <a:r>
              <a:rPr lang="en-GB" sz="1400" b="0" dirty="0">
                <a:solidFill>
                  <a:srgbClr val="000000"/>
                </a:solidFill>
                <a:highlight>
                  <a:srgbClr val="FFFFFF"/>
                </a:highlight>
              </a:rPr>
              <a:t> </a:t>
            </a:r>
            <a:r>
              <a:rPr lang="en-GB" sz="1400" b="1" dirty="0">
                <a:solidFill>
                  <a:srgbClr val="000080"/>
                </a:solidFill>
                <a:highlight>
                  <a:srgbClr val="FFFFFF"/>
                </a:highlight>
              </a:rPr>
              <a:t>(</a:t>
            </a:r>
            <a:r>
              <a:rPr lang="en-GB" sz="1400" b="0" dirty="0">
                <a:solidFill>
                  <a:srgbClr val="000000"/>
                </a:solidFill>
                <a:highlight>
                  <a:srgbClr val="FFFFFF"/>
                </a:highlight>
              </a:rPr>
              <a:t>sold </a:t>
            </a:r>
            <a:r>
              <a:rPr lang="en-GB" sz="1400" b="1" dirty="0">
                <a:solidFill>
                  <a:srgbClr val="000080"/>
                </a:solidFill>
                <a:highlight>
                  <a:srgbClr val="FFFFFF"/>
                </a:highlight>
              </a:rPr>
              <a:t>&gt;=</a:t>
            </a:r>
            <a:r>
              <a:rPr lang="en-GB" sz="1400" b="0" dirty="0">
                <a:solidFill>
                  <a:srgbClr val="000000"/>
                </a:solidFill>
                <a:highlight>
                  <a:srgbClr val="FFFFFF"/>
                </a:highlight>
              </a:rPr>
              <a:t> </a:t>
            </a:r>
            <a:r>
              <a:rPr lang="en-GB" sz="1400" b="0" dirty="0" err="1">
                <a:solidFill>
                  <a:srgbClr val="000000"/>
                </a:solidFill>
                <a:highlight>
                  <a:srgbClr val="FFFFFF"/>
                </a:highlight>
              </a:rPr>
              <a:t>suma</a:t>
            </a:r>
            <a:r>
              <a:rPr lang="en-GB" sz="1400" b="1" dirty="0">
                <a:solidFill>
                  <a:srgbClr val="000080"/>
                </a:solidFill>
                <a:highlight>
                  <a:srgbClr val="FFFFFF"/>
                </a:highlight>
              </a:rPr>
              <a:t>)</a:t>
            </a:r>
            <a:r>
              <a:rPr lang="en-GB" sz="1400" b="0" dirty="0">
                <a:solidFill>
                  <a:srgbClr val="000000"/>
                </a:solidFill>
                <a:highlight>
                  <a:srgbClr val="FFFFFF"/>
                </a:highlight>
              </a:rPr>
              <a:t> </a:t>
            </a:r>
            <a:r>
              <a:rPr lang="en-GB" sz="1400" b="1" dirty="0">
                <a:solidFill>
                  <a:srgbClr val="000080"/>
                </a:solidFill>
                <a:highlight>
                  <a:srgbClr val="FFFFFF"/>
                </a:highlight>
              </a:rPr>
              <a:t>{</a:t>
            </a:r>
            <a:endParaRPr lang="en-GB" sz="1400" b="0" dirty="0">
              <a:solidFill>
                <a:srgbClr val="000000"/>
              </a:solidFill>
              <a:highlight>
                <a:srgbClr val="FFFFFF"/>
              </a:highlight>
            </a:endParaRPr>
          </a:p>
          <a:p>
            <a:pPr>
              <a:spcBef>
                <a:spcPts val="0"/>
              </a:spcBef>
            </a:pPr>
            <a:r>
              <a:rPr lang="en-GB" sz="1400" b="0" dirty="0">
                <a:solidFill>
                  <a:srgbClr val="000000"/>
                </a:solidFill>
                <a:highlight>
                  <a:srgbClr val="FFFFFF"/>
                </a:highlight>
              </a:rPr>
              <a:t>            </a:t>
            </a:r>
            <a:r>
              <a:rPr lang="en-GB" sz="1400" b="0" dirty="0" err="1">
                <a:solidFill>
                  <a:srgbClr val="000000"/>
                </a:solidFill>
                <a:highlight>
                  <a:srgbClr val="FFFFFF"/>
                </a:highlight>
              </a:rPr>
              <a:t>System</a:t>
            </a:r>
            <a:r>
              <a:rPr lang="en-GB" sz="1400" b="1" dirty="0" err="1">
                <a:solidFill>
                  <a:srgbClr val="000080"/>
                </a:solidFill>
                <a:highlight>
                  <a:srgbClr val="FFFFFF"/>
                </a:highlight>
              </a:rPr>
              <a:t>.</a:t>
            </a:r>
            <a:r>
              <a:rPr lang="en-GB" sz="1400" b="0" dirty="0" err="1">
                <a:solidFill>
                  <a:srgbClr val="000000"/>
                </a:solidFill>
                <a:highlight>
                  <a:srgbClr val="FFFFFF"/>
                </a:highlight>
              </a:rPr>
              <a:t>out</a:t>
            </a:r>
            <a:r>
              <a:rPr lang="en-GB" sz="1400" b="1" dirty="0" err="1">
                <a:solidFill>
                  <a:srgbClr val="000080"/>
                </a:solidFill>
                <a:highlight>
                  <a:srgbClr val="FFFFFF"/>
                </a:highlight>
              </a:rPr>
              <a:t>.</a:t>
            </a:r>
            <a:r>
              <a:rPr lang="en-GB" sz="1400" b="0" dirty="0" err="1">
                <a:solidFill>
                  <a:srgbClr val="000000"/>
                </a:solidFill>
                <a:highlight>
                  <a:srgbClr val="FFFFFF"/>
                </a:highlight>
              </a:rPr>
              <a:t>println</a:t>
            </a:r>
            <a:r>
              <a:rPr lang="en-GB" sz="1400" b="1" dirty="0">
                <a:solidFill>
                  <a:srgbClr val="000080"/>
                </a:solidFill>
                <a:highlight>
                  <a:srgbClr val="FFFFFF"/>
                </a:highlight>
              </a:rPr>
              <a:t>(</a:t>
            </a:r>
            <a:r>
              <a:rPr lang="en-GB" sz="1400" b="0" dirty="0" err="1">
                <a:solidFill>
                  <a:srgbClr val="000000"/>
                </a:solidFill>
                <a:highlight>
                  <a:srgbClr val="FFFFFF"/>
                </a:highlight>
              </a:rPr>
              <a:t>Thread</a:t>
            </a:r>
            <a:r>
              <a:rPr lang="en-GB" sz="1400" b="1" dirty="0" err="1">
                <a:solidFill>
                  <a:srgbClr val="000080"/>
                </a:solidFill>
                <a:highlight>
                  <a:srgbClr val="FFFFFF"/>
                </a:highlight>
              </a:rPr>
              <a:t>.</a:t>
            </a:r>
            <a:r>
              <a:rPr lang="en-GB" sz="1400" b="0" dirty="0" err="1">
                <a:solidFill>
                  <a:srgbClr val="000000"/>
                </a:solidFill>
                <a:highlight>
                  <a:srgbClr val="FFFFFF"/>
                </a:highlight>
              </a:rPr>
              <a:t>currentThread</a:t>
            </a:r>
            <a:r>
              <a:rPr lang="en-GB" sz="1400" b="1" dirty="0">
                <a:solidFill>
                  <a:srgbClr val="000080"/>
                </a:solidFill>
                <a:highlight>
                  <a:srgbClr val="FFFFFF"/>
                </a:highlight>
              </a:rPr>
              <a:t>().</a:t>
            </a:r>
            <a:r>
              <a:rPr lang="en-GB" sz="1400" b="0" dirty="0" err="1">
                <a:solidFill>
                  <a:srgbClr val="000000"/>
                </a:solidFill>
                <a:highlight>
                  <a:srgbClr val="FFFFFF"/>
                </a:highlight>
              </a:rPr>
              <a:t>getName</a:t>
            </a:r>
            <a:r>
              <a:rPr lang="en-GB" sz="1400" b="1" dirty="0">
                <a:solidFill>
                  <a:srgbClr val="000080"/>
                </a:solidFill>
                <a:highlight>
                  <a:srgbClr val="FFFFFF"/>
                </a:highlight>
              </a:rPr>
              <a:t>()</a:t>
            </a:r>
            <a:r>
              <a:rPr lang="en-GB" sz="1400" b="0" dirty="0">
                <a:solidFill>
                  <a:srgbClr val="000000"/>
                </a:solidFill>
                <a:highlight>
                  <a:srgbClr val="FFFFFF"/>
                </a:highlight>
              </a:rPr>
              <a:t> </a:t>
            </a:r>
            <a:r>
              <a:rPr lang="en-GB" sz="1400" b="1" dirty="0">
                <a:solidFill>
                  <a:srgbClr val="000080"/>
                </a:solidFill>
                <a:highlight>
                  <a:srgbClr val="FFFFFF"/>
                </a:highlight>
              </a:rPr>
              <a:t>+</a:t>
            </a:r>
            <a:r>
              <a:rPr lang="en-GB" sz="1400" b="0" dirty="0">
                <a:solidFill>
                  <a:srgbClr val="000000"/>
                </a:solidFill>
                <a:highlight>
                  <a:srgbClr val="FFFFFF"/>
                </a:highlight>
              </a:rPr>
              <a:t> </a:t>
            </a:r>
            <a:r>
              <a:rPr lang="en-GB" sz="1400" b="0" dirty="0">
                <a:solidFill>
                  <a:srgbClr val="808080"/>
                </a:solidFill>
                <a:highlight>
                  <a:srgbClr val="FFFFFF"/>
                </a:highlight>
              </a:rPr>
              <a:t>" </a:t>
            </a:r>
            <a:r>
              <a:rPr lang="en-GB" sz="1400" b="0" dirty="0" err="1">
                <a:solidFill>
                  <a:srgbClr val="808080"/>
                </a:solidFill>
                <a:highlight>
                  <a:srgbClr val="FFFFFF"/>
                </a:highlight>
              </a:rPr>
              <a:t>retrage</a:t>
            </a:r>
            <a:r>
              <a:rPr lang="en-GB" sz="1400" b="0" dirty="0">
                <a:solidFill>
                  <a:srgbClr val="808080"/>
                </a:solidFill>
                <a:highlight>
                  <a:srgbClr val="FFFFFF"/>
                </a:highlight>
              </a:rPr>
              <a:t> "</a:t>
            </a:r>
            <a:r>
              <a:rPr lang="en-GB" sz="1400" b="0" dirty="0">
                <a:solidFill>
                  <a:srgbClr val="000000"/>
                </a:solidFill>
                <a:highlight>
                  <a:srgbClr val="FFFFFF"/>
                </a:highlight>
              </a:rPr>
              <a:t> </a:t>
            </a:r>
            <a:r>
              <a:rPr lang="en-GB" sz="1400" b="1" dirty="0">
                <a:solidFill>
                  <a:srgbClr val="000080"/>
                </a:solidFill>
                <a:highlight>
                  <a:srgbClr val="FFFFFF"/>
                </a:highlight>
              </a:rPr>
              <a:t>+</a:t>
            </a:r>
            <a:r>
              <a:rPr lang="en-GB" sz="1400" b="0" dirty="0">
                <a:solidFill>
                  <a:srgbClr val="000000"/>
                </a:solidFill>
                <a:highlight>
                  <a:srgbClr val="FFFFFF"/>
                </a:highlight>
              </a:rPr>
              <a:t> </a:t>
            </a:r>
            <a:r>
              <a:rPr lang="en-GB" sz="1400" b="0" dirty="0" err="1">
                <a:solidFill>
                  <a:srgbClr val="000000"/>
                </a:solidFill>
                <a:highlight>
                  <a:srgbClr val="FFFFFF"/>
                </a:highlight>
              </a:rPr>
              <a:t>suma</a:t>
            </a:r>
            <a:r>
              <a:rPr lang="en-GB" sz="1400" b="0" dirty="0">
                <a:solidFill>
                  <a:srgbClr val="000000"/>
                </a:solidFill>
                <a:highlight>
                  <a:srgbClr val="FFFFFF"/>
                </a:highlight>
              </a:rPr>
              <a:t> </a:t>
            </a:r>
            <a:r>
              <a:rPr lang="en-GB" sz="1400" b="1" dirty="0">
                <a:solidFill>
                  <a:srgbClr val="000080"/>
                </a:solidFill>
                <a:highlight>
                  <a:srgbClr val="FFFFFF"/>
                </a:highlight>
              </a:rPr>
              <a:t>+</a:t>
            </a:r>
            <a:r>
              <a:rPr lang="en-GB" sz="1400" b="0" dirty="0">
                <a:solidFill>
                  <a:srgbClr val="000000"/>
                </a:solidFill>
                <a:highlight>
                  <a:srgbClr val="FFFFFF"/>
                </a:highlight>
              </a:rPr>
              <a:t> </a:t>
            </a:r>
            <a:r>
              <a:rPr lang="en-GB" sz="1400" b="0" dirty="0">
                <a:solidFill>
                  <a:srgbClr val="808080"/>
                </a:solidFill>
                <a:highlight>
                  <a:srgbClr val="FFFFFF"/>
                </a:highlight>
              </a:rPr>
              <a:t>" lei"</a:t>
            </a:r>
            <a:r>
              <a:rPr lang="en-GB" sz="1400" b="1" dirty="0">
                <a:solidFill>
                  <a:srgbClr val="000080"/>
                </a:solidFill>
                <a:highlight>
                  <a:srgbClr val="FFFFFF"/>
                </a:highlight>
              </a:rPr>
              <a:t>);</a:t>
            </a:r>
            <a:endParaRPr lang="en-GB" sz="1400" b="0" dirty="0">
              <a:solidFill>
                <a:srgbClr val="000000"/>
              </a:solidFill>
              <a:highlight>
                <a:srgbClr val="FFFFFF"/>
              </a:highlight>
            </a:endParaRPr>
          </a:p>
          <a:p>
            <a:pPr>
              <a:spcBef>
                <a:spcPts val="0"/>
              </a:spcBef>
            </a:pPr>
            <a:r>
              <a:rPr lang="en-GB" sz="1400" b="0" dirty="0">
                <a:solidFill>
                  <a:srgbClr val="000000"/>
                </a:solidFill>
                <a:highlight>
                  <a:srgbClr val="FFFFFF"/>
                </a:highlight>
              </a:rPr>
              <a:t>            sold </a:t>
            </a:r>
            <a:r>
              <a:rPr lang="en-GB" sz="1400" b="1" dirty="0">
                <a:solidFill>
                  <a:srgbClr val="000080"/>
                </a:solidFill>
                <a:highlight>
                  <a:srgbClr val="FFFFFF"/>
                </a:highlight>
              </a:rPr>
              <a:t>-=</a:t>
            </a:r>
            <a:r>
              <a:rPr lang="en-GB" sz="1400" b="0" dirty="0">
                <a:solidFill>
                  <a:srgbClr val="000000"/>
                </a:solidFill>
                <a:highlight>
                  <a:srgbClr val="FFFFFF"/>
                </a:highlight>
              </a:rPr>
              <a:t> </a:t>
            </a:r>
            <a:r>
              <a:rPr lang="en-GB" sz="1400" b="0" dirty="0" err="1">
                <a:solidFill>
                  <a:srgbClr val="000000"/>
                </a:solidFill>
                <a:highlight>
                  <a:srgbClr val="FFFFFF"/>
                </a:highlight>
              </a:rPr>
              <a:t>suma</a:t>
            </a:r>
            <a:r>
              <a:rPr lang="en-GB" sz="1400" b="1" dirty="0">
                <a:solidFill>
                  <a:srgbClr val="000080"/>
                </a:solidFill>
                <a:highlight>
                  <a:srgbClr val="FFFFFF"/>
                </a:highlight>
              </a:rPr>
              <a:t>;</a:t>
            </a:r>
            <a:endParaRPr lang="en-GB" sz="1400" b="0" dirty="0">
              <a:solidFill>
                <a:srgbClr val="000000"/>
              </a:solidFill>
              <a:highlight>
                <a:srgbClr val="FFFFFF"/>
              </a:highlight>
            </a:endParaRPr>
          </a:p>
          <a:p>
            <a:pPr>
              <a:spcBef>
                <a:spcPts val="0"/>
              </a:spcBef>
            </a:pPr>
            <a:r>
              <a:rPr lang="en-GB" sz="1400" b="0" dirty="0">
                <a:solidFill>
                  <a:srgbClr val="000000"/>
                </a:solidFill>
                <a:highlight>
                  <a:srgbClr val="FFFFFF"/>
                </a:highlight>
              </a:rPr>
              <a:t>            </a:t>
            </a:r>
            <a:r>
              <a:rPr lang="en-GB" sz="1400" b="0" dirty="0" err="1">
                <a:solidFill>
                  <a:srgbClr val="000000"/>
                </a:solidFill>
                <a:highlight>
                  <a:srgbClr val="FFFFFF"/>
                </a:highlight>
              </a:rPr>
              <a:t>System</a:t>
            </a:r>
            <a:r>
              <a:rPr lang="en-GB" sz="1400" b="1" dirty="0" err="1">
                <a:solidFill>
                  <a:srgbClr val="000080"/>
                </a:solidFill>
                <a:highlight>
                  <a:srgbClr val="FFFFFF"/>
                </a:highlight>
              </a:rPr>
              <a:t>.</a:t>
            </a:r>
            <a:r>
              <a:rPr lang="en-GB" sz="1400" b="0" dirty="0" err="1">
                <a:solidFill>
                  <a:srgbClr val="000000"/>
                </a:solidFill>
                <a:highlight>
                  <a:srgbClr val="FFFFFF"/>
                </a:highlight>
              </a:rPr>
              <a:t>out</a:t>
            </a:r>
            <a:r>
              <a:rPr lang="en-GB" sz="1400" b="1" dirty="0" err="1">
                <a:solidFill>
                  <a:srgbClr val="000080"/>
                </a:solidFill>
                <a:highlight>
                  <a:srgbClr val="FFFFFF"/>
                </a:highlight>
              </a:rPr>
              <a:t>.</a:t>
            </a:r>
            <a:r>
              <a:rPr lang="en-GB" sz="1400" b="0" dirty="0" err="1">
                <a:solidFill>
                  <a:srgbClr val="000000"/>
                </a:solidFill>
                <a:highlight>
                  <a:srgbClr val="FFFFFF"/>
                </a:highlight>
              </a:rPr>
              <a:t>println</a:t>
            </a:r>
            <a:r>
              <a:rPr lang="en-GB" sz="1400" b="1" dirty="0">
                <a:solidFill>
                  <a:srgbClr val="000080"/>
                </a:solidFill>
                <a:highlight>
                  <a:srgbClr val="FFFFFF"/>
                </a:highlight>
              </a:rPr>
              <a:t>(</a:t>
            </a:r>
            <a:r>
              <a:rPr lang="en-GB" sz="1400" b="0" dirty="0">
                <a:solidFill>
                  <a:srgbClr val="808080"/>
                </a:solidFill>
                <a:highlight>
                  <a:srgbClr val="FFFFFF"/>
                </a:highlight>
              </a:rPr>
              <a:t>"Sold </a:t>
            </a:r>
            <a:r>
              <a:rPr lang="en-GB" sz="1400" b="0" dirty="0" err="1">
                <a:solidFill>
                  <a:srgbClr val="808080"/>
                </a:solidFill>
                <a:highlight>
                  <a:srgbClr val="FFFFFF"/>
                </a:highlight>
              </a:rPr>
              <a:t>rămas</a:t>
            </a:r>
            <a:r>
              <a:rPr lang="en-GB" sz="1400" b="0" dirty="0">
                <a:solidFill>
                  <a:srgbClr val="808080"/>
                </a:solidFill>
                <a:highlight>
                  <a:srgbClr val="FFFFFF"/>
                </a:highlight>
              </a:rPr>
              <a:t>: "</a:t>
            </a:r>
            <a:r>
              <a:rPr lang="en-GB" sz="1400" b="0" dirty="0">
                <a:solidFill>
                  <a:srgbClr val="000000"/>
                </a:solidFill>
                <a:highlight>
                  <a:srgbClr val="FFFFFF"/>
                </a:highlight>
              </a:rPr>
              <a:t> </a:t>
            </a:r>
            <a:r>
              <a:rPr lang="en-GB" sz="1400" b="1" dirty="0">
                <a:solidFill>
                  <a:srgbClr val="000080"/>
                </a:solidFill>
                <a:highlight>
                  <a:srgbClr val="FFFFFF"/>
                </a:highlight>
              </a:rPr>
              <a:t>+</a:t>
            </a:r>
            <a:r>
              <a:rPr lang="en-GB" sz="1400" b="0" dirty="0">
                <a:solidFill>
                  <a:srgbClr val="000000"/>
                </a:solidFill>
                <a:highlight>
                  <a:srgbClr val="FFFFFF"/>
                </a:highlight>
              </a:rPr>
              <a:t> sold</a:t>
            </a:r>
            <a:r>
              <a:rPr lang="en-GB" sz="1400" b="1" dirty="0">
                <a:solidFill>
                  <a:srgbClr val="000080"/>
                </a:solidFill>
                <a:highlight>
                  <a:srgbClr val="FFFFFF"/>
                </a:highlight>
              </a:rPr>
              <a:t>);</a:t>
            </a:r>
            <a:endParaRPr lang="en-GB" sz="1400" b="0" dirty="0">
              <a:solidFill>
                <a:srgbClr val="000000"/>
              </a:solidFill>
              <a:highlight>
                <a:srgbClr val="FFFFFF"/>
              </a:highlight>
            </a:endParaRPr>
          </a:p>
          <a:p>
            <a:pPr>
              <a:spcBef>
                <a:spcPts val="0"/>
              </a:spcBef>
            </a:pPr>
            <a:r>
              <a:rPr lang="en-GB" sz="1400" b="0" dirty="0">
                <a:solidFill>
                  <a:srgbClr val="000000"/>
                </a:solidFill>
                <a:highlight>
                  <a:srgbClr val="FFFFFF"/>
                </a:highlight>
              </a:rPr>
              <a:t>        </a:t>
            </a:r>
            <a:r>
              <a:rPr lang="en-GB" sz="1400" b="1" dirty="0">
                <a:solidFill>
                  <a:srgbClr val="000080"/>
                </a:solidFill>
                <a:highlight>
                  <a:srgbClr val="FFFFFF"/>
                </a:highlight>
              </a:rPr>
              <a:t>}</a:t>
            </a:r>
            <a:r>
              <a:rPr lang="en-GB" sz="1400" b="0" dirty="0">
                <a:solidFill>
                  <a:srgbClr val="000000"/>
                </a:solidFill>
                <a:highlight>
                  <a:srgbClr val="FFFFFF"/>
                </a:highlight>
              </a:rPr>
              <a:t> </a:t>
            </a:r>
            <a:r>
              <a:rPr lang="en-GB" sz="1400" b="1" dirty="0">
                <a:solidFill>
                  <a:srgbClr val="0000FF"/>
                </a:solidFill>
                <a:highlight>
                  <a:srgbClr val="FFFFFF"/>
                </a:highlight>
              </a:rPr>
              <a:t>else</a:t>
            </a:r>
            <a:r>
              <a:rPr lang="en-GB" sz="1400" b="0" dirty="0">
                <a:solidFill>
                  <a:srgbClr val="000000"/>
                </a:solidFill>
                <a:highlight>
                  <a:srgbClr val="FFFFFF"/>
                </a:highlight>
              </a:rPr>
              <a:t> </a:t>
            </a:r>
            <a:r>
              <a:rPr lang="en-GB" sz="1400" b="1" dirty="0">
                <a:solidFill>
                  <a:srgbClr val="000080"/>
                </a:solidFill>
                <a:highlight>
                  <a:srgbClr val="FFFFFF"/>
                </a:highlight>
              </a:rPr>
              <a:t>{</a:t>
            </a:r>
            <a:endParaRPr lang="en-GB" sz="1400" b="0" dirty="0">
              <a:solidFill>
                <a:srgbClr val="000000"/>
              </a:solidFill>
              <a:highlight>
                <a:srgbClr val="FFFFFF"/>
              </a:highlight>
            </a:endParaRPr>
          </a:p>
          <a:p>
            <a:pPr>
              <a:spcBef>
                <a:spcPts val="0"/>
              </a:spcBef>
            </a:pPr>
            <a:r>
              <a:rPr lang="en-GB" sz="1400" b="0" dirty="0">
                <a:solidFill>
                  <a:srgbClr val="000000"/>
                </a:solidFill>
                <a:highlight>
                  <a:srgbClr val="FFFFFF"/>
                </a:highlight>
              </a:rPr>
              <a:t>            </a:t>
            </a:r>
            <a:r>
              <a:rPr lang="en-GB" sz="1400" b="0" dirty="0" err="1">
                <a:solidFill>
                  <a:srgbClr val="000000"/>
                </a:solidFill>
                <a:highlight>
                  <a:srgbClr val="FFFFFF"/>
                </a:highlight>
              </a:rPr>
              <a:t>System</a:t>
            </a:r>
            <a:r>
              <a:rPr lang="en-GB" sz="1400" b="1" dirty="0" err="1">
                <a:solidFill>
                  <a:srgbClr val="000080"/>
                </a:solidFill>
                <a:highlight>
                  <a:srgbClr val="FFFFFF"/>
                </a:highlight>
              </a:rPr>
              <a:t>.</a:t>
            </a:r>
            <a:r>
              <a:rPr lang="en-GB" sz="1400" b="0" dirty="0" err="1">
                <a:solidFill>
                  <a:srgbClr val="000000"/>
                </a:solidFill>
                <a:highlight>
                  <a:srgbClr val="FFFFFF"/>
                </a:highlight>
              </a:rPr>
              <a:t>out</a:t>
            </a:r>
            <a:r>
              <a:rPr lang="en-GB" sz="1400" b="1" dirty="0" err="1">
                <a:solidFill>
                  <a:srgbClr val="000080"/>
                </a:solidFill>
                <a:highlight>
                  <a:srgbClr val="FFFFFF"/>
                </a:highlight>
              </a:rPr>
              <a:t>.</a:t>
            </a:r>
            <a:r>
              <a:rPr lang="en-GB" sz="1400" b="0" dirty="0" err="1">
                <a:solidFill>
                  <a:srgbClr val="000000"/>
                </a:solidFill>
                <a:highlight>
                  <a:srgbClr val="FFFFFF"/>
                </a:highlight>
              </a:rPr>
              <a:t>println</a:t>
            </a:r>
            <a:r>
              <a:rPr lang="en-GB" sz="1400" b="1" dirty="0">
                <a:solidFill>
                  <a:srgbClr val="000080"/>
                </a:solidFill>
                <a:highlight>
                  <a:srgbClr val="FFFFFF"/>
                </a:highlight>
              </a:rPr>
              <a:t>(</a:t>
            </a:r>
            <a:r>
              <a:rPr lang="en-GB" sz="1400" b="0" dirty="0">
                <a:solidFill>
                  <a:srgbClr val="808080"/>
                </a:solidFill>
                <a:highlight>
                  <a:srgbClr val="FFFFFF"/>
                </a:highlight>
              </a:rPr>
              <a:t>"</a:t>
            </a:r>
            <a:r>
              <a:rPr lang="en-GB" sz="1400" b="0" dirty="0" err="1">
                <a:solidFill>
                  <a:srgbClr val="808080"/>
                </a:solidFill>
                <a:highlight>
                  <a:srgbClr val="FFFFFF"/>
                </a:highlight>
              </a:rPr>
              <a:t>Fonduri</a:t>
            </a:r>
            <a:r>
              <a:rPr lang="en-GB" sz="1400" b="0" dirty="0">
                <a:solidFill>
                  <a:srgbClr val="808080"/>
                </a:solidFill>
                <a:highlight>
                  <a:srgbClr val="FFFFFF"/>
                </a:highlight>
              </a:rPr>
              <a:t> </a:t>
            </a:r>
            <a:r>
              <a:rPr lang="en-GB" sz="1400" b="0" dirty="0" err="1">
                <a:solidFill>
                  <a:srgbClr val="808080"/>
                </a:solidFill>
                <a:highlight>
                  <a:srgbClr val="FFFFFF"/>
                </a:highlight>
              </a:rPr>
              <a:t>insuficiente</a:t>
            </a:r>
            <a:r>
              <a:rPr lang="en-GB" sz="1400" b="0" dirty="0">
                <a:solidFill>
                  <a:srgbClr val="808080"/>
                </a:solidFill>
                <a:highlight>
                  <a:srgbClr val="FFFFFF"/>
                </a:highlight>
              </a:rPr>
              <a:t> </a:t>
            </a:r>
            <a:r>
              <a:rPr lang="en-GB" sz="1400" b="0" dirty="0" err="1">
                <a:solidFill>
                  <a:srgbClr val="808080"/>
                </a:solidFill>
                <a:highlight>
                  <a:srgbClr val="FFFFFF"/>
                </a:highlight>
              </a:rPr>
              <a:t>pentru</a:t>
            </a:r>
            <a:r>
              <a:rPr lang="en-GB" sz="1400" b="0" dirty="0">
                <a:solidFill>
                  <a:srgbClr val="808080"/>
                </a:solidFill>
                <a:highlight>
                  <a:srgbClr val="FFFFFF"/>
                </a:highlight>
              </a:rPr>
              <a:t> "</a:t>
            </a:r>
            <a:r>
              <a:rPr lang="en-GB" sz="1400" b="0" dirty="0">
                <a:solidFill>
                  <a:srgbClr val="000000"/>
                </a:solidFill>
                <a:highlight>
                  <a:srgbClr val="FFFFFF"/>
                </a:highlight>
              </a:rPr>
              <a:t> </a:t>
            </a:r>
            <a:r>
              <a:rPr lang="en-GB" sz="1400" b="1" dirty="0">
                <a:solidFill>
                  <a:srgbClr val="000080"/>
                </a:solidFill>
                <a:highlight>
                  <a:srgbClr val="FFFFFF"/>
                </a:highlight>
              </a:rPr>
              <a:t>+</a:t>
            </a:r>
            <a:r>
              <a:rPr lang="en-GB" sz="1400" b="0" dirty="0">
                <a:solidFill>
                  <a:srgbClr val="000000"/>
                </a:solidFill>
                <a:highlight>
                  <a:srgbClr val="FFFFFF"/>
                </a:highlight>
              </a:rPr>
              <a:t> </a:t>
            </a:r>
            <a:r>
              <a:rPr lang="en-GB" sz="1400" b="0" dirty="0" err="1">
                <a:solidFill>
                  <a:srgbClr val="000000"/>
                </a:solidFill>
                <a:highlight>
                  <a:srgbClr val="FFFFFF"/>
                </a:highlight>
              </a:rPr>
              <a:t>Thread</a:t>
            </a:r>
            <a:r>
              <a:rPr lang="en-GB" sz="1400" b="1" dirty="0" err="1">
                <a:solidFill>
                  <a:srgbClr val="000080"/>
                </a:solidFill>
                <a:highlight>
                  <a:srgbClr val="FFFFFF"/>
                </a:highlight>
              </a:rPr>
              <a:t>.</a:t>
            </a:r>
            <a:r>
              <a:rPr lang="en-GB" sz="1400" b="0" dirty="0" err="1">
                <a:solidFill>
                  <a:srgbClr val="000000"/>
                </a:solidFill>
                <a:highlight>
                  <a:srgbClr val="FFFFFF"/>
                </a:highlight>
              </a:rPr>
              <a:t>currentThread</a:t>
            </a:r>
            <a:r>
              <a:rPr lang="en-GB" sz="1400" b="1" dirty="0">
                <a:solidFill>
                  <a:srgbClr val="000080"/>
                </a:solidFill>
                <a:highlight>
                  <a:srgbClr val="FFFFFF"/>
                </a:highlight>
              </a:rPr>
              <a:t>().</a:t>
            </a:r>
            <a:r>
              <a:rPr lang="en-GB" sz="1400" b="0" dirty="0" err="1">
                <a:solidFill>
                  <a:srgbClr val="000000"/>
                </a:solidFill>
                <a:highlight>
                  <a:srgbClr val="FFFFFF"/>
                </a:highlight>
              </a:rPr>
              <a:t>getName</a:t>
            </a:r>
            <a:r>
              <a:rPr lang="en-GB" sz="1400" b="1" dirty="0">
                <a:solidFill>
                  <a:srgbClr val="000080"/>
                </a:solidFill>
                <a:highlight>
                  <a:srgbClr val="FFFFFF"/>
                </a:highlight>
              </a:rPr>
              <a:t>());</a:t>
            </a:r>
            <a:endParaRPr lang="en-GB" sz="1400" b="0" dirty="0">
              <a:solidFill>
                <a:srgbClr val="000000"/>
              </a:solidFill>
              <a:highlight>
                <a:srgbClr val="FFFFFF"/>
              </a:highlight>
            </a:endParaRPr>
          </a:p>
          <a:p>
            <a:pPr>
              <a:spcBef>
                <a:spcPts val="0"/>
              </a:spcBef>
            </a:pPr>
            <a:r>
              <a:rPr lang="en-GB" sz="1400" b="0" dirty="0">
                <a:solidFill>
                  <a:srgbClr val="000000"/>
                </a:solidFill>
                <a:highlight>
                  <a:srgbClr val="FFFFFF"/>
                </a:highlight>
              </a:rPr>
              <a:t>        </a:t>
            </a:r>
            <a:r>
              <a:rPr lang="en-GB" sz="1400" b="1" dirty="0">
                <a:solidFill>
                  <a:srgbClr val="000080"/>
                </a:solidFill>
                <a:highlight>
                  <a:srgbClr val="FFFFFF"/>
                </a:highlight>
              </a:rPr>
              <a:t>}</a:t>
            </a:r>
            <a:endParaRPr lang="en-GB" sz="1400" b="0" dirty="0">
              <a:solidFill>
                <a:srgbClr val="000000"/>
              </a:solidFill>
              <a:highlight>
                <a:srgbClr val="FFFFFF"/>
              </a:highlight>
            </a:endParaRPr>
          </a:p>
          <a:p>
            <a:pPr>
              <a:spcBef>
                <a:spcPts val="0"/>
              </a:spcBef>
            </a:pPr>
            <a:r>
              <a:rPr lang="en-GB" sz="1400" b="0" dirty="0">
                <a:solidFill>
                  <a:srgbClr val="000000"/>
                </a:solidFill>
                <a:highlight>
                  <a:srgbClr val="FFFFFF"/>
                </a:highlight>
              </a:rPr>
              <a:t>    </a:t>
            </a:r>
            <a:r>
              <a:rPr lang="en-GB" sz="1400" b="1" dirty="0">
                <a:solidFill>
                  <a:srgbClr val="000080"/>
                </a:solidFill>
                <a:highlight>
                  <a:srgbClr val="FFFFFF"/>
                </a:highlight>
              </a:rPr>
              <a:t>}</a:t>
            </a:r>
            <a:endParaRPr lang="en-GB" sz="1400" b="0" dirty="0">
              <a:solidFill>
                <a:srgbClr val="000000"/>
              </a:solidFill>
              <a:highlight>
                <a:srgbClr val="FFFFFF"/>
              </a:highlight>
            </a:endParaRPr>
          </a:p>
          <a:p>
            <a:pPr>
              <a:spcBef>
                <a:spcPts val="0"/>
              </a:spcBef>
            </a:pPr>
            <a:r>
              <a:rPr lang="en-GB" sz="1400" b="1" dirty="0">
                <a:solidFill>
                  <a:srgbClr val="000080"/>
                </a:solidFill>
                <a:highlight>
                  <a:srgbClr val="FFFFFF"/>
                </a:highlight>
              </a:rPr>
              <a:t>}</a:t>
            </a:r>
            <a:endParaRPr lang="en-GB" sz="1400" b="0" dirty="0">
              <a:solidFill>
                <a:srgbClr val="000000"/>
              </a:solidFill>
              <a:highlight>
                <a:srgbClr val="FFFFFF"/>
              </a:highlight>
            </a:endParaRPr>
          </a:p>
          <a:p>
            <a:pPr>
              <a:spcBef>
                <a:spcPts val="0"/>
              </a:spcBef>
            </a:pPr>
            <a:endParaRPr lang="en-GB" sz="1400" b="0" dirty="0">
              <a:solidFill>
                <a:srgbClr val="000000"/>
              </a:solidFill>
              <a:highlight>
                <a:srgbClr val="FFFFFF"/>
              </a:highlight>
            </a:endParaRPr>
          </a:p>
          <a:p>
            <a:pPr>
              <a:spcBef>
                <a:spcPts val="0"/>
              </a:spcBef>
            </a:pPr>
            <a:r>
              <a:rPr lang="en-GB" sz="1400" b="0" dirty="0">
                <a:solidFill>
                  <a:srgbClr val="8000FF"/>
                </a:solidFill>
                <a:highlight>
                  <a:srgbClr val="FFFFFF"/>
                </a:highlight>
              </a:rPr>
              <a:t>public</a:t>
            </a:r>
            <a:r>
              <a:rPr lang="en-GB" sz="1400" b="0" dirty="0">
                <a:solidFill>
                  <a:srgbClr val="000000"/>
                </a:solidFill>
                <a:highlight>
                  <a:srgbClr val="FFFFFF"/>
                </a:highlight>
              </a:rPr>
              <a:t> </a:t>
            </a:r>
            <a:r>
              <a:rPr lang="en-GB" sz="1400" b="0" dirty="0">
                <a:solidFill>
                  <a:srgbClr val="8000FF"/>
                </a:solidFill>
                <a:highlight>
                  <a:srgbClr val="FFFFFF"/>
                </a:highlight>
              </a:rPr>
              <a:t>class</a:t>
            </a:r>
            <a:r>
              <a:rPr lang="en-GB" sz="1400" b="0" dirty="0">
                <a:solidFill>
                  <a:srgbClr val="000000"/>
                </a:solidFill>
                <a:highlight>
                  <a:srgbClr val="FFFFFF"/>
                </a:highlight>
              </a:rPr>
              <a:t> </a:t>
            </a:r>
            <a:r>
              <a:rPr lang="en-GB" sz="1400" b="0" dirty="0" err="1">
                <a:solidFill>
                  <a:srgbClr val="000000"/>
                </a:solidFill>
                <a:highlight>
                  <a:srgbClr val="FFFFFF"/>
                </a:highlight>
              </a:rPr>
              <a:t>TestSincronizare</a:t>
            </a:r>
            <a:r>
              <a:rPr lang="en-GB" sz="1400" b="0" dirty="0">
                <a:solidFill>
                  <a:srgbClr val="000000"/>
                </a:solidFill>
                <a:highlight>
                  <a:srgbClr val="FFFFFF"/>
                </a:highlight>
              </a:rPr>
              <a:t> </a:t>
            </a:r>
            <a:r>
              <a:rPr lang="en-GB" sz="1400" b="1" dirty="0">
                <a:solidFill>
                  <a:srgbClr val="000080"/>
                </a:solidFill>
                <a:highlight>
                  <a:srgbClr val="FFFFFF"/>
                </a:highlight>
              </a:rPr>
              <a:t>{</a:t>
            </a:r>
            <a:endParaRPr lang="en-GB" sz="1400" b="0" dirty="0">
              <a:solidFill>
                <a:srgbClr val="000000"/>
              </a:solidFill>
              <a:highlight>
                <a:srgbClr val="FFFFFF"/>
              </a:highlight>
            </a:endParaRPr>
          </a:p>
          <a:p>
            <a:pPr>
              <a:spcBef>
                <a:spcPts val="0"/>
              </a:spcBef>
            </a:pPr>
            <a:r>
              <a:rPr lang="en-GB" sz="1400" b="0" dirty="0">
                <a:solidFill>
                  <a:srgbClr val="000000"/>
                </a:solidFill>
                <a:highlight>
                  <a:srgbClr val="FFFFFF"/>
                </a:highlight>
              </a:rPr>
              <a:t>    </a:t>
            </a:r>
            <a:r>
              <a:rPr lang="en-GB" sz="1400" b="0" dirty="0">
                <a:solidFill>
                  <a:srgbClr val="8000FF"/>
                </a:solidFill>
                <a:highlight>
                  <a:srgbClr val="FFFFFF"/>
                </a:highlight>
              </a:rPr>
              <a:t>public</a:t>
            </a:r>
            <a:r>
              <a:rPr lang="en-GB" sz="1400" b="0" dirty="0">
                <a:solidFill>
                  <a:srgbClr val="000000"/>
                </a:solidFill>
                <a:highlight>
                  <a:srgbClr val="FFFFFF"/>
                </a:highlight>
              </a:rPr>
              <a:t> </a:t>
            </a:r>
            <a:r>
              <a:rPr lang="en-GB" sz="1400" b="0" dirty="0">
                <a:solidFill>
                  <a:srgbClr val="8000FF"/>
                </a:solidFill>
                <a:highlight>
                  <a:srgbClr val="FFFFFF"/>
                </a:highlight>
              </a:rPr>
              <a:t>static</a:t>
            </a:r>
            <a:r>
              <a:rPr lang="en-GB" sz="1400" b="0" dirty="0">
                <a:solidFill>
                  <a:srgbClr val="000000"/>
                </a:solidFill>
                <a:highlight>
                  <a:srgbClr val="FFFFFF"/>
                </a:highlight>
              </a:rPr>
              <a:t> </a:t>
            </a:r>
            <a:r>
              <a:rPr lang="en-GB" sz="1400" b="0" dirty="0">
                <a:solidFill>
                  <a:srgbClr val="8000FF"/>
                </a:solidFill>
                <a:highlight>
                  <a:srgbClr val="FFFFFF"/>
                </a:highlight>
              </a:rPr>
              <a:t>void</a:t>
            </a:r>
            <a:r>
              <a:rPr lang="en-GB" sz="1400" b="0" dirty="0">
                <a:solidFill>
                  <a:srgbClr val="000000"/>
                </a:solidFill>
                <a:highlight>
                  <a:srgbClr val="FFFFFF"/>
                </a:highlight>
              </a:rPr>
              <a:t> main</a:t>
            </a:r>
            <a:r>
              <a:rPr lang="en-GB" sz="1400" b="1" dirty="0">
                <a:solidFill>
                  <a:srgbClr val="000080"/>
                </a:solidFill>
                <a:highlight>
                  <a:srgbClr val="FFFFFF"/>
                </a:highlight>
              </a:rPr>
              <a:t>(</a:t>
            </a:r>
            <a:r>
              <a:rPr lang="en-GB" sz="1400" b="0" dirty="0">
                <a:solidFill>
                  <a:srgbClr val="000000"/>
                </a:solidFill>
                <a:highlight>
                  <a:srgbClr val="FFFFFF"/>
                </a:highlight>
              </a:rPr>
              <a:t>String</a:t>
            </a:r>
            <a:r>
              <a:rPr lang="en-GB" sz="1400" b="1" dirty="0">
                <a:solidFill>
                  <a:srgbClr val="000080"/>
                </a:solidFill>
                <a:highlight>
                  <a:srgbClr val="FFFFFF"/>
                </a:highlight>
              </a:rPr>
              <a:t>[]</a:t>
            </a:r>
            <a:r>
              <a:rPr lang="en-GB" sz="1400" b="0" dirty="0">
                <a:solidFill>
                  <a:srgbClr val="000000"/>
                </a:solidFill>
                <a:highlight>
                  <a:srgbClr val="FFFFFF"/>
                </a:highlight>
              </a:rPr>
              <a:t> </a:t>
            </a:r>
            <a:r>
              <a:rPr lang="en-GB" sz="1400" b="0" dirty="0" err="1">
                <a:solidFill>
                  <a:srgbClr val="000000"/>
                </a:solidFill>
                <a:highlight>
                  <a:srgbClr val="FFFFFF"/>
                </a:highlight>
              </a:rPr>
              <a:t>args</a:t>
            </a:r>
            <a:r>
              <a:rPr lang="en-GB" sz="1400" b="1" dirty="0">
                <a:solidFill>
                  <a:srgbClr val="000080"/>
                </a:solidFill>
                <a:highlight>
                  <a:srgbClr val="FFFFFF"/>
                </a:highlight>
              </a:rPr>
              <a:t>)</a:t>
            </a:r>
            <a:r>
              <a:rPr lang="en-GB" sz="1400" b="0" dirty="0">
                <a:solidFill>
                  <a:srgbClr val="000000"/>
                </a:solidFill>
                <a:highlight>
                  <a:srgbClr val="FFFFFF"/>
                </a:highlight>
              </a:rPr>
              <a:t> </a:t>
            </a:r>
            <a:r>
              <a:rPr lang="en-GB" sz="1400" b="1" dirty="0">
                <a:solidFill>
                  <a:srgbClr val="000080"/>
                </a:solidFill>
                <a:highlight>
                  <a:srgbClr val="FFFFFF"/>
                </a:highlight>
              </a:rPr>
              <a:t>{</a:t>
            </a:r>
            <a:endParaRPr lang="en-GB" sz="1400" b="0" dirty="0">
              <a:solidFill>
                <a:srgbClr val="000000"/>
              </a:solidFill>
              <a:highlight>
                <a:srgbClr val="FFFFFF"/>
              </a:highlight>
            </a:endParaRPr>
          </a:p>
          <a:p>
            <a:pPr>
              <a:spcBef>
                <a:spcPts val="0"/>
              </a:spcBef>
            </a:pPr>
            <a:r>
              <a:rPr lang="en-GB" sz="1400" b="0" dirty="0">
                <a:solidFill>
                  <a:srgbClr val="000000"/>
                </a:solidFill>
                <a:highlight>
                  <a:srgbClr val="FFFFFF"/>
                </a:highlight>
              </a:rPr>
              <a:t>        </a:t>
            </a:r>
            <a:r>
              <a:rPr lang="en-GB" sz="1400" b="0" dirty="0" err="1">
                <a:solidFill>
                  <a:srgbClr val="000000"/>
                </a:solidFill>
                <a:highlight>
                  <a:srgbClr val="FFFFFF"/>
                </a:highlight>
              </a:rPr>
              <a:t>Cont</a:t>
            </a:r>
            <a:r>
              <a:rPr lang="en-GB" sz="1400" b="0" dirty="0">
                <a:solidFill>
                  <a:srgbClr val="000000"/>
                </a:solidFill>
                <a:highlight>
                  <a:srgbClr val="FFFFFF"/>
                </a:highlight>
              </a:rPr>
              <a:t> </a:t>
            </a:r>
            <a:r>
              <a:rPr lang="en-GB" sz="1400" b="0" dirty="0" err="1">
                <a:solidFill>
                  <a:srgbClr val="000000"/>
                </a:solidFill>
                <a:highlight>
                  <a:srgbClr val="FFFFFF"/>
                </a:highlight>
              </a:rPr>
              <a:t>cont</a:t>
            </a:r>
            <a:r>
              <a:rPr lang="en-GB" sz="1400" b="0" dirty="0">
                <a:solidFill>
                  <a:srgbClr val="000000"/>
                </a:solidFill>
                <a:highlight>
                  <a:srgbClr val="FFFFFF"/>
                </a:highlight>
              </a:rPr>
              <a:t> </a:t>
            </a:r>
            <a:r>
              <a:rPr lang="en-GB" sz="1400" b="1" dirty="0">
                <a:solidFill>
                  <a:srgbClr val="000080"/>
                </a:solidFill>
                <a:highlight>
                  <a:srgbClr val="FFFFFF"/>
                </a:highlight>
              </a:rPr>
              <a:t>=</a:t>
            </a:r>
            <a:r>
              <a:rPr lang="en-GB" sz="1400" b="0" dirty="0">
                <a:solidFill>
                  <a:srgbClr val="000000"/>
                </a:solidFill>
                <a:highlight>
                  <a:srgbClr val="FFFFFF"/>
                </a:highlight>
              </a:rPr>
              <a:t> </a:t>
            </a:r>
            <a:r>
              <a:rPr lang="en-GB" sz="1400" b="1" dirty="0">
                <a:solidFill>
                  <a:srgbClr val="0000FF"/>
                </a:solidFill>
                <a:highlight>
                  <a:srgbClr val="FFFFFF"/>
                </a:highlight>
              </a:rPr>
              <a:t>new</a:t>
            </a:r>
            <a:r>
              <a:rPr lang="en-GB" sz="1400" b="0" dirty="0">
                <a:solidFill>
                  <a:srgbClr val="000000"/>
                </a:solidFill>
                <a:highlight>
                  <a:srgbClr val="FFFFFF"/>
                </a:highlight>
              </a:rPr>
              <a:t> </a:t>
            </a:r>
            <a:r>
              <a:rPr lang="en-GB" sz="1400" b="0" dirty="0" err="1">
                <a:solidFill>
                  <a:srgbClr val="000000"/>
                </a:solidFill>
                <a:highlight>
                  <a:srgbClr val="FFFFFF"/>
                </a:highlight>
              </a:rPr>
              <a:t>Cont</a:t>
            </a:r>
            <a:r>
              <a:rPr lang="en-GB" sz="1400" b="1" dirty="0">
                <a:solidFill>
                  <a:srgbClr val="000080"/>
                </a:solidFill>
                <a:highlight>
                  <a:srgbClr val="FFFFFF"/>
                </a:highlight>
              </a:rPr>
              <a:t>();</a:t>
            </a:r>
            <a:endParaRPr lang="en-GB" sz="1400" b="0" dirty="0">
              <a:solidFill>
                <a:srgbClr val="000000"/>
              </a:solidFill>
              <a:highlight>
                <a:srgbClr val="FFFFFF"/>
              </a:highlight>
            </a:endParaRPr>
          </a:p>
          <a:p>
            <a:pPr>
              <a:spcBef>
                <a:spcPts val="0"/>
              </a:spcBef>
            </a:pPr>
            <a:endParaRPr lang="en-GB" sz="1400" b="0" dirty="0">
              <a:solidFill>
                <a:srgbClr val="000000"/>
              </a:solidFill>
              <a:highlight>
                <a:srgbClr val="FFFFFF"/>
              </a:highlight>
            </a:endParaRPr>
          </a:p>
          <a:p>
            <a:pPr>
              <a:spcBef>
                <a:spcPts val="0"/>
              </a:spcBef>
            </a:pPr>
            <a:r>
              <a:rPr lang="en-GB" sz="1400" b="0" dirty="0">
                <a:solidFill>
                  <a:srgbClr val="000000"/>
                </a:solidFill>
                <a:highlight>
                  <a:srgbClr val="FFFFFF"/>
                </a:highlight>
              </a:rPr>
              <a:t>        Thread t1 </a:t>
            </a:r>
            <a:r>
              <a:rPr lang="en-GB" sz="1400" b="1" dirty="0">
                <a:solidFill>
                  <a:srgbClr val="000080"/>
                </a:solidFill>
                <a:highlight>
                  <a:srgbClr val="FFFFFF"/>
                </a:highlight>
              </a:rPr>
              <a:t>=</a:t>
            </a:r>
            <a:r>
              <a:rPr lang="en-GB" sz="1400" b="0" dirty="0">
                <a:solidFill>
                  <a:srgbClr val="000000"/>
                </a:solidFill>
                <a:highlight>
                  <a:srgbClr val="FFFFFF"/>
                </a:highlight>
              </a:rPr>
              <a:t> </a:t>
            </a:r>
            <a:r>
              <a:rPr lang="en-GB" sz="1400" b="1" dirty="0">
                <a:solidFill>
                  <a:srgbClr val="0000FF"/>
                </a:solidFill>
                <a:highlight>
                  <a:srgbClr val="FFFFFF"/>
                </a:highlight>
              </a:rPr>
              <a:t>new</a:t>
            </a:r>
            <a:r>
              <a:rPr lang="en-GB" sz="1400" b="0" dirty="0">
                <a:solidFill>
                  <a:srgbClr val="000000"/>
                </a:solidFill>
                <a:highlight>
                  <a:srgbClr val="FFFFFF"/>
                </a:highlight>
              </a:rPr>
              <a:t> Thread</a:t>
            </a:r>
            <a:r>
              <a:rPr lang="en-GB" sz="1400" b="1" dirty="0">
                <a:solidFill>
                  <a:srgbClr val="000080"/>
                </a:solidFill>
                <a:highlight>
                  <a:srgbClr val="FFFFFF"/>
                </a:highlight>
              </a:rPr>
              <a:t>(()</a:t>
            </a:r>
            <a:r>
              <a:rPr lang="en-GB" sz="1400" b="0" dirty="0">
                <a:solidFill>
                  <a:srgbClr val="000000"/>
                </a:solidFill>
                <a:highlight>
                  <a:srgbClr val="FFFFFF"/>
                </a:highlight>
              </a:rPr>
              <a:t> </a:t>
            </a:r>
            <a:r>
              <a:rPr lang="en-GB" sz="1400" b="1" dirty="0">
                <a:solidFill>
                  <a:srgbClr val="000080"/>
                </a:solidFill>
                <a:highlight>
                  <a:srgbClr val="FFFFFF"/>
                </a:highlight>
              </a:rPr>
              <a:t>-&gt;</a:t>
            </a:r>
            <a:r>
              <a:rPr lang="en-GB" sz="1400" b="0" dirty="0">
                <a:solidFill>
                  <a:srgbClr val="000000"/>
                </a:solidFill>
                <a:highlight>
                  <a:srgbClr val="FFFFFF"/>
                </a:highlight>
              </a:rPr>
              <a:t> </a:t>
            </a:r>
            <a:r>
              <a:rPr lang="en-GB" sz="1400" b="0" dirty="0" err="1">
                <a:solidFill>
                  <a:srgbClr val="000000"/>
                </a:solidFill>
                <a:highlight>
                  <a:srgbClr val="FFFFFF"/>
                </a:highlight>
              </a:rPr>
              <a:t>cont</a:t>
            </a:r>
            <a:r>
              <a:rPr lang="en-GB" sz="1400" b="1" dirty="0" err="1">
                <a:solidFill>
                  <a:srgbClr val="000080"/>
                </a:solidFill>
                <a:highlight>
                  <a:srgbClr val="FFFFFF"/>
                </a:highlight>
              </a:rPr>
              <a:t>.</a:t>
            </a:r>
            <a:r>
              <a:rPr lang="en-GB" sz="1400" b="0" dirty="0" err="1">
                <a:solidFill>
                  <a:srgbClr val="000000"/>
                </a:solidFill>
                <a:highlight>
                  <a:srgbClr val="FFFFFF"/>
                </a:highlight>
              </a:rPr>
              <a:t>retragere</a:t>
            </a:r>
            <a:r>
              <a:rPr lang="en-GB" sz="1400" b="1" dirty="0">
                <a:solidFill>
                  <a:srgbClr val="000080"/>
                </a:solidFill>
                <a:highlight>
                  <a:srgbClr val="FFFFFF"/>
                </a:highlight>
              </a:rPr>
              <a:t>(</a:t>
            </a:r>
            <a:r>
              <a:rPr lang="en-GB" sz="1400" b="0" dirty="0">
                <a:solidFill>
                  <a:srgbClr val="FF8000"/>
                </a:solidFill>
                <a:highlight>
                  <a:srgbClr val="FFFFFF"/>
                </a:highlight>
              </a:rPr>
              <a:t>80</a:t>
            </a:r>
            <a:r>
              <a:rPr lang="en-GB" sz="1400" b="1" dirty="0">
                <a:solidFill>
                  <a:srgbClr val="000080"/>
                </a:solidFill>
                <a:highlight>
                  <a:srgbClr val="FFFFFF"/>
                </a:highlight>
              </a:rPr>
              <a:t>),</a:t>
            </a:r>
            <a:r>
              <a:rPr lang="en-GB" sz="1400" b="0" dirty="0">
                <a:solidFill>
                  <a:srgbClr val="000000"/>
                </a:solidFill>
                <a:highlight>
                  <a:srgbClr val="FFFFFF"/>
                </a:highlight>
              </a:rPr>
              <a:t> </a:t>
            </a:r>
            <a:r>
              <a:rPr lang="en-GB" sz="1400" b="0" dirty="0">
                <a:solidFill>
                  <a:srgbClr val="808080"/>
                </a:solidFill>
                <a:highlight>
                  <a:srgbClr val="FFFFFF"/>
                </a:highlight>
              </a:rPr>
              <a:t>"Fir 1"</a:t>
            </a:r>
            <a:r>
              <a:rPr lang="en-GB" sz="1400" b="1" dirty="0">
                <a:solidFill>
                  <a:srgbClr val="000080"/>
                </a:solidFill>
                <a:highlight>
                  <a:srgbClr val="FFFFFF"/>
                </a:highlight>
              </a:rPr>
              <a:t>);</a:t>
            </a:r>
            <a:endParaRPr lang="en-GB" sz="1400" b="0" dirty="0">
              <a:solidFill>
                <a:srgbClr val="000000"/>
              </a:solidFill>
              <a:highlight>
                <a:srgbClr val="FFFFFF"/>
              </a:highlight>
            </a:endParaRPr>
          </a:p>
          <a:p>
            <a:pPr>
              <a:spcBef>
                <a:spcPts val="0"/>
              </a:spcBef>
            </a:pPr>
            <a:r>
              <a:rPr lang="en-GB" sz="1400" b="0" dirty="0">
                <a:solidFill>
                  <a:srgbClr val="000000"/>
                </a:solidFill>
                <a:highlight>
                  <a:srgbClr val="FFFFFF"/>
                </a:highlight>
              </a:rPr>
              <a:t>        Thread t2 </a:t>
            </a:r>
            <a:r>
              <a:rPr lang="en-GB" sz="1400" b="1" dirty="0">
                <a:solidFill>
                  <a:srgbClr val="000080"/>
                </a:solidFill>
                <a:highlight>
                  <a:srgbClr val="FFFFFF"/>
                </a:highlight>
              </a:rPr>
              <a:t>=</a:t>
            </a:r>
            <a:r>
              <a:rPr lang="en-GB" sz="1400" b="0" dirty="0">
                <a:solidFill>
                  <a:srgbClr val="000000"/>
                </a:solidFill>
                <a:highlight>
                  <a:srgbClr val="FFFFFF"/>
                </a:highlight>
              </a:rPr>
              <a:t> </a:t>
            </a:r>
            <a:r>
              <a:rPr lang="en-GB" sz="1400" b="1" dirty="0">
                <a:solidFill>
                  <a:srgbClr val="0000FF"/>
                </a:solidFill>
                <a:highlight>
                  <a:srgbClr val="FFFFFF"/>
                </a:highlight>
              </a:rPr>
              <a:t>new</a:t>
            </a:r>
            <a:r>
              <a:rPr lang="en-GB" sz="1400" b="0" dirty="0">
                <a:solidFill>
                  <a:srgbClr val="000000"/>
                </a:solidFill>
                <a:highlight>
                  <a:srgbClr val="FFFFFF"/>
                </a:highlight>
              </a:rPr>
              <a:t> Thread</a:t>
            </a:r>
            <a:r>
              <a:rPr lang="en-GB" sz="1400" b="1" dirty="0">
                <a:solidFill>
                  <a:srgbClr val="000080"/>
                </a:solidFill>
                <a:highlight>
                  <a:srgbClr val="FFFFFF"/>
                </a:highlight>
              </a:rPr>
              <a:t>(()</a:t>
            </a:r>
            <a:r>
              <a:rPr lang="en-GB" sz="1400" b="0" dirty="0">
                <a:solidFill>
                  <a:srgbClr val="000000"/>
                </a:solidFill>
                <a:highlight>
                  <a:srgbClr val="FFFFFF"/>
                </a:highlight>
              </a:rPr>
              <a:t> </a:t>
            </a:r>
            <a:r>
              <a:rPr lang="en-GB" sz="1400" b="1" dirty="0">
                <a:solidFill>
                  <a:srgbClr val="000080"/>
                </a:solidFill>
                <a:highlight>
                  <a:srgbClr val="FFFFFF"/>
                </a:highlight>
              </a:rPr>
              <a:t>-&gt;</a:t>
            </a:r>
            <a:r>
              <a:rPr lang="en-GB" sz="1400" b="0" dirty="0">
                <a:solidFill>
                  <a:srgbClr val="000000"/>
                </a:solidFill>
                <a:highlight>
                  <a:srgbClr val="FFFFFF"/>
                </a:highlight>
              </a:rPr>
              <a:t> </a:t>
            </a:r>
            <a:r>
              <a:rPr lang="en-GB" sz="1400" b="0" dirty="0" err="1">
                <a:solidFill>
                  <a:srgbClr val="000000"/>
                </a:solidFill>
                <a:highlight>
                  <a:srgbClr val="FFFFFF"/>
                </a:highlight>
              </a:rPr>
              <a:t>cont</a:t>
            </a:r>
            <a:r>
              <a:rPr lang="en-GB" sz="1400" b="1" dirty="0" err="1">
                <a:solidFill>
                  <a:srgbClr val="000080"/>
                </a:solidFill>
                <a:highlight>
                  <a:srgbClr val="FFFFFF"/>
                </a:highlight>
              </a:rPr>
              <a:t>.</a:t>
            </a:r>
            <a:r>
              <a:rPr lang="en-GB" sz="1400" b="0" dirty="0" err="1">
                <a:solidFill>
                  <a:srgbClr val="000000"/>
                </a:solidFill>
                <a:highlight>
                  <a:srgbClr val="FFFFFF"/>
                </a:highlight>
              </a:rPr>
              <a:t>retragere</a:t>
            </a:r>
            <a:r>
              <a:rPr lang="en-GB" sz="1400" b="1" dirty="0">
                <a:solidFill>
                  <a:srgbClr val="000080"/>
                </a:solidFill>
                <a:highlight>
                  <a:srgbClr val="FFFFFF"/>
                </a:highlight>
              </a:rPr>
              <a:t>(</a:t>
            </a:r>
            <a:r>
              <a:rPr lang="en-GB" sz="1400" b="0" dirty="0">
                <a:solidFill>
                  <a:srgbClr val="FF8000"/>
                </a:solidFill>
                <a:highlight>
                  <a:srgbClr val="FFFFFF"/>
                </a:highlight>
              </a:rPr>
              <a:t>80</a:t>
            </a:r>
            <a:r>
              <a:rPr lang="en-GB" sz="1400" b="1" dirty="0">
                <a:solidFill>
                  <a:srgbClr val="000080"/>
                </a:solidFill>
                <a:highlight>
                  <a:srgbClr val="FFFFFF"/>
                </a:highlight>
              </a:rPr>
              <a:t>),</a:t>
            </a:r>
            <a:r>
              <a:rPr lang="en-GB" sz="1400" b="0" dirty="0">
                <a:solidFill>
                  <a:srgbClr val="000000"/>
                </a:solidFill>
                <a:highlight>
                  <a:srgbClr val="FFFFFF"/>
                </a:highlight>
              </a:rPr>
              <a:t> </a:t>
            </a:r>
            <a:r>
              <a:rPr lang="en-GB" sz="1400" b="0" dirty="0">
                <a:solidFill>
                  <a:srgbClr val="808080"/>
                </a:solidFill>
                <a:highlight>
                  <a:srgbClr val="FFFFFF"/>
                </a:highlight>
              </a:rPr>
              <a:t>"Fir 2"</a:t>
            </a:r>
            <a:r>
              <a:rPr lang="en-GB" sz="1400" b="1" dirty="0">
                <a:solidFill>
                  <a:srgbClr val="000080"/>
                </a:solidFill>
                <a:highlight>
                  <a:srgbClr val="FFFFFF"/>
                </a:highlight>
              </a:rPr>
              <a:t>);</a:t>
            </a:r>
            <a:endParaRPr lang="en-GB" sz="1400" b="0" dirty="0">
              <a:solidFill>
                <a:srgbClr val="000000"/>
              </a:solidFill>
              <a:highlight>
                <a:srgbClr val="FFFFFF"/>
              </a:highlight>
            </a:endParaRPr>
          </a:p>
          <a:p>
            <a:pPr>
              <a:spcBef>
                <a:spcPts val="0"/>
              </a:spcBef>
            </a:pPr>
            <a:endParaRPr lang="en-GB" sz="1400" b="0" dirty="0">
              <a:solidFill>
                <a:srgbClr val="000000"/>
              </a:solidFill>
              <a:highlight>
                <a:srgbClr val="FFFFFF"/>
              </a:highlight>
            </a:endParaRPr>
          </a:p>
          <a:p>
            <a:pPr>
              <a:spcBef>
                <a:spcPts val="0"/>
              </a:spcBef>
            </a:pPr>
            <a:r>
              <a:rPr lang="en-GB" sz="1400" b="0" dirty="0">
                <a:solidFill>
                  <a:srgbClr val="000000"/>
                </a:solidFill>
                <a:highlight>
                  <a:srgbClr val="FFFFFF"/>
                </a:highlight>
              </a:rPr>
              <a:t>        t1</a:t>
            </a:r>
            <a:r>
              <a:rPr lang="en-GB" sz="1400" b="1" dirty="0">
                <a:solidFill>
                  <a:srgbClr val="000080"/>
                </a:solidFill>
                <a:highlight>
                  <a:srgbClr val="FFFFFF"/>
                </a:highlight>
              </a:rPr>
              <a:t>.</a:t>
            </a:r>
            <a:r>
              <a:rPr lang="en-GB" sz="1400" b="0" dirty="0">
                <a:solidFill>
                  <a:srgbClr val="000000"/>
                </a:solidFill>
                <a:highlight>
                  <a:srgbClr val="FFFFFF"/>
                </a:highlight>
              </a:rPr>
              <a:t>start</a:t>
            </a:r>
            <a:r>
              <a:rPr lang="en-GB" sz="1400" b="1" dirty="0">
                <a:solidFill>
                  <a:srgbClr val="000080"/>
                </a:solidFill>
                <a:highlight>
                  <a:srgbClr val="FFFFFF"/>
                </a:highlight>
              </a:rPr>
              <a:t>();</a:t>
            </a:r>
            <a:endParaRPr lang="en-GB" sz="1400" b="0" dirty="0">
              <a:solidFill>
                <a:srgbClr val="000000"/>
              </a:solidFill>
              <a:highlight>
                <a:srgbClr val="FFFFFF"/>
              </a:highlight>
            </a:endParaRPr>
          </a:p>
          <a:p>
            <a:pPr>
              <a:spcBef>
                <a:spcPts val="0"/>
              </a:spcBef>
            </a:pPr>
            <a:r>
              <a:rPr lang="en-GB" sz="1400" b="0" dirty="0">
                <a:solidFill>
                  <a:srgbClr val="000000"/>
                </a:solidFill>
                <a:highlight>
                  <a:srgbClr val="FFFFFF"/>
                </a:highlight>
              </a:rPr>
              <a:t>        t2</a:t>
            </a:r>
            <a:r>
              <a:rPr lang="en-GB" sz="1400" b="1" dirty="0">
                <a:solidFill>
                  <a:srgbClr val="000080"/>
                </a:solidFill>
                <a:highlight>
                  <a:srgbClr val="FFFFFF"/>
                </a:highlight>
              </a:rPr>
              <a:t>.</a:t>
            </a:r>
            <a:r>
              <a:rPr lang="en-GB" sz="1400" b="0" dirty="0">
                <a:solidFill>
                  <a:srgbClr val="000000"/>
                </a:solidFill>
                <a:highlight>
                  <a:srgbClr val="FFFFFF"/>
                </a:highlight>
              </a:rPr>
              <a:t>start</a:t>
            </a:r>
            <a:r>
              <a:rPr lang="en-GB" sz="1400" b="1" dirty="0">
                <a:solidFill>
                  <a:srgbClr val="000080"/>
                </a:solidFill>
                <a:highlight>
                  <a:srgbClr val="FFFFFF"/>
                </a:highlight>
              </a:rPr>
              <a:t>();</a:t>
            </a:r>
            <a:endParaRPr lang="en-GB" sz="1400" b="0" dirty="0">
              <a:solidFill>
                <a:srgbClr val="000000"/>
              </a:solidFill>
              <a:highlight>
                <a:srgbClr val="FFFFFF"/>
              </a:highlight>
            </a:endParaRPr>
          </a:p>
          <a:p>
            <a:pPr>
              <a:spcBef>
                <a:spcPts val="0"/>
              </a:spcBef>
            </a:pPr>
            <a:r>
              <a:rPr lang="en-GB" sz="1400" b="0" dirty="0">
                <a:solidFill>
                  <a:srgbClr val="000000"/>
                </a:solidFill>
                <a:highlight>
                  <a:srgbClr val="FFFFFF"/>
                </a:highlight>
              </a:rPr>
              <a:t>    </a:t>
            </a:r>
            <a:r>
              <a:rPr lang="en-GB" sz="1400" b="1" dirty="0">
                <a:solidFill>
                  <a:srgbClr val="000080"/>
                </a:solidFill>
                <a:highlight>
                  <a:srgbClr val="FFFFFF"/>
                </a:highlight>
              </a:rPr>
              <a:t>}</a:t>
            </a:r>
            <a:endParaRPr lang="en-GB" sz="1400" b="0" dirty="0">
              <a:solidFill>
                <a:srgbClr val="000000"/>
              </a:solidFill>
              <a:highlight>
                <a:srgbClr val="FFFFFF"/>
              </a:highlight>
            </a:endParaRPr>
          </a:p>
          <a:p>
            <a:pPr>
              <a:spcBef>
                <a:spcPts val="0"/>
              </a:spcBef>
            </a:pPr>
            <a:r>
              <a:rPr lang="en-GB" sz="1400" b="1" dirty="0">
                <a:solidFill>
                  <a:srgbClr val="000080"/>
                </a:solidFill>
                <a:highlight>
                  <a:srgbClr val="FFFFFF"/>
                </a:highlight>
              </a:rPr>
              <a:t>}</a:t>
            </a:r>
            <a:endParaRPr lang="en-GB" sz="1400" b="0" dirty="0">
              <a:solidFill>
                <a:srgbClr val="000000"/>
              </a:solidFill>
              <a:highlight>
                <a:srgbClr val="FFFFFF"/>
              </a:highlight>
            </a:endParaRPr>
          </a:p>
          <a:p>
            <a:pPr>
              <a:spcBef>
                <a:spcPts val="0"/>
              </a:spcBef>
            </a:pPr>
            <a:endParaRPr lang="ro-RO" sz="1400" dirty="0"/>
          </a:p>
        </p:txBody>
      </p:sp>
      <p:sp>
        <p:nvSpPr>
          <p:cNvPr id="5" name="TextBox 4">
            <a:extLst>
              <a:ext uri="{FF2B5EF4-FFF2-40B4-BE49-F238E27FC236}">
                <a16:creationId xmlns:a16="http://schemas.microsoft.com/office/drawing/2014/main" id="{CE701EFC-5BE2-20CD-C45A-51EFC19B20D3}"/>
              </a:ext>
            </a:extLst>
          </p:cNvPr>
          <p:cNvSpPr txBox="1"/>
          <p:nvPr/>
        </p:nvSpPr>
        <p:spPr>
          <a:xfrm>
            <a:off x="5740400" y="5473005"/>
            <a:ext cx="6320151" cy="1384995"/>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buNone/>
            </a:pPr>
            <a:r>
              <a:rPr lang="en-GB" sz="1400" b="1" dirty="0"/>
              <a:t>🔹 </a:t>
            </a:r>
            <a:r>
              <a:rPr lang="en-GB" sz="1400" b="1" dirty="0" err="1"/>
              <a:t>Explicație</a:t>
            </a:r>
            <a:r>
              <a:rPr lang="en-GB" sz="1400" b="1" dirty="0"/>
              <a:t> </a:t>
            </a:r>
          </a:p>
          <a:p>
            <a:pPr>
              <a:buFont typeface="Arial" panose="020B0604020202020204" pitchFamily="34" charset="0"/>
              <a:buChar char="•"/>
            </a:pPr>
            <a:r>
              <a:rPr lang="en-GB" sz="1400" dirty="0" err="1"/>
              <a:t>Ambele</a:t>
            </a:r>
            <a:r>
              <a:rPr lang="en-GB" sz="1400" dirty="0"/>
              <a:t> fire </a:t>
            </a:r>
            <a:r>
              <a:rPr lang="en-GB" sz="1400" dirty="0" err="1"/>
              <a:t>încearcă</a:t>
            </a:r>
            <a:r>
              <a:rPr lang="en-GB" sz="1400" dirty="0"/>
              <a:t> </a:t>
            </a:r>
            <a:r>
              <a:rPr lang="en-GB" sz="1400" dirty="0" err="1"/>
              <a:t>să</a:t>
            </a:r>
            <a:r>
              <a:rPr lang="en-GB" sz="1400" dirty="0"/>
              <a:t> </a:t>
            </a:r>
            <a:r>
              <a:rPr lang="en-GB" sz="1400" dirty="0" err="1"/>
              <a:t>acceseze</a:t>
            </a:r>
            <a:r>
              <a:rPr lang="en-GB" sz="1400" dirty="0"/>
              <a:t> </a:t>
            </a:r>
            <a:r>
              <a:rPr lang="en-GB" sz="1400" dirty="0" err="1"/>
              <a:t>aceeași</a:t>
            </a:r>
            <a:r>
              <a:rPr lang="en-GB" sz="1400" dirty="0"/>
              <a:t> </a:t>
            </a:r>
            <a:r>
              <a:rPr lang="en-GB" sz="1400" dirty="0" err="1"/>
              <a:t>resursă</a:t>
            </a:r>
            <a:r>
              <a:rPr lang="en-GB" sz="1400" dirty="0"/>
              <a:t> (</a:t>
            </a:r>
            <a:r>
              <a:rPr lang="en-GB" sz="1400" dirty="0">
                <a:latin typeface="Courier New" panose="02070309020205020404" pitchFamily="49" charset="0"/>
              </a:rPr>
              <a:t>sold</a:t>
            </a:r>
            <a:r>
              <a:rPr lang="en-GB" sz="1400" dirty="0"/>
              <a:t>).</a:t>
            </a:r>
          </a:p>
          <a:p>
            <a:pPr>
              <a:buFont typeface="Arial" panose="020B0604020202020204" pitchFamily="34" charset="0"/>
              <a:buChar char="•"/>
            </a:pPr>
            <a:r>
              <a:rPr lang="en-GB" sz="1400" dirty="0" err="1"/>
              <a:t>Fără</a:t>
            </a:r>
            <a:r>
              <a:rPr lang="en-GB" sz="1400" dirty="0"/>
              <a:t> </a:t>
            </a:r>
            <a:r>
              <a:rPr lang="en-GB" sz="1400" dirty="0">
                <a:latin typeface="Courier New" panose="02070309020205020404" pitchFamily="49" charset="0"/>
              </a:rPr>
              <a:t>synchronized</a:t>
            </a:r>
            <a:r>
              <a:rPr lang="en-GB" sz="1400" dirty="0"/>
              <a:t>, </a:t>
            </a:r>
            <a:r>
              <a:rPr lang="en-GB" sz="1400" dirty="0" err="1"/>
              <a:t>ambele</a:t>
            </a:r>
            <a:r>
              <a:rPr lang="en-GB" sz="1400" dirty="0"/>
              <a:t> </a:t>
            </a:r>
            <a:r>
              <a:rPr lang="en-GB" sz="1400" dirty="0" err="1"/>
              <a:t>ar</a:t>
            </a:r>
            <a:r>
              <a:rPr lang="en-GB" sz="1400" dirty="0"/>
              <a:t> </a:t>
            </a:r>
            <a:r>
              <a:rPr lang="en-GB" sz="1400" dirty="0" err="1"/>
              <a:t>putea</a:t>
            </a:r>
            <a:r>
              <a:rPr lang="en-GB" sz="1400" dirty="0"/>
              <a:t> </a:t>
            </a:r>
            <a:r>
              <a:rPr lang="en-GB" sz="1400" dirty="0" err="1"/>
              <a:t>retrage</a:t>
            </a:r>
            <a:r>
              <a:rPr lang="en-GB" sz="1400" dirty="0"/>
              <a:t> </a:t>
            </a:r>
            <a:r>
              <a:rPr lang="en-GB" sz="1400" dirty="0" err="1"/>
              <a:t>simultan</a:t>
            </a:r>
            <a:r>
              <a:rPr lang="en-GB" sz="1400" dirty="0"/>
              <a:t> </a:t>
            </a:r>
            <a:r>
              <a:rPr lang="en-GB" sz="1400" dirty="0" err="1"/>
              <a:t>banii</a:t>
            </a:r>
            <a:r>
              <a:rPr lang="en-GB" sz="1400" dirty="0"/>
              <a:t> → sold </a:t>
            </a:r>
            <a:r>
              <a:rPr lang="en-GB" sz="1400" dirty="0" err="1"/>
              <a:t>negativ</a:t>
            </a:r>
            <a:r>
              <a:rPr lang="en-GB" sz="1400" dirty="0"/>
              <a:t> ❌</a:t>
            </a:r>
          </a:p>
          <a:p>
            <a:pPr>
              <a:buFont typeface="Arial" panose="020B0604020202020204" pitchFamily="34" charset="0"/>
              <a:buChar char="•"/>
            </a:pPr>
            <a:r>
              <a:rPr lang="en-GB" sz="1400" dirty="0"/>
              <a:t>Cu </a:t>
            </a:r>
            <a:r>
              <a:rPr lang="en-GB" sz="1400" dirty="0">
                <a:latin typeface="Courier New" panose="02070309020205020404" pitchFamily="49" charset="0"/>
              </a:rPr>
              <a:t>synchronized</a:t>
            </a:r>
            <a:r>
              <a:rPr lang="en-GB" sz="1400" dirty="0"/>
              <a:t>, un </a:t>
            </a:r>
            <a:r>
              <a:rPr lang="en-GB" sz="1400" dirty="0" err="1"/>
              <a:t>singur</a:t>
            </a:r>
            <a:r>
              <a:rPr lang="en-GB" sz="1400" dirty="0"/>
              <a:t> fir </a:t>
            </a:r>
            <a:r>
              <a:rPr lang="en-GB" sz="1400" dirty="0" err="1"/>
              <a:t>accesează</a:t>
            </a:r>
            <a:r>
              <a:rPr lang="en-GB" sz="1400" dirty="0"/>
              <a:t> </a:t>
            </a:r>
            <a:r>
              <a:rPr lang="en-GB" sz="1400" dirty="0" err="1"/>
              <a:t>metoda</a:t>
            </a:r>
            <a:r>
              <a:rPr lang="en-GB" sz="1400" dirty="0"/>
              <a:t> la un moment </a:t>
            </a:r>
            <a:r>
              <a:rPr lang="en-GB" sz="1400" dirty="0" err="1"/>
              <a:t>dat</a:t>
            </a:r>
            <a:r>
              <a:rPr lang="en-GB" sz="1400" dirty="0"/>
              <a:t> ✅</a:t>
            </a:r>
          </a:p>
          <a:p>
            <a:pPr>
              <a:buFont typeface="Arial" panose="020B0604020202020204" pitchFamily="34" charset="0"/>
              <a:buChar char="•"/>
            </a:pPr>
            <a:r>
              <a:rPr lang="en-GB" sz="1400" dirty="0" err="1"/>
              <a:t>După</a:t>
            </a:r>
            <a:r>
              <a:rPr lang="en-GB" sz="1400" dirty="0"/>
              <a:t> </a:t>
            </a:r>
            <a:r>
              <a:rPr lang="en-GB" sz="1400" dirty="0" err="1"/>
              <a:t>ce</a:t>
            </a:r>
            <a:r>
              <a:rPr lang="en-GB" sz="1400" dirty="0"/>
              <a:t> </a:t>
            </a:r>
            <a:r>
              <a:rPr lang="en-GB" sz="1400" dirty="0" err="1"/>
              <a:t>firul</a:t>
            </a:r>
            <a:r>
              <a:rPr lang="en-GB" sz="1400" dirty="0"/>
              <a:t> </a:t>
            </a:r>
            <a:r>
              <a:rPr lang="en-GB" sz="1400" dirty="0" err="1"/>
              <a:t>curent</a:t>
            </a:r>
            <a:r>
              <a:rPr lang="en-GB" sz="1400" dirty="0"/>
              <a:t> </a:t>
            </a:r>
            <a:r>
              <a:rPr lang="en-GB" sz="1400" dirty="0" err="1"/>
              <a:t>termină</a:t>
            </a:r>
            <a:r>
              <a:rPr lang="en-GB" sz="1400" dirty="0"/>
              <a:t>, </a:t>
            </a:r>
            <a:r>
              <a:rPr lang="en-GB" sz="1400" dirty="0" err="1"/>
              <a:t>instanța</a:t>
            </a:r>
            <a:r>
              <a:rPr lang="en-GB" sz="1400" dirty="0"/>
              <a:t> se „</a:t>
            </a:r>
            <a:r>
              <a:rPr lang="en-GB" sz="1400" dirty="0" err="1"/>
              <a:t>eliberează</a:t>
            </a:r>
            <a:r>
              <a:rPr lang="en-GB" sz="1400" dirty="0"/>
              <a:t>” </a:t>
            </a:r>
            <a:r>
              <a:rPr lang="en-GB" sz="1400" dirty="0" err="1"/>
              <a:t>și</a:t>
            </a:r>
            <a:r>
              <a:rPr lang="en-GB" sz="1400" dirty="0"/>
              <a:t> </a:t>
            </a:r>
            <a:r>
              <a:rPr lang="en-GB" sz="1400" dirty="0" err="1"/>
              <a:t>poate</a:t>
            </a:r>
            <a:r>
              <a:rPr lang="en-GB" sz="1400" dirty="0"/>
              <a:t> fi </a:t>
            </a:r>
            <a:r>
              <a:rPr lang="en-GB" sz="1400" dirty="0" err="1"/>
              <a:t>accesată</a:t>
            </a:r>
            <a:r>
              <a:rPr lang="en-GB" sz="1400" dirty="0"/>
              <a:t> de </a:t>
            </a:r>
            <a:r>
              <a:rPr lang="en-GB" sz="1400" dirty="0" err="1"/>
              <a:t>celălalt</a:t>
            </a:r>
            <a:r>
              <a:rPr lang="en-GB" sz="1400" dirty="0"/>
              <a:t>.</a:t>
            </a:r>
          </a:p>
        </p:txBody>
      </p:sp>
    </p:spTree>
    <p:extLst>
      <p:ext uri="{BB962C8B-B14F-4D97-AF65-F5344CB8AC3E}">
        <p14:creationId xmlns:p14="http://schemas.microsoft.com/office/powerpoint/2010/main" val="11563871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a:t>Exemplu. </a:t>
            </a:r>
            <a:r>
              <a:rPr lang="ro-RO" b="1" dirty="0"/>
              <a:t>Problema filozofilor</a:t>
            </a:r>
            <a:endParaRPr lang="ro-RO" dirty="0"/>
          </a:p>
        </p:txBody>
      </p:sp>
      <p:sp>
        <p:nvSpPr>
          <p:cNvPr id="3" name="Content Placeholder 2"/>
          <p:cNvSpPr>
            <a:spLocks noGrp="1"/>
          </p:cNvSpPr>
          <p:nvPr>
            <p:ph idx="1"/>
          </p:nvPr>
        </p:nvSpPr>
        <p:spPr/>
        <p:txBody>
          <a:bodyPr>
            <a:normAutofit lnSpcReduction="10000"/>
          </a:bodyPr>
          <a:lstStyle/>
          <a:p>
            <a:r>
              <a:rPr lang="ro-RO" dirty="0"/>
              <a:t>Exemplul următor implementează </a:t>
            </a:r>
            <a:r>
              <a:rPr lang="ro-RO" dirty="0" err="1"/>
              <a:t>soluţia</a:t>
            </a:r>
            <a:r>
              <a:rPr lang="ro-RO" dirty="0"/>
              <a:t> următoarei probleme: Într-o </a:t>
            </a:r>
            <a:r>
              <a:rPr lang="ro-RO" dirty="0" err="1"/>
              <a:t>ţară</a:t>
            </a:r>
            <a:r>
              <a:rPr lang="ro-RO" dirty="0"/>
              <a:t> foarte îndepărtată trăiau trei </a:t>
            </a:r>
            <a:r>
              <a:rPr lang="ro-RO" dirty="0" err="1"/>
              <a:t>înţelepţi</a:t>
            </a:r>
            <a:r>
              <a:rPr lang="ro-RO" dirty="0"/>
              <a:t> filozofi. </a:t>
            </a:r>
            <a:r>
              <a:rPr lang="ro-RO" dirty="0" err="1"/>
              <a:t>Aceşti</a:t>
            </a:r>
            <a:r>
              <a:rPr lang="ro-RO" dirty="0"/>
              <a:t> trei </a:t>
            </a:r>
            <a:r>
              <a:rPr lang="ro-RO" dirty="0" err="1"/>
              <a:t>înţelepţi</a:t>
            </a:r>
            <a:r>
              <a:rPr lang="ro-RO" dirty="0"/>
              <a:t> </a:t>
            </a:r>
            <a:r>
              <a:rPr lang="ro-RO" dirty="0" err="1"/>
              <a:t>îşi</a:t>
            </a:r>
            <a:r>
              <a:rPr lang="ro-RO" dirty="0"/>
              <a:t> pierdeau o mare parte din energie certându-se între ei pentru a afla care este cel mai </a:t>
            </a:r>
            <a:r>
              <a:rPr lang="ro-RO" dirty="0" err="1"/>
              <a:t>înţelept</a:t>
            </a:r>
            <a:r>
              <a:rPr lang="ro-RO" dirty="0"/>
              <a:t>. Pentru a </a:t>
            </a:r>
            <a:r>
              <a:rPr lang="ro-RO" dirty="0" err="1"/>
              <a:t>tranşa</a:t>
            </a:r>
            <a:r>
              <a:rPr lang="ro-RO" dirty="0"/>
              <a:t> problema o dată pentru totdeauna, cei trei </a:t>
            </a:r>
            <a:r>
              <a:rPr lang="ro-RO" dirty="0" err="1"/>
              <a:t>înţelepţi</a:t>
            </a:r>
            <a:r>
              <a:rPr lang="ro-RO" dirty="0"/>
              <a:t> au pornit la drum către un al patrulea </a:t>
            </a:r>
            <a:r>
              <a:rPr lang="ro-RO" dirty="0" err="1"/>
              <a:t>înţelept</a:t>
            </a:r>
            <a:r>
              <a:rPr lang="ro-RO" dirty="0"/>
              <a:t> pe care cu </a:t>
            </a:r>
            <a:r>
              <a:rPr lang="ro-RO" dirty="0" err="1"/>
              <a:t>toţii</a:t>
            </a:r>
            <a:r>
              <a:rPr lang="ro-RO" dirty="0"/>
              <a:t> îl </a:t>
            </a:r>
            <a:r>
              <a:rPr lang="ro-RO" dirty="0" err="1"/>
              <a:t>recunoşteau</a:t>
            </a:r>
            <a:r>
              <a:rPr lang="ro-RO" dirty="0"/>
              <a:t> că ar fi mai bun decât ei.</a:t>
            </a:r>
          </a:p>
          <a:p>
            <a:r>
              <a:rPr lang="ro-RO" dirty="0"/>
              <a:t>Când au ajuns la acesta, cei trei i-au cerut să le spună care dintre ei este cel mai </a:t>
            </a:r>
            <a:r>
              <a:rPr lang="ro-RO" dirty="0" err="1"/>
              <a:t>înţelept</a:t>
            </a:r>
            <a:r>
              <a:rPr lang="ro-RO" dirty="0"/>
              <a:t>. Acesta, a scos cinci pălării, trei negre </a:t>
            </a:r>
            <a:r>
              <a:rPr lang="ro-RO" dirty="0" err="1"/>
              <a:t>şi</a:t>
            </a:r>
            <a:r>
              <a:rPr lang="ro-RO" dirty="0"/>
              <a:t> două albe, </a:t>
            </a:r>
            <a:r>
              <a:rPr lang="ro-RO" dirty="0" err="1"/>
              <a:t>şi</a:t>
            </a:r>
            <a:r>
              <a:rPr lang="ro-RO" dirty="0"/>
              <a:t> li le-a arătat explicându-le că îi va lega la ochi </a:t>
            </a:r>
            <a:r>
              <a:rPr lang="ro-RO" dirty="0" err="1"/>
              <a:t>şi</a:t>
            </a:r>
            <a:r>
              <a:rPr lang="ro-RO" dirty="0"/>
              <a:t> le va pune în cap câte o pălărie, cele două rămase ascunzându-le. După aceea, le va dezlega ochii, </a:t>
            </a:r>
            <a:r>
              <a:rPr lang="ro-RO" dirty="0" err="1"/>
              <a:t>şi</a:t>
            </a:r>
            <a:r>
              <a:rPr lang="ro-RO" dirty="0"/>
              <a:t> fiecare dintre ei va vedea culoarea pălăriei </a:t>
            </a:r>
            <a:r>
              <a:rPr lang="ro-RO" dirty="0" err="1"/>
              <a:t>celorlalţi</a:t>
            </a:r>
            <a:r>
              <a:rPr lang="ro-RO" dirty="0"/>
              <a:t> dar nu </a:t>
            </a:r>
            <a:r>
              <a:rPr lang="ro-RO" dirty="0" err="1"/>
              <a:t>şi</a:t>
            </a:r>
            <a:r>
              <a:rPr lang="ro-RO" dirty="0"/>
              <a:t>-o va putea vedea pe a sa. Cel care </a:t>
            </a:r>
            <a:r>
              <a:rPr lang="ro-RO" dirty="0" err="1"/>
              <a:t>îşi</a:t>
            </a:r>
            <a:r>
              <a:rPr lang="ro-RO" dirty="0"/>
              <a:t> va da primul seama ce culoare are propria pălărie, acela va fi cel mai </a:t>
            </a:r>
            <a:r>
              <a:rPr lang="ro-RO" dirty="0" err="1"/>
              <a:t>înţelept</a:t>
            </a:r>
            <a:r>
              <a:rPr lang="ro-RO" dirty="0"/>
              <a:t>.</a:t>
            </a:r>
          </a:p>
          <a:p>
            <a:r>
              <a:rPr lang="ro-RO" dirty="0"/>
              <a:t>După </a:t>
            </a:r>
            <a:r>
              <a:rPr lang="ro-RO" dirty="0" err="1"/>
              <a:t>explicaţie</a:t>
            </a:r>
            <a:r>
              <a:rPr lang="ro-RO" dirty="0"/>
              <a:t>, </a:t>
            </a:r>
            <a:r>
              <a:rPr lang="ro-RO" dirty="0" err="1"/>
              <a:t>înţeleptul</a:t>
            </a:r>
            <a:r>
              <a:rPr lang="ro-RO" dirty="0"/>
              <a:t> i-a legat la ochi, le-a pus la fiecare câte o pălărie neagră </a:t>
            </a:r>
            <a:r>
              <a:rPr lang="ro-RO" dirty="0" err="1"/>
              <a:t>şi</a:t>
            </a:r>
            <a:r>
              <a:rPr lang="ro-RO" dirty="0"/>
              <a:t> le-a ascuns pe celelalte două. Problema este aceea de a descoperi care a fost </a:t>
            </a:r>
            <a:r>
              <a:rPr lang="ro-RO" dirty="0" err="1"/>
              <a:t>raţionamentul</a:t>
            </a:r>
            <a:r>
              <a:rPr lang="ro-RO" dirty="0"/>
              <a:t> celui care a ghicit primul că pălăria lui este neagră.</a:t>
            </a:r>
          </a:p>
          <a:p>
            <a:endParaRPr lang="ro-RO" dirty="0"/>
          </a:p>
        </p:txBody>
      </p:sp>
    </p:spTree>
    <p:extLst>
      <p:ext uri="{BB962C8B-B14F-4D97-AF65-F5344CB8AC3E}">
        <p14:creationId xmlns:p14="http://schemas.microsoft.com/office/powerpoint/2010/main" val="17913960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a:t>Exemplu. </a:t>
            </a:r>
            <a:r>
              <a:rPr lang="ro-RO" b="1" dirty="0"/>
              <a:t>Problema filozofilor</a:t>
            </a:r>
            <a:endParaRPr lang="ro-RO" dirty="0"/>
          </a:p>
        </p:txBody>
      </p:sp>
      <p:sp>
        <p:nvSpPr>
          <p:cNvPr id="3" name="Content Placeholder 2"/>
          <p:cNvSpPr>
            <a:spLocks noGrp="1"/>
          </p:cNvSpPr>
          <p:nvPr>
            <p:ph idx="1"/>
          </p:nvPr>
        </p:nvSpPr>
        <p:spPr/>
        <p:txBody>
          <a:bodyPr>
            <a:normAutofit fontScale="85000" lnSpcReduction="20000"/>
          </a:bodyPr>
          <a:lstStyle/>
          <a:p>
            <a:r>
              <a:rPr lang="ro-RO" dirty="0"/>
              <a:t>Programul următor rezolvă problema dată în felul următor: Fiecare </a:t>
            </a:r>
            <a:r>
              <a:rPr lang="ro-RO" dirty="0" err="1"/>
              <a:t>înţelept</a:t>
            </a:r>
            <a:r>
              <a:rPr lang="ro-RO" dirty="0"/>
              <a:t> </a:t>
            </a:r>
            <a:r>
              <a:rPr lang="ro-RO" dirty="0" err="1"/>
              <a:t>priveşte</a:t>
            </a:r>
            <a:r>
              <a:rPr lang="ro-RO" dirty="0"/>
              <a:t> pălăriile </a:t>
            </a:r>
            <a:r>
              <a:rPr lang="ro-RO" dirty="0" err="1"/>
              <a:t>celorlalţi</a:t>
            </a:r>
            <a:r>
              <a:rPr lang="ro-RO" dirty="0"/>
              <a:t> doi. Dacă ambele sunt albe, problema este rezolvată, a lui nu poate fi decât neagră. Dacă vede o pălărie albă </a:t>
            </a:r>
            <a:r>
              <a:rPr lang="ro-RO" dirty="0" err="1"/>
              <a:t>şi</a:t>
            </a:r>
            <a:r>
              <a:rPr lang="ro-RO" dirty="0"/>
              <a:t> una neagră, atunci el va trebui să </a:t>
            </a:r>
            <a:r>
              <a:rPr lang="ro-RO" dirty="0" err="1"/>
              <a:t>aştepte</a:t>
            </a:r>
            <a:r>
              <a:rPr lang="ro-RO" dirty="0"/>
              <a:t> </a:t>
            </a:r>
            <a:r>
              <a:rPr lang="ro-RO" dirty="0" err="1"/>
              <a:t>puţin</a:t>
            </a:r>
            <a:r>
              <a:rPr lang="ro-RO" dirty="0"/>
              <a:t> să vadă ce spune cel cu pălăria neagră. Dacă acesta nu </a:t>
            </a:r>
            <a:r>
              <a:rPr lang="ro-RO" dirty="0" err="1"/>
              <a:t>găseşte</a:t>
            </a:r>
            <a:r>
              <a:rPr lang="ro-RO" dirty="0"/>
              <a:t> </a:t>
            </a:r>
            <a:r>
              <a:rPr lang="ro-RO" dirty="0" err="1"/>
              <a:t>soluţia</a:t>
            </a:r>
            <a:r>
              <a:rPr lang="ro-RO" dirty="0"/>
              <a:t>, înseamnă că el nu vede două pălării albe, altfel ar fi găsit imediat răspunsul. După un scurt timp de </a:t>
            </a:r>
            <a:r>
              <a:rPr lang="ro-RO" dirty="0" err="1"/>
              <a:t>aşteptare</a:t>
            </a:r>
            <a:r>
              <a:rPr lang="ro-RO" dirty="0"/>
              <a:t>, </a:t>
            </a:r>
            <a:r>
              <a:rPr lang="ro-RO" dirty="0" err="1"/>
              <a:t>înţeleptul</a:t>
            </a:r>
            <a:r>
              <a:rPr lang="ro-RO" dirty="0"/>
              <a:t> poate să fie sigur că pălăria lui este neagră.</a:t>
            </a:r>
          </a:p>
          <a:p>
            <a:r>
              <a:rPr lang="ro-RO" dirty="0"/>
              <a:t>În fine, dacă ambele pălării pe care le vede sunt negre, va trebui să </a:t>
            </a:r>
            <a:r>
              <a:rPr lang="ro-RO" dirty="0" err="1"/>
              <a:t>aştepte</a:t>
            </a:r>
            <a:r>
              <a:rPr lang="ro-RO" dirty="0"/>
              <a:t> un timp ceva mai lung pentru a vedea dacă unul dintre </a:t>
            </a:r>
            <a:r>
              <a:rPr lang="ro-RO" dirty="0" err="1"/>
              <a:t>concurenţii</a:t>
            </a:r>
            <a:r>
              <a:rPr lang="ro-RO" dirty="0"/>
              <a:t> săi nu </a:t>
            </a:r>
            <a:r>
              <a:rPr lang="ro-RO" dirty="0" err="1"/>
              <a:t>ghiceşte</a:t>
            </a:r>
            <a:r>
              <a:rPr lang="ro-RO" dirty="0"/>
              <a:t> pălăria. Dacă după scurgerea timpului nici unul nu spune nimic, înseamnă că nici unul nu vede o pălărie albă </a:t>
            </a:r>
            <a:r>
              <a:rPr lang="ro-RO" dirty="0" err="1"/>
              <a:t>şi</a:t>
            </a:r>
            <a:r>
              <a:rPr lang="ro-RO" dirty="0"/>
              <a:t> una neagră. Înseamnă că propria pălărie este neagră.</a:t>
            </a:r>
          </a:p>
          <a:p>
            <a:r>
              <a:rPr lang="ro-RO" dirty="0"/>
              <a:t>Desigur, </a:t>
            </a:r>
            <a:r>
              <a:rPr lang="ro-RO" dirty="0" err="1"/>
              <a:t>raţionamentul</a:t>
            </a:r>
            <a:r>
              <a:rPr lang="ro-RO" dirty="0"/>
              <a:t> pleacă de la ideea că ne putem baza pe faptul că </a:t>
            </a:r>
            <a:r>
              <a:rPr lang="ro-RO" dirty="0" err="1"/>
              <a:t>toţi</a:t>
            </a:r>
            <a:r>
              <a:rPr lang="ro-RO" dirty="0"/>
              <a:t> </a:t>
            </a:r>
            <a:r>
              <a:rPr lang="ro-RO" dirty="0" err="1"/>
              <a:t>înţelepţii</a:t>
            </a:r>
            <a:r>
              <a:rPr lang="ro-RO" dirty="0"/>
              <a:t> gândesc </a:t>
            </a:r>
            <a:r>
              <a:rPr lang="ro-RO" dirty="0" err="1"/>
              <a:t>şi</a:t>
            </a:r>
            <a:r>
              <a:rPr lang="ro-RO" dirty="0"/>
              <a:t> pot rezolva probleme </a:t>
            </a:r>
            <a:r>
              <a:rPr lang="ro-RO" dirty="0" err="1"/>
              <a:t>uşoare</a:t>
            </a:r>
            <a:r>
              <a:rPr lang="ro-RO" dirty="0"/>
              <a:t>. Cel care </a:t>
            </a:r>
            <a:r>
              <a:rPr lang="ro-RO" dirty="0" err="1"/>
              <a:t>câştigă</a:t>
            </a:r>
            <a:r>
              <a:rPr lang="ro-RO" dirty="0"/>
              <a:t> a gândit doar un pic mai repede. Putem simula viteza de gândire cu un interval </a:t>
            </a:r>
            <a:r>
              <a:rPr lang="ro-RO" dirty="0" err="1"/>
              <a:t>aleator</a:t>
            </a:r>
            <a:r>
              <a:rPr lang="ro-RO" dirty="0"/>
              <a:t> de </a:t>
            </a:r>
            <a:r>
              <a:rPr lang="ro-RO" dirty="0" err="1"/>
              <a:t>aşteptare</a:t>
            </a:r>
            <a:r>
              <a:rPr lang="ro-RO" dirty="0"/>
              <a:t> până la luarea deciziilor. În realitate, intervalul nu este </a:t>
            </a:r>
            <a:r>
              <a:rPr lang="ro-RO" dirty="0" err="1"/>
              <a:t>aleator</a:t>
            </a:r>
            <a:r>
              <a:rPr lang="ro-RO" dirty="0"/>
              <a:t> ci dictat de viteza de gândire a fiecărui </a:t>
            </a:r>
            <a:r>
              <a:rPr lang="ro-RO" dirty="0" err="1"/>
              <a:t>înţelept</a:t>
            </a:r>
            <a:r>
              <a:rPr lang="ro-RO" dirty="0"/>
              <a:t>.</a:t>
            </a:r>
          </a:p>
          <a:p>
            <a:r>
              <a:rPr lang="ro-RO" dirty="0"/>
              <a:t>Cei trei </a:t>
            </a:r>
            <a:r>
              <a:rPr lang="ro-RO" dirty="0" err="1"/>
              <a:t>înţelepţi</a:t>
            </a:r>
            <a:r>
              <a:rPr lang="ro-RO" dirty="0"/>
              <a:t> sunt </a:t>
            </a:r>
            <a:r>
              <a:rPr lang="ro-RO" dirty="0" err="1"/>
              <a:t>implementaţi</a:t>
            </a:r>
            <a:r>
              <a:rPr lang="ro-RO" dirty="0"/>
              <a:t> identic sub formă de fire de </a:t>
            </a:r>
            <a:r>
              <a:rPr lang="ro-RO" dirty="0" err="1"/>
              <a:t>execuţie</a:t>
            </a:r>
            <a:r>
              <a:rPr lang="ro-RO" dirty="0"/>
              <a:t>. Nu </a:t>
            </a:r>
            <a:r>
              <a:rPr lang="ro-RO" dirty="0" err="1"/>
              <a:t>câştigă</a:t>
            </a:r>
            <a:r>
              <a:rPr lang="ro-RO" dirty="0"/>
              <a:t> la fiecare rulare </a:t>
            </a:r>
            <a:r>
              <a:rPr lang="ro-RO" dirty="0" err="1"/>
              <a:t>acelaşi</a:t>
            </a:r>
            <a:r>
              <a:rPr lang="ro-RO" dirty="0"/>
              <a:t> din cauza caracterului </a:t>
            </a:r>
            <a:r>
              <a:rPr lang="ro-RO" dirty="0" err="1"/>
              <a:t>aleator</a:t>
            </a:r>
            <a:r>
              <a:rPr lang="ro-RO" dirty="0"/>
              <a:t> al implementării. </a:t>
            </a:r>
            <a:r>
              <a:rPr lang="ro-RO" dirty="0" err="1"/>
              <a:t>Înţeleptul</a:t>
            </a:r>
            <a:r>
              <a:rPr lang="ro-RO" dirty="0"/>
              <a:t> cel mare este firul de </a:t>
            </a:r>
            <a:r>
              <a:rPr lang="ro-RO" dirty="0" err="1"/>
              <a:t>execuţie</a:t>
            </a:r>
            <a:r>
              <a:rPr lang="ro-RO" dirty="0"/>
              <a:t> principal care controlează activitatea celorlalte fire </a:t>
            </a:r>
            <a:r>
              <a:rPr lang="ro-RO" dirty="0" err="1"/>
              <a:t>şi</a:t>
            </a:r>
            <a:r>
              <a:rPr lang="ro-RO" dirty="0"/>
              <a:t> le </a:t>
            </a:r>
            <a:r>
              <a:rPr lang="ro-RO" dirty="0" err="1"/>
              <a:t>serveşte</a:t>
            </a:r>
            <a:r>
              <a:rPr lang="ro-RO" dirty="0"/>
              <a:t> cu date, culoarea pălăriilor, doar în măsura în care aceste date trebuie să fie accesibile. Adică nu se poate cere propria culoare de pălărie.</a:t>
            </a:r>
            <a:endParaRPr lang="en-US" dirty="0"/>
          </a:p>
          <a:p>
            <a:r>
              <a:rPr lang="en-US" dirty="0" err="1"/>
              <a:t>Aplica</a:t>
            </a:r>
            <a:r>
              <a:rPr lang="ro-RO" dirty="0" err="1"/>
              <a:t>ția</a:t>
            </a:r>
            <a:r>
              <a:rPr lang="ro-RO" dirty="0"/>
              <a:t> Java este pe CV</a:t>
            </a:r>
          </a:p>
          <a:p>
            <a:endParaRPr lang="ro-RO" dirty="0"/>
          </a:p>
        </p:txBody>
      </p:sp>
    </p:spTree>
    <p:extLst>
      <p:ext uri="{BB962C8B-B14F-4D97-AF65-F5344CB8AC3E}">
        <p14:creationId xmlns:p14="http://schemas.microsoft.com/office/powerpoint/2010/main" val="5432056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Rectangle 4"/>
          <p:cNvSpPr/>
          <p:nvPr/>
        </p:nvSpPr>
        <p:spPr>
          <a:xfrm>
            <a:off x="1762896" y="736413"/>
            <a:ext cx="8311979" cy="5632311"/>
          </a:xfrm>
          <a:prstGeom prst="rect">
            <a:avLst/>
          </a:prstGeom>
        </p:spPr>
        <p:txBody>
          <a:bodyPr wrap="square">
            <a:spAutoFit/>
          </a:bodyPr>
          <a:lstStyle/>
          <a:p>
            <a:r>
              <a:rPr lang="ro-RO" b="1" dirty="0">
                <a:solidFill>
                  <a:srgbClr val="0000FF"/>
                </a:solidFill>
                <a:highlight>
                  <a:srgbClr val="FFFFFF"/>
                </a:highlight>
              </a:rPr>
              <a:t>import</a:t>
            </a:r>
            <a:r>
              <a:rPr lang="ro-RO" dirty="0">
                <a:solidFill>
                  <a:srgbClr val="000000"/>
                </a:solidFill>
                <a:highlight>
                  <a:srgbClr val="FFFFFF"/>
                </a:highlight>
              </a:rPr>
              <a:t> </a:t>
            </a:r>
            <a:r>
              <a:rPr lang="ro-RO" dirty="0" err="1">
                <a:solidFill>
                  <a:srgbClr val="000000"/>
                </a:solidFill>
                <a:highlight>
                  <a:srgbClr val="FFFFFF"/>
                </a:highlight>
              </a:rPr>
              <a:t>java</a:t>
            </a:r>
            <a:r>
              <a:rPr lang="ro-RO" b="1" dirty="0" err="1">
                <a:solidFill>
                  <a:srgbClr val="000080"/>
                </a:solidFill>
                <a:highlight>
                  <a:srgbClr val="FFFFFF"/>
                </a:highlight>
              </a:rPr>
              <a:t>.</a:t>
            </a:r>
            <a:r>
              <a:rPr lang="ro-RO" dirty="0" err="1">
                <a:solidFill>
                  <a:srgbClr val="000000"/>
                </a:solidFill>
                <a:highlight>
                  <a:srgbClr val="FFFFFF"/>
                </a:highlight>
              </a:rPr>
              <a:t>awt</a:t>
            </a:r>
            <a:r>
              <a:rPr lang="ro-RO" b="1" dirty="0" err="1">
                <a:solidFill>
                  <a:srgbClr val="000080"/>
                </a:solidFill>
                <a:highlight>
                  <a:srgbClr val="FFFFFF"/>
                </a:highlight>
              </a:rPr>
              <a:t>.</a:t>
            </a:r>
            <a:r>
              <a:rPr lang="ro-RO" dirty="0" err="1">
                <a:solidFill>
                  <a:srgbClr val="000000"/>
                </a:solidFill>
                <a:highlight>
                  <a:srgbClr val="FFFFFF"/>
                </a:highlight>
              </a:rPr>
              <a:t>Color</a:t>
            </a:r>
            <a:r>
              <a:rPr lang="ro-RO" b="1" dirty="0">
                <a:solidFill>
                  <a:srgbClr val="000080"/>
                </a:solidFill>
                <a:highlight>
                  <a:srgbClr val="FFFFFF"/>
                </a:highlight>
              </a:rPr>
              <a:t>;</a:t>
            </a:r>
            <a:endParaRPr lang="ro-RO" dirty="0">
              <a:solidFill>
                <a:srgbClr val="000000"/>
              </a:solidFill>
              <a:highlight>
                <a:srgbClr val="FFFFFF"/>
              </a:highlight>
            </a:endParaRPr>
          </a:p>
          <a:p>
            <a:r>
              <a:rPr lang="ro-RO" dirty="0">
                <a:solidFill>
                  <a:srgbClr val="008000"/>
                </a:solidFill>
                <a:highlight>
                  <a:srgbClr val="FFFFFF"/>
                </a:highlight>
              </a:rPr>
              <a:t>// clasa Filozof </a:t>
            </a:r>
            <a:r>
              <a:rPr lang="ro-RO" dirty="0" err="1">
                <a:solidFill>
                  <a:srgbClr val="008000"/>
                </a:solidFill>
                <a:highlight>
                  <a:srgbClr val="FFFFFF"/>
                </a:highlight>
              </a:rPr>
              <a:t>implementeaza</a:t>
            </a:r>
            <a:r>
              <a:rPr lang="ro-RO" dirty="0">
                <a:solidFill>
                  <a:srgbClr val="008000"/>
                </a:solidFill>
                <a:highlight>
                  <a:srgbClr val="FFFFFF"/>
                </a:highlight>
              </a:rPr>
              <a:t> comportamentul unui concurent</a:t>
            </a:r>
          </a:p>
          <a:p>
            <a:r>
              <a:rPr lang="ro-RO" dirty="0" err="1">
                <a:solidFill>
                  <a:srgbClr val="8000FF"/>
                </a:solidFill>
                <a:highlight>
                  <a:srgbClr val="FFFFFF"/>
                </a:highlight>
              </a:rPr>
              <a:t>class</a:t>
            </a:r>
            <a:r>
              <a:rPr lang="ro-RO" dirty="0">
                <a:solidFill>
                  <a:srgbClr val="000000"/>
                </a:solidFill>
                <a:highlight>
                  <a:srgbClr val="FFFFFF"/>
                </a:highlight>
              </a:rPr>
              <a:t> Filozof </a:t>
            </a:r>
            <a:r>
              <a:rPr lang="ro-RO" b="1" dirty="0" err="1">
                <a:solidFill>
                  <a:srgbClr val="0000FF"/>
                </a:solidFill>
                <a:highlight>
                  <a:srgbClr val="FFFFFF"/>
                </a:highlight>
              </a:rPr>
              <a:t>extends</a:t>
            </a:r>
            <a:r>
              <a:rPr lang="ro-RO" dirty="0">
                <a:solidFill>
                  <a:srgbClr val="000000"/>
                </a:solidFill>
                <a:highlight>
                  <a:srgbClr val="FFFFFF"/>
                </a:highlight>
              </a:rPr>
              <a:t> </a:t>
            </a:r>
            <a:r>
              <a:rPr lang="ro-RO" dirty="0" err="1">
                <a:solidFill>
                  <a:srgbClr val="000000"/>
                </a:solidFill>
                <a:highlight>
                  <a:srgbClr val="FFFFFF"/>
                </a:highlight>
              </a:rPr>
              <a:t>Thread</a:t>
            </a:r>
            <a:r>
              <a:rPr lang="ro-RO" dirty="0">
                <a:solidFill>
                  <a:srgbClr val="000000"/>
                </a:solidFill>
                <a:highlight>
                  <a:srgbClr val="FFFFFF"/>
                </a:highlight>
              </a:rPr>
              <a:t> </a:t>
            </a:r>
            <a:r>
              <a:rPr lang="ro-RO" b="1" dirty="0">
                <a:solidFill>
                  <a:srgbClr val="000080"/>
                </a:solidFill>
                <a:highlight>
                  <a:srgbClr val="FFFFFF"/>
                </a:highlight>
              </a:rPr>
              <a:t>{</a:t>
            </a:r>
            <a:endParaRPr lang="ro-RO" dirty="0">
              <a:solidFill>
                <a:srgbClr val="000000"/>
              </a:solidFill>
              <a:highlight>
                <a:srgbClr val="FFFFFF"/>
              </a:highlight>
            </a:endParaRPr>
          </a:p>
          <a:p>
            <a:r>
              <a:rPr lang="ro-RO" dirty="0">
                <a:solidFill>
                  <a:srgbClr val="008000"/>
                </a:solidFill>
                <a:highlight>
                  <a:srgbClr val="FFFFFF"/>
                </a:highlight>
              </a:rPr>
              <a:t>// </a:t>
            </a:r>
            <a:r>
              <a:rPr lang="ro-RO" dirty="0" err="1">
                <a:solidFill>
                  <a:srgbClr val="008000"/>
                </a:solidFill>
                <a:highlight>
                  <a:srgbClr val="FFFFFF"/>
                </a:highlight>
              </a:rPr>
              <a:t>parerea</a:t>
            </a:r>
            <a:r>
              <a:rPr lang="ro-RO" dirty="0">
                <a:solidFill>
                  <a:srgbClr val="008000"/>
                </a:solidFill>
                <a:highlight>
                  <a:srgbClr val="FFFFFF"/>
                </a:highlight>
              </a:rPr>
              <a:t> concurentului despre culoarea </a:t>
            </a:r>
            <a:r>
              <a:rPr lang="ro-RO" dirty="0" err="1">
                <a:solidFill>
                  <a:srgbClr val="008000"/>
                </a:solidFill>
                <a:highlight>
                  <a:srgbClr val="FFFFFF"/>
                </a:highlight>
              </a:rPr>
              <a:t>palariei</a:t>
            </a:r>
            <a:r>
              <a:rPr lang="ro-RO" dirty="0">
                <a:solidFill>
                  <a:srgbClr val="008000"/>
                </a:solidFill>
                <a:highlight>
                  <a:srgbClr val="FFFFFF"/>
                </a:highlight>
              </a:rPr>
              <a:t> sale. </a:t>
            </a:r>
          </a:p>
          <a:p>
            <a:r>
              <a:rPr lang="it-IT" dirty="0">
                <a:solidFill>
                  <a:srgbClr val="008000"/>
                </a:solidFill>
                <a:highlight>
                  <a:srgbClr val="FFFFFF"/>
                </a:highlight>
              </a:rPr>
              <a:t>// Null daca înca nu si-a format o parere.</a:t>
            </a:r>
          </a:p>
          <a:p>
            <a:r>
              <a:rPr lang="ro-RO" dirty="0">
                <a:solidFill>
                  <a:srgbClr val="000000"/>
                </a:solidFill>
                <a:highlight>
                  <a:srgbClr val="FFFFFF"/>
                </a:highlight>
              </a:rPr>
              <a:t>Color </a:t>
            </a:r>
            <a:r>
              <a:rPr lang="ro-RO" dirty="0" err="1">
                <a:solidFill>
                  <a:srgbClr val="000000"/>
                </a:solidFill>
                <a:highlight>
                  <a:srgbClr val="FFFFFF"/>
                </a:highlight>
              </a:rPr>
              <a:t>parere</a:t>
            </a:r>
            <a:r>
              <a:rPr lang="ro-RO" dirty="0">
                <a:solidFill>
                  <a:srgbClr val="000000"/>
                </a:solidFill>
                <a:highlight>
                  <a:srgbClr val="FFFFFF"/>
                </a:highlight>
              </a:rPr>
              <a:t> </a:t>
            </a:r>
            <a:r>
              <a:rPr lang="ro-RO" b="1" dirty="0">
                <a:solidFill>
                  <a:srgbClr val="000080"/>
                </a:solidFill>
                <a:highlight>
                  <a:srgbClr val="FFFFFF"/>
                </a:highlight>
              </a:rPr>
              <a:t>=</a:t>
            </a:r>
            <a:r>
              <a:rPr lang="ro-RO" dirty="0">
                <a:solidFill>
                  <a:srgbClr val="000000"/>
                </a:solidFill>
                <a:highlight>
                  <a:srgbClr val="FFFFFF"/>
                </a:highlight>
              </a:rPr>
              <a:t> </a:t>
            </a:r>
            <a:r>
              <a:rPr lang="ro-RO" b="1" dirty="0" err="1">
                <a:solidFill>
                  <a:srgbClr val="0000FF"/>
                </a:solidFill>
                <a:highlight>
                  <a:srgbClr val="FFFFFF"/>
                </a:highlight>
              </a:rPr>
              <a:t>null</a:t>
            </a:r>
            <a:r>
              <a:rPr lang="ro-RO" b="1" dirty="0">
                <a:solidFill>
                  <a:srgbClr val="000080"/>
                </a:solidFill>
                <a:highlight>
                  <a:srgbClr val="FFFFFF"/>
                </a:highlight>
              </a:rPr>
              <a:t>;</a:t>
            </a:r>
            <a:endParaRPr lang="ro-RO" dirty="0">
              <a:solidFill>
                <a:srgbClr val="000000"/>
              </a:solidFill>
              <a:highlight>
                <a:srgbClr val="FFFFFF"/>
              </a:highlight>
            </a:endParaRPr>
          </a:p>
          <a:p>
            <a:r>
              <a:rPr lang="ro-RO" dirty="0">
                <a:solidFill>
                  <a:srgbClr val="000000"/>
                </a:solidFill>
                <a:highlight>
                  <a:srgbClr val="FFFFFF"/>
                </a:highlight>
              </a:rPr>
              <a:t>Filozof</a:t>
            </a:r>
            <a:r>
              <a:rPr lang="ro-RO" b="1" dirty="0">
                <a:solidFill>
                  <a:srgbClr val="000080"/>
                </a:solidFill>
                <a:highlight>
                  <a:srgbClr val="FFFFFF"/>
                </a:highlight>
              </a:rPr>
              <a:t>(</a:t>
            </a:r>
            <a:r>
              <a:rPr lang="ro-RO" dirty="0">
                <a:solidFill>
                  <a:srgbClr val="000000"/>
                </a:solidFill>
                <a:highlight>
                  <a:srgbClr val="FFFFFF"/>
                </a:highlight>
              </a:rPr>
              <a:t> </a:t>
            </a:r>
            <a:r>
              <a:rPr lang="ro-RO" dirty="0" err="1">
                <a:solidFill>
                  <a:srgbClr val="000000"/>
                </a:solidFill>
                <a:highlight>
                  <a:srgbClr val="FFFFFF"/>
                </a:highlight>
              </a:rPr>
              <a:t>String</a:t>
            </a:r>
            <a:r>
              <a:rPr lang="ro-RO" dirty="0">
                <a:solidFill>
                  <a:srgbClr val="000000"/>
                </a:solidFill>
                <a:highlight>
                  <a:srgbClr val="FFFFFF"/>
                </a:highlight>
              </a:rPr>
              <a:t> nume </a:t>
            </a:r>
            <a:r>
              <a:rPr lang="ro-RO" b="1" dirty="0">
                <a:solidFill>
                  <a:srgbClr val="000080"/>
                </a:solidFill>
                <a:highlight>
                  <a:srgbClr val="FFFFFF"/>
                </a:highlight>
              </a:rPr>
              <a:t>)</a:t>
            </a:r>
            <a:r>
              <a:rPr lang="ro-RO" dirty="0">
                <a:solidFill>
                  <a:srgbClr val="000000"/>
                </a:solidFill>
                <a:highlight>
                  <a:srgbClr val="FFFFFF"/>
                </a:highlight>
              </a:rPr>
              <a:t> </a:t>
            </a:r>
            <a:r>
              <a:rPr lang="ro-RO" b="1" dirty="0">
                <a:solidFill>
                  <a:srgbClr val="000080"/>
                </a:solidFill>
                <a:highlight>
                  <a:srgbClr val="FFFFFF"/>
                </a:highlight>
              </a:rPr>
              <a:t>{</a:t>
            </a:r>
            <a:endParaRPr lang="ro-RO" dirty="0">
              <a:solidFill>
                <a:srgbClr val="000000"/>
              </a:solidFill>
              <a:highlight>
                <a:srgbClr val="FFFFFF"/>
              </a:highlight>
            </a:endParaRPr>
          </a:p>
          <a:p>
            <a:r>
              <a:rPr lang="ro-RO" b="1" dirty="0">
                <a:solidFill>
                  <a:srgbClr val="0000FF"/>
                </a:solidFill>
                <a:highlight>
                  <a:srgbClr val="FFFFFF"/>
                </a:highlight>
              </a:rPr>
              <a:t>super</a:t>
            </a:r>
            <a:r>
              <a:rPr lang="ro-RO" b="1" dirty="0">
                <a:solidFill>
                  <a:srgbClr val="000080"/>
                </a:solidFill>
                <a:highlight>
                  <a:srgbClr val="FFFFFF"/>
                </a:highlight>
              </a:rPr>
              <a:t>(</a:t>
            </a:r>
            <a:r>
              <a:rPr lang="ro-RO" dirty="0">
                <a:solidFill>
                  <a:srgbClr val="000000"/>
                </a:solidFill>
                <a:highlight>
                  <a:srgbClr val="FFFFFF"/>
                </a:highlight>
              </a:rPr>
              <a:t> nume </a:t>
            </a:r>
            <a:r>
              <a:rPr lang="ro-RO" b="1" dirty="0">
                <a:solidFill>
                  <a:srgbClr val="000080"/>
                </a:solidFill>
                <a:highlight>
                  <a:srgbClr val="FFFFFF"/>
                </a:highlight>
              </a:rPr>
              <a:t>);</a:t>
            </a:r>
            <a:endParaRPr lang="ro-RO" dirty="0">
              <a:solidFill>
                <a:srgbClr val="000000"/>
              </a:solidFill>
              <a:highlight>
                <a:srgbClr val="FFFFFF"/>
              </a:highlight>
            </a:endParaRPr>
          </a:p>
          <a:p>
            <a:r>
              <a:rPr lang="ro-RO" b="1" dirty="0">
                <a:solidFill>
                  <a:srgbClr val="000080"/>
                </a:solidFill>
                <a:highlight>
                  <a:srgbClr val="FFFFFF"/>
                </a:highlight>
              </a:rPr>
              <a:t>}</a:t>
            </a:r>
            <a:endParaRPr lang="ro-RO" dirty="0">
              <a:solidFill>
                <a:srgbClr val="000000"/>
              </a:solidFill>
              <a:highlight>
                <a:srgbClr val="FFFFFF"/>
              </a:highlight>
            </a:endParaRPr>
          </a:p>
          <a:p>
            <a:r>
              <a:rPr lang="ro-RO" dirty="0">
                <a:solidFill>
                  <a:srgbClr val="8000FF"/>
                </a:solidFill>
                <a:highlight>
                  <a:srgbClr val="FFFFFF"/>
                </a:highlight>
              </a:rPr>
              <a:t>public</a:t>
            </a:r>
            <a:r>
              <a:rPr lang="ro-RO" dirty="0">
                <a:solidFill>
                  <a:srgbClr val="000000"/>
                </a:solidFill>
                <a:highlight>
                  <a:srgbClr val="FFFFFF"/>
                </a:highlight>
              </a:rPr>
              <a:t> </a:t>
            </a:r>
            <a:r>
              <a:rPr lang="ro-RO" dirty="0" err="1">
                <a:solidFill>
                  <a:srgbClr val="8000FF"/>
                </a:solidFill>
                <a:highlight>
                  <a:srgbClr val="FFFFFF"/>
                </a:highlight>
              </a:rPr>
              <a:t>void</a:t>
            </a:r>
            <a:r>
              <a:rPr lang="ro-RO" dirty="0">
                <a:solidFill>
                  <a:srgbClr val="000000"/>
                </a:solidFill>
                <a:highlight>
                  <a:srgbClr val="FFFFFF"/>
                </a:highlight>
              </a:rPr>
              <a:t> </a:t>
            </a:r>
            <a:r>
              <a:rPr lang="ro-RO" dirty="0" err="1">
                <a:solidFill>
                  <a:srgbClr val="000000"/>
                </a:solidFill>
                <a:highlight>
                  <a:srgbClr val="FFFFFF"/>
                </a:highlight>
              </a:rPr>
              <a:t>run</a:t>
            </a:r>
            <a:r>
              <a:rPr lang="ro-RO" b="1" dirty="0">
                <a:solidFill>
                  <a:srgbClr val="000080"/>
                </a:solidFill>
                <a:highlight>
                  <a:srgbClr val="FFFFFF"/>
                </a:highlight>
              </a:rPr>
              <a:t>()</a:t>
            </a:r>
            <a:r>
              <a:rPr lang="ro-RO" dirty="0">
                <a:solidFill>
                  <a:srgbClr val="000000"/>
                </a:solidFill>
                <a:highlight>
                  <a:srgbClr val="FFFFFF"/>
                </a:highlight>
              </a:rPr>
              <a:t> </a:t>
            </a:r>
            <a:r>
              <a:rPr lang="ro-RO" b="1" dirty="0">
                <a:solidFill>
                  <a:srgbClr val="000080"/>
                </a:solidFill>
                <a:highlight>
                  <a:srgbClr val="FFFFFF"/>
                </a:highlight>
              </a:rPr>
              <a:t>{</a:t>
            </a:r>
            <a:endParaRPr lang="ro-RO" dirty="0">
              <a:solidFill>
                <a:srgbClr val="000000"/>
              </a:solidFill>
              <a:highlight>
                <a:srgbClr val="FFFFFF"/>
              </a:highlight>
            </a:endParaRPr>
          </a:p>
          <a:p>
            <a:r>
              <a:rPr lang="ro-RO" dirty="0">
                <a:solidFill>
                  <a:srgbClr val="008000"/>
                </a:solidFill>
                <a:highlight>
                  <a:srgbClr val="FFFFFF"/>
                </a:highlight>
              </a:rPr>
              <a:t>// </a:t>
            </a:r>
            <a:r>
              <a:rPr lang="ro-RO" dirty="0" err="1">
                <a:solidFill>
                  <a:srgbClr val="008000"/>
                </a:solidFill>
                <a:highlight>
                  <a:srgbClr val="FFFFFF"/>
                </a:highlight>
              </a:rPr>
              <a:t>concurentii</a:t>
            </a:r>
            <a:r>
              <a:rPr lang="ro-RO" dirty="0">
                <a:solidFill>
                  <a:srgbClr val="008000"/>
                </a:solidFill>
                <a:highlight>
                  <a:srgbClr val="FFFFFF"/>
                </a:highlight>
              </a:rPr>
              <a:t> firului curent</a:t>
            </a:r>
          </a:p>
          <a:p>
            <a:r>
              <a:rPr lang="ro-RO" dirty="0">
                <a:solidFill>
                  <a:srgbClr val="000000"/>
                </a:solidFill>
                <a:highlight>
                  <a:srgbClr val="FFFFFF"/>
                </a:highlight>
              </a:rPr>
              <a:t>Filozof </a:t>
            </a:r>
            <a:r>
              <a:rPr lang="ro-RO" dirty="0" err="1">
                <a:solidFill>
                  <a:srgbClr val="000000"/>
                </a:solidFill>
                <a:highlight>
                  <a:srgbClr val="FFFFFF"/>
                </a:highlight>
              </a:rPr>
              <a:t>concurenti</a:t>
            </a:r>
            <a:r>
              <a:rPr lang="ro-RO" b="1" dirty="0">
                <a:solidFill>
                  <a:srgbClr val="000080"/>
                </a:solidFill>
                <a:highlight>
                  <a:srgbClr val="FFFFFF"/>
                </a:highlight>
              </a:rPr>
              <a:t>[]</a:t>
            </a:r>
            <a:r>
              <a:rPr lang="ro-RO" dirty="0">
                <a:solidFill>
                  <a:srgbClr val="000000"/>
                </a:solidFill>
                <a:highlight>
                  <a:srgbClr val="FFFFFF"/>
                </a:highlight>
              </a:rPr>
              <a:t> </a:t>
            </a:r>
            <a:r>
              <a:rPr lang="ro-RO" b="1" dirty="0">
                <a:solidFill>
                  <a:srgbClr val="000080"/>
                </a:solidFill>
                <a:highlight>
                  <a:srgbClr val="FFFFFF"/>
                </a:highlight>
              </a:rPr>
              <a:t>=</a:t>
            </a:r>
            <a:r>
              <a:rPr lang="ro-RO" dirty="0">
                <a:solidFill>
                  <a:srgbClr val="000000"/>
                </a:solidFill>
                <a:highlight>
                  <a:srgbClr val="FFFFFF"/>
                </a:highlight>
              </a:rPr>
              <a:t> </a:t>
            </a:r>
            <a:r>
              <a:rPr lang="ro-RO" b="1" dirty="0" err="1">
                <a:solidFill>
                  <a:srgbClr val="0000FF"/>
                </a:solidFill>
                <a:highlight>
                  <a:srgbClr val="FFFFFF"/>
                </a:highlight>
              </a:rPr>
              <a:t>new</a:t>
            </a:r>
            <a:r>
              <a:rPr lang="ro-RO" dirty="0">
                <a:solidFill>
                  <a:srgbClr val="000000"/>
                </a:solidFill>
                <a:highlight>
                  <a:srgbClr val="FFFFFF"/>
                </a:highlight>
              </a:rPr>
              <a:t> Filozof</a:t>
            </a:r>
            <a:r>
              <a:rPr lang="ro-RO" b="1" dirty="0">
                <a:solidFill>
                  <a:srgbClr val="000080"/>
                </a:solidFill>
                <a:highlight>
                  <a:srgbClr val="FFFFFF"/>
                </a:highlight>
              </a:rPr>
              <a:t>[</a:t>
            </a:r>
            <a:r>
              <a:rPr lang="ro-RO" dirty="0">
                <a:solidFill>
                  <a:srgbClr val="FF8000"/>
                </a:solidFill>
                <a:highlight>
                  <a:srgbClr val="FFFFFF"/>
                </a:highlight>
              </a:rPr>
              <a:t>2</a:t>
            </a:r>
            <a:r>
              <a:rPr lang="ro-RO" b="1" dirty="0">
                <a:solidFill>
                  <a:srgbClr val="000080"/>
                </a:solidFill>
                <a:highlight>
                  <a:srgbClr val="FFFFFF"/>
                </a:highlight>
              </a:rPr>
              <a:t>];</a:t>
            </a:r>
            <a:endParaRPr lang="ro-RO" dirty="0">
              <a:solidFill>
                <a:srgbClr val="000000"/>
              </a:solidFill>
              <a:highlight>
                <a:srgbClr val="FFFFFF"/>
              </a:highlight>
            </a:endParaRPr>
          </a:p>
          <a:p>
            <a:r>
              <a:rPr lang="ro-RO" dirty="0">
                <a:solidFill>
                  <a:srgbClr val="008000"/>
                </a:solidFill>
                <a:highlight>
                  <a:srgbClr val="FFFFFF"/>
                </a:highlight>
              </a:rPr>
              <a:t>// temporar</a:t>
            </a:r>
          </a:p>
          <a:p>
            <a:r>
              <a:rPr lang="ro-RO" dirty="0" err="1">
                <a:solidFill>
                  <a:srgbClr val="000000"/>
                </a:solidFill>
                <a:highlight>
                  <a:srgbClr val="FFFFFF"/>
                </a:highlight>
              </a:rPr>
              <a:t>Thread</a:t>
            </a:r>
            <a:r>
              <a:rPr lang="ro-RO" dirty="0">
                <a:solidFill>
                  <a:srgbClr val="000000"/>
                </a:solidFill>
                <a:highlight>
                  <a:srgbClr val="FFFFFF"/>
                </a:highlight>
              </a:rPr>
              <a:t> fire</a:t>
            </a:r>
            <a:r>
              <a:rPr lang="ro-RO" b="1" dirty="0">
                <a:solidFill>
                  <a:srgbClr val="000080"/>
                </a:solidFill>
                <a:highlight>
                  <a:srgbClr val="FFFFFF"/>
                </a:highlight>
              </a:rPr>
              <a:t>[]</a:t>
            </a:r>
            <a:r>
              <a:rPr lang="ro-RO" dirty="0">
                <a:solidFill>
                  <a:srgbClr val="000000"/>
                </a:solidFill>
                <a:highlight>
                  <a:srgbClr val="FFFFFF"/>
                </a:highlight>
              </a:rPr>
              <a:t> </a:t>
            </a:r>
            <a:r>
              <a:rPr lang="ro-RO" b="1" dirty="0">
                <a:solidFill>
                  <a:srgbClr val="000080"/>
                </a:solidFill>
                <a:highlight>
                  <a:srgbClr val="FFFFFF"/>
                </a:highlight>
              </a:rPr>
              <a:t>=</a:t>
            </a:r>
            <a:r>
              <a:rPr lang="ro-RO" dirty="0">
                <a:solidFill>
                  <a:srgbClr val="000000"/>
                </a:solidFill>
                <a:highlight>
                  <a:srgbClr val="FFFFFF"/>
                </a:highlight>
              </a:rPr>
              <a:t> </a:t>
            </a:r>
            <a:r>
              <a:rPr lang="ro-RO" b="1" dirty="0" err="1">
                <a:solidFill>
                  <a:srgbClr val="0000FF"/>
                </a:solidFill>
                <a:highlight>
                  <a:srgbClr val="FFFFFF"/>
                </a:highlight>
              </a:rPr>
              <a:t>new</a:t>
            </a:r>
            <a:r>
              <a:rPr lang="ro-RO" dirty="0">
                <a:solidFill>
                  <a:srgbClr val="000000"/>
                </a:solidFill>
                <a:highlight>
                  <a:srgbClr val="FFFFFF"/>
                </a:highlight>
              </a:rPr>
              <a:t> </a:t>
            </a:r>
            <a:r>
              <a:rPr lang="ro-RO" dirty="0" err="1">
                <a:solidFill>
                  <a:srgbClr val="000000"/>
                </a:solidFill>
                <a:highlight>
                  <a:srgbClr val="FFFFFF"/>
                </a:highlight>
              </a:rPr>
              <a:t>Thread</a:t>
            </a:r>
            <a:r>
              <a:rPr lang="ro-RO" b="1" dirty="0">
                <a:solidFill>
                  <a:srgbClr val="000080"/>
                </a:solidFill>
                <a:highlight>
                  <a:srgbClr val="FFFFFF"/>
                </a:highlight>
              </a:rPr>
              <a:t>[</a:t>
            </a:r>
            <a:r>
              <a:rPr lang="ro-RO" dirty="0">
                <a:solidFill>
                  <a:srgbClr val="FF8000"/>
                </a:solidFill>
                <a:highlight>
                  <a:srgbClr val="FFFFFF"/>
                </a:highlight>
              </a:rPr>
              <a:t>10</a:t>
            </a:r>
            <a:r>
              <a:rPr lang="ro-RO" b="1" dirty="0">
                <a:solidFill>
                  <a:srgbClr val="000080"/>
                </a:solidFill>
                <a:highlight>
                  <a:srgbClr val="FFFFFF"/>
                </a:highlight>
              </a:rPr>
              <a:t>];</a:t>
            </a:r>
            <a:endParaRPr lang="ro-RO" dirty="0">
              <a:solidFill>
                <a:srgbClr val="000000"/>
              </a:solidFill>
              <a:highlight>
                <a:srgbClr val="FFFFFF"/>
              </a:highlight>
            </a:endParaRPr>
          </a:p>
          <a:p>
            <a:r>
              <a:rPr lang="ro-RO" dirty="0" err="1">
                <a:solidFill>
                  <a:srgbClr val="8000FF"/>
                </a:solidFill>
                <a:highlight>
                  <a:srgbClr val="FFFFFF"/>
                </a:highlight>
              </a:rPr>
              <a:t>int</a:t>
            </a:r>
            <a:r>
              <a:rPr lang="ro-RO" dirty="0">
                <a:solidFill>
                  <a:srgbClr val="000000"/>
                </a:solidFill>
                <a:highlight>
                  <a:srgbClr val="FFFFFF"/>
                </a:highlight>
              </a:rPr>
              <a:t> </a:t>
            </a:r>
            <a:r>
              <a:rPr lang="ro-RO" dirty="0" err="1">
                <a:solidFill>
                  <a:srgbClr val="000000"/>
                </a:solidFill>
                <a:highlight>
                  <a:srgbClr val="FFFFFF"/>
                </a:highlight>
              </a:rPr>
              <a:t>numarFire</a:t>
            </a:r>
            <a:r>
              <a:rPr lang="ro-RO" dirty="0">
                <a:solidFill>
                  <a:srgbClr val="000000"/>
                </a:solidFill>
                <a:highlight>
                  <a:srgbClr val="FFFFFF"/>
                </a:highlight>
              </a:rPr>
              <a:t> </a:t>
            </a:r>
            <a:r>
              <a:rPr lang="ro-RO" b="1" dirty="0">
                <a:solidFill>
                  <a:srgbClr val="000080"/>
                </a:solidFill>
                <a:highlight>
                  <a:srgbClr val="FFFFFF"/>
                </a:highlight>
              </a:rPr>
              <a:t>=</a:t>
            </a:r>
            <a:r>
              <a:rPr lang="ro-RO" dirty="0">
                <a:solidFill>
                  <a:srgbClr val="000000"/>
                </a:solidFill>
                <a:highlight>
                  <a:srgbClr val="FFFFFF"/>
                </a:highlight>
              </a:rPr>
              <a:t> enumerate</a:t>
            </a:r>
            <a:r>
              <a:rPr lang="ro-RO" b="1" dirty="0">
                <a:solidFill>
                  <a:srgbClr val="000080"/>
                </a:solidFill>
                <a:highlight>
                  <a:srgbClr val="FFFFFF"/>
                </a:highlight>
              </a:rPr>
              <a:t>(</a:t>
            </a:r>
            <a:r>
              <a:rPr lang="ro-RO" dirty="0">
                <a:solidFill>
                  <a:srgbClr val="000000"/>
                </a:solidFill>
                <a:highlight>
                  <a:srgbClr val="FFFFFF"/>
                </a:highlight>
              </a:rPr>
              <a:t> fire </a:t>
            </a:r>
            <a:r>
              <a:rPr lang="ro-RO" b="1" dirty="0">
                <a:solidFill>
                  <a:srgbClr val="000080"/>
                </a:solidFill>
                <a:highlight>
                  <a:srgbClr val="FFFFFF"/>
                </a:highlight>
              </a:rPr>
              <a:t>);</a:t>
            </a:r>
            <a:endParaRPr lang="ro-RO" dirty="0">
              <a:solidFill>
                <a:srgbClr val="000000"/>
              </a:solidFill>
              <a:highlight>
                <a:srgbClr val="FFFFFF"/>
              </a:highlight>
            </a:endParaRPr>
          </a:p>
          <a:p>
            <a:r>
              <a:rPr lang="nn-NO" b="1" dirty="0">
                <a:solidFill>
                  <a:srgbClr val="0000FF"/>
                </a:solidFill>
                <a:highlight>
                  <a:srgbClr val="FFFFFF"/>
                </a:highlight>
              </a:rPr>
              <a:t>for</a:t>
            </a:r>
            <a:r>
              <a:rPr lang="nn-NO" b="1" dirty="0">
                <a:solidFill>
                  <a:srgbClr val="000080"/>
                </a:solidFill>
                <a:highlight>
                  <a:srgbClr val="FFFFFF"/>
                </a:highlight>
              </a:rPr>
              <a:t>(</a:t>
            </a:r>
            <a:r>
              <a:rPr lang="nn-NO" dirty="0">
                <a:solidFill>
                  <a:srgbClr val="000000"/>
                </a:solidFill>
                <a:highlight>
                  <a:srgbClr val="FFFFFF"/>
                </a:highlight>
              </a:rPr>
              <a:t> </a:t>
            </a:r>
            <a:r>
              <a:rPr lang="nn-NO" dirty="0">
                <a:solidFill>
                  <a:srgbClr val="8000FF"/>
                </a:solidFill>
                <a:highlight>
                  <a:srgbClr val="FFFFFF"/>
                </a:highlight>
              </a:rPr>
              <a:t>int</a:t>
            </a:r>
            <a:r>
              <a:rPr lang="nn-NO" dirty="0">
                <a:solidFill>
                  <a:srgbClr val="000000"/>
                </a:solidFill>
                <a:highlight>
                  <a:srgbClr val="FFFFFF"/>
                </a:highlight>
              </a:rPr>
              <a:t> i </a:t>
            </a:r>
            <a:r>
              <a:rPr lang="nn-NO" b="1" dirty="0">
                <a:solidFill>
                  <a:srgbClr val="000080"/>
                </a:solidFill>
                <a:highlight>
                  <a:srgbClr val="FFFFFF"/>
                </a:highlight>
              </a:rPr>
              <a:t>=</a:t>
            </a:r>
            <a:r>
              <a:rPr lang="nn-NO" dirty="0">
                <a:solidFill>
                  <a:srgbClr val="000000"/>
                </a:solidFill>
                <a:highlight>
                  <a:srgbClr val="FFFFFF"/>
                </a:highlight>
              </a:rPr>
              <a:t> </a:t>
            </a:r>
            <a:r>
              <a:rPr lang="nn-NO" dirty="0">
                <a:solidFill>
                  <a:srgbClr val="FF8000"/>
                </a:solidFill>
                <a:highlight>
                  <a:srgbClr val="FFFFFF"/>
                </a:highlight>
              </a:rPr>
              <a:t>0</a:t>
            </a:r>
            <a:r>
              <a:rPr lang="nn-NO" b="1" dirty="0">
                <a:solidFill>
                  <a:srgbClr val="000080"/>
                </a:solidFill>
                <a:highlight>
                  <a:srgbClr val="FFFFFF"/>
                </a:highlight>
              </a:rPr>
              <a:t>,</a:t>
            </a:r>
            <a:r>
              <a:rPr lang="nn-NO" dirty="0">
                <a:solidFill>
                  <a:srgbClr val="000000"/>
                </a:solidFill>
                <a:highlight>
                  <a:srgbClr val="FFFFFF"/>
                </a:highlight>
              </a:rPr>
              <a:t> j </a:t>
            </a:r>
            <a:r>
              <a:rPr lang="nn-NO" b="1" dirty="0">
                <a:solidFill>
                  <a:srgbClr val="000080"/>
                </a:solidFill>
                <a:highlight>
                  <a:srgbClr val="FFFFFF"/>
                </a:highlight>
              </a:rPr>
              <a:t>=</a:t>
            </a:r>
            <a:r>
              <a:rPr lang="nn-NO" dirty="0">
                <a:solidFill>
                  <a:srgbClr val="000000"/>
                </a:solidFill>
                <a:highlight>
                  <a:srgbClr val="FFFFFF"/>
                </a:highlight>
              </a:rPr>
              <a:t> </a:t>
            </a:r>
            <a:r>
              <a:rPr lang="nn-NO" dirty="0">
                <a:solidFill>
                  <a:srgbClr val="FF8000"/>
                </a:solidFill>
                <a:highlight>
                  <a:srgbClr val="FFFFFF"/>
                </a:highlight>
              </a:rPr>
              <a:t>0</a:t>
            </a:r>
            <a:r>
              <a:rPr lang="nn-NO" b="1" dirty="0">
                <a:solidFill>
                  <a:srgbClr val="000080"/>
                </a:solidFill>
                <a:highlight>
                  <a:srgbClr val="FFFFFF"/>
                </a:highlight>
              </a:rPr>
              <a:t>;</a:t>
            </a:r>
            <a:r>
              <a:rPr lang="nn-NO" dirty="0">
                <a:solidFill>
                  <a:srgbClr val="000000"/>
                </a:solidFill>
                <a:highlight>
                  <a:srgbClr val="FFFFFF"/>
                </a:highlight>
              </a:rPr>
              <a:t> i </a:t>
            </a:r>
            <a:r>
              <a:rPr lang="nn-NO" b="1" dirty="0">
                <a:solidFill>
                  <a:srgbClr val="000080"/>
                </a:solidFill>
                <a:highlight>
                  <a:srgbClr val="FFFFFF"/>
                </a:highlight>
              </a:rPr>
              <a:t>&lt;</a:t>
            </a:r>
            <a:r>
              <a:rPr lang="nn-NO" dirty="0">
                <a:solidFill>
                  <a:srgbClr val="000000"/>
                </a:solidFill>
                <a:highlight>
                  <a:srgbClr val="FFFFFF"/>
                </a:highlight>
              </a:rPr>
              <a:t> numarFire </a:t>
            </a:r>
            <a:r>
              <a:rPr lang="nn-NO" b="1" dirty="0">
                <a:solidFill>
                  <a:srgbClr val="000080"/>
                </a:solidFill>
                <a:highlight>
                  <a:srgbClr val="FFFFFF"/>
                </a:highlight>
              </a:rPr>
              <a:t>&amp;&amp;</a:t>
            </a:r>
            <a:r>
              <a:rPr lang="nn-NO" dirty="0">
                <a:solidFill>
                  <a:srgbClr val="000000"/>
                </a:solidFill>
                <a:highlight>
                  <a:srgbClr val="FFFFFF"/>
                </a:highlight>
              </a:rPr>
              <a:t>   j </a:t>
            </a:r>
            <a:r>
              <a:rPr lang="nn-NO" b="1" dirty="0">
                <a:solidFill>
                  <a:srgbClr val="000080"/>
                </a:solidFill>
                <a:highlight>
                  <a:srgbClr val="FFFFFF"/>
                </a:highlight>
              </a:rPr>
              <a:t>&lt;</a:t>
            </a:r>
            <a:r>
              <a:rPr lang="nn-NO" dirty="0">
                <a:solidFill>
                  <a:srgbClr val="000000"/>
                </a:solidFill>
                <a:highlight>
                  <a:srgbClr val="FFFFFF"/>
                </a:highlight>
              </a:rPr>
              <a:t> </a:t>
            </a:r>
            <a:r>
              <a:rPr lang="nn-NO" dirty="0">
                <a:solidFill>
                  <a:srgbClr val="FF8000"/>
                </a:solidFill>
                <a:highlight>
                  <a:srgbClr val="FFFFFF"/>
                </a:highlight>
              </a:rPr>
              <a:t>2</a:t>
            </a:r>
            <a:r>
              <a:rPr lang="nn-NO" b="1" dirty="0">
                <a:solidFill>
                  <a:srgbClr val="000080"/>
                </a:solidFill>
                <a:highlight>
                  <a:srgbClr val="FFFFFF"/>
                </a:highlight>
              </a:rPr>
              <a:t>;</a:t>
            </a:r>
            <a:r>
              <a:rPr lang="nn-NO" dirty="0">
                <a:solidFill>
                  <a:srgbClr val="000000"/>
                </a:solidFill>
                <a:highlight>
                  <a:srgbClr val="FFFFFF"/>
                </a:highlight>
              </a:rPr>
              <a:t> i</a:t>
            </a:r>
            <a:r>
              <a:rPr lang="nn-NO" b="1" dirty="0">
                <a:solidFill>
                  <a:srgbClr val="000080"/>
                </a:solidFill>
                <a:highlight>
                  <a:srgbClr val="FFFFFF"/>
                </a:highlight>
              </a:rPr>
              <a:t>++</a:t>
            </a:r>
            <a:r>
              <a:rPr lang="nn-NO" dirty="0">
                <a:solidFill>
                  <a:srgbClr val="000000"/>
                </a:solidFill>
                <a:highlight>
                  <a:srgbClr val="FFFFFF"/>
                </a:highlight>
              </a:rPr>
              <a:t> </a:t>
            </a:r>
            <a:r>
              <a:rPr lang="nn-NO" b="1" dirty="0">
                <a:solidFill>
                  <a:srgbClr val="000080"/>
                </a:solidFill>
                <a:highlight>
                  <a:srgbClr val="FFFFFF"/>
                </a:highlight>
              </a:rPr>
              <a:t>)</a:t>
            </a:r>
            <a:r>
              <a:rPr lang="nn-NO" dirty="0">
                <a:solidFill>
                  <a:srgbClr val="000000"/>
                </a:solidFill>
                <a:highlight>
                  <a:srgbClr val="FFFFFF"/>
                </a:highlight>
              </a:rPr>
              <a:t> </a:t>
            </a:r>
            <a:r>
              <a:rPr lang="nn-NO" b="1" dirty="0">
                <a:solidFill>
                  <a:srgbClr val="000080"/>
                </a:solidFill>
                <a:highlight>
                  <a:srgbClr val="FFFFFF"/>
                </a:highlight>
              </a:rPr>
              <a:t>{</a:t>
            </a:r>
            <a:endParaRPr lang="nn-NO" dirty="0">
              <a:solidFill>
                <a:srgbClr val="000000"/>
              </a:solidFill>
              <a:highlight>
                <a:srgbClr val="FFFFFF"/>
              </a:highlight>
            </a:endParaRPr>
          </a:p>
          <a:p>
            <a:r>
              <a:rPr lang="en-US" b="1" dirty="0">
                <a:solidFill>
                  <a:srgbClr val="0000FF"/>
                </a:solidFill>
                <a:highlight>
                  <a:srgbClr val="FFFFFF"/>
                </a:highlight>
              </a:rPr>
              <a:t>if</a:t>
            </a:r>
            <a:r>
              <a:rPr lang="en-US" b="1" dirty="0">
                <a:solidFill>
                  <a:srgbClr val="000080"/>
                </a:solidFill>
                <a:highlight>
                  <a:srgbClr val="FFFFFF"/>
                </a:highlight>
              </a:rPr>
              <a:t>(</a:t>
            </a:r>
            <a:r>
              <a:rPr lang="en-US" dirty="0">
                <a:solidFill>
                  <a:srgbClr val="000000"/>
                </a:solidFill>
                <a:highlight>
                  <a:srgbClr val="FFFFFF"/>
                </a:highlight>
              </a:rPr>
              <a:t> fire</a:t>
            </a:r>
            <a:r>
              <a:rPr lang="en-US" b="1" dirty="0">
                <a:solidFill>
                  <a:srgbClr val="000080"/>
                </a:solidFill>
                <a:highlight>
                  <a:srgbClr val="FFFFFF"/>
                </a:highlight>
              </a:rPr>
              <a:t>[</a:t>
            </a:r>
            <a:r>
              <a:rPr lang="en-US" dirty="0" err="1">
                <a:solidFill>
                  <a:srgbClr val="000000"/>
                </a:solidFill>
                <a:highlight>
                  <a:srgbClr val="FFFFFF"/>
                </a:highlight>
              </a:rPr>
              <a:t>i</a:t>
            </a:r>
            <a:r>
              <a:rPr lang="en-US" b="1" dirty="0">
                <a:solidFill>
                  <a:srgbClr val="000080"/>
                </a:solidFill>
                <a:highlight>
                  <a:srgbClr val="FFFFFF"/>
                </a:highlight>
              </a:rPr>
              <a:t>]</a:t>
            </a:r>
            <a:r>
              <a:rPr lang="en-US" dirty="0">
                <a:solidFill>
                  <a:srgbClr val="000000"/>
                </a:solidFill>
                <a:highlight>
                  <a:srgbClr val="FFFFFF"/>
                </a:highlight>
              </a:rPr>
              <a:t> </a:t>
            </a:r>
            <a:r>
              <a:rPr lang="en-US" b="1" dirty="0" err="1">
                <a:solidFill>
                  <a:srgbClr val="0000FF"/>
                </a:solidFill>
                <a:highlight>
                  <a:srgbClr val="FFFFFF"/>
                </a:highlight>
              </a:rPr>
              <a:t>instanceof</a:t>
            </a:r>
            <a:r>
              <a:rPr lang="en-US" dirty="0">
                <a:solidFill>
                  <a:srgbClr val="000000"/>
                </a:solidFill>
                <a:highlight>
                  <a:srgbClr val="FFFFFF"/>
                </a:highlight>
              </a:rPr>
              <a:t> </a:t>
            </a:r>
            <a:r>
              <a:rPr lang="en-US" dirty="0" err="1">
                <a:solidFill>
                  <a:srgbClr val="000000"/>
                </a:solidFill>
                <a:highlight>
                  <a:srgbClr val="FFFFFF"/>
                </a:highlight>
              </a:rPr>
              <a:t>Filozof</a:t>
            </a:r>
            <a:r>
              <a:rPr lang="en-US" dirty="0">
                <a:solidFill>
                  <a:srgbClr val="000000"/>
                </a:solidFill>
                <a:highlight>
                  <a:srgbClr val="FFFFFF"/>
                </a:highlight>
              </a:rPr>
              <a:t> </a:t>
            </a:r>
            <a:r>
              <a:rPr lang="en-US" b="1" dirty="0">
                <a:solidFill>
                  <a:srgbClr val="000080"/>
                </a:solidFill>
                <a:highlight>
                  <a:srgbClr val="FFFFFF"/>
                </a:highlight>
              </a:rPr>
              <a:t>&amp;&amp;</a:t>
            </a:r>
            <a:r>
              <a:rPr lang="en-US" dirty="0">
                <a:solidFill>
                  <a:srgbClr val="000000"/>
                </a:solidFill>
                <a:highlight>
                  <a:srgbClr val="FFFFFF"/>
                </a:highlight>
              </a:rPr>
              <a:t>  fire</a:t>
            </a:r>
            <a:r>
              <a:rPr lang="en-US" b="1" dirty="0">
                <a:solidFill>
                  <a:srgbClr val="000080"/>
                </a:solidFill>
                <a:highlight>
                  <a:srgbClr val="FFFFFF"/>
                </a:highlight>
              </a:rPr>
              <a:t>[</a:t>
            </a:r>
            <a:r>
              <a:rPr lang="en-US" dirty="0" err="1">
                <a:solidFill>
                  <a:srgbClr val="000000"/>
                </a:solidFill>
                <a:highlight>
                  <a:srgbClr val="FFFFFF"/>
                </a:highlight>
              </a:rPr>
              <a:t>i</a:t>
            </a:r>
            <a:r>
              <a:rPr lang="en-US" b="1" dirty="0">
                <a:solidFill>
                  <a:srgbClr val="000080"/>
                </a:solidFill>
                <a:highlight>
                  <a:srgbClr val="FFFFFF"/>
                </a:highlight>
              </a:rPr>
              <a:t>]</a:t>
            </a:r>
            <a:r>
              <a:rPr lang="en-US" dirty="0">
                <a:solidFill>
                  <a:srgbClr val="000000"/>
                </a:solidFill>
                <a:highlight>
                  <a:srgbClr val="FFFFFF"/>
                </a:highlight>
              </a:rPr>
              <a:t> </a:t>
            </a:r>
            <a:r>
              <a:rPr lang="en-US" b="1" dirty="0">
                <a:solidFill>
                  <a:srgbClr val="000080"/>
                </a:solidFill>
                <a:highlight>
                  <a:srgbClr val="FFFFFF"/>
                </a:highlight>
              </a:rPr>
              <a:t>!=</a:t>
            </a:r>
            <a:r>
              <a:rPr lang="en-US" dirty="0">
                <a:solidFill>
                  <a:srgbClr val="000000"/>
                </a:solidFill>
                <a:highlight>
                  <a:srgbClr val="FFFFFF"/>
                </a:highlight>
              </a:rPr>
              <a:t> </a:t>
            </a:r>
            <a:r>
              <a:rPr lang="en-US" b="1" dirty="0">
                <a:solidFill>
                  <a:srgbClr val="0000FF"/>
                </a:solidFill>
                <a:highlight>
                  <a:srgbClr val="FFFFFF"/>
                </a:highlight>
              </a:rPr>
              <a:t>this</a:t>
            </a:r>
            <a:r>
              <a:rPr lang="en-US" dirty="0">
                <a:solidFill>
                  <a:srgbClr val="000000"/>
                </a:solidFill>
                <a:highlight>
                  <a:srgbClr val="FFFFFF"/>
                </a:highlight>
              </a:rPr>
              <a:t> </a:t>
            </a:r>
            <a:r>
              <a:rPr lang="en-US" b="1" dirty="0">
                <a:solidFill>
                  <a:srgbClr val="000080"/>
                </a:solidFill>
                <a:highlight>
                  <a:srgbClr val="FFFFFF"/>
                </a:highlight>
              </a:rPr>
              <a:t>)</a:t>
            </a:r>
            <a:r>
              <a:rPr lang="en-US" dirty="0">
                <a:solidFill>
                  <a:srgbClr val="000000"/>
                </a:solidFill>
                <a:highlight>
                  <a:srgbClr val="FFFFFF"/>
                </a:highlight>
              </a:rPr>
              <a:t> </a:t>
            </a:r>
            <a:r>
              <a:rPr lang="en-US" b="1" dirty="0">
                <a:solidFill>
                  <a:srgbClr val="000080"/>
                </a:solidFill>
                <a:highlight>
                  <a:srgbClr val="FFFFFF"/>
                </a:highlight>
              </a:rPr>
              <a:t>{</a:t>
            </a:r>
            <a:endParaRPr lang="en-US" dirty="0">
              <a:solidFill>
                <a:srgbClr val="000000"/>
              </a:solidFill>
              <a:highlight>
                <a:srgbClr val="FFFFFF"/>
              </a:highlight>
            </a:endParaRPr>
          </a:p>
          <a:p>
            <a:r>
              <a:rPr lang="ro-RO" dirty="0" err="1">
                <a:solidFill>
                  <a:srgbClr val="000000"/>
                </a:solidFill>
                <a:highlight>
                  <a:srgbClr val="FFFFFF"/>
                </a:highlight>
              </a:rPr>
              <a:t>concurenti</a:t>
            </a:r>
            <a:r>
              <a:rPr lang="ro-RO" b="1" dirty="0">
                <a:solidFill>
                  <a:srgbClr val="000080"/>
                </a:solidFill>
                <a:highlight>
                  <a:srgbClr val="FFFFFF"/>
                </a:highlight>
              </a:rPr>
              <a:t>[</a:t>
            </a:r>
            <a:r>
              <a:rPr lang="ro-RO" dirty="0">
                <a:solidFill>
                  <a:srgbClr val="000000"/>
                </a:solidFill>
                <a:highlight>
                  <a:srgbClr val="FFFFFF"/>
                </a:highlight>
              </a:rPr>
              <a:t>j</a:t>
            </a:r>
            <a:r>
              <a:rPr lang="ro-RO" b="1" dirty="0">
                <a:solidFill>
                  <a:srgbClr val="000080"/>
                </a:solidFill>
                <a:highlight>
                  <a:srgbClr val="FFFFFF"/>
                </a:highlight>
              </a:rPr>
              <a:t>++]</a:t>
            </a:r>
            <a:r>
              <a:rPr lang="ro-RO" dirty="0">
                <a:solidFill>
                  <a:srgbClr val="000000"/>
                </a:solidFill>
                <a:highlight>
                  <a:srgbClr val="FFFFFF"/>
                </a:highlight>
              </a:rPr>
              <a:t> </a:t>
            </a:r>
            <a:r>
              <a:rPr lang="ro-RO" b="1" dirty="0">
                <a:solidFill>
                  <a:srgbClr val="000080"/>
                </a:solidFill>
                <a:highlight>
                  <a:srgbClr val="FFFFFF"/>
                </a:highlight>
              </a:rPr>
              <a:t>=</a:t>
            </a:r>
            <a:r>
              <a:rPr lang="ro-RO" dirty="0">
                <a:solidFill>
                  <a:srgbClr val="000000"/>
                </a:solidFill>
                <a:highlight>
                  <a:srgbClr val="FFFFFF"/>
                </a:highlight>
              </a:rPr>
              <a:t> </a:t>
            </a:r>
            <a:r>
              <a:rPr lang="ro-RO" b="1" dirty="0">
                <a:solidFill>
                  <a:srgbClr val="000080"/>
                </a:solidFill>
                <a:highlight>
                  <a:srgbClr val="FFFFFF"/>
                </a:highlight>
              </a:rPr>
              <a:t>(</a:t>
            </a:r>
            <a:r>
              <a:rPr lang="ro-RO" dirty="0">
                <a:solidFill>
                  <a:srgbClr val="000000"/>
                </a:solidFill>
                <a:highlight>
                  <a:srgbClr val="FFFFFF"/>
                </a:highlight>
              </a:rPr>
              <a:t>Filozof</a:t>
            </a:r>
            <a:r>
              <a:rPr lang="ro-RO" b="1" dirty="0">
                <a:solidFill>
                  <a:srgbClr val="000080"/>
                </a:solidFill>
                <a:highlight>
                  <a:srgbClr val="FFFFFF"/>
                </a:highlight>
              </a:rPr>
              <a:t>)</a:t>
            </a:r>
            <a:r>
              <a:rPr lang="ro-RO" dirty="0">
                <a:solidFill>
                  <a:srgbClr val="000000"/>
                </a:solidFill>
                <a:highlight>
                  <a:srgbClr val="FFFFFF"/>
                </a:highlight>
              </a:rPr>
              <a:t>fire</a:t>
            </a:r>
            <a:r>
              <a:rPr lang="ro-RO" b="1" dirty="0">
                <a:solidFill>
                  <a:srgbClr val="000080"/>
                </a:solidFill>
                <a:highlight>
                  <a:srgbClr val="FFFFFF"/>
                </a:highlight>
              </a:rPr>
              <a:t>[</a:t>
            </a:r>
            <a:r>
              <a:rPr lang="ro-RO" dirty="0">
                <a:solidFill>
                  <a:srgbClr val="000000"/>
                </a:solidFill>
                <a:highlight>
                  <a:srgbClr val="FFFFFF"/>
                </a:highlight>
              </a:rPr>
              <a:t>i</a:t>
            </a:r>
            <a:r>
              <a:rPr lang="ro-RO" b="1" dirty="0">
                <a:solidFill>
                  <a:srgbClr val="000080"/>
                </a:solidFill>
                <a:highlight>
                  <a:srgbClr val="FFFFFF"/>
                </a:highlight>
              </a:rPr>
              <a:t>];</a:t>
            </a:r>
            <a:endParaRPr lang="ro-RO" dirty="0">
              <a:solidFill>
                <a:srgbClr val="000000"/>
              </a:solidFill>
              <a:highlight>
                <a:srgbClr val="FFFFFF"/>
              </a:highlight>
            </a:endParaRPr>
          </a:p>
          <a:p>
            <a:r>
              <a:rPr lang="ro-RO" b="1" dirty="0">
                <a:solidFill>
                  <a:srgbClr val="000080"/>
                </a:solidFill>
                <a:highlight>
                  <a:srgbClr val="FFFFFF"/>
                </a:highlight>
              </a:rPr>
              <a:t>}</a:t>
            </a:r>
            <a:endParaRPr lang="ro-RO" dirty="0">
              <a:solidFill>
                <a:srgbClr val="000000"/>
              </a:solidFill>
              <a:highlight>
                <a:srgbClr val="FFFFFF"/>
              </a:highlight>
            </a:endParaRPr>
          </a:p>
          <a:p>
            <a:r>
              <a:rPr lang="ro-RO" b="1" dirty="0">
                <a:solidFill>
                  <a:srgbClr val="000080"/>
                </a:solidFill>
                <a:highlight>
                  <a:srgbClr val="FFFFFF"/>
                </a:highlight>
              </a:rPr>
              <a:t>}</a:t>
            </a:r>
            <a:endParaRPr lang="ro-RO" dirty="0">
              <a:solidFill>
                <a:srgbClr val="000000"/>
              </a:solidFill>
              <a:highlight>
                <a:srgbClr val="FFFFFF"/>
              </a:highlight>
            </a:endParaRPr>
          </a:p>
        </p:txBody>
      </p:sp>
    </p:spTree>
    <p:extLst>
      <p:ext uri="{BB962C8B-B14F-4D97-AF65-F5344CB8AC3E}">
        <p14:creationId xmlns:p14="http://schemas.microsoft.com/office/powerpoint/2010/main" val="191095060"/>
      </p:ext>
    </p:extLst>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59009"/>
            <a:ext cx="6631460" cy="5693866"/>
          </a:xfrm>
          <a:prstGeom prst="rect">
            <a:avLst/>
          </a:prstGeom>
        </p:spPr>
        <p:txBody>
          <a:bodyPr wrap="square">
            <a:spAutoFit/>
          </a:bodyPr>
          <a:lstStyle/>
          <a:p>
            <a:r>
              <a:rPr lang="ro-RO" sz="1600" b="1" dirty="0" err="1">
                <a:solidFill>
                  <a:srgbClr val="0000FF"/>
                </a:solidFill>
                <a:highlight>
                  <a:srgbClr val="FFFFFF"/>
                </a:highlight>
              </a:rPr>
              <a:t>while</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err="1">
                <a:solidFill>
                  <a:srgbClr val="0000FF"/>
                </a:solidFill>
                <a:highlight>
                  <a:srgbClr val="FFFFFF"/>
                </a:highlight>
              </a:rPr>
              <a:t>true</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dirty="0">
                <a:solidFill>
                  <a:srgbClr val="000000"/>
                </a:solidFill>
                <a:highlight>
                  <a:srgbClr val="FFFFFF"/>
                </a:highlight>
              </a:rPr>
              <a:t>Color </a:t>
            </a:r>
            <a:r>
              <a:rPr lang="ro-RO" sz="1600" dirty="0" err="1">
                <a:solidFill>
                  <a:srgbClr val="000000"/>
                </a:solidFill>
                <a:highlight>
                  <a:srgbClr val="FFFFFF"/>
                </a:highlight>
              </a:rPr>
              <a:t>primaCuloare</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dirty="0" err="1">
                <a:solidFill>
                  <a:srgbClr val="000000"/>
                </a:solidFill>
                <a:highlight>
                  <a:srgbClr val="FFFFFF"/>
                </a:highlight>
              </a:rPr>
              <a:t>Concurs</a:t>
            </a:r>
            <a:r>
              <a:rPr lang="ro-RO" sz="1600" b="1" dirty="0" err="1">
                <a:solidFill>
                  <a:srgbClr val="000080"/>
                </a:solidFill>
                <a:highlight>
                  <a:srgbClr val="FFFFFF"/>
                </a:highlight>
              </a:rPr>
              <a:t>.</a:t>
            </a:r>
            <a:r>
              <a:rPr lang="ro-RO" sz="1600" dirty="0" err="1">
                <a:solidFill>
                  <a:srgbClr val="000000"/>
                </a:solidFill>
                <a:highlight>
                  <a:srgbClr val="FFFFFF"/>
                </a:highlight>
              </a:rPr>
              <a:t>culoare</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err="1">
                <a:solidFill>
                  <a:srgbClr val="0000FF"/>
                </a:solidFill>
                <a:highlight>
                  <a:srgbClr val="FFFFFF"/>
                </a:highlight>
              </a:rPr>
              <a:t>this</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dirty="0" err="1">
                <a:solidFill>
                  <a:srgbClr val="000000"/>
                </a:solidFill>
                <a:highlight>
                  <a:srgbClr val="FFFFFF"/>
                </a:highlight>
              </a:rPr>
              <a:t>concurenti</a:t>
            </a:r>
            <a:r>
              <a:rPr lang="ro-RO" sz="1600" b="1" dirty="0">
                <a:solidFill>
                  <a:srgbClr val="000080"/>
                </a:solidFill>
                <a:highlight>
                  <a:srgbClr val="FFFFFF"/>
                </a:highlight>
              </a:rPr>
              <a:t>[</a:t>
            </a:r>
            <a:r>
              <a:rPr lang="ro-RO" sz="1600" dirty="0">
                <a:solidFill>
                  <a:srgbClr val="FF8000"/>
                </a:solidFill>
                <a:highlight>
                  <a:srgbClr val="FFFFFF"/>
                </a:highlight>
              </a:rPr>
              <a:t>0</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dirty="0">
                <a:solidFill>
                  <a:srgbClr val="000000"/>
                </a:solidFill>
                <a:highlight>
                  <a:srgbClr val="FFFFFF"/>
                </a:highlight>
              </a:rPr>
              <a:t>Color </a:t>
            </a:r>
            <a:r>
              <a:rPr lang="ro-RO" sz="1600" dirty="0" err="1">
                <a:solidFill>
                  <a:srgbClr val="000000"/>
                </a:solidFill>
                <a:highlight>
                  <a:srgbClr val="FFFFFF"/>
                </a:highlight>
              </a:rPr>
              <a:t>adouaCuloare</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dirty="0" err="1">
                <a:solidFill>
                  <a:srgbClr val="000000"/>
                </a:solidFill>
                <a:highlight>
                  <a:srgbClr val="FFFFFF"/>
                </a:highlight>
              </a:rPr>
              <a:t>Concurs</a:t>
            </a:r>
            <a:r>
              <a:rPr lang="ro-RO" sz="1600" b="1" dirty="0" err="1">
                <a:solidFill>
                  <a:srgbClr val="000080"/>
                </a:solidFill>
                <a:highlight>
                  <a:srgbClr val="FFFFFF"/>
                </a:highlight>
              </a:rPr>
              <a:t>.</a:t>
            </a:r>
            <a:r>
              <a:rPr lang="ro-RO" sz="1600" dirty="0" err="1">
                <a:solidFill>
                  <a:srgbClr val="000000"/>
                </a:solidFill>
                <a:highlight>
                  <a:srgbClr val="FFFFFF"/>
                </a:highlight>
              </a:rPr>
              <a:t>culoare</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err="1">
                <a:solidFill>
                  <a:srgbClr val="0000FF"/>
                </a:solidFill>
                <a:highlight>
                  <a:srgbClr val="FFFFFF"/>
                </a:highlight>
              </a:rPr>
              <a:t>this</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dirty="0" err="1">
                <a:solidFill>
                  <a:srgbClr val="000000"/>
                </a:solidFill>
                <a:highlight>
                  <a:srgbClr val="FFFFFF"/>
                </a:highlight>
              </a:rPr>
              <a:t>concurenti</a:t>
            </a:r>
            <a:r>
              <a:rPr lang="ro-RO" sz="1600" b="1" dirty="0">
                <a:solidFill>
                  <a:srgbClr val="000080"/>
                </a:solidFill>
                <a:highlight>
                  <a:srgbClr val="FFFFFF"/>
                </a:highlight>
              </a:rPr>
              <a:t>[</a:t>
            </a:r>
            <a:r>
              <a:rPr lang="ro-RO" sz="1600" dirty="0">
                <a:solidFill>
                  <a:srgbClr val="FF8000"/>
                </a:solidFill>
                <a:highlight>
                  <a:srgbClr val="FFFFFF"/>
                </a:highlight>
              </a:rPr>
              <a:t>1</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en-US" sz="1600" b="1" dirty="0">
                <a:solidFill>
                  <a:srgbClr val="0000FF"/>
                </a:solidFill>
                <a:highlight>
                  <a:srgbClr val="FFFFFF"/>
                </a:highlight>
              </a:rPr>
              <a:t>if</a:t>
            </a:r>
            <a:r>
              <a:rPr lang="en-US" sz="1600" b="1" dirty="0">
                <a:solidFill>
                  <a:srgbClr val="000080"/>
                </a:solidFill>
                <a:highlight>
                  <a:srgbClr val="FFFFFF"/>
                </a:highlight>
              </a:rPr>
              <a:t>(</a:t>
            </a:r>
            <a:r>
              <a:rPr lang="en-US" sz="1600" dirty="0">
                <a:solidFill>
                  <a:srgbClr val="000000"/>
                </a:solidFill>
                <a:highlight>
                  <a:srgbClr val="FFFFFF"/>
                </a:highlight>
              </a:rPr>
              <a:t> </a:t>
            </a:r>
            <a:r>
              <a:rPr lang="en-US" sz="1600" dirty="0" err="1">
                <a:solidFill>
                  <a:srgbClr val="000000"/>
                </a:solidFill>
                <a:highlight>
                  <a:srgbClr val="FFFFFF"/>
                </a:highlight>
              </a:rPr>
              <a:t>primaCuloare</a:t>
            </a:r>
            <a:r>
              <a:rPr lang="en-US" sz="1600" dirty="0">
                <a:solidFill>
                  <a:srgbClr val="000000"/>
                </a:solidFill>
                <a:highlight>
                  <a:srgbClr val="FFFFFF"/>
                </a:highlight>
              </a:rPr>
              <a:t> </a:t>
            </a:r>
            <a:r>
              <a:rPr lang="en-US" sz="1600" b="1" dirty="0">
                <a:solidFill>
                  <a:srgbClr val="000080"/>
                </a:solidFill>
                <a:highlight>
                  <a:srgbClr val="FFFFFF"/>
                </a:highlight>
              </a:rPr>
              <a:t>==</a:t>
            </a:r>
            <a:r>
              <a:rPr lang="en-US" sz="1600" dirty="0">
                <a:solidFill>
                  <a:srgbClr val="000000"/>
                </a:solidFill>
                <a:highlight>
                  <a:srgbClr val="FFFFFF"/>
                </a:highlight>
              </a:rPr>
              <a:t> </a:t>
            </a:r>
            <a:r>
              <a:rPr lang="en-US" sz="1600" dirty="0" err="1">
                <a:solidFill>
                  <a:srgbClr val="000000"/>
                </a:solidFill>
                <a:highlight>
                  <a:srgbClr val="FFFFFF"/>
                </a:highlight>
              </a:rPr>
              <a:t>Color</a:t>
            </a:r>
            <a:r>
              <a:rPr lang="en-US" sz="1600" b="1" dirty="0" err="1">
                <a:solidFill>
                  <a:srgbClr val="000080"/>
                </a:solidFill>
                <a:highlight>
                  <a:srgbClr val="FFFFFF"/>
                </a:highlight>
              </a:rPr>
              <a:t>.</a:t>
            </a:r>
            <a:r>
              <a:rPr lang="en-US" sz="1600" dirty="0" err="1">
                <a:solidFill>
                  <a:srgbClr val="000000"/>
                </a:solidFill>
                <a:highlight>
                  <a:srgbClr val="FFFFFF"/>
                </a:highlight>
              </a:rPr>
              <a:t>white</a:t>
            </a:r>
            <a:r>
              <a:rPr lang="en-US" sz="1600" dirty="0">
                <a:solidFill>
                  <a:srgbClr val="000000"/>
                </a:solidFill>
                <a:highlight>
                  <a:srgbClr val="FFFFFF"/>
                </a:highlight>
              </a:rPr>
              <a:t> </a:t>
            </a:r>
            <a:r>
              <a:rPr lang="en-US" sz="1600" b="1" dirty="0">
                <a:solidFill>
                  <a:srgbClr val="000080"/>
                </a:solidFill>
                <a:highlight>
                  <a:srgbClr val="FFFFFF"/>
                </a:highlight>
              </a:rPr>
              <a:t>&amp;&amp;</a:t>
            </a:r>
            <a:r>
              <a:rPr lang="en-US" sz="1600" dirty="0">
                <a:solidFill>
                  <a:srgbClr val="000000"/>
                </a:solidFill>
                <a:highlight>
                  <a:srgbClr val="FFFFFF"/>
                </a:highlight>
              </a:rPr>
              <a:t> </a:t>
            </a:r>
            <a:r>
              <a:rPr lang="en-US" sz="1600" dirty="0" err="1">
                <a:solidFill>
                  <a:srgbClr val="000000"/>
                </a:solidFill>
                <a:highlight>
                  <a:srgbClr val="FFFFFF"/>
                </a:highlight>
              </a:rPr>
              <a:t>adouaCuloare</a:t>
            </a:r>
            <a:r>
              <a:rPr lang="en-US" sz="1600" dirty="0">
                <a:solidFill>
                  <a:srgbClr val="000000"/>
                </a:solidFill>
                <a:highlight>
                  <a:srgbClr val="FFFFFF"/>
                </a:highlight>
              </a:rPr>
              <a:t> </a:t>
            </a:r>
            <a:r>
              <a:rPr lang="en-US" sz="1600" b="1" dirty="0">
                <a:solidFill>
                  <a:srgbClr val="000080"/>
                </a:solidFill>
                <a:highlight>
                  <a:srgbClr val="FFFFFF"/>
                </a:highlight>
              </a:rPr>
              <a:t>==</a:t>
            </a:r>
            <a:r>
              <a:rPr lang="en-US" sz="1600" dirty="0">
                <a:solidFill>
                  <a:srgbClr val="000000"/>
                </a:solidFill>
                <a:highlight>
                  <a:srgbClr val="FFFFFF"/>
                </a:highlight>
              </a:rPr>
              <a:t> </a:t>
            </a:r>
            <a:r>
              <a:rPr lang="en-US" sz="1600" dirty="0" err="1">
                <a:solidFill>
                  <a:srgbClr val="000000"/>
                </a:solidFill>
                <a:highlight>
                  <a:srgbClr val="FFFFFF"/>
                </a:highlight>
              </a:rPr>
              <a:t>Color</a:t>
            </a:r>
            <a:r>
              <a:rPr lang="en-US" sz="1600" b="1" dirty="0" err="1">
                <a:solidFill>
                  <a:srgbClr val="000080"/>
                </a:solidFill>
                <a:highlight>
                  <a:srgbClr val="FFFFFF"/>
                </a:highlight>
              </a:rPr>
              <a:t>.</a:t>
            </a:r>
            <a:r>
              <a:rPr lang="en-US" sz="1600" dirty="0" err="1">
                <a:solidFill>
                  <a:srgbClr val="000000"/>
                </a:solidFill>
                <a:highlight>
                  <a:srgbClr val="FFFFFF"/>
                </a:highlight>
              </a:rPr>
              <a:t>white</a:t>
            </a:r>
            <a:r>
              <a:rPr lang="en-US" sz="1600" dirty="0">
                <a:solidFill>
                  <a:srgbClr val="000000"/>
                </a:solidFill>
                <a:highlight>
                  <a:srgbClr val="FFFFFF"/>
                </a:highlight>
              </a:rPr>
              <a:t> </a:t>
            </a:r>
            <a:r>
              <a:rPr lang="en-US" sz="1600" b="1" dirty="0">
                <a:solidFill>
                  <a:srgbClr val="000080"/>
                </a:solidFill>
                <a:highlight>
                  <a:srgbClr val="FFFFFF"/>
                </a:highlight>
              </a:rPr>
              <a:t>)</a:t>
            </a:r>
            <a:r>
              <a:rPr lang="en-US" sz="1600" dirty="0">
                <a:solidFill>
                  <a:srgbClr val="000000"/>
                </a:solidFill>
                <a:highlight>
                  <a:srgbClr val="FFFFFF"/>
                </a:highlight>
              </a:rPr>
              <a:t> </a:t>
            </a:r>
            <a:r>
              <a:rPr lang="en-US" sz="1600" b="1" dirty="0">
                <a:solidFill>
                  <a:srgbClr val="000080"/>
                </a:solidFill>
                <a:highlight>
                  <a:srgbClr val="FFFFFF"/>
                </a:highlight>
              </a:rPr>
              <a:t>{</a:t>
            </a:r>
            <a:endParaRPr lang="en-US" sz="1600" dirty="0">
              <a:solidFill>
                <a:srgbClr val="000000"/>
              </a:solidFill>
              <a:highlight>
                <a:srgbClr val="FFFFFF"/>
              </a:highlight>
            </a:endParaRPr>
          </a:p>
          <a:p>
            <a:r>
              <a:rPr lang="ro-RO" sz="1600" dirty="0" err="1">
                <a:solidFill>
                  <a:srgbClr val="8000FF"/>
                </a:solidFill>
                <a:highlight>
                  <a:srgbClr val="FFFFFF"/>
                </a:highlight>
              </a:rPr>
              <a:t>synchronized</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err="1">
                <a:solidFill>
                  <a:srgbClr val="0000FF"/>
                </a:solidFill>
                <a:highlight>
                  <a:srgbClr val="FFFFFF"/>
                </a:highlight>
              </a:rPr>
              <a:t>this</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dirty="0" err="1">
                <a:solidFill>
                  <a:srgbClr val="000000"/>
                </a:solidFill>
                <a:highlight>
                  <a:srgbClr val="FFFFFF"/>
                </a:highlight>
              </a:rPr>
              <a:t>parere</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dirty="0" err="1">
                <a:solidFill>
                  <a:srgbClr val="000000"/>
                </a:solidFill>
                <a:highlight>
                  <a:srgbClr val="FFFFFF"/>
                </a:highlight>
              </a:rPr>
              <a:t>Color</a:t>
            </a:r>
            <a:r>
              <a:rPr lang="ro-RO" sz="1600" b="1" dirty="0" err="1">
                <a:solidFill>
                  <a:srgbClr val="000080"/>
                </a:solidFill>
                <a:highlight>
                  <a:srgbClr val="FFFFFF"/>
                </a:highlight>
              </a:rPr>
              <a:t>.</a:t>
            </a:r>
            <a:r>
              <a:rPr lang="ro-RO" sz="1600" dirty="0" err="1">
                <a:solidFill>
                  <a:srgbClr val="000000"/>
                </a:solidFill>
                <a:highlight>
                  <a:srgbClr val="FFFFFF"/>
                </a:highlight>
              </a:rPr>
              <a:t>black</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err="1">
                <a:solidFill>
                  <a:srgbClr val="0000FF"/>
                </a:solidFill>
                <a:highlight>
                  <a:srgbClr val="FFFFFF"/>
                </a:highlight>
              </a:rPr>
              <a:t>else</a:t>
            </a:r>
            <a:r>
              <a:rPr lang="ro-RO" sz="1600" dirty="0">
                <a:solidFill>
                  <a:srgbClr val="000000"/>
                </a:solidFill>
                <a:highlight>
                  <a:srgbClr val="FFFFFF"/>
                </a:highlight>
              </a:rPr>
              <a:t> </a:t>
            </a:r>
            <a:r>
              <a:rPr lang="ro-RO" sz="1600" b="1" dirty="0" err="1">
                <a:solidFill>
                  <a:srgbClr val="0000FF"/>
                </a:solidFill>
                <a:highlight>
                  <a:srgbClr val="FFFFFF"/>
                </a:highlight>
              </a:rPr>
              <a:t>if</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dirty="0" err="1">
                <a:solidFill>
                  <a:srgbClr val="000000"/>
                </a:solidFill>
                <a:highlight>
                  <a:srgbClr val="FFFFFF"/>
                </a:highlight>
              </a:rPr>
              <a:t>primaCuloare</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dirty="0" err="1">
                <a:solidFill>
                  <a:srgbClr val="000000"/>
                </a:solidFill>
                <a:highlight>
                  <a:srgbClr val="FFFFFF"/>
                </a:highlight>
              </a:rPr>
              <a:t>Color</a:t>
            </a:r>
            <a:r>
              <a:rPr lang="ro-RO" sz="1600" b="1" dirty="0" err="1">
                <a:solidFill>
                  <a:srgbClr val="000080"/>
                </a:solidFill>
                <a:highlight>
                  <a:srgbClr val="FFFFFF"/>
                </a:highlight>
              </a:rPr>
              <a:t>.</a:t>
            </a:r>
            <a:r>
              <a:rPr lang="ro-RO" sz="1600" dirty="0" err="1">
                <a:solidFill>
                  <a:srgbClr val="000000"/>
                </a:solidFill>
                <a:highlight>
                  <a:srgbClr val="FFFFFF"/>
                </a:highlight>
              </a:rPr>
              <a:t>white</a:t>
            </a:r>
            <a:r>
              <a:rPr lang="ro-RO" sz="1600" dirty="0">
                <a:solidFill>
                  <a:srgbClr val="00000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err="1">
                <a:solidFill>
                  <a:srgbClr val="0000FF"/>
                </a:solidFill>
                <a:highlight>
                  <a:srgbClr val="FFFFFF"/>
                </a:highlight>
              </a:rPr>
              <a:t>try</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dirty="0" err="1">
                <a:solidFill>
                  <a:srgbClr val="000000"/>
                </a:solidFill>
                <a:highlight>
                  <a:srgbClr val="FFFFFF"/>
                </a:highlight>
              </a:rPr>
              <a:t>sleep</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err="1">
                <a:solidFill>
                  <a:srgbClr val="8000FF"/>
                </a:solidFill>
                <a:highlight>
                  <a:srgbClr val="FFFFFF"/>
                </a:highlight>
              </a:rPr>
              <a:t>int</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dirty="0" err="1">
                <a:solidFill>
                  <a:srgbClr val="000000"/>
                </a:solidFill>
                <a:highlight>
                  <a:srgbClr val="FFFFFF"/>
                </a:highlight>
              </a:rPr>
              <a:t>Math</a:t>
            </a:r>
            <a:r>
              <a:rPr lang="ro-RO" sz="1600" b="1" dirty="0" err="1">
                <a:solidFill>
                  <a:srgbClr val="000080"/>
                </a:solidFill>
                <a:highlight>
                  <a:srgbClr val="FFFFFF"/>
                </a:highlight>
              </a:rPr>
              <a:t>.</a:t>
            </a:r>
            <a:r>
              <a:rPr lang="ro-RO" sz="1600" dirty="0" err="1">
                <a:solidFill>
                  <a:srgbClr val="000000"/>
                </a:solidFill>
                <a:highlight>
                  <a:srgbClr val="FFFFFF"/>
                </a:highlight>
              </a:rPr>
              <a:t>random</a:t>
            </a:r>
            <a:r>
              <a:rPr lang="ro-RO" sz="1600" b="1" dirty="0">
                <a:solidFill>
                  <a:srgbClr val="000080"/>
                </a:solidFill>
                <a:highlight>
                  <a:srgbClr val="FFFFFF"/>
                </a:highlight>
              </a:rPr>
              <a:t>()*</a:t>
            </a:r>
            <a:r>
              <a:rPr lang="ro-RO" sz="1600" dirty="0">
                <a:solidFill>
                  <a:srgbClr val="FF8000"/>
                </a:solidFill>
                <a:highlight>
                  <a:srgbClr val="FFFFFF"/>
                </a:highlight>
              </a:rPr>
              <a:t>500</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FF"/>
                </a:solidFill>
                <a:highlight>
                  <a:srgbClr val="FFFFFF"/>
                </a:highlight>
              </a:rPr>
              <a:t>catch</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dirty="0" err="1">
                <a:solidFill>
                  <a:srgbClr val="000000"/>
                </a:solidFill>
                <a:highlight>
                  <a:srgbClr val="FFFFFF"/>
                </a:highlight>
              </a:rPr>
              <a:t>InterruptedException</a:t>
            </a:r>
            <a:r>
              <a:rPr lang="ro-RO" sz="1600" dirty="0">
                <a:solidFill>
                  <a:srgbClr val="000000"/>
                </a:solidFill>
                <a:highlight>
                  <a:srgbClr val="FFFFFF"/>
                </a:highlight>
              </a:rPr>
              <a:t> e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endParaRPr lang="ro-RO" sz="1600" dirty="0">
              <a:solidFill>
                <a:srgbClr val="000000"/>
              </a:solidFill>
              <a:highlight>
                <a:srgbClr val="FFFFFF"/>
              </a:highlight>
            </a:endParaRPr>
          </a:p>
          <a:p>
            <a:r>
              <a:rPr lang="it-IT" sz="1600" b="1" dirty="0">
                <a:solidFill>
                  <a:srgbClr val="0000FF"/>
                </a:solidFill>
                <a:highlight>
                  <a:srgbClr val="FFFFFF"/>
                </a:highlight>
              </a:rPr>
              <a:t>if</a:t>
            </a:r>
            <a:r>
              <a:rPr lang="it-IT" sz="1600" b="1" dirty="0">
                <a:solidFill>
                  <a:srgbClr val="000080"/>
                </a:solidFill>
                <a:highlight>
                  <a:srgbClr val="FFFFFF"/>
                </a:highlight>
              </a:rPr>
              <a:t>(</a:t>
            </a:r>
            <a:r>
              <a:rPr lang="it-IT" sz="1600" dirty="0">
                <a:solidFill>
                  <a:srgbClr val="000000"/>
                </a:solidFill>
                <a:highlight>
                  <a:srgbClr val="FFFFFF"/>
                </a:highlight>
              </a:rPr>
              <a:t> Concurs</a:t>
            </a:r>
            <a:r>
              <a:rPr lang="it-IT" sz="1600" b="1" dirty="0">
                <a:solidFill>
                  <a:srgbClr val="000080"/>
                </a:solidFill>
                <a:highlight>
                  <a:srgbClr val="FFFFFF"/>
                </a:highlight>
              </a:rPr>
              <a:t>.</a:t>
            </a:r>
            <a:r>
              <a:rPr lang="it-IT" sz="1600" dirty="0">
                <a:solidFill>
                  <a:srgbClr val="000000"/>
                </a:solidFill>
                <a:highlight>
                  <a:srgbClr val="FFFFFF"/>
                </a:highlight>
              </a:rPr>
              <a:t>culoare</a:t>
            </a:r>
            <a:r>
              <a:rPr lang="it-IT" sz="1600" b="1" dirty="0">
                <a:solidFill>
                  <a:srgbClr val="000080"/>
                </a:solidFill>
                <a:highlight>
                  <a:srgbClr val="FFFFFF"/>
                </a:highlight>
              </a:rPr>
              <a:t>(</a:t>
            </a:r>
            <a:r>
              <a:rPr lang="it-IT" sz="1600" dirty="0">
                <a:solidFill>
                  <a:srgbClr val="000000"/>
                </a:solidFill>
                <a:highlight>
                  <a:srgbClr val="FFFFFF"/>
                </a:highlight>
              </a:rPr>
              <a:t> </a:t>
            </a:r>
            <a:r>
              <a:rPr lang="it-IT" sz="1600" b="1" dirty="0">
                <a:solidFill>
                  <a:srgbClr val="0000FF"/>
                </a:solidFill>
                <a:highlight>
                  <a:srgbClr val="FFFFFF"/>
                </a:highlight>
              </a:rPr>
              <a:t>this</a:t>
            </a:r>
            <a:r>
              <a:rPr lang="it-IT" sz="1600" b="1" dirty="0">
                <a:solidFill>
                  <a:srgbClr val="000080"/>
                </a:solidFill>
                <a:highlight>
                  <a:srgbClr val="FFFFFF"/>
                </a:highlight>
              </a:rPr>
              <a:t>,</a:t>
            </a:r>
            <a:r>
              <a:rPr lang="it-IT" sz="1600" dirty="0">
                <a:solidFill>
                  <a:srgbClr val="000000"/>
                </a:solidFill>
                <a:highlight>
                  <a:srgbClr val="FFFFFF"/>
                </a:highlight>
              </a:rPr>
              <a:t> concurenti</a:t>
            </a:r>
            <a:r>
              <a:rPr lang="it-IT" sz="1600" b="1" dirty="0">
                <a:solidFill>
                  <a:srgbClr val="000080"/>
                </a:solidFill>
                <a:highlight>
                  <a:srgbClr val="FFFFFF"/>
                </a:highlight>
              </a:rPr>
              <a:t>[</a:t>
            </a:r>
            <a:r>
              <a:rPr lang="it-IT" sz="1600" dirty="0">
                <a:solidFill>
                  <a:srgbClr val="FF8000"/>
                </a:solidFill>
                <a:highlight>
                  <a:srgbClr val="FFFFFF"/>
                </a:highlight>
              </a:rPr>
              <a:t>1</a:t>
            </a:r>
            <a:r>
              <a:rPr lang="it-IT" sz="1600" b="1" dirty="0">
                <a:solidFill>
                  <a:srgbClr val="000080"/>
                </a:solidFill>
                <a:highlight>
                  <a:srgbClr val="FFFFFF"/>
                </a:highlight>
              </a:rPr>
              <a:t>])</a:t>
            </a:r>
            <a:r>
              <a:rPr lang="it-IT" sz="1600" dirty="0">
                <a:solidFill>
                  <a:srgbClr val="000000"/>
                </a:solidFill>
                <a:highlight>
                  <a:srgbClr val="FFFFFF"/>
                </a:highlight>
              </a:rPr>
              <a:t> </a:t>
            </a:r>
            <a:r>
              <a:rPr lang="it-IT" sz="1600" b="1" dirty="0">
                <a:solidFill>
                  <a:srgbClr val="000080"/>
                </a:solidFill>
                <a:highlight>
                  <a:srgbClr val="FFFFFF"/>
                </a:highlight>
              </a:rPr>
              <a:t>!=</a:t>
            </a:r>
            <a:r>
              <a:rPr lang="it-IT" sz="1600" dirty="0">
                <a:solidFill>
                  <a:srgbClr val="000000"/>
                </a:solidFill>
                <a:highlight>
                  <a:srgbClr val="FFFFFF"/>
                </a:highlight>
              </a:rPr>
              <a:t> concurenti</a:t>
            </a:r>
            <a:r>
              <a:rPr lang="it-IT" sz="1600" b="1" dirty="0">
                <a:solidFill>
                  <a:srgbClr val="000080"/>
                </a:solidFill>
                <a:highlight>
                  <a:srgbClr val="FFFFFF"/>
                </a:highlight>
              </a:rPr>
              <a:t>[</a:t>
            </a:r>
            <a:r>
              <a:rPr lang="it-IT" sz="1600" dirty="0">
                <a:solidFill>
                  <a:srgbClr val="FF8000"/>
                </a:solidFill>
                <a:highlight>
                  <a:srgbClr val="FFFFFF"/>
                </a:highlight>
              </a:rPr>
              <a:t>1</a:t>
            </a:r>
            <a:r>
              <a:rPr lang="it-IT" sz="1600" b="1" dirty="0">
                <a:solidFill>
                  <a:srgbClr val="000080"/>
                </a:solidFill>
                <a:highlight>
                  <a:srgbClr val="FFFFFF"/>
                </a:highlight>
              </a:rPr>
              <a:t>].</a:t>
            </a:r>
            <a:r>
              <a:rPr lang="it-IT" sz="1600" dirty="0">
                <a:solidFill>
                  <a:srgbClr val="000000"/>
                </a:solidFill>
                <a:highlight>
                  <a:srgbClr val="FFFFFF"/>
                </a:highlight>
              </a:rPr>
              <a:t>aGhicit</a:t>
            </a:r>
            <a:r>
              <a:rPr lang="it-IT" sz="1600" b="1" dirty="0">
                <a:solidFill>
                  <a:srgbClr val="000080"/>
                </a:solidFill>
                <a:highlight>
                  <a:srgbClr val="FFFFFF"/>
                </a:highlight>
              </a:rPr>
              <a:t>())</a:t>
            </a:r>
            <a:r>
              <a:rPr lang="it-IT" sz="1600" dirty="0">
                <a:solidFill>
                  <a:srgbClr val="000000"/>
                </a:solidFill>
                <a:highlight>
                  <a:srgbClr val="FFFFFF"/>
                </a:highlight>
              </a:rPr>
              <a:t> </a:t>
            </a:r>
            <a:r>
              <a:rPr lang="it-IT" sz="1600" b="1" dirty="0">
                <a:solidFill>
                  <a:srgbClr val="000080"/>
                </a:solidFill>
                <a:highlight>
                  <a:srgbClr val="FFFFFF"/>
                </a:highlight>
              </a:rPr>
              <a:t>{</a:t>
            </a:r>
            <a:endParaRPr lang="it-IT" sz="1600" dirty="0">
              <a:solidFill>
                <a:srgbClr val="000000"/>
              </a:solidFill>
              <a:highlight>
                <a:srgbClr val="FFFFFF"/>
              </a:highlight>
            </a:endParaRPr>
          </a:p>
          <a:p>
            <a:r>
              <a:rPr lang="ro-RO" sz="1600" dirty="0" err="1">
                <a:solidFill>
                  <a:srgbClr val="8000FF"/>
                </a:solidFill>
                <a:highlight>
                  <a:srgbClr val="FFFFFF"/>
                </a:highlight>
              </a:rPr>
              <a:t>synchronized</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err="1">
                <a:solidFill>
                  <a:srgbClr val="0000FF"/>
                </a:solidFill>
                <a:highlight>
                  <a:srgbClr val="FFFFFF"/>
                </a:highlight>
              </a:rPr>
              <a:t>this</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dirty="0" err="1">
                <a:solidFill>
                  <a:srgbClr val="000000"/>
                </a:solidFill>
                <a:highlight>
                  <a:srgbClr val="FFFFFF"/>
                </a:highlight>
              </a:rPr>
              <a:t>parere</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dirty="0" err="1">
                <a:solidFill>
                  <a:srgbClr val="000000"/>
                </a:solidFill>
                <a:highlight>
                  <a:srgbClr val="FFFFFF"/>
                </a:highlight>
              </a:rPr>
              <a:t>Color</a:t>
            </a:r>
            <a:r>
              <a:rPr lang="ro-RO" sz="1600" b="1" dirty="0" err="1">
                <a:solidFill>
                  <a:srgbClr val="000080"/>
                </a:solidFill>
                <a:highlight>
                  <a:srgbClr val="FFFFFF"/>
                </a:highlight>
              </a:rPr>
              <a:t>.</a:t>
            </a:r>
            <a:r>
              <a:rPr lang="ro-RO" sz="1600" dirty="0" err="1">
                <a:solidFill>
                  <a:srgbClr val="000000"/>
                </a:solidFill>
                <a:highlight>
                  <a:srgbClr val="FFFFFF"/>
                </a:highlight>
              </a:rPr>
              <a:t>black</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err="1">
                <a:solidFill>
                  <a:srgbClr val="0000FF"/>
                </a:solidFill>
                <a:highlight>
                  <a:srgbClr val="FFFFFF"/>
                </a:highlight>
              </a:rPr>
              <a:t>else</a:t>
            </a:r>
            <a:r>
              <a:rPr lang="ro-RO" sz="1600" dirty="0">
                <a:solidFill>
                  <a:srgbClr val="000000"/>
                </a:solidFill>
                <a:highlight>
                  <a:srgbClr val="FFFFFF"/>
                </a:highlight>
              </a:rPr>
              <a:t> </a:t>
            </a:r>
            <a:r>
              <a:rPr lang="ro-RO" sz="1600" b="1" dirty="0" err="1">
                <a:solidFill>
                  <a:srgbClr val="0000FF"/>
                </a:solidFill>
                <a:highlight>
                  <a:srgbClr val="FFFFFF"/>
                </a:highlight>
              </a:rPr>
              <a:t>if</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dirty="0" err="1">
                <a:solidFill>
                  <a:srgbClr val="000000"/>
                </a:solidFill>
                <a:highlight>
                  <a:srgbClr val="FFFFFF"/>
                </a:highlight>
              </a:rPr>
              <a:t>adouaCuloare</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dirty="0" err="1">
                <a:solidFill>
                  <a:srgbClr val="000000"/>
                </a:solidFill>
                <a:highlight>
                  <a:srgbClr val="FFFFFF"/>
                </a:highlight>
              </a:rPr>
              <a:t>Color</a:t>
            </a:r>
            <a:r>
              <a:rPr lang="ro-RO" sz="1600" b="1" dirty="0" err="1">
                <a:solidFill>
                  <a:srgbClr val="000080"/>
                </a:solidFill>
                <a:highlight>
                  <a:srgbClr val="FFFFFF"/>
                </a:highlight>
              </a:rPr>
              <a:t>.</a:t>
            </a:r>
            <a:r>
              <a:rPr lang="ro-RO" sz="1600" dirty="0" err="1">
                <a:solidFill>
                  <a:srgbClr val="000000"/>
                </a:solidFill>
                <a:highlight>
                  <a:srgbClr val="FFFFFF"/>
                </a:highlight>
              </a:rPr>
              <a:t>white</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err="1">
                <a:solidFill>
                  <a:srgbClr val="0000FF"/>
                </a:solidFill>
                <a:highlight>
                  <a:srgbClr val="FFFFFF"/>
                </a:highlight>
              </a:rPr>
              <a:t>try</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dirty="0">
                <a:solidFill>
                  <a:srgbClr val="000000"/>
                </a:solidFill>
                <a:highlight>
                  <a:srgbClr val="FFFFFF"/>
                </a:highlight>
              </a:rPr>
              <a:t> </a:t>
            </a:r>
            <a:r>
              <a:rPr lang="ro-RO" sz="1600" dirty="0" err="1">
                <a:solidFill>
                  <a:srgbClr val="000000"/>
                </a:solidFill>
                <a:highlight>
                  <a:srgbClr val="FFFFFF"/>
                </a:highlight>
              </a:rPr>
              <a:t>sleep</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err="1">
                <a:solidFill>
                  <a:srgbClr val="8000FF"/>
                </a:solidFill>
                <a:highlight>
                  <a:srgbClr val="FFFFFF"/>
                </a:highlight>
              </a:rPr>
              <a:t>int</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dirty="0" err="1">
                <a:solidFill>
                  <a:srgbClr val="000000"/>
                </a:solidFill>
                <a:highlight>
                  <a:srgbClr val="FFFFFF"/>
                </a:highlight>
              </a:rPr>
              <a:t>Math</a:t>
            </a:r>
            <a:r>
              <a:rPr lang="ro-RO" sz="1600" b="1" dirty="0" err="1">
                <a:solidFill>
                  <a:srgbClr val="000080"/>
                </a:solidFill>
                <a:highlight>
                  <a:srgbClr val="FFFFFF"/>
                </a:highlight>
              </a:rPr>
              <a:t>.</a:t>
            </a:r>
            <a:r>
              <a:rPr lang="ro-RO" sz="1600" dirty="0" err="1">
                <a:solidFill>
                  <a:srgbClr val="000000"/>
                </a:solidFill>
                <a:highlight>
                  <a:srgbClr val="FFFFFF"/>
                </a:highlight>
              </a:rPr>
              <a:t>random</a:t>
            </a:r>
            <a:r>
              <a:rPr lang="ro-RO" sz="1600" b="1" dirty="0">
                <a:solidFill>
                  <a:srgbClr val="000080"/>
                </a:solidFill>
                <a:highlight>
                  <a:srgbClr val="FFFFFF"/>
                </a:highlight>
              </a:rPr>
              <a:t>()*</a:t>
            </a:r>
            <a:r>
              <a:rPr lang="ro-RO" sz="1600" dirty="0">
                <a:solidFill>
                  <a:srgbClr val="FF8000"/>
                </a:solidFill>
                <a:highlight>
                  <a:srgbClr val="FFFFFF"/>
                </a:highlight>
              </a:rPr>
              <a:t>500</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FF"/>
                </a:solidFill>
                <a:highlight>
                  <a:srgbClr val="FFFFFF"/>
                </a:highlight>
              </a:rPr>
              <a:t>catch</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dirty="0" err="1">
                <a:solidFill>
                  <a:srgbClr val="000000"/>
                </a:solidFill>
                <a:highlight>
                  <a:srgbClr val="FFFFFF"/>
                </a:highlight>
              </a:rPr>
              <a:t>InterruptedException</a:t>
            </a:r>
            <a:r>
              <a:rPr lang="ro-RO" sz="1600" dirty="0">
                <a:solidFill>
                  <a:srgbClr val="000000"/>
                </a:solidFill>
                <a:highlight>
                  <a:srgbClr val="FFFFFF"/>
                </a:highlight>
              </a:rPr>
              <a:t> e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endParaRPr lang="ro-RO" sz="1600" dirty="0">
              <a:solidFill>
                <a:srgbClr val="000000"/>
              </a:solidFill>
              <a:highlight>
                <a:srgbClr val="FFFFFF"/>
              </a:highlight>
            </a:endParaRPr>
          </a:p>
        </p:txBody>
      </p:sp>
      <p:sp>
        <p:nvSpPr>
          <p:cNvPr id="5" name="Rectangle 4"/>
          <p:cNvSpPr/>
          <p:nvPr/>
        </p:nvSpPr>
        <p:spPr>
          <a:xfrm>
            <a:off x="6549080" y="482065"/>
            <a:ext cx="5758249" cy="6001643"/>
          </a:xfrm>
          <a:prstGeom prst="rect">
            <a:avLst/>
          </a:prstGeom>
        </p:spPr>
        <p:txBody>
          <a:bodyPr wrap="square">
            <a:spAutoFit/>
          </a:bodyPr>
          <a:lstStyle/>
          <a:p>
            <a:r>
              <a:rPr lang="it-IT" sz="1600" b="1" dirty="0">
                <a:solidFill>
                  <a:srgbClr val="0000FF"/>
                </a:solidFill>
                <a:highlight>
                  <a:srgbClr val="FFFFFF"/>
                </a:highlight>
              </a:rPr>
              <a:t>if</a:t>
            </a:r>
            <a:r>
              <a:rPr lang="it-IT" sz="1600" b="1" dirty="0">
                <a:solidFill>
                  <a:srgbClr val="000080"/>
                </a:solidFill>
                <a:highlight>
                  <a:srgbClr val="FFFFFF"/>
                </a:highlight>
              </a:rPr>
              <a:t>(</a:t>
            </a:r>
            <a:r>
              <a:rPr lang="it-IT" sz="1600" dirty="0">
                <a:solidFill>
                  <a:srgbClr val="000000"/>
                </a:solidFill>
                <a:highlight>
                  <a:srgbClr val="FFFFFF"/>
                </a:highlight>
              </a:rPr>
              <a:t> Concurs</a:t>
            </a:r>
            <a:r>
              <a:rPr lang="it-IT" sz="1600" b="1" dirty="0">
                <a:solidFill>
                  <a:srgbClr val="000080"/>
                </a:solidFill>
                <a:highlight>
                  <a:srgbClr val="FFFFFF"/>
                </a:highlight>
              </a:rPr>
              <a:t>.</a:t>
            </a:r>
            <a:r>
              <a:rPr lang="it-IT" sz="1600" dirty="0">
                <a:solidFill>
                  <a:srgbClr val="000000"/>
                </a:solidFill>
                <a:highlight>
                  <a:srgbClr val="FFFFFF"/>
                </a:highlight>
              </a:rPr>
              <a:t>culoare</a:t>
            </a:r>
            <a:r>
              <a:rPr lang="it-IT" sz="1600" b="1" dirty="0">
                <a:solidFill>
                  <a:srgbClr val="000080"/>
                </a:solidFill>
                <a:highlight>
                  <a:srgbClr val="FFFFFF"/>
                </a:highlight>
              </a:rPr>
              <a:t>(</a:t>
            </a:r>
            <a:r>
              <a:rPr lang="it-IT" sz="1600" b="1" dirty="0">
                <a:solidFill>
                  <a:srgbClr val="0000FF"/>
                </a:solidFill>
                <a:highlight>
                  <a:srgbClr val="FFFFFF"/>
                </a:highlight>
              </a:rPr>
              <a:t>this</a:t>
            </a:r>
            <a:r>
              <a:rPr lang="it-IT" sz="1600" b="1" dirty="0">
                <a:solidFill>
                  <a:srgbClr val="000080"/>
                </a:solidFill>
                <a:highlight>
                  <a:srgbClr val="FFFFFF"/>
                </a:highlight>
              </a:rPr>
              <a:t>,</a:t>
            </a:r>
            <a:r>
              <a:rPr lang="it-IT" sz="1600" dirty="0">
                <a:solidFill>
                  <a:srgbClr val="000000"/>
                </a:solidFill>
                <a:highlight>
                  <a:srgbClr val="FFFFFF"/>
                </a:highlight>
              </a:rPr>
              <a:t> concurenti</a:t>
            </a:r>
            <a:r>
              <a:rPr lang="it-IT" sz="1600" b="1" dirty="0">
                <a:solidFill>
                  <a:srgbClr val="000080"/>
                </a:solidFill>
                <a:highlight>
                  <a:srgbClr val="FFFFFF"/>
                </a:highlight>
              </a:rPr>
              <a:t>[</a:t>
            </a:r>
            <a:r>
              <a:rPr lang="it-IT" sz="1600" dirty="0">
                <a:solidFill>
                  <a:srgbClr val="FF8000"/>
                </a:solidFill>
                <a:highlight>
                  <a:srgbClr val="FFFFFF"/>
                </a:highlight>
              </a:rPr>
              <a:t>0</a:t>
            </a:r>
            <a:r>
              <a:rPr lang="it-IT" sz="1600" b="1" dirty="0">
                <a:solidFill>
                  <a:srgbClr val="000080"/>
                </a:solidFill>
                <a:highlight>
                  <a:srgbClr val="FFFFFF"/>
                </a:highlight>
              </a:rPr>
              <a:t>]</a:t>
            </a:r>
            <a:r>
              <a:rPr lang="it-IT" sz="1600" dirty="0">
                <a:solidFill>
                  <a:srgbClr val="000000"/>
                </a:solidFill>
                <a:highlight>
                  <a:srgbClr val="FFFFFF"/>
                </a:highlight>
              </a:rPr>
              <a:t> </a:t>
            </a:r>
            <a:r>
              <a:rPr lang="it-IT" sz="1600" b="1" dirty="0">
                <a:solidFill>
                  <a:srgbClr val="000080"/>
                </a:solidFill>
                <a:highlight>
                  <a:srgbClr val="FFFFFF"/>
                </a:highlight>
              </a:rPr>
              <a:t>)</a:t>
            </a:r>
            <a:r>
              <a:rPr lang="it-IT" sz="1600" dirty="0">
                <a:solidFill>
                  <a:srgbClr val="000000"/>
                </a:solidFill>
                <a:highlight>
                  <a:srgbClr val="FFFFFF"/>
                </a:highlight>
              </a:rPr>
              <a:t> </a:t>
            </a:r>
            <a:r>
              <a:rPr lang="it-IT" sz="1600" b="1" dirty="0">
                <a:solidFill>
                  <a:srgbClr val="000080"/>
                </a:solidFill>
                <a:highlight>
                  <a:srgbClr val="FFFFFF"/>
                </a:highlight>
              </a:rPr>
              <a:t>!=</a:t>
            </a:r>
            <a:r>
              <a:rPr lang="it-IT" sz="1600" dirty="0">
                <a:solidFill>
                  <a:srgbClr val="000000"/>
                </a:solidFill>
                <a:highlight>
                  <a:srgbClr val="FFFFFF"/>
                </a:highlight>
              </a:rPr>
              <a:t> concurenti</a:t>
            </a:r>
            <a:r>
              <a:rPr lang="it-IT" sz="1600" b="1" dirty="0">
                <a:solidFill>
                  <a:srgbClr val="000080"/>
                </a:solidFill>
                <a:highlight>
                  <a:srgbClr val="FFFFFF"/>
                </a:highlight>
              </a:rPr>
              <a:t>[</a:t>
            </a:r>
            <a:r>
              <a:rPr lang="it-IT" sz="1600" dirty="0">
                <a:solidFill>
                  <a:srgbClr val="FF8000"/>
                </a:solidFill>
                <a:highlight>
                  <a:srgbClr val="FFFFFF"/>
                </a:highlight>
              </a:rPr>
              <a:t>0</a:t>
            </a:r>
            <a:r>
              <a:rPr lang="it-IT" sz="1600" b="1" dirty="0">
                <a:solidFill>
                  <a:srgbClr val="000080"/>
                </a:solidFill>
                <a:highlight>
                  <a:srgbClr val="FFFFFF"/>
                </a:highlight>
              </a:rPr>
              <a:t>].</a:t>
            </a:r>
            <a:r>
              <a:rPr lang="it-IT" sz="1600" dirty="0">
                <a:solidFill>
                  <a:srgbClr val="000000"/>
                </a:solidFill>
                <a:highlight>
                  <a:srgbClr val="FFFFFF"/>
                </a:highlight>
              </a:rPr>
              <a:t>aGhicit</a:t>
            </a:r>
            <a:r>
              <a:rPr lang="it-IT" sz="1600" b="1" dirty="0">
                <a:solidFill>
                  <a:srgbClr val="000080"/>
                </a:solidFill>
                <a:highlight>
                  <a:srgbClr val="FFFFFF"/>
                </a:highlight>
              </a:rPr>
              <a:t>())</a:t>
            </a:r>
            <a:r>
              <a:rPr lang="it-IT" sz="1600" dirty="0">
                <a:solidFill>
                  <a:srgbClr val="000000"/>
                </a:solidFill>
                <a:highlight>
                  <a:srgbClr val="FFFFFF"/>
                </a:highlight>
              </a:rPr>
              <a:t> </a:t>
            </a:r>
            <a:r>
              <a:rPr lang="it-IT" sz="1600" b="1" dirty="0">
                <a:solidFill>
                  <a:srgbClr val="000080"/>
                </a:solidFill>
                <a:highlight>
                  <a:srgbClr val="FFFFFF"/>
                </a:highlight>
              </a:rPr>
              <a:t>{</a:t>
            </a:r>
            <a:endParaRPr lang="it-IT" sz="1600" dirty="0">
              <a:solidFill>
                <a:srgbClr val="000000"/>
              </a:solidFill>
              <a:highlight>
                <a:srgbClr val="FFFFFF"/>
              </a:highlight>
            </a:endParaRPr>
          </a:p>
          <a:p>
            <a:r>
              <a:rPr lang="ro-RO" sz="1600" dirty="0" err="1">
                <a:solidFill>
                  <a:srgbClr val="8000FF"/>
                </a:solidFill>
                <a:highlight>
                  <a:srgbClr val="FFFFFF"/>
                </a:highlight>
              </a:rPr>
              <a:t>synchronized</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err="1">
                <a:solidFill>
                  <a:srgbClr val="0000FF"/>
                </a:solidFill>
                <a:highlight>
                  <a:srgbClr val="FFFFFF"/>
                </a:highlight>
              </a:rPr>
              <a:t>this</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dirty="0" err="1">
                <a:solidFill>
                  <a:srgbClr val="000000"/>
                </a:solidFill>
                <a:highlight>
                  <a:srgbClr val="FFFFFF"/>
                </a:highlight>
              </a:rPr>
              <a:t>parere</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dirty="0" err="1">
                <a:solidFill>
                  <a:srgbClr val="000000"/>
                </a:solidFill>
                <a:highlight>
                  <a:srgbClr val="FFFFFF"/>
                </a:highlight>
              </a:rPr>
              <a:t>Color</a:t>
            </a:r>
            <a:r>
              <a:rPr lang="ro-RO" sz="1600" b="1" dirty="0" err="1">
                <a:solidFill>
                  <a:srgbClr val="000080"/>
                </a:solidFill>
                <a:highlight>
                  <a:srgbClr val="FFFFFF"/>
                </a:highlight>
              </a:rPr>
              <a:t>.</a:t>
            </a:r>
            <a:r>
              <a:rPr lang="ro-RO" sz="1600" dirty="0" err="1">
                <a:solidFill>
                  <a:srgbClr val="000000"/>
                </a:solidFill>
                <a:highlight>
                  <a:srgbClr val="FFFFFF"/>
                </a:highlight>
              </a:rPr>
              <a:t>black</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err="1">
                <a:solidFill>
                  <a:srgbClr val="0000FF"/>
                </a:solidFill>
                <a:highlight>
                  <a:srgbClr val="FFFFFF"/>
                </a:highlight>
              </a:rPr>
              <a:t>else</a:t>
            </a:r>
            <a:r>
              <a:rPr lang="ro-RO" sz="1600" dirty="0">
                <a:solidFill>
                  <a:srgbClr val="00000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err="1">
                <a:solidFill>
                  <a:srgbClr val="0000FF"/>
                </a:solidFill>
                <a:highlight>
                  <a:srgbClr val="FFFFFF"/>
                </a:highlight>
              </a:rPr>
              <a:t>try</a:t>
            </a:r>
            <a:r>
              <a:rPr lang="ro-RO" sz="1600" dirty="0">
                <a:solidFill>
                  <a:srgbClr val="00000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nl-NL" sz="1600" dirty="0">
                <a:solidFill>
                  <a:srgbClr val="000000"/>
                </a:solidFill>
                <a:highlight>
                  <a:srgbClr val="FFFFFF"/>
                </a:highlight>
              </a:rPr>
              <a:t>sleep</a:t>
            </a:r>
            <a:r>
              <a:rPr lang="nl-NL" sz="1600" b="1" dirty="0">
                <a:solidFill>
                  <a:srgbClr val="000080"/>
                </a:solidFill>
                <a:highlight>
                  <a:srgbClr val="FFFFFF"/>
                </a:highlight>
              </a:rPr>
              <a:t>(</a:t>
            </a:r>
            <a:r>
              <a:rPr lang="nl-NL" sz="1600" dirty="0">
                <a:solidFill>
                  <a:srgbClr val="000000"/>
                </a:solidFill>
                <a:highlight>
                  <a:srgbClr val="FFFFFF"/>
                </a:highlight>
              </a:rPr>
              <a:t> </a:t>
            </a:r>
            <a:r>
              <a:rPr lang="nl-NL" sz="1600" b="1" dirty="0">
                <a:solidFill>
                  <a:srgbClr val="000080"/>
                </a:solidFill>
                <a:highlight>
                  <a:srgbClr val="FFFFFF"/>
                </a:highlight>
              </a:rPr>
              <a:t>(</a:t>
            </a:r>
            <a:r>
              <a:rPr lang="nl-NL" sz="1600" dirty="0">
                <a:solidFill>
                  <a:srgbClr val="8000FF"/>
                </a:solidFill>
                <a:highlight>
                  <a:srgbClr val="FFFFFF"/>
                </a:highlight>
              </a:rPr>
              <a:t>int</a:t>
            </a:r>
            <a:r>
              <a:rPr lang="nl-NL" sz="1600" b="1" dirty="0">
                <a:solidFill>
                  <a:srgbClr val="000080"/>
                </a:solidFill>
                <a:highlight>
                  <a:srgbClr val="FFFFFF"/>
                </a:highlight>
              </a:rPr>
              <a:t>)(</a:t>
            </a:r>
            <a:r>
              <a:rPr lang="nl-NL" sz="1600" dirty="0">
                <a:solidFill>
                  <a:srgbClr val="000000"/>
                </a:solidFill>
                <a:highlight>
                  <a:srgbClr val="FFFFFF"/>
                </a:highlight>
              </a:rPr>
              <a:t> Math</a:t>
            </a:r>
            <a:r>
              <a:rPr lang="nl-NL" sz="1600" b="1" dirty="0">
                <a:solidFill>
                  <a:srgbClr val="000080"/>
                </a:solidFill>
                <a:highlight>
                  <a:srgbClr val="FFFFFF"/>
                </a:highlight>
              </a:rPr>
              <a:t>.</a:t>
            </a:r>
            <a:r>
              <a:rPr lang="nl-NL" sz="1600" dirty="0">
                <a:solidFill>
                  <a:srgbClr val="000000"/>
                </a:solidFill>
                <a:highlight>
                  <a:srgbClr val="FFFFFF"/>
                </a:highlight>
              </a:rPr>
              <a:t>random</a:t>
            </a:r>
            <a:r>
              <a:rPr lang="nl-NL" sz="1600" b="1" dirty="0">
                <a:solidFill>
                  <a:srgbClr val="000080"/>
                </a:solidFill>
                <a:highlight>
                  <a:srgbClr val="FFFFFF"/>
                </a:highlight>
              </a:rPr>
              <a:t>()*</a:t>
            </a:r>
            <a:r>
              <a:rPr lang="nl-NL" sz="1600" dirty="0">
                <a:solidFill>
                  <a:srgbClr val="FF8000"/>
                </a:solidFill>
                <a:highlight>
                  <a:srgbClr val="FFFFFF"/>
                </a:highlight>
              </a:rPr>
              <a:t>500</a:t>
            </a:r>
            <a:r>
              <a:rPr lang="nl-NL" sz="1600" b="1" dirty="0">
                <a:solidFill>
                  <a:srgbClr val="000080"/>
                </a:solidFill>
                <a:highlight>
                  <a:srgbClr val="FFFFFF"/>
                </a:highlight>
              </a:rPr>
              <a:t>)+</a:t>
            </a:r>
            <a:r>
              <a:rPr lang="nl-NL" sz="1600" dirty="0">
                <a:solidFill>
                  <a:srgbClr val="FF8000"/>
                </a:solidFill>
                <a:highlight>
                  <a:srgbClr val="FFFFFF"/>
                </a:highlight>
              </a:rPr>
              <a:t>500</a:t>
            </a:r>
            <a:r>
              <a:rPr lang="nl-NL" sz="1600" dirty="0">
                <a:solidFill>
                  <a:srgbClr val="000000"/>
                </a:solidFill>
                <a:highlight>
                  <a:srgbClr val="FFFFFF"/>
                </a:highlight>
              </a:rPr>
              <a:t> </a:t>
            </a:r>
            <a:r>
              <a:rPr lang="nl-NL" sz="1600" b="1" dirty="0">
                <a:solidFill>
                  <a:srgbClr val="000080"/>
                </a:solidFill>
                <a:highlight>
                  <a:srgbClr val="FFFFFF"/>
                </a:highlight>
              </a:rPr>
              <a:t>);</a:t>
            </a:r>
            <a:endParaRPr lang="nl-NL" sz="1600" dirty="0">
              <a:solidFill>
                <a:srgbClr val="000000"/>
              </a:solidFill>
              <a:highlight>
                <a:srgbClr val="FFFFFF"/>
              </a:highlight>
            </a:endParaRPr>
          </a:p>
          <a:p>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FF"/>
                </a:solidFill>
                <a:highlight>
                  <a:srgbClr val="FFFFFF"/>
                </a:highlight>
              </a:rPr>
              <a:t>catch</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dirty="0" err="1">
                <a:solidFill>
                  <a:srgbClr val="000000"/>
                </a:solidFill>
                <a:highlight>
                  <a:srgbClr val="FFFFFF"/>
                </a:highlight>
              </a:rPr>
              <a:t>InterruptedException</a:t>
            </a:r>
            <a:r>
              <a:rPr lang="ro-RO" sz="1600" dirty="0">
                <a:solidFill>
                  <a:srgbClr val="000000"/>
                </a:solidFill>
                <a:highlight>
                  <a:srgbClr val="FFFFFF"/>
                </a:highlight>
              </a:rPr>
              <a:t> e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endParaRPr lang="ro-RO" sz="1600" dirty="0">
              <a:solidFill>
                <a:srgbClr val="000000"/>
              </a:solidFill>
              <a:highlight>
                <a:srgbClr val="FFFFFF"/>
              </a:highlight>
            </a:endParaRPr>
          </a:p>
          <a:p>
            <a:r>
              <a:rPr lang="it-IT" sz="1600" b="1" dirty="0">
                <a:solidFill>
                  <a:srgbClr val="0000FF"/>
                </a:solidFill>
                <a:highlight>
                  <a:srgbClr val="FFFFFF"/>
                </a:highlight>
              </a:rPr>
              <a:t>if</a:t>
            </a:r>
            <a:r>
              <a:rPr lang="it-IT" sz="1600" b="1" dirty="0">
                <a:solidFill>
                  <a:srgbClr val="000080"/>
                </a:solidFill>
                <a:highlight>
                  <a:srgbClr val="FFFFFF"/>
                </a:highlight>
              </a:rPr>
              <a:t>(</a:t>
            </a:r>
            <a:r>
              <a:rPr lang="it-IT" sz="1600" dirty="0">
                <a:solidFill>
                  <a:srgbClr val="000000"/>
                </a:solidFill>
                <a:highlight>
                  <a:srgbClr val="FFFFFF"/>
                </a:highlight>
              </a:rPr>
              <a:t> Concurs</a:t>
            </a:r>
            <a:r>
              <a:rPr lang="it-IT" sz="1600" b="1" dirty="0">
                <a:solidFill>
                  <a:srgbClr val="000080"/>
                </a:solidFill>
                <a:highlight>
                  <a:srgbClr val="FFFFFF"/>
                </a:highlight>
              </a:rPr>
              <a:t>.</a:t>
            </a:r>
            <a:r>
              <a:rPr lang="it-IT" sz="1600" dirty="0">
                <a:solidFill>
                  <a:srgbClr val="000000"/>
                </a:solidFill>
                <a:highlight>
                  <a:srgbClr val="FFFFFF"/>
                </a:highlight>
              </a:rPr>
              <a:t>culoare</a:t>
            </a:r>
            <a:r>
              <a:rPr lang="it-IT" sz="1600" b="1" dirty="0">
                <a:solidFill>
                  <a:srgbClr val="000080"/>
                </a:solidFill>
                <a:highlight>
                  <a:srgbClr val="FFFFFF"/>
                </a:highlight>
              </a:rPr>
              <a:t>(</a:t>
            </a:r>
            <a:r>
              <a:rPr lang="it-IT" sz="1600" b="1" dirty="0">
                <a:solidFill>
                  <a:srgbClr val="0000FF"/>
                </a:solidFill>
                <a:highlight>
                  <a:srgbClr val="FFFFFF"/>
                </a:highlight>
              </a:rPr>
              <a:t>this</a:t>
            </a:r>
            <a:r>
              <a:rPr lang="it-IT" sz="1600" b="1" dirty="0">
                <a:solidFill>
                  <a:srgbClr val="000080"/>
                </a:solidFill>
                <a:highlight>
                  <a:srgbClr val="FFFFFF"/>
                </a:highlight>
              </a:rPr>
              <a:t>,</a:t>
            </a:r>
            <a:r>
              <a:rPr lang="it-IT" sz="1600" dirty="0">
                <a:solidFill>
                  <a:srgbClr val="000000"/>
                </a:solidFill>
                <a:highlight>
                  <a:srgbClr val="FFFFFF"/>
                </a:highlight>
              </a:rPr>
              <a:t> concurenti</a:t>
            </a:r>
            <a:r>
              <a:rPr lang="it-IT" sz="1600" b="1" dirty="0">
                <a:solidFill>
                  <a:srgbClr val="000080"/>
                </a:solidFill>
                <a:highlight>
                  <a:srgbClr val="FFFFFF"/>
                </a:highlight>
              </a:rPr>
              <a:t>[</a:t>
            </a:r>
            <a:r>
              <a:rPr lang="it-IT" sz="1600" dirty="0">
                <a:solidFill>
                  <a:srgbClr val="FF8000"/>
                </a:solidFill>
                <a:highlight>
                  <a:srgbClr val="FFFFFF"/>
                </a:highlight>
              </a:rPr>
              <a:t>0</a:t>
            </a:r>
            <a:r>
              <a:rPr lang="it-IT" sz="1600" b="1" dirty="0">
                <a:solidFill>
                  <a:srgbClr val="000080"/>
                </a:solidFill>
                <a:highlight>
                  <a:srgbClr val="FFFFFF"/>
                </a:highlight>
              </a:rPr>
              <a:t>])</a:t>
            </a:r>
            <a:r>
              <a:rPr lang="it-IT" sz="1600" dirty="0">
                <a:solidFill>
                  <a:srgbClr val="000000"/>
                </a:solidFill>
                <a:highlight>
                  <a:srgbClr val="FFFFFF"/>
                </a:highlight>
              </a:rPr>
              <a:t> </a:t>
            </a:r>
            <a:r>
              <a:rPr lang="it-IT" sz="1600" b="1" dirty="0">
                <a:solidFill>
                  <a:srgbClr val="000080"/>
                </a:solidFill>
                <a:highlight>
                  <a:srgbClr val="FFFFFF"/>
                </a:highlight>
              </a:rPr>
              <a:t>!=</a:t>
            </a:r>
            <a:r>
              <a:rPr lang="it-IT" sz="1600" dirty="0">
                <a:solidFill>
                  <a:srgbClr val="000000"/>
                </a:solidFill>
                <a:highlight>
                  <a:srgbClr val="FFFFFF"/>
                </a:highlight>
              </a:rPr>
              <a:t> concurenti</a:t>
            </a:r>
            <a:r>
              <a:rPr lang="it-IT" sz="1600" b="1" dirty="0">
                <a:solidFill>
                  <a:srgbClr val="000080"/>
                </a:solidFill>
                <a:highlight>
                  <a:srgbClr val="FFFFFF"/>
                </a:highlight>
              </a:rPr>
              <a:t>[</a:t>
            </a:r>
            <a:r>
              <a:rPr lang="it-IT" sz="1600" dirty="0">
                <a:solidFill>
                  <a:srgbClr val="FF8000"/>
                </a:solidFill>
                <a:highlight>
                  <a:srgbClr val="FFFFFF"/>
                </a:highlight>
              </a:rPr>
              <a:t>0</a:t>
            </a:r>
            <a:r>
              <a:rPr lang="it-IT" sz="1600" b="1" dirty="0">
                <a:solidFill>
                  <a:srgbClr val="000080"/>
                </a:solidFill>
                <a:highlight>
                  <a:srgbClr val="FFFFFF"/>
                </a:highlight>
              </a:rPr>
              <a:t>].</a:t>
            </a:r>
            <a:r>
              <a:rPr lang="it-IT" sz="1600" dirty="0">
                <a:solidFill>
                  <a:srgbClr val="000000"/>
                </a:solidFill>
                <a:highlight>
                  <a:srgbClr val="FFFFFF"/>
                </a:highlight>
              </a:rPr>
              <a:t>aGhicit</a:t>
            </a:r>
            <a:r>
              <a:rPr lang="it-IT" sz="1600" b="1" dirty="0">
                <a:solidFill>
                  <a:srgbClr val="000080"/>
                </a:solidFill>
                <a:highlight>
                  <a:srgbClr val="FFFFFF"/>
                </a:highlight>
              </a:rPr>
              <a:t>()</a:t>
            </a:r>
            <a:r>
              <a:rPr lang="it-IT" sz="1600" dirty="0">
                <a:solidFill>
                  <a:srgbClr val="000000"/>
                </a:solidFill>
                <a:highlight>
                  <a:srgbClr val="FFFFFF"/>
                </a:highlight>
              </a:rPr>
              <a:t> </a:t>
            </a:r>
            <a:r>
              <a:rPr lang="it-IT" sz="1600" b="1" dirty="0">
                <a:solidFill>
                  <a:srgbClr val="000080"/>
                </a:solidFill>
                <a:highlight>
                  <a:srgbClr val="FFFFFF"/>
                </a:highlight>
              </a:rPr>
              <a:t>&amp;&amp;</a:t>
            </a:r>
            <a:endParaRPr lang="it-IT" sz="1600" dirty="0">
              <a:solidFill>
                <a:srgbClr val="000000"/>
              </a:solidFill>
              <a:highlight>
                <a:srgbClr val="FFFFFF"/>
              </a:highlight>
            </a:endParaRPr>
          </a:p>
          <a:p>
            <a:r>
              <a:rPr lang="it-IT" sz="1600" dirty="0">
                <a:solidFill>
                  <a:srgbClr val="000000"/>
                </a:solidFill>
                <a:highlight>
                  <a:srgbClr val="FFFFFF"/>
                </a:highlight>
              </a:rPr>
              <a:t> Concurs</a:t>
            </a:r>
            <a:r>
              <a:rPr lang="it-IT" sz="1600" b="1" dirty="0">
                <a:solidFill>
                  <a:srgbClr val="000080"/>
                </a:solidFill>
                <a:highlight>
                  <a:srgbClr val="FFFFFF"/>
                </a:highlight>
              </a:rPr>
              <a:t>.</a:t>
            </a:r>
            <a:r>
              <a:rPr lang="it-IT" sz="1600" dirty="0">
                <a:solidFill>
                  <a:srgbClr val="000000"/>
                </a:solidFill>
                <a:highlight>
                  <a:srgbClr val="FFFFFF"/>
                </a:highlight>
              </a:rPr>
              <a:t>culoare</a:t>
            </a:r>
            <a:r>
              <a:rPr lang="it-IT" sz="1600" b="1" dirty="0">
                <a:solidFill>
                  <a:srgbClr val="000080"/>
                </a:solidFill>
                <a:highlight>
                  <a:srgbClr val="FFFFFF"/>
                </a:highlight>
              </a:rPr>
              <a:t>(</a:t>
            </a:r>
            <a:r>
              <a:rPr lang="it-IT" sz="1600" dirty="0">
                <a:solidFill>
                  <a:srgbClr val="000000"/>
                </a:solidFill>
                <a:highlight>
                  <a:srgbClr val="FFFFFF"/>
                </a:highlight>
              </a:rPr>
              <a:t> </a:t>
            </a:r>
            <a:r>
              <a:rPr lang="it-IT" sz="1600" b="1" dirty="0">
                <a:solidFill>
                  <a:srgbClr val="0000FF"/>
                </a:solidFill>
                <a:highlight>
                  <a:srgbClr val="FFFFFF"/>
                </a:highlight>
              </a:rPr>
              <a:t>this</a:t>
            </a:r>
            <a:r>
              <a:rPr lang="it-IT" sz="1600" b="1" dirty="0">
                <a:solidFill>
                  <a:srgbClr val="000080"/>
                </a:solidFill>
                <a:highlight>
                  <a:srgbClr val="FFFFFF"/>
                </a:highlight>
              </a:rPr>
              <a:t>,</a:t>
            </a:r>
            <a:r>
              <a:rPr lang="it-IT" sz="1600" dirty="0">
                <a:solidFill>
                  <a:srgbClr val="000000"/>
                </a:solidFill>
                <a:highlight>
                  <a:srgbClr val="FFFFFF"/>
                </a:highlight>
              </a:rPr>
              <a:t> concurenti</a:t>
            </a:r>
            <a:r>
              <a:rPr lang="it-IT" sz="1600" b="1" dirty="0">
                <a:solidFill>
                  <a:srgbClr val="000080"/>
                </a:solidFill>
                <a:highlight>
                  <a:srgbClr val="FFFFFF"/>
                </a:highlight>
              </a:rPr>
              <a:t>[</a:t>
            </a:r>
            <a:r>
              <a:rPr lang="it-IT" sz="1600" dirty="0">
                <a:solidFill>
                  <a:srgbClr val="FF8000"/>
                </a:solidFill>
                <a:highlight>
                  <a:srgbClr val="FFFFFF"/>
                </a:highlight>
              </a:rPr>
              <a:t>1</a:t>
            </a:r>
            <a:r>
              <a:rPr lang="it-IT" sz="1600" b="1" dirty="0">
                <a:solidFill>
                  <a:srgbClr val="000080"/>
                </a:solidFill>
                <a:highlight>
                  <a:srgbClr val="FFFFFF"/>
                </a:highlight>
              </a:rPr>
              <a:t>]</a:t>
            </a:r>
            <a:r>
              <a:rPr lang="it-IT" sz="1600" dirty="0">
                <a:solidFill>
                  <a:srgbClr val="000000"/>
                </a:solidFill>
                <a:highlight>
                  <a:srgbClr val="FFFFFF"/>
                </a:highlight>
              </a:rPr>
              <a:t> </a:t>
            </a:r>
            <a:r>
              <a:rPr lang="it-IT" sz="1600" b="1" dirty="0">
                <a:solidFill>
                  <a:srgbClr val="000080"/>
                </a:solidFill>
                <a:highlight>
                  <a:srgbClr val="FFFFFF"/>
                </a:highlight>
              </a:rPr>
              <a:t>)</a:t>
            </a:r>
            <a:r>
              <a:rPr lang="it-IT" sz="1600" dirty="0">
                <a:solidFill>
                  <a:srgbClr val="000000"/>
                </a:solidFill>
                <a:highlight>
                  <a:srgbClr val="FFFFFF"/>
                </a:highlight>
              </a:rPr>
              <a:t> </a:t>
            </a:r>
            <a:r>
              <a:rPr lang="it-IT" sz="1600" b="1" dirty="0">
                <a:solidFill>
                  <a:srgbClr val="000080"/>
                </a:solidFill>
                <a:highlight>
                  <a:srgbClr val="FFFFFF"/>
                </a:highlight>
              </a:rPr>
              <a:t>!=</a:t>
            </a:r>
            <a:r>
              <a:rPr lang="it-IT" sz="1600" dirty="0">
                <a:solidFill>
                  <a:srgbClr val="000000"/>
                </a:solidFill>
                <a:highlight>
                  <a:srgbClr val="FFFFFF"/>
                </a:highlight>
              </a:rPr>
              <a:t>concurenti</a:t>
            </a:r>
            <a:r>
              <a:rPr lang="it-IT" sz="1600" b="1" dirty="0">
                <a:solidFill>
                  <a:srgbClr val="000080"/>
                </a:solidFill>
                <a:highlight>
                  <a:srgbClr val="FFFFFF"/>
                </a:highlight>
              </a:rPr>
              <a:t>[</a:t>
            </a:r>
            <a:r>
              <a:rPr lang="it-IT" sz="1600" dirty="0">
                <a:solidFill>
                  <a:srgbClr val="FF8000"/>
                </a:solidFill>
                <a:highlight>
                  <a:srgbClr val="FFFFFF"/>
                </a:highlight>
              </a:rPr>
              <a:t>1</a:t>
            </a:r>
            <a:r>
              <a:rPr lang="it-IT" sz="1600" b="1" dirty="0">
                <a:solidFill>
                  <a:srgbClr val="000080"/>
                </a:solidFill>
                <a:highlight>
                  <a:srgbClr val="FFFFFF"/>
                </a:highlight>
              </a:rPr>
              <a:t>].</a:t>
            </a:r>
            <a:r>
              <a:rPr lang="it-IT" sz="1600" dirty="0">
                <a:solidFill>
                  <a:srgbClr val="000000"/>
                </a:solidFill>
                <a:highlight>
                  <a:srgbClr val="FFFFFF"/>
                </a:highlight>
              </a:rPr>
              <a:t>aGhicit</a:t>
            </a:r>
            <a:r>
              <a:rPr lang="it-IT" sz="1600" b="1" dirty="0">
                <a:solidFill>
                  <a:srgbClr val="000080"/>
                </a:solidFill>
                <a:highlight>
                  <a:srgbClr val="FFFFFF"/>
                </a:highlight>
              </a:rPr>
              <a:t>()</a:t>
            </a:r>
            <a:r>
              <a:rPr lang="it-IT" sz="1600" dirty="0">
                <a:solidFill>
                  <a:srgbClr val="000000"/>
                </a:solidFill>
                <a:highlight>
                  <a:srgbClr val="FFFFFF"/>
                </a:highlight>
              </a:rPr>
              <a:t> </a:t>
            </a:r>
            <a:r>
              <a:rPr lang="it-IT" sz="1600" b="1" dirty="0">
                <a:solidFill>
                  <a:srgbClr val="000080"/>
                </a:solidFill>
                <a:highlight>
                  <a:srgbClr val="FFFFFF"/>
                </a:highlight>
              </a:rPr>
              <a:t>)</a:t>
            </a:r>
            <a:r>
              <a:rPr lang="it-IT" sz="1600" dirty="0">
                <a:solidFill>
                  <a:srgbClr val="000000"/>
                </a:solidFill>
                <a:highlight>
                  <a:srgbClr val="FFFFFF"/>
                </a:highlight>
              </a:rPr>
              <a:t> </a:t>
            </a:r>
            <a:r>
              <a:rPr lang="it-IT" sz="1600" b="1" dirty="0">
                <a:solidFill>
                  <a:srgbClr val="000080"/>
                </a:solidFill>
                <a:highlight>
                  <a:srgbClr val="FFFFFF"/>
                </a:highlight>
              </a:rPr>
              <a:t>{</a:t>
            </a:r>
            <a:endParaRPr lang="it-IT" sz="1600" dirty="0">
              <a:solidFill>
                <a:srgbClr val="000000"/>
              </a:solidFill>
              <a:highlight>
                <a:srgbClr val="FFFFFF"/>
              </a:highlight>
            </a:endParaRPr>
          </a:p>
          <a:p>
            <a:r>
              <a:rPr lang="ro-RO" sz="1600" dirty="0" err="1">
                <a:solidFill>
                  <a:srgbClr val="8000FF"/>
                </a:solidFill>
                <a:highlight>
                  <a:srgbClr val="FFFFFF"/>
                </a:highlight>
              </a:rPr>
              <a:t>synchronized</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err="1">
                <a:solidFill>
                  <a:srgbClr val="0000FF"/>
                </a:solidFill>
                <a:highlight>
                  <a:srgbClr val="FFFFFF"/>
                </a:highlight>
              </a:rPr>
              <a:t>this</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dirty="0" err="1">
                <a:solidFill>
                  <a:srgbClr val="000000"/>
                </a:solidFill>
                <a:highlight>
                  <a:srgbClr val="FFFFFF"/>
                </a:highlight>
              </a:rPr>
              <a:t>parere</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dirty="0" err="1">
                <a:solidFill>
                  <a:srgbClr val="000000"/>
                </a:solidFill>
                <a:highlight>
                  <a:srgbClr val="FFFFFF"/>
                </a:highlight>
              </a:rPr>
              <a:t>Color</a:t>
            </a:r>
            <a:r>
              <a:rPr lang="ro-RO" sz="1600" b="1" dirty="0" err="1">
                <a:solidFill>
                  <a:srgbClr val="000080"/>
                </a:solidFill>
                <a:highlight>
                  <a:srgbClr val="FFFFFF"/>
                </a:highlight>
              </a:rPr>
              <a:t>.</a:t>
            </a:r>
            <a:r>
              <a:rPr lang="ro-RO" sz="1600" dirty="0" err="1">
                <a:solidFill>
                  <a:srgbClr val="000000"/>
                </a:solidFill>
                <a:highlight>
                  <a:srgbClr val="FFFFFF"/>
                </a:highlight>
              </a:rPr>
              <a:t>black</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dirty="0">
                <a:solidFill>
                  <a:srgbClr val="8000FF"/>
                </a:solidFill>
                <a:highlight>
                  <a:srgbClr val="FFFFFF"/>
                </a:highlight>
              </a:rPr>
              <a:t>public</a:t>
            </a:r>
            <a:r>
              <a:rPr lang="ro-RO" sz="1600" dirty="0">
                <a:solidFill>
                  <a:srgbClr val="000000"/>
                </a:solidFill>
                <a:highlight>
                  <a:srgbClr val="FFFFFF"/>
                </a:highlight>
              </a:rPr>
              <a:t> </a:t>
            </a:r>
            <a:r>
              <a:rPr lang="ro-RO" sz="1600" dirty="0" err="1">
                <a:solidFill>
                  <a:srgbClr val="8000FF"/>
                </a:solidFill>
                <a:highlight>
                  <a:srgbClr val="FFFFFF"/>
                </a:highlight>
              </a:rPr>
              <a:t>synchronized</a:t>
            </a:r>
            <a:r>
              <a:rPr lang="ro-RO" sz="1600" dirty="0">
                <a:solidFill>
                  <a:srgbClr val="000000"/>
                </a:solidFill>
                <a:highlight>
                  <a:srgbClr val="FFFFFF"/>
                </a:highlight>
              </a:rPr>
              <a:t> Color </a:t>
            </a:r>
            <a:r>
              <a:rPr lang="ro-RO" sz="1600" dirty="0" err="1">
                <a:solidFill>
                  <a:srgbClr val="000000"/>
                </a:solidFill>
                <a:highlight>
                  <a:srgbClr val="FFFFFF"/>
                </a:highlight>
              </a:rPr>
              <a:t>aGhicit</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err="1">
                <a:solidFill>
                  <a:srgbClr val="0000FF"/>
                </a:solidFill>
                <a:highlight>
                  <a:srgbClr val="FFFFFF"/>
                </a:highlight>
              </a:rPr>
              <a:t>return</a:t>
            </a:r>
            <a:r>
              <a:rPr lang="ro-RO" sz="1600" dirty="0">
                <a:solidFill>
                  <a:srgbClr val="000000"/>
                </a:solidFill>
                <a:highlight>
                  <a:srgbClr val="FFFFFF"/>
                </a:highlight>
              </a:rPr>
              <a:t> </a:t>
            </a:r>
            <a:r>
              <a:rPr lang="ro-RO" sz="1600" dirty="0" err="1">
                <a:solidFill>
                  <a:srgbClr val="000000"/>
                </a:solidFill>
                <a:highlight>
                  <a:srgbClr val="FFFFFF"/>
                </a:highlight>
              </a:rPr>
              <a:t>parere</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endParaRPr lang="ro-RO" sz="1600" dirty="0">
              <a:solidFill>
                <a:srgbClr val="000000"/>
              </a:solidFill>
              <a:highlight>
                <a:srgbClr val="FFFFFF"/>
              </a:highlight>
            </a:endParaRPr>
          </a:p>
        </p:txBody>
      </p:sp>
    </p:spTree>
    <p:extLst>
      <p:ext uri="{BB962C8B-B14F-4D97-AF65-F5344CB8AC3E}">
        <p14:creationId xmlns:p14="http://schemas.microsoft.com/office/powerpoint/2010/main" val="5285035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1233" y="37740"/>
            <a:ext cx="6096000" cy="6894195"/>
          </a:xfrm>
          <a:prstGeom prst="rect">
            <a:avLst/>
          </a:prstGeom>
        </p:spPr>
        <p:txBody>
          <a:bodyPr>
            <a:spAutoFit/>
          </a:bodyPr>
          <a:lstStyle/>
          <a:p>
            <a:r>
              <a:rPr lang="ro-RO" sz="1600" b="1" dirty="0">
                <a:solidFill>
                  <a:srgbClr val="0000FF"/>
                </a:solidFill>
                <a:highlight>
                  <a:srgbClr val="FFFFFF"/>
                </a:highlight>
              </a:rPr>
              <a:t>import</a:t>
            </a:r>
            <a:r>
              <a:rPr lang="ro-RO" sz="1600" dirty="0">
                <a:solidFill>
                  <a:srgbClr val="000000"/>
                </a:solidFill>
                <a:highlight>
                  <a:srgbClr val="FFFFFF"/>
                </a:highlight>
              </a:rPr>
              <a:t> </a:t>
            </a:r>
            <a:r>
              <a:rPr lang="ro-RO" sz="1600" dirty="0" err="1">
                <a:solidFill>
                  <a:srgbClr val="000000"/>
                </a:solidFill>
                <a:highlight>
                  <a:srgbClr val="FFFFFF"/>
                </a:highlight>
              </a:rPr>
              <a:t>java</a:t>
            </a:r>
            <a:r>
              <a:rPr lang="ro-RO" sz="1600" b="1" dirty="0" err="1">
                <a:solidFill>
                  <a:srgbClr val="000080"/>
                </a:solidFill>
                <a:highlight>
                  <a:srgbClr val="FFFFFF"/>
                </a:highlight>
              </a:rPr>
              <a:t>.</a:t>
            </a:r>
            <a:r>
              <a:rPr lang="ro-RO" sz="1600" dirty="0" err="1">
                <a:solidFill>
                  <a:srgbClr val="000000"/>
                </a:solidFill>
                <a:highlight>
                  <a:srgbClr val="FFFFFF"/>
                </a:highlight>
              </a:rPr>
              <a:t>awt</a:t>
            </a:r>
            <a:r>
              <a:rPr lang="ro-RO" sz="1600" b="1" dirty="0" err="1">
                <a:solidFill>
                  <a:srgbClr val="000080"/>
                </a:solidFill>
                <a:highlight>
                  <a:srgbClr val="FFFFFF"/>
                </a:highlight>
              </a:rPr>
              <a:t>.</a:t>
            </a:r>
            <a:r>
              <a:rPr lang="ro-RO" sz="1600" dirty="0" err="1">
                <a:solidFill>
                  <a:srgbClr val="000000"/>
                </a:solidFill>
                <a:highlight>
                  <a:srgbClr val="FFFFFF"/>
                </a:highlight>
              </a:rPr>
              <a:t>Color</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dirty="0">
                <a:solidFill>
                  <a:srgbClr val="8000FF"/>
                </a:solidFill>
                <a:highlight>
                  <a:srgbClr val="FFFFFF"/>
                </a:highlight>
              </a:rPr>
              <a:t>public</a:t>
            </a:r>
            <a:r>
              <a:rPr lang="ro-RO" sz="1600" dirty="0">
                <a:solidFill>
                  <a:srgbClr val="000000"/>
                </a:solidFill>
                <a:highlight>
                  <a:srgbClr val="FFFFFF"/>
                </a:highlight>
              </a:rPr>
              <a:t> </a:t>
            </a:r>
            <a:r>
              <a:rPr lang="ro-RO" sz="1600" dirty="0" err="1">
                <a:solidFill>
                  <a:srgbClr val="8000FF"/>
                </a:solidFill>
                <a:highlight>
                  <a:srgbClr val="FFFFFF"/>
                </a:highlight>
              </a:rPr>
              <a:t>class</a:t>
            </a:r>
            <a:r>
              <a:rPr lang="ro-RO" sz="1600" dirty="0">
                <a:solidFill>
                  <a:srgbClr val="000000"/>
                </a:solidFill>
                <a:highlight>
                  <a:srgbClr val="FFFFFF"/>
                </a:highlight>
              </a:rPr>
              <a:t> Concurs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dirty="0">
                <a:solidFill>
                  <a:srgbClr val="8000FF"/>
                </a:solidFill>
                <a:highlight>
                  <a:srgbClr val="FFFFFF"/>
                </a:highlight>
              </a:rPr>
              <a:t>private</a:t>
            </a:r>
            <a:r>
              <a:rPr lang="ro-RO" sz="1600" dirty="0">
                <a:solidFill>
                  <a:srgbClr val="000000"/>
                </a:solidFill>
                <a:highlight>
                  <a:srgbClr val="FFFFFF"/>
                </a:highlight>
              </a:rPr>
              <a:t> </a:t>
            </a:r>
            <a:r>
              <a:rPr lang="ro-RO" sz="1600" dirty="0">
                <a:solidFill>
                  <a:srgbClr val="8000FF"/>
                </a:solidFill>
                <a:highlight>
                  <a:srgbClr val="FFFFFF"/>
                </a:highlight>
              </a:rPr>
              <a:t>static</a:t>
            </a:r>
            <a:r>
              <a:rPr lang="ro-RO" sz="1600" dirty="0">
                <a:solidFill>
                  <a:srgbClr val="000000"/>
                </a:solidFill>
                <a:highlight>
                  <a:srgbClr val="FFFFFF"/>
                </a:highlight>
              </a:rPr>
              <a:t> Color </a:t>
            </a:r>
            <a:r>
              <a:rPr lang="ro-RO" sz="1600" dirty="0" err="1">
                <a:solidFill>
                  <a:srgbClr val="000000"/>
                </a:solidFill>
                <a:highlight>
                  <a:srgbClr val="FFFFFF"/>
                </a:highlight>
              </a:rPr>
              <a:t>palarii</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dirty="0" err="1">
                <a:solidFill>
                  <a:srgbClr val="000000"/>
                </a:solidFill>
                <a:highlight>
                  <a:srgbClr val="FFFFFF"/>
                </a:highlight>
              </a:rPr>
              <a:t>Color</a:t>
            </a:r>
            <a:r>
              <a:rPr lang="ro-RO" sz="1600" b="1" dirty="0" err="1">
                <a:solidFill>
                  <a:srgbClr val="000080"/>
                </a:solidFill>
                <a:highlight>
                  <a:srgbClr val="FFFFFF"/>
                </a:highlight>
              </a:rPr>
              <a:t>.</a:t>
            </a:r>
            <a:r>
              <a:rPr lang="ro-RO" sz="1600" dirty="0" err="1">
                <a:solidFill>
                  <a:srgbClr val="000000"/>
                </a:solidFill>
                <a:highlight>
                  <a:srgbClr val="FFFFFF"/>
                </a:highlight>
              </a:rPr>
              <a:t>black</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dirty="0" err="1">
                <a:solidFill>
                  <a:srgbClr val="000000"/>
                </a:solidFill>
                <a:highlight>
                  <a:srgbClr val="FFFFFF"/>
                </a:highlight>
              </a:rPr>
              <a:t>Color</a:t>
            </a:r>
            <a:r>
              <a:rPr lang="ro-RO" sz="1600" b="1" dirty="0" err="1">
                <a:solidFill>
                  <a:srgbClr val="000080"/>
                </a:solidFill>
                <a:highlight>
                  <a:srgbClr val="FFFFFF"/>
                </a:highlight>
              </a:rPr>
              <a:t>.</a:t>
            </a:r>
            <a:r>
              <a:rPr lang="ro-RO" sz="1600" dirty="0" err="1">
                <a:solidFill>
                  <a:srgbClr val="000000"/>
                </a:solidFill>
                <a:highlight>
                  <a:srgbClr val="FFFFFF"/>
                </a:highlight>
              </a:rPr>
              <a:t>black</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dirty="0" err="1">
                <a:solidFill>
                  <a:srgbClr val="000000"/>
                </a:solidFill>
                <a:highlight>
                  <a:srgbClr val="FFFFFF"/>
                </a:highlight>
              </a:rPr>
              <a:t>Color</a:t>
            </a:r>
            <a:r>
              <a:rPr lang="ro-RO" sz="1600" b="1" dirty="0" err="1">
                <a:solidFill>
                  <a:srgbClr val="000080"/>
                </a:solidFill>
                <a:highlight>
                  <a:srgbClr val="FFFFFF"/>
                </a:highlight>
              </a:rPr>
              <a:t>.</a:t>
            </a:r>
            <a:r>
              <a:rPr lang="ro-RO" sz="1600" dirty="0" err="1">
                <a:solidFill>
                  <a:srgbClr val="000000"/>
                </a:solidFill>
                <a:highlight>
                  <a:srgbClr val="FFFFFF"/>
                </a:highlight>
              </a:rPr>
              <a:t>white</a:t>
            </a:r>
            <a:endParaRPr lang="ro-RO" sz="1600" dirty="0">
              <a:solidFill>
                <a:srgbClr val="000000"/>
              </a:solidFill>
              <a:highlight>
                <a:srgbClr val="FFFFFF"/>
              </a:highlight>
            </a:endParaRPr>
          </a:p>
          <a:p>
            <a:r>
              <a:rPr lang="ro-RO" sz="1600" dirty="0">
                <a:solidFill>
                  <a:srgbClr val="00000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en-US" sz="1600" dirty="0">
                <a:solidFill>
                  <a:srgbClr val="8000FF"/>
                </a:solidFill>
                <a:highlight>
                  <a:srgbClr val="FFFFFF"/>
                </a:highlight>
              </a:rPr>
              <a:t>private</a:t>
            </a:r>
            <a:r>
              <a:rPr lang="en-US" sz="1600" dirty="0">
                <a:solidFill>
                  <a:srgbClr val="000000"/>
                </a:solidFill>
                <a:highlight>
                  <a:srgbClr val="FFFFFF"/>
                </a:highlight>
              </a:rPr>
              <a:t> </a:t>
            </a:r>
            <a:r>
              <a:rPr lang="en-US" sz="1600" dirty="0">
                <a:solidFill>
                  <a:srgbClr val="8000FF"/>
                </a:solidFill>
                <a:highlight>
                  <a:srgbClr val="FFFFFF"/>
                </a:highlight>
              </a:rPr>
              <a:t>static</a:t>
            </a:r>
            <a:r>
              <a:rPr lang="en-US" sz="1600" dirty="0">
                <a:solidFill>
                  <a:srgbClr val="000000"/>
                </a:solidFill>
                <a:highlight>
                  <a:srgbClr val="FFFFFF"/>
                </a:highlight>
              </a:rPr>
              <a:t> </a:t>
            </a:r>
            <a:r>
              <a:rPr lang="en-US" sz="1600" dirty="0" err="1">
                <a:solidFill>
                  <a:srgbClr val="000000"/>
                </a:solidFill>
                <a:highlight>
                  <a:srgbClr val="FFFFFF"/>
                </a:highlight>
              </a:rPr>
              <a:t>Filozof</a:t>
            </a:r>
            <a:r>
              <a:rPr lang="en-US" sz="1600" dirty="0">
                <a:solidFill>
                  <a:srgbClr val="000000"/>
                </a:solidFill>
                <a:highlight>
                  <a:srgbClr val="FFFFFF"/>
                </a:highlight>
              </a:rPr>
              <a:t> </a:t>
            </a:r>
            <a:r>
              <a:rPr lang="en-US" sz="1600" dirty="0" err="1">
                <a:solidFill>
                  <a:srgbClr val="000000"/>
                </a:solidFill>
                <a:highlight>
                  <a:srgbClr val="FFFFFF"/>
                </a:highlight>
              </a:rPr>
              <a:t>filozofi</a:t>
            </a:r>
            <a:r>
              <a:rPr lang="en-US" sz="1600" b="1" dirty="0">
                <a:solidFill>
                  <a:srgbClr val="000080"/>
                </a:solidFill>
                <a:highlight>
                  <a:srgbClr val="FFFFFF"/>
                </a:highlight>
              </a:rPr>
              <a:t>[]</a:t>
            </a:r>
            <a:r>
              <a:rPr lang="en-US" sz="1600" dirty="0">
                <a:solidFill>
                  <a:srgbClr val="000000"/>
                </a:solidFill>
                <a:highlight>
                  <a:srgbClr val="FFFFFF"/>
                </a:highlight>
              </a:rPr>
              <a:t> </a:t>
            </a:r>
            <a:r>
              <a:rPr lang="en-US" sz="1600" b="1" dirty="0">
                <a:solidFill>
                  <a:srgbClr val="000080"/>
                </a:solidFill>
                <a:highlight>
                  <a:srgbClr val="FFFFFF"/>
                </a:highlight>
              </a:rPr>
              <a:t>=</a:t>
            </a:r>
            <a:r>
              <a:rPr lang="en-US" sz="1600" dirty="0">
                <a:solidFill>
                  <a:srgbClr val="000000"/>
                </a:solidFill>
                <a:highlight>
                  <a:srgbClr val="FFFFFF"/>
                </a:highlight>
              </a:rPr>
              <a:t> </a:t>
            </a:r>
            <a:r>
              <a:rPr lang="en-US" sz="1600" b="1" dirty="0">
                <a:solidFill>
                  <a:srgbClr val="0000FF"/>
                </a:solidFill>
                <a:highlight>
                  <a:srgbClr val="FFFFFF"/>
                </a:highlight>
              </a:rPr>
              <a:t>new</a:t>
            </a:r>
            <a:r>
              <a:rPr lang="en-US" sz="1600" dirty="0">
                <a:solidFill>
                  <a:srgbClr val="000000"/>
                </a:solidFill>
                <a:highlight>
                  <a:srgbClr val="FFFFFF"/>
                </a:highlight>
              </a:rPr>
              <a:t> </a:t>
            </a:r>
            <a:r>
              <a:rPr lang="en-US" sz="1600" dirty="0" err="1">
                <a:solidFill>
                  <a:srgbClr val="000000"/>
                </a:solidFill>
                <a:highlight>
                  <a:srgbClr val="FFFFFF"/>
                </a:highlight>
              </a:rPr>
              <a:t>Filozof</a:t>
            </a:r>
            <a:r>
              <a:rPr lang="en-US" sz="1600" b="1" dirty="0">
                <a:solidFill>
                  <a:srgbClr val="000080"/>
                </a:solidFill>
                <a:highlight>
                  <a:srgbClr val="FFFFFF"/>
                </a:highlight>
              </a:rPr>
              <a:t>[</a:t>
            </a:r>
            <a:r>
              <a:rPr lang="en-US" sz="1600" dirty="0">
                <a:solidFill>
                  <a:srgbClr val="FF8000"/>
                </a:solidFill>
                <a:highlight>
                  <a:srgbClr val="FFFFFF"/>
                </a:highlight>
              </a:rPr>
              <a:t>3</a:t>
            </a:r>
            <a:r>
              <a:rPr lang="en-US" sz="1600" b="1" dirty="0">
                <a:solidFill>
                  <a:srgbClr val="000080"/>
                </a:solidFill>
                <a:highlight>
                  <a:srgbClr val="FFFFFF"/>
                </a:highlight>
              </a:rPr>
              <a:t>];</a:t>
            </a:r>
            <a:endParaRPr lang="en-US" sz="1600" dirty="0">
              <a:solidFill>
                <a:srgbClr val="000000"/>
              </a:solidFill>
              <a:highlight>
                <a:srgbClr val="FFFFFF"/>
              </a:highlight>
            </a:endParaRPr>
          </a:p>
          <a:p>
            <a:endParaRPr lang="ro-RO" sz="1600" dirty="0">
              <a:solidFill>
                <a:srgbClr val="000000"/>
              </a:solidFill>
              <a:highlight>
                <a:srgbClr val="FFFFFF"/>
              </a:highlight>
            </a:endParaRPr>
          </a:p>
          <a:p>
            <a:r>
              <a:rPr lang="en-US" sz="1600" dirty="0">
                <a:solidFill>
                  <a:srgbClr val="8000FF"/>
                </a:solidFill>
                <a:highlight>
                  <a:srgbClr val="FFFFFF"/>
                </a:highlight>
              </a:rPr>
              <a:t>public</a:t>
            </a:r>
            <a:r>
              <a:rPr lang="en-US" sz="1600" dirty="0">
                <a:solidFill>
                  <a:srgbClr val="000000"/>
                </a:solidFill>
                <a:highlight>
                  <a:srgbClr val="FFFFFF"/>
                </a:highlight>
              </a:rPr>
              <a:t> </a:t>
            </a:r>
            <a:r>
              <a:rPr lang="en-US" sz="1600" dirty="0">
                <a:solidFill>
                  <a:srgbClr val="8000FF"/>
                </a:solidFill>
                <a:highlight>
                  <a:srgbClr val="FFFFFF"/>
                </a:highlight>
              </a:rPr>
              <a:t>static</a:t>
            </a:r>
            <a:r>
              <a:rPr lang="en-US" sz="1600" dirty="0">
                <a:solidFill>
                  <a:srgbClr val="000000"/>
                </a:solidFill>
                <a:highlight>
                  <a:srgbClr val="FFFFFF"/>
                </a:highlight>
              </a:rPr>
              <a:t> </a:t>
            </a:r>
            <a:r>
              <a:rPr lang="en-US" sz="1600" dirty="0">
                <a:solidFill>
                  <a:srgbClr val="8000FF"/>
                </a:solidFill>
                <a:highlight>
                  <a:srgbClr val="FFFFFF"/>
                </a:highlight>
              </a:rPr>
              <a:t>void</a:t>
            </a:r>
            <a:r>
              <a:rPr lang="en-US" sz="1600" dirty="0">
                <a:solidFill>
                  <a:srgbClr val="000000"/>
                </a:solidFill>
                <a:highlight>
                  <a:srgbClr val="FFFFFF"/>
                </a:highlight>
              </a:rPr>
              <a:t> main</a:t>
            </a:r>
            <a:r>
              <a:rPr lang="en-US" sz="1600" b="1" dirty="0">
                <a:solidFill>
                  <a:srgbClr val="000080"/>
                </a:solidFill>
                <a:highlight>
                  <a:srgbClr val="FFFFFF"/>
                </a:highlight>
              </a:rPr>
              <a:t>(</a:t>
            </a:r>
            <a:r>
              <a:rPr lang="en-US" sz="1600" dirty="0">
                <a:solidFill>
                  <a:srgbClr val="000000"/>
                </a:solidFill>
                <a:highlight>
                  <a:srgbClr val="FFFFFF"/>
                </a:highlight>
              </a:rPr>
              <a:t> String </a:t>
            </a:r>
            <a:r>
              <a:rPr lang="en-US" sz="1600" dirty="0" err="1">
                <a:solidFill>
                  <a:srgbClr val="000000"/>
                </a:solidFill>
                <a:highlight>
                  <a:srgbClr val="FFFFFF"/>
                </a:highlight>
              </a:rPr>
              <a:t>args</a:t>
            </a:r>
            <a:r>
              <a:rPr lang="en-US" sz="1600" b="1" dirty="0">
                <a:solidFill>
                  <a:srgbClr val="000080"/>
                </a:solidFill>
                <a:highlight>
                  <a:srgbClr val="FFFFFF"/>
                </a:highlight>
              </a:rPr>
              <a:t>[]</a:t>
            </a:r>
            <a:r>
              <a:rPr lang="en-US" sz="1600" dirty="0">
                <a:solidFill>
                  <a:srgbClr val="000000"/>
                </a:solidFill>
                <a:highlight>
                  <a:srgbClr val="FFFFFF"/>
                </a:highlight>
              </a:rPr>
              <a:t> </a:t>
            </a:r>
            <a:r>
              <a:rPr lang="en-US" sz="1600" b="1" dirty="0">
                <a:solidFill>
                  <a:srgbClr val="000080"/>
                </a:solidFill>
                <a:highlight>
                  <a:srgbClr val="FFFFFF"/>
                </a:highlight>
              </a:rPr>
              <a:t>)</a:t>
            </a:r>
            <a:r>
              <a:rPr lang="en-US" sz="1600" dirty="0">
                <a:solidFill>
                  <a:srgbClr val="000000"/>
                </a:solidFill>
                <a:highlight>
                  <a:srgbClr val="FFFFFF"/>
                </a:highlight>
              </a:rPr>
              <a:t> </a:t>
            </a:r>
            <a:r>
              <a:rPr lang="en-US" sz="1600" b="1" dirty="0">
                <a:solidFill>
                  <a:srgbClr val="000080"/>
                </a:solidFill>
                <a:highlight>
                  <a:srgbClr val="FFFFFF"/>
                </a:highlight>
              </a:rPr>
              <a:t>{</a:t>
            </a:r>
            <a:endParaRPr lang="en-US" sz="1600" dirty="0">
              <a:solidFill>
                <a:srgbClr val="000000"/>
              </a:solidFill>
              <a:highlight>
                <a:srgbClr val="FFFFFF"/>
              </a:highlight>
            </a:endParaRPr>
          </a:p>
          <a:p>
            <a:r>
              <a:rPr lang="nn-NO" sz="1600" b="1" dirty="0">
                <a:solidFill>
                  <a:srgbClr val="0000FF"/>
                </a:solidFill>
                <a:highlight>
                  <a:srgbClr val="FFFFFF"/>
                </a:highlight>
              </a:rPr>
              <a:t>for</a:t>
            </a:r>
            <a:r>
              <a:rPr lang="nn-NO" sz="1600" b="1" dirty="0">
                <a:solidFill>
                  <a:srgbClr val="000080"/>
                </a:solidFill>
                <a:highlight>
                  <a:srgbClr val="FFFFFF"/>
                </a:highlight>
              </a:rPr>
              <a:t>(</a:t>
            </a:r>
            <a:r>
              <a:rPr lang="nn-NO" sz="1600" dirty="0">
                <a:solidFill>
                  <a:srgbClr val="000000"/>
                </a:solidFill>
                <a:highlight>
                  <a:srgbClr val="FFFFFF"/>
                </a:highlight>
              </a:rPr>
              <a:t> </a:t>
            </a:r>
            <a:r>
              <a:rPr lang="nn-NO" sz="1600" dirty="0">
                <a:solidFill>
                  <a:srgbClr val="8000FF"/>
                </a:solidFill>
                <a:highlight>
                  <a:srgbClr val="FFFFFF"/>
                </a:highlight>
              </a:rPr>
              <a:t>int</a:t>
            </a:r>
            <a:r>
              <a:rPr lang="nn-NO" sz="1600" dirty="0">
                <a:solidFill>
                  <a:srgbClr val="000000"/>
                </a:solidFill>
                <a:highlight>
                  <a:srgbClr val="FFFFFF"/>
                </a:highlight>
              </a:rPr>
              <a:t> i </a:t>
            </a:r>
            <a:r>
              <a:rPr lang="nn-NO" sz="1600" b="1" dirty="0">
                <a:solidFill>
                  <a:srgbClr val="000080"/>
                </a:solidFill>
                <a:highlight>
                  <a:srgbClr val="FFFFFF"/>
                </a:highlight>
              </a:rPr>
              <a:t>=</a:t>
            </a:r>
            <a:r>
              <a:rPr lang="nn-NO" sz="1600" dirty="0">
                <a:solidFill>
                  <a:srgbClr val="000000"/>
                </a:solidFill>
                <a:highlight>
                  <a:srgbClr val="FFFFFF"/>
                </a:highlight>
              </a:rPr>
              <a:t> </a:t>
            </a:r>
            <a:r>
              <a:rPr lang="nn-NO" sz="1600" dirty="0">
                <a:solidFill>
                  <a:srgbClr val="FF8000"/>
                </a:solidFill>
                <a:highlight>
                  <a:srgbClr val="FFFFFF"/>
                </a:highlight>
              </a:rPr>
              <a:t>0</a:t>
            </a:r>
            <a:r>
              <a:rPr lang="nn-NO" sz="1600" b="1" dirty="0">
                <a:solidFill>
                  <a:srgbClr val="000080"/>
                </a:solidFill>
                <a:highlight>
                  <a:srgbClr val="FFFFFF"/>
                </a:highlight>
              </a:rPr>
              <a:t>;</a:t>
            </a:r>
            <a:r>
              <a:rPr lang="nn-NO" sz="1600" dirty="0">
                <a:solidFill>
                  <a:srgbClr val="000000"/>
                </a:solidFill>
                <a:highlight>
                  <a:srgbClr val="FFFFFF"/>
                </a:highlight>
              </a:rPr>
              <a:t> i </a:t>
            </a:r>
            <a:r>
              <a:rPr lang="nn-NO" sz="1600" b="1" dirty="0">
                <a:solidFill>
                  <a:srgbClr val="000080"/>
                </a:solidFill>
                <a:highlight>
                  <a:srgbClr val="FFFFFF"/>
                </a:highlight>
              </a:rPr>
              <a:t>&lt;</a:t>
            </a:r>
            <a:r>
              <a:rPr lang="nn-NO" sz="1600" dirty="0">
                <a:solidFill>
                  <a:srgbClr val="000000"/>
                </a:solidFill>
                <a:highlight>
                  <a:srgbClr val="FFFFFF"/>
                </a:highlight>
              </a:rPr>
              <a:t> args</a:t>
            </a:r>
            <a:r>
              <a:rPr lang="nn-NO" sz="1600" b="1" dirty="0">
                <a:solidFill>
                  <a:srgbClr val="000080"/>
                </a:solidFill>
                <a:highlight>
                  <a:srgbClr val="FFFFFF"/>
                </a:highlight>
              </a:rPr>
              <a:t>.</a:t>
            </a:r>
            <a:r>
              <a:rPr lang="nn-NO" sz="1600" dirty="0">
                <a:solidFill>
                  <a:srgbClr val="000000"/>
                </a:solidFill>
                <a:highlight>
                  <a:srgbClr val="FFFFFF"/>
                </a:highlight>
              </a:rPr>
              <a:t>length </a:t>
            </a:r>
            <a:r>
              <a:rPr lang="nn-NO" sz="1600" b="1" dirty="0">
                <a:solidFill>
                  <a:srgbClr val="000080"/>
                </a:solidFill>
                <a:highlight>
                  <a:srgbClr val="FFFFFF"/>
                </a:highlight>
              </a:rPr>
              <a:t>&amp;&amp;</a:t>
            </a:r>
            <a:r>
              <a:rPr lang="nn-NO" sz="1600" dirty="0">
                <a:solidFill>
                  <a:srgbClr val="000000"/>
                </a:solidFill>
                <a:highlight>
                  <a:srgbClr val="FFFFFF"/>
                </a:highlight>
              </a:rPr>
              <a:t> i </a:t>
            </a:r>
            <a:r>
              <a:rPr lang="nn-NO" sz="1600" b="1" dirty="0">
                <a:solidFill>
                  <a:srgbClr val="000080"/>
                </a:solidFill>
                <a:highlight>
                  <a:srgbClr val="FFFFFF"/>
                </a:highlight>
              </a:rPr>
              <a:t>&lt;</a:t>
            </a:r>
            <a:r>
              <a:rPr lang="nn-NO" sz="1600" dirty="0">
                <a:solidFill>
                  <a:srgbClr val="000000"/>
                </a:solidFill>
                <a:highlight>
                  <a:srgbClr val="FFFFFF"/>
                </a:highlight>
              </a:rPr>
              <a:t>   </a:t>
            </a:r>
            <a:r>
              <a:rPr lang="nn-NO" sz="1600" dirty="0">
                <a:solidFill>
                  <a:srgbClr val="FF8000"/>
                </a:solidFill>
                <a:highlight>
                  <a:srgbClr val="FFFFFF"/>
                </a:highlight>
              </a:rPr>
              <a:t>3</a:t>
            </a:r>
            <a:r>
              <a:rPr lang="nn-NO" sz="1600" b="1" dirty="0">
                <a:solidFill>
                  <a:srgbClr val="000080"/>
                </a:solidFill>
                <a:highlight>
                  <a:srgbClr val="FFFFFF"/>
                </a:highlight>
              </a:rPr>
              <a:t>;</a:t>
            </a:r>
            <a:r>
              <a:rPr lang="nn-NO" sz="1600" dirty="0">
                <a:solidFill>
                  <a:srgbClr val="000000"/>
                </a:solidFill>
                <a:highlight>
                  <a:srgbClr val="FFFFFF"/>
                </a:highlight>
              </a:rPr>
              <a:t> i</a:t>
            </a:r>
            <a:r>
              <a:rPr lang="nn-NO" sz="1600" b="1" dirty="0">
                <a:solidFill>
                  <a:srgbClr val="000080"/>
                </a:solidFill>
                <a:highlight>
                  <a:srgbClr val="FFFFFF"/>
                </a:highlight>
              </a:rPr>
              <a:t>++</a:t>
            </a:r>
            <a:r>
              <a:rPr lang="nn-NO" sz="1600" dirty="0">
                <a:solidFill>
                  <a:srgbClr val="000000"/>
                </a:solidFill>
                <a:highlight>
                  <a:srgbClr val="FFFFFF"/>
                </a:highlight>
              </a:rPr>
              <a:t> </a:t>
            </a:r>
            <a:r>
              <a:rPr lang="nn-NO" sz="1600" b="1" dirty="0">
                <a:solidFill>
                  <a:srgbClr val="000080"/>
                </a:solidFill>
                <a:highlight>
                  <a:srgbClr val="FFFFFF"/>
                </a:highlight>
              </a:rPr>
              <a:t>)</a:t>
            </a:r>
            <a:r>
              <a:rPr lang="nn-NO" sz="1600" dirty="0">
                <a:solidFill>
                  <a:srgbClr val="000000"/>
                </a:solidFill>
                <a:highlight>
                  <a:srgbClr val="FFFFFF"/>
                </a:highlight>
              </a:rPr>
              <a:t> </a:t>
            </a:r>
            <a:r>
              <a:rPr lang="nn-NO" sz="1600" b="1" dirty="0">
                <a:solidFill>
                  <a:srgbClr val="000080"/>
                </a:solidFill>
                <a:highlight>
                  <a:srgbClr val="FFFFFF"/>
                </a:highlight>
              </a:rPr>
              <a:t>{</a:t>
            </a:r>
            <a:endParaRPr lang="nn-NO" sz="1600" dirty="0">
              <a:solidFill>
                <a:srgbClr val="000000"/>
              </a:solidFill>
              <a:highlight>
                <a:srgbClr val="FFFFFF"/>
              </a:highlight>
            </a:endParaRPr>
          </a:p>
          <a:p>
            <a:r>
              <a:rPr lang="ro-RO" sz="1600" b="1" dirty="0" err="1">
                <a:solidFill>
                  <a:srgbClr val="0000FF"/>
                </a:solidFill>
                <a:highlight>
                  <a:srgbClr val="FFFFFF"/>
                </a:highlight>
              </a:rPr>
              <a:t>if</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dirty="0" err="1">
                <a:solidFill>
                  <a:srgbClr val="000000"/>
                </a:solidFill>
                <a:highlight>
                  <a:srgbClr val="FFFFFF"/>
                </a:highlight>
              </a:rPr>
              <a:t>args</a:t>
            </a:r>
            <a:r>
              <a:rPr lang="ro-RO" sz="1600" b="1" dirty="0">
                <a:solidFill>
                  <a:srgbClr val="000080"/>
                </a:solidFill>
                <a:highlight>
                  <a:srgbClr val="FFFFFF"/>
                </a:highlight>
              </a:rPr>
              <a:t>[</a:t>
            </a:r>
            <a:r>
              <a:rPr lang="ro-RO" sz="1600" dirty="0">
                <a:solidFill>
                  <a:srgbClr val="000000"/>
                </a:solidFill>
                <a:highlight>
                  <a:srgbClr val="FFFFFF"/>
                </a:highlight>
              </a:rPr>
              <a:t>i</a:t>
            </a:r>
            <a:r>
              <a:rPr lang="ro-RO" sz="1600" b="1" dirty="0">
                <a:solidFill>
                  <a:srgbClr val="000080"/>
                </a:solidFill>
                <a:highlight>
                  <a:srgbClr val="FFFFFF"/>
                </a:highlight>
              </a:rPr>
              <a:t>].</a:t>
            </a:r>
            <a:r>
              <a:rPr lang="ro-RO" sz="1600" dirty="0" err="1">
                <a:solidFill>
                  <a:srgbClr val="000000"/>
                </a:solidFill>
                <a:highlight>
                  <a:srgbClr val="FFFFFF"/>
                </a:highlight>
              </a:rPr>
              <a:t>equalsIgnoreCase</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dirty="0">
                <a:solidFill>
                  <a:srgbClr val="808080"/>
                </a:solidFill>
                <a:highlight>
                  <a:srgbClr val="FFFFFF"/>
                </a:highlight>
              </a:rPr>
              <a:t>"alb"</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dirty="0" err="1">
                <a:solidFill>
                  <a:srgbClr val="000000"/>
                </a:solidFill>
                <a:highlight>
                  <a:srgbClr val="FFFFFF"/>
                </a:highlight>
              </a:rPr>
              <a:t>palarii</a:t>
            </a:r>
            <a:r>
              <a:rPr lang="ro-RO" sz="1600" b="1" dirty="0">
                <a:solidFill>
                  <a:srgbClr val="000080"/>
                </a:solidFill>
                <a:highlight>
                  <a:srgbClr val="FFFFFF"/>
                </a:highlight>
              </a:rPr>
              <a:t>[</a:t>
            </a:r>
            <a:r>
              <a:rPr lang="ro-RO" sz="1600" dirty="0">
                <a:solidFill>
                  <a:srgbClr val="000000"/>
                </a:solidFill>
                <a:highlight>
                  <a:srgbClr val="FFFFFF"/>
                </a:highlight>
              </a:rPr>
              <a:t>i</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dirty="0" err="1">
                <a:solidFill>
                  <a:srgbClr val="000000"/>
                </a:solidFill>
                <a:highlight>
                  <a:srgbClr val="FFFFFF"/>
                </a:highlight>
              </a:rPr>
              <a:t>Color</a:t>
            </a:r>
            <a:r>
              <a:rPr lang="ro-RO" sz="1600" b="1" dirty="0" err="1">
                <a:solidFill>
                  <a:srgbClr val="000080"/>
                </a:solidFill>
                <a:highlight>
                  <a:srgbClr val="FFFFFF"/>
                </a:highlight>
              </a:rPr>
              <a:t>.</a:t>
            </a:r>
            <a:r>
              <a:rPr lang="ro-RO" sz="1600" dirty="0" err="1">
                <a:solidFill>
                  <a:srgbClr val="000000"/>
                </a:solidFill>
                <a:highlight>
                  <a:srgbClr val="FFFFFF"/>
                </a:highlight>
              </a:rPr>
              <a:t>white</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err="1">
                <a:solidFill>
                  <a:srgbClr val="0000FF"/>
                </a:solidFill>
                <a:highlight>
                  <a:srgbClr val="FFFFFF"/>
                </a:highlight>
              </a:rPr>
              <a:t>else</a:t>
            </a:r>
            <a:r>
              <a:rPr lang="ro-RO" sz="1600" dirty="0">
                <a:solidFill>
                  <a:srgbClr val="000000"/>
                </a:solidFill>
                <a:highlight>
                  <a:srgbClr val="FFFFFF"/>
                </a:highlight>
              </a:rPr>
              <a:t> </a:t>
            </a:r>
            <a:r>
              <a:rPr lang="ro-RO" sz="1600" b="1" dirty="0" err="1">
                <a:solidFill>
                  <a:srgbClr val="0000FF"/>
                </a:solidFill>
                <a:highlight>
                  <a:srgbClr val="FFFFFF"/>
                </a:highlight>
              </a:rPr>
              <a:t>if</a:t>
            </a:r>
            <a:r>
              <a:rPr lang="ro-RO" sz="1600" b="1" dirty="0">
                <a:solidFill>
                  <a:srgbClr val="000080"/>
                </a:solidFill>
                <a:highlight>
                  <a:srgbClr val="FFFFFF"/>
                </a:highlight>
              </a:rPr>
              <a:t>(</a:t>
            </a:r>
            <a:r>
              <a:rPr lang="ro-RO" sz="1600" dirty="0" err="1">
                <a:solidFill>
                  <a:srgbClr val="000000"/>
                </a:solidFill>
                <a:highlight>
                  <a:srgbClr val="FFFFFF"/>
                </a:highlight>
              </a:rPr>
              <a:t>args</a:t>
            </a:r>
            <a:r>
              <a:rPr lang="ro-RO" sz="1600" b="1" dirty="0">
                <a:solidFill>
                  <a:srgbClr val="000080"/>
                </a:solidFill>
                <a:highlight>
                  <a:srgbClr val="FFFFFF"/>
                </a:highlight>
              </a:rPr>
              <a:t>[</a:t>
            </a:r>
            <a:r>
              <a:rPr lang="ro-RO" sz="1600" dirty="0">
                <a:solidFill>
                  <a:srgbClr val="000000"/>
                </a:solidFill>
                <a:highlight>
                  <a:srgbClr val="FFFFFF"/>
                </a:highlight>
              </a:rPr>
              <a:t>i</a:t>
            </a:r>
            <a:r>
              <a:rPr lang="ro-RO" sz="1600" b="1" dirty="0">
                <a:solidFill>
                  <a:srgbClr val="000080"/>
                </a:solidFill>
                <a:highlight>
                  <a:srgbClr val="FFFFFF"/>
                </a:highlight>
              </a:rPr>
              <a:t>].</a:t>
            </a:r>
            <a:r>
              <a:rPr lang="ro-RO" sz="1600" dirty="0" err="1">
                <a:solidFill>
                  <a:srgbClr val="000000"/>
                </a:solidFill>
                <a:highlight>
                  <a:srgbClr val="FFFFFF"/>
                </a:highlight>
              </a:rPr>
              <a:t>equalsIgnoreCase</a:t>
            </a:r>
            <a:r>
              <a:rPr lang="ro-RO" sz="1600" b="1" dirty="0">
                <a:solidFill>
                  <a:srgbClr val="000080"/>
                </a:solidFill>
                <a:highlight>
                  <a:srgbClr val="FFFFFF"/>
                </a:highlight>
              </a:rPr>
              <a:t>(</a:t>
            </a:r>
            <a:r>
              <a:rPr lang="ro-RO" sz="1600" dirty="0">
                <a:solidFill>
                  <a:srgbClr val="808080"/>
                </a:solidFill>
                <a:highlight>
                  <a:srgbClr val="FFFFFF"/>
                </a:highlight>
              </a:rPr>
              <a:t>"negru"</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dirty="0" err="1">
                <a:solidFill>
                  <a:srgbClr val="000000"/>
                </a:solidFill>
                <a:highlight>
                  <a:srgbClr val="FFFFFF"/>
                </a:highlight>
              </a:rPr>
              <a:t>palarii</a:t>
            </a:r>
            <a:r>
              <a:rPr lang="ro-RO" sz="1600" b="1" dirty="0">
                <a:solidFill>
                  <a:srgbClr val="000080"/>
                </a:solidFill>
                <a:highlight>
                  <a:srgbClr val="FFFFFF"/>
                </a:highlight>
              </a:rPr>
              <a:t>[</a:t>
            </a:r>
            <a:r>
              <a:rPr lang="ro-RO" sz="1600" dirty="0">
                <a:solidFill>
                  <a:srgbClr val="000000"/>
                </a:solidFill>
                <a:highlight>
                  <a:srgbClr val="FFFFFF"/>
                </a:highlight>
              </a:rPr>
              <a:t>i</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dirty="0" err="1">
                <a:solidFill>
                  <a:srgbClr val="000000"/>
                </a:solidFill>
                <a:highlight>
                  <a:srgbClr val="FFFFFF"/>
                </a:highlight>
              </a:rPr>
              <a:t>Color</a:t>
            </a:r>
            <a:r>
              <a:rPr lang="ro-RO" sz="1600" b="1" dirty="0" err="1">
                <a:solidFill>
                  <a:srgbClr val="000080"/>
                </a:solidFill>
                <a:highlight>
                  <a:srgbClr val="FFFFFF"/>
                </a:highlight>
              </a:rPr>
              <a:t>.</a:t>
            </a:r>
            <a:r>
              <a:rPr lang="ro-RO" sz="1600" dirty="0" err="1">
                <a:solidFill>
                  <a:srgbClr val="000000"/>
                </a:solidFill>
                <a:highlight>
                  <a:srgbClr val="FFFFFF"/>
                </a:highlight>
              </a:rPr>
              <a:t>black</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endParaRPr lang="ro-RO" sz="1600" dirty="0">
              <a:solidFill>
                <a:srgbClr val="000000"/>
              </a:solidFill>
              <a:highlight>
                <a:srgbClr val="FFFFFF"/>
              </a:highlight>
            </a:endParaRPr>
          </a:p>
          <a:p>
            <a:r>
              <a:rPr lang="nn-NO" sz="1600" b="1" dirty="0">
                <a:solidFill>
                  <a:srgbClr val="0000FF"/>
                </a:solidFill>
                <a:highlight>
                  <a:srgbClr val="FFFFFF"/>
                </a:highlight>
              </a:rPr>
              <a:t>for</a:t>
            </a:r>
            <a:r>
              <a:rPr lang="nn-NO" sz="1600" b="1" dirty="0">
                <a:solidFill>
                  <a:srgbClr val="000080"/>
                </a:solidFill>
                <a:highlight>
                  <a:srgbClr val="FFFFFF"/>
                </a:highlight>
              </a:rPr>
              <a:t>(</a:t>
            </a:r>
            <a:r>
              <a:rPr lang="nn-NO" sz="1600" dirty="0">
                <a:solidFill>
                  <a:srgbClr val="000000"/>
                </a:solidFill>
                <a:highlight>
                  <a:srgbClr val="FFFFFF"/>
                </a:highlight>
              </a:rPr>
              <a:t> </a:t>
            </a:r>
            <a:r>
              <a:rPr lang="nn-NO" sz="1600" dirty="0">
                <a:solidFill>
                  <a:srgbClr val="8000FF"/>
                </a:solidFill>
                <a:highlight>
                  <a:srgbClr val="FFFFFF"/>
                </a:highlight>
              </a:rPr>
              <a:t>int</a:t>
            </a:r>
            <a:r>
              <a:rPr lang="nn-NO" sz="1600" dirty="0">
                <a:solidFill>
                  <a:srgbClr val="000000"/>
                </a:solidFill>
                <a:highlight>
                  <a:srgbClr val="FFFFFF"/>
                </a:highlight>
              </a:rPr>
              <a:t> i </a:t>
            </a:r>
            <a:r>
              <a:rPr lang="nn-NO" sz="1600" b="1" dirty="0">
                <a:solidFill>
                  <a:srgbClr val="000080"/>
                </a:solidFill>
                <a:highlight>
                  <a:srgbClr val="FFFFFF"/>
                </a:highlight>
              </a:rPr>
              <a:t>=</a:t>
            </a:r>
            <a:r>
              <a:rPr lang="nn-NO" sz="1600" dirty="0">
                <a:solidFill>
                  <a:srgbClr val="000000"/>
                </a:solidFill>
                <a:highlight>
                  <a:srgbClr val="FFFFFF"/>
                </a:highlight>
              </a:rPr>
              <a:t> </a:t>
            </a:r>
            <a:r>
              <a:rPr lang="nn-NO" sz="1600" dirty="0">
                <a:solidFill>
                  <a:srgbClr val="FF8000"/>
                </a:solidFill>
                <a:highlight>
                  <a:srgbClr val="FFFFFF"/>
                </a:highlight>
              </a:rPr>
              <a:t>0</a:t>
            </a:r>
            <a:r>
              <a:rPr lang="nn-NO" sz="1600" b="1" dirty="0">
                <a:solidFill>
                  <a:srgbClr val="000080"/>
                </a:solidFill>
                <a:highlight>
                  <a:srgbClr val="FFFFFF"/>
                </a:highlight>
              </a:rPr>
              <a:t>;</a:t>
            </a:r>
            <a:r>
              <a:rPr lang="nn-NO" sz="1600" dirty="0">
                <a:solidFill>
                  <a:srgbClr val="000000"/>
                </a:solidFill>
                <a:highlight>
                  <a:srgbClr val="FFFFFF"/>
                </a:highlight>
              </a:rPr>
              <a:t> i </a:t>
            </a:r>
            <a:r>
              <a:rPr lang="nn-NO" sz="1600" b="1" dirty="0">
                <a:solidFill>
                  <a:srgbClr val="000080"/>
                </a:solidFill>
                <a:highlight>
                  <a:srgbClr val="FFFFFF"/>
                </a:highlight>
              </a:rPr>
              <a:t>&lt;</a:t>
            </a:r>
            <a:r>
              <a:rPr lang="nn-NO" sz="1600" dirty="0">
                <a:solidFill>
                  <a:srgbClr val="000000"/>
                </a:solidFill>
                <a:highlight>
                  <a:srgbClr val="FFFFFF"/>
                </a:highlight>
              </a:rPr>
              <a:t> </a:t>
            </a:r>
            <a:r>
              <a:rPr lang="nn-NO" sz="1600" dirty="0">
                <a:solidFill>
                  <a:srgbClr val="FF8000"/>
                </a:solidFill>
                <a:highlight>
                  <a:srgbClr val="FFFFFF"/>
                </a:highlight>
              </a:rPr>
              <a:t>3</a:t>
            </a:r>
            <a:r>
              <a:rPr lang="nn-NO" sz="1600" b="1" dirty="0">
                <a:solidFill>
                  <a:srgbClr val="000080"/>
                </a:solidFill>
                <a:highlight>
                  <a:srgbClr val="FFFFFF"/>
                </a:highlight>
              </a:rPr>
              <a:t>;</a:t>
            </a:r>
            <a:r>
              <a:rPr lang="nn-NO" sz="1600" dirty="0">
                <a:solidFill>
                  <a:srgbClr val="000000"/>
                </a:solidFill>
                <a:highlight>
                  <a:srgbClr val="FFFFFF"/>
                </a:highlight>
              </a:rPr>
              <a:t> i</a:t>
            </a:r>
            <a:r>
              <a:rPr lang="nn-NO" sz="1600" b="1" dirty="0">
                <a:solidFill>
                  <a:srgbClr val="000080"/>
                </a:solidFill>
                <a:highlight>
                  <a:srgbClr val="FFFFFF"/>
                </a:highlight>
              </a:rPr>
              <a:t>++</a:t>
            </a:r>
            <a:r>
              <a:rPr lang="nn-NO" sz="1600" dirty="0">
                <a:solidFill>
                  <a:srgbClr val="000000"/>
                </a:solidFill>
                <a:highlight>
                  <a:srgbClr val="FFFFFF"/>
                </a:highlight>
              </a:rPr>
              <a:t> </a:t>
            </a:r>
            <a:r>
              <a:rPr lang="nn-NO" sz="1600" b="1" dirty="0">
                <a:solidFill>
                  <a:srgbClr val="000080"/>
                </a:solidFill>
                <a:highlight>
                  <a:srgbClr val="FFFFFF"/>
                </a:highlight>
              </a:rPr>
              <a:t>)</a:t>
            </a:r>
            <a:r>
              <a:rPr lang="nn-NO" sz="1600" dirty="0">
                <a:solidFill>
                  <a:srgbClr val="000000"/>
                </a:solidFill>
                <a:highlight>
                  <a:srgbClr val="FFFFFF"/>
                </a:highlight>
              </a:rPr>
              <a:t> </a:t>
            </a:r>
            <a:r>
              <a:rPr lang="nn-NO" sz="1600" b="1" dirty="0">
                <a:solidFill>
                  <a:srgbClr val="000080"/>
                </a:solidFill>
                <a:highlight>
                  <a:srgbClr val="FFFFFF"/>
                </a:highlight>
              </a:rPr>
              <a:t>{</a:t>
            </a:r>
            <a:endParaRPr lang="nn-NO" sz="1600" dirty="0">
              <a:solidFill>
                <a:srgbClr val="000000"/>
              </a:solidFill>
              <a:highlight>
                <a:srgbClr val="FFFFFF"/>
              </a:highlight>
            </a:endParaRPr>
          </a:p>
          <a:p>
            <a:r>
              <a:rPr lang="pl-PL" sz="1600" dirty="0">
                <a:solidFill>
                  <a:srgbClr val="000000"/>
                </a:solidFill>
                <a:highlight>
                  <a:srgbClr val="FFFFFF"/>
                </a:highlight>
              </a:rPr>
              <a:t>filozofi</a:t>
            </a:r>
            <a:r>
              <a:rPr lang="pl-PL" sz="1600" b="1" dirty="0">
                <a:solidFill>
                  <a:srgbClr val="000080"/>
                </a:solidFill>
                <a:highlight>
                  <a:srgbClr val="FFFFFF"/>
                </a:highlight>
              </a:rPr>
              <a:t>[</a:t>
            </a:r>
            <a:r>
              <a:rPr lang="pl-PL" sz="1600" dirty="0">
                <a:solidFill>
                  <a:srgbClr val="000000"/>
                </a:solidFill>
                <a:highlight>
                  <a:srgbClr val="FFFFFF"/>
                </a:highlight>
              </a:rPr>
              <a:t>i</a:t>
            </a:r>
            <a:r>
              <a:rPr lang="pl-PL" sz="1600" b="1" dirty="0">
                <a:solidFill>
                  <a:srgbClr val="000080"/>
                </a:solidFill>
                <a:highlight>
                  <a:srgbClr val="FFFFFF"/>
                </a:highlight>
              </a:rPr>
              <a:t>]</a:t>
            </a:r>
            <a:r>
              <a:rPr lang="pl-PL" sz="1600" dirty="0">
                <a:solidFill>
                  <a:srgbClr val="000000"/>
                </a:solidFill>
                <a:highlight>
                  <a:srgbClr val="FFFFFF"/>
                </a:highlight>
              </a:rPr>
              <a:t> </a:t>
            </a:r>
            <a:r>
              <a:rPr lang="pl-PL" sz="1600" b="1" dirty="0">
                <a:solidFill>
                  <a:srgbClr val="000080"/>
                </a:solidFill>
                <a:highlight>
                  <a:srgbClr val="FFFFFF"/>
                </a:highlight>
              </a:rPr>
              <a:t>=</a:t>
            </a:r>
            <a:r>
              <a:rPr lang="pl-PL" sz="1600" dirty="0">
                <a:solidFill>
                  <a:srgbClr val="000000"/>
                </a:solidFill>
                <a:highlight>
                  <a:srgbClr val="FFFFFF"/>
                </a:highlight>
              </a:rPr>
              <a:t> </a:t>
            </a:r>
            <a:r>
              <a:rPr lang="pl-PL" sz="1600" b="1" dirty="0">
                <a:solidFill>
                  <a:srgbClr val="0000FF"/>
                </a:solidFill>
                <a:highlight>
                  <a:srgbClr val="FFFFFF"/>
                </a:highlight>
              </a:rPr>
              <a:t>new</a:t>
            </a:r>
            <a:r>
              <a:rPr lang="pl-PL" sz="1600" dirty="0">
                <a:solidFill>
                  <a:srgbClr val="000000"/>
                </a:solidFill>
                <a:highlight>
                  <a:srgbClr val="FFFFFF"/>
                </a:highlight>
              </a:rPr>
              <a:t> Filozof</a:t>
            </a:r>
            <a:r>
              <a:rPr lang="pl-PL" sz="1600" b="1" dirty="0">
                <a:solidFill>
                  <a:srgbClr val="000080"/>
                </a:solidFill>
                <a:highlight>
                  <a:srgbClr val="FFFFFF"/>
                </a:highlight>
              </a:rPr>
              <a:t>(</a:t>
            </a:r>
            <a:r>
              <a:rPr lang="pl-PL" sz="1600" dirty="0">
                <a:solidFill>
                  <a:srgbClr val="000000"/>
                </a:solidFill>
                <a:highlight>
                  <a:srgbClr val="FFFFFF"/>
                </a:highlight>
              </a:rPr>
              <a:t> </a:t>
            </a:r>
            <a:r>
              <a:rPr lang="pl-PL" sz="1600" dirty="0">
                <a:solidFill>
                  <a:srgbClr val="808080"/>
                </a:solidFill>
                <a:highlight>
                  <a:srgbClr val="FFFFFF"/>
                </a:highlight>
              </a:rPr>
              <a:t>"Filozoful "</a:t>
            </a:r>
            <a:r>
              <a:rPr lang="pl-PL" sz="1600" dirty="0">
                <a:solidFill>
                  <a:srgbClr val="000000"/>
                </a:solidFill>
                <a:highlight>
                  <a:srgbClr val="FFFFFF"/>
                </a:highlight>
              </a:rPr>
              <a:t> </a:t>
            </a:r>
            <a:r>
              <a:rPr lang="pl-PL" sz="1600" b="1" dirty="0">
                <a:solidFill>
                  <a:srgbClr val="000080"/>
                </a:solidFill>
                <a:highlight>
                  <a:srgbClr val="FFFFFF"/>
                </a:highlight>
              </a:rPr>
              <a:t>+</a:t>
            </a:r>
            <a:r>
              <a:rPr lang="pl-PL" sz="1600" dirty="0">
                <a:solidFill>
                  <a:srgbClr val="000000"/>
                </a:solidFill>
                <a:highlight>
                  <a:srgbClr val="FFFFFF"/>
                </a:highlight>
              </a:rPr>
              <a:t> </a:t>
            </a:r>
            <a:r>
              <a:rPr lang="pl-PL" sz="1600" b="1" dirty="0">
                <a:solidFill>
                  <a:srgbClr val="000080"/>
                </a:solidFill>
                <a:highlight>
                  <a:srgbClr val="FFFFFF"/>
                </a:highlight>
              </a:rPr>
              <a:t>(</a:t>
            </a:r>
            <a:r>
              <a:rPr lang="pl-PL" sz="1600" dirty="0">
                <a:solidFill>
                  <a:srgbClr val="000000"/>
                </a:solidFill>
                <a:highlight>
                  <a:srgbClr val="FFFFFF"/>
                </a:highlight>
              </a:rPr>
              <a:t> i </a:t>
            </a:r>
            <a:r>
              <a:rPr lang="pl-PL" sz="1600" b="1" dirty="0">
                <a:solidFill>
                  <a:srgbClr val="000080"/>
                </a:solidFill>
                <a:highlight>
                  <a:srgbClr val="FFFFFF"/>
                </a:highlight>
              </a:rPr>
              <a:t>+</a:t>
            </a:r>
            <a:r>
              <a:rPr lang="pl-PL" sz="1600" dirty="0">
                <a:solidFill>
                  <a:srgbClr val="000000"/>
                </a:solidFill>
                <a:highlight>
                  <a:srgbClr val="FFFFFF"/>
                </a:highlight>
              </a:rPr>
              <a:t> </a:t>
            </a:r>
            <a:r>
              <a:rPr lang="pl-PL" sz="1600" dirty="0">
                <a:solidFill>
                  <a:srgbClr val="FF8000"/>
                </a:solidFill>
                <a:highlight>
                  <a:srgbClr val="FFFFFF"/>
                </a:highlight>
              </a:rPr>
              <a:t>1</a:t>
            </a:r>
            <a:r>
              <a:rPr lang="pl-PL" sz="1600" dirty="0">
                <a:solidFill>
                  <a:srgbClr val="000000"/>
                </a:solidFill>
                <a:highlight>
                  <a:srgbClr val="FFFFFF"/>
                </a:highlight>
              </a:rPr>
              <a:t> </a:t>
            </a:r>
            <a:r>
              <a:rPr lang="pl-PL" sz="1600" b="1" dirty="0">
                <a:solidFill>
                  <a:srgbClr val="000080"/>
                </a:solidFill>
                <a:highlight>
                  <a:srgbClr val="FFFFFF"/>
                </a:highlight>
              </a:rPr>
              <a:t>)</a:t>
            </a:r>
            <a:r>
              <a:rPr lang="pl-PL" sz="1600" dirty="0">
                <a:solidFill>
                  <a:srgbClr val="000000"/>
                </a:solidFill>
                <a:highlight>
                  <a:srgbClr val="FFFFFF"/>
                </a:highlight>
              </a:rPr>
              <a:t> </a:t>
            </a:r>
            <a:r>
              <a:rPr lang="pl-PL" sz="1600" b="1" dirty="0">
                <a:solidFill>
                  <a:srgbClr val="000080"/>
                </a:solidFill>
                <a:highlight>
                  <a:srgbClr val="FFFFFF"/>
                </a:highlight>
              </a:rPr>
              <a:t>);</a:t>
            </a:r>
            <a:endParaRPr lang="pl-PL" sz="1600" dirty="0">
              <a:solidFill>
                <a:srgbClr val="000000"/>
              </a:solidFill>
              <a:highlight>
                <a:srgbClr val="FFFFFF"/>
              </a:highlight>
            </a:endParaRPr>
          </a:p>
          <a:p>
            <a:r>
              <a:rPr lang="ro-RO" sz="1600" b="1" dirty="0">
                <a:solidFill>
                  <a:srgbClr val="000080"/>
                </a:solidFill>
                <a:highlight>
                  <a:srgbClr val="FFFFFF"/>
                </a:highlight>
              </a:rPr>
              <a:t>}</a:t>
            </a:r>
            <a:endParaRPr lang="ro-RO" sz="1600" dirty="0">
              <a:solidFill>
                <a:srgbClr val="000000"/>
              </a:solidFill>
              <a:highlight>
                <a:srgbClr val="FFFFFF"/>
              </a:highlight>
            </a:endParaRPr>
          </a:p>
          <a:p>
            <a:r>
              <a:rPr lang="nn-NO" sz="1600" b="1" dirty="0">
                <a:solidFill>
                  <a:srgbClr val="0000FF"/>
                </a:solidFill>
                <a:highlight>
                  <a:srgbClr val="FFFFFF"/>
                </a:highlight>
              </a:rPr>
              <a:t>for</a:t>
            </a:r>
            <a:r>
              <a:rPr lang="nn-NO" sz="1600" b="1" dirty="0">
                <a:solidFill>
                  <a:srgbClr val="000080"/>
                </a:solidFill>
                <a:highlight>
                  <a:srgbClr val="FFFFFF"/>
                </a:highlight>
              </a:rPr>
              <a:t>(</a:t>
            </a:r>
            <a:r>
              <a:rPr lang="nn-NO" sz="1600" dirty="0">
                <a:solidFill>
                  <a:srgbClr val="000000"/>
                </a:solidFill>
                <a:highlight>
                  <a:srgbClr val="FFFFFF"/>
                </a:highlight>
              </a:rPr>
              <a:t> </a:t>
            </a:r>
            <a:r>
              <a:rPr lang="nn-NO" sz="1600" dirty="0">
                <a:solidFill>
                  <a:srgbClr val="8000FF"/>
                </a:solidFill>
                <a:highlight>
                  <a:srgbClr val="FFFFFF"/>
                </a:highlight>
              </a:rPr>
              <a:t>int</a:t>
            </a:r>
            <a:r>
              <a:rPr lang="nn-NO" sz="1600" dirty="0">
                <a:solidFill>
                  <a:srgbClr val="000000"/>
                </a:solidFill>
                <a:highlight>
                  <a:srgbClr val="FFFFFF"/>
                </a:highlight>
              </a:rPr>
              <a:t> i </a:t>
            </a:r>
            <a:r>
              <a:rPr lang="nn-NO" sz="1600" b="1" dirty="0">
                <a:solidFill>
                  <a:srgbClr val="000080"/>
                </a:solidFill>
                <a:highlight>
                  <a:srgbClr val="FFFFFF"/>
                </a:highlight>
              </a:rPr>
              <a:t>=</a:t>
            </a:r>
            <a:r>
              <a:rPr lang="nn-NO" sz="1600" dirty="0">
                <a:solidFill>
                  <a:srgbClr val="000000"/>
                </a:solidFill>
                <a:highlight>
                  <a:srgbClr val="FFFFFF"/>
                </a:highlight>
              </a:rPr>
              <a:t> </a:t>
            </a:r>
            <a:r>
              <a:rPr lang="nn-NO" sz="1600" dirty="0">
                <a:solidFill>
                  <a:srgbClr val="FF8000"/>
                </a:solidFill>
                <a:highlight>
                  <a:srgbClr val="FFFFFF"/>
                </a:highlight>
              </a:rPr>
              <a:t>0</a:t>
            </a:r>
            <a:r>
              <a:rPr lang="nn-NO" sz="1600" b="1" dirty="0">
                <a:solidFill>
                  <a:srgbClr val="000080"/>
                </a:solidFill>
                <a:highlight>
                  <a:srgbClr val="FFFFFF"/>
                </a:highlight>
              </a:rPr>
              <a:t>;</a:t>
            </a:r>
            <a:r>
              <a:rPr lang="nn-NO" sz="1600" dirty="0">
                <a:solidFill>
                  <a:srgbClr val="000000"/>
                </a:solidFill>
                <a:highlight>
                  <a:srgbClr val="FFFFFF"/>
                </a:highlight>
              </a:rPr>
              <a:t> i </a:t>
            </a:r>
            <a:r>
              <a:rPr lang="nn-NO" sz="1600" b="1" dirty="0">
                <a:solidFill>
                  <a:srgbClr val="000080"/>
                </a:solidFill>
                <a:highlight>
                  <a:srgbClr val="FFFFFF"/>
                </a:highlight>
              </a:rPr>
              <a:t>&lt;</a:t>
            </a:r>
            <a:r>
              <a:rPr lang="nn-NO" sz="1600" dirty="0">
                <a:solidFill>
                  <a:srgbClr val="000000"/>
                </a:solidFill>
                <a:highlight>
                  <a:srgbClr val="FFFFFF"/>
                </a:highlight>
              </a:rPr>
              <a:t> </a:t>
            </a:r>
            <a:r>
              <a:rPr lang="nn-NO" sz="1600" dirty="0">
                <a:solidFill>
                  <a:srgbClr val="FF8000"/>
                </a:solidFill>
                <a:highlight>
                  <a:srgbClr val="FFFFFF"/>
                </a:highlight>
              </a:rPr>
              <a:t>3</a:t>
            </a:r>
            <a:r>
              <a:rPr lang="nn-NO" sz="1600" b="1" dirty="0">
                <a:solidFill>
                  <a:srgbClr val="000080"/>
                </a:solidFill>
                <a:highlight>
                  <a:srgbClr val="FFFFFF"/>
                </a:highlight>
              </a:rPr>
              <a:t>;</a:t>
            </a:r>
            <a:r>
              <a:rPr lang="nn-NO" sz="1600" dirty="0">
                <a:solidFill>
                  <a:srgbClr val="000000"/>
                </a:solidFill>
                <a:highlight>
                  <a:srgbClr val="FFFFFF"/>
                </a:highlight>
              </a:rPr>
              <a:t> i</a:t>
            </a:r>
            <a:r>
              <a:rPr lang="nn-NO" sz="1600" b="1" dirty="0">
                <a:solidFill>
                  <a:srgbClr val="000080"/>
                </a:solidFill>
                <a:highlight>
                  <a:srgbClr val="FFFFFF"/>
                </a:highlight>
              </a:rPr>
              <a:t>++</a:t>
            </a:r>
            <a:r>
              <a:rPr lang="nn-NO" sz="1600" dirty="0">
                <a:solidFill>
                  <a:srgbClr val="000000"/>
                </a:solidFill>
                <a:highlight>
                  <a:srgbClr val="FFFFFF"/>
                </a:highlight>
              </a:rPr>
              <a:t> </a:t>
            </a:r>
            <a:r>
              <a:rPr lang="nn-NO" sz="1600" b="1" dirty="0">
                <a:solidFill>
                  <a:srgbClr val="000080"/>
                </a:solidFill>
                <a:highlight>
                  <a:srgbClr val="FFFFFF"/>
                </a:highlight>
              </a:rPr>
              <a:t>)</a:t>
            </a:r>
            <a:r>
              <a:rPr lang="nn-NO" sz="1600" dirty="0">
                <a:solidFill>
                  <a:srgbClr val="000000"/>
                </a:solidFill>
                <a:highlight>
                  <a:srgbClr val="FFFFFF"/>
                </a:highlight>
              </a:rPr>
              <a:t> </a:t>
            </a:r>
            <a:r>
              <a:rPr lang="nn-NO" sz="1600" b="1" dirty="0">
                <a:solidFill>
                  <a:srgbClr val="000080"/>
                </a:solidFill>
                <a:highlight>
                  <a:srgbClr val="FFFFFF"/>
                </a:highlight>
              </a:rPr>
              <a:t>{</a:t>
            </a:r>
            <a:endParaRPr lang="nn-NO" sz="1600" dirty="0">
              <a:solidFill>
                <a:srgbClr val="000000"/>
              </a:solidFill>
              <a:highlight>
                <a:srgbClr val="FFFFFF"/>
              </a:highlight>
            </a:endParaRPr>
          </a:p>
          <a:p>
            <a:r>
              <a:rPr lang="ro-RO" sz="1600" dirty="0">
                <a:solidFill>
                  <a:srgbClr val="000000"/>
                </a:solidFill>
                <a:highlight>
                  <a:srgbClr val="FFFFFF"/>
                </a:highlight>
              </a:rPr>
              <a:t>filozofi</a:t>
            </a:r>
            <a:r>
              <a:rPr lang="ro-RO" sz="1600" b="1" dirty="0">
                <a:solidFill>
                  <a:srgbClr val="000080"/>
                </a:solidFill>
                <a:highlight>
                  <a:srgbClr val="FFFFFF"/>
                </a:highlight>
              </a:rPr>
              <a:t>[</a:t>
            </a:r>
            <a:r>
              <a:rPr lang="ro-RO" sz="1600" dirty="0">
                <a:solidFill>
                  <a:srgbClr val="000000"/>
                </a:solidFill>
                <a:highlight>
                  <a:srgbClr val="FFFFFF"/>
                </a:highlight>
              </a:rPr>
              <a:t>i</a:t>
            </a:r>
            <a:r>
              <a:rPr lang="ro-RO" sz="1600" b="1" dirty="0">
                <a:solidFill>
                  <a:srgbClr val="000080"/>
                </a:solidFill>
                <a:highlight>
                  <a:srgbClr val="FFFFFF"/>
                </a:highlight>
              </a:rPr>
              <a:t>].</a:t>
            </a:r>
            <a:r>
              <a:rPr lang="ro-RO" sz="1600" dirty="0">
                <a:solidFill>
                  <a:srgbClr val="000000"/>
                </a:solidFill>
                <a:highlight>
                  <a:srgbClr val="FFFFFF"/>
                </a:highlight>
              </a:rPr>
              <a:t>start</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endParaRPr lang="en-US" sz="1600" b="1" dirty="0">
              <a:solidFill>
                <a:srgbClr val="000080"/>
              </a:solidFill>
              <a:highlight>
                <a:srgbClr val="FFFFFF"/>
              </a:highlight>
            </a:endParaRPr>
          </a:p>
          <a:p>
            <a:r>
              <a:rPr lang="ro-RO" sz="1600" dirty="0" err="1">
                <a:solidFill>
                  <a:srgbClr val="000000"/>
                </a:solidFill>
                <a:highlight>
                  <a:srgbClr val="FFFFFF"/>
                </a:highlight>
              </a:rPr>
              <a:t>System</a:t>
            </a:r>
            <a:r>
              <a:rPr lang="ro-RO" sz="1600" b="1" dirty="0" err="1">
                <a:solidFill>
                  <a:srgbClr val="000080"/>
                </a:solidFill>
                <a:highlight>
                  <a:srgbClr val="FFFFFF"/>
                </a:highlight>
              </a:rPr>
              <a:t>.</a:t>
            </a:r>
            <a:r>
              <a:rPr lang="ro-RO" sz="1600" dirty="0" err="1">
                <a:solidFill>
                  <a:srgbClr val="000000"/>
                </a:solidFill>
                <a:highlight>
                  <a:srgbClr val="FFFFFF"/>
                </a:highlight>
              </a:rPr>
              <a:t>out</a:t>
            </a:r>
            <a:r>
              <a:rPr lang="ro-RO" sz="1600" b="1" dirty="0" err="1">
                <a:solidFill>
                  <a:srgbClr val="000080"/>
                </a:solidFill>
                <a:highlight>
                  <a:srgbClr val="FFFFFF"/>
                </a:highlight>
              </a:rPr>
              <a:t>.</a:t>
            </a:r>
            <a:r>
              <a:rPr lang="ro-RO" sz="1600" dirty="0" err="1">
                <a:solidFill>
                  <a:srgbClr val="000000"/>
                </a:solidFill>
                <a:highlight>
                  <a:srgbClr val="FFFFFF"/>
                </a:highlight>
              </a:rPr>
              <a:t>println</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dirty="0">
                <a:solidFill>
                  <a:srgbClr val="808080"/>
                </a:solidFill>
                <a:highlight>
                  <a:srgbClr val="FFFFFF"/>
                </a:highlight>
              </a:rPr>
              <a:t>"</a:t>
            </a:r>
            <a:r>
              <a:rPr lang="ro-RO" sz="1600" dirty="0" err="1">
                <a:solidFill>
                  <a:srgbClr val="808080"/>
                </a:solidFill>
                <a:highlight>
                  <a:srgbClr val="FFFFFF"/>
                </a:highlight>
              </a:rPr>
              <a:t>Concurenti</a:t>
            </a:r>
            <a:r>
              <a:rPr lang="ro-RO" sz="1600" dirty="0">
                <a:solidFill>
                  <a:srgbClr val="808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nn-NO" sz="1600" b="1" dirty="0">
                <a:solidFill>
                  <a:srgbClr val="0000FF"/>
                </a:solidFill>
                <a:highlight>
                  <a:srgbClr val="FFFFFF"/>
                </a:highlight>
              </a:rPr>
              <a:t>for</a:t>
            </a:r>
            <a:r>
              <a:rPr lang="nn-NO" sz="1600" b="1" dirty="0">
                <a:solidFill>
                  <a:srgbClr val="000080"/>
                </a:solidFill>
                <a:highlight>
                  <a:srgbClr val="FFFFFF"/>
                </a:highlight>
              </a:rPr>
              <a:t>(</a:t>
            </a:r>
            <a:r>
              <a:rPr lang="nn-NO" sz="1600" dirty="0">
                <a:solidFill>
                  <a:srgbClr val="000000"/>
                </a:solidFill>
                <a:highlight>
                  <a:srgbClr val="FFFFFF"/>
                </a:highlight>
              </a:rPr>
              <a:t> </a:t>
            </a:r>
            <a:r>
              <a:rPr lang="nn-NO" sz="1600" dirty="0">
                <a:solidFill>
                  <a:srgbClr val="8000FF"/>
                </a:solidFill>
                <a:highlight>
                  <a:srgbClr val="FFFFFF"/>
                </a:highlight>
              </a:rPr>
              <a:t>int</a:t>
            </a:r>
            <a:r>
              <a:rPr lang="nn-NO" sz="1600" dirty="0">
                <a:solidFill>
                  <a:srgbClr val="000000"/>
                </a:solidFill>
                <a:highlight>
                  <a:srgbClr val="FFFFFF"/>
                </a:highlight>
              </a:rPr>
              <a:t> i </a:t>
            </a:r>
            <a:r>
              <a:rPr lang="nn-NO" sz="1600" b="1" dirty="0">
                <a:solidFill>
                  <a:srgbClr val="000080"/>
                </a:solidFill>
                <a:highlight>
                  <a:srgbClr val="FFFFFF"/>
                </a:highlight>
              </a:rPr>
              <a:t>=</a:t>
            </a:r>
            <a:r>
              <a:rPr lang="nn-NO" sz="1600" dirty="0">
                <a:solidFill>
                  <a:srgbClr val="000000"/>
                </a:solidFill>
                <a:highlight>
                  <a:srgbClr val="FFFFFF"/>
                </a:highlight>
              </a:rPr>
              <a:t> </a:t>
            </a:r>
            <a:r>
              <a:rPr lang="nn-NO" sz="1600" dirty="0">
                <a:solidFill>
                  <a:srgbClr val="FF8000"/>
                </a:solidFill>
                <a:highlight>
                  <a:srgbClr val="FFFFFF"/>
                </a:highlight>
              </a:rPr>
              <a:t>0</a:t>
            </a:r>
            <a:r>
              <a:rPr lang="nn-NO" sz="1600" b="1" dirty="0">
                <a:solidFill>
                  <a:srgbClr val="000080"/>
                </a:solidFill>
                <a:highlight>
                  <a:srgbClr val="FFFFFF"/>
                </a:highlight>
              </a:rPr>
              <a:t>;</a:t>
            </a:r>
            <a:r>
              <a:rPr lang="nn-NO" sz="1600" dirty="0">
                <a:solidFill>
                  <a:srgbClr val="000000"/>
                </a:solidFill>
                <a:highlight>
                  <a:srgbClr val="FFFFFF"/>
                </a:highlight>
              </a:rPr>
              <a:t> i </a:t>
            </a:r>
            <a:r>
              <a:rPr lang="nn-NO" sz="1600" b="1" dirty="0">
                <a:solidFill>
                  <a:srgbClr val="000080"/>
                </a:solidFill>
                <a:highlight>
                  <a:srgbClr val="FFFFFF"/>
                </a:highlight>
              </a:rPr>
              <a:t>&lt;</a:t>
            </a:r>
            <a:r>
              <a:rPr lang="nn-NO" sz="1600" dirty="0">
                <a:solidFill>
                  <a:srgbClr val="000000"/>
                </a:solidFill>
                <a:highlight>
                  <a:srgbClr val="FFFFFF"/>
                </a:highlight>
              </a:rPr>
              <a:t> </a:t>
            </a:r>
            <a:r>
              <a:rPr lang="nn-NO" sz="1600" dirty="0">
                <a:solidFill>
                  <a:srgbClr val="FF8000"/>
                </a:solidFill>
                <a:highlight>
                  <a:srgbClr val="FFFFFF"/>
                </a:highlight>
              </a:rPr>
              <a:t>3</a:t>
            </a:r>
            <a:r>
              <a:rPr lang="nn-NO" sz="1600" b="1" dirty="0">
                <a:solidFill>
                  <a:srgbClr val="000080"/>
                </a:solidFill>
                <a:highlight>
                  <a:srgbClr val="FFFFFF"/>
                </a:highlight>
              </a:rPr>
              <a:t>;</a:t>
            </a:r>
            <a:r>
              <a:rPr lang="nn-NO" sz="1600" dirty="0">
                <a:solidFill>
                  <a:srgbClr val="000000"/>
                </a:solidFill>
                <a:highlight>
                  <a:srgbClr val="FFFFFF"/>
                </a:highlight>
              </a:rPr>
              <a:t> i</a:t>
            </a:r>
            <a:r>
              <a:rPr lang="nn-NO" sz="1600" b="1" dirty="0">
                <a:solidFill>
                  <a:srgbClr val="000080"/>
                </a:solidFill>
                <a:highlight>
                  <a:srgbClr val="FFFFFF"/>
                </a:highlight>
              </a:rPr>
              <a:t>++</a:t>
            </a:r>
            <a:r>
              <a:rPr lang="nn-NO" sz="1600" dirty="0">
                <a:solidFill>
                  <a:srgbClr val="000000"/>
                </a:solidFill>
                <a:highlight>
                  <a:srgbClr val="FFFFFF"/>
                </a:highlight>
              </a:rPr>
              <a:t> </a:t>
            </a:r>
            <a:r>
              <a:rPr lang="nn-NO" sz="1600" b="1" dirty="0">
                <a:solidFill>
                  <a:srgbClr val="000080"/>
                </a:solidFill>
                <a:highlight>
                  <a:srgbClr val="FFFFFF"/>
                </a:highlight>
              </a:rPr>
              <a:t>)</a:t>
            </a:r>
            <a:r>
              <a:rPr lang="nn-NO" sz="1600" dirty="0">
                <a:solidFill>
                  <a:srgbClr val="000000"/>
                </a:solidFill>
                <a:highlight>
                  <a:srgbClr val="FFFFFF"/>
                </a:highlight>
              </a:rPr>
              <a:t> </a:t>
            </a:r>
            <a:r>
              <a:rPr lang="nn-NO" sz="1600" b="1" dirty="0">
                <a:solidFill>
                  <a:srgbClr val="000080"/>
                </a:solidFill>
                <a:highlight>
                  <a:srgbClr val="FFFFFF"/>
                </a:highlight>
              </a:rPr>
              <a:t>{</a:t>
            </a:r>
            <a:endParaRPr lang="nn-NO" sz="1600" dirty="0">
              <a:solidFill>
                <a:srgbClr val="000000"/>
              </a:solidFill>
              <a:highlight>
                <a:srgbClr val="FFFFFF"/>
              </a:highlight>
            </a:endParaRPr>
          </a:p>
          <a:p>
            <a:r>
              <a:rPr lang="ro-RO" sz="1600" dirty="0" err="1">
                <a:solidFill>
                  <a:srgbClr val="000000"/>
                </a:solidFill>
                <a:highlight>
                  <a:srgbClr val="FFFFFF"/>
                </a:highlight>
              </a:rPr>
              <a:t>System</a:t>
            </a:r>
            <a:r>
              <a:rPr lang="ro-RO" sz="1600" b="1" dirty="0" err="1">
                <a:solidFill>
                  <a:srgbClr val="000080"/>
                </a:solidFill>
                <a:highlight>
                  <a:srgbClr val="FFFFFF"/>
                </a:highlight>
              </a:rPr>
              <a:t>.</a:t>
            </a:r>
            <a:r>
              <a:rPr lang="ro-RO" sz="1600" dirty="0" err="1">
                <a:solidFill>
                  <a:srgbClr val="000000"/>
                </a:solidFill>
                <a:highlight>
                  <a:srgbClr val="FFFFFF"/>
                </a:highlight>
              </a:rPr>
              <a:t>out</a:t>
            </a:r>
            <a:r>
              <a:rPr lang="ro-RO" sz="1600" b="1" dirty="0" err="1">
                <a:solidFill>
                  <a:srgbClr val="000080"/>
                </a:solidFill>
                <a:highlight>
                  <a:srgbClr val="FFFFFF"/>
                </a:highlight>
              </a:rPr>
              <a:t>.</a:t>
            </a:r>
            <a:r>
              <a:rPr lang="ro-RO" sz="1600" dirty="0" err="1">
                <a:solidFill>
                  <a:srgbClr val="000000"/>
                </a:solidFill>
                <a:highlight>
                  <a:srgbClr val="FFFFFF"/>
                </a:highlight>
              </a:rPr>
              <a:t>println</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dirty="0">
                <a:solidFill>
                  <a:srgbClr val="808080"/>
                </a:solidFill>
                <a:highlight>
                  <a:srgbClr val="FFFFFF"/>
                </a:highlight>
              </a:rPr>
              <a:t>"\t"</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filozofi</a:t>
            </a:r>
            <a:r>
              <a:rPr lang="ro-RO" sz="1600" b="1" dirty="0">
                <a:solidFill>
                  <a:srgbClr val="000080"/>
                </a:solidFill>
                <a:highlight>
                  <a:srgbClr val="FFFFFF"/>
                </a:highlight>
              </a:rPr>
              <a:t>[</a:t>
            </a:r>
            <a:r>
              <a:rPr lang="ro-RO" sz="1600" dirty="0">
                <a:solidFill>
                  <a:srgbClr val="000000"/>
                </a:solidFill>
                <a:highlight>
                  <a:srgbClr val="FFFFFF"/>
                </a:highlight>
              </a:rPr>
              <a:t>i</a:t>
            </a:r>
            <a:r>
              <a:rPr lang="ro-RO" sz="1600" b="1" dirty="0">
                <a:solidFill>
                  <a:srgbClr val="000080"/>
                </a:solidFill>
                <a:highlight>
                  <a:srgbClr val="FFFFFF"/>
                </a:highlight>
              </a:rPr>
              <a:t>].</a:t>
            </a:r>
            <a:r>
              <a:rPr lang="ro-RO" sz="1600" dirty="0" err="1">
                <a:solidFill>
                  <a:srgbClr val="000000"/>
                </a:solidFill>
                <a:highlight>
                  <a:srgbClr val="FFFFFF"/>
                </a:highlight>
              </a:rPr>
              <a:t>getName</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dirty="0">
                <a:solidFill>
                  <a:srgbClr val="80808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dirty="0" err="1">
                <a:solidFill>
                  <a:srgbClr val="000000"/>
                </a:solidFill>
                <a:highlight>
                  <a:srgbClr val="FFFFFF"/>
                </a:highlight>
              </a:rPr>
              <a:t>palarii</a:t>
            </a:r>
            <a:r>
              <a:rPr lang="ro-RO" sz="1600" b="1" dirty="0">
                <a:solidFill>
                  <a:srgbClr val="000080"/>
                </a:solidFill>
                <a:highlight>
                  <a:srgbClr val="FFFFFF"/>
                </a:highlight>
              </a:rPr>
              <a:t>[</a:t>
            </a:r>
            <a:r>
              <a:rPr lang="ro-RO" sz="1600" dirty="0">
                <a:solidFill>
                  <a:srgbClr val="000000"/>
                </a:solidFill>
                <a:highlight>
                  <a:srgbClr val="FFFFFF"/>
                </a:highlight>
              </a:rPr>
              <a:t>i</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dirty="0" err="1">
                <a:solidFill>
                  <a:srgbClr val="000000"/>
                </a:solidFill>
                <a:highlight>
                  <a:srgbClr val="FFFFFF"/>
                </a:highlight>
              </a:rPr>
              <a:t>Color</a:t>
            </a:r>
            <a:r>
              <a:rPr lang="ro-RO" sz="1600" b="1" dirty="0" err="1">
                <a:solidFill>
                  <a:srgbClr val="000080"/>
                </a:solidFill>
                <a:highlight>
                  <a:srgbClr val="FFFFFF"/>
                </a:highlight>
              </a:rPr>
              <a:t>.</a:t>
            </a:r>
            <a:r>
              <a:rPr lang="ro-RO" sz="1600" dirty="0" err="1">
                <a:solidFill>
                  <a:srgbClr val="000000"/>
                </a:solidFill>
                <a:highlight>
                  <a:srgbClr val="FFFFFF"/>
                </a:highlight>
              </a:rPr>
              <a:t>white</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808080"/>
                </a:solidFill>
                <a:highlight>
                  <a:srgbClr val="FFFFFF"/>
                </a:highlight>
              </a:rPr>
              <a:t>"</a:t>
            </a:r>
            <a:r>
              <a:rPr lang="ro-RO" sz="1600" dirty="0" err="1">
                <a:solidFill>
                  <a:srgbClr val="808080"/>
                </a:solidFill>
                <a:highlight>
                  <a:srgbClr val="FFFFFF"/>
                </a:highlight>
              </a:rPr>
              <a:t>alb"</a:t>
            </a:r>
            <a:r>
              <a:rPr lang="ro-RO" sz="1600" b="1" dirty="0" err="1">
                <a:solidFill>
                  <a:srgbClr val="000080"/>
                </a:solidFill>
                <a:highlight>
                  <a:srgbClr val="FFFFFF"/>
                </a:highlight>
              </a:rPr>
              <a:t>:</a:t>
            </a:r>
            <a:r>
              <a:rPr lang="ro-RO" sz="1600" dirty="0" err="1">
                <a:solidFill>
                  <a:srgbClr val="808080"/>
                </a:solidFill>
                <a:highlight>
                  <a:srgbClr val="FFFFFF"/>
                </a:highlight>
              </a:rPr>
              <a:t>"negru</a:t>
            </a:r>
            <a:r>
              <a:rPr lang="ro-RO" sz="1600" dirty="0">
                <a:solidFill>
                  <a:srgbClr val="808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endParaRPr lang="ro-RO" sz="1600" dirty="0">
              <a:solidFill>
                <a:srgbClr val="000000"/>
              </a:solidFill>
              <a:highlight>
                <a:srgbClr val="FFFFFF"/>
              </a:highlight>
            </a:endParaRPr>
          </a:p>
          <a:p>
            <a:endParaRPr lang="ro-RO" sz="1600" dirty="0">
              <a:solidFill>
                <a:srgbClr val="000000"/>
              </a:solidFill>
              <a:highlight>
                <a:srgbClr val="FFFFFF"/>
              </a:highlight>
            </a:endParaRPr>
          </a:p>
        </p:txBody>
      </p:sp>
      <p:sp>
        <p:nvSpPr>
          <p:cNvPr id="3" name="Rectangle 2"/>
          <p:cNvSpPr/>
          <p:nvPr/>
        </p:nvSpPr>
        <p:spPr>
          <a:xfrm>
            <a:off x="6549081" y="156520"/>
            <a:ext cx="5379308" cy="6001643"/>
          </a:xfrm>
          <a:prstGeom prst="rect">
            <a:avLst/>
          </a:prstGeom>
        </p:spPr>
        <p:txBody>
          <a:bodyPr wrap="square">
            <a:spAutoFit/>
          </a:bodyPr>
          <a:lstStyle/>
          <a:p>
            <a:r>
              <a:rPr lang="ro-RO" sz="1600" dirty="0">
                <a:solidFill>
                  <a:srgbClr val="8000FF"/>
                </a:solidFill>
                <a:highlight>
                  <a:srgbClr val="FFFFFF"/>
                </a:highlight>
              </a:rPr>
              <a:t>boolean</a:t>
            </a:r>
            <a:r>
              <a:rPr lang="ro-RO" sz="1600" dirty="0">
                <a:solidFill>
                  <a:srgbClr val="000000"/>
                </a:solidFill>
                <a:highlight>
                  <a:srgbClr val="FFFFFF"/>
                </a:highlight>
              </a:rPr>
              <a:t> gata</a:t>
            </a:r>
            <a:r>
              <a:rPr lang="ro-RO" sz="1600" b="1" dirty="0">
                <a:solidFill>
                  <a:srgbClr val="000080"/>
                </a:solidFill>
                <a:highlight>
                  <a:srgbClr val="FFFFFF"/>
                </a:highlight>
              </a:rPr>
              <a:t>=</a:t>
            </a:r>
            <a:r>
              <a:rPr lang="ro-RO" sz="1600" b="1" dirty="0">
                <a:solidFill>
                  <a:srgbClr val="0000FF"/>
                </a:solidFill>
                <a:highlight>
                  <a:srgbClr val="FFFFFF"/>
                </a:highlight>
              </a:rPr>
              <a:t>false</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err="1">
                <a:solidFill>
                  <a:srgbClr val="0000FF"/>
                </a:solidFill>
                <a:highlight>
                  <a:srgbClr val="FFFFFF"/>
                </a:highlight>
              </a:rPr>
              <a:t>while</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gata</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nn-NO" sz="1600" b="1" dirty="0">
                <a:solidFill>
                  <a:srgbClr val="0000FF"/>
                </a:solidFill>
                <a:highlight>
                  <a:srgbClr val="FFFFFF"/>
                </a:highlight>
              </a:rPr>
              <a:t>for</a:t>
            </a:r>
            <a:r>
              <a:rPr lang="nn-NO" sz="1600" b="1" dirty="0">
                <a:solidFill>
                  <a:srgbClr val="000080"/>
                </a:solidFill>
                <a:highlight>
                  <a:srgbClr val="FFFFFF"/>
                </a:highlight>
              </a:rPr>
              <a:t>(</a:t>
            </a:r>
            <a:r>
              <a:rPr lang="nn-NO" sz="1600" dirty="0">
                <a:solidFill>
                  <a:srgbClr val="000000"/>
                </a:solidFill>
                <a:highlight>
                  <a:srgbClr val="FFFFFF"/>
                </a:highlight>
              </a:rPr>
              <a:t> </a:t>
            </a:r>
            <a:r>
              <a:rPr lang="nn-NO" sz="1600" dirty="0">
                <a:solidFill>
                  <a:srgbClr val="8000FF"/>
                </a:solidFill>
                <a:highlight>
                  <a:srgbClr val="FFFFFF"/>
                </a:highlight>
              </a:rPr>
              <a:t>int</a:t>
            </a:r>
            <a:r>
              <a:rPr lang="nn-NO" sz="1600" dirty="0">
                <a:solidFill>
                  <a:srgbClr val="000000"/>
                </a:solidFill>
                <a:highlight>
                  <a:srgbClr val="FFFFFF"/>
                </a:highlight>
              </a:rPr>
              <a:t> i </a:t>
            </a:r>
            <a:r>
              <a:rPr lang="nn-NO" sz="1600" b="1" dirty="0">
                <a:solidFill>
                  <a:srgbClr val="000080"/>
                </a:solidFill>
                <a:highlight>
                  <a:srgbClr val="FFFFFF"/>
                </a:highlight>
              </a:rPr>
              <a:t>=</a:t>
            </a:r>
            <a:r>
              <a:rPr lang="nn-NO" sz="1600" dirty="0">
                <a:solidFill>
                  <a:srgbClr val="000000"/>
                </a:solidFill>
                <a:highlight>
                  <a:srgbClr val="FFFFFF"/>
                </a:highlight>
              </a:rPr>
              <a:t> </a:t>
            </a:r>
            <a:r>
              <a:rPr lang="nn-NO" sz="1600" dirty="0">
                <a:solidFill>
                  <a:srgbClr val="FF8000"/>
                </a:solidFill>
                <a:highlight>
                  <a:srgbClr val="FFFFFF"/>
                </a:highlight>
              </a:rPr>
              <a:t>0</a:t>
            </a:r>
            <a:r>
              <a:rPr lang="nn-NO" sz="1600" b="1" dirty="0">
                <a:solidFill>
                  <a:srgbClr val="000080"/>
                </a:solidFill>
                <a:highlight>
                  <a:srgbClr val="FFFFFF"/>
                </a:highlight>
              </a:rPr>
              <a:t>;</a:t>
            </a:r>
            <a:r>
              <a:rPr lang="nn-NO" sz="1600" dirty="0">
                <a:solidFill>
                  <a:srgbClr val="000000"/>
                </a:solidFill>
                <a:highlight>
                  <a:srgbClr val="FFFFFF"/>
                </a:highlight>
              </a:rPr>
              <a:t> i </a:t>
            </a:r>
            <a:r>
              <a:rPr lang="nn-NO" sz="1600" b="1" dirty="0">
                <a:solidFill>
                  <a:srgbClr val="000080"/>
                </a:solidFill>
                <a:highlight>
                  <a:srgbClr val="FFFFFF"/>
                </a:highlight>
              </a:rPr>
              <a:t>&lt;</a:t>
            </a:r>
            <a:r>
              <a:rPr lang="nn-NO" sz="1600" dirty="0">
                <a:solidFill>
                  <a:srgbClr val="000000"/>
                </a:solidFill>
                <a:highlight>
                  <a:srgbClr val="FFFFFF"/>
                </a:highlight>
              </a:rPr>
              <a:t> </a:t>
            </a:r>
            <a:r>
              <a:rPr lang="nn-NO" sz="1600" dirty="0">
                <a:solidFill>
                  <a:srgbClr val="FF8000"/>
                </a:solidFill>
                <a:highlight>
                  <a:srgbClr val="FFFFFF"/>
                </a:highlight>
              </a:rPr>
              <a:t>3</a:t>
            </a:r>
            <a:r>
              <a:rPr lang="nn-NO" sz="1600" b="1" dirty="0">
                <a:solidFill>
                  <a:srgbClr val="000080"/>
                </a:solidFill>
                <a:highlight>
                  <a:srgbClr val="FFFFFF"/>
                </a:highlight>
              </a:rPr>
              <a:t>;</a:t>
            </a:r>
            <a:r>
              <a:rPr lang="nn-NO" sz="1600" dirty="0">
                <a:solidFill>
                  <a:srgbClr val="000000"/>
                </a:solidFill>
                <a:highlight>
                  <a:srgbClr val="FFFFFF"/>
                </a:highlight>
              </a:rPr>
              <a:t> i</a:t>
            </a:r>
            <a:r>
              <a:rPr lang="nn-NO" sz="1600" b="1" dirty="0">
                <a:solidFill>
                  <a:srgbClr val="000080"/>
                </a:solidFill>
                <a:highlight>
                  <a:srgbClr val="FFFFFF"/>
                </a:highlight>
              </a:rPr>
              <a:t>++</a:t>
            </a:r>
            <a:r>
              <a:rPr lang="nn-NO" sz="1600" dirty="0">
                <a:solidFill>
                  <a:srgbClr val="000000"/>
                </a:solidFill>
                <a:highlight>
                  <a:srgbClr val="FFFFFF"/>
                </a:highlight>
              </a:rPr>
              <a:t> </a:t>
            </a:r>
            <a:r>
              <a:rPr lang="nn-NO" sz="1600" b="1" dirty="0">
                <a:solidFill>
                  <a:srgbClr val="000080"/>
                </a:solidFill>
                <a:highlight>
                  <a:srgbClr val="FFFFFF"/>
                </a:highlight>
              </a:rPr>
              <a:t>)</a:t>
            </a:r>
            <a:r>
              <a:rPr lang="nn-NO" sz="1600" dirty="0">
                <a:solidFill>
                  <a:srgbClr val="000000"/>
                </a:solidFill>
                <a:highlight>
                  <a:srgbClr val="FFFFFF"/>
                </a:highlight>
              </a:rPr>
              <a:t> </a:t>
            </a:r>
            <a:r>
              <a:rPr lang="nn-NO" sz="1600" b="1" dirty="0">
                <a:solidFill>
                  <a:srgbClr val="000080"/>
                </a:solidFill>
                <a:highlight>
                  <a:srgbClr val="FFFFFF"/>
                </a:highlight>
              </a:rPr>
              <a:t>{</a:t>
            </a:r>
            <a:endParaRPr lang="nn-NO" sz="1600" dirty="0">
              <a:solidFill>
                <a:srgbClr val="000000"/>
              </a:solidFill>
              <a:highlight>
                <a:srgbClr val="FFFFFF"/>
              </a:highlight>
            </a:endParaRPr>
          </a:p>
          <a:p>
            <a:r>
              <a:rPr lang="ro-RO" sz="1600" b="1" dirty="0" err="1">
                <a:solidFill>
                  <a:srgbClr val="0000FF"/>
                </a:solidFill>
                <a:highlight>
                  <a:srgbClr val="FFFFFF"/>
                </a:highlight>
              </a:rPr>
              <a:t>if</a:t>
            </a:r>
            <a:r>
              <a:rPr lang="ro-RO" sz="1600" b="1" dirty="0">
                <a:solidFill>
                  <a:srgbClr val="000080"/>
                </a:solidFill>
                <a:highlight>
                  <a:srgbClr val="FFFFFF"/>
                </a:highlight>
              </a:rPr>
              <a:t>(</a:t>
            </a:r>
            <a:r>
              <a:rPr lang="ro-RO" sz="1600" dirty="0">
                <a:solidFill>
                  <a:srgbClr val="000000"/>
                </a:solidFill>
                <a:highlight>
                  <a:srgbClr val="FFFFFF"/>
                </a:highlight>
              </a:rPr>
              <a:t> filozofi</a:t>
            </a:r>
            <a:r>
              <a:rPr lang="ro-RO" sz="1600" b="1" dirty="0">
                <a:solidFill>
                  <a:srgbClr val="000080"/>
                </a:solidFill>
                <a:highlight>
                  <a:srgbClr val="FFFFFF"/>
                </a:highlight>
              </a:rPr>
              <a:t>[</a:t>
            </a:r>
            <a:r>
              <a:rPr lang="ro-RO" sz="1600" dirty="0">
                <a:solidFill>
                  <a:srgbClr val="000000"/>
                </a:solidFill>
                <a:highlight>
                  <a:srgbClr val="FFFFFF"/>
                </a:highlight>
              </a:rPr>
              <a:t>i</a:t>
            </a:r>
            <a:r>
              <a:rPr lang="ro-RO" sz="1600" b="1" dirty="0">
                <a:solidFill>
                  <a:srgbClr val="000080"/>
                </a:solidFill>
                <a:highlight>
                  <a:srgbClr val="FFFFFF"/>
                </a:highlight>
              </a:rPr>
              <a:t>].</a:t>
            </a:r>
            <a:r>
              <a:rPr lang="ro-RO" sz="1600" dirty="0" err="1">
                <a:solidFill>
                  <a:srgbClr val="000000"/>
                </a:solidFill>
                <a:highlight>
                  <a:srgbClr val="FFFFFF"/>
                </a:highlight>
              </a:rPr>
              <a:t>aGhicit</a:t>
            </a:r>
            <a:r>
              <a:rPr lang="ro-RO" sz="1600" b="1" dirty="0">
                <a:solidFill>
                  <a:srgbClr val="000080"/>
                </a:solidFill>
                <a:highlight>
                  <a:srgbClr val="FFFFFF"/>
                </a:highlight>
              </a:rPr>
              <a:t>()==</a:t>
            </a:r>
            <a:r>
              <a:rPr lang="ro-RO" sz="1600" dirty="0" err="1">
                <a:solidFill>
                  <a:srgbClr val="000000"/>
                </a:solidFill>
                <a:highlight>
                  <a:srgbClr val="FFFFFF"/>
                </a:highlight>
              </a:rPr>
              <a:t>palarii</a:t>
            </a:r>
            <a:r>
              <a:rPr lang="ro-RO" sz="1600" b="1" dirty="0">
                <a:solidFill>
                  <a:srgbClr val="000080"/>
                </a:solidFill>
                <a:highlight>
                  <a:srgbClr val="FFFFFF"/>
                </a:highlight>
              </a:rPr>
              <a:t>[</a:t>
            </a:r>
            <a:r>
              <a:rPr lang="ro-RO" sz="1600" dirty="0">
                <a:solidFill>
                  <a:srgbClr val="000000"/>
                </a:solidFill>
                <a:highlight>
                  <a:srgbClr val="FFFFFF"/>
                </a:highlight>
              </a:rPr>
              <a:t>i</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dirty="0" err="1">
                <a:solidFill>
                  <a:srgbClr val="000000"/>
                </a:solidFill>
                <a:highlight>
                  <a:srgbClr val="FFFFFF"/>
                </a:highlight>
              </a:rPr>
              <a:t>System</a:t>
            </a:r>
            <a:r>
              <a:rPr lang="ro-RO" sz="1600" b="1" dirty="0" err="1">
                <a:solidFill>
                  <a:srgbClr val="000080"/>
                </a:solidFill>
                <a:highlight>
                  <a:srgbClr val="FFFFFF"/>
                </a:highlight>
              </a:rPr>
              <a:t>.</a:t>
            </a:r>
            <a:r>
              <a:rPr lang="ro-RO" sz="1600" dirty="0" err="1">
                <a:solidFill>
                  <a:srgbClr val="000000"/>
                </a:solidFill>
                <a:highlight>
                  <a:srgbClr val="FFFFFF"/>
                </a:highlight>
              </a:rPr>
              <a:t>out</a:t>
            </a:r>
            <a:r>
              <a:rPr lang="ro-RO" sz="1600" b="1" dirty="0" err="1">
                <a:solidFill>
                  <a:srgbClr val="000080"/>
                </a:solidFill>
                <a:highlight>
                  <a:srgbClr val="FFFFFF"/>
                </a:highlight>
              </a:rPr>
              <a:t>.</a:t>
            </a:r>
            <a:r>
              <a:rPr lang="ro-RO" sz="1600" dirty="0" err="1">
                <a:solidFill>
                  <a:srgbClr val="000000"/>
                </a:solidFill>
                <a:highlight>
                  <a:srgbClr val="FFFFFF"/>
                </a:highlight>
              </a:rPr>
              <a:t>println</a:t>
            </a:r>
            <a:r>
              <a:rPr lang="ro-RO" sz="1600" b="1" dirty="0">
                <a:solidFill>
                  <a:srgbClr val="000080"/>
                </a:solidFill>
                <a:highlight>
                  <a:srgbClr val="FFFFFF"/>
                </a:highlight>
              </a:rPr>
              <a:t>(</a:t>
            </a:r>
            <a:r>
              <a:rPr lang="ro-RO" sz="1600" dirty="0">
                <a:solidFill>
                  <a:srgbClr val="000000"/>
                </a:solidFill>
                <a:highlight>
                  <a:srgbClr val="FFFFFF"/>
                </a:highlight>
              </a:rPr>
              <a:t> </a:t>
            </a:r>
          </a:p>
          <a:p>
            <a:r>
              <a:rPr lang="ro-RO" sz="1600" dirty="0">
                <a:solidFill>
                  <a:srgbClr val="000000"/>
                </a:solidFill>
                <a:highlight>
                  <a:srgbClr val="FFFFFF"/>
                </a:highlight>
              </a:rPr>
              <a:t>filozofi</a:t>
            </a:r>
            <a:r>
              <a:rPr lang="ro-RO" sz="1600" b="1" dirty="0">
                <a:solidFill>
                  <a:srgbClr val="000080"/>
                </a:solidFill>
                <a:highlight>
                  <a:srgbClr val="FFFFFF"/>
                </a:highlight>
              </a:rPr>
              <a:t>[</a:t>
            </a:r>
            <a:r>
              <a:rPr lang="ro-RO" sz="1600" dirty="0">
                <a:solidFill>
                  <a:srgbClr val="000000"/>
                </a:solidFill>
                <a:highlight>
                  <a:srgbClr val="FFFFFF"/>
                </a:highlight>
              </a:rPr>
              <a:t>i</a:t>
            </a:r>
            <a:r>
              <a:rPr lang="ro-RO" sz="1600" b="1" dirty="0">
                <a:solidFill>
                  <a:srgbClr val="000080"/>
                </a:solidFill>
                <a:highlight>
                  <a:srgbClr val="FFFFFF"/>
                </a:highlight>
              </a:rPr>
              <a:t>].</a:t>
            </a:r>
            <a:r>
              <a:rPr lang="ro-RO" sz="1600" dirty="0" err="1">
                <a:solidFill>
                  <a:srgbClr val="000000"/>
                </a:solidFill>
                <a:highlight>
                  <a:srgbClr val="FFFFFF"/>
                </a:highlight>
              </a:rPr>
              <a:t>getName</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808080"/>
                </a:solidFill>
                <a:highlight>
                  <a:srgbClr val="FFFFFF"/>
                </a:highlight>
              </a:rPr>
              <a:t>" a ghicit."</a:t>
            </a:r>
            <a:r>
              <a:rPr lang="ro-RO" sz="1600" dirty="0">
                <a:solidFill>
                  <a:srgbClr val="00000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dirty="0">
                <a:solidFill>
                  <a:srgbClr val="000000"/>
                </a:solidFill>
                <a:highlight>
                  <a:srgbClr val="FFFFFF"/>
                </a:highlight>
              </a:rPr>
              <a:t>gata</a:t>
            </a:r>
            <a:r>
              <a:rPr lang="ro-RO" sz="1600" b="1" dirty="0">
                <a:solidFill>
                  <a:srgbClr val="000080"/>
                </a:solidFill>
                <a:highlight>
                  <a:srgbClr val="FFFFFF"/>
                </a:highlight>
              </a:rPr>
              <a:t>=</a:t>
            </a:r>
            <a:r>
              <a:rPr lang="ro-RO" sz="1600" b="1" dirty="0" err="1">
                <a:solidFill>
                  <a:srgbClr val="0000FF"/>
                </a:solidFill>
                <a:highlight>
                  <a:srgbClr val="FFFFFF"/>
                </a:highlight>
              </a:rPr>
              <a:t>true</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r>
              <a:rPr lang="en-US" sz="1600" b="1" dirty="0">
                <a:solidFill>
                  <a:srgbClr val="00008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endParaRPr lang="ro-RO" sz="1600" dirty="0">
              <a:solidFill>
                <a:srgbClr val="000000"/>
              </a:solidFill>
              <a:highlight>
                <a:srgbClr val="FFFFFF"/>
              </a:highlight>
            </a:endParaRPr>
          </a:p>
          <a:p>
            <a:r>
              <a:rPr lang="nn-NO" sz="1600" b="1" dirty="0">
                <a:solidFill>
                  <a:srgbClr val="0000FF"/>
                </a:solidFill>
                <a:highlight>
                  <a:srgbClr val="FFFFFF"/>
                </a:highlight>
              </a:rPr>
              <a:t>for</a:t>
            </a:r>
            <a:r>
              <a:rPr lang="nn-NO" sz="1600" b="1" dirty="0">
                <a:solidFill>
                  <a:srgbClr val="000080"/>
                </a:solidFill>
                <a:highlight>
                  <a:srgbClr val="FFFFFF"/>
                </a:highlight>
              </a:rPr>
              <a:t>(</a:t>
            </a:r>
            <a:r>
              <a:rPr lang="nn-NO" sz="1600" dirty="0">
                <a:solidFill>
                  <a:srgbClr val="000000"/>
                </a:solidFill>
                <a:highlight>
                  <a:srgbClr val="FFFFFF"/>
                </a:highlight>
              </a:rPr>
              <a:t> </a:t>
            </a:r>
            <a:r>
              <a:rPr lang="nn-NO" sz="1600" dirty="0">
                <a:solidFill>
                  <a:srgbClr val="8000FF"/>
                </a:solidFill>
                <a:highlight>
                  <a:srgbClr val="FFFFFF"/>
                </a:highlight>
              </a:rPr>
              <a:t>int</a:t>
            </a:r>
            <a:r>
              <a:rPr lang="nn-NO" sz="1600" dirty="0">
                <a:solidFill>
                  <a:srgbClr val="000000"/>
                </a:solidFill>
                <a:highlight>
                  <a:srgbClr val="FFFFFF"/>
                </a:highlight>
              </a:rPr>
              <a:t> i </a:t>
            </a:r>
            <a:r>
              <a:rPr lang="nn-NO" sz="1600" b="1" dirty="0">
                <a:solidFill>
                  <a:srgbClr val="000080"/>
                </a:solidFill>
                <a:highlight>
                  <a:srgbClr val="FFFFFF"/>
                </a:highlight>
              </a:rPr>
              <a:t>=</a:t>
            </a:r>
            <a:r>
              <a:rPr lang="nn-NO" sz="1600" dirty="0">
                <a:solidFill>
                  <a:srgbClr val="000000"/>
                </a:solidFill>
                <a:highlight>
                  <a:srgbClr val="FFFFFF"/>
                </a:highlight>
              </a:rPr>
              <a:t> </a:t>
            </a:r>
            <a:r>
              <a:rPr lang="nn-NO" sz="1600" dirty="0">
                <a:solidFill>
                  <a:srgbClr val="FF8000"/>
                </a:solidFill>
                <a:highlight>
                  <a:srgbClr val="FFFFFF"/>
                </a:highlight>
              </a:rPr>
              <a:t>0</a:t>
            </a:r>
            <a:r>
              <a:rPr lang="nn-NO" sz="1600" b="1" dirty="0">
                <a:solidFill>
                  <a:srgbClr val="000080"/>
                </a:solidFill>
                <a:highlight>
                  <a:srgbClr val="FFFFFF"/>
                </a:highlight>
              </a:rPr>
              <a:t>;</a:t>
            </a:r>
            <a:r>
              <a:rPr lang="nn-NO" sz="1600" dirty="0">
                <a:solidFill>
                  <a:srgbClr val="000000"/>
                </a:solidFill>
                <a:highlight>
                  <a:srgbClr val="FFFFFF"/>
                </a:highlight>
              </a:rPr>
              <a:t> i </a:t>
            </a:r>
            <a:r>
              <a:rPr lang="nn-NO" sz="1600" b="1" dirty="0">
                <a:solidFill>
                  <a:srgbClr val="000080"/>
                </a:solidFill>
                <a:highlight>
                  <a:srgbClr val="FFFFFF"/>
                </a:highlight>
              </a:rPr>
              <a:t>&lt;</a:t>
            </a:r>
            <a:r>
              <a:rPr lang="nn-NO" sz="1600" dirty="0">
                <a:solidFill>
                  <a:srgbClr val="000000"/>
                </a:solidFill>
                <a:highlight>
                  <a:srgbClr val="FFFFFF"/>
                </a:highlight>
              </a:rPr>
              <a:t> </a:t>
            </a:r>
            <a:r>
              <a:rPr lang="nn-NO" sz="1600" dirty="0">
                <a:solidFill>
                  <a:srgbClr val="FF8000"/>
                </a:solidFill>
                <a:highlight>
                  <a:srgbClr val="FFFFFF"/>
                </a:highlight>
              </a:rPr>
              <a:t>3</a:t>
            </a:r>
            <a:r>
              <a:rPr lang="nn-NO" sz="1600" b="1" dirty="0">
                <a:solidFill>
                  <a:srgbClr val="000080"/>
                </a:solidFill>
                <a:highlight>
                  <a:srgbClr val="FFFFFF"/>
                </a:highlight>
              </a:rPr>
              <a:t>;</a:t>
            </a:r>
            <a:r>
              <a:rPr lang="nn-NO" sz="1600" dirty="0">
                <a:solidFill>
                  <a:srgbClr val="000000"/>
                </a:solidFill>
                <a:highlight>
                  <a:srgbClr val="FFFFFF"/>
                </a:highlight>
              </a:rPr>
              <a:t> i</a:t>
            </a:r>
            <a:r>
              <a:rPr lang="nn-NO" sz="1600" b="1" dirty="0">
                <a:solidFill>
                  <a:srgbClr val="000080"/>
                </a:solidFill>
                <a:highlight>
                  <a:srgbClr val="FFFFFF"/>
                </a:highlight>
              </a:rPr>
              <a:t>++</a:t>
            </a:r>
            <a:r>
              <a:rPr lang="nn-NO" sz="1600" dirty="0">
                <a:solidFill>
                  <a:srgbClr val="000000"/>
                </a:solidFill>
                <a:highlight>
                  <a:srgbClr val="FFFFFF"/>
                </a:highlight>
              </a:rPr>
              <a:t> </a:t>
            </a:r>
            <a:r>
              <a:rPr lang="nn-NO" sz="1600" b="1" dirty="0">
                <a:solidFill>
                  <a:srgbClr val="000080"/>
                </a:solidFill>
                <a:highlight>
                  <a:srgbClr val="FFFFFF"/>
                </a:highlight>
              </a:rPr>
              <a:t>)</a:t>
            </a:r>
            <a:r>
              <a:rPr lang="nn-NO" sz="1600" dirty="0">
                <a:solidFill>
                  <a:srgbClr val="000000"/>
                </a:solidFill>
                <a:highlight>
                  <a:srgbClr val="FFFFFF"/>
                </a:highlight>
              </a:rPr>
              <a:t> </a:t>
            </a:r>
            <a:r>
              <a:rPr lang="nn-NO" sz="1600" b="1" dirty="0">
                <a:solidFill>
                  <a:srgbClr val="000080"/>
                </a:solidFill>
                <a:highlight>
                  <a:srgbClr val="FFFFFF"/>
                </a:highlight>
              </a:rPr>
              <a:t>{</a:t>
            </a:r>
            <a:endParaRPr lang="nn-NO" sz="1600" dirty="0">
              <a:solidFill>
                <a:srgbClr val="000000"/>
              </a:solidFill>
              <a:highlight>
                <a:srgbClr val="FFFFFF"/>
              </a:highlight>
            </a:endParaRPr>
          </a:p>
          <a:p>
            <a:r>
              <a:rPr lang="ro-RO" sz="1600" dirty="0">
                <a:solidFill>
                  <a:srgbClr val="000000"/>
                </a:solidFill>
                <a:highlight>
                  <a:srgbClr val="FFFFFF"/>
                </a:highlight>
              </a:rPr>
              <a:t>filozofi</a:t>
            </a:r>
            <a:r>
              <a:rPr lang="ro-RO" sz="1600" b="1" dirty="0">
                <a:solidFill>
                  <a:srgbClr val="000080"/>
                </a:solidFill>
                <a:highlight>
                  <a:srgbClr val="FFFFFF"/>
                </a:highlight>
              </a:rPr>
              <a:t>[</a:t>
            </a:r>
            <a:r>
              <a:rPr lang="ro-RO" sz="1600" dirty="0">
                <a:solidFill>
                  <a:srgbClr val="000000"/>
                </a:solidFill>
                <a:highlight>
                  <a:srgbClr val="FFFFFF"/>
                </a:highlight>
              </a:rPr>
              <a:t>i</a:t>
            </a:r>
            <a:r>
              <a:rPr lang="ro-RO" sz="1600" b="1" dirty="0">
                <a:solidFill>
                  <a:srgbClr val="000080"/>
                </a:solidFill>
                <a:highlight>
                  <a:srgbClr val="FFFFFF"/>
                </a:highlight>
              </a:rPr>
              <a:t>].</a:t>
            </a:r>
            <a:r>
              <a:rPr lang="ro-RO" sz="1600" dirty="0">
                <a:solidFill>
                  <a:srgbClr val="000000"/>
                </a:solidFill>
                <a:highlight>
                  <a:srgbClr val="FFFFFF"/>
                </a:highlight>
              </a:rPr>
              <a:t>stop</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err="1">
                <a:solidFill>
                  <a:srgbClr val="0000FF"/>
                </a:solidFill>
                <a:highlight>
                  <a:srgbClr val="FFFFFF"/>
                </a:highlight>
              </a:rPr>
              <a:t>try</a:t>
            </a:r>
            <a:r>
              <a:rPr lang="ro-RO" sz="1600" dirty="0">
                <a:solidFill>
                  <a:srgbClr val="00000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dirty="0">
                <a:solidFill>
                  <a:srgbClr val="000000"/>
                </a:solidFill>
                <a:highlight>
                  <a:srgbClr val="FFFFFF"/>
                </a:highlight>
              </a:rPr>
              <a:t>filozofi</a:t>
            </a:r>
            <a:r>
              <a:rPr lang="ro-RO" sz="1600" b="1" dirty="0">
                <a:solidFill>
                  <a:srgbClr val="000080"/>
                </a:solidFill>
                <a:highlight>
                  <a:srgbClr val="FFFFFF"/>
                </a:highlight>
              </a:rPr>
              <a:t>[</a:t>
            </a:r>
            <a:r>
              <a:rPr lang="ro-RO" sz="1600" dirty="0">
                <a:solidFill>
                  <a:srgbClr val="000000"/>
                </a:solidFill>
                <a:highlight>
                  <a:srgbClr val="FFFFFF"/>
                </a:highlight>
              </a:rPr>
              <a:t>i</a:t>
            </a:r>
            <a:r>
              <a:rPr lang="ro-RO" sz="1600" b="1" dirty="0">
                <a:solidFill>
                  <a:srgbClr val="000080"/>
                </a:solidFill>
                <a:highlight>
                  <a:srgbClr val="FFFFFF"/>
                </a:highlight>
              </a:rPr>
              <a:t>].</a:t>
            </a:r>
            <a:r>
              <a:rPr lang="ro-RO" sz="1600" dirty="0" err="1">
                <a:solidFill>
                  <a:srgbClr val="000000"/>
                </a:solidFill>
                <a:highlight>
                  <a:srgbClr val="FFFFFF"/>
                </a:highlight>
              </a:rPr>
              <a:t>join</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FF"/>
                </a:solidFill>
                <a:highlight>
                  <a:srgbClr val="FFFFFF"/>
                </a:highlight>
              </a:rPr>
              <a:t>catch</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dirty="0" err="1">
                <a:solidFill>
                  <a:srgbClr val="000000"/>
                </a:solidFill>
                <a:highlight>
                  <a:srgbClr val="FFFFFF"/>
                </a:highlight>
              </a:rPr>
              <a:t>InterruptedException</a:t>
            </a:r>
            <a:r>
              <a:rPr lang="ro-RO" sz="1600" dirty="0">
                <a:solidFill>
                  <a:srgbClr val="000000"/>
                </a:solidFill>
                <a:highlight>
                  <a:srgbClr val="FFFFFF"/>
                </a:highlight>
              </a:rPr>
              <a:t> e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r>
              <a:rPr lang="en-US" sz="1600" b="1" dirty="0">
                <a:solidFill>
                  <a:srgbClr val="00008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en-US" sz="1600" dirty="0">
                <a:solidFill>
                  <a:srgbClr val="8000FF"/>
                </a:solidFill>
                <a:highlight>
                  <a:srgbClr val="FFFFFF"/>
                </a:highlight>
              </a:rPr>
              <a:t>public</a:t>
            </a:r>
            <a:r>
              <a:rPr lang="en-US" sz="1600" dirty="0">
                <a:solidFill>
                  <a:srgbClr val="000000"/>
                </a:solidFill>
                <a:highlight>
                  <a:srgbClr val="FFFFFF"/>
                </a:highlight>
              </a:rPr>
              <a:t> </a:t>
            </a:r>
            <a:r>
              <a:rPr lang="en-US" sz="1600" dirty="0">
                <a:solidFill>
                  <a:srgbClr val="8000FF"/>
                </a:solidFill>
                <a:highlight>
                  <a:srgbClr val="FFFFFF"/>
                </a:highlight>
              </a:rPr>
              <a:t>static</a:t>
            </a:r>
            <a:r>
              <a:rPr lang="en-US" sz="1600" dirty="0">
                <a:solidFill>
                  <a:srgbClr val="000000"/>
                </a:solidFill>
                <a:highlight>
                  <a:srgbClr val="FFFFFF"/>
                </a:highlight>
              </a:rPr>
              <a:t> Color </a:t>
            </a:r>
            <a:r>
              <a:rPr lang="en-US" sz="1600" dirty="0" err="1">
                <a:solidFill>
                  <a:srgbClr val="000000"/>
                </a:solidFill>
                <a:highlight>
                  <a:srgbClr val="FFFFFF"/>
                </a:highlight>
              </a:rPr>
              <a:t>culoare</a:t>
            </a:r>
            <a:r>
              <a:rPr lang="en-US" sz="1600" b="1" dirty="0">
                <a:solidFill>
                  <a:srgbClr val="000080"/>
                </a:solidFill>
                <a:highlight>
                  <a:srgbClr val="FFFFFF"/>
                </a:highlight>
              </a:rPr>
              <a:t>(</a:t>
            </a:r>
            <a:r>
              <a:rPr lang="en-US" sz="1600" dirty="0">
                <a:solidFill>
                  <a:srgbClr val="000000"/>
                </a:solidFill>
                <a:highlight>
                  <a:srgbClr val="FFFFFF"/>
                </a:highlight>
              </a:rPr>
              <a:t> </a:t>
            </a:r>
            <a:r>
              <a:rPr lang="en-US" sz="1600" dirty="0" err="1">
                <a:solidFill>
                  <a:srgbClr val="000000"/>
                </a:solidFill>
                <a:highlight>
                  <a:srgbClr val="FFFFFF"/>
                </a:highlight>
              </a:rPr>
              <a:t>Filozof</a:t>
            </a:r>
            <a:r>
              <a:rPr lang="en-US" sz="1600" dirty="0">
                <a:solidFill>
                  <a:srgbClr val="000000"/>
                </a:solidFill>
                <a:highlight>
                  <a:srgbClr val="FFFFFF"/>
                </a:highlight>
              </a:rPr>
              <a:t> </a:t>
            </a:r>
            <a:r>
              <a:rPr lang="en-US" sz="1600" dirty="0" err="1">
                <a:solidFill>
                  <a:srgbClr val="000000"/>
                </a:solidFill>
                <a:highlight>
                  <a:srgbClr val="FFFFFF"/>
                </a:highlight>
              </a:rPr>
              <a:t>filozof</a:t>
            </a:r>
            <a:r>
              <a:rPr lang="en-US" sz="1600" b="1" dirty="0">
                <a:solidFill>
                  <a:srgbClr val="000080"/>
                </a:solidFill>
                <a:highlight>
                  <a:srgbClr val="FFFFFF"/>
                </a:highlight>
              </a:rPr>
              <a:t>,</a:t>
            </a:r>
            <a:r>
              <a:rPr lang="en-US" sz="1600" dirty="0">
                <a:solidFill>
                  <a:srgbClr val="000000"/>
                </a:solidFill>
                <a:highlight>
                  <a:srgbClr val="FFFFFF"/>
                </a:highlight>
              </a:rPr>
              <a:t> </a:t>
            </a:r>
            <a:r>
              <a:rPr lang="en-US" sz="1600" dirty="0" err="1">
                <a:solidFill>
                  <a:srgbClr val="000000"/>
                </a:solidFill>
                <a:highlight>
                  <a:srgbClr val="FFFFFF"/>
                </a:highlight>
              </a:rPr>
              <a:t>Filozof</a:t>
            </a:r>
            <a:r>
              <a:rPr lang="en-US" sz="1600" dirty="0">
                <a:solidFill>
                  <a:srgbClr val="000000"/>
                </a:solidFill>
                <a:highlight>
                  <a:srgbClr val="FFFFFF"/>
                </a:highlight>
              </a:rPr>
              <a:t> </a:t>
            </a:r>
            <a:r>
              <a:rPr lang="en-US" sz="1600" dirty="0" err="1">
                <a:solidFill>
                  <a:srgbClr val="000000"/>
                </a:solidFill>
                <a:highlight>
                  <a:srgbClr val="FFFFFF"/>
                </a:highlight>
              </a:rPr>
              <a:t>concurent</a:t>
            </a:r>
            <a:r>
              <a:rPr lang="en-US" sz="1600" dirty="0">
                <a:solidFill>
                  <a:srgbClr val="000000"/>
                </a:solidFill>
                <a:highlight>
                  <a:srgbClr val="FFFFFF"/>
                </a:highlight>
              </a:rPr>
              <a:t> </a:t>
            </a:r>
            <a:r>
              <a:rPr lang="en-US" sz="1600" b="1" dirty="0">
                <a:solidFill>
                  <a:srgbClr val="000080"/>
                </a:solidFill>
                <a:highlight>
                  <a:srgbClr val="FFFFFF"/>
                </a:highlight>
              </a:rPr>
              <a:t>)</a:t>
            </a:r>
            <a:r>
              <a:rPr lang="en-US" sz="1600" dirty="0">
                <a:solidFill>
                  <a:srgbClr val="000000"/>
                </a:solidFill>
                <a:highlight>
                  <a:srgbClr val="FFFFFF"/>
                </a:highlight>
              </a:rPr>
              <a:t> </a:t>
            </a:r>
            <a:r>
              <a:rPr lang="en-US" sz="1600" b="1" dirty="0">
                <a:solidFill>
                  <a:srgbClr val="000080"/>
                </a:solidFill>
                <a:highlight>
                  <a:srgbClr val="FFFFFF"/>
                </a:highlight>
              </a:rPr>
              <a:t>{</a:t>
            </a:r>
            <a:endParaRPr lang="en-US" sz="1600" dirty="0">
              <a:solidFill>
                <a:srgbClr val="000000"/>
              </a:solidFill>
              <a:highlight>
                <a:srgbClr val="FFFFFF"/>
              </a:highlight>
            </a:endParaRPr>
          </a:p>
          <a:p>
            <a:r>
              <a:rPr lang="ro-RO" sz="1600" b="1" dirty="0" err="1">
                <a:solidFill>
                  <a:srgbClr val="0000FF"/>
                </a:solidFill>
                <a:highlight>
                  <a:srgbClr val="FFFFFF"/>
                </a:highlight>
              </a:rPr>
              <a:t>if</a:t>
            </a:r>
            <a:r>
              <a:rPr lang="ro-RO" sz="1600" b="1" dirty="0">
                <a:solidFill>
                  <a:srgbClr val="000080"/>
                </a:solidFill>
                <a:highlight>
                  <a:srgbClr val="FFFFFF"/>
                </a:highlight>
              </a:rPr>
              <a:t>(</a:t>
            </a:r>
            <a:r>
              <a:rPr lang="ro-RO" sz="1600" dirty="0">
                <a:solidFill>
                  <a:srgbClr val="000000"/>
                </a:solidFill>
                <a:highlight>
                  <a:srgbClr val="FFFFFF"/>
                </a:highlight>
              </a:rPr>
              <a:t> filozof </a:t>
            </a:r>
            <a:r>
              <a:rPr lang="ro-RO" sz="1600" b="1" dirty="0">
                <a:solidFill>
                  <a:srgbClr val="000080"/>
                </a:solidFill>
                <a:highlight>
                  <a:srgbClr val="FFFFFF"/>
                </a:highlight>
              </a:rPr>
              <a:t>!=</a:t>
            </a:r>
            <a:r>
              <a:rPr lang="ro-RO" sz="1600" dirty="0">
                <a:solidFill>
                  <a:srgbClr val="000000"/>
                </a:solidFill>
                <a:highlight>
                  <a:srgbClr val="FFFFFF"/>
                </a:highlight>
              </a:rPr>
              <a:t> concurent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nn-NO" sz="1600" b="1" dirty="0">
                <a:solidFill>
                  <a:srgbClr val="0000FF"/>
                </a:solidFill>
                <a:highlight>
                  <a:srgbClr val="FFFFFF"/>
                </a:highlight>
              </a:rPr>
              <a:t>for</a:t>
            </a:r>
            <a:r>
              <a:rPr lang="nn-NO" sz="1600" b="1" dirty="0">
                <a:solidFill>
                  <a:srgbClr val="000080"/>
                </a:solidFill>
                <a:highlight>
                  <a:srgbClr val="FFFFFF"/>
                </a:highlight>
              </a:rPr>
              <a:t>(</a:t>
            </a:r>
            <a:r>
              <a:rPr lang="nn-NO" sz="1600" dirty="0">
                <a:solidFill>
                  <a:srgbClr val="000000"/>
                </a:solidFill>
                <a:highlight>
                  <a:srgbClr val="FFFFFF"/>
                </a:highlight>
              </a:rPr>
              <a:t> </a:t>
            </a:r>
            <a:r>
              <a:rPr lang="nn-NO" sz="1600" dirty="0">
                <a:solidFill>
                  <a:srgbClr val="8000FF"/>
                </a:solidFill>
                <a:highlight>
                  <a:srgbClr val="FFFFFF"/>
                </a:highlight>
              </a:rPr>
              <a:t>int</a:t>
            </a:r>
            <a:r>
              <a:rPr lang="nn-NO" sz="1600" dirty="0">
                <a:solidFill>
                  <a:srgbClr val="000000"/>
                </a:solidFill>
                <a:highlight>
                  <a:srgbClr val="FFFFFF"/>
                </a:highlight>
              </a:rPr>
              <a:t> i </a:t>
            </a:r>
            <a:r>
              <a:rPr lang="nn-NO" sz="1600" b="1" dirty="0">
                <a:solidFill>
                  <a:srgbClr val="000080"/>
                </a:solidFill>
                <a:highlight>
                  <a:srgbClr val="FFFFFF"/>
                </a:highlight>
              </a:rPr>
              <a:t>=</a:t>
            </a:r>
            <a:r>
              <a:rPr lang="nn-NO" sz="1600" dirty="0">
                <a:solidFill>
                  <a:srgbClr val="000000"/>
                </a:solidFill>
                <a:highlight>
                  <a:srgbClr val="FFFFFF"/>
                </a:highlight>
              </a:rPr>
              <a:t> </a:t>
            </a:r>
            <a:r>
              <a:rPr lang="nn-NO" sz="1600" dirty="0">
                <a:solidFill>
                  <a:srgbClr val="FF8000"/>
                </a:solidFill>
                <a:highlight>
                  <a:srgbClr val="FFFFFF"/>
                </a:highlight>
              </a:rPr>
              <a:t>0</a:t>
            </a:r>
            <a:r>
              <a:rPr lang="nn-NO" sz="1600" b="1" dirty="0">
                <a:solidFill>
                  <a:srgbClr val="000080"/>
                </a:solidFill>
                <a:highlight>
                  <a:srgbClr val="FFFFFF"/>
                </a:highlight>
              </a:rPr>
              <a:t>;</a:t>
            </a:r>
            <a:r>
              <a:rPr lang="nn-NO" sz="1600" dirty="0">
                <a:solidFill>
                  <a:srgbClr val="000000"/>
                </a:solidFill>
                <a:highlight>
                  <a:srgbClr val="FFFFFF"/>
                </a:highlight>
              </a:rPr>
              <a:t> i </a:t>
            </a:r>
            <a:r>
              <a:rPr lang="nn-NO" sz="1600" b="1" dirty="0">
                <a:solidFill>
                  <a:srgbClr val="000080"/>
                </a:solidFill>
                <a:highlight>
                  <a:srgbClr val="FFFFFF"/>
                </a:highlight>
              </a:rPr>
              <a:t>&lt;</a:t>
            </a:r>
            <a:r>
              <a:rPr lang="nn-NO" sz="1600" dirty="0">
                <a:solidFill>
                  <a:srgbClr val="000000"/>
                </a:solidFill>
                <a:highlight>
                  <a:srgbClr val="FFFFFF"/>
                </a:highlight>
              </a:rPr>
              <a:t> </a:t>
            </a:r>
            <a:r>
              <a:rPr lang="nn-NO" sz="1600" dirty="0">
                <a:solidFill>
                  <a:srgbClr val="FF8000"/>
                </a:solidFill>
                <a:highlight>
                  <a:srgbClr val="FFFFFF"/>
                </a:highlight>
              </a:rPr>
              <a:t>3</a:t>
            </a:r>
            <a:r>
              <a:rPr lang="nn-NO" sz="1600" b="1" dirty="0">
                <a:solidFill>
                  <a:srgbClr val="000080"/>
                </a:solidFill>
                <a:highlight>
                  <a:srgbClr val="FFFFFF"/>
                </a:highlight>
              </a:rPr>
              <a:t>;</a:t>
            </a:r>
            <a:r>
              <a:rPr lang="nn-NO" sz="1600" dirty="0">
                <a:solidFill>
                  <a:srgbClr val="000000"/>
                </a:solidFill>
                <a:highlight>
                  <a:srgbClr val="FFFFFF"/>
                </a:highlight>
              </a:rPr>
              <a:t> i</a:t>
            </a:r>
            <a:r>
              <a:rPr lang="nn-NO" sz="1600" b="1" dirty="0">
                <a:solidFill>
                  <a:srgbClr val="000080"/>
                </a:solidFill>
                <a:highlight>
                  <a:srgbClr val="FFFFFF"/>
                </a:highlight>
              </a:rPr>
              <a:t>++</a:t>
            </a:r>
            <a:r>
              <a:rPr lang="nn-NO" sz="1600" dirty="0">
                <a:solidFill>
                  <a:srgbClr val="000000"/>
                </a:solidFill>
                <a:highlight>
                  <a:srgbClr val="FFFFFF"/>
                </a:highlight>
              </a:rPr>
              <a:t> </a:t>
            </a:r>
            <a:r>
              <a:rPr lang="nn-NO" sz="1600" b="1" dirty="0">
                <a:solidFill>
                  <a:srgbClr val="000080"/>
                </a:solidFill>
                <a:highlight>
                  <a:srgbClr val="FFFFFF"/>
                </a:highlight>
              </a:rPr>
              <a:t>)</a:t>
            </a:r>
            <a:r>
              <a:rPr lang="nn-NO" sz="1600" dirty="0">
                <a:solidFill>
                  <a:srgbClr val="000000"/>
                </a:solidFill>
                <a:highlight>
                  <a:srgbClr val="FFFFFF"/>
                </a:highlight>
              </a:rPr>
              <a:t> </a:t>
            </a:r>
            <a:r>
              <a:rPr lang="nn-NO" sz="1600" b="1" dirty="0">
                <a:solidFill>
                  <a:srgbClr val="000080"/>
                </a:solidFill>
                <a:highlight>
                  <a:srgbClr val="FFFFFF"/>
                </a:highlight>
              </a:rPr>
              <a:t>{</a:t>
            </a:r>
            <a:endParaRPr lang="nn-NO" sz="1600" dirty="0">
              <a:solidFill>
                <a:srgbClr val="000000"/>
              </a:solidFill>
              <a:highlight>
                <a:srgbClr val="FFFFFF"/>
              </a:highlight>
            </a:endParaRPr>
          </a:p>
          <a:p>
            <a:r>
              <a:rPr lang="ro-RO" sz="1600" b="1" dirty="0" err="1">
                <a:solidFill>
                  <a:srgbClr val="0000FF"/>
                </a:solidFill>
                <a:highlight>
                  <a:srgbClr val="FFFFFF"/>
                </a:highlight>
              </a:rPr>
              <a:t>if</a:t>
            </a:r>
            <a:r>
              <a:rPr lang="ro-RO" sz="1600" b="1" dirty="0">
                <a:solidFill>
                  <a:srgbClr val="000080"/>
                </a:solidFill>
                <a:highlight>
                  <a:srgbClr val="FFFFFF"/>
                </a:highlight>
              </a:rPr>
              <a:t>(</a:t>
            </a:r>
            <a:r>
              <a:rPr lang="ro-RO" sz="1600" dirty="0">
                <a:solidFill>
                  <a:srgbClr val="000000"/>
                </a:solidFill>
                <a:highlight>
                  <a:srgbClr val="FFFFFF"/>
                </a:highlight>
              </a:rPr>
              <a:t> filozofi</a:t>
            </a:r>
            <a:r>
              <a:rPr lang="ro-RO" sz="1600" b="1" dirty="0">
                <a:solidFill>
                  <a:srgbClr val="000080"/>
                </a:solidFill>
                <a:highlight>
                  <a:srgbClr val="FFFFFF"/>
                </a:highlight>
              </a:rPr>
              <a:t>[</a:t>
            </a:r>
            <a:r>
              <a:rPr lang="ro-RO" sz="1600" dirty="0">
                <a:solidFill>
                  <a:srgbClr val="000000"/>
                </a:solidFill>
                <a:highlight>
                  <a:srgbClr val="FFFFFF"/>
                </a:highlight>
              </a:rPr>
              <a:t>i</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 concurent </a:t>
            </a:r>
            <a:r>
              <a:rPr lang="ro-RO" sz="1600" b="1" dirty="0">
                <a:solidFill>
                  <a:srgbClr val="000080"/>
                </a:solidFill>
                <a:highlight>
                  <a:srgbClr val="FFFFFF"/>
                </a:highlight>
              </a:rPr>
              <a:t>)</a:t>
            </a:r>
            <a:r>
              <a:rPr lang="ro-RO" sz="1600" dirty="0">
                <a:solidFill>
                  <a:srgbClr val="00000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err="1">
                <a:solidFill>
                  <a:srgbClr val="0000FF"/>
                </a:solidFill>
                <a:highlight>
                  <a:srgbClr val="FFFFFF"/>
                </a:highlight>
              </a:rPr>
              <a:t>return</a:t>
            </a:r>
            <a:r>
              <a:rPr lang="ro-RO" sz="1600" dirty="0">
                <a:solidFill>
                  <a:srgbClr val="000000"/>
                </a:solidFill>
                <a:highlight>
                  <a:srgbClr val="FFFFFF"/>
                </a:highlight>
              </a:rPr>
              <a:t> </a:t>
            </a:r>
            <a:r>
              <a:rPr lang="ro-RO" sz="1600" dirty="0" err="1">
                <a:solidFill>
                  <a:srgbClr val="000000"/>
                </a:solidFill>
                <a:highlight>
                  <a:srgbClr val="FFFFFF"/>
                </a:highlight>
              </a:rPr>
              <a:t>palarii</a:t>
            </a:r>
            <a:r>
              <a:rPr lang="ro-RO" sz="1600" b="1" dirty="0">
                <a:solidFill>
                  <a:srgbClr val="000080"/>
                </a:solidFill>
                <a:highlight>
                  <a:srgbClr val="FFFFFF"/>
                </a:highlight>
              </a:rPr>
              <a:t>[</a:t>
            </a:r>
            <a:r>
              <a:rPr lang="ro-RO" sz="1600" dirty="0">
                <a:solidFill>
                  <a:srgbClr val="000000"/>
                </a:solidFill>
                <a:highlight>
                  <a:srgbClr val="FFFFFF"/>
                </a:highlight>
              </a:rPr>
              <a:t>i</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r>
              <a:rPr lang="en-US" sz="1600" b="1" dirty="0">
                <a:solidFill>
                  <a:srgbClr val="000080"/>
                </a:solidFill>
                <a:highlight>
                  <a:srgbClr val="FFFFFF"/>
                </a:highlight>
              </a:rPr>
              <a:t> </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err="1">
                <a:solidFill>
                  <a:srgbClr val="0000FF"/>
                </a:solidFill>
                <a:highlight>
                  <a:srgbClr val="FFFFFF"/>
                </a:highlight>
              </a:rPr>
              <a:t>return</a:t>
            </a:r>
            <a:r>
              <a:rPr lang="ro-RO" sz="1600" dirty="0">
                <a:solidFill>
                  <a:srgbClr val="000000"/>
                </a:solidFill>
                <a:highlight>
                  <a:srgbClr val="FFFFFF"/>
                </a:highlight>
              </a:rPr>
              <a:t> </a:t>
            </a:r>
            <a:r>
              <a:rPr lang="ro-RO" sz="1600" b="1" dirty="0" err="1">
                <a:solidFill>
                  <a:srgbClr val="0000FF"/>
                </a:solidFill>
                <a:highlight>
                  <a:srgbClr val="FFFFFF"/>
                </a:highlight>
              </a:rPr>
              <a:t>null</a:t>
            </a:r>
            <a:r>
              <a:rPr lang="ro-RO" sz="1600" b="1" dirty="0">
                <a:solidFill>
                  <a:srgbClr val="000080"/>
                </a:solidFill>
                <a:highlight>
                  <a:srgbClr val="FFFFFF"/>
                </a:highlight>
              </a:rPr>
              <a:t>;</a:t>
            </a:r>
            <a:endParaRPr lang="ro-RO" sz="1600" dirty="0">
              <a:solidFill>
                <a:srgbClr val="000000"/>
              </a:solidFill>
              <a:highlight>
                <a:srgbClr val="FFFFFF"/>
              </a:highlight>
            </a:endParaRPr>
          </a:p>
          <a:p>
            <a:r>
              <a:rPr lang="ro-RO" sz="1600" b="1" dirty="0">
                <a:solidFill>
                  <a:srgbClr val="000080"/>
                </a:solidFill>
                <a:highlight>
                  <a:srgbClr val="FFFFFF"/>
                </a:highlight>
              </a:rPr>
              <a:t>}</a:t>
            </a:r>
            <a:r>
              <a:rPr lang="en-US" sz="1600" b="1" dirty="0">
                <a:solidFill>
                  <a:srgbClr val="000080"/>
                </a:solidFill>
                <a:highlight>
                  <a:srgbClr val="FFFFFF"/>
                </a:highlight>
              </a:rPr>
              <a:t> </a:t>
            </a:r>
            <a:r>
              <a:rPr lang="ro-RO" sz="1600" b="1" dirty="0">
                <a:solidFill>
                  <a:srgbClr val="000080"/>
                </a:solidFill>
                <a:highlight>
                  <a:srgbClr val="FFFFFF"/>
                </a:highlight>
              </a:rPr>
              <a:t>}</a:t>
            </a:r>
            <a:r>
              <a:rPr lang="ro-RO" sz="1600" dirty="0">
                <a:solidFill>
                  <a:srgbClr val="000000"/>
                </a:solidFill>
                <a:highlight>
                  <a:srgbClr val="FFFFFF"/>
                </a:highlight>
              </a:rPr>
              <a:t> </a:t>
            </a:r>
          </a:p>
        </p:txBody>
      </p:sp>
    </p:spTree>
    <p:extLst>
      <p:ext uri="{BB962C8B-B14F-4D97-AF65-F5344CB8AC3E}">
        <p14:creationId xmlns:p14="http://schemas.microsoft.com/office/powerpoint/2010/main" val="19584781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A7DC0CDF-805D-28D6-EE15-56417E5EF2C1}"/>
              </a:ext>
            </a:extLst>
          </p:cNvPr>
          <p:cNvSpPr>
            <a:spLocks noGrp="1"/>
          </p:cNvSpPr>
          <p:nvPr>
            <p:ph type="title"/>
          </p:nvPr>
        </p:nvSpPr>
        <p:spPr>
          <a:xfrm>
            <a:off x="492370" y="605896"/>
            <a:ext cx="3084844" cy="5646208"/>
          </a:xfrm>
        </p:spPr>
        <p:txBody>
          <a:bodyPr anchor="ctr">
            <a:normAutofit/>
          </a:bodyPr>
          <a:lstStyle/>
          <a:p>
            <a:r>
              <a:rPr lang="en-GB" sz="3600">
                <a:solidFill>
                  <a:srgbClr val="FFFFFF"/>
                </a:solidFill>
              </a:rPr>
              <a:t>Explicatii</a:t>
            </a: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 name="Content Placeholder 2">
            <a:extLst>
              <a:ext uri="{FF2B5EF4-FFF2-40B4-BE49-F238E27FC236}">
                <a16:creationId xmlns:a16="http://schemas.microsoft.com/office/drawing/2014/main" id="{CED3047E-0FCB-BCA4-C520-D4EB30DDBB8A}"/>
              </a:ext>
            </a:extLst>
          </p:cNvPr>
          <p:cNvSpPr>
            <a:spLocks noGrp="1"/>
          </p:cNvSpPr>
          <p:nvPr>
            <p:ph idx="1"/>
          </p:nvPr>
        </p:nvSpPr>
        <p:spPr>
          <a:xfrm>
            <a:off x="4742016" y="605896"/>
            <a:ext cx="6413663" cy="5646208"/>
          </a:xfrm>
        </p:spPr>
        <p:txBody>
          <a:bodyPr anchor="ctr">
            <a:normAutofit/>
          </a:bodyPr>
          <a:lstStyle/>
          <a:p>
            <a:r>
              <a:rPr lang="en-GB" b="1" dirty="0"/>
              <a:t>🔹 </a:t>
            </a:r>
            <a:r>
              <a:rPr lang="en-GB" b="1" dirty="0" err="1"/>
              <a:t>Clasa</a:t>
            </a:r>
            <a:r>
              <a:rPr lang="en-GB" b="1" dirty="0"/>
              <a:t> </a:t>
            </a:r>
            <a:r>
              <a:rPr lang="en-GB" b="1" dirty="0" err="1"/>
              <a:t>Filozof</a:t>
            </a:r>
            <a:endParaRPr lang="en-GB" b="1" dirty="0"/>
          </a:p>
          <a:p>
            <a:r>
              <a:rPr lang="en-GB" dirty="0">
                <a:solidFill>
                  <a:srgbClr val="8000FF"/>
                </a:solidFill>
                <a:highlight>
                  <a:srgbClr val="FFFFFF"/>
                </a:highlight>
              </a:rPr>
              <a:t>class</a:t>
            </a:r>
            <a:r>
              <a:rPr lang="en-GB" dirty="0">
                <a:solidFill>
                  <a:srgbClr val="000000"/>
                </a:solidFill>
                <a:highlight>
                  <a:srgbClr val="FFFFFF"/>
                </a:highlight>
              </a:rPr>
              <a:t> </a:t>
            </a:r>
            <a:r>
              <a:rPr lang="en-GB" dirty="0" err="1">
                <a:solidFill>
                  <a:srgbClr val="000000"/>
                </a:solidFill>
                <a:highlight>
                  <a:srgbClr val="FFFFFF"/>
                </a:highlight>
              </a:rPr>
              <a:t>Filozof</a:t>
            </a:r>
            <a:r>
              <a:rPr lang="en-GB" dirty="0">
                <a:solidFill>
                  <a:srgbClr val="000000"/>
                </a:solidFill>
                <a:highlight>
                  <a:srgbClr val="FFFFFF"/>
                </a:highlight>
              </a:rPr>
              <a:t> </a:t>
            </a:r>
            <a:r>
              <a:rPr lang="en-GB" b="1" dirty="0">
                <a:solidFill>
                  <a:srgbClr val="0000FF"/>
                </a:solidFill>
                <a:highlight>
                  <a:srgbClr val="FFFFFF"/>
                </a:highlight>
              </a:rPr>
              <a:t>extends</a:t>
            </a:r>
            <a:r>
              <a:rPr lang="en-GB" dirty="0">
                <a:solidFill>
                  <a:srgbClr val="000000"/>
                </a:solidFill>
                <a:highlight>
                  <a:srgbClr val="FFFFFF"/>
                </a:highlight>
              </a:rPr>
              <a:t> Thread </a:t>
            </a:r>
            <a:r>
              <a:rPr lang="en-GB" b="1" dirty="0">
                <a:solidFill>
                  <a:srgbClr val="000080"/>
                </a:solidFill>
                <a:highlight>
                  <a:srgbClr val="FFFFFF"/>
                </a:highlight>
              </a:rPr>
              <a:t>{</a:t>
            </a:r>
            <a:endParaRPr lang="en-GB" dirty="0">
              <a:solidFill>
                <a:srgbClr val="000000"/>
              </a:solidFill>
              <a:highlight>
                <a:srgbClr val="FFFFFF"/>
              </a:highlight>
            </a:endParaRPr>
          </a:p>
          <a:p>
            <a:r>
              <a:rPr lang="en-GB" dirty="0">
                <a:solidFill>
                  <a:srgbClr val="000000"/>
                </a:solidFill>
                <a:highlight>
                  <a:srgbClr val="FFFFFF"/>
                </a:highlight>
              </a:rPr>
              <a:t>    </a:t>
            </a:r>
            <a:r>
              <a:rPr lang="en-GB" dirty="0" err="1">
                <a:solidFill>
                  <a:srgbClr val="000000"/>
                </a:solidFill>
                <a:highlight>
                  <a:srgbClr val="FFFFFF"/>
                </a:highlight>
              </a:rPr>
              <a:t>Color</a:t>
            </a:r>
            <a:r>
              <a:rPr lang="en-GB" dirty="0">
                <a:solidFill>
                  <a:srgbClr val="000000"/>
                </a:solidFill>
                <a:highlight>
                  <a:srgbClr val="FFFFFF"/>
                </a:highlight>
              </a:rPr>
              <a:t> </a:t>
            </a:r>
            <a:r>
              <a:rPr lang="en-GB" dirty="0" err="1">
                <a:solidFill>
                  <a:srgbClr val="000000"/>
                </a:solidFill>
                <a:highlight>
                  <a:srgbClr val="FFFFFF"/>
                </a:highlight>
              </a:rPr>
              <a:t>parere</a:t>
            </a:r>
            <a:r>
              <a:rPr lang="en-GB" dirty="0">
                <a:solidFill>
                  <a:srgbClr val="000000"/>
                </a:solidFill>
                <a:highlight>
                  <a:srgbClr val="FFFFFF"/>
                </a:highlight>
              </a:rPr>
              <a:t> </a:t>
            </a:r>
            <a:r>
              <a:rPr lang="en-GB" b="1" dirty="0">
                <a:solidFill>
                  <a:srgbClr val="000080"/>
                </a:solidFill>
                <a:highlight>
                  <a:srgbClr val="FFFFFF"/>
                </a:highlight>
              </a:rPr>
              <a:t>=</a:t>
            </a:r>
            <a:r>
              <a:rPr lang="en-GB" dirty="0">
                <a:solidFill>
                  <a:srgbClr val="000000"/>
                </a:solidFill>
                <a:highlight>
                  <a:srgbClr val="FFFFFF"/>
                </a:highlight>
              </a:rPr>
              <a:t> </a:t>
            </a:r>
            <a:r>
              <a:rPr lang="en-GB" b="1" dirty="0">
                <a:solidFill>
                  <a:srgbClr val="0000FF"/>
                </a:solidFill>
                <a:highlight>
                  <a:srgbClr val="FFFFFF"/>
                </a:highlight>
              </a:rPr>
              <a:t>null</a:t>
            </a:r>
            <a:r>
              <a:rPr lang="en-GB" b="1" dirty="0">
                <a:solidFill>
                  <a:srgbClr val="000080"/>
                </a:solidFill>
                <a:highlight>
                  <a:srgbClr val="FFFFFF"/>
                </a:highlight>
              </a:rPr>
              <a:t>;</a:t>
            </a:r>
            <a:r>
              <a:rPr lang="en-GB" dirty="0">
                <a:solidFill>
                  <a:srgbClr val="000000"/>
                </a:solidFill>
                <a:highlight>
                  <a:srgbClr val="FFFFFF"/>
                </a:highlight>
              </a:rPr>
              <a:t>     </a:t>
            </a:r>
            <a:r>
              <a:rPr lang="en-GB" dirty="0">
                <a:solidFill>
                  <a:srgbClr val="008000"/>
                </a:solidFill>
                <a:highlight>
                  <a:srgbClr val="FFFFFF"/>
                </a:highlight>
              </a:rPr>
              <a:t>// </a:t>
            </a:r>
            <a:r>
              <a:rPr lang="en-GB" dirty="0" err="1">
                <a:solidFill>
                  <a:srgbClr val="008000"/>
                </a:solidFill>
                <a:highlight>
                  <a:srgbClr val="FFFFFF"/>
                </a:highlight>
              </a:rPr>
              <a:t>culoarea</a:t>
            </a:r>
            <a:r>
              <a:rPr lang="en-GB" dirty="0">
                <a:solidFill>
                  <a:srgbClr val="008000"/>
                </a:solidFill>
                <a:highlight>
                  <a:srgbClr val="FFFFFF"/>
                </a:highlight>
              </a:rPr>
              <a:t> pe care </a:t>
            </a:r>
            <a:r>
              <a:rPr lang="en-GB" dirty="0" err="1">
                <a:solidFill>
                  <a:srgbClr val="008000"/>
                </a:solidFill>
                <a:highlight>
                  <a:srgbClr val="FFFFFF"/>
                </a:highlight>
              </a:rPr>
              <a:t>filozoful</a:t>
            </a:r>
            <a:r>
              <a:rPr lang="en-GB" dirty="0">
                <a:solidFill>
                  <a:srgbClr val="008000"/>
                </a:solidFill>
                <a:highlight>
                  <a:srgbClr val="FFFFFF"/>
                </a:highlight>
              </a:rPr>
              <a:t> </a:t>
            </a:r>
            <a:r>
              <a:rPr lang="en-GB" dirty="0" err="1">
                <a:solidFill>
                  <a:srgbClr val="008000"/>
                </a:solidFill>
                <a:highlight>
                  <a:srgbClr val="FFFFFF"/>
                </a:highlight>
              </a:rPr>
              <a:t>crede</a:t>
            </a:r>
            <a:r>
              <a:rPr lang="en-GB" dirty="0">
                <a:solidFill>
                  <a:srgbClr val="008000"/>
                </a:solidFill>
                <a:highlight>
                  <a:srgbClr val="FFFFFF"/>
                </a:highlight>
              </a:rPr>
              <a:t> </a:t>
            </a:r>
            <a:r>
              <a:rPr lang="en-GB" dirty="0" err="1">
                <a:solidFill>
                  <a:srgbClr val="008000"/>
                </a:solidFill>
                <a:highlight>
                  <a:srgbClr val="FFFFFF"/>
                </a:highlight>
              </a:rPr>
              <a:t>că</a:t>
            </a:r>
            <a:r>
              <a:rPr lang="en-GB" dirty="0">
                <a:solidFill>
                  <a:srgbClr val="008000"/>
                </a:solidFill>
                <a:highlight>
                  <a:srgbClr val="FFFFFF"/>
                </a:highlight>
              </a:rPr>
              <a:t> o are</a:t>
            </a:r>
          </a:p>
          <a:p>
            <a:r>
              <a:rPr lang="en-GB" dirty="0">
                <a:solidFill>
                  <a:srgbClr val="000000"/>
                </a:solidFill>
                <a:highlight>
                  <a:srgbClr val="FFFFFF"/>
                </a:highlight>
              </a:rPr>
              <a:t>    </a:t>
            </a:r>
            <a:r>
              <a:rPr lang="en-GB" b="1" dirty="0">
                <a:solidFill>
                  <a:srgbClr val="000080"/>
                </a:solidFill>
                <a:highlight>
                  <a:srgbClr val="FFFFFF"/>
                </a:highlight>
              </a:rPr>
              <a:t>...</a:t>
            </a:r>
            <a:endParaRPr lang="en-GB" dirty="0">
              <a:solidFill>
                <a:srgbClr val="000000"/>
              </a:solidFill>
              <a:highlight>
                <a:srgbClr val="FFFFFF"/>
              </a:highlight>
            </a:endParaRPr>
          </a:p>
          <a:p>
            <a:r>
              <a:rPr lang="en-GB" b="1" dirty="0">
                <a:solidFill>
                  <a:srgbClr val="000080"/>
                </a:solidFill>
                <a:highlight>
                  <a:srgbClr val="FFFFFF"/>
                </a:highlight>
              </a:rPr>
              <a:t>}</a:t>
            </a:r>
            <a:endParaRPr lang="en-GB" dirty="0">
              <a:solidFill>
                <a:srgbClr val="000000"/>
              </a:solidFill>
              <a:highlight>
                <a:srgbClr val="FFFFFF"/>
              </a:highlight>
            </a:endParaRPr>
          </a:p>
          <a:p>
            <a:r>
              <a:rPr lang="en-GB" dirty="0" err="1"/>
              <a:t>Extinde</a:t>
            </a:r>
            <a:r>
              <a:rPr lang="en-GB" dirty="0"/>
              <a:t> Thread, </a:t>
            </a:r>
            <a:r>
              <a:rPr lang="en-GB" dirty="0" err="1"/>
              <a:t>deci</a:t>
            </a:r>
            <a:r>
              <a:rPr lang="en-GB" dirty="0"/>
              <a:t> </a:t>
            </a:r>
            <a:r>
              <a:rPr lang="en-GB" dirty="0" err="1"/>
              <a:t>fiecare</a:t>
            </a:r>
            <a:r>
              <a:rPr lang="en-GB" dirty="0"/>
              <a:t> </a:t>
            </a:r>
            <a:r>
              <a:rPr lang="en-GB" dirty="0" err="1"/>
              <a:t>filozof</a:t>
            </a:r>
            <a:r>
              <a:rPr lang="en-GB" dirty="0"/>
              <a:t> </a:t>
            </a:r>
            <a:r>
              <a:rPr lang="en-GB" dirty="0" err="1"/>
              <a:t>este</a:t>
            </a:r>
            <a:r>
              <a:rPr lang="en-GB" dirty="0"/>
              <a:t> un fir de </a:t>
            </a:r>
            <a:r>
              <a:rPr lang="en-GB" dirty="0" err="1"/>
              <a:t>execuție</a:t>
            </a:r>
            <a:r>
              <a:rPr lang="en-GB" dirty="0"/>
              <a:t> </a:t>
            </a:r>
            <a:r>
              <a:rPr lang="en-GB" dirty="0" err="1"/>
              <a:t>separat</a:t>
            </a:r>
            <a:r>
              <a:rPr lang="en-GB" dirty="0"/>
              <a:t>.</a:t>
            </a:r>
          </a:p>
          <a:p>
            <a:r>
              <a:rPr lang="en-GB" dirty="0" err="1"/>
              <a:t>În</a:t>
            </a:r>
            <a:r>
              <a:rPr lang="en-GB" dirty="0"/>
              <a:t> </a:t>
            </a:r>
            <a:r>
              <a:rPr lang="en-GB" dirty="0" err="1"/>
              <a:t>metoda</a:t>
            </a:r>
            <a:r>
              <a:rPr lang="en-GB" dirty="0"/>
              <a:t> run() se </a:t>
            </a:r>
            <a:r>
              <a:rPr lang="en-GB" dirty="0" err="1"/>
              <a:t>simulează</a:t>
            </a:r>
            <a:r>
              <a:rPr lang="en-GB" dirty="0"/>
              <a:t> </a:t>
            </a:r>
            <a:r>
              <a:rPr lang="en-GB" dirty="0" err="1"/>
              <a:t>procesul</a:t>
            </a:r>
            <a:r>
              <a:rPr lang="en-GB" dirty="0"/>
              <a:t> de </a:t>
            </a:r>
            <a:r>
              <a:rPr lang="en-GB" dirty="0" err="1"/>
              <a:t>gândire</a:t>
            </a:r>
            <a:r>
              <a:rPr lang="en-GB" dirty="0"/>
              <a:t> — </a:t>
            </a:r>
            <a:r>
              <a:rPr lang="en-GB" dirty="0" err="1"/>
              <a:t>filozoful</a:t>
            </a:r>
            <a:r>
              <a:rPr lang="en-GB" dirty="0"/>
              <a:t> se </a:t>
            </a:r>
            <a:r>
              <a:rPr lang="en-GB" dirty="0" err="1"/>
              <a:t>uită</a:t>
            </a:r>
            <a:r>
              <a:rPr lang="en-GB" dirty="0"/>
              <a:t> la </a:t>
            </a:r>
            <a:r>
              <a:rPr lang="en-GB" dirty="0" err="1"/>
              <a:t>ceilalți</a:t>
            </a:r>
            <a:r>
              <a:rPr lang="en-GB" dirty="0"/>
              <a:t> </a:t>
            </a:r>
            <a:r>
              <a:rPr lang="en-GB" dirty="0" err="1"/>
              <a:t>doi</a:t>
            </a:r>
            <a:r>
              <a:rPr lang="en-GB" dirty="0"/>
              <a:t> </a:t>
            </a:r>
            <a:r>
              <a:rPr lang="en-GB" dirty="0" err="1"/>
              <a:t>și</a:t>
            </a:r>
            <a:r>
              <a:rPr lang="en-GB" dirty="0"/>
              <a:t> </a:t>
            </a:r>
            <a:r>
              <a:rPr lang="en-GB" dirty="0" err="1"/>
              <a:t>încearcă</a:t>
            </a:r>
            <a:r>
              <a:rPr lang="en-GB" dirty="0"/>
              <a:t> </a:t>
            </a:r>
            <a:r>
              <a:rPr lang="en-GB" dirty="0" err="1"/>
              <a:t>să</a:t>
            </a:r>
            <a:r>
              <a:rPr lang="en-GB" dirty="0"/>
              <a:t> </a:t>
            </a:r>
            <a:r>
              <a:rPr lang="en-GB" dirty="0" err="1"/>
              <a:t>deducă</a:t>
            </a:r>
            <a:r>
              <a:rPr lang="en-GB" dirty="0"/>
              <a:t> propria </a:t>
            </a:r>
            <a:r>
              <a:rPr lang="en-GB" dirty="0" err="1"/>
              <a:t>culoare</a:t>
            </a:r>
            <a:r>
              <a:rPr lang="en-GB" dirty="0"/>
              <a:t>.</a:t>
            </a:r>
          </a:p>
          <a:p>
            <a:r>
              <a:rPr lang="en-GB" dirty="0" err="1"/>
              <a:t>Variabila</a:t>
            </a:r>
            <a:r>
              <a:rPr lang="en-GB" dirty="0"/>
              <a:t> </a:t>
            </a:r>
            <a:r>
              <a:rPr lang="en-GB" dirty="0" err="1"/>
              <a:t>parere</a:t>
            </a:r>
            <a:r>
              <a:rPr lang="en-GB" dirty="0"/>
              <a:t> </a:t>
            </a:r>
            <a:r>
              <a:rPr lang="en-GB" dirty="0" err="1"/>
              <a:t>este</a:t>
            </a:r>
            <a:r>
              <a:rPr lang="en-GB" dirty="0"/>
              <a:t> </a:t>
            </a:r>
            <a:r>
              <a:rPr lang="en-GB" dirty="0" err="1"/>
              <a:t>actualizată</a:t>
            </a:r>
            <a:r>
              <a:rPr lang="en-GB" dirty="0"/>
              <a:t> </a:t>
            </a:r>
            <a:r>
              <a:rPr lang="en-GB" dirty="0" err="1"/>
              <a:t>atunci</a:t>
            </a:r>
            <a:r>
              <a:rPr lang="en-GB" dirty="0"/>
              <a:t> </a:t>
            </a:r>
            <a:r>
              <a:rPr lang="en-GB" dirty="0" err="1"/>
              <a:t>când</a:t>
            </a:r>
            <a:r>
              <a:rPr lang="en-GB" dirty="0"/>
              <a:t> </a:t>
            </a:r>
            <a:r>
              <a:rPr lang="en-GB" dirty="0" err="1"/>
              <a:t>filozoful</a:t>
            </a:r>
            <a:r>
              <a:rPr lang="en-GB" dirty="0"/>
              <a:t> </a:t>
            </a:r>
            <a:r>
              <a:rPr lang="en-GB" dirty="0" err="1"/>
              <a:t>ajunge</a:t>
            </a:r>
            <a:r>
              <a:rPr lang="en-GB" dirty="0"/>
              <a:t> la o </a:t>
            </a:r>
            <a:r>
              <a:rPr lang="en-GB" dirty="0" err="1"/>
              <a:t>concluzie</a:t>
            </a:r>
            <a:r>
              <a:rPr lang="en-GB" dirty="0"/>
              <a:t>.</a:t>
            </a:r>
          </a:p>
        </p:txBody>
      </p:sp>
    </p:spTree>
    <p:extLst>
      <p:ext uri="{BB962C8B-B14F-4D97-AF65-F5344CB8AC3E}">
        <p14:creationId xmlns:p14="http://schemas.microsoft.com/office/powerpoint/2010/main" val="29754994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F0A6FA-BE85-81B5-DD93-A4F54D89814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7BC00E-1F45-8FFE-84F9-4225F5E006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E0A90C1-B7C9-092B-D9FB-7B18E66F32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3C5A07CC-72AA-5A02-A351-62A3CBD70D29}"/>
              </a:ext>
            </a:extLst>
          </p:cNvPr>
          <p:cNvSpPr>
            <a:spLocks noGrp="1"/>
          </p:cNvSpPr>
          <p:nvPr>
            <p:ph type="title"/>
          </p:nvPr>
        </p:nvSpPr>
        <p:spPr>
          <a:xfrm>
            <a:off x="492370" y="605896"/>
            <a:ext cx="3084844" cy="5646208"/>
          </a:xfrm>
        </p:spPr>
        <p:txBody>
          <a:bodyPr anchor="ctr">
            <a:normAutofit/>
          </a:bodyPr>
          <a:lstStyle/>
          <a:p>
            <a:r>
              <a:rPr lang="en-GB" sz="3600">
                <a:solidFill>
                  <a:srgbClr val="FFFFFF"/>
                </a:solidFill>
              </a:rPr>
              <a:t>Explicatii</a:t>
            </a:r>
          </a:p>
        </p:txBody>
      </p:sp>
      <p:sp>
        <p:nvSpPr>
          <p:cNvPr id="12" name="Rectangle 11">
            <a:extLst>
              <a:ext uri="{FF2B5EF4-FFF2-40B4-BE49-F238E27FC236}">
                <a16:creationId xmlns:a16="http://schemas.microsoft.com/office/drawing/2014/main" id="{91620A1F-37AD-68C1-EA82-AA604689A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 name="Content Placeholder 2">
            <a:extLst>
              <a:ext uri="{FF2B5EF4-FFF2-40B4-BE49-F238E27FC236}">
                <a16:creationId xmlns:a16="http://schemas.microsoft.com/office/drawing/2014/main" id="{9603E180-CC67-558E-5828-BF57EE7C8226}"/>
              </a:ext>
            </a:extLst>
          </p:cNvPr>
          <p:cNvSpPr>
            <a:spLocks noGrp="1"/>
          </p:cNvSpPr>
          <p:nvPr>
            <p:ph idx="1"/>
          </p:nvPr>
        </p:nvSpPr>
        <p:spPr>
          <a:xfrm>
            <a:off x="4742016" y="605896"/>
            <a:ext cx="6413663" cy="5646208"/>
          </a:xfrm>
        </p:spPr>
        <p:txBody>
          <a:bodyPr anchor="ctr">
            <a:normAutofit/>
          </a:bodyPr>
          <a:lstStyle/>
          <a:p>
            <a:r>
              <a:rPr lang="en-GB" b="1" dirty="0"/>
              <a:t>🔹 </a:t>
            </a:r>
            <a:r>
              <a:rPr lang="en-GB" b="1" dirty="0" err="1"/>
              <a:t>Clasa</a:t>
            </a:r>
            <a:r>
              <a:rPr lang="en-GB" b="1" dirty="0"/>
              <a:t> </a:t>
            </a:r>
            <a:r>
              <a:rPr lang="en-GB" b="1" dirty="0" err="1"/>
              <a:t>Filozof</a:t>
            </a:r>
            <a:r>
              <a:rPr lang="en-GB" b="1" dirty="0"/>
              <a:t>  </a:t>
            </a:r>
          </a:p>
          <a:p>
            <a:r>
              <a:rPr lang="it-IT" b="1" dirty="0"/>
              <a:t>🔹 În interiorul metodei run()</a:t>
            </a:r>
          </a:p>
          <a:p>
            <a:pPr marL="457200" indent="-457200">
              <a:buFont typeface="+mj-lt"/>
              <a:buAutoNum type="arabicPeriod"/>
            </a:pPr>
            <a:r>
              <a:rPr lang="en-GB" dirty="0" err="1"/>
              <a:t>Filozoful</a:t>
            </a:r>
            <a:r>
              <a:rPr lang="en-GB" dirty="0"/>
              <a:t> </a:t>
            </a:r>
            <a:r>
              <a:rPr lang="en-GB" dirty="0" err="1"/>
              <a:t>obține</a:t>
            </a:r>
            <a:r>
              <a:rPr lang="en-GB" dirty="0"/>
              <a:t> o </a:t>
            </a:r>
            <a:r>
              <a:rPr lang="en-GB" dirty="0" err="1"/>
              <a:t>listă</a:t>
            </a:r>
            <a:r>
              <a:rPr lang="en-GB" dirty="0"/>
              <a:t> a </a:t>
            </a:r>
            <a:r>
              <a:rPr lang="en-GB" dirty="0" err="1"/>
              <a:t>celorlalți</a:t>
            </a:r>
            <a:r>
              <a:rPr lang="en-GB" dirty="0"/>
              <a:t> </a:t>
            </a:r>
            <a:r>
              <a:rPr lang="en-GB" dirty="0" err="1"/>
              <a:t>doi</a:t>
            </a:r>
            <a:r>
              <a:rPr lang="en-GB" dirty="0"/>
              <a:t> </a:t>
            </a:r>
            <a:r>
              <a:rPr lang="en-GB" dirty="0" err="1"/>
              <a:t>concurenți</a:t>
            </a:r>
            <a:r>
              <a:rPr lang="en-GB" dirty="0"/>
              <a:t>:</a:t>
            </a:r>
            <a:endParaRPr lang="it-IT" b="1" dirty="0"/>
          </a:p>
          <a:p>
            <a:r>
              <a:rPr lang="en-GB" sz="2000" dirty="0" err="1">
                <a:solidFill>
                  <a:srgbClr val="000000"/>
                </a:solidFill>
                <a:highlight>
                  <a:srgbClr val="FFFFFF"/>
                </a:highlight>
              </a:rPr>
              <a:t>Filozof</a:t>
            </a:r>
            <a:r>
              <a:rPr lang="en-GB" sz="2000" dirty="0">
                <a:solidFill>
                  <a:srgbClr val="000000"/>
                </a:solidFill>
                <a:highlight>
                  <a:srgbClr val="FFFFFF"/>
                </a:highlight>
              </a:rPr>
              <a:t> </a:t>
            </a:r>
            <a:r>
              <a:rPr lang="en-GB" sz="2000" dirty="0" err="1">
                <a:solidFill>
                  <a:srgbClr val="000000"/>
                </a:solidFill>
                <a:highlight>
                  <a:srgbClr val="FFFFFF"/>
                </a:highlight>
              </a:rPr>
              <a:t>concurenti</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1" dirty="0">
                <a:solidFill>
                  <a:srgbClr val="000080"/>
                </a:solidFill>
                <a:highlight>
                  <a:srgbClr val="FFFFFF"/>
                </a:highlight>
              </a:rPr>
              <a:t>=</a:t>
            </a:r>
            <a:r>
              <a:rPr lang="en-GB" sz="2000" b="0" dirty="0">
                <a:solidFill>
                  <a:srgbClr val="000000"/>
                </a:solidFill>
                <a:highlight>
                  <a:srgbClr val="FFFFFF"/>
                </a:highlight>
              </a:rPr>
              <a:t> </a:t>
            </a:r>
            <a:r>
              <a:rPr lang="en-GB" sz="2000" b="1" dirty="0">
                <a:solidFill>
                  <a:srgbClr val="0000FF"/>
                </a:solidFill>
                <a:highlight>
                  <a:srgbClr val="FFFFFF"/>
                </a:highlight>
              </a:rPr>
              <a:t>new</a:t>
            </a:r>
            <a:r>
              <a:rPr lang="en-GB" sz="2000" b="0" dirty="0">
                <a:solidFill>
                  <a:srgbClr val="000000"/>
                </a:solidFill>
                <a:highlight>
                  <a:srgbClr val="FFFFFF"/>
                </a:highlight>
              </a:rPr>
              <a:t> </a:t>
            </a:r>
            <a:r>
              <a:rPr lang="en-GB" sz="2000" b="0" dirty="0" err="1">
                <a:solidFill>
                  <a:srgbClr val="000000"/>
                </a:solidFill>
                <a:highlight>
                  <a:srgbClr val="FFFFFF"/>
                </a:highlight>
              </a:rPr>
              <a:t>Filozof</a:t>
            </a:r>
            <a:r>
              <a:rPr lang="en-GB" sz="2000" b="1" dirty="0">
                <a:solidFill>
                  <a:srgbClr val="000080"/>
                </a:solidFill>
                <a:highlight>
                  <a:srgbClr val="FFFFFF"/>
                </a:highlight>
              </a:rPr>
              <a:t>[</a:t>
            </a:r>
            <a:r>
              <a:rPr lang="en-GB" sz="2000" b="0" dirty="0">
                <a:solidFill>
                  <a:srgbClr val="FF8000"/>
                </a:solidFill>
                <a:highlight>
                  <a:srgbClr val="FFFFFF"/>
                </a:highlight>
              </a:rPr>
              <a:t>2</a:t>
            </a:r>
            <a:r>
              <a:rPr lang="en-GB" sz="2000" b="1" dirty="0">
                <a:solidFill>
                  <a:srgbClr val="000080"/>
                </a:solidFill>
                <a:highlight>
                  <a:srgbClr val="FFFFFF"/>
                </a:highlight>
              </a:rPr>
              <a:t>];</a:t>
            </a:r>
            <a:endParaRPr lang="en-GB" sz="2000" b="0" dirty="0">
              <a:solidFill>
                <a:srgbClr val="000000"/>
              </a:solidFill>
              <a:highlight>
                <a:srgbClr val="FFFFFF"/>
              </a:highlight>
            </a:endParaRPr>
          </a:p>
          <a:p>
            <a:r>
              <a:rPr lang="en-GB" sz="2000" b="1" dirty="0">
                <a:solidFill>
                  <a:srgbClr val="000080"/>
                </a:solidFill>
                <a:highlight>
                  <a:srgbClr val="FFFFFF"/>
                </a:highlight>
              </a:rPr>
              <a:t>...</a:t>
            </a:r>
            <a:endParaRPr lang="en-GB" sz="2000" b="0" dirty="0">
              <a:solidFill>
                <a:srgbClr val="000000"/>
              </a:solidFill>
              <a:highlight>
                <a:srgbClr val="FFFFFF"/>
              </a:highlight>
            </a:endParaRPr>
          </a:p>
          <a:p>
            <a:r>
              <a:rPr lang="en-GB" dirty="0" err="1"/>
              <a:t>Aici</a:t>
            </a:r>
            <a:r>
              <a:rPr lang="en-GB" dirty="0"/>
              <a:t>, </a:t>
            </a:r>
            <a:r>
              <a:rPr lang="en-GB" dirty="0" err="1"/>
              <a:t>prin</a:t>
            </a:r>
            <a:r>
              <a:rPr lang="en-GB" dirty="0"/>
              <a:t> </a:t>
            </a:r>
            <a:r>
              <a:rPr lang="en-GB" dirty="0" err="1"/>
              <a:t>enumerarea</a:t>
            </a:r>
            <a:r>
              <a:rPr lang="en-GB" dirty="0"/>
              <a:t> </a:t>
            </a:r>
            <a:r>
              <a:rPr lang="en-GB" dirty="0" err="1"/>
              <a:t>firelor</a:t>
            </a:r>
            <a:r>
              <a:rPr lang="en-GB" dirty="0"/>
              <a:t> (</a:t>
            </a:r>
            <a:r>
              <a:rPr lang="en-GB" dirty="0" err="1">
                <a:latin typeface="Courier New" panose="02070309020205020404" pitchFamily="49" charset="0"/>
              </a:rPr>
              <a:t>Thread.enumerate</a:t>
            </a:r>
            <a:r>
              <a:rPr lang="en-GB" dirty="0">
                <a:latin typeface="Courier New" panose="02070309020205020404" pitchFamily="49" charset="0"/>
              </a:rPr>
              <a:t>()</a:t>
            </a:r>
            <a:r>
              <a:rPr lang="en-GB" dirty="0"/>
              <a:t>), se </a:t>
            </a:r>
            <a:r>
              <a:rPr lang="en-GB" dirty="0" err="1"/>
              <a:t>identifică</a:t>
            </a:r>
            <a:r>
              <a:rPr lang="en-GB" dirty="0"/>
              <a:t> </a:t>
            </a:r>
            <a:r>
              <a:rPr lang="en-GB" dirty="0" err="1"/>
              <a:t>celelalte</a:t>
            </a:r>
            <a:r>
              <a:rPr lang="en-GB" dirty="0"/>
              <a:t> </a:t>
            </a:r>
            <a:r>
              <a:rPr lang="en-GB" dirty="0" err="1"/>
              <a:t>două</a:t>
            </a:r>
            <a:r>
              <a:rPr lang="en-GB" dirty="0"/>
              <a:t> fire active care sunt </a:t>
            </a:r>
            <a:r>
              <a:rPr lang="en-GB" dirty="0" err="1"/>
              <a:t>și</a:t>
            </a:r>
            <a:r>
              <a:rPr lang="en-GB" dirty="0"/>
              <a:t> </a:t>
            </a:r>
            <a:r>
              <a:rPr lang="en-GB" dirty="0" err="1"/>
              <a:t>ele</a:t>
            </a:r>
            <a:r>
              <a:rPr lang="en-GB" dirty="0"/>
              <a:t> </a:t>
            </a:r>
            <a:r>
              <a:rPr lang="en-GB" dirty="0" err="1"/>
              <a:t>instanțe</a:t>
            </a:r>
            <a:r>
              <a:rPr lang="en-GB" dirty="0"/>
              <a:t> de </a:t>
            </a:r>
            <a:r>
              <a:rPr lang="en-GB" dirty="0" err="1">
                <a:latin typeface="Courier New" panose="02070309020205020404" pitchFamily="49" charset="0"/>
              </a:rPr>
              <a:t>Filozof</a:t>
            </a:r>
            <a:endParaRPr lang="en-GB" dirty="0">
              <a:latin typeface="Courier New" panose="02070309020205020404" pitchFamily="49" charset="0"/>
            </a:endParaRPr>
          </a:p>
          <a:p>
            <a:pPr marL="457200" indent="-457200">
              <a:buFont typeface="+mj-lt"/>
              <a:buAutoNum type="arabicPeriod" startAt="2"/>
            </a:pPr>
            <a:r>
              <a:rPr lang="en-GB" dirty="0" err="1"/>
              <a:t>Citește</a:t>
            </a:r>
            <a:r>
              <a:rPr lang="en-GB" dirty="0"/>
              <a:t> </a:t>
            </a:r>
            <a:r>
              <a:rPr lang="en-GB" dirty="0" err="1"/>
              <a:t>culorile</a:t>
            </a:r>
            <a:r>
              <a:rPr lang="en-GB" dirty="0"/>
              <a:t> </a:t>
            </a:r>
            <a:r>
              <a:rPr lang="en-GB" dirty="0" err="1"/>
              <a:t>pălăriilor</a:t>
            </a:r>
            <a:r>
              <a:rPr lang="en-GB" dirty="0"/>
              <a:t> </a:t>
            </a:r>
            <a:r>
              <a:rPr lang="en-GB" dirty="0" err="1"/>
              <a:t>celorlalți</a:t>
            </a:r>
            <a:r>
              <a:rPr lang="en-GB" dirty="0"/>
              <a:t> </a:t>
            </a:r>
            <a:r>
              <a:rPr lang="en-GB" dirty="0" err="1"/>
              <a:t>doi</a:t>
            </a:r>
            <a:r>
              <a:rPr lang="en-GB" dirty="0"/>
              <a:t>:</a:t>
            </a:r>
          </a:p>
          <a:p>
            <a:r>
              <a:rPr lang="en-GB" dirty="0" err="1"/>
              <a:t>Color</a:t>
            </a:r>
            <a:r>
              <a:rPr lang="en-GB" dirty="0"/>
              <a:t> </a:t>
            </a:r>
            <a:r>
              <a:rPr lang="en-GB" dirty="0" err="1"/>
              <a:t>primaCuloare</a:t>
            </a:r>
            <a:r>
              <a:rPr lang="en-GB" dirty="0"/>
              <a:t> </a:t>
            </a:r>
            <a:r>
              <a:rPr lang="en-GB" b="1" dirty="0"/>
              <a:t>=</a:t>
            </a:r>
            <a:r>
              <a:rPr lang="en-GB" dirty="0"/>
              <a:t> </a:t>
            </a:r>
            <a:r>
              <a:rPr lang="en-GB" dirty="0" err="1"/>
              <a:t>Concurs</a:t>
            </a:r>
            <a:r>
              <a:rPr lang="en-GB" b="1" dirty="0" err="1"/>
              <a:t>.</a:t>
            </a:r>
            <a:r>
              <a:rPr lang="en-GB" dirty="0" err="1"/>
              <a:t>culoare</a:t>
            </a:r>
            <a:r>
              <a:rPr lang="en-GB" b="1" dirty="0"/>
              <a:t>(this,</a:t>
            </a:r>
            <a:r>
              <a:rPr lang="en-GB" dirty="0"/>
              <a:t> </a:t>
            </a:r>
            <a:r>
              <a:rPr lang="en-GB" dirty="0" err="1"/>
              <a:t>concurenti</a:t>
            </a:r>
            <a:r>
              <a:rPr lang="en-GB" b="1" dirty="0"/>
              <a:t>[</a:t>
            </a:r>
            <a:r>
              <a:rPr lang="en-GB" dirty="0"/>
              <a:t>0</a:t>
            </a:r>
            <a:r>
              <a:rPr lang="en-GB" b="1" dirty="0"/>
              <a:t>]);</a:t>
            </a:r>
            <a:endParaRPr lang="en-GB" dirty="0"/>
          </a:p>
          <a:p>
            <a:r>
              <a:rPr lang="en-GB" dirty="0" err="1"/>
              <a:t>Color</a:t>
            </a:r>
            <a:r>
              <a:rPr lang="en-GB" dirty="0"/>
              <a:t> </a:t>
            </a:r>
            <a:r>
              <a:rPr lang="en-GB" dirty="0" err="1"/>
              <a:t>adouaCuloare</a:t>
            </a:r>
            <a:r>
              <a:rPr lang="en-GB" dirty="0"/>
              <a:t> </a:t>
            </a:r>
            <a:r>
              <a:rPr lang="en-GB" b="1" dirty="0"/>
              <a:t>=</a:t>
            </a:r>
            <a:r>
              <a:rPr lang="en-GB" dirty="0"/>
              <a:t> </a:t>
            </a:r>
            <a:r>
              <a:rPr lang="en-GB" dirty="0" err="1"/>
              <a:t>Concurs</a:t>
            </a:r>
            <a:r>
              <a:rPr lang="en-GB" b="1" dirty="0" err="1"/>
              <a:t>.</a:t>
            </a:r>
            <a:r>
              <a:rPr lang="en-GB" dirty="0" err="1"/>
              <a:t>culoare</a:t>
            </a:r>
            <a:r>
              <a:rPr lang="en-GB" b="1" dirty="0"/>
              <a:t>(this,</a:t>
            </a:r>
            <a:r>
              <a:rPr lang="en-GB" dirty="0"/>
              <a:t> </a:t>
            </a:r>
            <a:r>
              <a:rPr lang="en-GB" dirty="0" err="1"/>
              <a:t>concurenti</a:t>
            </a:r>
            <a:r>
              <a:rPr lang="en-GB" b="1" dirty="0"/>
              <a:t>[</a:t>
            </a:r>
            <a:r>
              <a:rPr lang="en-GB" dirty="0"/>
              <a:t>1</a:t>
            </a:r>
            <a:r>
              <a:rPr lang="en-GB" b="1" dirty="0"/>
              <a:t>]);</a:t>
            </a:r>
            <a:endParaRPr lang="en-GB" dirty="0"/>
          </a:p>
          <a:p>
            <a:pPr marL="457200" indent="-457200">
              <a:buFont typeface="+mj-lt"/>
              <a:buAutoNum type="arabicPeriod"/>
            </a:pPr>
            <a:endParaRPr lang="en-GB" b="1" dirty="0"/>
          </a:p>
        </p:txBody>
      </p:sp>
    </p:spTree>
    <p:extLst>
      <p:ext uri="{BB962C8B-B14F-4D97-AF65-F5344CB8AC3E}">
        <p14:creationId xmlns:p14="http://schemas.microsoft.com/office/powerpoint/2010/main" val="5965459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41FA47-3CF4-4AD7-F7AC-D8AC6C80D2F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1244E1A-097F-1762-2077-10EE89956D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E24E2C6-78F2-AA21-263F-A7B1F4F48F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37D9EE2C-DBE7-8457-59E0-650ACFCA325B}"/>
              </a:ext>
            </a:extLst>
          </p:cNvPr>
          <p:cNvSpPr>
            <a:spLocks noGrp="1"/>
          </p:cNvSpPr>
          <p:nvPr>
            <p:ph type="title"/>
          </p:nvPr>
        </p:nvSpPr>
        <p:spPr>
          <a:xfrm>
            <a:off x="492370" y="605896"/>
            <a:ext cx="3084844" cy="5646208"/>
          </a:xfrm>
        </p:spPr>
        <p:txBody>
          <a:bodyPr anchor="ctr">
            <a:normAutofit/>
          </a:bodyPr>
          <a:lstStyle/>
          <a:p>
            <a:r>
              <a:rPr lang="en-GB" sz="3600" dirty="0" err="1">
                <a:solidFill>
                  <a:srgbClr val="FFFFFF"/>
                </a:solidFill>
              </a:rPr>
              <a:t>Explicatii</a:t>
            </a:r>
            <a:endParaRPr lang="en-GB" sz="3600" dirty="0">
              <a:solidFill>
                <a:srgbClr val="FFFFFF"/>
              </a:solidFill>
            </a:endParaRPr>
          </a:p>
        </p:txBody>
      </p:sp>
      <p:sp>
        <p:nvSpPr>
          <p:cNvPr id="12" name="Rectangle 11">
            <a:extLst>
              <a:ext uri="{FF2B5EF4-FFF2-40B4-BE49-F238E27FC236}">
                <a16:creationId xmlns:a16="http://schemas.microsoft.com/office/drawing/2014/main" id="{4C3C0270-AC48-0185-B702-6213927564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 name="Content Placeholder 2">
            <a:extLst>
              <a:ext uri="{FF2B5EF4-FFF2-40B4-BE49-F238E27FC236}">
                <a16:creationId xmlns:a16="http://schemas.microsoft.com/office/drawing/2014/main" id="{9C0493E4-1C11-55A9-948B-C55AD3FEFF88}"/>
              </a:ext>
            </a:extLst>
          </p:cNvPr>
          <p:cNvSpPr>
            <a:spLocks noGrp="1"/>
          </p:cNvSpPr>
          <p:nvPr>
            <p:ph idx="1"/>
          </p:nvPr>
        </p:nvSpPr>
        <p:spPr>
          <a:xfrm>
            <a:off x="4742016" y="605896"/>
            <a:ext cx="6413663" cy="5646208"/>
          </a:xfrm>
        </p:spPr>
        <p:txBody>
          <a:bodyPr anchor="ctr">
            <a:normAutofit/>
          </a:bodyPr>
          <a:lstStyle/>
          <a:p>
            <a:pPr>
              <a:buFont typeface="+mj-lt"/>
              <a:buAutoNum type="arabicPeriod"/>
            </a:pPr>
            <a:r>
              <a:rPr lang="en-GB" b="1" dirty="0" err="1"/>
              <a:t>Aplica</a:t>
            </a:r>
            <a:r>
              <a:rPr lang="en-GB" b="1" dirty="0"/>
              <a:t> </a:t>
            </a:r>
            <a:r>
              <a:rPr lang="en-GB" b="1" dirty="0" err="1"/>
              <a:t>regulile</a:t>
            </a:r>
            <a:r>
              <a:rPr lang="en-GB" b="1" dirty="0"/>
              <a:t> </a:t>
            </a:r>
            <a:r>
              <a:rPr lang="en-GB" b="1" dirty="0" err="1"/>
              <a:t>logice</a:t>
            </a:r>
            <a:r>
              <a:rPr lang="en-GB" b="1" dirty="0"/>
              <a:t> ale </a:t>
            </a:r>
            <a:r>
              <a:rPr lang="en-GB" b="1" dirty="0" err="1"/>
              <a:t>jocului</a:t>
            </a:r>
            <a:r>
              <a:rPr lang="en-GB" b="1" dirty="0"/>
              <a:t>:</a:t>
            </a:r>
            <a:endParaRPr lang="en-GB" dirty="0"/>
          </a:p>
          <a:p>
            <a:pPr marL="742950" lvl="1" indent="-285750">
              <a:buFont typeface="+mj-lt"/>
              <a:buAutoNum type="arabicPeriod"/>
            </a:pPr>
            <a:r>
              <a:rPr lang="en-GB" dirty="0" err="1"/>
              <a:t>Dacă</a:t>
            </a:r>
            <a:r>
              <a:rPr lang="en-GB" dirty="0"/>
              <a:t> </a:t>
            </a:r>
            <a:r>
              <a:rPr lang="en-GB" dirty="0" err="1"/>
              <a:t>ambele</a:t>
            </a:r>
            <a:r>
              <a:rPr lang="en-GB" dirty="0"/>
              <a:t> </a:t>
            </a:r>
            <a:r>
              <a:rPr lang="en-GB" dirty="0" err="1"/>
              <a:t>pălării</a:t>
            </a:r>
            <a:r>
              <a:rPr lang="en-GB" dirty="0"/>
              <a:t> sunt </a:t>
            </a:r>
            <a:r>
              <a:rPr lang="en-GB" b="1" dirty="0" err="1"/>
              <a:t>albe</a:t>
            </a:r>
            <a:r>
              <a:rPr lang="en-GB" dirty="0"/>
              <a:t>, </a:t>
            </a:r>
            <a:r>
              <a:rPr lang="en-GB" dirty="0" err="1"/>
              <a:t>concluzionează</a:t>
            </a:r>
            <a:r>
              <a:rPr lang="en-GB" dirty="0"/>
              <a:t> </a:t>
            </a:r>
            <a:r>
              <a:rPr lang="en-GB" dirty="0" err="1"/>
              <a:t>imediat</a:t>
            </a:r>
            <a:r>
              <a:rPr lang="en-GB" dirty="0"/>
              <a:t> </a:t>
            </a:r>
            <a:r>
              <a:rPr lang="en-GB" dirty="0" err="1"/>
              <a:t>că</a:t>
            </a:r>
            <a:r>
              <a:rPr lang="en-GB" dirty="0"/>
              <a:t> a </a:t>
            </a:r>
            <a:r>
              <a:rPr lang="en-GB" dirty="0" err="1"/>
              <a:t>sa</a:t>
            </a:r>
            <a:r>
              <a:rPr lang="en-GB" dirty="0"/>
              <a:t> </a:t>
            </a:r>
            <a:r>
              <a:rPr lang="en-GB" dirty="0" err="1"/>
              <a:t>este</a:t>
            </a:r>
            <a:r>
              <a:rPr lang="en-GB" dirty="0"/>
              <a:t> </a:t>
            </a:r>
            <a:r>
              <a:rPr lang="en-GB" b="1" dirty="0" err="1"/>
              <a:t>neagră</a:t>
            </a:r>
            <a:r>
              <a:rPr lang="en-GB" dirty="0"/>
              <a:t>.</a:t>
            </a:r>
          </a:p>
          <a:p>
            <a:pPr marL="742950" lvl="1" indent="-285750" rtl="0">
              <a:buFont typeface="+mj-lt"/>
              <a:buAutoNum type="arabicPeriod"/>
            </a:pPr>
            <a:r>
              <a:rPr lang="en-GB" dirty="0">
                <a:latin typeface="Courier New" panose="02070309020205020404" pitchFamily="49" charset="0"/>
              </a:rPr>
              <a:t>if (</a:t>
            </a:r>
            <a:r>
              <a:rPr lang="en-GB" dirty="0" err="1">
                <a:latin typeface="Courier New" panose="02070309020205020404" pitchFamily="49" charset="0"/>
              </a:rPr>
              <a:t>primaCuloare</a:t>
            </a:r>
            <a:r>
              <a:rPr lang="en-GB" dirty="0">
                <a:latin typeface="Courier New" panose="02070309020205020404" pitchFamily="49" charset="0"/>
              </a:rPr>
              <a:t> == </a:t>
            </a:r>
            <a:r>
              <a:rPr lang="en-GB" dirty="0" err="1">
                <a:latin typeface="Courier New" panose="02070309020205020404" pitchFamily="49" charset="0"/>
              </a:rPr>
              <a:t>Color.white</a:t>
            </a:r>
            <a:r>
              <a:rPr lang="en-GB" dirty="0">
                <a:latin typeface="Courier New" panose="02070309020205020404" pitchFamily="49" charset="0"/>
              </a:rPr>
              <a:t> &amp;&amp; </a:t>
            </a:r>
            <a:r>
              <a:rPr lang="en-GB" dirty="0" err="1">
                <a:latin typeface="Courier New" panose="02070309020205020404" pitchFamily="49" charset="0"/>
              </a:rPr>
              <a:t>adouaCuloare</a:t>
            </a:r>
            <a:r>
              <a:rPr lang="en-GB" dirty="0">
                <a:latin typeface="Courier New" panose="02070309020205020404" pitchFamily="49" charset="0"/>
              </a:rPr>
              <a:t> == </a:t>
            </a:r>
            <a:r>
              <a:rPr lang="en-GB" dirty="0" err="1">
                <a:latin typeface="Courier New" panose="02070309020205020404" pitchFamily="49" charset="0"/>
              </a:rPr>
              <a:t>Color.white</a:t>
            </a:r>
            <a:r>
              <a:rPr lang="en-GB" dirty="0">
                <a:latin typeface="Courier New" panose="02070309020205020404" pitchFamily="49" charset="0"/>
              </a:rPr>
              <a:t>) {</a:t>
            </a:r>
          </a:p>
          <a:p>
            <a:pPr marL="742950" lvl="1" indent="-285750" rtl="0">
              <a:buFont typeface="+mj-lt"/>
              <a:buAutoNum type="arabicPeriod"/>
            </a:pPr>
            <a:r>
              <a:rPr lang="en-GB" dirty="0">
                <a:latin typeface="Courier New" panose="02070309020205020404" pitchFamily="49" charset="0"/>
              </a:rPr>
              <a:t>    synchronized (this) { </a:t>
            </a:r>
            <a:r>
              <a:rPr lang="en-GB" dirty="0" err="1">
                <a:latin typeface="Courier New" panose="02070309020205020404" pitchFamily="49" charset="0"/>
              </a:rPr>
              <a:t>parere</a:t>
            </a:r>
            <a:r>
              <a:rPr lang="en-GB" dirty="0">
                <a:latin typeface="Courier New" panose="02070309020205020404" pitchFamily="49" charset="0"/>
              </a:rPr>
              <a:t> = </a:t>
            </a:r>
            <a:r>
              <a:rPr lang="en-GB" dirty="0" err="1">
                <a:latin typeface="Courier New" panose="02070309020205020404" pitchFamily="49" charset="0"/>
              </a:rPr>
              <a:t>Color.black</a:t>
            </a:r>
            <a:r>
              <a:rPr lang="en-GB" dirty="0">
                <a:latin typeface="Courier New" panose="02070309020205020404" pitchFamily="49" charset="0"/>
              </a:rPr>
              <a:t>; }</a:t>
            </a:r>
          </a:p>
          <a:p>
            <a:pPr marL="742950" lvl="1" indent="-285750" rtl="0">
              <a:buFont typeface="+mj-lt"/>
              <a:buAutoNum type="arabicPeriod"/>
            </a:pPr>
            <a:r>
              <a:rPr lang="en-GB" dirty="0">
                <a:latin typeface="Courier New" panose="02070309020205020404" pitchFamily="49" charset="0"/>
              </a:rPr>
              <a:t>}</a:t>
            </a:r>
          </a:p>
          <a:p>
            <a:pPr marL="742950" lvl="1" indent="-285750">
              <a:buFont typeface="+mj-lt"/>
              <a:buAutoNum type="arabicPeriod"/>
            </a:pPr>
            <a:r>
              <a:rPr lang="en-GB" dirty="0" err="1"/>
              <a:t>Dacă</a:t>
            </a:r>
            <a:r>
              <a:rPr lang="en-GB" dirty="0"/>
              <a:t> </a:t>
            </a:r>
            <a:r>
              <a:rPr lang="en-GB" dirty="0" err="1"/>
              <a:t>vede</a:t>
            </a:r>
            <a:r>
              <a:rPr lang="en-GB" dirty="0"/>
              <a:t> </a:t>
            </a:r>
            <a:r>
              <a:rPr lang="en-GB" dirty="0" err="1"/>
              <a:t>una</a:t>
            </a:r>
            <a:r>
              <a:rPr lang="en-GB" dirty="0"/>
              <a:t> </a:t>
            </a:r>
            <a:r>
              <a:rPr lang="en-GB" dirty="0" err="1"/>
              <a:t>albă</a:t>
            </a:r>
            <a:r>
              <a:rPr lang="en-GB" dirty="0"/>
              <a:t> </a:t>
            </a:r>
            <a:r>
              <a:rPr lang="en-GB" dirty="0" err="1"/>
              <a:t>și</a:t>
            </a:r>
            <a:r>
              <a:rPr lang="en-GB" dirty="0"/>
              <a:t> </a:t>
            </a:r>
            <a:r>
              <a:rPr lang="en-GB" dirty="0" err="1"/>
              <a:t>una</a:t>
            </a:r>
            <a:r>
              <a:rPr lang="en-GB" dirty="0"/>
              <a:t> </a:t>
            </a:r>
            <a:r>
              <a:rPr lang="en-GB" dirty="0" err="1"/>
              <a:t>neagră</a:t>
            </a:r>
            <a:r>
              <a:rPr lang="en-GB" dirty="0"/>
              <a:t>, </a:t>
            </a:r>
            <a:r>
              <a:rPr lang="en-GB" b="1" dirty="0" err="1"/>
              <a:t>așteaptă</a:t>
            </a:r>
            <a:r>
              <a:rPr lang="en-GB" b="1" dirty="0"/>
              <a:t> </a:t>
            </a:r>
            <a:r>
              <a:rPr lang="en-GB" b="1" dirty="0" err="1"/>
              <a:t>puțin</a:t>
            </a:r>
            <a:r>
              <a:rPr lang="en-GB" dirty="0"/>
              <a:t> (</a:t>
            </a:r>
            <a:r>
              <a:rPr lang="en-GB" dirty="0" err="1"/>
              <a:t>simulat</a:t>
            </a:r>
            <a:r>
              <a:rPr lang="en-GB" dirty="0"/>
              <a:t> cu </a:t>
            </a:r>
            <a:r>
              <a:rPr lang="en-GB" dirty="0">
                <a:latin typeface="Courier New" panose="02070309020205020404" pitchFamily="49" charset="0"/>
              </a:rPr>
              <a:t>sleep()</a:t>
            </a:r>
            <a:r>
              <a:rPr lang="en-GB" dirty="0"/>
              <a:t>), </a:t>
            </a:r>
            <a:r>
              <a:rPr lang="en-GB" dirty="0" err="1"/>
              <a:t>poate</a:t>
            </a:r>
            <a:r>
              <a:rPr lang="en-GB" dirty="0"/>
              <a:t> </a:t>
            </a:r>
            <a:r>
              <a:rPr lang="en-GB" dirty="0" err="1"/>
              <a:t>celălalt</a:t>
            </a:r>
            <a:r>
              <a:rPr lang="en-GB" dirty="0"/>
              <a:t> </a:t>
            </a:r>
            <a:r>
              <a:rPr lang="en-GB" dirty="0" err="1"/>
              <a:t>va</a:t>
            </a:r>
            <a:r>
              <a:rPr lang="en-GB" dirty="0"/>
              <a:t> deduce </a:t>
            </a:r>
            <a:r>
              <a:rPr lang="en-GB" dirty="0" err="1"/>
              <a:t>primul</a:t>
            </a:r>
            <a:r>
              <a:rPr lang="en-GB" dirty="0"/>
              <a:t>.</a:t>
            </a:r>
          </a:p>
          <a:p>
            <a:pPr marL="742950" lvl="1" indent="-285750" rtl="0">
              <a:buFont typeface="+mj-lt"/>
              <a:buAutoNum type="arabicPeriod"/>
            </a:pPr>
            <a:r>
              <a:rPr lang="en-GB" dirty="0">
                <a:latin typeface="Courier New" panose="02070309020205020404" pitchFamily="49" charset="0"/>
              </a:rPr>
              <a:t>sleep((int)(</a:t>
            </a:r>
            <a:r>
              <a:rPr lang="en-GB" dirty="0" err="1">
                <a:latin typeface="Courier New" panose="02070309020205020404" pitchFamily="49" charset="0"/>
              </a:rPr>
              <a:t>Math.random</a:t>
            </a:r>
            <a:r>
              <a:rPr lang="en-GB" dirty="0">
                <a:latin typeface="Courier New" panose="02070309020205020404" pitchFamily="49" charset="0"/>
              </a:rPr>
              <a:t>() * 500));</a:t>
            </a:r>
          </a:p>
          <a:p>
            <a:pPr>
              <a:buFont typeface="+mj-lt"/>
              <a:buAutoNum type="arabicPeriod"/>
            </a:pPr>
            <a:r>
              <a:rPr lang="en-GB" b="1" dirty="0" err="1"/>
              <a:t>Sincronizarea</a:t>
            </a:r>
            <a:r>
              <a:rPr lang="en-GB" b="1" dirty="0"/>
              <a:t> (</a:t>
            </a:r>
            <a:r>
              <a:rPr lang="en-GB" b="1" dirty="0">
                <a:latin typeface="Courier New" panose="02070309020205020404" pitchFamily="49" charset="0"/>
              </a:rPr>
              <a:t>synchronized</a:t>
            </a:r>
            <a:r>
              <a:rPr lang="en-GB" b="1" dirty="0"/>
              <a:t>)</a:t>
            </a:r>
            <a:endParaRPr lang="en-GB" dirty="0"/>
          </a:p>
          <a:p>
            <a:pPr marL="742950" lvl="1" indent="-285750">
              <a:buFont typeface="+mj-lt"/>
              <a:buAutoNum type="arabicPeriod"/>
            </a:pPr>
            <a:r>
              <a:rPr lang="en-GB" dirty="0" err="1"/>
              <a:t>Evită</a:t>
            </a:r>
            <a:r>
              <a:rPr lang="en-GB" dirty="0"/>
              <a:t> ca </a:t>
            </a:r>
            <a:r>
              <a:rPr lang="en-GB" dirty="0" err="1"/>
              <a:t>doi</a:t>
            </a:r>
            <a:r>
              <a:rPr lang="en-GB" dirty="0"/>
              <a:t> </a:t>
            </a:r>
            <a:r>
              <a:rPr lang="en-GB" dirty="0" err="1"/>
              <a:t>filosofi</a:t>
            </a:r>
            <a:r>
              <a:rPr lang="en-GB" dirty="0"/>
              <a:t> </a:t>
            </a:r>
            <a:r>
              <a:rPr lang="en-GB" dirty="0" err="1"/>
              <a:t>să</a:t>
            </a:r>
            <a:r>
              <a:rPr lang="en-GB" dirty="0"/>
              <a:t> </a:t>
            </a:r>
            <a:r>
              <a:rPr lang="en-GB" dirty="0" err="1"/>
              <a:t>modifice</a:t>
            </a:r>
            <a:r>
              <a:rPr lang="en-GB" dirty="0"/>
              <a:t> </a:t>
            </a:r>
            <a:r>
              <a:rPr lang="en-GB" dirty="0" err="1"/>
              <a:t>simultan</a:t>
            </a:r>
            <a:r>
              <a:rPr lang="en-GB" dirty="0"/>
              <a:t> </a:t>
            </a:r>
            <a:r>
              <a:rPr lang="en-GB" dirty="0" err="1"/>
              <a:t>variabile</a:t>
            </a:r>
            <a:r>
              <a:rPr lang="en-GB" dirty="0"/>
              <a:t> </a:t>
            </a:r>
            <a:r>
              <a:rPr lang="en-GB" dirty="0" err="1"/>
              <a:t>comune</a:t>
            </a:r>
            <a:r>
              <a:rPr lang="en-GB" dirty="0"/>
              <a:t> </a:t>
            </a:r>
            <a:r>
              <a:rPr lang="en-GB" dirty="0" err="1"/>
              <a:t>sau</a:t>
            </a:r>
            <a:r>
              <a:rPr lang="en-GB" dirty="0"/>
              <a:t> </a:t>
            </a:r>
            <a:r>
              <a:rPr lang="en-GB" dirty="0" err="1"/>
              <a:t>să-și</a:t>
            </a:r>
            <a:r>
              <a:rPr lang="en-GB" dirty="0"/>
              <a:t> </a:t>
            </a:r>
            <a:r>
              <a:rPr lang="en-GB" dirty="0" err="1"/>
              <a:t>influențeze</a:t>
            </a:r>
            <a:r>
              <a:rPr lang="en-GB" dirty="0"/>
              <a:t> </a:t>
            </a:r>
            <a:r>
              <a:rPr lang="en-GB" dirty="0" err="1"/>
              <a:t>concluziile</a:t>
            </a:r>
            <a:r>
              <a:rPr lang="en-GB" dirty="0"/>
              <a:t> </a:t>
            </a:r>
            <a:r>
              <a:rPr lang="en-GB" dirty="0" err="1"/>
              <a:t>în</a:t>
            </a:r>
            <a:r>
              <a:rPr lang="en-GB" dirty="0"/>
              <a:t> </a:t>
            </a:r>
            <a:r>
              <a:rPr lang="en-GB" dirty="0" err="1"/>
              <a:t>același</a:t>
            </a:r>
            <a:r>
              <a:rPr lang="en-GB" dirty="0"/>
              <a:t> </a:t>
            </a:r>
            <a:r>
              <a:rPr lang="en-GB" dirty="0" err="1"/>
              <a:t>timp.</a:t>
            </a:r>
            <a:endParaRPr lang="en-GB" dirty="0"/>
          </a:p>
          <a:p>
            <a:pPr marL="742950" lvl="1" indent="-285750">
              <a:buFont typeface="+mj-lt"/>
              <a:buAutoNum type="arabicPeriod"/>
            </a:pPr>
            <a:r>
              <a:rPr lang="en-GB" dirty="0" err="1"/>
              <a:t>Când</a:t>
            </a:r>
            <a:r>
              <a:rPr lang="en-GB" dirty="0"/>
              <a:t> un fir </a:t>
            </a:r>
            <a:r>
              <a:rPr lang="en-GB" dirty="0" err="1"/>
              <a:t>intră</a:t>
            </a:r>
            <a:r>
              <a:rPr lang="en-GB" dirty="0"/>
              <a:t> </a:t>
            </a:r>
            <a:r>
              <a:rPr lang="en-GB" dirty="0" err="1"/>
              <a:t>într</a:t>
            </a:r>
            <a:r>
              <a:rPr lang="en-GB" dirty="0"/>
              <a:t>-un bloc </a:t>
            </a:r>
            <a:r>
              <a:rPr lang="en-GB" dirty="0" err="1"/>
              <a:t>sincronizat</a:t>
            </a:r>
            <a:r>
              <a:rPr lang="en-GB" dirty="0"/>
              <a:t>, </a:t>
            </a:r>
            <a:r>
              <a:rPr lang="en-GB" dirty="0" err="1"/>
              <a:t>ceilalți</a:t>
            </a:r>
            <a:r>
              <a:rPr lang="en-GB" dirty="0"/>
              <a:t> </a:t>
            </a:r>
            <a:r>
              <a:rPr lang="en-GB" dirty="0" err="1"/>
              <a:t>trebuie</a:t>
            </a:r>
            <a:r>
              <a:rPr lang="en-GB" dirty="0"/>
              <a:t> </a:t>
            </a:r>
            <a:r>
              <a:rPr lang="en-GB" dirty="0" err="1"/>
              <a:t>să</a:t>
            </a:r>
            <a:r>
              <a:rPr lang="en-GB" dirty="0"/>
              <a:t> </a:t>
            </a:r>
            <a:r>
              <a:rPr lang="en-GB" dirty="0" err="1"/>
              <a:t>aștepte</a:t>
            </a:r>
            <a:r>
              <a:rPr lang="en-GB" dirty="0"/>
              <a:t> </a:t>
            </a:r>
            <a:r>
              <a:rPr lang="en-GB" dirty="0" err="1"/>
              <a:t>eliberarea</a:t>
            </a:r>
            <a:r>
              <a:rPr lang="en-GB" dirty="0"/>
              <a:t> </a:t>
            </a:r>
            <a:r>
              <a:rPr lang="en-GB" dirty="0" err="1"/>
              <a:t>resursei</a:t>
            </a:r>
            <a:r>
              <a:rPr lang="en-GB" dirty="0"/>
              <a:t>.</a:t>
            </a:r>
          </a:p>
          <a:p>
            <a:pPr marL="457200" indent="-457200">
              <a:buFont typeface="+mj-lt"/>
              <a:buAutoNum type="arabicPeriod"/>
            </a:pPr>
            <a:endParaRPr lang="en-GB" b="1" dirty="0"/>
          </a:p>
        </p:txBody>
      </p:sp>
    </p:spTree>
    <p:extLst>
      <p:ext uri="{BB962C8B-B14F-4D97-AF65-F5344CB8AC3E}">
        <p14:creationId xmlns:p14="http://schemas.microsoft.com/office/powerpoint/2010/main" val="31004555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DF38BA-6FB9-F689-B268-0AB17FD2EDD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181E110-979C-0360-592F-2868635428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208EB26-84C9-364A-3640-820235F39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04F91971-6370-9A2C-54D9-4FF1A97C2B94}"/>
              </a:ext>
            </a:extLst>
          </p:cNvPr>
          <p:cNvSpPr>
            <a:spLocks noGrp="1"/>
          </p:cNvSpPr>
          <p:nvPr>
            <p:ph type="title"/>
          </p:nvPr>
        </p:nvSpPr>
        <p:spPr>
          <a:xfrm>
            <a:off x="492370" y="605896"/>
            <a:ext cx="3084844" cy="5646208"/>
          </a:xfrm>
        </p:spPr>
        <p:txBody>
          <a:bodyPr anchor="ctr">
            <a:normAutofit/>
          </a:bodyPr>
          <a:lstStyle/>
          <a:p>
            <a:r>
              <a:rPr lang="en-GB" sz="3600" dirty="0" err="1">
                <a:solidFill>
                  <a:srgbClr val="FFFFFF"/>
                </a:solidFill>
              </a:rPr>
              <a:t>Explicatii</a:t>
            </a:r>
            <a:endParaRPr lang="en-GB" sz="3600" dirty="0">
              <a:solidFill>
                <a:srgbClr val="FFFFFF"/>
              </a:solidFill>
            </a:endParaRPr>
          </a:p>
        </p:txBody>
      </p:sp>
      <p:sp>
        <p:nvSpPr>
          <p:cNvPr id="12" name="Rectangle 11">
            <a:extLst>
              <a:ext uri="{FF2B5EF4-FFF2-40B4-BE49-F238E27FC236}">
                <a16:creationId xmlns:a16="http://schemas.microsoft.com/office/drawing/2014/main" id="{D7C7BCE9-E488-A0AE-20A3-87E7DE52E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 name="Content Placeholder 2">
            <a:extLst>
              <a:ext uri="{FF2B5EF4-FFF2-40B4-BE49-F238E27FC236}">
                <a16:creationId xmlns:a16="http://schemas.microsoft.com/office/drawing/2014/main" id="{82CD9F2F-9BD5-2887-770C-E569F3D10C31}"/>
              </a:ext>
            </a:extLst>
          </p:cNvPr>
          <p:cNvSpPr>
            <a:spLocks noGrp="1"/>
          </p:cNvSpPr>
          <p:nvPr>
            <p:ph idx="1"/>
          </p:nvPr>
        </p:nvSpPr>
        <p:spPr>
          <a:xfrm>
            <a:off x="4742016" y="605896"/>
            <a:ext cx="6413663" cy="5646208"/>
          </a:xfrm>
        </p:spPr>
        <p:txBody>
          <a:bodyPr anchor="ctr">
            <a:normAutofit fontScale="85000" lnSpcReduction="20000"/>
          </a:bodyPr>
          <a:lstStyle/>
          <a:p>
            <a:pPr>
              <a:buNone/>
            </a:pPr>
            <a:r>
              <a:rPr lang="en-GB" b="1" dirty="0"/>
              <a:t>🔹 </a:t>
            </a:r>
            <a:r>
              <a:rPr lang="en-GB" b="1" dirty="0" err="1"/>
              <a:t>Clasa</a:t>
            </a:r>
            <a:r>
              <a:rPr lang="en-GB" b="1" dirty="0"/>
              <a:t> </a:t>
            </a:r>
            <a:r>
              <a:rPr lang="en-GB" b="1" dirty="0">
                <a:latin typeface="Courier New" panose="02070309020205020404" pitchFamily="49" charset="0"/>
              </a:rPr>
              <a:t>Concurs</a:t>
            </a:r>
            <a:endParaRPr lang="en-GB" b="1" dirty="0"/>
          </a:p>
          <a:p>
            <a:pPr>
              <a:buNone/>
            </a:pPr>
            <a:r>
              <a:rPr lang="en-GB" dirty="0" err="1"/>
              <a:t>Aceasta</a:t>
            </a:r>
            <a:r>
              <a:rPr lang="en-GB" dirty="0"/>
              <a:t> </a:t>
            </a:r>
            <a:r>
              <a:rPr lang="en-GB" dirty="0" err="1"/>
              <a:t>gestionează</a:t>
            </a:r>
            <a:r>
              <a:rPr lang="en-GB" dirty="0"/>
              <a:t> </a:t>
            </a:r>
            <a:r>
              <a:rPr lang="en-GB" b="1" dirty="0" err="1"/>
              <a:t>coordonarea</a:t>
            </a:r>
            <a:r>
              <a:rPr lang="en-GB" b="1" dirty="0"/>
              <a:t> </a:t>
            </a:r>
            <a:r>
              <a:rPr lang="en-GB" b="1" dirty="0" err="1"/>
              <a:t>generală</a:t>
            </a:r>
            <a:r>
              <a:rPr lang="en-GB" dirty="0"/>
              <a:t> a </a:t>
            </a:r>
            <a:r>
              <a:rPr lang="en-GB" dirty="0" err="1"/>
              <a:t>firelor</a:t>
            </a:r>
            <a:r>
              <a:rPr lang="en-GB" dirty="0"/>
              <a:t> (</a:t>
            </a:r>
            <a:r>
              <a:rPr lang="en-GB" dirty="0" err="1"/>
              <a:t>filozofilor</a:t>
            </a:r>
            <a:r>
              <a:rPr lang="en-GB" dirty="0"/>
              <a:t>).</a:t>
            </a:r>
          </a:p>
          <a:p>
            <a:pPr>
              <a:buNone/>
            </a:pPr>
            <a:r>
              <a:rPr lang="en-GB" b="1" dirty="0"/>
              <a:t>1. </a:t>
            </a:r>
            <a:r>
              <a:rPr lang="en-GB" b="1" dirty="0" err="1"/>
              <a:t>Inițializare</a:t>
            </a:r>
            <a:endParaRPr lang="en-GB" b="1" dirty="0"/>
          </a:p>
          <a:p>
            <a:pPr rtl="0">
              <a:buNone/>
            </a:pPr>
            <a:r>
              <a:rPr lang="en-GB" dirty="0">
                <a:latin typeface="Courier New" panose="02070309020205020404" pitchFamily="49" charset="0"/>
              </a:rPr>
              <a:t>private static </a:t>
            </a:r>
            <a:r>
              <a:rPr lang="en-GB" dirty="0" err="1">
                <a:latin typeface="Courier New" panose="02070309020205020404" pitchFamily="49" charset="0"/>
              </a:rPr>
              <a:t>Color</a:t>
            </a:r>
            <a:r>
              <a:rPr lang="en-GB" dirty="0">
                <a:latin typeface="Courier New" panose="02070309020205020404" pitchFamily="49" charset="0"/>
              </a:rPr>
              <a:t> </a:t>
            </a:r>
            <a:r>
              <a:rPr lang="en-GB" dirty="0" err="1">
                <a:latin typeface="Courier New" panose="02070309020205020404" pitchFamily="49" charset="0"/>
              </a:rPr>
              <a:t>palarii</a:t>
            </a:r>
            <a:r>
              <a:rPr lang="en-GB" dirty="0">
                <a:latin typeface="Courier New" panose="02070309020205020404" pitchFamily="49" charset="0"/>
              </a:rPr>
              <a:t>[] = { </a:t>
            </a:r>
            <a:r>
              <a:rPr lang="en-GB" dirty="0" err="1">
                <a:latin typeface="Courier New" panose="02070309020205020404" pitchFamily="49" charset="0"/>
              </a:rPr>
              <a:t>Color.black</a:t>
            </a:r>
            <a:r>
              <a:rPr lang="en-GB" dirty="0">
                <a:latin typeface="Courier New" panose="02070309020205020404" pitchFamily="49" charset="0"/>
              </a:rPr>
              <a:t>, </a:t>
            </a:r>
            <a:r>
              <a:rPr lang="en-GB" dirty="0" err="1">
                <a:latin typeface="Courier New" panose="02070309020205020404" pitchFamily="49" charset="0"/>
              </a:rPr>
              <a:t>Color.black</a:t>
            </a:r>
            <a:r>
              <a:rPr lang="en-GB" dirty="0">
                <a:latin typeface="Courier New" panose="02070309020205020404" pitchFamily="49" charset="0"/>
              </a:rPr>
              <a:t>, </a:t>
            </a:r>
            <a:r>
              <a:rPr lang="en-GB" dirty="0" err="1">
                <a:latin typeface="Courier New" panose="02070309020205020404" pitchFamily="49" charset="0"/>
              </a:rPr>
              <a:t>Color.white</a:t>
            </a:r>
            <a:r>
              <a:rPr lang="en-GB" dirty="0">
                <a:latin typeface="Courier New" panose="02070309020205020404" pitchFamily="49" charset="0"/>
              </a:rPr>
              <a:t> };</a:t>
            </a:r>
          </a:p>
          <a:p>
            <a:pPr rtl="0">
              <a:buNone/>
            </a:pPr>
            <a:r>
              <a:rPr lang="en-GB" dirty="0">
                <a:latin typeface="Courier New" panose="02070309020205020404" pitchFamily="49" charset="0"/>
              </a:rPr>
              <a:t>private static </a:t>
            </a:r>
            <a:r>
              <a:rPr lang="en-GB" dirty="0" err="1">
                <a:latin typeface="Courier New" panose="02070309020205020404" pitchFamily="49" charset="0"/>
              </a:rPr>
              <a:t>Filozof</a:t>
            </a:r>
            <a:r>
              <a:rPr lang="en-GB" dirty="0">
                <a:latin typeface="Courier New" panose="02070309020205020404" pitchFamily="49" charset="0"/>
              </a:rPr>
              <a:t> </a:t>
            </a:r>
            <a:r>
              <a:rPr lang="en-GB" dirty="0" err="1">
                <a:latin typeface="Courier New" panose="02070309020205020404" pitchFamily="49" charset="0"/>
              </a:rPr>
              <a:t>filozofi</a:t>
            </a:r>
            <a:r>
              <a:rPr lang="en-GB" dirty="0">
                <a:latin typeface="Courier New" panose="02070309020205020404" pitchFamily="49" charset="0"/>
              </a:rPr>
              <a:t>[] = new </a:t>
            </a:r>
            <a:r>
              <a:rPr lang="en-GB" dirty="0" err="1">
                <a:latin typeface="Courier New" panose="02070309020205020404" pitchFamily="49" charset="0"/>
              </a:rPr>
              <a:t>Filozof</a:t>
            </a:r>
            <a:r>
              <a:rPr lang="en-GB" dirty="0">
                <a:latin typeface="Courier New" panose="02070309020205020404" pitchFamily="49" charset="0"/>
              </a:rPr>
              <a:t>[3];</a:t>
            </a:r>
          </a:p>
          <a:p>
            <a:pPr>
              <a:buNone/>
            </a:pPr>
            <a:r>
              <a:rPr lang="en-GB" dirty="0"/>
              <a:t>→ </a:t>
            </a:r>
            <a:r>
              <a:rPr lang="en-GB" dirty="0" err="1"/>
              <a:t>Definește</a:t>
            </a:r>
            <a:r>
              <a:rPr lang="en-GB" dirty="0"/>
              <a:t> </a:t>
            </a:r>
            <a:r>
              <a:rPr lang="en-GB" dirty="0" err="1"/>
              <a:t>culorile</a:t>
            </a:r>
            <a:r>
              <a:rPr lang="en-GB" dirty="0"/>
              <a:t> </a:t>
            </a:r>
            <a:r>
              <a:rPr lang="en-GB" dirty="0" err="1"/>
              <a:t>pălăriilor</a:t>
            </a:r>
            <a:r>
              <a:rPr lang="en-GB" dirty="0"/>
              <a:t> </a:t>
            </a:r>
            <a:r>
              <a:rPr lang="en-GB" dirty="0" err="1"/>
              <a:t>și</a:t>
            </a:r>
            <a:r>
              <a:rPr lang="en-GB" dirty="0"/>
              <a:t> </a:t>
            </a:r>
            <a:r>
              <a:rPr lang="en-GB" dirty="0" err="1"/>
              <a:t>creează</a:t>
            </a:r>
            <a:r>
              <a:rPr lang="en-GB" dirty="0"/>
              <a:t> </a:t>
            </a:r>
            <a:r>
              <a:rPr lang="en-GB" dirty="0" err="1"/>
              <a:t>cei</a:t>
            </a:r>
            <a:r>
              <a:rPr lang="en-GB" dirty="0"/>
              <a:t> </a:t>
            </a:r>
            <a:r>
              <a:rPr lang="en-GB" dirty="0" err="1"/>
              <a:t>trei</a:t>
            </a:r>
            <a:r>
              <a:rPr lang="en-GB" dirty="0"/>
              <a:t> </a:t>
            </a:r>
            <a:r>
              <a:rPr lang="en-GB" dirty="0" err="1"/>
              <a:t>filosofi</a:t>
            </a:r>
            <a:r>
              <a:rPr lang="en-GB" dirty="0"/>
              <a:t>.</a:t>
            </a:r>
          </a:p>
          <a:p>
            <a:pPr>
              <a:buNone/>
            </a:pPr>
            <a:br>
              <a:rPr lang="en-GB" dirty="0"/>
            </a:br>
            <a:endParaRPr lang="en-GB" dirty="0"/>
          </a:p>
          <a:p>
            <a:pPr>
              <a:buNone/>
            </a:pPr>
            <a:r>
              <a:rPr lang="en-GB" b="1" dirty="0"/>
              <a:t>2. </a:t>
            </a:r>
            <a:r>
              <a:rPr lang="en-GB" b="1" dirty="0" err="1"/>
              <a:t>Pornirea</a:t>
            </a:r>
            <a:r>
              <a:rPr lang="en-GB" b="1" dirty="0"/>
              <a:t> </a:t>
            </a:r>
            <a:r>
              <a:rPr lang="en-GB" b="1" dirty="0" err="1"/>
              <a:t>firelor</a:t>
            </a:r>
            <a:endParaRPr lang="en-GB" b="1" dirty="0"/>
          </a:p>
          <a:p>
            <a:pPr rtl="0">
              <a:buNone/>
            </a:pPr>
            <a:r>
              <a:rPr lang="en-GB" dirty="0">
                <a:latin typeface="Courier New" panose="02070309020205020404" pitchFamily="49" charset="0"/>
              </a:rPr>
              <a:t>for (int </a:t>
            </a:r>
            <a:r>
              <a:rPr lang="en-GB" dirty="0" err="1">
                <a:latin typeface="Courier New" panose="02070309020205020404" pitchFamily="49" charset="0"/>
              </a:rPr>
              <a:t>i</a:t>
            </a:r>
            <a:r>
              <a:rPr lang="en-GB" dirty="0">
                <a:latin typeface="Courier New" panose="02070309020205020404" pitchFamily="49" charset="0"/>
              </a:rPr>
              <a:t> = 0; </a:t>
            </a:r>
            <a:r>
              <a:rPr lang="en-GB" dirty="0" err="1">
                <a:latin typeface="Courier New" panose="02070309020205020404" pitchFamily="49" charset="0"/>
              </a:rPr>
              <a:t>i</a:t>
            </a:r>
            <a:r>
              <a:rPr lang="en-GB" dirty="0">
                <a:latin typeface="Courier New" panose="02070309020205020404" pitchFamily="49" charset="0"/>
              </a:rPr>
              <a:t> &lt; 3; </a:t>
            </a:r>
            <a:r>
              <a:rPr lang="en-GB" dirty="0" err="1">
                <a:latin typeface="Courier New" panose="02070309020205020404" pitchFamily="49" charset="0"/>
              </a:rPr>
              <a:t>i</a:t>
            </a:r>
            <a:r>
              <a:rPr lang="en-GB" dirty="0">
                <a:latin typeface="Courier New" panose="02070309020205020404" pitchFamily="49" charset="0"/>
              </a:rPr>
              <a:t>++) {</a:t>
            </a:r>
          </a:p>
          <a:p>
            <a:pPr rtl="0">
              <a:buNone/>
            </a:pPr>
            <a:r>
              <a:rPr lang="en-GB" dirty="0">
                <a:latin typeface="Courier New" panose="02070309020205020404" pitchFamily="49" charset="0"/>
              </a:rPr>
              <a:t>    </a:t>
            </a:r>
            <a:r>
              <a:rPr lang="en-GB" dirty="0" err="1">
                <a:latin typeface="Courier New" panose="02070309020205020404" pitchFamily="49" charset="0"/>
              </a:rPr>
              <a:t>filozofi</a:t>
            </a:r>
            <a:r>
              <a:rPr lang="en-GB" dirty="0">
                <a:latin typeface="Courier New" panose="02070309020205020404" pitchFamily="49" charset="0"/>
              </a:rPr>
              <a:t>[</a:t>
            </a:r>
            <a:r>
              <a:rPr lang="en-GB" dirty="0" err="1">
                <a:latin typeface="Courier New" panose="02070309020205020404" pitchFamily="49" charset="0"/>
              </a:rPr>
              <a:t>i</a:t>
            </a:r>
            <a:r>
              <a:rPr lang="en-GB" dirty="0">
                <a:latin typeface="Courier New" panose="02070309020205020404" pitchFamily="49" charset="0"/>
              </a:rPr>
              <a:t>] = new </a:t>
            </a:r>
            <a:r>
              <a:rPr lang="en-GB" dirty="0" err="1">
                <a:latin typeface="Courier New" panose="02070309020205020404" pitchFamily="49" charset="0"/>
              </a:rPr>
              <a:t>Filozof</a:t>
            </a:r>
            <a:r>
              <a:rPr lang="en-GB" dirty="0">
                <a:latin typeface="Courier New" panose="02070309020205020404" pitchFamily="49" charset="0"/>
              </a:rPr>
              <a:t>("</a:t>
            </a:r>
            <a:r>
              <a:rPr lang="en-GB" dirty="0" err="1">
                <a:latin typeface="Courier New" panose="02070309020205020404" pitchFamily="49" charset="0"/>
              </a:rPr>
              <a:t>Filozoful</a:t>
            </a:r>
            <a:r>
              <a:rPr lang="en-GB" dirty="0">
                <a:latin typeface="Courier New" panose="02070309020205020404" pitchFamily="49" charset="0"/>
              </a:rPr>
              <a:t> " + (</a:t>
            </a:r>
            <a:r>
              <a:rPr lang="en-GB" dirty="0" err="1">
                <a:latin typeface="Courier New" panose="02070309020205020404" pitchFamily="49" charset="0"/>
              </a:rPr>
              <a:t>i</a:t>
            </a:r>
            <a:r>
              <a:rPr lang="en-GB" dirty="0">
                <a:latin typeface="Courier New" panose="02070309020205020404" pitchFamily="49" charset="0"/>
              </a:rPr>
              <a:t> + 1));</a:t>
            </a:r>
          </a:p>
          <a:p>
            <a:pPr rtl="0">
              <a:buNone/>
            </a:pPr>
            <a:r>
              <a:rPr lang="en-GB" dirty="0">
                <a:latin typeface="Courier New" panose="02070309020205020404" pitchFamily="49" charset="0"/>
              </a:rPr>
              <a:t>    </a:t>
            </a:r>
            <a:r>
              <a:rPr lang="en-GB" dirty="0" err="1">
                <a:latin typeface="Courier New" panose="02070309020205020404" pitchFamily="49" charset="0"/>
              </a:rPr>
              <a:t>filozofi</a:t>
            </a:r>
            <a:r>
              <a:rPr lang="en-GB" dirty="0">
                <a:latin typeface="Courier New" panose="02070309020205020404" pitchFamily="49" charset="0"/>
              </a:rPr>
              <a:t>[</a:t>
            </a:r>
            <a:r>
              <a:rPr lang="en-GB" dirty="0" err="1">
                <a:latin typeface="Courier New" panose="02070309020205020404" pitchFamily="49" charset="0"/>
              </a:rPr>
              <a:t>i</a:t>
            </a:r>
            <a:r>
              <a:rPr lang="en-GB" dirty="0">
                <a:latin typeface="Courier New" panose="02070309020205020404" pitchFamily="49" charset="0"/>
              </a:rPr>
              <a:t>].start();</a:t>
            </a:r>
          </a:p>
          <a:p>
            <a:pPr rtl="0">
              <a:buNone/>
            </a:pPr>
            <a:r>
              <a:rPr lang="en-GB" dirty="0">
                <a:latin typeface="Courier New" panose="02070309020205020404" pitchFamily="49" charset="0"/>
              </a:rPr>
              <a:t>}</a:t>
            </a:r>
          </a:p>
          <a:p>
            <a:pPr>
              <a:buNone/>
            </a:pPr>
            <a:r>
              <a:rPr lang="en-GB" dirty="0"/>
              <a:t>→ </a:t>
            </a:r>
            <a:r>
              <a:rPr lang="en-GB" dirty="0" err="1"/>
              <a:t>Fiecare</a:t>
            </a:r>
            <a:r>
              <a:rPr lang="en-GB" dirty="0"/>
              <a:t> </a:t>
            </a:r>
            <a:r>
              <a:rPr lang="en-GB" dirty="0" err="1"/>
              <a:t>filozof</a:t>
            </a:r>
            <a:r>
              <a:rPr lang="en-GB" dirty="0"/>
              <a:t> </a:t>
            </a:r>
            <a:r>
              <a:rPr lang="en-GB" dirty="0" err="1"/>
              <a:t>rulează</a:t>
            </a:r>
            <a:r>
              <a:rPr lang="en-GB" dirty="0"/>
              <a:t> </a:t>
            </a:r>
            <a:r>
              <a:rPr lang="en-GB" dirty="0" err="1"/>
              <a:t>în</a:t>
            </a:r>
            <a:r>
              <a:rPr lang="en-GB" dirty="0"/>
              <a:t> </a:t>
            </a:r>
            <a:r>
              <a:rPr lang="en-GB" dirty="0" err="1"/>
              <a:t>paralel</a:t>
            </a:r>
            <a:r>
              <a:rPr lang="en-GB" dirty="0"/>
              <a:t>, </a:t>
            </a:r>
            <a:r>
              <a:rPr lang="en-GB" dirty="0" err="1"/>
              <a:t>analizând</a:t>
            </a:r>
            <a:r>
              <a:rPr lang="en-GB" dirty="0"/>
              <a:t> </a:t>
            </a:r>
            <a:r>
              <a:rPr lang="en-GB" dirty="0" err="1"/>
              <a:t>ceilalți</a:t>
            </a:r>
            <a:r>
              <a:rPr lang="en-GB" dirty="0"/>
              <a:t> </a:t>
            </a:r>
            <a:r>
              <a:rPr lang="en-GB" dirty="0" err="1"/>
              <a:t>doi</a:t>
            </a:r>
            <a:r>
              <a:rPr lang="en-GB" dirty="0"/>
              <a:t>.</a:t>
            </a:r>
          </a:p>
          <a:p>
            <a:pPr marL="457200" indent="-457200">
              <a:buFont typeface="+mj-lt"/>
              <a:buAutoNum type="arabicPeriod"/>
            </a:pPr>
            <a:endParaRPr lang="en-GB" b="1" dirty="0"/>
          </a:p>
        </p:txBody>
      </p:sp>
    </p:spTree>
    <p:extLst>
      <p:ext uri="{BB962C8B-B14F-4D97-AF65-F5344CB8AC3E}">
        <p14:creationId xmlns:p14="http://schemas.microsoft.com/office/powerpoint/2010/main" val="16625944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515131-792B-F981-ED20-CBC5DD14D5D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5B2E5C5-A644-1997-31C5-C38165DD62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7727ADA-6BF8-15FA-6DD0-09F3E0DE36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A5B2678C-AF3A-5BB3-F263-FDF0126750D3}"/>
              </a:ext>
            </a:extLst>
          </p:cNvPr>
          <p:cNvSpPr>
            <a:spLocks noGrp="1"/>
          </p:cNvSpPr>
          <p:nvPr>
            <p:ph type="title"/>
          </p:nvPr>
        </p:nvSpPr>
        <p:spPr>
          <a:xfrm>
            <a:off x="492370" y="605896"/>
            <a:ext cx="3084844" cy="5646208"/>
          </a:xfrm>
        </p:spPr>
        <p:txBody>
          <a:bodyPr anchor="ctr">
            <a:normAutofit/>
          </a:bodyPr>
          <a:lstStyle/>
          <a:p>
            <a:r>
              <a:rPr lang="en-GB" sz="3600" dirty="0" err="1">
                <a:solidFill>
                  <a:srgbClr val="FFFFFF"/>
                </a:solidFill>
              </a:rPr>
              <a:t>Explicatii</a:t>
            </a:r>
            <a:endParaRPr lang="en-GB" sz="3600" dirty="0">
              <a:solidFill>
                <a:srgbClr val="FFFFFF"/>
              </a:solidFill>
            </a:endParaRPr>
          </a:p>
        </p:txBody>
      </p:sp>
      <p:sp>
        <p:nvSpPr>
          <p:cNvPr id="12" name="Rectangle 11">
            <a:extLst>
              <a:ext uri="{FF2B5EF4-FFF2-40B4-BE49-F238E27FC236}">
                <a16:creationId xmlns:a16="http://schemas.microsoft.com/office/drawing/2014/main" id="{34A0E834-1DA6-09A0-88A0-01E674F49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 name="Content Placeholder 2">
            <a:extLst>
              <a:ext uri="{FF2B5EF4-FFF2-40B4-BE49-F238E27FC236}">
                <a16:creationId xmlns:a16="http://schemas.microsoft.com/office/drawing/2014/main" id="{07F22286-D7C6-73D5-BCD5-0EDEB248ABA1}"/>
              </a:ext>
            </a:extLst>
          </p:cNvPr>
          <p:cNvSpPr>
            <a:spLocks noGrp="1"/>
          </p:cNvSpPr>
          <p:nvPr>
            <p:ph idx="1"/>
          </p:nvPr>
        </p:nvSpPr>
        <p:spPr>
          <a:xfrm>
            <a:off x="4343400" y="605896"/>
            <a:ext cx="7677150" cy="5646208"/>
          </a:xfrm>
        </p:spPr>
        <p:txBody>
          <a:bodyPr anchor="ctr">
            <a:normAutofit lnSpcReduction="10000"/>
          </a:bodyPr>
          <a:lstStyle/>
          <a:p>
            <a:pPr>
              <a:spcBef>
                <a:spcPts val="0"/>
              </a:spcBef>
              <a:buNone/>
            </a:pPr>
            <a:r>
              <a:rPr lang="en-GB" sz="1600" b="1" dirty="0"/>
              <a:t>3. </a:t>
            </a:r>
            <a:r>
              <a:rPr lang="en-GB" sz="1600" b="1" dirty="0" err="1"/>
              <a:t>Verificarea</a:t>
            </a:r>
            <a:r>
              <a:rPr lang="en-GB" sz="1600" b="1" dirty="0"/>
              <a:t> </a:t>
            </a:r>
            <a:r>
              <a:rPr lang="en-GB" sz="1600" b="1" dirty="0" err="1"/>
              <a:t>rezultatului</a:t>
            </a:r>
            <a:endParaRPr lang="en-GB" sz="1600" b="1" dirty="0"/>
          </a:p>
          <a:p>
            <a:pPr rtl="0">
              <a:spcBef>
                <a:spcPts val="0"/>
              </a:spcBef>
              <a:buNone/>
            </a:pPr>
            <a:r>
              <a:rPr lang="en-GB" sz="1600" dirty="0">
                <a:latin typeface="Courier New" panose="02070309020205020404" pitchFamily="49" charset="0"/>
              </a:rPr>
              <a:t>while (!gata) {</a:t>
            </a:r>
          </a:p>
          <a:p>
            <a:pPr rtl="0">
              <a:spcBef>
                <a:spcPts val="0"/>
              </a:spcBef>
              <a:buNone/>
            </a:pPr>
            <a:r>
              <a:rPr lang="en-GB" sz="1600" dirty="0">
                <a:latin typeface="Courier New" panose="02070309020205020404" pitchFamily="49" charset="0"/>
              </a:rPr>
              <a:t>    for (int </a:t>
            </a:r>
            <a:r>
              <a:rPr lang="en-GB" sz="1600" dirty="0" err="1">
                <a:latin typeface="Courier New" panose="02070309020205020404" pitchFamily="49" charset="0"/>
              </a:rPr>
              <a:t>i</a:t>
            </a:r>
            <a:r>
              <a:rPr lang="en-GB" sz="1600" dirty="0">
                <a:latin typeface="Courier New" panose="02070309020205020404" pitchFamily="49" charset="0"/>
              </a:rPr>
              <a:t> = 0; </a:t>
            </a:r>
            <a:r>
              <a:rPr lang="en-GB" sz="1600" dirty="0" err="1">
                <a:latin typeface="Courier New" panose="02070309020205020404" pitchFamily="49" charset="0"/>
              </a:rPr>
              <a:t>i</a:t>
            </a:r>
            <a:r>
              <a:rPr lang="en-GB" sz="1600" dirty="0">
                <a:latin typeface="Courier New" panose="02070309020205020404" pitchFamily="49" charset="0"/>
              </a:rPr>
              <a:t> &lt; 3; </a:t>
            </a:r>
            <a:r>
              <a:rPr lang="en-GB" sz="1600" dirty="0" err="1">
                <a:latin typeface="Courier New" panose="02070309020205020404" pitchFamily="49" charset="0"/>
              </a:rPr>
              <a:t>i</a:t>
            </a:r>
            <a:r>
              <a:rPr lang="en-GB" sz="1600" dirty="0">
                <a:latin typeface="Courier New" panose="02070309020205020404" pitchFamily="49" charset="0"/>
              </a:rPr>
              <a:t>++) {</a:t>
            </a:r>
          </a:p>
          <a:p>
            <a:pPr rtl="0">
              <a:spcBef>
                <a:spcPts val="0"/>
              </a:spcBef>
              <a:buNone/>
            </a:pPr>
            <a:r>
              <a:rPr lang="en-GB" sz="1600" dirty="0">
                <a:latin typeface="Courier New" panose="02070309020205020404" pitchFamily="49" charset="0"/>
              </a:rPr>
              <a:t>        if (</a:t>
            </a:r>
            <a:r>
              <a:rPr lang="en-GB" sz="1600" dirty="0" err="1">
                <a:latin typeface="Courier New" panose="02070309020205020404" pitchFamily="49" charset="0"/>
              </a:rPr>
              <a:t>filozofi</a:t>
            </a:r>
            <a:r>
              <a:rPr lang="en-GB" sz="1600" dirty="0">
                <a:latin typeface="Courier New" panose="02070309020205020404" pitchFamily="49" charset="0"/>
              </a:rPr>
              <a:t>[</a:t>
            </a:r>
            <a:r>
              <a:rPr lang="en-GB" sz="1600" dirty="0" err="1">
                <a:latin typeface="Courier New" panose="02070309020205020404" pitchFamily="49" charset="0"/>
              </a:rPr>
              <a:t>i</a:t>
            </a:r>
            <a:r>
              <a:rPr lang="en-GB" sz="1600" dirty="0">
                <a:latin typeface="Courier New" panose="02070309020205020404" pitchFamily="49" charset="0"/>
              </a:rPr>
              <a:t>].</a:t>
            </a:r>
            <a:r>
              <a:rPr lang="en-GB" sz="1600" dirty="0" err="1">
                <a:latin typeface="Courier New" panose="02070309020205020404" pitchFamily="49" charset="0"/>
              </a:rPr>
              <a:t>aGhicit</a:t>
            </a:r>
            <a:r>
              <a:rPr lang="en-GB" sz="1600" dirty="0">
                <a:latin typeface="Courier New" panose="02070309020205020404" pitchFamily="49" charset="0"/>
              </a:rPr>
              <a:t>() == </a:t>
            </a:r>
            <a:r>
              <a:rPr lang="en-GB" sz="1600" dirty="0" err="1">
                <a:latin typeface="Courier New" panose="02070309020205020404" pitchFamily="49" charset="0"/>
              </a:rPr>
              <a:t>palarii</a:t>
            </a:r>
            <a:r>
              <a:rPr lang="en-GB" sz="1600" dirty="0">
                <a:latin typeface="Courier New" panose="02070309020205020404" pitchFamily="49" charset="0"/>
              </a:rPr>
              <a:t>[</a:t>
            </a:r>
            <a:r>
              <a:rPr lang="en-GB" sz="1600" dirty="0" err="1">
                <a:latin typeface="Courier New" panose="02070309020205020404" pitchFamily="49" charset="0"/>
              </a:rPr>
              <a:t>i</a:t>
            </a:r>
            <a:r>
              <a:rPr lang="en-GB" sz="1600" dirty="0">
                <a:latin typeface="Courier New" panose="02070309020205020404" pitchFamily="49" charset="0"/>
              </a:rPr>
              <a:t>]) {</a:t>
            </a:r>
          </a:p>
          <a:p>
            <a:pPr rtl="0">
              <a:spcBef>
                <a:spcPts val="0"/>
              </a:spcBef>
              <a:buNone/>
            </a:pPr>
            <a:r>
              <a:rPr lang="en-GB" sz="1600" dirty="0">
                <a:latin typeface="Courier New" panose="02070309020205020404" pitchFamily="49" charset="0"/>
              </a:rPr>
              <a:t>            </a:t>
            </a:r>
            <a:r>
              <a:rPr lang="en-GB" sz="1600" dirty="0" err="1">
                <a:latin typeface="Courier New" panose="02070309020205020404" pitchFamily="49" charset="0"/>
              </a:rPr>
              <a:t>System.out.println</a:t>
            </a:r>
            <a:r>
              <a:rPr lang="en-GB" sz="1600" dirty="0">
                <a:latin typeface="Courier New" panose="02070309020205020404" pitchFamily="49" charset="0"/>
              </a:rPr>
              <a:t>(</a:t>
            </a:r>
            <a:r>
              <a:rPr lang="en-GB" sz="1600" dirty="0" err="1">
                <a:latin typeface="Courier New" panose="02070309020205020404" pitchFamily="49" charset="0"/>
              </a:rPr>
              <a:t>filozofi</a:t>
            </a:r>
            <a:r>
              <a:rPr lang="en-GB" sz="1600" dirty="0">
                <a:latin typeface="Courier New" panose="02070309020205020404" pitchFamily="49" charset="0"/>
              </a:rPr>
              <a:t>[</a:t>
            </a:r>
            <a:r>
              <a:rPr lang="en-GB" sz="1600" dirty="0" err="1">
                <a:latin typeface="Courier New" panose="02070309020205020404" pitchFamily="49" charset="0"/>
              </a:rPr>
              <a:t>i</a:t>
            </a:r>
            <a:r>
              <a:rPr lang="en-GB" sz="1600" dirty="0">
                <a:latin typeface="Courier New" panose="02070309020205020404" pitchFamily="49" charset="0"/>
              </a:rPr>
              <a:t>].</a:t>
            </a:r>
            <a:r>
              <a:rPr lang="en-GB" sz="1600" dirty="0" err="1">
                <a:latin typeface="Courier New" panose="02070309020205020404" pitchFamily="49" charset="0"/>
              </a:rPr>
              <a:t>getName</a:t>
            </a:r>
            <a:r>
              <a:rPr lang="en-GB" sz="1600" dirty="0">
                <a:latin typeface="Courier New" panose="02070309020205020404" pitchFamily="49" charset="0"/>
              </a:rPr>
              <a:t>() + " a </a:t>
            </a:r>
            <a:r>
              <a:rPr lang="en-GB" sz="1600" dirty="0" err="1">
                <a:latin typeface="Courier New" panose="02070309020205020404" pitchFamily="49" charset="0"/>
              </a:rPr>
              <a:t>ghicit</a:t>
            </a:r>
            <a:r>
              <a:rPr lang="en-GB" sz="1600" dirty="0">
                <a:latin typeface="Courier New" panose="02070309020205020404" pitchFamily="49" charset="0"/>
              </a:rPr>
              <a:t>.");</a:t>
            </a:r>
          </a:p>
          <a:p>
            <a:pPr rtl="0">
              <a:spcBef>
                <a:spcPts val="0"/>
              </a:spcBef>
              <a:buNone/>
            </a:pPr>
            <a:r>
              <a:rPr lang="en-GB" sz="1600" dirty="0">
                <a:latin typeface="Courier New" panose="02070309020205020404" pitchFamily="49" charset="0"/>
              </a:rPr>
              <a:t>            gata = true;</a:t>
            </a:r>
          </a:p>
          <a:p>
            <a:pPr rtl="0">
              <a:spcBef>
                <a:spcPts val="0"/>
              </a:spcBef>
              <a:buNone/>
            </a:pPr>
            <a:r>
              <a:rPr lang="en-GB" sz="1600" dirty="0">
                <a:latin typeface="Courier New" panose="02070309020205020404" pitchFamily="49" charset="0"/>
              </a:rPr>
              <a:t>        }</a:t>
            </a:r>
          </a:p>
          <a:p>
            <a:pPr rtl="0">
              <a:spcBef>
                <a:spcPts val="0"/>
              </a:spcBef>
              <a:buNone/>
            </a:pPr>
            <a:r>
              <a:rPr lang="en-GB" sz="1600" dirty="0">
                <a:latin typeface="Courier New" panose="02070309020205020404" pitchFamily="49" charset="0"/>
              </a:rPr>
              <a:t>    }</a:t>
            </a:r>
          </a:p>
          <a:p>
            <a:pPr rtl="0">
              <a:spcBef>
                <a:spcPts val="0"/>
              </a:spcBef>
              <a:buNone/>
            </a:pPr>
            <a:r>
              <a:rPr lang="en-GB" sz="1600" dirty="0">
                <a:latin typeface="Courier New" panose="02070309020205020404" pitchFamily="49" charset="0"/>
              </a:rPr>
              <a:t>}</a:t>
            </a:r>
          </a:p>
          <a:p>
            <a:pPr>
              <a:spcBef>
                <a:spcPts val="0"/>
              </a:spcBef>
              <a:buNone/>
            </a:pPr>
            <a:r>
              <a:rPr lang="en-GB" sz="1600" dirty="0"/>
              <a:t>→ </a:t>
            </a:r>
            <a:r>
              <a:rPr lang="en-GB" sz="1600" dirty="0" err="1"/>
              <a:t>Programul</a:t>
            </a:r>
            <a:r>
              <a:rPr lang="en-GB" sz="1600" dirty="0"/>
              <a:t> </a:t>
            </a:r>
            <a:r>
              <a:rPr lang="en-GB" sz="1600" dirty="0" err="1"/>
              <a:t>verifică</a:t>
            </a:r>
            <a:r>
              <a:rPr lang="en-GB" sz="1600" dirty="0"/>
              <a:t> </a:t>
            </a:r>
            <a:r>
              <a:rPr lang="en-GB" sz="1600" dirty="0" err="1"/>
              <a:t>continuu</a:t>
            </a:r>
            <a:r>
              <a:rPr lang="en-GB" sz="1600" dirty="0"/>
              <a:t> </a:t>
            </a:r>
            <a:r>
              <a:rPr lang="en-GB" sz="1600" dirty="0" err="1"/>
              <a:t>dacă</a:t>
            </a:r>
            <a:r>
              <a:rPr lang="en-GB" sz="1600" dirty="0"/>
              <a:t> </a:t>
            </a:r>
            <a:r>
              <a:rPr lang="en-GB" sz="1600" dirty="0" err="1"/>
              <a:t>vreun</a:t>
            </a:r>
            <a:r>
              <a:rPr lang="en-GB" sz="1600" dirty="0"/>
              <a:t> </a:t>
            </a:r>
            <a:r>
              <a:rPr lang="en-GB" sz="1600" dirty="0" err="1"/>
              <a:t>filozof</a:t>
            </a:r>
            <a:r>
              <a:rPr lang="en-GB" sz="1600" dirty="0"/>
              <a:t> </a:t>
            </a:r>
            <a:r>
              <a:rPr lang="en-GB" sz="1600" dirty="0" err="1"/>
              <a:t>și</a:t>
            </a:r>
            <a:r>
              <a:rPr lang="en-GB" sz="1600" dirty="0"/>
              <a:t>-a </a:t>
            </a:r>
            <a:r>
              <a:rPr lang="en-GB" sz="1600" dirty="0" err="1"/>
              <a:t>ghicit</a:t>
            </a:r>
            <a:r>
              <a:rPr lang="en-GB" sz="1600" dirty="0"/>
              <a:t> </a:t>
            </a:r>
            <a:r>
              <a:rPr lang="en-GB" sz="1600" dirty="0" err="1"/>
              <a:t>corect</a:t>
            </a:r>
            <a:r>
              <a:rPr lang="en-GB" sz="1600" dirty="0"/>
              <a:t> </a:t>
            </a:r>
            <a:r>
              <a:rPr lang="en-GB" sz="1600" dirty="0" err="1"/>
              <a:t>culoarea</a:t>
            </a:r>
            <a:r>
              <a:rPr lang="en-GB" sz="1600" dirty="0"/>
              <a:t>.</a:t>
            </a:r>
            <a:br>
              <a:rPr lang="en-GB" sz="1600" dirty="0"/>
            </a:br>
            <a:r>
              <a:rPr lang="en-GB" sz="1600" dirty="0" err="1"/>
              <a:t>Când</a:t>
            </a:r>
            <a:r>
              <a:rPr lang="en-GB" sz="1600" dirty="0"/>
              <a:t> </a:t>
            </a:r>
            <a:r>
              <a:rPr lang="en-GB" sz="1600" dirty="0" err="1"/>
              <a:t>primul</a:t>
            </a:r>
            <a:r>
              <a:rPr lang="en-GB" sz="1600" dirty="0"/>
              <a:t> </a:t>
            </a:r>
            <a:r>
              <a:rPr lang="en-GB" sz="1600" dirty="0" err="1"/>
              <a:t>reușește</a:t>
            </a:r>
            <a:r>
              <a:rPr lang="en-GB" sz="1600" dirty="0"/>
              <a:t>, </a:t>
            </a:r>
            <a:r>
              <a:rPr lang="en-GB" sz="1600" b="1" dirty="0" err="1"/>
              <a:t>concursul</a:t>
            </a:r>
            <a:r>
              <a:rPr lang="en-GB" sz="1600" b="1" dirty="0"/>
              <a:t> se </a:t>
            </a:r>
            <a:r>
              <a:rPr lang="en-GB" sz="1600" b="1" dirty="0" err="1"/>
              <a:t>oprește</a:t>
            </a:r>
            <a:r>
              <a:rPr lang="en-GB" sz="1600" dirty="0"/>
              <a:t>.</a:t>
            </a:r>
          </a:p>
          <a:p>
            <a:pPr>
              <a:spcBef>
                <a:spcPts val="0"/>
              </a:spcBef>
              <a:buNone/>
            </a:pPr>
            <a:br>
              <a:rPr lang="en-GB" sz="1600" dirty="0"/>
            </a:br>
            <a:r>
              <a:rPr lang="en-GB" sz="1600" b="1" dirty="0"/>
              <a:t>4. </a:t>
            </a:r>
            <a:r>
              <a:rPr lang="en-GB" sz="1600" b="1" dirty="0" err="1"/>
              <a:t>Sincronizarea</a:t>
            </a:r>
            <a:r>
              <a:rPr lang="en-GB" sz="1600" b="1" dirty="0"/>
              <a:t> </a:t>
            </a:r>
            <a:r>
              <a:rPr lang="en-GB" sz="1600" b="1" dirty="0" err="1"/>
              <a:t>generală</a:t>
            </a:r>
            <a:endParaRPr lang="en-GB" sz="1600" b="1" dirty="0"/>
          </a:p>
          <a:p>
            <a:pPr>
              <a:spcBef>
                <a:spcPts val="0"/>
              </a:spcBef>
              <a:buNone/>
            </a:pPr>
            <a:r>
              <a:rPr lang="en-GB" sz="1600" dirty="0" err="1"/>
              <a:t>Metoda</a:t>
            </a:r>
            <a:r>
              <a:rPr lang="en-GB" sz="1600" dirty="0"/>
              <a:t> </a:t>
            </a:r>
            <a:r>
              <a:rPr lang="en-GB" sz="1600" dirty="0" err="1">
                <a:latin typeface="Courier New" panose="02070309020205020404" pitchFamily="49" charset="0"/>
              </a:rPr>
              <a:t>culoare</a:t>
            </a:r>
            <a:r>
              <a:rPr lang="en-GB" sz="1600" dirty="0">
                <a:latin typeface="Courier New" panose="02070309020205020404" pitchFamily="49" charset="0"/>
              </a:rPr>
              <a:t>()</a:t>
            </a:r>
            <a:r>
              <a:rPr lang="en-GB" sz="1600" dirty="0"/>
              <a:t> </a:t>
            </a:r>
            <a:r>
              <a:rPr lang="en-GB" sz="1600" dirty="0" err="1"/>
              <a:t>este</a:t>
            </a:r>
            <a:r>
              <a:rPr lang="en-GB" sz="1600" dirty="0"/>
              <a:t> </a:t>
            </a:r>
            <a:r>
              <a:rPr lang="en-GB" sz="1600" dirty="0" err="1"/>
              <a:t>statică</a:t>
            </a:r>
            <a:r>
              <a:rPr lang="en-GB" sz="1600" dirty="0"/>
              <a:t> </a:t>
            </a:r>
            <a:r>
              <a:rPr lang="en-GB" sz="1600" dirty="0" err="1"/>
              <a:t>și</a:t>
            </a:r>
            <a:r>
              <a:rPr lang="en-GB" sz="1600" dirty="0"/>
              <a:t> </a:t>
            </a:r>
            <a:r>
              <a:rPr lang="en-GB" sz="1600" dirty="0" err="1"/>
              <a:t>sincronizată</a:t>
            </a:r>
            <a:r>
              <a:rPr lang="en-GB" sz="1600" dirty="0"/>
              <a:t> pe </a:t>
            </a:r>
            <a:r>
              <a:rPr lang="en-GB" sz="1600" dirty="0" err="1"/>
              <a:t>obiecte</a:t>
            </a:r>
            <a:r>
              <a:rPr lang="en-GB" sz="1600" dirty="0"/>
              <a:t> </a:t>
            </a:r>
            <a:r>
              <a:rPr lang="en-GB" sz="1600" dirty="0" err="1"/>
              <a:t>partajate</a:t>
            </a:r>
            <a:r>
              <a:rPr lang="en-GB" sz="1600" dirty="0"/>
              <a:t> — </a:t>
            </a:r>
            <a:r>
              <a:rPr lang="en-GB" sz="1600" dirty="0" err="1"/>
              <a:t>controlează</a:t>
            </a:r>
            <a:r>
              <a:rPr lang="en-GB" sz="1600" dirty="0"/>
              <a:t> </a:t>
            </a:r>
            <a:r>
              <a:rPr lang="en-GB" sz="1600" b="1" dirty="0" err="1"/>
              <a:t>vizibilitatea</a:t>
            </a:r>
            <a:r>
              <a:rPr lang="en-GB" sz="1600" b="1" dirty="0"/>
              <a:t> </a:t>
            </a:r>
            <a:r>
              <a:rPr lang="en-GB" sz="1600" b="1" dirty="0" err="1"/>
              <a:t>culorii</a:t>
            </a:r>
            <a:r>
              <a:rPr lang="en-GB" sz="1600" b="1" dirty="0"/>
              <a:t> </a:t>
            </a:r>
            <a:r>
              <a:rPr lang="en-GB" sz="1600" b="1" dirty="0" err="1"/>
              <a:t>celorlalți</a:t>
            </a:r>
            <a:r>
              <a:rPr lang="en-GB" sz="1600" b="1" dirty="0"/>
              <a:t> </a:t>
            </a:r>
            <a:r>
              <a:rPr lang="en-GB" sz="1600" b="1" dirty="0" err="1"/>
              <a:t>filosofi</a:t>
            </a:r>
            <a:r>
              <a:rPr lang="en-GB" sz="1600" dirty="0"/>
              <a:t>:</a:t>
            </a:r>
          </a:p>
          <a:p>
            <a:pPr rtl="0">
              <a:spcBef>
                <a:spcPts val="0"/>
              </a:spcBef>
              <a:buNone/>
            </a:pPr>
            <a:r>
              <a:rPr lang="en-GB" sz="1600" dirty="0">
                <a:latin typeface="Courier New" panose="02070309020205020404" pitchFamily="49" charset="0"/>
              </a:rPr>
              <a:t>public static </a:t>
            </a:r>
            <a:r>
              <a:rPr lang="en-GB" sz="1600" dirty="0" err="1">
                <a:latin typeface="Courier New" panose="02070309020205020404" pitchFamily="49" charset="0"/>
              </a:rPr>
              <a:t>Color</a:t>
            </a:r>
            <a:r>
              <a:rPr lang="en-GB" sz="1600" dirty="0">
                <a:latin typeface="Courier New" panose="02070309020205020404" pitchFamily="49" charset="0"/>
              </a:rPr>
              <a:t> </a:t>
            </a:r>
            <a:r>
              <a:rPr lang="en-GB" sz="1600" dirty="0" err="1">
                <a:latin typeface="Courier New" panose="02070309020205020404" pitchFamily="49" charset="0"/>
              </a:rPr>
              <a:t>culoare</a:t>
            </a:r>
            <a:r>
              <a:rPr lang="en-GB" sz="1600" dirty="0">
                <a:latin typeface="Courier New" panose="02070309020205020404" pitchFamily="49" charset="0"/>
              </a:rPr>
              <a:t>(</a:t>
            </a:r>
            <a:r>
              <a:rPr lang="en-GB" sz="1600" dirty="0" err="1">
                <a:latin typeface="Courier New" panose="02070309020205020404" pitchFamily="49" charset="0"/>
              </a:rPr>
              <a:t>Filozof</a:t>
            </a:r>
            <a:r>
              <a:rPr lang="en-GB" sz="1600" dirty="0">
                <a:latin typeface="Courier New" panose="02070309020205020404" pitchFamily="49" charset="0"/>
              </a:rPr>
              <a:t> </a:t>
            </a:r>
            <a:r>
              <a:rPr lang="en-GB" sz="1600" dirty="0" err="1">
                <a:latin typeface="Courier New" panose="02070309020205020404" pitchFamily="49" charset="0"/>
              </a:rPr>
              <a:t>filozof</a:t>
            </a:r>
            <a:r>
              <a:rPr lang="en-GB" sz="1600" dirty="0">
                <a:latin typeface="Courier New" panose="02070309020205020404" pitchFamily="49" charset="0"/>
              </a:rPr>
              <a:t>, </a:t>
            </a:r>
            <a:r>
              <a:rPr lang="en-GB" sz="1600" dirty="0" err="1">
                <a:latin typeface="Courier New" panose="02070309020205020404" pitchFamily="49" charset="0"/>
              </a:rPr>
              <a:t>Filozof</a:t>
            </a:r>
            <a:r>
              <a:rPr lang="en-GB" sz="1600" dirty="0">
                <a:latin typeface="Courier New" panose="02070309020205020404" pitchFamily="49" charset="0"/>
              </a:rPr>
              <a:t> </a:t>
            </a:r>
            <a:r>
              <a:rPr lang="en-GB" sz="1600" dirty="0" err="1">
                <a:latin typeface="Courier New" panose="02070309020205020404" pitchFamily="49" charset="0"/>
              </a:rPr>
              <a:t>concurent</a:t>
            </a:r>
            <a:r>
              <a:rPr lang="en-GB" sz="1600" dirty="0">
                <a:latin typeface="Courier New" panose="02070309020205020404" pitchFamily="49" charset="0"/>
              </a:rPr>
              <a:t>) {</a:t>
            </a:r>
          </a:p>
          <a:p>
            <a:pPr rtl="0">
              <a:spcBef>
                <a:spcPts val="0"/>
              </a:spcBef>
              <a:buNone/>
            </a:pPr>
            <a:r>
              <a:rPr lang="en-GB" sz="1600" dirty="0">
                <a:latin typeface="Courier New" panose="02070309020205020404" pitchFamily="49" charset="0"/>
              </a:rPr>
              <a:t>    if (</a:t>
            </a:r>
            <a:r>
              <a:rPr lang="en-GB" sz="1600" dirty="0" err="1">
                <a:latin typeface="Courier New" panose="02070309020205020404" pitchFamily="49" charset="0"/>
              </a:rPr>
              <a:t>filozof</a:t>
            </a:r>
            <a:r>
              <a:rPr lang="en-GB" sz="1600" dirty="0">
                <a:latin typeface="Courier New" panose="02070309020205020404" pitchFamily="49" charset="0"/>
              </a:rPr>
              <a:t> != </a:t>
            </a:r>
            <a:r>
              <a:rPr lang="en-GB" sz="1600" dirty="0" err="1">
                <a:latin typeface="Courier New" panose="02070309020205020404" pitchFamily="49" charset="0"/>
              </a:rPr>
              <a:t>concurent</a:t>
            </a:r>
            <a:r>
              <a:rPr lang="en-GB" sz="1600" dirty="0">
                <a:latin typeface="Courier New" panose="02070309020205020404" pitchFamily="49" charset="0"/>
              </a:rPr>
              <a:t>) {</a:t>
            </a:r>
          </a:p>
          <a:p>
            <a:pPr rtl="0">
              <a:spcBef>
                <a:spcPts val="0"/>
              </a:spcBef>
              <a:buNone/>
            </a:pPr>
            <a:r>
              <a:rPr lang="en-GB" sz="1600" dirty="0">
                <a:latin typeface="Courier New" panose="02070309020205020404" pitchFamily="49" charset="0"/>
              </a:rPr>
              <a:t>        for (...) {</a:t>
            </a:r>
          </a:p>
          <a:p>
            <a:pPr rtl="0">
              <a:spcBef>
                <a:spcPts val="0"/>
              </a:spcBef>
              <a:buNone/>
            </a:pPr>
            <a:r>
              <a:rPr lang="en-GB" sz="1600" dirty="0">
                <a:latin typeface="Courier New" panose="02070309020205020404" pitchFamily="49" charset="0"/>
              </a:rPr>
              <a:t>            if (</a:t>
            </a:r>
            <a:r>
              <a:rPr lang="en-GB" sz="1600" dirty="0" err="1">
                <a:latin typeface="Courier New" panose="02070309020205020404" pitchFamily="49" charset="0"/>
              </a:rPr>
              <a:t>filozofi</a:t>
            </a:r>
            <a:r>
              <a:rPr lang="en-GB" sz="1600" dirty="0">
                <a:latin typeface="Courier New" panose="02070309020205020404" pitchFamily="49" charset="0"/>
              </a:rPr>
              <a:t>[</a:t>
            </a:r>
            <a:r>
              <a:rPr lang="en-GB" sz="1600" dirty="0" err="1">
                <a:latin typeface="Courier New" panose="02070309020205020404" pitchFamily="49" charset="0"/>
              </a:rPr>
              <a:t>i</a:t>
            </a:r>
            <a:r>
              <a:rPr lang="en-GB" sz="1600" dirty="0">
                <a:latin typeface="Courier New" panose="02070309020205020404" pitchFamily="49" charset="0"/>
              </a:rPr>
              <a:t>] == </a:t>
            </a:r>
            <a:r>
              <a:rPr lang="en-GB" sz="1600" dirty="0" err="1">
                <a:latin typeface="Courier New" panose="02070309020205020404" pitchFamily="49" charset="0"/>
              </a:rPr>
              <a:t>concurent</a:t>
            </a:r>
            <a:r>
              <a:rPr lang="en-GB" sz="1600" dirty="0">
                <a:latin typeface="Courier New" panose="02070309020205020404" pitchFamily="49" charset="0"/>
              </a:rPr>
              <a:t>) return </a:t>
            </a:r>
            <a:r>
              <a:rPr lang="en-GB" sz="1600" dirty="0" err="1">
                <a:latin typeface="Courier New" panose="02070309020205020404" pitchFamily="49" charset="0"/>
              </a:rPr>
              <a:t>palarii</a:t>
            </a:r>
            <a:r>
              <a:rPr lang="en-GB" sz="1600" dirty="0">
                <a:latin typeface="Courier New" panose="02070309020205020404" pitchFamily="49" charset="0"/>
              </a:rPr>
              <a:t>[</a:t>
            </a:r>
            <a:r>
              <a:rPr lang="en-GB" sz="1600" dirty="0" err="1">
                <a:latin typeface="Courier New" panose="02070309020205020404" pitchFamily="49" charset="0"/>
              </a:rPr>
              <a:t>i</a:t>
            </a:r>
            <a:r>
              <a:rPr lang="en-GB" sz="1600" dirty="0">
                <a:latin typeface="Courier New" panose="02070309020205020404" pitchFamily="49" charset="0"/>
              </a:rPr>
              <a:t>];</a:t>
            </a:r>
          </a:p>
          <a:p>
            <a:pPr rtl="0">
              <a:spcBef>
                <a:spcPts val="0"/>
              </a:spcBef>
              <a:buNone/>
            </a:pPr>
            <a:r>
              <a:rPr lang="en-GB" sz="1600" dirty="0">
                <a:latin typeface="Courier New" panose="02070309020205020404" pitchFamily="49" charset="0"/>
              </a:rPr>
              <a:t>        }</a:t>
            </a:r>
          </a:p>
          <a:p>
            <a:pPr rtl="0">
              <a:spcBef>
                <a:spcPts val="0"/>
              </a:spcBef>
              <a:buNone/>
            </a:pPr>
            <a:r>
              <a:rPr lang="en-GB" sz="1600" dirty="0">
                <a:latin typeface="Courier New" panose="02070309020205020404" pitchFamily="49" charset="0"/>
              </a:rPr>
              <a:t>    }</a:t>
            </a:r>
          </a:p>
          <a:p>
            <a:pPr rtl="0">
              <a:spcBef>
                <a:spcPts val="0"/>
              </a:spcBef>
              <a:buNone/>
            </a:pPr>
            <a:r>
              <a:rPr lang="en-GB" sz="1600" dirty="0">
                <a:latin typeface="Courier New" panose="02070309020205020404" pitchFamily="49" charset="0"/>
              </a:rPr>
              <a:t>    return null;</a:t>
            </a:r>
          </a:p>
          <a:p>
            <a:pPr rtl="0">
              <a:spcBef>
                <a:spcPts val="0"/>
              </a:spcBef>
              <a:buNone/>
            </a:pPr>
            <a:r>
              <a:rPr lang="en-GB" sz="1600" dirty="0">
                <a:latin typeface="Courier New" panose="02070309020205020404" pitchFamily="49" charset="0"/>
              </a:rPr>
              <a:t>}</a:t>
            </a:r>
          </a:p>
          <a:p>
            <a:pPr marL="457200" indent="-457200">
              <a:spcBef>
                <a:spcPts val="0"/>
              </a:spcBef>
              <a:buFont typeface="+mj-lt"/>
              <a:buAutoNum type="arabicPeriod"/>
            </a:pPr>
            <a:endParaRPr lang="en-GB" sz="1600" b="1" dirty="0"/>
          </a:p>
        </p:txBody>
      </p:sp>
    </p:spTree>
    <p:extLst>
      <p:ext uri="{BB962C8B-B14F-4D97-AF65-F5344CB8AC3E}">
        <p14:creationId xmlns:p14="http://schemas.microsoft.com/office/powerpoint/2010/main" val="405787874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Override1.xml><?xml version="1.0" encoding="utf-8"?>
<a:themeOverride xmlns:a="http://schemas.openxmlformats.org/drawingml/2006/main">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themeOverride>
</file>

<file path=docProps/app.xml><?xml version="1.0" encoding="utf-8"?>
<Properties xmlns="http://schemas.openxmlformats.org/officeDocument/2006/extended-properties" xmlns:vt="http://schemas.openxmlformats.org/officeDocument/2006/docPropsVTypes">
  <Template/>
  <TotalTime>5575</TotalTime>
  <Words>6559</Words>
  <Application>Microsoft Office PowerPoint</Application>
  <PresentationFormat>Widescreen</PresentationFormat>
  <Paragraphs>613</Paragraphs>
  <Slides>40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Calibri</vt:lpstr>
      <vt:lpstr>Calibri Light</vt:lpstr>
      <vt:lpstr>Courier New</vt:lpstr>
      <vt:lpstr>Wingdings</vt:lpstr>
      <vt:lpstr>Retrospect</vt:lpstr>
      <vt:lpstr>Fire de execuție</vt:lpstr>
      <vt:lpstr>Fire de execuţie şi sincronizare</vt:lpstr>
      <vt:lpstr>Fire de execuţie şi sincronizare</vt:lpstr>
      <vt:lpstr>Fire de execuţie şi sincronizare</vt:lpstr>
      <vt:lpstr>Fire de execuţie şi sincronizare</vt:lpstr>
      <vt:lpstr>Fire de execuţie şi sincronizare</vt:lpstr>
      <vt:lpstr>Crearea firelor de execuţie</vt:lpstr>
      <vt:lpstr>Exemple. </vt:lpstr>
      <vt:lpstr>Exemplu</vt:lpstr>
      <vt:lpstr>Creare prin implementare interfața Runnable</vt:lpstr>
      <vt:lpstr>Exemple. </vt:lpstr>
      <vt:lpstr>Comparatie</vt:lpstr>
      <vt:lpstr>Stările unui fir de execuţie</vt:lpstr>
      <vt:lpstr>Stările unui fir de execuţie</vt:lpstr>
      <vt:lpstr>Stările unui fir de execuţie</vt:lpstr>
      <vt:lpstr>Stările unui fir de execuţie</vt:lpstr>
      <vt:lpstr>Stările unui fir de execuţie</vt:lpstr>
      <vt:lpstr>Prioritatea firelor de execuţie</vt:lpstr>
      <vt:lpstr>Exemplu</vt:lpstr>
      <vt:lpstr>Prioritatea firelor de execuţie. Fire demon (Daemon Threads) în Java</vt:lpstr>
      <vt:lpstr>Prioritatea firelor de execuţie</vt:lpstr>
      <vt:lpstr>Grupuri de fire de execuţie</vt:lpstr>
      <vt:lpstr>Exemplu</vt:lpstr>
      <vt:lpstr>Enumerarea firelor de execuţie</vt:lpstr>
      <vt:lpstr>Exemplu</vt:lpstr>
      <vt:lpstr>Exemplu de program</vt:lpstr>
      <vt:lpstr>Exemplu de program</vt:lpstr>
      <vt:lpstr>Exemplu de program</vt:lpstr>
      <vt:lpstr>Sincronizare</vt:lpstr>
      <vt:lpstr>Sincronizare</vt:lpstr>
      <vt:lpstr>Exemplu. Problema filozofilor</vt:lpstr>
      <vt:lpstr>Exemplu. Problema filozofilor</vt:lpstr>
      <vt:lpstr>PowerPoint Presentation</vt:lpstr>
      <vt:lpstr>PowerPoint Presentation</vt:lpstr>
      <vt:lpstr>PowerPoint Presentation</vt:lpstr>
      <vt:lpstr>Explicatii</vt:lpstr>
      <vt:lpstr>Explicatii</vt:lpstr>
      <vt:lpstr>Explicatii</vt:lpstr>
      <vt:lpstr>Explicatii</vt:lpstr>
      <vt:lpstr>Explicatii</vt:lpstr>
    </vt:vector>
  </TitlesOfParts>
  <Company>UPT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Fire de execuție</dc:title>
  <dc:creator>Manuela Panoiu</dc:creator>
  <cp:lastModifiedBy>Manuela Panoiu</cp:lastModifiedBy>
  <cp:revision>39</cp:revision>
  <dcterms:created xsi:type="dcterms:W3CDTF">2020-11-08T09:12:21Z</dcterms:created>
  <dcterms:modified xsi:type="dcterms:W3CDTF">2025-11-10T09:18:47Z</dcterms:modified>
</cp:coreProperties>
</file>