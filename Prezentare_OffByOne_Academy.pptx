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08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E56C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SIMPOZION ȘTIINȚIFIC STUDENȚESC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Platformă web interactivă pentru studiul algoritmilor de sortare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64592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Șortan Eduard-Cătălin   ·   Băloi Dorian-Liviu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COORDONATORI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Dr. Muscalagiu Ionel   ·   As. Dr. Ing. Raț Cezara-Liliana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Politehnica Timișoara   ·   Facultatea de Inginerie Hunedoara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CUPRINSUL PREZENTĂRII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vei vedea în următoarele 15 minute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didactică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algoritmii sunt greu de înțeles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 OffByOne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reinventăm învățarea algoritmilor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 tehnologică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8.1, MySQL, Canvas, Groq AI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web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Protecție multi-strat OWASP Top 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și vizualizator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algoritmi + 4 paradigme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Gamification, PWA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Diferențiatorii cheie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 + Diferențiatori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Față de VisuAlgo, GeeksforGeeks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534924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8872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și roadmap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2920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+ direcții viitoare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înțelegem greu algoritmii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Abstractizare excesivă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Pseudocodul static și diagrame pe tablă nu transmit dinamica execuției pas cu pas.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15544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întârziat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703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Studentul nu știe imediat dacă a înțeles corect — corectarea vine săptămâni mai târziu.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155448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 scăzută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5074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recompensare imediată, retenția scade — abandonul după 2-3 săptămâni.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1828800"/>
            <a:ext cx="4114800" cy="384048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STUDII INDICĂ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468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7772400" y="4023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studenții de informatică abandonează studiul algoritmilor după primele 3 săptămâni de pseudocod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SOLUȚIA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 — învățare integrată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singură platformă, cinci moduri de interacțiune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" y="219456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" y="2194560"/>
            <a:ext cx="2148840" cy="73152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2514600"/>
            <a:ext cx="914400" cy="914400"/>
          </a:xfrm>
          <a:prstGeom prst="ellipse">
            <a:avLst/>
          </a:prstGeom>
          <a:solidFill>
            <a:srgbClr val="6E56CF">
              <a:alpha val="20000"/>
            </a:srgbClr>
          </a:solidFill>
          <a:ln w="25400">
            <a:solidFill>
              <a:srgbClr val="6E5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62356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2356" y="3931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Explicații + cod sursă C++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38628" y="219456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38628" y="2194560"/>
            <a:ext cx="2148840" cy="73152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2514600"/>
            <a:ext cx="914400" cy="914400"/>
          </a:xfrm>
          <a:prstGeom prst="ellipse">
            <a:avLst/>
          </a:prstGeom>
          <a:solidFill>
            <a:srgbClr val="6E56CF">
              <a:alpha val="20000"/>
            </a:srgbClr>
          </a:solidFill>
          <a:ln w="25400">
            <a:solidFill>
              <a:srgbClr val="6E56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830068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30068" y="3931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Animație pas cu pas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06340" y="219456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06340" y="2194560"/>
            <a:ext cx="2148840" cy="73152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560" y="2514600"/>
            <a:ext cx="914400" cy="914400"/>
          </a:xfrm>
          <a:prstGeom prst="ellipse">
            <a:avLst/>
          </a:prstGeom>
          <a:solidFill>
            <a:srgbClr val="6E56CF">
              <a:alpha val="20000"/>
            </a:srgbClr>
          </a:solidFill>
          <a:ln w="25400">
            <a:solidFill>
              <a:srgbClr val="6E56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097780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Grile &amp; Exerciții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97780" y="3931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 automată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74052" y="219456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4052" y="2194560"/>
            <a:ext cx="2148840" cy="73152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6" name="Shape 24"/>
          <p:cNvSpPr/>
          <p:nvPr/>
        </p:nvSpPr>
        <p:spPr>
          <a:xfrm>
            <a:off x="7891272" y="2514600"/>
            <a:ext cx="914400" cy="914400"/>
          </a:xfrm>
          <a:prstGeom prst="ellipse">
            <a:avLst/>
          </a:prstGeom>
          <a:solidFill>
            <a:srgbClr val="6E56CF">
              <a:alpha val="20000"/>
            </a:srgbClr>
          </a:solidFill>
          <a:ln w="25400">
            <a:solidFill>
              <a:srgbClr val="6E56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7365492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AI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365492" y="3931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Quiz + Code Feedback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41764" y="219456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41764" y="2194560"/>
            <a:ext cx="2148840" cy="73152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8984" y="2514600"/>
            <a:ext cx="914400" cy="914400"/>
          </a:xfrm>
          <a:prstGeom prst="ellipse">
            <a:avLst/>
          </a:prstGeom>
          <a:solidFill>
            <a:srgbClr val="6E56CF">
              <a:alpha val="20000"/>
            </a:srgbClr>
          </a:solidFill>
          <a:ln w="25400">
            <a:solidFill>
              <a:srgbClr val="6E56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58984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9633204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633204" y="3931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+ Streak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într-o singură interfață, fără context-switching între tab-uri.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TEHNOLOGII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 completă a aplicației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737360"/>
            <a:ext cx="2697480" cy="54864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8.1+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(InnoDB)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via WAMP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pentru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737360"/>
            <a:ext cx="269748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API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ES6+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Design Tokens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(PWA)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737360"/>
            <a:ext cx="26974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Inteligență Artificială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246888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API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ChatCompletions schema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 distincte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per modul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1737360"/>
            <a:ext cx="26974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DevOps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5440" y="246888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(teste unit)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PHPStan nivel 4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+ .htaccess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8.1+ pe Apache, MySQL relațional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această stivă?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Server-Side Rendering hibridizat </a:t>
            </a:r>
            <a:r>
              <a:rPr lang="en-US" sz="1400" dirty="0">
                <a:solidFill>
                  <a:srgbClr val="64748B"/>
                </a:solidFill>
              </a:rPr>
              <a:t>cu JavaScript modern, fără build pipeline. Setup în 5 minute pe orice WAMP/XAMPP.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Caracteristici cheie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Front-Controller — un singur punct de intrare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stricte + JIT (PHP 8.1+) → performanță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cu chei străine ON DELETE CASCADE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OOP exclusiv — zero SQLi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pentru deploy reproductibil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5120640" cy="4389120"/>
          </a:xfrm>
          <a:prstGeom prst="rect">
            <a:avLst/>
          </a:prstGeom>
          <a:solidFill>
            <a:srgbClr val="0F1023"/>
          </a:solidFill>
          <a:ln/>
          <a:effectLst>
            <a:outerShdw blurRad="152400" dist="508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37360"/>
            <a:ext cx="5120640" cy="365760"/>
          </a:xfrm>
          <a:prstGeom prst="rect">
            <a:avLst/>
          </a:prstGeom>
          <a:solidFill>
            <a:srgbClr val="1A1B3A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PHP/login_post.php · prepared statements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12280" y="224028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Sigur contra SQL Injection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id, parola_hash FROM utilizatori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WHERE username = ?"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</a:t>
            </a: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-&gt;prepare($sql);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-&gt;bind_param(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$username);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-&gt;execute();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(password_verify(</a:t>
            </a: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$pwd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$user[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'parola_hash'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regenerate_session();   </a:t>
            </a: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anti session-fix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'user_id'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(</a:t>
            </a: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)$user[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Vanilla JS, PWA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146304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redarea vizualizatorului pe 200+ bare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737360"/>
            <a:ext cx="73152" cy="146304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kb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runtime — 100% vanilla 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737360"/>
            <a:ext cx="73152" cy="146304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4652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pentru lecții cached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7373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737360"/>
            <a:ext cx="73152" cy="146304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teme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32688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+ dark prin design tokens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Tehnologii cheie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— getContext("2d") pentru animații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— tonuri sincronizate cu swap-uri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ResizeObserver — vizualizator responsive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prefers-reduced-motion — accesibilitate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0233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— cache-first pe asset-uri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Manifest — instalare ca PWA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Skip-to-content link — keyboard navigation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menu &lt; 768px — mobile responsive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INTELIGENȚĂ ARTIFICIALĂ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3.3 70B — trei integrări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0F1023"/>
          </a:solidFill>
          <a:ln/>
          <a:effectLst>
            <a:outerShdw blurRad="152400" dist="508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FOLOSIT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parameters · open-weight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4572000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Groq Cloud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Latență &lt;1s · Tier gratuit generos · API compatibil OpenAI ChatCompletions (migrare facilă către alt furnizor)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5852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828800"/>
            <a:ext cx="73152" cy="12801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cereri/oră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423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conversațional pentru concepte de algoritmi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246120"/>
            <a:ext cx="5852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3246120"/>
            <a:ext cx="73152" cy="12801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Generator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cereri/oră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întrebări dinamice adaptate nivelului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4663440"/>
            <a:ext cx="5852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4663440"/>
            <a:ext cx="73152" cy="12801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Feedback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0" y="4846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cereri/oră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Analiză automată pe codul C++ scris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SECURITATE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Protecție multi-strat conform OWASP Top 10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18288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pentru toate query-urile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Atacuri prevenite (OWASP Top 10)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19456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Prepared statements OOP exclusiv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6974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htmlspecialchars + CSP cu nonce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Request Forgery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CSRF random_bytes(32)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70332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Rate-limiting în DB cu SHA-256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420624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HttpOnly + Secure + SameSite=Strict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470916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63840" y="4709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realpath() + strpos() pe fișiere C++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52120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Inclusion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5212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Listă albă pagini în index.php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3657600" cy="219456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protejate cu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64008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 cu cost adaptiv. Niciodată parolă stocată în clar.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DE DATE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Bază de date relațională MySQL — 3 familii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8620" y="173736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737360"/>
            <a:ext cx="3703320" cy="6858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1737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 &amp; Auth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tabele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" y="260604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utilizatori (id, username, email, parola_hash, rol)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password_reset_tokens (token_hash SHA-256)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user_streak (current, longest, last_activity)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rate_limit_attempts (action, count, window)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9100" y="173736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9100" y="1737360"/>
            <a:ext cx="3703320" cy="685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1737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Conținut educațional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1198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tabele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57700" y="260604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metode (algoritmi de sortare)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grile_cpp (întrebări cu 4 variante)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exercitii (cu cod_sablon și soluție)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learning_paths + steps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9580" y="173736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9580" y="1737360"/>
            <a:ext cx="370332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252460" y="1737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&amp; Gamification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5246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tabele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8180" y="260604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progres_grile (UNIQUE user+grila)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learning_progress, _exercise_progress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achievements (10 badge-uri predefinite)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user_achievements (PRIMARY KEY pereche)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admin_audit_log (forensics)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ALGORITMI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Șase metode de sortare implementate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8620" y="182880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" y="1828800"/>
            <a:ext cx="3703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2011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" y="2606040"/>
            <a:ext cx="1371600" cy="32004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34540" y="2606040"/>
            <a:ext cx="9144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03454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" y="31089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Compară elemente adiacente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29100" y="182880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29100" y="1828800"/>
            <a:ext cx="3703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411980" y="2011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11980" y="2606040"/>
            <a:ext cx="1371600" cy="32004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17" name="Text 15"/>
          <p:cNvSpPr/>
          <p:nvPr/>
        </p:nvSpPr>
        <p:spPr>
          <a:xfrm>
            <a:off x="44119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75020" y="2606040"/>
            <a:ext cx="9144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87502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11980" y="31089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Selectează minimul repetat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69580" y="182880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69580" y="1828800"/>
            <a:ext cx="3703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52460" y="2011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52460" y="2606040"/>
            <a:ext cx="1371600" cy="32004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25" name="Text 23"/>
          <p:cNvSpPr/>
          <p:nvPr/>
        </p:nvSpPr>
        <p:spPr>
          <a:xfrm>
            <a:off x="825246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15500" y="2606040"/>
            <a:ext cx="9144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52460" y="31089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Inserează în poziția corectă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8620" y="402336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8620" y="4023360"/>
            <a:ext cx="3703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4206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71500" y="4800600"/>
            <a:ext cx="1371600" cy="32004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34540" y="4800600"/>
            <a:ext cx="9144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203454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1500" y="5303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și partiționare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29100" y="402336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29100" y="4023360"/>
            <a:ext cx="3703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411980" y="4206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411980" y="4800600"/>
            <a:ext cx="1371600" cy="32004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41" name="Text 39"/>
          <p:cNvSpPr/>
          <p:nvPr/>
        </p:nvSpPr>
        <p:spPr>
          <a:xfrm>
            <a:off x="441198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75020" y="4800600"/>
            <a:ext cx="9144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87502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11980" y="5303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et Impera + interclasare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69580" y="402336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69580" y="4023360"/>
            <a:ext cx="37033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8252460" y="4206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Sort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252460" y="4800600"/>
            <a:ext cx="1371600" cy="32004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49" name="Text 47"/>
          <p:cNvSpPr/>
          <p:nvPr/>
        </p:nvSpPr>
        <p:spPr>
          <a:xfrm>
            <a:off x="825246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O(n+k)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715500" y="4800600"/>
            <a:ext cx="91440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97155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52460" y="5303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Numărare frecvențe (liniar)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VIZUALIZATORUL INTERACTIV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+ Web Audio + Code highlight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funcționează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Detectează data-algorithm pe container și instanțiază clasa SortingVisualizer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Execută algoritmul instrumentat — emite eveniment la fiecare comparație/swap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Desenează pe Canvas bare colorate cu requestAnimationFrame (60 fps)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highlightCodeLine() evidențiază linia C++ activă în panou-ul lateral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generează tonuri cu frecvențe proporționale cu valorile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737360"/>
            <a:ext cx="5486400" cy="4297680"/>
          </a:xfrm>
          <a:prstGeom prst="rect">
            <a:avLst/>
          </a:prstGeom>
          <a:solidFill>
            <a:srgbClr val="0F1023"/>
          </a:solidFill>
          <a:ln/>
          <a:effectLst>
            <a:outerShdw blurRad="152400" dist="508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 — Quick Sort (n=20)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10528" y="3851910"/>
            <a:ext cx="219456" cy="20002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4411980"/>
            <a:ext cx="219456" cy="14401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5" name="Shape 23"/>
          <p:cNvSpPr/>
          <p:nvPr/>
        </p:nvSpPr>
        <p:spPr>
          <a:xfrm>
            <a:off x="7022592" y="3051810"/>
            <a:ext cx="219456" cy="28003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6" name="Shape 24"/>
          <p:cNvSpPr/>
          <p:nvPr/>
        </p:nvSpPr>
        <p:spPr>
          <a:xfrm>
            <a:off x="7278624" y="4892040"/>
            <a:ext cx="219456" cy="96012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7" name="Shape 25"/>
          <p:cNvSpPr/>
          <p:nvPr/>
        </p:nvSpPr>
        <p:spPr>
          <a:xfrm>
            <a:off x="7534656" y="2651760"/>
            <a:ext cx="219456" cy="32004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8" name="Shape 26"/>
          <p:cNvSpPr/>
          <p:nvPr/>
        </p:nvSpPr>
        <p:spPr>
          <a:xfrm>
            <a:off x="7790688" y="4091940"/>
            <a:ext cx="219456" cy="17602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5212080"/>
            <a:ext cx="219456" cy="6400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0" name="Shape 28"/>
          <p:cNvSpPr/>
          <p:nvPr/>
        </p:nvSpPr>
        <p:spPr>
          <a:xfrm>
            <a:off x="8302752" y="3291840"/>
            <a:ext cx="219456" cy="256032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1" name="Shape 29"/>
          <p:cNvSpPr/>
          <p:nvPr/>
        </p:nvSpPr>
        <p:spPr>
          <a:xfrm>
            <a:off x="8558784" y="3611880"/>
            <a:ext cx="219456" cy="2240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30"/>
          <p:cNvSpPr/>
          <p:nvPr/>
        </p:nvSpPr>
        <p:spPr>
          <a:xfrm>
            <a:off x="8814816" y="4652010"/>
            <a:ext cx="219456" cy="12001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3" name="Shape 31"/>
          <p:cNvSpPr/>
          <p:nvPr/>
        </p:nvSpPr>
        <p:spPr>
          <a:xfrm>
            <a:off x="9070848" y="2811780"/>
            <a:ext cx="219456" cy="30403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4" name="Shape 32"/>
          <p:cNvSpPr/>
          <p:nvPr/>
        </p:nvSpPr>
        <p:spPr>
          <a:xfrm>
            <a:off x="9326880" y="5052060"/>
            <a:ext cx="219456" cy="8001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5" name="Shape 33"/>
          <p:cNvSpPr/>
          <p:nvPr/>
        </p:nvSpPr>
        <p:spPr>
          <a:xfrm>
            <a:off x="9582912" y="4251960"/>
            <a:ext cx="219456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9838944" y="3451860"/>
            <a:ext cx="219456" cy="24003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94976" y="4491990"/>
            <a:ext cx="219456" cy="136017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51008" y="3691890"/>
            <a:ext cx="219456" cy="216027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07040" y="5452110"/>
            <a:ext cx="219456" cy="4000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63072" y="2971800"/>
            <a:ext cx="219456" cy="28803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119104" y="4011930"/>
            <a:ext cx="219456" cy="184023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2" name="Shape 40"/>
          <p:cNvSpPr/>
          <p:nvPr/>
        </p:nvSpPr>
        <p:spPr>
          <a:xfrm>
            <a:off x="11375136" y="4812030"/>
            <a:ext cx="219456" cy="104013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75120" y="589788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5852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0" y="58978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7955280" y="5852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326880" y="5897880"/>
            <a:ext cx="109728" cy="109728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0" y="5852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nesortat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DIFERENȚIATORI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— achievements + streaks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91840" y="1828800"/>
            <a:ext cx="1005840" cy="1005840"/>
          </a:xfrm>
          <a:prstGeom prst="ellipse">
            <a:avLst/>
          </a:prstGeom>
          <a:solidFill>
            <a:srgbClr val="6E56CF">
              <a:alpha val="20000"/>
            </a:srgbClr>
          </a:solidFill>
          <a:ln w="38100">
            <a:solidFill>
              <a:srgbClr val="6E5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874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2452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venit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1005840" cy="1005840"/>
          </a:xfrm>
          <a:prstGeom prst="ellipse">
            <a:avLst/>
          </a:prstGeom>
          <a:solidFill>
            <a:srgbClr val="10B981">
              <a:alpha val="2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874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34840" y="2452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Grile 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77840" y="1828800"/>
            <a:ext cx="1005840" cy="1005840"/>
          </a:xfrm>
          <a:prstGeom prst="ellipse">
            <a:avLst/>
          </a:prstGeom>
          <a:solidFill>
            <a:srgbClr val="F59E0B">
              <a:alpha val="2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874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2452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Grile 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828800"/>
            <a:ext cx="1005840" cy="1005840"/>
          </a:xfrm>
          <a:prstGeom prst="ellipse">
            <a:avLst/>
          </a:prstGeom>
          <a:solidFill>
            <a:srgbClr val="EF4444">
              <a:alpha val="20000"/>
            </a:srgbClr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874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2452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Grile 50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3840" y="1828800"/>
            <a:ext cx="1005840" cy="1005840"/>
          </a:xfrm>
          <a:prstGeom prst="ellipse">
            <a:avLst/>
          </a:prstGeom>
          <a:solidFill>
            <a:srgbClr val="06B6D4">
              <a:alpha val="20000"/>
            </a:srgbClr>
          </a:solidFill>
          <a:ln w="381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874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63840" y="2452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fluent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1005840" cy="1005840"/>
          </a:xfrm>
          <a:prstGeom prst="ellipse">
            <a:avLst/>
          </a:prstGeom>
          <a:solidFill>
            <a:srgbClr val="6E56CF">
              <a:alpha val="20000"/>
            </a:srgbClr>
          </a:solidFill>
          <a:ln w="38100">
            <a:solidFill>
              <a:srgbClr val="6E56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17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3595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971800"/>
            <a:ext cx="1005840" cy="1005840"/>
          </a:xfrm>
          <a:prstGeom prst="ellipse">
            <a:avLst/>
          </a:prstGeom>
          <a:solidFill>
            <a:srgbClr val="6E56CF">
              <a:alpha val="20000"/>
            </a:srgbClr>
          </a:solidFill>
          <a:ln w="38100">
            <a:solidFill>
              <a:srgbClr val="6E56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017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434840" y="3595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2971800"/>
            <a:ext cx="1005840" cy="1005840"/>
          </a:xfrm>
          <a:prstGeom prst="ellipse">
            <a:avLst/>
          </a:prstGeom>
          <a:solidFill>
            <a:srgbClr val="F59E0B">
              <a:alpha val="2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017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3z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3595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2971800"/>
            <a:ext cx="1005840" cy="1005840"/>
          </a:xfrm>
          <a:prstGeom prst="ellipse">
            <a:avLst/>
          </a:prstGeom>
          <a:solidFill>
            <a:srgbClr val="F59E0B">
              <a:alpha val="2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017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7z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20840" y="3595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63840" y="2971800"/>
            <a:ext cx="1005840" cy="1005840"/>
          </a:xfrm>
          <a:prstGeom prst="ellipse">
            <a:avLst/>
          </a:prstGeom>
          <a:solidFill>
            <a:srgbClr val="EF4444">
              <a:alpha val="20000"/>
            </a:srgbClr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3017520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863840" y="3595421"/>
            <a:ext cx="1005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11247120" cy="164592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zilnic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4983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Utilizatorii care intră în fiecare zi păstrează streak-ul. La 7 zile primesc badge bronz, la 30 zile silver, la 100 zile gold.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0" y="4663440"/>
            <a:ext cx="18288" cy="1280160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Bazat 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Hamari et al., 2014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4944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crește semnificativ retenția prin recompensare imediată — efect demonstrat empiric pe sarcini repetitive.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Instalabilă pe telefon, funcționează offline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18288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 nativă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Icoană pe ecranul telefonului, fereastră fără bara browser-ului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28800"/>
            <a:ext cx="109728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574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0467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Funcționează offline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păstrează asset-urile în cache local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31920"/>
            <a:ext cx="109728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219456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instant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754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pentru CSS/JS, network-first doar pe pagini PHP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931920"/>
            <a:ext cx="109728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160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04672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+ dark mode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Temă responsive prin design tokens CSS variables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PANOU ADMINISTRATIV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Vedere de tip profesor — progresul fiecărui elev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solidFill>
            <a:srgbClr val="0F10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GRILE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ACTIV. 7Z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 Popescu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2359152"/>
            <a:ext cx="731520" cy="228600"/>
          </a:xfrm>
          <a:prstGeom prst="rect">
            <a:avLst/>
          </a:prstGeom>
          <a:solidFill>
            <a:srgbClr val="64748B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359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404872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2404872"/>
            <a:ext cx="19431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zile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770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Ionescu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2889504"/>
            <a:ext cx="731520" cy="228600"/>
          </a:xfrm>
          <a:prstGeom prst="rect">
            <a:avLst/>
          </a:prstGeom>
          <a:solidFill>
            <a:srgbClr val="64748B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8895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2935224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0" y="2935224"/>
            <a:ext cx="13716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770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2770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2770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0" y="2770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zile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33009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 Stoica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0" y="3419856"/>
            <a:ext cx="731520" cy="228600"/>
          </a:xfrm>
          <a:prstGeom prst="rect">
            <a:avLst/>
          </a:prstGeom>
          <a:solidFill>
            <a:srgbClr val="64748B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34198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0" y="3465576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465576"/>
            <a:ext cx="80010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3300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0" y="3300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3300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01200" y="3300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zile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3831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Ioana Marin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0" y="3950208"/>
            <a:ext cx="731520" cy="228600"/>
          </a:xfrm>
          <a:prstGeom prst="rect">
            <a:avLst/>
          </a:prstGeom>
          <a:solidFill>
            <a:srgbClr val="64748B">
              <a:alpha val="2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0" y="39502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0" y="3995928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3657600" y="3995928"/>
            <a:ext cx="210312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598932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17920" y="38313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315200" y="38313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★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12480" y="3831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601200" y="3831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zile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4361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Dinu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0" y="4480560"/>
            <a:ext cx="731520" cy="228600"/>
          </a:xfrm>
          <a:prstGeom prst="rect">
            <a:avLst/>
          </a:prstGeom>
          <a:solidFill>
            <a:srgbClr val="64748B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0" y="4480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0" y="4526280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3657600" y="4526280"/>
            <a:ext cx="27432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9" name="Text 57"/>
          <p:cNvSpPr/>
          <p:nvPr/>
        </p:nvSpPr>
        <p:spPr>
          <a:xfrm>
            <a:off x="598932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17920" y="4361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315200" y="4361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★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412480" y="4361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601200" y="4361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zile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008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 Radu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743200" y="5010912"/>
            <a:ext cx="731520" cy="228600"/>
          </a:xfrm>
          <a:prstGeom prst="rect">
            <a:avLst/>
          </a:prstGeom>
          <a:solidFill>
            <a:srgbClr val="64748B">
              <a:alpha val="25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0" y="50109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0" y="5056632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0" y="5056632"/>
            <a:ext cx="178308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59893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21792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731520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★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412480" y="4892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9601200" y="4892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zile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0080" y="5422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Demo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743200" y="5541264"/>
            <a:ext cx="731520" cy="22860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0" y="55412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657600" y="5586984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657600" y="5586984"/>
            <a:ext cx="22860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9" name="Text 77"/>
          <p:cNvSpPr/>
          <p:nvPr/>
        </p:nvSpPr>
        <p:spPr>
          <a:xfrm>
            <a:off x="598932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217920" y="5422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7315200" y="5422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★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412480" y="5422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9601200" y="5422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zile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COMPARAȚIE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vs platforme existente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0332720" cy="39502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Caracteristică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OffByOne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VisuAlgo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Alg.Vis.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GeeksForGeeks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Vizualizare interactivă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 Canvas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✓ SVG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Limitat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Asistent AI conversațional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Feedback AI pe cod scris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Sistem progres + streaks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Parțial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Achievements (10 badges)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Limitat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PWA / instalare locală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Limba română nativă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Trad.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Open-source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OFFBYONE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 diferențiatori unici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Niciuna dintre platformele comparate nu oferă chat conversațional, quiz dinamic și feedback pe cod scris.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926080"/>
            <a:ext cx="4572000" cy="274320"/>
          </a:xfrm>
          <a:prstGeom prst="rect">
            <a:avLst/>
          </a:prstGeom>
          <a:solidFill>
            <a:srgbClr val="6E56C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3.3 — răspunsuri sub 1 secundă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într-un loc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Teorie + cod sursă + vizualizare + evaluare + gamification — fără context-switching între tab-uri.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4343400"/>
            <a:ext cx="4572000" cy="2743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timpul de asimilare cu ~40%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16" name="Text 14"/>
          <p:cNvSpPr/>
          <p:nvPr/>
        </p:nvSpPr>
        <p:spPr>
          <a:xfrm>
            <a:off x="182880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Limba română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5166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nativ pentru limba română — esențial pentru elevii care nu vorbesc engleză fluent.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5760720"/>
            <a:ext cx="457200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920240" y="5760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 în peisajul platformelor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REZULTATE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am obținut și ce am învățat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13716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LINII DE COD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743200" cy="13716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 MYSQL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743200" cy="13716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BADGE-URI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737360"/>
            <a:ext cx="2743200" cy="13716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6+4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90982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+ TEHNICI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cheie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886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Integrarea AI personalizată reduce timpul de asimilare a unui algoritm nou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97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(achievements + streak) crește retenția prin recompensare imediată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Vizualizatorul Canvas + audio oferă intuiție clară pentru complexitate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Protecție multi-strat (CSP+nonce, CSRF, prepared statements) — robust față de OWASP Top 10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5321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5532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cu PHPUnit + PHPStan + GitHub Actions previne regresii viitoare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DIRECȚII VIITOARE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urmează pentru OffByOne Academy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828800"/>
            <a:ext cx="26974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algoritmi sortare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paradigme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Gamification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28800"/>
            <a:ext cx="26974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grafuri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Dijkstra, BFS, DFS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 arborescente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BST, AVL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828800"/>
            <a:ext cx="269748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69748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i18n RO/EN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automat DB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monitorizare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1828800"/>
            <a:ext cx="2697480" cy="6400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269748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evaluare complexitate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 pedagogic A/B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complet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6E56C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Întrebări?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8288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 coordonatorilor pentru ghidare și răbdare: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Dr. Muscalagiu Ionel · As. Dr. Ing. Rat Cezara-Liliana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Sortan Eduard-Catalin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Baloi Dorian-Liviu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PROIECT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https://github.com/Sulf223/SImp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Politehnica Timisoara - FIH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1807</Words>
  <Application>Microsoft Office PowerPoint</Application>
  <PresentationFormat>Widescreen</PresentationFormat>
  <Paragraphs>513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OffByOne Academy</dc:title>
  <dc:subject>Prezentare simpozion</dc:subject>
  <dc:creator>Sortan Eduard-Catalin, Baloi Dorian-Liviu</dc:creator>
  <cp:lastModifiedBy>Eduard-Cătălin Șortan</cp:lastModifiedBy>
  <cp:revision>2</cp:revision>
  <dcterms:created xsi:type="dcterms:W3CDTF">2026-05-12T02:29:49Z</dcterms:created>
  <dcterms:modified xsi:type="dcterms:W3CDTF">2026-05-12T02:35:22Z</dcterms:modified>
</cp:coreProperties>
</file>